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lesson (about 30 minutes): recall test 5 min, teaching 12 min, tasks 12 min, exit 1 min. Task 4 (the 20-floor building) is extension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Worksheet Task 1, closed book, 5 minutes. Q3 is a real exam question: 9618/13 Oct/Nov 2023 Q3(a)(ii). If most students drop marks on Q3, spend 2 minutes on the "point + expansion" pattern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Textbook Table 2.5. Simplify for students: radio waves go furthest and through walls; infrared carries the most data but is easily blocked (indoor only - which also stops it interfering elsewhere); microwaves are the compromise, which is why Wi-Fi uses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use radio waves / spread spectrum. Bluetooth creates a WPAN (wireless personal area network) using key encryption. Wi-Fi implements the IEEE 802.11 protocols and is designed for full networks through wireless access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communicating pair picks one of the 79 channels at random; if it is in use, it picks another. Pairs also hop between channels several times a second, so two pairs rarely clash and interference is minimised. In the grid, pair 1 and pair 2 never use the same channel at the same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Radio and microwave signals travel in straight lines, so the curvature of the Earth blocks a signal between two distant antennae. A satellite receives the signal, boosts it and beams it back down. Different frequency bands are used to avoid interference.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Textbook figures: coaxial has about 80 times, and fibre about 26 000 times, the transmission capacity of twisted pair. Shielded twisted pair has a metal foil jacket to cancel some interference; unshielded is used at home.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brief - it is a one-line distinction in the textbook. Single-mode: smaller core, less reflection, so faster and further (telecoms, cable TV). Multi-mode: larger core, more reflections, so best over short distances such as within a 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textbook points. In exam answers, make each point comparative ("faster than wireless") and apply it to the scenario.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for Task 4 (textbook Activity 2B Q4: a 20-floor building). The structure earns marks; the content is from slide 10. Model one point together, e.g. "Wired connections give faster data transfer than wireless, so staff on all 20 floors can access the file server without slowdowns."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answer: fibre optic (1) - the highest data transfer rate // the least signal loss over 2 km // not affected by electrical interference (1). Accept: twisted pair loses too much signal over that distance.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900416" y="0"/>
            <a:ext cx="4288536" cy="6858000"/>
          </a:xfrm>
          <a:prstGeom prst="rect">
            <a:avLst/>
          </a:prstGeom>
          <a:solidFill>
            <a:srgbClr val="FFD84D"/>
          </a:solidFill>
          <a:ln w="12700">
            <a:solidFill>
              <a:srgbClr val="FFD84D"/>
            </a:solidFill>
            <a:prstDash val="solid"/>
          </a:ln>
        </p:spPr>
      </p:sp>
      <p:sp>
        <p:nvSpPr>
          <p:cNvPr id="3" name="Text 1"/>
          <p:cNvSpPr txBox="1"/>
          <p:nvPr/>
        </p:nvSpPr>
        <p:spPr>
          <a:xfrm>
            <a:off x="667512" y="2560320"/>
            <a:ext cx="7004304" cy="914400"/>
          </a:xfrm>
          <a:prstGeom prst="rect">
            <a:avLst/>
          </a:prstGeom>
          <a:noFill/>
          <a:ln/>
        </p:spPr>
        <p:txBody>
          <a:bodyPr wrap="square" lIns="0" tIns="0" rIns="0" bIns="0" rtlCol="0" anchor="b"/>
          <a:lstStyle/>
          <a:p>
            <a:pPr indent="0" marL="0">
              <a:buNone/>
            </a:pPr>
            <a:r>
              <a:rPr lang="en-US" sz="5400" b="1" dirty="0">
                <a:solidFill>
                  <a:srgbClr val="202124"/>
                </a:solidFill>
                <a:latin typeface="Quicksand" pitchFamily="34" charset="0"/>
                <a:ea typeface="Quicksand" pitchFamily="34" charset="-122"/>
                <a:cs typeface="Quicksand" pitchFamily="34" charset="-120"/>
              </a:rPr>
              <a:t>Wired &amp; wireless</a:t>
            </a:r>
            <a:endParaRPr lang="en-US" sz="5400" dirty="0"/>
          </a:p>
        </p:txBody>
      </p:sp>
      <p:sp>
        <p:nvSpPr>
          <p:cNvPr id="4" name="Text 2"/>
          <p:cNvSpPr txBox="1"/>
          <p:nvPr/>
        </p:nvSpPr>
        <p:spPr>
          <a:xfrm>
            <a:off x="667512" y="3547872"/>
            <a:ext cx="7004304" cy="411480"/>
          </a:xfrm>
          <a:prstGeom prst="rect">
            <a:avLst/>
          </a:prstGeom>
          <a:noFill/>
          <a:ln/>
        </p:spPr>
        <p:txBody>
          <a:bodyPr wrap="square" lIns="0" tIns="0" rIns="0" bIns="0" rtlCol="0" anchor="ctr"/>
          <a:lstStyle/>
          <a:p>
            <a:pPr indent="0" marL="0">
              <a:buNone/>
            </a:pPr>
            <a:r>
              <a:rPr lang="en-US" sz="2000" dirty="0">
                <a:solidFill>
                  <a:srgbClr val="666666"/>
                </a:solidFill>
                <a:latin typeface="Quicksand" pitchFamily="34" charset="0"/>
                <a:ea typeface="Quicksand" pitchFamily="34" charset="-122"/>
                <a:cs typeface="Quicksand" pitchFamily="34" charset="-120"/>
              </a:rPr>
              <a:t>Y12 - Cambridge International 9618  |  2.1.5</a:t>
            </a:r>
            <a:endParaRPr lang="en-US" sz="2000" dirty="0"/>
          </a:p>
        </p:txBody>
      </p:sp>
      <p:sp>
        <p:nvSpPr>
          <p:cNvPr id="5" name="Shape 3"/>
          <p:cNvSpPr/>
          <p:nvPr/>
        </p:nvSpPr>
        <p:spPr>
          <a:xfrm>
            <a:off x="667512" y="4050792"/>
            <a:ext cx="1719072" cy="54864"/>
          </a:xfrm>
          <a:prstGeom prst="rect">
            <a:avLst/>
          </a:prstGeom>
          <a:solidFill>
            <a:srgbClr val="494985"/>
          </a:solidFill>
          <a:ln w="12700">
            <a:solidFill>
              <a:srgbClr val="494985"/>
            </a:solidFill>
            <a:prstDash val="solid"/>
          </a:ln>
        </p:spPr>
      </p:sp>
      <p:sp>
        <p:nvSpPr>
          <p:cNvPr id="6" name="Text 4"/>
          <p:cNvSpPr txBox="1"/>
          <p:nvPr/>
        </p:nvSpPr>
        <p:spPr>
          <a:xfrm>
            <a:off x="11247120" y="6400800"/>
            <a:ext cx="548640" cy="274320"/>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Recall test: topologies &amp; cloud</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Starter activity</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2</a:t>
            </a:r>
            <a:endParaRPr lang="en-US" sz="13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96112" y="1325880"/>
          <a:ext cx="8229600" cy="914400"/>
        </p:xfrm>
        <a:graphic>
          <a:graphicData uri="http://schemas.openxmlformats.org/drawingml/2006/table">
            <a:tbl>
              <a:tblPr/>
              <a:tblGrid>
                <a:gridCol w="7132320"/>
                <a:gridCol w="1097280"/>
              </a:tblGrid>
              <a:tr h="502920">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Worksheet Task 1 covers...</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Marks</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502920">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Name the topology from a description (bus, star, mesh)</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3</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02920">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Define private cloud</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1</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02920">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Exam question: public cloud vs a server on a LAN (Nov 2023)</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4</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bl>
          </a:graphicData>
        </a:graphic>
      </p:graphicFrame>
      <p:sp>
        <p:nvSpPr>
          <p:cNvPr id="8" name="Shape 4"/>
          <p:cNvSpPr/>
          <p:nvPr/>
        </p:nvSpPr>
        <p:spPr>
          <a:xfrm>
            <a:off x="9372600" y="1325880"/>
            <a:ext cx="2148840" cy="1097280"/>
          </a:xfrm>
          <a:prstGeom prst="rect">
            <a:avLst/>
          </a:prstGeom>
          <a:solidFill>
            <a:srgbClr val="F6F5FC"/>
          </a:solidFill>
          <a:ln w="12700">
            <a:solidFill>
              <a:srgbClr val="F6F5FC"/>
            </a:solidFill>
            <a:prstDash val="solid"/>
          </a:ln>
        </p:spPr>
      </p:sp>
      <p:sp>
        <p:nvSpPr>
          <p:cNvPr id="9" name="Text 5"/>
          <p:cNvSpPr/>
          <p:nvPr/>
        </p:nvSpPr>
        <p:spPr>
          <a:xfrm>
            <a:off x="9509760" y="146304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1</a:t>
            </a:r>
            <a:endParaRPr lang="en-US" sz="1400" dirty="0"/>
          </a:p>
        </p:txBody>
      </p:sp>
      <p:sp>
        <p:nvSpPr>
          <p:cNvPr id="10" name="Text 6"/>
          <p:cNvSpPr txBox="1"/>
          <p:nvPr/>
        </p:nvSpPr>
        <p:spPr>
          <a:xfrm>
            <a:off x="10030968" y="1435608"/>
            <a:ext cx="1371600" cy="411480"/>
          </a:xfrm>
          <a:prstGeom prst="rect">
            <a:avLst/>
          </a:prstGeom>
          <a:noFill/>
          <a:ln/>
        </p:spPr>
        <p:txBody>
          <a:bodyPr wrap="square" lIns="0" tIns="0" rIns="0" bIns="0" rtlCol="0" anchor="ctr"/>
          <a:lstStyle/>
          <a:p>
            <a:pPr indent="0" marL="0">
              <a:buNone/>
            </a:pPr>
            <a:r>
              <a:rPr lang="en-US" sz="1400" b="1" dirty="0">
                <a:solidFill>
                  <a:srgbClr val="202124"/>
                </a:solidFill>
                <a:latin typeface="Quicksand" pitchFamily="34" charset="0"/>
                <a:ea typeface="Quicksand" pitchFamily="34" charset="-122"/>
                <a:cs typeface="Quicksand" pitchFamily="34" charset="-120"/>
              </a:rPr>
              <a:t>Closed book</a:t>
            </a:r>
            <a:endParaRPr lang="en-US" sz="1400" dirty="0"/>
          </a:p>
        </p:txBody>
      </p:sp>
      <p:sp>
        <p:nvSpPr>
          <p:cNvPr id="11" name="Text 7"/>
          <p:cNvSpPr txBox="1"/>
          <p:nvPr/>
        </p:nvSpPr>
        <p:spPr>
          <a:xfrm>
            <a:off x="10030968" y="1828800"/>
            <a:ext cx="1371600" cy="530352"/>
          </a:xfrm>
          <a:prstGeom prst="rect">
            <a:avLst/>
          </a:prstGeom>
          <a:noFill/>
          <a:ln/>
        </p:spPr>
        <p:txBody>
          <a:bodyPr wrap="square" lIns="0" tIns="0" rIns="0" bIns="0" rtlCol="0" anchor="t"/>
          <a:lstStyle/>
          <a:p>
            <a:pPr indent="0" marL="0">
              <a:buNone/>
            </a:pPr>
            <a:r>
              <a:rPr lang="en-US" sz="1200" dirty="0">
                <a:solidFill>
                  <a:srgbClr val="202124"/>
                </a:solidFill>
                <a:latin typeface="Quicksand" pitchFamily="34" charset="0"/>
                <a:ea typeface="Quicksand" pitchFamily="34" charset="-122"/>
                <a:cs typeface="Quicksand" pitchFamily="34" charset="-120"/>
              </a:rPr>
              <a:t>No notes, no slides.</a:t>
            </a:r>
            <a:endParaRPr lang="en-US" sz="1200" dirty="0"/>
          </a:p>
        </p:txBody>
      </p:sp>
      <p:sp>
        <p:nvSpPr>
          <p:cNvPr id="12" name="Shape 8"/>
          <p:cNvSpPr/>
          <p:nvPr/>
        </p:nvSpPr>
        <p:spPr>
          <a:xfrm>
            <a:off x="9372600" y="2560320"/>
            <a:ext cx="2148840" cy="1097280"/>
          </a:xfrm>
          <a:prstGeom prst="rect">
            <a:avLst/>
          </a:prstGeom>
          <a:solidFill>
            <a:srgbClr val="F6F5FC"/>
          </a:solidFill>
          <a:ln w="12700">
            <a:solidFill>
              <a:srgbClr val="F6F5FC"/>
            </a:solidFill>
            <a:prstDash val="solid"/>
          </a:ln>
        </p:spPr>
      </p:sp>
      <p:sp>
        <p:nvSpPr>
          <p:cNvPr id="13" name="Text 9"/>
          <p:cNvSpPr/>
          <p:nvPr/>
        </p:nvSpPr>
        <p:spPr>
          <a:xfrm>
            <a:off x="9509760" y="269748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2</a:t>
            </a:r>
            <a:endParaRPr lang="en-US" sz="1400" dirty="0"/>
          </a:p>
        </p:txBody>
      </p:sp>
      <p:sp>
        <p:nvSpPr>
          <p:cNvPr id="14" name="Text 10"/>
          <p:cNvSpPr txBox="1"/>
          <p:nvPr/>
        </p:nvSpPr>
        <p:spPr>
          <a:xfrm>
            <a:off x="10030968" y="2670048"/>
            <a:ext cx="1371600" cy="411480"/>
          </a:xfrm>
          <a:prstGeom prst="rect">
            <a:avLst/>
          </a:prstGeom>
          <a:noFill/>
          <a:ln/>
        </p:spPr>
        <p:txBody>
          <a:bodyPr wrap="square" lIns="0" tIns="0" rIns="0" bIns="0" rtlCol="0" anchor="ctr"/>
          <a:lstStyle/>
          <a:p>
            <a:pPr indent="0" marL="0">
              <a:buNone/>
            </a:pPr>
            <a:r>
              <a:rPr lang="en-US" sz="1400" b="1" dirty="0">
                <a:solidFill>
                  <a:srgbClr val="202124"/>
                </a:solidFill>
                <a:latin typeface="Quicksand" pitchFamily="34" charset="0"/>
                <a:ea typeface="Quicksand" pitchFamily="34" charset="-122"/>
                <a:cs typeface="Quicksand" pitchFamily="34" charset="-120"/>
              </a:rPr>
              <a:t>5 minutes</a:t>
            </a:r>
            <a:endParaRPr lang="en-US" sz="1400" dirty="0"/>
          </a:p>
        </p:txBody>
      </p:sp>
      <p:sp>
        <p:nvSpPr>
          <p:cNvPr id="15" name="Text 11"/>
          <p:cNvSpPr txBox="1"/>
          <p:nvPr/>
        </p:nvSpPr>
        <p:spPr>
          <a:xfrm>
            <a:off x="10030968" y="3063240"/>
            <a:ext cx="1371600" cy="530352"/>
          </a:xfrm>
          <a:prstGeom prst="rect">
            <a:avLst/>
          </a:prstGeom>
          <a:noFill/>
          <a:ln/>
        </p:spPr>
        <p:txBody>
          <a:bodyPr wrap="square" lIns="0" tIns="0" rIns="0" bIns="0" rtlCol="0" anchor="t"/>
          <a:lstStyle/>
          <a:p>
            <a:pPr indent="0" marL="0">
              <a:buNone/>
            </a:pPr>
            <a:r>
              <a:rPr lang="en-US" sz="1200" dirty="0">
                <a:solidFill>
                  <a:srgbClr val="202124"/>
                </a:solidFill>
                <a:latin typeface="Quicksand" pitchFamily="34" charset="0"/>
                <a:ea typeface="Quicksand" pitchFamily="34" charset="-122"/>
                <a:cs typeface="Quicksand" pitchFamily="34" charset="-120"/>
              </a:rPr>
              <a:t>Then swap and mark.</a:t>
            </a:r>
            <a:endParaRPr lang="en-US" sz="1200" dirty="0"/>
          </a:p>
        </p:txBody>
      </p:sp>
      <p:sp>
        <p:nvSpPr>
          <p:cNvPr id="16" name="Text 12"/>
          <p:cNvSpPr txBox="1"/>
          <p:nvPr/>
        </p:nvSpPr>
        <p:spPr>
          <a:xfrm>
            <a:off x="896112" y="3657600"/>
            <a:ext cx="8229600" cy="457200"/>
          </a:xfrm>
          <a:prstGeom prst="rect">
            <a:avLst/>
          </a:prstGeom>
          <a:noFill/>
          <a:ln/>
        </p:spPr>
        <p:txBody>
          <a:bodyPr wrap="square" lIns="0" tIns="0" rIns="0" bIns="0" rtlCol="0" anchor="t"/>
          <a:lstStyle/>
          <a:p>
            <a:pPr indent="0" marL="0">
              <a:buNone/>
            </a:pPr>
            <a:r>
              <a:rPr lang="en-US" sz="1500" b="1" dirty="0">
                <a:solidFill>
                  <a:srgbClr val="494985"/>
                </a:solidFill>
                <a:latin typeface="Quicksand" pitchFamily="34" charset="0"/>
                <a:ea typeface="Quicksand" pitchFamily="34" charset="-122"/>
                <a:cs typeface="Quicksand" pitchFamily="34" charset="-120"/>
              </a:rPr>
              <a:t>Total: 8 marks.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In this lesson, you will</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Objectives</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3</a:t>
            </a:r>
            <a:endParaRPr lang="en-US" sz="1350" dirty="0"/>
          </a:p>
        </p:txBody>
      </p:sp>
      <p:sp>
        <p:nvSpPr>
          <p:cNvPr id="6" name="Text 4"/>
          <p:cNvSpPr txBox="1"/>
          <p:nvPr/>
        </p:nvSpPr>
        <p:spPr>
          <a:xfrm>
            <a:off x="841248" y="1463040"/>
            <a:ext cx="10241280" cy="3840480"/>
          </a:xfrm>
          <a:prstGeom prst="rect">
            <a:avLst/>
          </a:prstGeom>
          <a:noFill/>
          <a:ln/>
        </p:spPr>
        <p:txBody>
          <a:bodyPr wrap="square" lIns="0" tIns="0" rIns="0" bIns="0" rtlCol="0" anchor="t"/>
          <a:lstStyle/>
          <a:p>
            <a:pPr marL="228600" indent="-228600">
              <a:spcAft>
                <a:spcPts val="1600"/>
              </a:spcAft>
              <a:buSzPct val="100000"/>
              <a:buChar char="•"/>
            </a:pPr>
            <a:r>
              <a:rPr lang="en-US" sz="1900" dirty="0">
                <a:solidFill>
                  <a:srgbClr val="202124"/>
                </a:solidFill>
                <a:latin typeface="Quicksand" pitchFamily="34" charset="0"/>
                <a:ea typeface="Quicksand" pitchFamily="34" charset="-122"/>
                <a:cs typeface="Quicksand" pitchFamily="34" charset="-120"/>
              </a:rPr>
              <a:t>Compare Wi-Fi and Bluetooth, and explain spread spectrum frequency hopping</a:t>
            </a:r>
            <a:endParaRPr lang="en-US" sz="1900" dirty="0"/>
          </a:p>
          <a:p>
            <a:pPr marL="228600" indent="-228600">
              <a:spcAft>
                <a:spcPts val="1600"/>
              </a:spcAft>
              <a:buSzPct val="100000"/>
              <a:buChar char="•"/>
            </a:pPr>
            <a:r>
              <a:rPr lang="en-US" sz="1900" dirty="0">
                <a:solidFill>
                  <a:srgbClr val="202124"/>
                </a:solidFill>
                <a:latin typeface="Quicksand" pitchFamily="34" charset="0"/>
                <a:ea typeface="Quicksand" pitchFamily="34" charset="-122"/>
                <a:cs typeface="Quicksand" pitchFamily="34" charset="-120"/>
              </a:rPr>
              <a:t>Compare radio waves, microwaves and infrared, and explain why satellites are needed</a:t>
            </a:r>
            <a:endParaRPr lang="en-US" sz="1900" dirty="0"/>
          </a:p>
          <a:p>
            <a:pPr marL="228600" indent="-228600">
              <a:spcAft>
                <a:spcPts val="1600"/>
              </a:spcAft>
              <a:buSzPct val="100000"/>
              <a:buChar char="•"/>
            </a:pPr>
            <a:r>
              <a:rPr lang="en-US" sz="1900" dirty="0">
                <a:solidFill>
                  <a:srgbClr val="202124"/>
                </a:solidFill>
                <a:latin typeface="Quicksand" pitchFamily="34" charset="0"/>
                <a:ea typeface="Quicksand" pitchFamily="34" charset="-122"/>
                <a:cs typeface="Quicksand" pitchFamily="34" charset="-120"/>
              </a:rPr>
              <a:t>Compare twisted pair, coaxial and fibre-optic cables</a:t>
            </a:r>
            <a:endParaRPr lang="en-US" sz="1900" dirty="0"/>
          </a:p>
          <a:p>
            <a:pPr marL="228600" indent="-228600">
              <a:spcAft>
                <a:spcPts val="1600"/>
              </a:spcAft>
              <a:buSzPct val="100000"/>
              <a:buChar char="•"/>
            </a:pPr>
            <a:r>
              <a:rPr lang="en-US" sz="1900" dirty="0">
                <a:solidFill>
                  <a:srgbClr val="202124"/>
                </a:solidFill>
                <a:latin typeface="Quicksand" pitchFamily="34" charset="0"/>
                <a:ea typeface="Quicksand" pitchFamily="34" charset="-122"/>
                <a:cs typeface="Quicksand" pitchFamily="34" charset="-120"/>
              </a:rPr>
              <a:t>Recommend wired or wireless connectivity for a scenario, with reasons</a:t>
            </a:r>
            <a:endParaRPr lang="en-US" sz="1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Wireless: electromagnetic radiation</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1</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4</a:t>
            </a:r>
            <a:endParaRPr lang="en-US" sz="1350" dirty="0"/>
          </a:p>
        </p:txBody>
      </p:sp>
      <p:sp>
        <p:nvSpPr>
          <p:cNvPr id="7" name="Text 4"/>
          <p:cNvSpPr txBox="1"/>
          <p:nvPr/>
        </p:nvSpPr>
        <p:spPr>
          <a:xfrm>
            <a:off x="877824" y="1234440"/>
            <a:ext cx="10332720" cy="457200"/>
          </a:xfrm>
          <a:prstGeom prst="rect">
            <a:avLst/>
          </a:prstGeom>
          <a:noFill/>
          <a:ln/>
        </p:spPr>
        <p:txBody>
          <a:bodyPr wrap="square" lIns="0" tIns="0" rIns="0" bIns="0" rtlCol="0" anchor="t"/>
          <a:lstStyle/>
          <a:p>
            <a:pPr indent="0" marL="0">
              <a:buNone/>
            </a:pPr>
            <a:r>
              <a:rPr lang="en-US" sz="1600" b="1" dirty="0">
                <a:solidFill>
                  <a:srgbClr val="202124"/>
                </a:solidFill>
                <a:latin typeface="Quicksand" pitchFamily="34" charset="0"/>
                <a:ea typeface="Quicksand" pitchFamily="34" charset="-122"/>
                <a:cs typeface="Quicksand" pitchFamily="34" charset="-120"/>
              </a:rPr>
              <a:t>Wireless networks carry data using electromagnetic radiation: radio waves, microwaves or infrared.</a:t>
            </a:r>
            <a:endParaRPr lang="en-US" sz="1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96112" y="1920240"/>
          <a:ext cx="10387584" cy="914400"/>
        </p:xfrm>
        <a:graphic>
          <a:graphicData uri="http://schemas.openxmlformats.org/drawingml/2006/table">
            <a:tbl>
              <a:tblPr/>
              <a:tblGrid>
                <a:gridCol w="3108960"/>
                <a:gridCol w="2423160"/>
                <a:gridCol w="2423160"/>
                <a:gridCol w="2432304"/>
              </a:tblGrid>
              <a:tr h="566928">
                <a:tc>
                  <a:txBody>
                    <a:bodyPr/>
                    <a:lstStyle/>
                    <a:p>
                      <a:pPr indent="0" marL="0">
                        <a:buNone/>
                      </a:pP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Radio waves</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Microwaves</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Infrared</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566928">
                <a:tc>
                  <a:txBody>
                    <a:bodyPr/>
                    <a:lstStyle/>
                    <a:p>
                      <a:pPr indent="0" marL="0">
                        <a:buNone/>
                      </a:pPr>
                      <a:r>
                        <a:rPr lang="en-US" sz="1400" b="1" dirty="0">
                          <a:solidFill>
                            <a:srgbClr val="202124"/>
                          </a:solidFill>
                          <a:latin typeface="Quicksand" pitchFamily="34" charset="0"/>
                          <a:ea typeface="Quicksand" pitchFamily="34" charset="-122"/>
                          <a:cs typeface="Quicksand" pitchFamily="34" charset="-120"/>
                        </a:rPr>
                        <a:t>Bandwidth (data it can carry)</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lowest</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medium</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highest</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66928">
                <a:tc>
                  <a:txBody>
                    <a:bodyPr/>
                    <a:lstStyle/>
                    <a:p>
                      <a:pPr indent="0" marL="0">
                        <a:buNone/>
                      </a:pPr>
                      <a:r>
                        <a:rPr lang="en-US" sz="1400" b="1" dirty="0">
                          <a:solidFill>
                            <a:srgbClr val="202124"/>
                          </a:solidFill>
                          <a:latin typeface="Quicksand" pitchFamily="34" charset="0"/>
                          <a:ea typeface="Quicksand" pitchFamily="34" charset="-122"/>
                          <a:cs typeface="Quicksand" pitchFamily="34" charset="-120"/>
                        </a:rPr>
                        <a:t>Penetration (through walls)</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best</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medium</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worst - easily blocked</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rgbClr val="202124"/>
                          </a:solidFill>
                          <a:latin typeface="Quicksand" pitchFamily="34" charset="0"/>
                          <a:ea typeface="Quicksand" pitchFamily="34" charset="-122"/>
                          <a:cs typeface="Quicksand" pitchFamily="34" charset="-120"/>
                        </a:rPr>
                        <a:t>Range</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longest</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medium</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about 1-2 metres</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66928">
                <a:tc>
                  <a:txBody>
                    <a:bodyPr/>
                    <a:lstStyle/>
                    <a:p>
                      <a:pPr indent="0" marL="0">
                        <a:buNone/>
                      </a:pPr>
                      <a:r>
                        <a:rPr lang="en-US" sz="1400" b="1" dirty="0">
                          <a:solidFill>
                            <a:srgbClr val="202124"/>
                          </a:solidFill>
                          <a:latin typeface="Quicksand" pitchFamily="34" charset="0"/>
                          <a:ea typeface="Quicksand" pitchFamily="34" charset="-122"/>
                          <a:cs typeface="Quicksand" pitchFamily="34" charset="-120"/>
                        </a:rPr>
                        <a:t>Typical use</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broadcasting, long range links</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Wi-Fi, satellite links</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TV remotes, short indoor links</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
        <p:nvSpPr>
          <p:cNvPr id="9" name="Text 5"/>
          <p:cNvSpPr txBox="1"/>
          <p:nvPr/>
        </p:nvSpPr>
        <p:spPr>
          <a:xfrm>
            <a:off x="896112" y="4937760"/>
            <a:ext cx="10332720" cy="457200"/>
          </a:xfrm>
          <a:prstGeom prst="rect">
            <a:avLst/>
          </a:prstGeom>
          <a:noFill/>
          <a:ln/>
        </p:spPr>
        <p:txBody>
          <a:bodyPr wrap="square" lIns="0" tIns="0" rIns="0" bIns="0" rtlCol="0" anchor="t"/>
          <a:lstStyle/>
          <a:p>
            <a:pPr indent="0" marL="0">
              <a:buNone/>
            </a:pPr>
            <a:r>
              <a:rPr lang="en-US" sz="1500" b="1" dirty="0">
                <a:solidFill>
                  <a:srgbClr val="494985"/>
                </a:solidFill>
                <a:latin typeface="Quicksand" pitchFamily="34" charset="0"/>
                <a:ea typeface="Quicksand" pitchFamily="34" charset="-122"/>
                <a:cs typeface="Quicksand" pitchFamily="34" charset="-120"/>
              </a:rPr>
              <a:t>Microwaves are the best compromise: reasonable bandwidth, penetration and range.</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Wi-Fi vs Bluetooth</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1</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5</a:t>
            </a:r>
            <a:endParaRPr lang="en-US" sz="13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96112" y="1280160"/>
          <a:ext cx="10387584" cy="914400"/>
        </p:xfrm>
        <a:graphic>
          <a:graphicData uri="http://schemas.openxmlformats.org/drawingml/2006/table">
            <a:tbl>
              <a:tblPr/>
              <a:tblGrid>
                <a:gridCol w="2651760"/>
                <a:gridCol w="3867912"/>
                <a:gridCol w="3867912"/>
              </a:tblGrid>
              <a:tr h="548640">
                <a:tc>
                  <a:txBody>
                    <a:bodyPr/>
                    <a:lstStyle/>
                    <a:p>
                      <a:pPr indent="0" marL="0">
                        <a:buNone/>
                      </a:pP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Wi-Fi</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Bluetooth</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548640">
                <a:tc>
                  <a:txBody>
                    <a:bodyPr/>
                    <a:lstStyle/>
                    <a:p>
                      <a:pPr indent="0" marL="0">
                        <a:buNone/>
                      </a:pPr>
                      <a:r>
                        <a:rPr lang="en-US" sz="1400" b="1" dirty="0">
                          <a:solidFill>
                            <a:srgbClr val="202124"/>
                          </a:solidFill>
                          <a:latin typeface="Quicksand" pitchFamily="34" charset="0"/>
                          <a:ea typeface="Quicksand" pitchFamily="34" charset="-122"/>
                          <a:cs typeface="Quicksand" pitchFamily="34" charset="-120"/>
                        </a:rPr>
                        <a:t>Range</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up to about 100 m from a WAP / hotspot</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less than about 30 m</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48640">
                <a:tc>
                  <a:txBody>
                    <a:bodyPr/>
                    <a:lstStyle/>
                    <a:p>
                      <a:pPr indent="0" marL="0">
                        <a:buNone/>
                      </a:pPr>
                      <a:r>
                        <a:rPr lang="en-US" sz="1400" b="1" dirty="0">
                          <a:solidFill>
                            <a:srgbClr val="202124"/>
                          </a:solidFill>
                          <a:latin typeface="Quicksand" pitchFamily="34" charset="0"/>
                          <a:ea typeface="Quicksand" pitchFamily="34" charset="-122"/>
                          <a:cs typeface="Quicksand" pitchFamily="34" charset="-120"/>
                        </a:rPr>
                        <a:t>Data transfer rate</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much faster</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slower - speed not critical</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48640">
                <a:tc>
                  <a:txBody>
                    <a:bodyPr/>
                    <a:lstStyle/>
                    <a:p>
                      <a:pPr indent="0" marL="0">
                        <a:buNone/>
                      </a:pPr>
                      <a:r>
                        <a:rPr lang="en-US" sz="1400" b="1" dirty="0">
                          <a:solidFill>
                            <a:srgbClr val="202124"/>
                          </a:solidFill>
                          <a:latin typeface="Quicksand" pitchFamily="34" charset="0"/>
                          <a:ea typeface="Quicksand" pitchFamily="34" charset="-122"/>
                          <a:cs typeface="Quicksand" pitchFamily="34" charset="-120"/>
                        </a:rPr>
                        <a:t>Security</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better (e.g. WPA2 encryption)</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key encryption</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48640">
                <a:tc>
                  <a:txBody>
                    <a:bodyPr/>
                    <a:lstStyle/>
                    <a:p>
                      <a:pPr indent="0" marL="0">
                        <a:buNone/>
                      </a:pPr>
                      <a:r>
                        <a:rPr lang="en-US" sz="1400" b="1" dirty="0">
                          <a:solidFill>
                            <a:srgbClr val="202124"/>
                          </a:solidFill>
                          <a:latin typeface="Quicksand" pitchFamily="34" charset="0"/>
                          <a:ea typeface="Quicksand" pitchFamily="34" charset="-122"/>
                          <a:cs typeface="Quicksand" pitchFamily="34" charset="-120"/>
                        </a:rPr>
                        <a:t>Creates a...</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WLAN - a full-scale network</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WPAN - devices close to one person</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48640">
                <a:tc>
                  <a:txBody>
                    <a:bodyPr/>
                    <a:lstStyle/>
                    <a:p>
                      <a:pPr indent="0" marL="0">
                        <a:buNone/>
                      </a:pPr>
                      <a:r>
                        <a:rPr lang="en-US" sz="1400" b="1" dirty="0">
                          <a:solidFill>
                            <a:srgbClr val="202124"/>
                          </a:solidFill>
                          <a:latin typeface="Quicksand" pitchFamily="34" charset="0"/>
                          <a:ea typeface="Quicksand" pitchFamily="34" charset="-122"/>
                          <a:cs typeface="Quicksand" pitchFamily="34" charset="-120"/>
                        </a:rPr>
                        <a:t>Typical use</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laptops and phones on a school or home network</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phone to headset, phone to speaker</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48640">
                <a:tc>
                  <a:txBody>
                    <a:bodyPr/>
                    <a:lstStyle/>
                    <a:p>
                      <a:pPr indent="0" marL="0">
                        <a:buNone/>
                      </a:pPr>
                      <a:r>
                        <a:rPr lang="en-US" sz="1400" b="1" dirty="0">
                          <a:solidFill>
                            <a:srgbClr val="202124"/>
                          </a:solidFill>
                          <a:latin typeface="Quicksand" pitchFamily="34" charset="0"/>
                          <a:ea typeface="Quicksand" pitchFamily="34" charset="-122"/>
                          <a:cs typeface="Quicksand" pitchFamily="34" charset="-120"/>
                        </a:rPr>
                        <a:t>Standard / frequency</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IEEE 802.11</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79 channels around 2.45 GHz</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
        <p:nvSpPr>
          <p:cNvPr id="8" name="Text 4"/>
          <p:cNvSpPr txBox="1"/>
          <p:nvPr/>
        </p:nvSpPr>
        <p:spPr>
          <a:xfrm>
            <a:off x="896112" y="5349240"/>
            <a:ext cx="10332720" cy="457200"/>
          </a:xfrm>
          <a:prstGeom prst="rect">
            <a:avLst/>
          </a:prstGeom>
          <a:noFill/>
          <a:ln/>
        </p:spPr>
        <p:txBody>
          <a:bodyPr wrap="square" lIns="0" tIns="0" rIns="0" bIns="0" rtlCol="0" anchor="t"/>
          <a:lstStyle/>
          <a:p>
            <a:pPr indent="0" marL="0">
              <a:buNone/>
            </a:pPr>
            <a:r>
              <a:rPr lang="en-US" sz="1500" b="1" dirty="0">
                <a:solidFill>
                  <a:srgbClr val="494985"/>
                </a:solidFill>
                <a:latin typeface="Quicksand" pitchFamily="34" charset="0"/>
                <a:ea typeface="Quicksand" pitchFamily="34" charset="-122"/>
                <a:cs typeface="Quicksand" pitchFamily="34" charset="-120"/>
              </a:rPr>
              <a:t>Choose Bluetooth for low-bandwidth links between nearby devices; choose Wi-Fi for a whole network.</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Bluetooth: frequency hopping</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1</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6</a:t>
            </a:r>
            <a:endParaRPr lang="en-US" sz="1350" dirty="0"/>
          </a:p>
        </p:txBody>
      </p:sp>
      <p:sp>
        <p:nvSpPr>
          <p:cNvPr id="7" name="Text 4"/>
          <p:cNvSpPr txBox="1"/>
          <p:nvPr/>
        </p:nvSpPr>
        <p:spPr>
          <a:xfrm>
            <a:off x="877824" y="1234440"/>
            <a:ext cx="10332720" cy="640080"/>
          </a:xfrm>
          <a:prstGeom prst="rect">
            <a:avLst/>
          </a:prstGeom>
          <a:noFill/>
          <a:ln/>
        </p:spPr>
        <p:txBody>
          <a:bodyPr wrap="square" lIns="0" tIns="0" rIns="0" bIns="0" rtlCol="0" anchor="t"/>
          <a:lstStyle/>
          <a:p>
            <a:pPr indent="0" marL="0">
              <a:buNone/>
            </a:pPr>
            <a:r>
              <a:rPr lang="en-US" sz="1500" b="1" dirty="0">
                <a:solidFill>
                  <a:srgbClr val="202124"/>
                </a:solidFill>
                <a:latin typeface="Quicksand" pitchFamily="34" charset="0"/>
                <a:ea typeface="Quicksand" pitchFamily="34" charset="-122"/>
                <a:cs typeface="Quicksand" pitchFamily="34" charset="-120"/>
              </a:rPr>
              <a:t>A device picks one of 79 channels at random. If it is in use, it picks another - and pairs keep hopping channels several times a second.</a:t>
            </a:r>
            <a:endParaRPr lang="en-US" sz="1500" dirty="0"/>
          </a:p>
        </p:txBody>
      </p:sp>
      <p:sp>
        <p:nvSpPr>
          <p:cNvPr id="8" name="Text 5"/>
          <p:cNvSpPr txBox="1"/>
          <p:nvPr/>
        </p:nvSpPr>
        <p:spPr>
          <a:xfrm>
            <a:off x="822960" y="2148840"/>
            <a:ext cx="640080" cy="384048"/>
          </a:xfrm>
          <a:prstGeom prst="rect">
            <a:avLst/>
          </a:prstGeom>
          <a:noFill/>
          <a:ln/>
        </p:spPr>
        <p:txBody>
          <a:bodyPr wrap="square" lIns="0" tIns="0" rIns="0" bIns="0" rtlCol="0" anchor="ctr"/>
          <a:lstStyle/>
          <a:p>
            <a:pPr algn="r" indent="0" marL="0">
              <a:buNone/>
            </a:pPr>
            <a:r>
              <a:rPr lang="en-US" sz="1000" dirty="0">
                <a:solidFill>
                  <a:srgbClr val="666666"/>
                </a:solidFill>
                <a:latin typeface="Quicksand" pitchFamily="34" charset="0"/>
                <a:ea typeface="Quicksand" pitchFamily="34" charset="-122"/>
                <a:cs typeface="Quicksand" pitchFamily="34" charset="-120"/>
              </a:rPr>
              <a:t>ch 7</a:t>
            </a:r>
            <a:endParaRPr lang="en-US" sz="1000" dirty="0"/>
          </a:p>
        </p:txBody>
      </p:sp>
      <p:sp>
        <p:nvSpPr>
          <p:cNvPr id="9" name="Text 6"/>
          <p:cNvSpPr/>
          <p:nvPr/>
        </p:nvSpPr>
        <p:spPr>
          <a:xfrm>
            <a:off x="1554480" y="2148840"/>
            <a:ext cx="777240" cy="384048"/>
          </a:xfrm>
          <a:prstGeom prst="rect">
            <a:avLst/>
          </a:prstGeom>
          <a:solidFill>
            <a:srgbClr val="FFFFFF"/>
          </a:solidFill>
          <a:ln w="12700">
            <a:solidFill>
              <a:srgbClr val="C8C8D4"/>
            </a:solidFill>
          </a:ln>
        </p:spPr>
        <p:txBody>
          <a:bodyPr wrap="square" lIns="0" tIns="0" rIns="0" bIns="0" rtlCol="0" anchor="ctr"/>
          <a:lstStyle/>
          <a:p>
            <a:pPr algn="ctr" indent="0" marL="0">
              <a:buNone/>
            </a:pPr>
            <a:endParaRPr lang="en-US" sz="1100" dirty="0"/>
          </a:p>
        </p:txBody>
      </p:sp>
      <p:sp>
        <p:nvSpPr>
          <p:cNvPr id="10" name="Text 7"/>
          <p:cNvSpPr/>
          <p:nvPr/>
        </p:nvSpPr>
        <p:spPr>
          <a:xfrm>
            <a:off x="2331720" y="2148840"/>
            <a:ext cx="777240" cy="384048"/>
          </a:xfrm>
          <a:prstGeom prst="rect">
            <a:avLst/>
          </a:prstGeom>
          <a:solidFill>
            <a:srgbClr val="FFFFFF"/>
          </a:solidFill>
          <a:ln w="12700">
            <a:solidFill>
              <a:srgbClr val="C8C8D4"/>
            </a:solidFill>
          </a:ln>
        </p:spPr>
        <p:txBody>
          <a:bodyPr wrap="square" lIns="0" tIns="0" rIns="0" bIns="0" rtlCol="0" anchor="ctr"/>
          <a:lstStyle/>
          <a:p>
            <a:pPr algn="ctr" indent="0" marL="0">
              <a:buNone/>
            </a:pPr>
            <a:endParaRPr lang="en-US" sz="1100" dirty="0"/>
          </a:p>
        </p:txBody>
      </p:sp>
      <p:sp>
        <p:nvSpPr>
          <p:cNvPr id="11" name="Text 8"/>
          <p:cNvSpPr/>
          <p:nvPr/>
        </p:nvSpPr>
        <p:spPr>
          <a:xfrm>
            <a:off x="3108960" y="2148840"/>
            <a:ext cx="777240" cy="384048"/>
          </a:xfrm>
          <a:prstGeom prst="rect">
            <a:avLst/>
          </a:prstGeom>
          <a:solidFill>
            <a:srgbClr val="FFFFFF"/>
          </a:solidFill>
          <a:ln w="12700">
            <a:solidFill>
              <a:srgbClr val="C8C8D4"/>
            </a:solidFill>
          </a:ln>
        </p:spPr>
        <p:txBody>
          <a:bodyPr wrap="square" lIns="0" tIns="0" rIns="0" bIns="0" rtlCol="0" anchor="ctr"/>
          <a:lstStyle/>
          <a:p>
            <a:pPr algn="ctr" indent="0" marL="0">
              <a:buNone/>
            </a:pPr>
            <a:endParaRPr lang="en-US" sz="1100" dirty="0"/>
          </a:p>
        </p:txBody>
      </p:sp>
      <p:sp>
        <p:nvSpPr>
          <p:cNvPr id="12" name="Text 9"/>
          <p:cNvSpPr/>
          <p:nvPr/>
        </p:nvSpPr>
        <p:spPr>
          <a:xfrm>
            <a:off x="3886200" y="2148840"/>
            <a:ext cx="777240" cy="384048"/>
          </a:xfrm>
          <a:prstGeom prst="rect">
            <a:avLst/>
          </a:prstGeom>
          <a:solidFill>
            <a:srgbClr val="FFFFFF"/>
          </a:solidFill>
          <a:ln w="12700">
            <a:solidFill>
              <a:srgbClr val="C8C8D4"/>
            </a:solidFill>
          </a:ln>
        </p:spPr>
        <p:txBody>
          <a:bodyPr wrap="square" lIns="0" tIns="0" rIns="0" bIns="0" rtlCol="0" anchor="ctr"/>
          <a:lstStyle/>
          <a:p>
            <a:pPr algn="ctr" indent="0" marL="0">
              <a:buNone/>
            </a:pPr>
            <a:endParaRPr lang="en-US" sz="1100" dirty="0"/>
          </a:p>
        </p:txBody>
      </p:sp>
      <p:sp>
        <p:nvSpPr>
          <p:cNvPr id="13" name="Text 10"/>
          <p:cNvSpPr/>
          <p:nvPr/>
        </p:nvSpPr>
        <p:spPr>
          <a:xfrm>
            <a:off x="4663440" y="2148840"/>
            <a:ext cx="777240" cy="384048"/>
          </a:xfrm>
          <a:prstGeom prst="rect">
            <a:avLst/>
          </a:prstGeom>
          <a:solidFill>
            <a:srgbClr val="FFFFFF"/>
          </a:solidFill>
          <a:ln w="12700">
            <a:solidFill>
              <a:srgbClr val="C8C8D4"/>
            </a:solidFill>
          </a:ln>
        </p:spPr>
        <p:txBody>
          <a:bodyPr wrap="square" lIns="0" tIns="0" rIns="0" bIns="0" rtlCol="0" anchor="ctr"/>
          <a:lstStyle/>
          <a:p>
            <a:pPr algn="ctr" indent="0" marL="0">
              <a:buNone/>
            </a:pPr>
            <a:endParaRPr lang="en-US" sz="1100" dirty="0"/>
          </a:p>
        </p:txBody>
      </p:sp>
      <p:sp>
        <p:nvSpPr>
          <p:cNvPr id="14" name="Text 11"/>
          <p:cNvSpPr/>
          <p:nvPr/>
        </p:nvSpPr>
        <p:spPr>
          <a:xfrm>
            <a:off x="5440680" y="2148840"/>
            <a:ext cx="777240" cy="384048"/>
          </a:xfrm>
          <a:prstGeom prst="rect">
            <a:avLst/>
          </a:prstGeom>
          <a:solidFill>
            <a:srgbClr val="494985"/>
          </a:solidFill>
          <a:ln w="12700">
            <a:solidFill>
              <a:srgbClr val="C8C8D4"/>
            </a:solidFill>
          </a:ln>
        </p:spPr>
        <p:txBody>
          <a:bodyPr wrap="square" lIns="0" tIns="0" rIns="0" bIns="0" rtlCol="0" anchor="ctr"/>
          <a:lstStyle/>
          <a:p>
            <a:pPr algn="ctr" indent="0" marL="0">
              <a:buNone/>
            </a:pPr>
            <a:r>
              <a:rPr lang="en-US" sz="1100" b="1" dirty="0">
                <a:solidFill>
                  <a:srgbClr val="FFFFFF"/>
                </a:solidFill>
                <a:latin typeface="Quicksand" pitchFamily="34" charset="0"/>
                <a:ea typeface="Quicksand" pitchFamily="34" charset="-122"/>
                <a:cs typeface="Quicksand" pitchFamily="34" charset="-120"/>
              </a:rPr>
              <a:t>1</a:t>
            </a:r>
            <a:endParaRPr lang="en-US" sz="1100" dirty="0"/>
          </a:p>
        </p:txBody>
      </p:sp>
      <p:sp>
        <p:nvSpPr>
          <p:cNvPr id="15" name="Text 12"/>
          <p:cNvSpPr/>
          <p:nvPr/>
        </p:nvSpPr>
        <p:spPr>
          <a:xfrm>
            <a:off x="6217920" y="2148840"/>
            <a:ext cx="777240" cy="384048"/>
          </a:xfrm>
          <a:prstGeom prst="rect">
            <a:avLst/>
          </a:prstGeom>
          <a:solidFill>
            <a:srgbClr val="FFD84D"/>
          </a:solidFill>
          <a:ln w="12700">
            <a:solidFill>
              <a:srgbClr val="C8C8D4"/>
            </a:solidFill>
          </a:ln>
        </p:spPr>
        <p:txBody>
          <a:bodyPr wrap="square" lIns="0" tIns="0" rIns="0" bIns="0" rtlCol="0" anchor="ctr"/>
          <a:lstStyle/>
          <a:p>
            <a:pPr algn="ctr" indent="0" marL="0">
              <a:buNone/>
            </a:pPr>
            <a:r>
              <a:rPr lang="en-US" sz="1100" b="1" dirty="0">
                <a:solidFill>
                  <a:srgbClr val="202124"/>
                </a:solidFill>
                <a:latin typeface="Quicksand" pitchFamily="34" charset="0"/>
                <a:ea typeface="Quicksand" pitchFamily="34" charset="-122"/>
                <a:cs typeface="Quicksand" pitchFamily="34" charset="-120"/>
              </a:rPr>
              <a:t>2</a:t>
            </a:r>
            <a:endParaRPr lang="en-US" sz="1100" dirty="0"/>
          </a:p>
        </p:txBody>
      </p:sp>
      <p:sp>
        <p:nvSpPr>
          <p:cNvPr id="16" name="Text 13"/>
          <p:cNvSpPr/>
          <p:nvPr/>
        </p:nvSpPr>
        <p:spPr>
          <a:xfrm>
            <a:off x="6995160" y="2148840"/>
            <a:ext cx="777240" cy="384048"/>
          </a:xfrm>
          <a:prstGeom prst="rect">
            <a:avLst/>
          </a:prstGeom>
          <a:solidFill>
            <a:srgbClr val="FFFFFF"/>
          </a:solidFill>
          <a:ln w="12700">
            <a:solidFill>
              <a:srgbClr val="C8C8D4"/>
            </a:solidFill>
          </a:ln>
        </p:spPr>
        <p:txBody>
          <a:bodyPr wrap="square" lIns="0" tIns="0" rIns="0" bIns="0" rtlCol="0" anchor="ctr"/>
          <a:lstStyle/>
          <a:p>
            <a:pPr algn="ctr" indent="0" marL="0">
              <a:buNone/>
            </a:pPr>
            <a:endParaRPr lang="en-US" sz="1100" dirty="0"/>
          </a:p>
        </p:txBody>
      </p:sp>
      <p:sp>
        <p:nvSpPr>
          <p:cNvPr id="17" name="Text 14"/>
          <p:cNvSpPr txBox="1"/>
          <p:nvPr/>
        </p:nvSpPr>
        <p:spPr>
          <a:xfrm>
            <a:off x="822960" y="2532888"/>
            <a:ext cx="640080" cy="384048"/>
          </a:xfrm>
          <a:prstGeom prst="rect">
            <a:avLst/>
          </a:prstGeom>
          <a:noFill/>
          <a:ln/>
        </p:spPr>
        <p:txBody>
          <a:bodyPr wrap="square" lIns="0" tIns="0" rIns="0" bIns="0" rtlCol="0" anchor="ctr"/>
          <a:lstStyle/>
          <a:p>
            <a:pPr algn="r" indent="0" marL="0">
              <a:buNone/>
            </a:pPr>
            <a:r>
              <a:rPr lang="en-US" sz="1000" dirty="0">
                <a:solidFill>
                  <a:srgbClr val="666666"/>
                </a:solidFill>
                <a:latin typeface="Quicksand" pitchFamily="34" charset="0"/>
                <a:ea typeface="Quicksand" pitchFamily="34" charset="-122"/>
                <a:cs typeface="Quicksand" pitchFamily="34" charset="-120"/>
              </a:rPr>
              <a:t>ch 6</a:t>
            </a:r>
            <a:endParaRPr lang="en-US" sz="1000" dirty="0"/>
          </a:p>
        </p:txBody>
      </p:sp>
      <p:sp>
        <p:nvSpPr>
          <p:cNvPr id="18" name="Text 15"/>
          <p:cNvSpPr/>
          <p:nvPr/>
        </p:nvSpPr>
        <p:spPr>
          <a:xfrm>
            <a:off x="1554480" y="2532888"/>
            <a:ext cx="777240" cy="384048"/>
          </a:xfrm>
          <a:prstGeom prst="rect">
            <a:avLst/>
          </a:prstGeom>
          <a:solidFill>
            <a:srgbClr val="FFFFFF"/>
          </a:solidFill>
          <a:ln w="12700">
            <a:solidFill>
              <a:srgbClr val="C8C8D4"/>
            </a:solidFill>
          </a:ln>
        </p:spPr>
        <p:txBody>
          <a:bodyPr wrap="square" lIns="0" tIns="0" rIns="0" bIns="0" rtlCol="0" anchor="ctr"/>
          <a:lstStyle/>
          <a:p>
            <a:pPr algn="ctr" indent="0" marL="0">
              <a:buNone/>
            </a:pPr>
            <a:endParaRPr lang="en-US" sz="1100" dirty="0"/>
          </a:p>
        </p:txBody>
      </p:sp>
      <p:sp>
        <p:nvSpPr>
          <p:cNvPr id="19" name="Text 16"/>
          <p:cNvSpPr/>
          <p:nvPr/>
        </p:nvSpPr>
        <p:spPr>
          <a:xfrm>
            <a:off x="2331720" y="2532888"/>
            <a:ext cx="777240" cy="384048"/>
          </a:xfrm>
          <a:prstGeom prst="rect">
            <a:avLst/>
          </a:prstGeom>
          <a:solidFill>
            <a:srgbClr val="FFD84D"/>
          </a:solidFill>
          <a:ln w="12700">
            <a:solidFill>
              <a:srgbClr val="C8C8D4"/>
            </a:solidFill>
          </a:ln>
        </p:spPr>
        <p:txBody>
          <a:bodyPr wrap="square" lIns="0" tIns="0" rIns="0" bIns="0" rtlCol="0" anchor="ctr"/>
          <a:lstStyle/>
          <a:p>
            <a:pPr algn="ctr" indent="0" marL="0">
              <a:buNone/>
            </a:pPr>
            <a:r>
              <a:rPr lang="en-US" sz="1100" b="1" dirty="0">
                <a:solidFill>
                  <a:srgbClr val="202124"/>
                </a:solidFill>
                <a:latin typeface="Quicksand" pitchFamily="34" charset="0"/>
                <a:ea typeface="Quicksand" pitchFamily="34" charset="-122"/>
                <a:cs typeface="Quicksand" pitchFamily="34" charset="-120"/>
              </a:rPr>
              <a:t>2</a:t>
            </a:r>
            <a:endParaRPr lang="en-US" sz="1100" dirty="0"/>
          </a:p>
        </p:txBody>
      </p:sp>
      <p:sp>
        <p:nvSpPr>
          <p:cNvPr id="20" name="Text 17"/>
          <p:cNvSpPr/>
          <p:nvPr/>
        </p:nvSpPr>
        <p:spPr>
          <a:xfrm>
            <a:off x="3108960" y="2532888"/>
            <a:ext cx="777240" cy="384048"/>
          </a:xfrm>
          <a:prstGeom prst="rect">
            <a:avLst/>
          </a:prstGeom>
          <a:solidFill>
            <a:srgbClr val="494985"/>
          </a:solidFill>
          <a:ln w="12700">
            <a:solidFill>
              <a:srgbClr val="C8C8D4"/>
            </a:solidFill>
          </a:ln>
        </p:spPr>
        <p:txBody>
          <a:bodyPr wrap="square" lIns="0" tIns="0" rIns="0" bIns="0" rtlCol="0" anchor="ctr"/>
          <a:lstStyle/>
          <a:p>
            <a:pPr algn="ctr" indent="0" marL="0">
              <a:buNone/>
            </a:pPr>
            <a:r>
              <a:rPr lang="en-US" sz="1100" b="1" dirty="0">
                <a:solidFill>
                  <a:srgbClr val="FFFFFF"/>
                </a:solidFill>
                <a:latin typeface="Quicksand" pitchFamily="34" charset="0"/>
                <a:ea typeface="Quicksand" pitchFamily="34" charset="-122"/>
                <a:cs typeface="Quicksand" pitchFamily="34" charset="-120"/>
              </a:rPr>
              <a:t>1</a:t>
            </a:r>
            <a:endParaRPr lang="en-US" sz="1100" dirty="0"/>
          </a:p>
        </p:txBody>
      </p:sp>
      <p:sp>
        <p:nvSpPr>
          <p:cNvPr id="21" name="Text 18"/>
          <p:cNvSpPr/>
          <p:nvPr/>
        </p:nvSpPr>
        <p:spPr>
          <a:xfrm>
            <a:off x="3886200" y="2532888"/>
            <a:ext cx="777240" cy="384048"/>
          </a:xfrm>
          <a:prstGeom prst="rect">
            <a:avLst/>
          </a:prstGeom>
          <a:solidFill>
            <a:srgbClr val="FFFFFF"/>
          </a:solidFill>
          <a:ln w="12700">
            <a:solidFill>
              <a:srgbClr val="C8C8D4"/>
            </a:solidFill>
          </a:ln>
        </p:spPr>
        <p:txBody>
          <a:bodyPr wrap="square" lIns="0" tIns="0" rIns="0" bIns="0" rtlCol="0" anchor="ctr"/>
          <a:lstStyle/>
          <a:p>
            <a:pPr algn="ctr" indent="0" marL="0">
              <a:buNone/>
            </a:pPr>
            <a:endParaRPr lang="en-US" sz="1100" dirty="0"/>
          </a:p>
        </p:txBody>
      </p:sp>
      <p:sp>
        <p:nvSpPr>
          <p:cNvPr id="22" name="Text 19"/>
          <p:cNvSpPr/>
          <p:nvPr/>
        </p:nvSpPr>
        <p:spPr>
          <a:xfrm>
            <a:off x="4663440" y="2532888"/>
            <a:ext cx="777240" cy="384048"/>
          </a:xfrm>
          <a:prstGeom prst="rect">
            <a:avLst/>
          </a:prstGeom>
          <a:solidFill>
            <a:srgbClr val="FFFFFF"/>
          </a:solidFill>
          <a:ln w="12700">
            <a:solidFill>
              <a:srgbClr val="C8C8D4"/>
            </a:solidFill>
          </a:ln>
        </p:spPr>
        <p:txBody>
          <a:bodyPr wrap="square" lIns="0" tIns="0" rIns="0" bIns="0" rtlCol="0" anchor="ctr"/>
          <a:lstStyle/>
          <a:p>
            <a:pPr algn="ctr" indent="0" marL="0">
              <a:buNone/>
            </a:pPr>
            <a:endParaRPr lang="en-US" sz="1100" dirty="0"/>
          </a:p>
        </p:txBody>
      </p:sp>
      <p:sp>
        <p:nvSpPr>
          <p:cNvPr id="23" name="Text 20"/>
          <p:cNvSpPr/>
          <p:nvPr/>
        </p:nvSpPr>
        <p:spPr>
          <a:xfrm>
            <a:off x="5440680" y="2532888"/>
            <a:ext cx="777240" cy="384048"/>
          </a:xfrm>
          <a:prstGeom prst="rect">
            <a:avLst/>
          </a:prstGeom>
          <a:solidFill>
            <a:srgbClr val="FFFFFF"/>
          </a:solidFill>
          <a:ln w="12700">
            <a:solidFill>
              <a:srgbClr val="C8C8D4"/>
            </a:solidFill>
          </a:ln>
        </p:spPr>
        <p:txBody>
          <a:bodyPr wrap="square" lIns="0" tIns="0" rIns="0" bIns="0" rtlCol="0" anchor="ctr"/>
          <a:lstStyle/>
          <a:p>
            <a:pPr algn="ctr" indent="0" marL="0">
              <a:buNone/>
            </a:pPr>
            <a:endParaRPr lang="en-US" sz="1100" dirty="0"/>
          </a:p>
        </p:txBody>
      </p:sp>
      <p:sp>
        <p:nvSpPr>
          <p:cNvPr id="24" name="Text 21"/>
          <p:cNvSpPr/>
          <p:nvPr/>
        </p:nvSpPr>
        <p:spPr>
          <a:xfrm>
            <a:off x="6217920" y="2532888"/>
            <a:ext cx="777240" cy="384048"/>
          </a:xfrm>
          <a:prstGeom prst="rect">
            <a:avLst/>
          </a:prstGeom>
          <a:solidFill>
            <a:srgbClr val="FFFFFF"/>
          </a:solidFill>
          <a:ln w="12700">
            <a:solidFill>
              <a:srgbClr val="C8C8D4"/>
            </a:solidFill>
          </a:ln>
        </p:spPr>
        <p:txBody>
          <a:bodyPr wrap="square" lIns="0" tIns="0" rIns="0" bIns="0" rtlCol="0" anchor="ctr"/>
          <a:lstStyle/>
          <a:p>
            <a:pPr algn="ctr" indent="0" marL="0">
              <a:buNone/>
            </a:pPr>
            <a:endParaRPr lang="en-US" sz="1100" dirty="0"/>
          </a:p>
        </p:txBody>
      </p:sp>
      <p:sp>
        <p:nvSpPr>
          <p:cNvPr id="25" name="Text 22"/>
          <p:cNvSpPr/>
          <p:nvPr/>
        </p:nvSpPr>
        <p:spPr>
          <a:xfrm>
            <a:off x="6995160" y="2532888"/>
            <a:ext cx="777240" cy="384048"/>
          </a:xfrm>
          <a:prstGeom prst="rect">
            <a:avLst/>
          </a:prstGeom>
          <a:solidFill>
            <a:srgbClr val="FFFFFF"/>
          </a:solidFill>
          <a:ln w="12700">
            <a:solidFill>
              <a:srgbClr val="C8C8D4"/>
            </a:solidFill>
          </a:ln>
        </p:spPr>
        <p:txBody>
          <a:bodyPr wrap="square" lIns="0" tIns="0" rIns="0" bIns="0" rtlCol="0" anchor="ctr"/>
          <a:lstStyle/>
          <a:p>
            <a:pPr algn="ctr" indent="0" marL="0">
              <a:buNone/>
            </a:pPr>
            <a:endParaRPr lang="en-US" sz="1100" dirty="0"/>
          </a:p>
        </p:txBody>
      </p:sp>
      <p:sp>
        <p:nvSpPr>
          <p:cNvPr id="26" name="Text 23"/>
          <p:cNvSpPr txBox="1"/>
          <p:nvPr/>
        </p:nvSpPr>
        <p:spPr>
          <a:xfrm>
            <a:off x="822960" y="2916936"/>
            <a:ext cx="640080" cy="384048"/>
          </a:xfrm>
          <a:prstGeom prst="rect">
            <a:avLst/>
          </a:prstGeom>
          <a:noFill/>
          <a:ln/>
        </p:spPr>
        <p:txBody>
          <a:bodyPr wrap="square" lIns="0" tIns="0" rIns="0" bIns="0" rtlCol="0" anchor="ctr"/>
          <a:lstStyle/>
          <a:p>
            <a:pPr algn="r" indent="0" marL="0">
              <a:buNone/>
            </a:pPr>
            <a:r>
              <a:rPr lang="en-US" sz="1000" dirty="0">
                <a:solidFill>
                  <a:srgbClr val="666666"/>
                </a:solidFill>
                <a:latin typeface="Quicksand" pitchFamily="34" charset="0"/>
                <a:ea typeface="Quicksand" pitchFamily="34" charset="-122"/>
                <a:cs typeface="Quicksand" pitchFamily="34" charset="-120"/>
              </a:rPr>
              <a:t>ch 5</a:t>
            </a:r>
            <a:endParaRPr lang="en-US" sz="1000" dirty="0"/>
          </a:p>
        </p:txBody>
      </p:sp>
      <p:sp>
        <p:nvSpPr>
          <p:cNvPr id="27" name="Text 24"/>
          <p:cNvSpPr/>
          <p:nvPr/>
        </p:nvSpPr>
        <p:spPr>
          <a:xfrm>
            <a:off x="1554480" y="2916936"/>
            <a:ext cx="777240" cy="384048"/>
          </a:xfrm>
          <a:prstGeom prst="rect">
            <a:avLst/>
          </a:prstGeom>
          <a:solidFill>
            <a:srgbClr val="494985"/>
          </a:solidFill>
          <a:ln w="12700">
            <a:solidFill>
              <a:srgbClr val="C8C8D4"/>
            </a:solidFill>
          </a:ln>
        </p:spPr>
        <p:txBody>
          <a:bodyPr wrap="square" lIns="0" tIns="0" rIns="0" bIns="0" rtlCol="0" anchor="ctr"/>
          <a:lstStyle/>
          <a:p>
            <a:pPr algn="ctr" indent="0" marL="0">
              <a:buNone/>
            </a:pPr>
            <a:r>
              <a:rPr lang="en-US" sz="1100" b="1" dirty="0">
                <a:solidFill>
                  <a:srgbClr val="FFFFFF"/>
                </a:solidFill>
                <a:latin typeface="Quicksand" pitchFamily="34" charset="0"/>
                <a:ea typeface="Quicksand" pitchFamily="34" charset="-122"/>
                <a:cs typeface="Quicksand" pitchFamily="34" charset="-120"/>
              </a:rPr>
              <a:t>1</a:t>
            </a:r>
            <a:endParaRPr lang="en-US" sz="1100" dirty="0"/>
          </a:p>
        </p:txBody>
      </p:sp>
      <p:sp>
        <p:nvSpPr>
          <p:cNvPr id="28" name="Text 25"/>
          <p:cNvSpPr/>
          <p:nvPr/>
        </p:nvSpPr>
        <p:spPr>
          <a:xfrm>
            <a:off x="2331720" y="2916936"/>
            <a:ext cx="777240" cy="384048"/>
          </a:xfrm>
          <a:prstGeom prst="rect">
            <a:avLst/>
          </a:prstGeom>
          <a:solidFill>
            <a:srgbClr val="FFFFFF"/>
          </a:solidFill>
          <a:ln w="12700">
            <a:solidFill>
              <a:srgbClr val="C8C8D4"/>
            </a:solidFill>
          </a:ln>
        </p:spPr>
        <p:txBody>
          <a:bodyPr wrap="square" lIns="0" tIns="0" rIns="0" bIns="0" rtlCol="0" anchor="ctr"/>
          <a:lstStyle/>
          <a:p>
            <a:pPr algn="ctr" indent="0" marL="0">
              <a:buNone/>
            </a:pPr>
            <a:endParaRPr lang="en-US" sz="1100" dirty="0"/>
          </a:p>
        </p:txBody>
      </p:sp>
      <p:sp>
        <p:nvSpPr>
          <p:cNvPr id="29" name="Text 26"/>
          <p:cNvSpPr/>
          <p:nvPr/>
        </p:nvSpPr>
        <p:spPr>
          <a:xfrm>
            <a:off x="3108960" y="2916936"/>
            <a:ext cx="777240" cy="384048"/>
          </a:xfrm>
          <a:prstGeom prst="rect">
            <a:avLst/>
          </a:prstGeom>
          <a:solidFill>
            <a:srgbClr val="FFFFFF"/>
          </a:solidFill>
          <a:ln w="12700">
            <a:solidFill>
              <a:srgbClr val="C8C8D4"/>
            </a:solidFill>
          </a:ln>
        </p:spPr>
        <p:txBody>
          <a:bodyPr wrap="square" lIns="0" tIns="0" rIns="0" bIns="0" rtlCol="0" anchor="ctr"/>
          <a:lstStyle/>
          <a:p>
            <a:pPr algn="ctr" indent="0" marL="0">
              <a:buNone/>
            </a:pPr>
            <a:endParaRPr lang="en-US" sz="1100" dirty="0"/>
          </a:p>
        </p:txBody>
      </p:sp>
      <p:sp>
        <p:nvSpPr>
          <p:cNvPr id="30" name="Text 27"/>
          <p:cNvSpPr/>
          <p:nvPr/>
        </p:nvSpPr>
        <p:spPr>
          <a:xfrm>
            <a:off x="3886200" y="2916936"/>
            <a:ext cx="777240" cy="384048"/>
          </a:xfrm>
          <a:prstGeom prst="rect">
            <a:avLst/>
          </a:prstGeom>
          <a:solidFill>
            <a:srgbClr val="FFD84D"/>
          </a:solidFill>
          <a:ln w="12700">
            <a:solidFill>
              <a:srgbClr val="C8C8D4"/>
            </a:solidFill>
          </a:ln>
        </p:spPr>
        <p:txBody>
          <a:bodyPr wrap="square" lIns="0" tIns="0" rIns="0" bIns="0" rtlCol="0" anchor="ctr"/>
          <a:lstStyle/>
          <a:p>
            <a:pPr algn="ctr" indent="0" marL="0">
              <a:buNone/>
            </a:pPr>
            <a:r>
              <a:rPr lang="en-US" sz="1100" b="1" dirty="0">
                <a:solidFill>
                  <a:srgbClr val="202124"/>
                </a:solidFill>
                <a:latin typeface="Quicksand" pitchFamily="34" charset="0"/>
                <a:ea typeface="Quicksand" pitchFamily="34" charset="-122"/>
                <a:cs typeface="Quicksand" pitchFamily="34" charset="-120"/>
              </a:rPr>
              <a:t>2</a:t>
            </a:r>
            <a:endParaRPr lang="en-US" sz="1100" dirty="0"/>
          </a:p>
        </p:txBody>
      </p:sp>
      <p:sp>
        <p:nvSpPr>
          <p:cNvPr id="31" name="Text 28"/>
          <p:cNvSpPr/>
          <p:nvPr/>
        </p:nvSpPr>
        <p:spPr>
          <a:xfrm>
            <a:off x="4663440" y="2916936"/>
            <a:ext cx="777240" cy="384048"/>
          </a:xfrm>
          <a:prstGeom prst="rect">
            <a:avLst/>
          </a:prstGeom>
          <a:solidFill>
            <a:srgbClr val="FFFFFF"/>
          </a:solidFill>
          <a:ln w="12700">
            <a:solidFill>
              <a:srgbClr val="C8C8D4"/>
            </a:solidFill>
          </a:ln>
        </p:spPr>
        <p:txBody>
          <a:bodyPr wrap="square" lIns="0" tIns="0" rIns="0" bIns="0" rtlCol="0" anchor="ctr"/>
          <a:lstStyle/>
          <a:p>
            <a:pPr algn="ctr" indent="0" marL="0">
              <a:buNone/>
            </a:pPr>
            <a:endParaRPr lang="en-US" sz="1100" dirty="0"/>
          </a:p>
        </p:txBody>
      </p:sp>
      <p:sp>
        <p:nvSpPr>
          <p:cNvPr id="32" name="Text 29"/>
          <p:cNvSpPr/>
          <p:nvPr/>
        </p:nvSpPr>
        <p:spPr>
          <a:xfrm>
            <a:off x="5440680" y="2916936"/>
            <a:ext cx="777240" cy="384048"/>
          </a:xfrm>
          <a:prstGeom prst="rect">
            <a:avLst/>
          </a:prstGeom>
          <a:solidFill>
            <a:srgbClr val="FFFFFF"/>
          </a:solidFill>
          <a:ln w="12700">
            <a:solidFill>
              <a:srgbClr val="C8C8D4"/>
            </a:solidFill>
          </a:ln>
        </p:spPr>
        <p:txBody>
          <a:bodyPr wrap="square" lIns="0" tIns="0" rIns="0" bIns="0" rtlCol="0" anchor="ctr"/>
          <a:lstStyle/>
          <a:p>
            <a:pPr algn="ctr" indent="0" marL="0">
              <a:buNone/>
            </a:pPr>
            <a:endParaRPr lang="en-US" sz="1100" dirty="0"/>
          </a:p>
        </p:txBody>
      </p:sp>
      <p:sp>
        <p:nvSpPr>
          <p:cNvPr id="33" name="Text 30"/>
          <p:cNvSpPr/>
          <p:nvPr/>
        </p:nvSpPr>
        <p:spPr>
          <a:xfrm>
            <a:off x="6217920" y="2916936"/>
            <a:ext cx="777240" cy="384048"/>
          </a:xfrm>
          <a:prstGeom prst="rect">
            <a:avLst/>
          </a:prstGeom>
          <a:solidFill>
            <a:srgbClr val="FFFFFF"/>
          </a:solidFill>
          <a:ln w="12700">
            <a:solidFill>
              <a:srgbClr val="C8C8D4"/>
            </a:solidFill>
          </a:ln>
        </p:spPr>
        <p:txBody>
          <a:bodyPr wrap="square" lIns="0" tIns="0" rIns="0" bIns="0" rtlCol="0" anchor="ctr"/>
          <a:lstStyle/>
          <a:p>
            <a:pPr algn="ctr" indent="0" marL="0">
              <a:buNone/>
            </a:pPr>
            <a:endParaRPr lang="en-US" sz="1100" dirty="0"/>
          </a:p>
        </p:txBody>
      </p:sp>
      <p:sp>
        <p:nvSpPr>
          <p:cNvPr id="34" name="Text 31"/>
          <p:cNvSpPr/>
          <p:nvPr/>
        </p:nvSpPr>
        <p:spPr>
          <a:xfrm>
            <a:off x="6995160" y="2916936"/>
            <a:ext cx="777240" cy="384048"/>
          </a:xfrm>
          <a:prstGeom prst="rect">
            <a:avLst/>
          </a:prstGeom>
          <a:solidFill>
            <a:srgbClr val="494985"/>
          </a:solidFill>
          <a:ln w="12700">
            <a:solidFill>
              <a:srgbClr val="C8C8D4"/>
            </a:solidFill>
          </a:ln>
        </p:spPr>
        <p:txBody>
          <a:bodyPr wrap="square" lIns="0" tIns="0" rIns="0" bIns="0" rtlCol="0" anchor="ctr"/>
          <a:lstStyle/>
          <a:p>
            <a:pPr algn="ctr" indent="0" marL="0">
              <a:buNone/>
            </a:pPr>
            <a:r>
              <a:rPr lang="en-US" sz="1100" b="1" dirty="0">
                <a:solidFill>
                  <a:srgbClr val="FFFFFF"/>
                </a:solidFill>
                <a:latin typeface="Quicksand" pitchFamily="34" charset="0"/>
                <a:ea typeface="Quicksand" pitchFamily="34" charset="-122"/>
                <a:cs typeface="Quicksand" pitchFamily="34" charset="-120"/>
              </a:rPr>
              <a:t>1</a:t>
            </a:r>
            <a:endParaRPr lang="en-US" sz="1100" dirty="0"/>
          </a:p>
        </p:txBody>
      </p:sp>
      <p:sp>
        <p:nvSpPr>
          <p:cNvPr id="35" name="Text 32"/>
          <p:cNvSpPr txBox="1"/>
          <p:nvPr/>
        </p:nvSpPr>
        <p:spPr>
          <a:xfrm>
            <a:off x="822960" y="3300984"/>
            <a:ext cx="640080" cy="384048"/>
          </a:xfrm>
          <a:prstGeom prst="rect">
            <a:avLst/>
          </a:prstGeom>
          <a:noFill/>
          <a:ln/>
        </p:spPr>
        <p:txBody>
          <a:bodyPr wrap="square" lIns="0" tIns="0" rIns="0" bIns="0" rtlCol="0" anchor="ctr"/>
          <a:lstStyle/>
          <a:p>
            <a:pPr algn="r" indent="0" marL="0">
              <a:buNone/>
            </a:pPr>
            <a:r>
              <a:rPr lang="en-US" sz="1000" dirty="0">
                <a:solidFill>
                  <a:srgbClr val="666666"/>
                </a:solidFill>
                <a:latin typeface="Quicksand" pitchFamily="34" charset="0"/>
                <a:ea typeface="Quicksand" pitchFamily="34" charset="-122"/>
                <a:cs typeface="Quicksand" pitchFamily="34" charset="-120"/>
              </a:rPr>
              <a:t>ch 4</a:t>
            </a:r>
            <a:endParaRPr lang="en-US" sz="1000" dirty="0"/>
          </a:p>
        </p:txBody>
      </p:sp>
      <p:sp>
        <p:nvSpPr>
          <p:cNvPr id="36" name="Text 33"/>
          <p:cNvSpPr/>
          <p:nvPr/>
        </p:nvSpPr>
        <p:spPr>
          <a:xfrm>
            <a:off x="1554480" y="3300984"/>
            <a:ext cx="777240" cy="384048"/>
          </a:xfrm>
          <a:prstGeom prst="rect">
            <a:avLst/>
          </a:prstGeom>
          <a:solidFill>
            <a:srgbClr val="FFFFFF"/>
          </a:solidFill>
          <a:ln w="12700">
            <a:solidFill>
              <a:srgbClr val="C8C8D4"/>
            </a:solidFill>
          </a:ln>
        </p:spPr>
        <p:txBody>
          <a:bodyPr wrap="square" lIns="0" tIns="0" rIns="0" bIns="0" rtlCol="0" anchor="ctr"/>
          <a:lstStyle/>
          <a:p>
            <a:pPr algn="ctr" indent="0" marL="0">
              <a:buNone/>
            </a:pPr>
            <a:endParaRPr lang="en-US" sz="1100" dirty="0"/>
          </a:p>
        </p:txBody>
      </p:sp>
      <p:sp>
        <p:nvSpPr>
          <p:cNvPr id="37" name="Text 34"/>
          <p:cNvSpPr/>
          <p:nvPr/>
        </p:nvSpPr>
        <p:spPr>
          <a:xfrm>
            <a:off x="2331720" y="3300984"/>
            <a:ext cx="777240" cy="384048"/>
          </a:xfrm>
          <a:prstGeom prst="rect">
            <a:avLst/>
          </a:prstGeom>
          <a:solidFill>
            <a:srgbClr val="FFFFFF"/>
          </a:solidFill>
          <a:ln w="12700">
            <a:solidFill>
              <a:srgbClr val="C8C8D4"/>
            </a:solidFill>
          </a:ln>
        </p:spPr>
        <p:txBody>
          <a:bodyPr wrap="square" lIns="0" tIns="0" rIns="0" bIns="0" rtlCol="0" anchor="ctr"/>
          <a:lstStyle/>
          <a:p>
            <a:pPr algn="ctr" indent="0" marL="0">
              <a:buNone/>
            </a:pPr>
            <a:endParaRPr lang="en-US" sz="1100" dirty="0"/>
          </a:p>
        </p:txBody>
      </p:sp>
      <p:sp>
        <p:nvSpPr>
          <p:cNvPr id="38" name="Text 35"/>
          <p:cNvSpPr/>
          <p:nvPr/>
        </p:nvSpPr>
        <p:spPr>
          <a:xfrm>
            <a:off x="3108960" y="3300984"/>
            <a:ext cx="777240" cy="384048"/>
          </a:xfrm>
          <a:prstGeom prst="rect">
            <a:avLst/>
          </a:prstGeom>
          <a:solidFill>
            <a:srgbClr val="FFFFFF"/>
          </a:solidFill>
          <a:ln w="12700">
            <a:solidFill>
              <a:srgbClr val="C8C8D4"/>
            </a:solidFill>
          </a:ln>
        </p:spPr>
        <p:txBody>
          <a:bodyPr wrap="square" lIns="0" tIns="0" rIns="0" bIns="0" rtlCol="0" anchor="ctr"/>
          <a:lstStyle/>
          <a:p>
            <a:pPr algn="ctr" indent="0" marL="0">
              <a:buNone/>
            </a:pPr>
            <a:endParaRPr lang="en-US" sz="1100" dirty="0"/>
          </a:p>
        </p:txBody>
      </p:sp>
      <p:sp>
        <p:nvSpPr>
          <p:cNvPr id="39" name="Text 36"/>
          <p:cNvSpPr/>
          <p:nvPr/>
        </p:nvSpPr>
        <p:spPr>
          <a:xfrm>
            <a:off x="3886200" y="3300984"/>
            <a:ext cx="777240" cy="384048"/>
          </a:xfrm>
          <a:prstGeom prst="rect">
            <a:avLst/>
          </a:prstGeom>
          <a:solidFill>
            <a:srgbClr val="FFFFFF"/>
          </a:solidFill>
          <a:ln w="12700">
            <a:solidFill>
              <a:srgbClr val="C8C8D4"/>
            </a:solidFill>
          </a:ln>
        </p:spPr>
        <p:txBody>
          <a:bodyPr wrap="square" lIns="0" tIns="0" rIns="0" bIns="0" rtlCol="0" anchor="ctr"/>
          <a:lstStyle/>
          <a:p>
            <a:pPr algn="ctr" indent="0" marL="0">
              <a:buNone/>
            </a:pPr>
            <a:endParaRPr lang="en-US" sz="1100" dirty="0"/>
          </a:p>
        </p:txBody>
      </p:sp>
      <p:sp>
        <p:nvSpPr>
          <p:cNvPr id="40" name="Text 37"/>
          <p:cNvSpPr/>
          <p:nvPr/>
        </p:nvSpPr>
        <p:spPr>
          <a:xfrm>
            <a:off x="4663440" y="3300984"/>
            <a:ext cx="777240" cy="384048"/>
          </a:xfrm>
          <a:prstGeom prst="rect">
            <a:avLst/>
          </a:prstGeom>
          <a:solidFill>
            <a:srgbClr val="494985"/>
          </a:solidFill>
          <a:ln w="12700">
            <a:solidFill>
              <a:srgbClr val="C8C8D4"/>
            </a:solidFill>
          </a:ln>
        </p:spPr>
        <p:txBody>
          <a:bodyPr wrap="square" lIns="0" tIns="0" rIns="0" bIns="0" rtlCol="0" anchor="ctr"/>
          <a:lstStyle/>
          <a:p>
            <a:pPr algn="ctr" indent="0" marL="0">
              <a:buNone/>
            </a:pPr>
            <a:r>
              <a:rPr lang="en-US" sz="1100" b="1" dirty="0">
                <a:solidFill>
                  <a:srgbClr val="FFFFFF"/>
                </a:solidFill>
                <a:latin typeface="Quicksand" pitchFamily="34" charset="0"/>
                <a:ea typeface="Quicksand" pitchFamily="34" charset="-122"/>
                <a:cs typeface="Quicksand" pitchFamily="34" charset="-120"/>
              </a:rPr>
              <a:t>1</a:t>
            </a:r>
            <a:endParaRPr lang="en-US" sz="1100" dirty="0"/>
          </a:p>
        </p:txBody>
      </p:sp>
      <p:sp>
        <p:nvSpPr>
          <p:cNvPr id="41" name="Text 38"/>
          <p:cNvSpPr/>
          <p:nvPr/>
        </p:nvSpPr>
        <p:spPr>
          <a:xfrm>
            <a:off x="5440680" y="3300984"/>
            <a:ext cx="777240" cy="384048"/>
          </a:xfrm>
          <a:prstGeom prst="rect">
            <a:avLst/>
          </a:prstGeom>
          <a:solidFill>
            <a:srgbClr val="FFD84D"/>
          </a:solidFill>
          <a:ln w="12700">
            <a:solidFill>
              <a:srgbClr val="C8C8D4"/>
            </a:solidFill>
          </a:ln>
        </p:spPr>
        <p:txBody>
          <a:bodyPr wrap="square" lIns="0" tIns="0" rIns="0" bIns="0" rtlCol="0" anchor="ctr"/>
          <a:lstStyle/>
          <a:p>
            <a:pPr algn="ctr" indent="0" marL="0">
              <a:buNone/>
            </a:pPr>
            <a:r>
              <a:rPr lang="en-US" sz="1100" b="1" dirty="0">
                <a:solidFill>
                  <a:srgbClr val="202124"/>
                </a:solidFill>
                <a:latin typeface="Quicksand" pitchFamily="34" charset="0"/>
                <a:ea typeface="Quicksand" pitchFamily="34" charset="-122"/>
                <a:cs typeface="Quicksand" pitchFamily="34" charset="-120"/>
              </a:rPr>
              <a:t>2</a:t>
            </a:r>
            <a:endParaRPr lang="en-US" sz="1100" dirty="0"/>
          </a:p>
        </p:txBody>
      </p:sp>
      <p:sp>
        <p:nvSpPr>
          <p:cNvPr id="42" name="Text 39"/>
          <p:cNvSpPr/>
          <p:nvPr/>
        </p:nvSpPr>
        <p:spPr>
          <a:xfrm>
            <a:off x="6217920" y="3300984"/>
            <a:ext cx="777240" cy="384048"/>
          </a:xfrm>
          <a:prstGeom prst="rect">
            <a:avLst/>
          </a:prstGeom>
          <a:solidFill>
            <a:srgbClr val="FFFFFF"/>
          </a:solidFill>
          <a:ln w="12700">
            <a:solidFill>
              <a:srgbClr val="C8C8D4"/>
            </a:solidFill>
          </a:ln>
        </p:spPr>
        <p:txBody>
          <a:bodyPr wrap="square" lIns="0" tIns="0" rIns="0" bIns="0" rtlCol="0" anchor="ctr"/>
          <a:lstStyle/>
          <a:p>
            <a:pPr algn="ctr" indent="0" marL="0">
              <a:buNone/>
            </a:pPr>
            <a:endParaRPr lang="en-US" sz="1100" dirty="0"/>
          </a:p>
        </p:txBody>
      </p:sp>
      <p:sp>
        <p:nvSpPr>
          <p:cNvPr id="43" name="Text 40"/>
          <p:cNvSpPr/>
          <p:nvPr/>
        </p:nvSpPr>
        <p:spPr>
          <a:xfrm>
            <a:off x="6995160" y="3300984"/>
            <a:ext cx="777240" cy="384048"/>
          </a:xfrm>
          <a:prstGeom prst="rect">
            <a:avLst/>
          </a:prstGeom>
          <a:solidFill>
            <a:srgbClr val="FFFFFF"/>
          </a:solidFill>
          <a:ln w="12700">
            <a:solidFill>
              <a:srgbClr val="C8C8D4"/>
            </a:solidFill>
          </a:ln>
        </p:spPr>
        <p:txBody>
          <a:bodyPr wrap="square" lIns="0" tIns="0" rIns="0" bIns="0" rtlCol="0" anchor="ctr"/>
          <a:lstStyle/>
          <a:p>
            <a:pPr algn="ctr" indent="0" marL="0">
              <a:buNone/>
            </a:pPr>
            <a:endParaRPr lang="en-US" sz="1100" dirty="0"/>
          </a:p>
        </p:txBody>
      </p:sp>
      <p:sp>
        <p:nvSpPr>
          <p:cNvPr id="44" name="Text 41"/>
          <p:cNvSpPr txBox="1"/>
          <p:nvPr/>
        </p:nvSpPr>
        <p:spPr>
          <a:xfrm>
            <a:off x="822960" y="3685032"/>
            <a:ext cx="640080" cy="384048"/>
          </a:xfrm>
          <a:prstGeom prst="rect">
            <a:avLst/>
          </a:prstGeom>
          <a:noFill/>
          <a:ln/>
        </p:spPr>
        <p:txBody>
          <a:bodyPr wrap="square" lIns="0" tIns="0" rIns="0" bIns="0" rtlCol="0" anchor="ctr"/>
          <a:lstStyle/>
          <a:p>
            <a:pPr algn="r" indent="0" marL="0">
              <a:buNone/>
            </a:pPr>
            <a:r>
              <a:rPr lang="en-US" sz="1000" dirty="0">
                <a:solidFill>
                  <a:srgbClr val="666666"/>
                </a:solidFill>
                <a:latin typeface="Quicksand" pitchFamily="34" charset="0"/>
                <a:ea typeface="Quicksand" pitchFamily="34" charset="-122"/>
                <a:cs typeface="Quicksand" pitchFamily="34" charset="-120"/>
              </a:rPr>
              <a:t>ch 3</a:t>
            </a:r>
            <a:endParaRPr lang="en-US" sz="1000" dirty="0"/>
          </a:p>
        </p:txBody>
      </p:sp>
      <p:sp>
        <p:nvSpPr>
          <p:cNvPr id="45" name="Text 42"/>
          <p:cNvSpPr/>
          <p:nvPr/>
        </p:nvSpPr>
        <p:spPr>
          <a:xfrm>
            <a:off x="1554480" y="3685032"/>
            <a:ext cx="777240" cy="384048"/>
          </a:xfrm>
          <a:prstGeom prst="rect">
            <a:avLst/>
          </a:prstGeom>
          <a:solidFill>
            <a:srgbClr val="FFFFFF"/>
          </a:solidFill>
          <a:ln w="12700">
            <a:solidFill>
              <a:srgbClr val="C8C8D4"/>
            </a:solidFill>
          </a:ln>
        </p:spPr>
        <p:txBody>
          <a:bodyPr wrap="square" lIns="0" tIns="0" rIns="0" bIns="0" rtlCol="0" anchor="ctr"/>
          <a:lstStyle/>
          <a:p>
            <a:pPr algn="ctr" indent="0" marL="0">
              <a:buNone/>
            </a:pPr>
            <a:endParaRPr lang="en-US" sz="1100" dirty="0"/>
          </a:p>
        </p:txBody>
      </p:sp>
      <p:sp>
        <p:nvSpPr>
          <p:cNvPr id="46" name="Text 43"/>
          <p:cNvSpPr/>
          <p:nvPr/>
        </p:nvSpPr>
        <p:spPr>
          <a:xfrm>
            <a:off x="2331720" y="3685032"/>
            <a:ext cx="777240" cy="384048"/>
          </a:xfrm>
          <a:prstGeom prst="rect">
            <a:avLst/>
          </a:prstGeom>
          <a:solidFill>
            <a:srgbClr val="FFFFFF"/>
          </a:solidFill>
          <a:ln w="12700">
            <a:solidFill>
              <a:srgbClr val="C8C8D4"/>
            </a:solidFill>
          </a:ln>
        </p:spPr>
        <p:txBody>
          <a:bodyPr wrap="square" lIns="0" tIns="0" rIns="0" bIns="0" rtlCol="0" anchor="ctr"/>
          <a:lstStyle/>
          <a:p>
            <a:pPr algn="ctr" indent="0" marL="0">
              <a:buNone/>
            </a:pPr>
            <a:endParaRPr lang="en-US" sz="1100" dirty="0"/>
          </a:p>
        </p:txBody>
      </p:sp>
      <p:sp>
        <p:nvSpPr>
          <p:cNvPr id="47" name="Text 44"/>
          <p:cNvSpPr/>
          <p:nvPr/>
        </p:nvSpPr>
        <p:spPr>
          <a:xfrm>
            <a:off x="3108960" y="3685032"/>
            <a:ext cx="777240" cy="384048"/>
          </a:xfrm>
          <a:prstGeom prst="rect">
            <a:avLst/>
          </a:prstGeom>
          <a:solidFill>
            <a:srgbClr val="FFD84D"/>
          </a:solidFill>
          <a:ln w="12700">
            <a:solidFill>
              <a:srgbClr val="C8C8D4"/>
            </a:solidFill>
          </a:ln>
        </p:spPr>
        <p:txBody>
          <a:bodyPr wrap="square" lIns="0" tIns="0" rIns="0" bIns="0" rtlCol="0" anchor="ctr"/>
          <a:lstStyle/>
          <a:p>
            <a:pPr algn="ctr" indent="0" marL="0">
              <a:buNone/>
            </a:pPr>
            <a:r>
              <a:rPr lang="en-US" sz="1100" b="1" dirty="0">
                <a:solidFill>
                  <a:srgbClr val="202124"/>
                </a:solidFill>
                <a:latin typeface="Quicksand" pitchFamily="34" charset="0"/>
                <a:ea typeface="Quicksand" pitchFamily="34" charset="-122"/>
                <a:cs typeface="Quicksand" pitchFamily="34" charset="-120"/>
              </a:rPr>
              <a:t>2</a:t>
            </a:r>
            <a:endParaRPr lang="en-US" sz="1100" dirty="0"/>
          </a:p>
        </p:txBody>
      </p:sp>
      <p:sp>
        <p:nvSpPr>
          <p:cNvPr id="48" name="Text 45"/>
          <p:cNvSpPr/>
          <p:nvPr/>
        </p:nvSpPr>
        <p:spPr>
          <a:xfrm>
            <a:off x="3886200" y="3685032"/>
            <a:ext cx="777240" cy="384048"/>
          </a:xfrm>
          <a:prstGeom prst="rect">
            <a:avLst/>
          </a:prstGeom>
          <a:solidFill>
            <a:srgbClr val="FFFFFF"/>
          </a:solidFill>
          <a:ln w="12700">
            <a:solidFill>
              <a:srgbClr val="C8C8D4"/>
            </a:solidFill>
          </a:ln>
        </p:spPr>
        <p:txBody>
          <a:bodyPr wrap="square" lIns="0" tIns="0" rIns="0" bIns="0" rtlCol="0" anchor="ctr"/>
          <a:lstStyle/>
          <a:p>
            <a:pPr algn="ctr" indent="0" marL="0">
              <a:buNone/>
            </a:pPr>
            <a:endParaRPr lang="en-US" sz="1100" dirty="0"/>
          </a:p>
        </p:txBody>
      </p:sp>
      <p:sp>
        <p:nvSpPr>
          <p:cNvPr id="49" name="Text 46"/>
          <p:cNvSpPr/>
          <p:nvPr/>
        </p:nvSpPr>
        <p:spPr>
          <a:xfrm>
            <a:off x="4663440" y="3685032"/>
            <a:ext cx="777240" cy="384048"/>
          </a:xfrm>
          <a:prstGeom prst="rect">
            <a:avLst/>
          </a:prstGeom>
          <a:solidFill>
            <a:srgbClr val="FFFFFF"/>
          </a:solidFill>
          <a:ln w="12700">
            <a:solidFill>
              <a:srgbClr val="C8C8D4"/>
            </a:solidFill>
          </a:ln>
        </p:spPr>
        <p:txBody>
          <a:bodyPr wrap="square" lIns="0" tIns="0" rIns="0" bIns="0" rtlCol="0" anchor="ctr"/>
          <a:lstStyle/>
          <a:p>
            <a:pPr algn="ctr" indent="0" marL="0">
              <a:buNone/>
            </a:pPr>
            <a:endParaRPr lang="en-US" sz="1100" dirty="0"/>
          </a:p>
        </p:txBody>
      </p:sp>
      <p:sp>
        <p:nvSpPr>
          <p:cNvPr id="50" name="Text 47"/>
          <p:cNvSpPr/>
          <p:nvPr/>
        </p:nvSpPr>
        <p:spPr>
          <a:xfrm>
            <a:off x="5440680" y="3685032"/>
            <a:ext cx="777240" cy="384048"/>
          </a:xfrm>
          <a:prstGeom prst="rect">
            <a:avLst/>
          </a:prstGeom>
          <a:solidFill>
            <a:srgbClr val="FFFFFF"/>
          </a:solidFill>
          <a:ln w="12700">
            <a:solidFill>
              <a:srgbClr val="C8C8D4"/>
            </a:solidFill>
          </a:ln>
        </p:spPr>
        <p:txBody>
          <a:bodyPr wrap="square" lIns="0" tIns="0" rIns="0" bIns="0" rtlCol="0" anchor="ctr"/>
          <a:lstStyle/>
          <a:p>
            <a:pPr algn="ctr" indent="0" marL="0">
              <a:buNone/>
            </a:pPr>
            <a:endParaRPr lang="en-US" sz="1100" dirty="0"/>
          </a:p>
        </p:txBody>
      </p:sp>
      <p:sp>
        <p:nvSpPr>
          <p:cNvPr id="51" name="Text 48"/>
          <p:cNvSpPr/>
          <p:nvPr/>
        </p:nvSpPr>
        <p:spPr>
          <a:xfrm>
            <a:off x="6217920" y="3685032"/>
            <a:ext cx="777240" cy="384048"/>
          </a:xfrm>
          <a:prstGeom prst="rect">
            <a:avLst/>
          </a:prstGeom>
          <a:solidFill>
            <a:srgbClr val="494985"/>
          </a:solidFill>
          <a:ln w="12700">
            <a:solidFill>
              <a:srgbClr val="C8C8D4"/>
            </a:solidFill>
          </a:ln>
        </p:spPr>
        <p:txBody>
          <a:bodyPr wrap="square" lIns="0" tIns="0" rIns="0" bIns="0" rtlCol="0" anchor="ctr"/>
          <a:lstStyle/>
          <a:p>
            <a:pPr algn="ctr" indent="0" marL="0">
              <a:buNone/>
            </a:pPr>
            <a:r>
              <a:rPr lang="en-US" sz="1100" b="1" dirty="0">
                <a:solidFill>
                  <a:srgbClr val="FFFFFF"/>
                </a:solidFill>
                <a:latin typeface="Quicksand" pitchFamily="34" charset="0"/>
                <a:ea typeface="Quicksand" pitchFamily="34" charset="-122"/>
                <a:cs typeface="Quicksand" pitchFamily="34" charset="-120"/>
              </a:rPr>
              <a:t>1</a:t>
            </a:r>
            <a:endParaRPr lang="en-US" sz="1100" dirty="0"/>
          </a:p>
        </p:txBody>
      </p:sp>
      <p:sp>
        <p:nvSpPr>
          <p:cNvPr id="52" name="Text 49"/>
          <p:cNvSpPr/>
          <p:nvPr/>
        </p:nvSpPr>
        <p:spPr>
          <a:xfrm>
            <a:off x="6995160" y="3685032"/>
            <a:ext cx="777240" cy="384048"/>
          </a:xfrm>
          <a:prstGeom prst="rect">
            <a:avLst/>
          </a:prstGeom>
          <a:solidFill>
            <a:srgbClr val="FFFFFF"/>
          </a:solidFill>
          <a:ln w="12700">
            <a:solidFill>
              <a:srgbClr val="C8C8D4"/>
            </a:solidFill>
          </a:ln>
        </p:spPr>
        <p:txBody>
          <a:bodyPr wrap="square" lIns="0" tIns="0" rIns="0" bIns="0" rtlCol="0" anchor="ctr"/>
          <a:lstStyle/>
          <a:p>
            <a:pPr algn="ctr" indent="0" marL="0">
              <a:buNone/>
            </a:pPr>
            <a:endParaRPr lang="en-US" sz="1100" dirty="0"/>
          </a:p>
        </p:txBody>
      </p:sp>
      <p:sp>
        <p:nvSpPr>
          <p:cNvPr id="53" name="Text 50"/>
          <p:cNvSpPr txBox="1"/>
          <p:nvPr/>
        </p:nvSpPr>
        <p:spPr>
          <a:xfrm>
            <a:off x="822960" y="4069080"/>
            <a:ext cx="640080" cy="384048"/>
          </a:xfrm>
          <a:prstGeom prst="rect">
            <a:avLst/>
          </a:prstGeom>
          <a:noFill/>
          <a:ln/>
        </p:spPr>
        <p:txBody>
          <a:bodyPr wrap="square" lIns="0" tIns="0" rIns="0" bIns="0" rtlCol="0" anchor="ctr"/>
          <a:lstStyle/>
          <a:p>
            <a:pPr algn="r" indent="0" marL="0">
              <a:buNone/>
            </a:pPr>
            <a:r>
              <a:rPr lang="en-US" sz="1000" dirty="0">
                <a:solidFill>
                  <a:srgbClr val="666666"/>
                </a:solidFill>
                <a:latin typeface="Quicksand" pitchFamily="34" charset="0"/>
                <a:ea typeface="Quicksand" pitchFamily="34" charset="-122"/>
                <a:cs typeface="Quicksand" pitchFamily="34" charset="-120"/>
              </a:rPr>
              <a:t>ch 2</a:t>
            </a:r>
            <a:endParaRPr lang="en-US" sz="1000" dirty="0"/>
          </a:p>
        </p:txBody>
      </p:sp>
      <p:sp>
        <p:nvSpPr>
          <p:cNvPr id="54" name="Text 51"/>
          <p:cNvSpPr/>
          <p:nvPr/>
        </p:nvSpPr>
        <p:spPr>
          <a:xfrm>
            <a:off x="1554480" y="4069080"/>
            <a:ext cx="777240" cy="384048"/>
          </a:xfrm>
          <a:prstGeom prst="rect">
            <a:avLst/>
          </a:prstGeom>
          <a:solidFill>
            <a:srgbClr val="FFD84D"/>
          </a:solidFill>
          <a:ln w="12700">
            <a:solidFill>
              <a:srgbClr val="C8C8D4"/>
            </a:solidFill>
          </a:ln>
        </p:spPr>
        <p:txBody>
          <a:bodyPr wrap="square" lIns="0" tIns="0" rIns="0" bIns="0" rtlCol="0" anchor="ctr"/>
          <a:lstStyle/>
          <a:p>
            <a:pPr algn="ctr" indent="0" marL="0">
              <a:buNone/>
            </a:pPr>
            <a:r>
              <a:rPr lang="en-US" sz="1100" b="1" dirty="0">
                <a:solidFill>
                  <a:srgbClr val="202124"/>
                </a:solidFill>
                <a:latin typeface="Quicksand" pitchFamily="34" charset="0"/>
                <a:ea typeface="Quicksand" pitchFamily="34" charset="-122"/>
                <a:cs typeface="Quicksand" pitchFamily="34" charset="-120"/>
              </a:rPr>
              <a:t>2</a:t>
            </a:r>
            <a:endParaRPr lang="en-US" sz="1100" dirty="0"/>
          </a:p>
        </p:txBody>
      </p:sp>
      <p:sp>
        <p:nvSpPr>
          <p:cNvPr id="55" name="Text 52"/>
          <p:cNvSpPr/>
          <p:nvPr/>
        </p:nvSpPr>
        <p:spPr>
          <a:xfrm>
            <a:off x="2331720" y="4069080"/>
            <a:ext cx="777240" cy="384048"/>
          </a:xfrm>
          <a:prstGeom prst="rect">
            <a:avLst/>
          </a:prstGeom>
          <a:solidFill>
            <a:srgbClr val="494985"/>
          </a:solidFill>
          <a:ln w="12700">
            <a:solidFill>
              <a:srgbClr val="C8C8D4"/>
            </a:solidFill>
          </a:ln>
        </p:spPr>
        <p:txBody>
          <a:bodyPr wrap="square" lIns="0" tIns="0" rIns="0" bIns="0" rtlCol="0" anchor="ctr"/>
          <a:lstStyle/>
          <a:p>
            <a:pPr algn="ctr" indent="0" marL="0">
              <a:buNone/>
            </a:pPr>
            <a:r>
              <a:rPr lang="en-US" sz="1100" b="1" dirty="0">
                <a:solidFill>
                  <a:srgbClr val="FFFFFF"/>
                </a:solidFill>
                <a:latin typeface="Quicksand" pitchFamily="34" charset="0"/>
                <a:ea typeface="Quicksand" pitchFamily="34" charset="-122"/>
                <a:cs typeface="Quicksand" pitchFamily="34" charset="-120"/>
              </a:rPr>
              <a:t>1</a:t>
            </a:r>
            <a:endParaRPr lang="en-US" sz="1100" dirty="0"/>
          </a:p>
        </p:txBody>
      </p:sp>
      <p:sp>
        <p:nvSpPr>
          <p:cNvPr id="56" name="Text 53"/>
          <p:cNvSpPr/>
          <p:nvPr/>
        </p:nvSpPr>
        <p:spPr>
          <a:xfrm>
            <a:off x="3108960" y="4069080"/>
            <a:ext cx="777240" cy="384048"/>
          </a:xfrm>
          <a:prstGeom prst="rect">
            <a:avLst/>
          </a:prstGeom>
          <a:solidFill>
            <a:srgbClr val="FFFFFF"/>
          </a:solidFill>
          <a:ln w="12700">
            <a:solidFill>
              <a:srgbClr val="C8C8D4"/>
            </a:solidFill>
          </a:ln>
        </p:spPr>
        <p:txBody>
          <a:bodyPr wrap="square" lIns="0" tIns="0" rIns="0" bIns="0" rtlCol="0" anchor="ctr"/>
          <a:lstStyle/>
          <a:p>
            <a:pPr algn="ctr" indent="0" marL="0">
              <a:buNone/>
            </a:pPr>
            <a:endParaRPr lang="en-US" sz="1100" dirty="0"/>
          </a:p>
        </p:txBody>
      </p:sp>
      <p:sp>
        <p:nvSpPr>
          <p:cNvPr id="57" name="Text 54"/>
          <p:cNvSpPr/>
          <p:nvPr/>
        </p:nvSpPr>
        <p:spPr>
          <a:xfrm>
            <a:off x="3886200" y="4069080"/>
            <a:ext cx="777240" cy="384048"/>
          </a:xfrm>
          <a:prstGeom prst="rect">
            <a:avLst/>
          </a:prstGeom>
          <a:solidFill>
            <a:srgbClr val="FFFFFF"/>
          </a:solidFill>
          <a:ln w="12700">
            <a:solidFill>
              <a:srgbClr val="C8C8D4"/>
            </a:solidFill>
          </a:ln>
        </p:spPr>
        <p:txBody>
          <a:bodyPr wrap="square" lIns="0" tIns="0" rIns="0" bIns="0" rtlCol="0" anchor="ctr"/>
          <a:lstStyle/>
          <a:p>
            <a:pPr algn="ctr" indent="0" marL="0">
              <a:buNone/>
            </a:pPr>
            <a:endParaRPr lang="en-US" sz="1100" dirty="0"/>
          </a:p>
        </p:txBody>
      </p:sp>
      <p:sp>
        <p:nvSpPr>
          <p:cNvPr id="58" name="Text 55"/>
          <p:cNvSpPr/>
          <p:nvPr/>
        </p:nvSpPr>
        <p:spPr>
          <a:xfrm>
            <a:off x="4663440" y="4069080"/>
            <a:ext cx="777240" cy="384048"/>
          </a:xfrm>
          <a:prstGeom prst="rect">
            <a:avLst/>
          </a:prstGeom>
          <a:solidFill>
            <a:srgbClr val="FFFFFF"/>
          </a:solidFill>
          <a:ln w="12700">
            <a:solidFill>
              <a:srgbClr val="C8C8D4"/>
            </a:solidFill>
          </a:ln>
        </p:spPr>
        <p:txBody>
          <a:bodyPr wrap="square" lIns="0" tIns="0" rIns="0" bIns="0" rtlCol="0" anchor="ctr"/>
          <a:lstStyle/>
          <a:p>
            <a:pPr algn="ctr" indent="0" marL="0">
              <a:buNone/>
            </a:pPr>
            <a:endParaRPr lang="en-US" sz="1100" dirty="0"/>
          </a:p>
        </p:txBody>
      </p:sp>
      <p:sp>
        <p:nvSpPr>
          <p:cNvPr id="59" name="Text 56"/>
          <p:cNvSpPr/>
          <p:nvPr/>
        </p:nvSpPr>
        <p:spPr>
          <a:xfrm>
            <a:off x="5440680" y="4069080"/>
            <a:ext cx="777240" cy="384048"/>
          </a:xfrm>
          <a:prstGeom prst="rect">
            <a:avLst/>
          </a:prstGeom>
          <a:solidFill>
            <a:srgbClr val="FFFFFF"/>
          </a:solidFill>
          <a:ln w="12700">
            <a:solidFill>
              <a:srgbClr val="C8C8D4"/>
            </a:solidFill>
          </a:ln>
        </p:spPr>
        <p:txBody>
          <a:bodyPr wrap="square" lIns="0" tIns="0" rIns="0" bIns="0" rtlCol="0" anchor="ctr"/>
          <a:lstStyle/>
          <a:p>
            <a:pPr algn="ctr" indent="0" marL="0">
              <a:buNone/>
            </a:pPr>
            <a:endParaRPr lang="en-US" sz="1100" dirty="0"/>
          </a:p>
        </p:txBody>
      </p:sp>
      <p:sp>
        <p:nvSpPr>
          <p:cNvPr id="60" name="Text 57"/>
          <p:cNvSpPr/>
          <p:nvPr/>
        </p:nvSpPr>
        <p:spPr>
          <a:xfrm>
            <a:off x="6217920" y="4069080"/>
            <a:ext cx="777240" cy="384048"/>
          </a:xfrm>
          <a:prstGeom prst="rect">
            <a:avLst/>
          </a:prstGeom>
          <a:solidFill>
            <a:srgbClr val="FFFFFF"/>
          </a:solidFill>
          <a:ln w="12700">
            <a:solidFill>
              <a:srgbClr val="C8C8D4"/>
            </a:solidFill>
          </a:ln>
        </p:spPr>
        <p:txBody>
          <a:bodyPr wrap="square" lIns="0" tIns="0" rIns="0" bIns="0" rtlCol="0" anchor="ctr"/>
          <a:lstStyle/>
          <a:p>
            <a:pPr algn="ctr" indent="0" marL="0">
              <a:buNone/>
            </a:pPr>
            <a:endParaRPr lang="en-US" sz="1100" dirty="0"/>
          </a:p>
        </p:txBody>
      </p:sp>
      <p:sp>
        <p:nvSpPr>
          <p:cNvPr id="61" name="Text 58"/>
          <p:cNvSpPr/>
          <p:nvPr/>
        </p:nvSpPr>
        <p:spPr>
          <a:xfrm>
            <a:off x="6995160" y="4069080"/>
            <a:ext cx="777240" cy="384048"/>
          </a:xfrm>
          <a:prstGeom prst="rect">
            <a:avLst/>
          </a:prstGeom>
          <a:solidFill>
            <a:srgbClr val="FFD84D"/>
          </a:solidFill>
          <a:ln w="12700">
            <a:solidFill>
              <a:srgbClr val="C8C8D4"/>
            </a:solidFill>
          </a:ln>
        </p:spPr>
        <p:txBody>
          <a:bodyPr wrap="square" lIns="0" tIns="0" rIns="0" bIns="0" rtlCol="0" anchor="ctr"/>
          <a:lstStyle/>
          <a:p>
            <a:pPr algn="ctr" indent="0" marL="0">
              <a:buNone/>
            </a:pPr>
            <a:r>
              <a:rPr lang="en-US" sz="1100" b="1" dirty="0">
                <a:solidFill>
                  <a:srgbClr val="202124"/>
                </a:solidFill>
                <a:latin typeface="Quicksand" pitchFamily="34" charset="0"/>
                <a:ea typeface="Quicksand" pitchFamily="34" charset="-122"/>
                <a:cs typeface="Quicksand" pitchFamily="34" charset="-120"/>
              </a:rPr>
              <a:t>2</a:t>
            </a:r>
            <a:endParaRPr lang="en-US" sz="1100" dirty="0"/>
          </a:p>
        </p:txBody>
      </p:sp>
      <p:sp>
        <p:nvSpPr>
          <p:cNvPr id="62" name="Text 59"/>
          <p:cNvSpPr txBox="1"/>
          <p:nvPr/>
        </p:nvSpPr>
        <p:spPr>
          <a:xfrm>
            <a:off x="822960" y="4453128"/>
            <a:ext cx="640080" cy="384048"/>
          </a:xfrm>
          <a:prstGeom prst="rect">
            <a:avLst/>
          </a:prstGeom>
          <a:noFill/>
          <a:ln/>
        </p:spPr>
        <p:txBody>
          <a:bodyPr wrap="square" lIns="0" tIns="0" rIns="0" bIns="0" rtlCol="0" anchor="ctr"/>
          <a:lstStyle/>
          <a:p>
            <a:pPr algn="r" indent="0" marL="0">
              <a:buNone/>
            </a:pPr>
            <a:r>
              <a:rPr lang="en-US" sz="1000" dirty="0">
                <a:solidFill>
                  <a:srgbClr val="666666"/>
                </a:solidFill>
                <a:latin typeface="Quicksand" pitchFamily="34" charset="0"/>
                <a:ea typeface="Quicksand" pitchFamily="34" charset="-122"/>
                <a:cs typeface="Quicksand" pitchFamily="34" charset="-120"/>
              </a:rPr>
              <a:t>ch 1</a:t>
            </a:r>
            <a:endParaRPr lang="en-US" sz="1000" dirty="0"/>
          </a:p>
        </p:txBody>
      </p:sp>
      <p:sp>
        <p:nvSpPr>
          <p:cNvPr id="63" name="Text 60"/>
          <p:cNvSpPr/>
          <p:nvPr/>
        </p:nvSpPr>
        <p:spPr>
          <a:xfrm>
            <a:off x="1554480" y="4453128"/>
            <a:ext cx="777240" cy="384048"/>
          </a:xfrm>
          <a:prstGeom prst="rect">
            <a:avLst/>
          </a:prstGeom>
          <a:solidFill>
            <a:srgbClr val="FFFFFF"/>
          </a:solidFill>
          <a:ln w="12700">
            <a:solidFill>
              <a:srgbClr val="C8C8D4"/>
            </a:solidFill>
          </a:ln>
        </p:spPr>
        <p:txBody>
          <a:bodyPr wrap="square" lIns="0" tIns="0" rIns="0" bIns="0" rtlCol="0" anchor="ctr"/>
          <a:lstStyle/>
          <a:p>
            <a:pPr algn="ctr" indent="0" marL="0">
              <a:buNone/>
            </a:pPr>
            <a:endParaRPr lang="en-US" sz="1100" dirty="0"/>
          </a:p>
        </p:txBody>
      </p:sp>
      <p:sp>
        <p:nvSpPr>
          <p:cNvPr id="64" name="Text 61"/>
          <p:cNvSpPr/>
          <p:nvPr/>
        </p:nvSpPr>
        <p:spPr>
          <a:xfrm>
            <a:off x="2331720" y="4453128"/>
            <a:ext cx="777240" cy="384048"/>
          </a:xfrm>
          <a:prstGeom prst="rect">
            <a:avLst/>
          </a:prstGeom>
          <a:solidFill>
            <a:srgbClr val="FFFFFF"/>
          </a:solidFill>
          <a:ln w="12700">
            <a:solidFill>
              <a:srgbClr val="C8C8D4"/>
            </a:solidFill>
          </a:ln>
        </p:spPr>
        <p:txBody>
          <a:bodyPr wrap="square" lIns="0" tIns="0" rIns="0" bIns="0" rtlCol="0" anchor="ctr"/>
          <a:lstStyle/>
          <a:p>
            <a:pPr algn="ctr" indent="0" marL="0">
              <a:buNone/>
            </a:pPr>
            <a:endParaRPr lang="en-US" sz="1100" dirty="0"/>
          </a:p>
        </p:txBody>
      </p:sp>
      <p:sp>
        <p:nvSpPr>
          <p:cNvPr id="65" name="Text 62"/>
          <p:cNvSpPr/>
          <p:nvPr/>
        </p:nvSpPr>
        <p:spPr>
          <a:xfrm>
            <a:off x="3108960" y="4453128"/>
            <a:ext cx="777240" cy="384048"/>
          </a:xfrm>
          <a:prstGeom prst="rect">
            <a:avLst/>
          </a:prstGeom>
          <a:solidFill>
            <a:srgbClr val="FFFFFF"/>
          </a:solidFill>
          <a:ln w="12700">
            <a:solidFill>
              <a:srgbClr val="C8C8D4"/>
            </a:solidFill>
          </a:ln>
        </p:spPr>
        <p:txBody>
          <a:bodyPr wrap="square" lIns="0" tIns="0" rIns="0" bIns="0" rtlCol="0" anchor="ctr"/>
          <a:lstStyle/>
          <a:p>
            <a:pPr algn="ctr" indent="0" marL="0">
              <a:buNone/>
            </a:pPr>
            <a:endParaRPr lang="en-US" sz="1100" dirty="0"/>
          </a:p>
        </p:txBody>
      </p:sp>
      <p:sp>
        <p:nvSpPr>
          <p:cNvPr id="66" name="Text 63"/>
          <p:cNvSpPr/>
          <p:nvPr/>
        </p:nvSpPr>
        <p:spPr>
          <a:xfrm>
            <a:off x="3886200" y="4453128"/>
            <a:ext cx="777240" cy="384048"/>
          </a:xfrm>
          <a:prstGeom prst="rect">
            <a:avLst/>
          </a:prstGeom>
          <a:solidFill>
            <a:srgbClr val="494985"/>
          </a:solidFill>
          <a:ln w="12700">
            <a:solidFill>
              <a:srgbClr val="C8C8D4"/>
            </a:solidFill>
          </a:ln>
        </p:spPr>
        <p:txBody>
          <a:bodyPr wrap="square" lIns="0" tIns="0" rIns="0" bIns="0" rtlCol="0" anchor="ctr"/>
          <a:lstStyle/>
          <a:p>
            <a:pPr algn="ctr" indent="0" marL="0">
              <a:buNone/>
            </a:pPr>
            <a:r>
              <a:rPr lang="en-US" sz="1100" b="1" dirty="0">
                <a:solidFill>
                  <a:srgbClr val="FFFFFF"/>
                </a:solidFill>
                <a:latin typeface="Quicksand" pitchFamily="34" charset="0"/>
                <a:ea typeface="Quicksand" pitchFamily="34" charset="-122"/>
                <a:cs typeface="Quicksand" pitchFamily="34" charset="-120"/>
              </a:rPr>
              <a:t>1</a:t>
            </a:r>
            <a:endParaRPr lang="en-US" sz="1100" dirty="0"/>
          </a:p>
        </p:txBody>
      </p:sp>
      <p:sp>
        <p:nvSpPr>
          <p:cNvPr id="67" name="Text 64"/>
          <p:cNvSpPr/>
          <p:nvPr/>
        </p:nvSpPr>
        <p:spPr>
          <a:xfrm>
            <a:off x="4663440" y="4453128"/>
            <a:ext cx="777240" cy="384048"/>
          </a:xfrm>
          <a:prstGeom prst="rect">
            <a:avLst/>
          </a:prstGeom>
          <a:solidFill>
            <a:srgbClr val="FFD84D"/>
          </a:solidFill>
          <a:ln w="12700">
            <a:solidFill>
              <a:srgbClr val="C8C8D4"/>
            </a:solidFill>
          </a:ln>
        </p:spPr>
        <p:txBody>
          <a:bodyPr wrap="square" lIns="0" tIns="0" rIns="0" bIns="0" rtlCol="0" anchor="ctr"/>
          <a:lstStyle/>
          <a:p>
            <a:pPr algn="ctr" indent="0" marL="0">
              <a:buNone/>
            </a:pPr>
            <a:r>
              <a:rPr lang="en-US" sz="1100" b="1" dirty="0">
                <a:solidFill>
                  <a:srgbClr val="202124"/>
                </a:solidFill>
                <a:latin typeface="Quicksand" pitchFamily="34" charset="0"/>
                <a:ea typeface="Quicksand" pitchFamily="34" charset="-122"/>
                <a:cs typeface="Quicksand" pitchFamily="34" charset="-120"/>
              </a:rPr>
              <a:t>2</a:t>
            </a:r>
            <a:endParaRPr lang="en-US" sz="1100" dirty="0"/>
          </a:p>
        </p:txBody>
      </p:sp>
      <p:sp>
        <p:nvSpPr>
          <p:cNvPr id="68" name="Text 65"/>
          <p:cNvSpPr/>
          <p:nvPr/>
        </p:nvSpPr>
        <p:spPr>
          <a:xfrm>
            <a:off x="5440680" y="4453128"/>
            <a:ext cx="777240" cy="384048"/>
          </a:xfrm>
          <a:prstGeom prst="rect">
            <a:avLst/>
          </a:prstGeom>
          <a:solidFill>
            <a:srgbClr val="FFFFFF"/>
          </a:solidFill>
          <a:ln w="12700">
            <a:solidFill>
              <a:srgbClr val="C8C8D4"/>
            </a:solidFill>
          </a:ln>
        </p:spPr>
        <p:txBody>
          <a:bodyPr wrap="square" lIns="0" tIns="0" rIns="0" bIns="0" rtlCol="0" anchor="ctr"/>
          <a:lstStyle/>
          <a:p>
            <a:pPr algn="ctr" indent="0" marL="0">
              <a:buNone/>
            </a:pPr>
            <a:endParaRPr lang="en-US" sz="1100" dirty="0"/>
          </a:p>
        </p:txBody>
      </p:sp>
      <p:sp>
        <p:nvSpPr>
          <p:cNvPr id="69" name="Text 66"/>
          <p:cNvSpPr/>
          <p:nvPr/>
        </p:nvSpPr>
        <p:spPr>
          <a:xfrm>
            <a:off x="6217920" y="4453128"/>
            <a:ext cx="777240" cy="384048"/>
          </a:xfrm>
          <a:prstGeom prst="rect">
            <a:avLst/>
          </a:prstGeom>
          <a:solidFill>
            <a:srgbClr val="FFFFFF"/>
          </a:solidFill>
          <a:ln w="12700">
            <a:solidFill>
              <a:srgbClr val="C8C8D4"/>
            </a:solidFill>
          </a:ln>
        </p:spPr>
        <p:txBody>
          <a:bodyPr wrap="square" lIns="0" tIns="0" rIns="0" bIns="0" rtlCol="0" anchor="ctr"/>
          <a:lstStyle/>
          <a:p>
            <a:pPr algn="ctr" indent="0" marL="0">
              <a:buNone/>
            </a:pPr>
            <a:endParaRPr lang="en-US" sz="1100" dirty="0"/>
          </a:p>
        </p:txBody>
      </p:sp>
      <p:sp>
        <p:nvSpPr>
          <p:cNvPr id="70" name="Text 67"/>
          <p:cNvSpPr/>
          <p:nvPr/>
        </p:nvSpPr>
        <p:spPr>
          <a:xfrm>
            <a:off x="6995160" y="4453128"/>
            <a:ext cx="777240" cy="384048"/>
          </a:xfrm>
          <a:prstGeom prst="rect">
            <a:avLst/>
          </a:prstGeom>
          <a:solidFill>
            <a:srgbClr val="FFFFFF"/>
          </a:solidFill>
          <a:ln w="12700">
            <a:solidFill>
              <a:srgbClr val="C8C8D4"/>
            </a:solidFill>
          </a:ln>
        </p:spPr>
        <p:txBody>
          <a:bodyPr wrap="square" lIns="0" tIns="0" rIns="0" bIns="0" rtlCol="0" anchor="ctr"/>
          <a:lstStyle/>
          <a:p>
            <a:pPr algn="ctr" indent="0" marL="0">
              <a:buNone/>
            </a:pPr>
            <a:endParaRPr lang="en-US" sz="1100" dirty="0"/>
          </a:p>
        </p:txBody>
      </p:sp>
      <p:sp>
        <p:nvSpPr>
          <p:cNvPr id="71" name="Text 68"/>
          <p:cNvSpPr txBox="1"/>
          <p:nvPr/>
        </p:nvSpPr>
        <p:spPr>
          <a:xfrm>
            <a:off x="1554480" y="4882896"/>
            <a:ext cx="6217920" cy="274320"/>
          </a:xfrm>
          <a:prstGeom prst="rect">
            <a:avLst/>
          </a:prstGeom>
          <a:noFill/>
          <a:ln/>
        </p:spPr>
        <p:txBody>
          <a:bodyPr wrap="square" lIns="0" tIns="0" rIns="0" bIns="0" rtlCol="0" anchor="ctr"/>
          <a:lstStyle/>
          <a:p>
            <a:pPr algn="ctr" indent="0" marL="0">
              <a:buNone/>
            </a:pPr>
            <a:r>
              <a:rPr lang="en-US" sz="1100" i="1" dirty="0">
                <a:solidFill>
                  <a:srgbClr val="666666"/>
                </a:solidFill>
                <a:latin typeface="Quicksand" pitchFamily="34" charset="0"/>
                <a:ea typeface="Quicksand" pitchFamily="34" charset="-122"/>
                <a:cs typeface="Quicksand" pitchFamily="34" charset="-120"/>
              </a:rPr>
              <a:t>time -&gt;</a:t>
            </a:r>
            <a:endParaRPr lang="en-US" sz="1100" dirty="0"/>
          </a:p>
        </p:txBody>
      </p:sp>
      <p:sp>
        <p:nvSpPr>
          <p:cNvPr id="72" name="Shape 69"/>
          <p:cNvSpPr/>
          <p:nvPr/>
        </p:nvSpPr>
        <p:spPr>
          <a:xfrm>
            <a:off x="8321040" y="2148840"/>
            <a:ext cx="3200400" cy="914400"/>
          </a:xfrm>
          <a:prstGeom prst="rect">
            <a:avLst/>
          </a:prstGeom>
          <a:solidFill>
            <a:srgbClr val="F6F5FC"/>
          </a:solidFill>
          <a:ln w="12700">
            <a:solidFill>
              <a:srgbClr val="F6F5FC"/>
            </a:solidFill>
            <a:prstDash val="solid"/>
          </a:ln>
        </p:spPr>
      </p:sp>
      <p:sp>
        <p:nvSpPr>
          <p:cNvPr id="73" name="Text 70"/>
          <p:cNvSpPr/>
          <p:nvPr/>
        </p:nvSpPr>
        <p:spPr>
          <a:xfrm>
            <a:off x="8458200" y="228600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1</a:t>
            </a:r>
            <a:endParaRPr lang="en-US" sz="1400" dirty="0"/>
          </a:p>
        </p:txBody>
      </p:sp>
      <p:sp>
        <p:nvSpPr>
          <p:cNvPr id="74" name="Text 71"/>
          <p:cNvSpPr txBox="1"/>
          <p:nvPr/>
        </p:nvSpPr>
        <p:spPr>
          <a:xfrm>
            <a:off x="8979408" y="2258568"/>
            <a:ext cx="242316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Pair 1 (navy)</a:t>
            </a:r>
            <a:endParaRPr lang="en-US" sz="1500" dirty="0"/>
          </a:p>
        </p:txBody>
      </p:sp>
      <p:sp>
        <p:nvSpPr>
          <p:cNvPr id="75" name="Text 72"/>
          <p:cNvSpPr txBox="1"/>
          <p:nvPr/>
        </p:nvSpPr>
        <p:spPr>
          <a:xfrm>
            <a:off x="8979408" y="2651760"/>
            <a:ext cx="2423160" cy="347472"/>
          </a:xfrm>
          <a:prstGeom prst="rect">
            <a:avLst/>
          </a:prstGeom>
          <a:noFill/>
          <a:ln/>
        </p:spPr>
        <p:txBody>
          <a:bodyPr wrap="square" lIns="0" tIns="0" rIns="0" bIns="0" rtlCol="0" anchor="t"/>
          <a:lstStyle/>
          <a:p>
            <a:pPr indent="0" marL="0">
              <a:buNone/>
            </a:pPr>
            <a:r>
              <a:rPr lang="en-US" sz="1200" dirty="0">
                <a:solidFill>
                  <a:srgbClr val="202124"/>
                </a:solidFill>
                <a:latin typeface="Quicksand" pitchFamily="34" charset="0"/>
                <a:ea typeface="Quicksand" pitchFamily="34" charset="-122"/>
                <a:cs typeface="Quicksand" pitchFamily="34" charset="-120"/>
              </a:rPr>
              <a:t>e.g. phone and headset</a:t>
            </a:r>
            <a:endParaRPr lang="en-US" sz="1200" dirty="0"/>
          </a:p>
        </p:txBody>
      </p:sp>
      <p:sp>
        <p:nvSpPr>
          <p:cNvPr id="76" name="Shape 73"/>
          <p:cNvSpPr/>
          <p:nvPr/>
        </p:nvSpPr>
        <p:spPr>
          <a:xfrm>
            <a:off x="8321040" y="3200400"/>
            <a:ext cx="3200400" cy="914400"/>
          </a:xfrm>
          <a:prstGeom prst="rect">
            <a:avLst/>
          </a:prstGeom>
          <a:solidFill>
            <a:srgbClr val="F6F5FC"/>
          </a:solidFill>
          <a:ln w="12700">
            <a:solidFill>
              <a:srgbClr val="F6F5FC"/>
            </a:solidFill>
            <a:prstDash val="solid"/>
          </a:ln>
        </p:spPr>
      </p:sp>
      <p:sp>
        <p:nvSpPr>
          <p:cNvPr id="77" name="Text 74"/>
          <p:cNvSpPr/>
          <p:nvPr/>
        </p:nvSpPr>
        <p:spPr>
          <a:xfrm>
            <a:off x="8458200" y="333756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2</a:t>
            </a:r>
            <a:endParaRPr lang="en-US" sz="1400" dirty="0"/>
          </a:p>
        </p:txBody>
      </p:sp>
      <p:sp>
        <p:nvSpPr>
          <p:cNvPr id="78" name="Text 75"/>
          <p:cNvSpPr txBox="1"/>
          <p:nvPr/>
        </p:nvSpPr>
        <p:spPr>
          <a:xfrm>
            <a:off x="8979408" y="3310128"/>
            <a:ext cx="242316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Pair 2 (yellow)</a:t>
            </a:r>
            <a:endParaRPr lang="en-US" sz="1500" dirty="0"/>
          </a:p>
        </p:txBody>
      </p:sp>
      <p:sp>
        <p:nvSpPr>
          <p:cNvPr id="79" name="Text 76"/>
          <p:cNvSpPr txBox="1"/>
          <p:nvPr/>
        </p:nvSpPr>
        <p:spPr>
          <a:xfrm>
            <a:off x="8979408" y="3703320"/>
            <a:ext cx="2423160" cy="347472"/>
          </a:xfrm>
          <a:prstGeom prst="rect">
            <a:avLst/>
          </a:prstGeom>
          <a:noFill/>
          <a:ln/>
        </p:spPr>
        <p:txBody>
          <a:bodyPr wrap="square" lIns="0" tIns="0" rIns="0" bIns="0" rtlCol="0" anchor="t"/>
          <a:lstStyle/>
          <a:p>
            <a:pPr indent="0" marL="0">
              <a:buNone/>
            </a:pPr>
            <a:r>
              <a:rPr lang="en-US" sz="1200" dirty="0">
                <a:solidFill>
                  <a:srgbClr val="202124"/>
                </a:solidFill>
                <a:latin typeface="Quicksand" pitchFamily="34" charset="0"/>
                <a:ea typeface="Quicksand" pitchFamily="34" charset="-122"/>
                <a:cs typeface="Quicksand" pitchFamily="34" charset="-120"/>
              </a:rPr>
              <a:t>e.g. laptop and mouse</a:t>
            </a:r>
            <a:endParaRPr lang="en-US" sz="1200" dirty="0"/>
          </a:p>
        </p:txBody>
      </p:sp>
      <p:sp>
        <p:nvSpPr>
          <p:cNvPr id="80" name="Text 77"/>
          <p:cNvSpPr txBox="1"/>
          <p:nvPr/>
        </p:nvSpPr>
        <p:spPr>
          <a:xfrm>
            <a:off x="8321040" y="4297680"/>
            <a:ext cx="3200400" cy="1097280"/>
          </a:xfrm>
          <a:prstGeom prst="rect">
            <a:avLst/>
          </a:prstGeom>
          <a:noFill/>
          <a:ln/>
        </p:spPr>
        <p:txBody>
          <a:bodyPr wrap="square" lIns="0" tIns="0" rIns="0" bIns="0" rtlCol="0" anchor="t"/>
          <a:lstStyle/>
          <a:p>
            <a:pPr indent="0" marL="0">
              <a:buNone/>
            </a:pPr>
            <a:r>
              <a:rPr lang="en-US" sz="1300" b="1" dirty="0">
                <a:solidFill>
                  <a:srgbClr val="494985"/>
                </a:solidFill>
                <a:latin typeface="Quicksand" pitchFamily="34" charset="0"/>
                <a:ea typeface="Quicksand" pitchFamily="34" charset="-122"/>
                <a:cs typeface="Quicksand" pitchFamily="34" charset="-120"/>
              </a:rPr>
              <a:t>The pairs never use the same channel at the same time, so they do not interfere.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Why do we need satellites?</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1</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7</a:t>
            </a:r>
            <a:endParaRPr lang="en-US" sz="1350" dirty="0"/>
          </a:p>
        </p:txBody>
      </p:sp>
      <p:sp>
        <p:nvSpPr>
          <p:cNvPr id="7" name="Shape 4"/>
          <p:cNvSpPr/>
          <p:nvPr/>
        </p:nvSpPr>
        <p:spPr>
          <a:xfrm>
            <a:off x="2011680" y="3017520"/>
            <a:ext cx="2926080" cy="2926080"/>
          </a:xfrm>
          <a:prstGeom prst="ellipse">
            <a:avLst/>
          </a:prstGeom>
          <a:solidFill>
            <a:srgbClr val="CFE3F7"/>
          </a:solidFill>
          <a:ln w="15875">
            <a:solidFill>
              <a:srgbClr val="494985"/>
            </a:solidFill>
            <a:prstDash val="solid"/>
          </a:ln>
        </p:spPr>
      </p:sp>
      <p:sp>
        <p:nvSpPr>
          <p:cNvPr id="8" name="Shape 5"/>
          <p:cNvSpPr/>
          <p:nvPr/>
        </p:nvSpPr>
        <p:spPr>
          <a:xfrm>
            <a:off x="1965960" y="3520440"/>
            <a:ext cx="228600" cy="228600"/>
          </a:xfrm>
          <a:prstGeom prst="ellipse">
            <a:avLst/>
          </a:prstGeom>
          <a:solidFill>
            <a:srgbClr val="202124"/>
          </a:solidFill>
          <a:ln w="12700">
            <a:solidFill>
              <a:srgbClr val="202124"/>
            </a:solidFill>
            <a:prstDash val="solid"/>
          </a:ln>
        </p:spPr>
      </p:sp>
      <p:sp>
        <p:nvSpPr>
          <p:cNvPr id="9" name="Shape 6"/>
          <p:cNvSpPr/>
          <p:nvPr/>
        </p:nvSpPr>
        <p:spPr>
          <a:xfrm>
            <a:off x="4754880" y="3520440"/>
            <a:ext cx="228600" cy="228600"/>
          </a:xfrm>
          <a:prstGeom prst="ellipse">
            <a:avLst/>
          </a:prstGeom>
          <a:solidFill>
            <a:srgbClr val="202124"/>
          </a:solidFill>
          <a:ln w="12700">
            <a:solidFill>
              <a:srgbClr val="202124"/>
            </a:solidFill>
            <a:prstDash val="solid"/>
          </a:ln>
        </p:spPr>
      </p:sp>
      <p:sp>
        <p:nvSpPr>
          <p:cNvPr id="10" name="Text 7"/>
          <p:cNvSpPr txBox="1"/>
          <p:nvPr/>
        </p:nvSpPr>
        <p:spPr>
          <a:xfrm>
            <a:off x="1600200" y="3383280"/>
            <a:ext cx="320040" cy="320040"/>
          </a:xfrm>
          <a:prstGeom prst="rect">
            <a:avLst/>
          </a:prstGeom>
          <a:noFill/>
          <a:ln/>
        </p:spPr>
        <p:txBody>
          <a:bodyPr wrap="square" lIns="0" tIns="0" rIns="0" bIns="0" rtlCol="0" anchor="ctr"/>
          <a:lstStyle/>
          <a:p>
            <a:pPr indent="0" marL="0">
              <a:buNone/>
            </a:pPr>
            <a:r>
              <a:rPr lang="en-US" sz="1400" b="1" dirty="0">
                <a:solidFill>
                  <a:srgbClr val="000000"/>
                </a:solidFill>
                <a:latin typeface="Quicksand" pitchFamily="34" charset="0"/>
                <a:ea typeface="Quicksand" pitchFamily="34" charset="-122"/>
                <a:cs typeface="Quicksand" pitchFamily="34" charset="-120"/>
              </a:rPr>
              <a:t>A</a:t>
            </a:r>
            <a:endParaRPr lang="en-US" sz="1400" dirty="0"/>
          </a:p>
        </p:txBody>
      </p:sp>
      <p:sp>
        <p:nvSpPr>
          <p:cNvPr id="11" name="Text 8"/>
          <p:cNvSpPr txBox="1"/>
          <p:nvPr/>
        </p:nvSpPr>
        <p:spPr>
          <a:xfrm>
            <a:off x="5029200" y="3383280"/>
            <a:ext cx="320040" cy="320040"/>
          </a:xfrm>
          <a:prstGeom prst="rect">
            <a:avLst/>
          </a:prstGeom>
          <a:noFill/>
          <a:ln/>
        </p:spPr>
        <p:txBody>
          <a:bodyPr wrap="square" lIns="0" tIns="0" rIns="0" bIns="0" rtlCol="0" anchor="ctr"/>
          <a:lstStyle/>
          <a:p>
            <a:pPr indent="0" marL="0">
              <a:buNone/>
            </a:pPr>
            <a:r>
              <a:rPr lang="en-US" sz="1400" b="1" dirty="0">
                <a:solidFill>
                  <a:srgbClr val="000000"/>
                </a:solidFill>
                <a:latin typeface="Quicksand" pitchFamily="34" charset="0"/>
                <a:ea typeface="Quicksand" pitchFamily="34" charset="-122"/>
                <a:cs typeface="Quicksand" pitchFamily="34" charset="-120"/>
              </a:rPr>
              <a:t>B</a:t>
            </a:r>
            <a:endParaRPr lang="en-US" sz="1400" dirty="0"/>
          </a:p>
        </p:txBody>
      </p:sp>
      <p:sp>
        <p:nvSpPr>
          <p:cNvPr id="12" name="Text 9"/>
          <p:cNvSpPr/>
          <p:nvPr/>
        </p:nvSpPr>
        <p:spPr>
          <a:xfrm>
            <a:off x="3108960" y="1417320"/>
            <a:ext cx="731520" cy="365760"/>
          </a:xfrm>
          <a:prstGeom prst="rect">
            <a:avLst/>
          </a:prstGeom>
          <a:solidFill>
            <a:srgbClr val="FFD84D"/>
          </a:solidFill>
          <a:ln w="12700">
            <a:solidFill>
              <a:srgbClr val="494985"/>
            </a:solidFill>
          </a:ln>
        </p:spPr>
        <p:txBody>
          <a:bodyPr wrap="square" lIns="0" tIns="0" rIns="0" bIns="0" rtlCol="0" anchor="ctr"/>
          <a:lstStyle/>
          <a:p>
            <a:pPr algn="ctr" indent="0" marL="0">
              <a:buNone/>
            </a:pPr>
            <a:r>
              <a:rPr lang="en-US" sz="1000" b="1" dirty="0">
                <a:solidFill>
                  <a:srgbClr val="202124"/>
                </a:solidFill>
                <a:latin typeface="Quicksand" pitchFamily="34" charset="0"/>
                <a:ea typeface="Quicksand" pitchFamily="34" charset="-122"/>
                <a:cs typeface="Quicksand" pitchFamily="34" charset="-120"/>
              </a:rPr>
              <a:t>satellite</a:t>
            </a:r>
            <a:endParaRPr lang="en-US" sz="1000" dirty="0"/>
          </a:p>
        </p:txBody>
      </p:sp>
      <p:sp>
        <p:nvSpPr>
          <p:cNvPr id="13" name="Shape 10"/>
          <p:cNvSpPr/>
          <p:nvPr/>
        </p:nvSpPr>
        <p:spPr>
          <a:xfrm flipV="1">
            <a:off x="2103120" y="1810512"/>
            <a:ext cx="1051560" cy="1709928"/>
          </a:xfrm>
          <a:prstGeom prst="line">
            <a:avLst/>
          </a:prstGeom>
          <a:noFill/>
          <a:ln w="25400">
            <a:solidFill>
              <a:srgbClr val="494985"/>
            </a:solidFill>
            <a:prstDash val="dash"/>
          </a:ln>
        </p:spPr>
      </p:sp>
      <p:sp>
        <p:nvSpPr>
          <p:cNvPr id="14" name="Shape 11"/>
          <p:cNvSpPr/>
          <p:nvPr/>
        </p:nvSpPr>
        <p:spPr>
          <a:xfrm>
            <a:off x="3794760" y="1810512"/>
            <a:ext cx="1051560" cy="1709928"/>
          </a:xfrm>
          <a:prstGeom prst="line">
            <a:avLst/>
          </a:prstGeom>
          <a:noFill/>
          <a:ln w="25400">
            <a:solidFill>
              <a:srgbClr val="494985"/>
            </a:solidFill>
            <a:prstDash val="dash"/>
          </a:ln>
        </p:spPr>
      </p:sp>
      <p:sp>
        <p:nvSpPr>
          <p:cNvPr id="15" name="Shape 12"/>
          <p:cNvSpPr/>
          <p:nvPr/>
        </p:nvSpPr>
        <p:spPr>
          <a:xfrm>
            <a:off x="2194560" y="3611880"/>
            <a:ext cx="2560320" cy="914"/>
          </a:xfrm>
          <a:prstGeom prst="line">
            <a:avLst/>
          </a:prstGeom>
          <a:noFill/>
          <a:ln w="19050">
            <a:solidFill>
              <a:srgbClr val="C0392B"/>
            </a:solidFill>
            <a:prstDash val="sysDot"/>
          </a:ln>
        </p:spPr>
      </p:sp>
      <p:sp>
        <p:nvSpPr>
          <p:cNvPr id="16" name="Text 13"/>
          <p:cNvSpPr txBox="1"/>
          <p:nvPr/>
        </p:nvSpPr>
        <p:spPr>
          <a:xfrm>
            <a:off x="2331720" y="3703320"/>
            <a:ext cx="2377440" cy="274320"/>
          </a:xfrm>
          <a:prstGeom prst="rect">
            <a:avLst/>
          </a:prstGeom>
          <a:noFill/>
          <a:ln/>
        </p:spPr>
        <p:txBody>
          <a:bodyPr wrap="square" lIns="0" tIns="0" rIns="0" bIns="0" rtlCol="0" anchor="ctr"/>
          <a:lstStyle/>
          <a:p>
            <a:pPr algn="ctr" indent="0" marL="0">
              <a:buNone/>
            </a:pPr>
            <a:r>
              <a:rPr lang="en-US" sz="1000" i="1" dirty="0">
                <a:solidFill>
                  <a:srgbClr val="C0392B"/>
                </a:solidFill>
                <a:latin typeface="Quicksand" pitchFamily="34" charset="0"/>
                <a:ea typeface="Quicksand" pitchFamily="34" charset="-122"/>
                <a:cs typeface="Quicksand" pitchFamily="34" charset="-120"/>
              </a:rPr>
              <a:t>blocked by the Earth's curve</a:t>
            </a:r>
            <a:endParaRPr lang="en-US" sz="1000" dirty="0"/>
          </a:p>
        </p:txBody>
      </p:sp>
      <p:sp>
        <p:nvSpPr>
          <p:cNvPr id="17" name="Shape 14"/>
          <p:cNvSpPr/>
          <p:nvPr/>
        </p:nvSpPr>
        <p:spPr>
          <a:xfrm>
            <a:off x="6309360" y="1371600"/>
            <a:ext cx="5212080" cy="1325880"/>
          </a:xfrm>
          <a:prstGeom prst="rect">
            <a:avLst/>
          </a:prstGeom>
          <a:solidFill>
            <a:srgbClr val="F6F5FC"/>
          </a:solidFill>
          <a:ln w="12700">
            <a:solidFill>
              <a:srgbClr val="F6F5FC"/>
            </a:solidFill>
            <a:prstDash val="solid"/>
          </a:ln>
        </p:spPr>
      </p:sp>
      <p:sp>
        <p:nvSpPr>
          <p:cNvPr id="18" name="Text 15"/>
          <p:cNvSpPr/>
          <p:nvPr/>
        </p:nvSpPr>
        <p:spPr>
          <a:xfrm>
            <a:off x="6446520" y="150876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1</a:t>
            </a:r>
            <a:endParaRPr lang="en-US" sz="1400" dirty="0"/>
          </a:p>
        </p:txBody>
      </p:sp>
      <p:sp>
        <p:nvSpPr>
          <p:cNvPr id="19" name="Text 16"/>
          <p:cNvSpPr txBox="1"/>
          <p:nvPr/>
        </p:nvSpPr>
        <p:spPr>
          <a:xfrm>
            <a:off x="6967728" y="1481328"/>
            <a:ext cx="443484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The problem</a:t>
            </a:r>
            <a:endParaRPr lang="en-US" sz="1500" dirty="0"/>
          </a:p>
        </p:txBody>
      </p:sp>
      <p:sp>
        <p:nvSpPr>
          <p:cNvPr id="20" name="Text 17"/>
          <p:cNvSpPr txBox="1"/>
          <p:nvPr/>
        </p:nvSpPr>
        <p:spPr>
          <a:xfrm>
            <a:off x="6967728" y="1874520"/>
            <a:ext cx="4434840" cy="758952"/>
          </a:xfrm>
          <a:prstGeom prst="rect">
            <a:avLst/>
          </a:prstGeom>
          <a:noFill/>
          <a:ln/>
        </p:spPr>
        <p:txBody>
          <a:bodyPr wrap="square" lIns="0" tIns="0" rIns="0" bIns="0" rtlCol="0" anchor="t"/>
          <a:lstStyle/>
          <a:p>
            <a:pPr indent="0" marL="0">
              <a:buNone/>
            </a:pPr>
            <a:r>
              <a:rPr lang="en-US" sz="1300" dirty="0">
                <a:solidFill>
                  <a:srgbClr val="202124"/>
                </a:solidFill>
                <a:latin typeface="Quicksand" pitchFamily="34" charset="0"/>
                <a:ea typeface="Quicksand" pitchFamily="34" charset="-122"/>
                <a:cs typeface="Quicksand" pitchFamily="34" charset="-120"/>
              </a:rPr>
              <a:t>Signals travel in straight lines, so the curvature of the Earth stops a signal from A reaching a distant antenna B.</a:t>
            </a:r>
            <a:endParaRPr lang="en-US" sz="1300" dirty="0"/>
          </a:p>
        </p:txBody>
      </p:sp>
      <p:sp>
        <p:nvSpPr>
          <p:cNvPr id="21" name="Shape 18"/>
          <p:cNvSpPr/>
          <p:nvPr/>
        </p:nvSpPr>
        <p:spPr>
          <a:xfrm>
            <a:off x="6309360" y="2834640"/>
            <a:ext cx="5212080" cy="1188720"/>
          </a:xfrm>
          <a:prstGeom prst="rect">
            <a:avLst/>
          </a:prstGeom>
          <a:solidFill>
            <a:srgbClr val="F6F5FC"/>
          </a:solidFill>
          <a:ln w="12700">
            <a:solidFill>
              <a:srgbClr val="F6F5FC"/>
            </a:solidFill>
            <a:prstDash val="solid"/>
          </a:ln>
        </p:spPr>
      </p:sp>
      <p:sp>
        <p:nvSpPr>
          <p:cNvPr id="22" name="Text 19"/>
          <p:cNvSpPr/>
          <p:nvPr/>
        </p:nvSpPr>
        <p:spPr>
          <a:xfrm>
            <a:off x="6446520" y="297180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2</a:t>
            </a:r>
            <a:endParaRPr lang="en-US" sz="1400" dirty="0"/>
          </a:p>
        </p:txBody>
      </p:sp>
      <p:sp>
        <p:nvSpPr>
          <p:cNvPr id="23" name="Text 20"/>
          <p:cNvSpPr txBox="1"/>
          <p:nvPr/>
        </p:nvSpPr>
        <p:spPr>
          <a:xfrm>
            <a:off x="6967728" y="2944368"/>
            <a:ext cx="443484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The solution</a:t>
            </a:r>
            <a:endParaRPr lang="en-US" sz="1500" dirty="0"/>
          </a:p>
        </p:txBody>
      </p:sp>
      <p:sp>
        <p:nvSpPr>
          <p:cNvPr id="24" name="Text 21"/>
          <p:cNvSpPr txBox="1"/>
          <p:nvPr/>
        </p:nvSpPr>
        <p:spPr>
          <a:xfrm>
            <a:off x="6967728" y="3337560"/>
            <a:ext cx="4434840" cy="621792"/>
          </a:xfrm>
          <a:prstGeom prst="rect">
            <a:avLst/>
          </a:prstGeom>
          <a:noFill/>
          <a:ln/>
        </p:spPr>
        <p:txBody>
          <a:bodyPr wrap="square" lIns="0" tIns="0" rIns="0" bIns="0" rtlCol="0" anchor="t"/>
          <a:lstStyle/>
          <a:p>
            <a:pPr indent="0" marL="0">
              <a:buNone/>
            </a:pPr>
            <a:r>
              <a:rPr lang="en-US" sz="1300" dirty="0">
                <a:solidFill>
                  <a:srgbClr val="202124"/>
                </a:solidFill>
                <a:latin typeface="Quicksand" pitchFamily="34" charset="0"/>
                <a:ea typeface="Quicksand" pitchFamily="34" charset="-122"/>
                <a:cs typeface="Quicksand" pitchFamily="34" charset="-120"/>
              </a:rPr>
              <a:t>A beams the signal up to a satellite, which boosts it and beams it back down to B.</a:t>
            </a:r>
            <a:endParaRPr lang="en-US" sz="1300" dirty="0"/>
          </a:p>
        </p:txBody>
      </p:sp>
      <p:sp>
        <p:nvSpPr>
          <p:cNvPr id="25" name="Shape 22"/>
          <p:cNvSpPr/>
          <p:nvPr/>
        </p:nvSpPr>
        <p:spPr>
          <a:xfrm>
            <a:off x="6309360" y="4160520"/>
            <a:ext cx="5212080" cy="1188720"/>
          </a:xfrm>
          <a:prstGeom prst="rect">
            <a:avLst/>
          </a:prstGeom>
          <a:solidFill>
            <a:srgbClr val="F6F5FC"/>
          </a:solidFill>
          <a:ln w="12700">
            <a:solidFill>
              <a:srgbClr val="F6F5FC"/>
            </a:solidFill>
            <a:prstDash val="solid"/>
          </a:ln>
        </p:spPr>
      </p:sp>
      <p:sp>
        <p:nvSpPr>
          <p:cNvPr id="26" name="Text 23"/>
          <p:cNvSpPr/>
          <p:nvPr/>
        </p:nvSpPr>
        <p:spPr>
          <a:xfrm>
            <a:off x="6446520" y="429768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3</a:t>
            </a:r>
            <a:endParaRPr lang="en-US" sz="1400" dirty="0"/>
          </a:p>
        </p:txBody>
      </p:sp>
      <p:sp>
        <p:nvSpPr>
          <p:cNvPr id="27" name="Text 24"/>
          <p:cNvSpPr txBox="1"/>
          <p:nvPr/>
        </p:nvSpPr>
        <p:spPr>
          <a:xfrm>
            <a:off x="6967728" y="4270248"/>
            <a:ext cx="443484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How</a:t>
            </a:r>
            <a:endParaRPr lang="en-US" sz="1500" dirty="0"/>
          </a:p>
        </p:txBody>
      </p:sp>
      <p:sp>
        <p:nvSpPr>
          <p:cNvPr id="28" name="Text 25"/>
          <p:cNvSpPr txBox="1"/>
          <p:nvPr/>
        </p:nvSpPr>
        <p:spPr>
          <a:xfrm>
            <a:off x="6967728" y="4663440"/>
            <a:ext cx="4434840" cy="621792"/>
          </a:xfrm>
          <a:prstGeom prst="rect">
            <a:avLst/>
          </a:prstGeom>
          <a:noFill/>
          <a:ln/>
        </p:spPr>
        <p:txBody>
          <a:bodyPr wrap="square" lIns="0" tIns="0" rIns="0" bIns="0" rtlCol="0" anchor="t"/>
          <a:lstStyle/>
          <a:p>
            <a:pPr indent="0" marL="0">
              <a:buNone/>
            </a:pPr>
            <a:r>
              <a:rPr lang="en-US" sz="1300" dirty="0">
                <a:solidFill>
                  <a:srgbClr val="202124"/>
                </a:solidFill>
                <a:latin typeface="Quicksand" pitchFamily="34" charset="0"/>
                <a:ea typeface="Quicksand" pitchFamily="34" charset="-122"/>
                <a:cs typeface="Quicksand" pitchFamily="34" charset="-120"/>
              </a:rPr>
              <a:t>Radio or microwave frequencies, with different frequency bands to stop interference.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Wired: three types of cable</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2</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8</a:t>
            </a:r>
            <a:endParaRPr lang="en-US" sz="13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96112" y="1280160"/>
          <a:ext cx="10387584" cy="914400"/>
        </p:xfrm>
        <a:graphic>
          <a:graphicData uri="http://schemas.openxmlformats.org/drawingml/2006/table">
            <a:tbl>
              <a:tblPr/>
              <a:tblGrid>
                <a:gridCol w="2651760"/>
                <a:gridCol w="2514600"/>
                <a:gridCol w="2606040"/>
                <a:gridCol w="2615184"/>
              </a:tblGrid>
              <a:tr h="603504">
                <a:tc>
                  <a:txBody>
                    <a:bodyPr/>
                    <a:lstStyle/>
                    <a:p>
                      <a:pPr indent="0" marL="0">
                        <a:buNone/>
                      </a:pP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00" b="1" dirty="0">
                          <a:solidFill>
                            <a:srgbClr val="FFFFFF"/>
                          </a:solidFill>
                          <a:latin typeface="Quicksand" pitchFamily="34" charset="0"/>
                          <a:ea typeface="Quicksand" pitchFamily="34" charset="-122"/>
                          <a:cs typeface="Quicksand" pitchFamily="34" charset="-120"/>
                        </a:rPr>
                        <a:t>Twisted pair</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00" b="1" dirty="0">
                          <a:solidFill>
                            <a:srgbClr val="FFFFFF"/>
                          </a:solidFill>
                          <a:latin typeface="Quicksand" pitchFamily="34" charset="0"/>
                          <a:ea typeface="Quicksand" pitchFamily="34" charset="-122"/>
                          <a:cs typeface="Quicksand" pitchFamily="34" charset="-120"/>
                        </a:rPr>
                        <a:t>Coaxial</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00" b="1" dirty="0">
                          <a:solidFill>
                            <a:srgbClr val="FFFFFF"/>
                          </a:solidFill>
                          <a:latin typeface="Quicksand" pitchFamily="34" charset="0"/>
                          <a:ea typeface="Quicksand" pitchFamily="34" charset="-122"/>
                          <a:cs typeface="Quicksand" pitchFamily="34" charset="-120"/>
                        </a:rPr>
                        <a:t>Fibre optic</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603504">
                <a:tc>
                  <a:txBody>
                    <a:bodyPr/>
                    <a:lstStyle/>
                    <a:p>
                      <a:pPr indent="0" marL="0">
                        <a:buNone/>
                      </a:pPr>
                      <a:r>
                        <a:rPr lang="en-US" sz="1350" b="1" dirty="0">
                          <a:solidFill>
                            <a:srgbClr val="202124"/>
                          </a:solidFill>
                          <a:latin typeface="Quicksand" pitchFamily="34" charset="0"/>
                          <a:ea typeface="Quicksand" pitchFamily="34" charset="-122"/>
                          <a:cs typeface="Quicksand" pitchFamily="34" charset="-120"/>
                        </a:rPr>
                        <a:t>Carries data as...</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electrical signals (copper)</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electrical signals (copper core)</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pulses of light (glass fibres)</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603504">
                <a:tc>
                  <a:txBody>
                    <a:bodyPr/>
                    <a:lstStyle/>
                    <a:p>
                      <a:pPr indent="0" marL="0">
                        <a:buNone/>
                      </a:pPr>
                      <a:r>
                        <a:rPr lang="en-US" sz="1350" b="1" dirty="0">
                          <a:solidFill>
                            <a:srgbClr val="202124"/>
                          </a:solidFill>
                          <a:latin typeface="Quicksand" pitchFamily="34" charset="0"/>
                          <a:ea typeface="Quicksand" pitchFamily="34" charset="-122"/>
                          <a:cs typeface="Quicksand" pitchFamily="34" charset="-120"/>
                        </a:rPr>
                        <a:t>Cost</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cheapest</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medium</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most expensive</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603504">
                <a:tc>
                  <a:txBody>
                    <a:bodyPr/>
                    <a:lstStyle/>
                    <a:p>
                      <a:pPr indent="0" marL="0">
                        <a:buNone/>
                      </a:pPr>
                      <a:r>
                        <a:rPr lang="en-US" sz="1350" b="1" dirty="0">
                          <a:solidFill>
                            <a:srgbClr val="202124"/>
                          </a:solidFill>
                          <a:latin typeface="Quicksand" pitchFamily="34" charset="0"/>
                          <a:ea typeface="Quicksand" pitchFamily="34" charset="-122"/>
                          <a:cs typeface="Quicksand" pitchFamily="34" charset="-120"/>
                        </a:rPr>
                        <a:t>Data transfer rate</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lowest</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medium (about 80x twisted pair)</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highest (about 26 000x)</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603504">
                <a:tc>
                  <a:txBody>
                    <a:bodyPr/>
                    <a:lstStyle/>
                    <a:p>
                      <a:pPr indent="0" marL="0">
                        <a:buNone/>
                      </a:pPr>
                      <a:r>
                        <a:rPr lang="en-US" sz="1350" b="1" dirty="0">
                          <a:solidFill>
                            <a:srgbClr val="202124"/>
                          </a:solidFill>
                          <a:latin typeface="Quicksand" pitchFamily="34" charset="0"/>
                          <a:ea typeface="Quicksand" pitchFamily="34" charset="-122"/>
                          <a:cs typeface="Quicksand" pitchFamily="34" charset="-120"/>
                        </a:rPr>
                        <a:t>External interference</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affected most</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affected less</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very high resistance</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603504">
                <a:tc>
                  <a:txBody>
                    <a:bodyPr/>
                    <a:lstStyle/>
                    <a:p>
                      <a:pPr indent="0" marL="0">
                        <a:buNone/>
                      </a:pPr>
                      <a:r>
                        <a:rPr lang="en-US" sz="1350" b="1" dirty="0">
                          <a:solidFill>
                            <a:srgbClr val="202124"/>
                          </a:solidFill>
                          <a:latin typeface="Quicksand" pitchFamily="34" charset="0"/>
                          <a:ea typeface="Quicksand" pitchFamily="34" charset="-122"/>
                          <a:cs typeface="Quicksand" pitchFamily="34" charset="-120"/>
                        </a:rPr>
                        <a:t>Typical use</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most LANs (Ethernet)</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MANs, cable TV</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long distances, WAN / internet backbones</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bl>
          </a:graphicData>
        </a:graphic>
      </p:graphicFrame>
      <p:sp>
        <p:nvSpPr>
          <p:cNvPr id="8" name="Text 4"/>
          <p:cNvSpPr txBox="1"/>
          <p:nvPr/>
        </p:nvSpPr>
        <p:spPr>
          <a:xfrm>
            <a:off x="896112" y="5166360"/>
            <a:ext cx="10332720" cy="640080"/>
          </a:xfrm>
          <a:prstGeom prst="rect">
            <a:avLst/>
          </a:prstGeom>
          <a:noFill/>
          <a:ln/>
        </p:spPr>
        <p:txBody>
          <a:bodyPr wrap="square" lIns="0" tIns="0" rIns="0" bIns="0" rtlCol="0" anchor="t"/>
          <a:lstStyle/>
          <a:p>
            <a:pPr indent="0" marL="0">
              <a:buNone/>
            </a:pPr>
            <a:r>
              <a:rPr lang="en-US" sz="1500" b="1" dirty="0">
                <a:solidFill>
                  <a:srgbClr val="494985"/>
                </a:solidFill>
                <a:latin typeface="Quicksand" pitchFamily="34" charset="0"/>
                <a:ea typeface="Quicksand" pitchFamily="34" charset="-122"/>
                <a:cs typeface="Quicksand" pitchFamily="34" charset="-120"/>
              </a:rPr>
              <a:t>Fibre: best data transfer rate, smallest signal loss over distance, immune to electrical interference - but the most expensive.</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Fibre optic: single-mode and multi-mode</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2</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9</a:t>
            </a:r>
            <a:endParaRPr lang="en-US" sz="1350" dirty="0"/>
          </a:p>
        </p:txBody>
      </p:sp>
      <p:sp>
        <p:nvSpPr>
          <p:cNvPr id="7" name="Shape 4"/>
          <p:cNvSpPr/>
          <p:nvPr/>
        </p:nvSpPr>
        <p:spPr>
          <a:xfrm>
            <a:off x="822960" y="1280160"/>
            <a:ext cx="5120640" cy="3749040"/>
          </a:xfrm>
          <a:prstGeom prst="rect">
            <a:avLst/>
          </a:prstGeom>
          <a:solidFill>
            <a:srgbClr val="F6F5FC"/>
          </a:solidFill>
          <a:ln w="12700">
            <a:solidFill>
              <a:srgbClr val="F6F5FC"/>
            </a:solidFill>
            <a:prstDash val="solid"/>
          </a:ln>
        </p:spPr>
      </p:sp>
      <p:sp>
        <p:nvSpPr>
          <p:cNvPr id="8" name="Text 5"/>
          <p:cNvSpPr txBox="1"/>
          <p:nvPr/>
        </p:nvSpPr>
        <p:spPr>
          <a:xfrm>
            <a:off x="1005840" y="1371600"/>
            <a:ext cx="4754880" cy="411480"/>
          </a:xfrm>
          <a:prstGeom prst="rect">
            <a:avLst/>
          </a:prstGeom>
          <a:noFill/>
          <a:ln/>
        </p:spPr>
        <p:txBody>
          <a:bodyPr wrap="square" lIns="0" tIns="0" rIns="0" bIns="0" rtlCol="0" anchor="ctr"/>
          <a:lstStyle/>
          <a:p>
            <a:pPr indent="0" marL="0">
              <a:buNone/>
            </a:pPr>
            <a:r>
              <a:rPr lang="en-US" sz="1700" b="1" dirty="0">
                <a:solidFill>
                  <a:srgbClr val="494985"/>
                </a:solidFill>
                <a:latin typeface="Quicksand" pitchFamily="34" charset="0"/>
                <a:ea typeface="Quicksand" pitchFamily="34" charset="-122"/>
                <a:cs typeface="Quicksand" pitchFamily="34" charset="-120"/>
              </a:rPr>
              <a:t>Single-mode</a:t>
            </a:r>
            <a:endParaRPr lang="en-US" sz="1700" dirty="0"/>
          </a:p>
        </p:txBody>
      </p:sp>
      <p:sp>
        <p:nvSpPr>
          <p:cNvPr id="9" name="Shape 6"/>
          <p:cNvSpPr/>
          <p:nvPr/>
        </p:nvSpPr>
        <p:spPr>
          <a:xfrm>
            <a:off x="1188720" y="2468880"/>
            <a:ext cx="4389120" cy="274320"/>
          </a:xfrm>
          <a:prstGeom prst="rect">
            <a:avLst/>
          </a:prstGeom>
          <a:solidFill>
            <a:srgbClr val="FFF4C7"/>
          </a:solidFill>
          <a:ln w="12700">
            <a:solidFill>
              <a:srgbClr val="494985"/>
            </a:solidFill>
            <a:prstDash val="solid"/>
          </a:ln>
        </p:spPr>
      </p:sp>
      <p:sp>
        <p:nvSpPr>
          <p:cNvPr id="10" name="Shape 7"/>
          <p:cNvSpPr/>
          <p:nvPr/>
        </p:nvSpPr>
        <p:spPr>
          <a:xfrm>
            <a:off x="1280160" y="2606040"/>
            <a:ext cx="4206240" cy="914"/>
          </a:xfrm>
          <a:prstGeom prst="line">
            <a:avLst/>
          </a:prstGeom>
          <a:noFill/>
          <a:ln w="25400">
            <a:solidFill>
              <a:srgbClr val="C0392B"/>
            </a:solidFill>
            <a:prstDash val="solid"/>
          </a:ln>
        </p:spPr>
      </p:sp>
      <p:sp>
        <p:nvSpPr>
          <p:cNvPr id="11" name="Text 8"/>
          <p:cNvSpPr txBox="1"/>
          <p:nvPr/>
        </p:nvSpPr>
        <p:spPr>
          <a:xfrm>
            <a:off x="1097280" y="3200400"/>
            <a:ext cx="4572000" cy="365760"/>
          </a:xfrm>
          <a:prstGeom prst="rect">
            <a:avLst/>
          </a:prstGeom>
          <a:noFill/>
          <a:ln/>
        </p:spPr>
        <p:txBody>
          <a:bodyPr wrap="square" lIns="0" tIns="0" rIns="0" bIns="0" rtlCol="0" anchor="ctr"/>
          <a:lstStyle/>
          <a:p>
            <a:pPr algn="ctr" indent="0" marL="0">
              <a:buNone/>
            </a:pPr>
            <a:r>
              <a:rPr lang="en-US" sz="1200" i="1" dirty="0">
                <a:solidFill>
                  <a:srgbClr val="666666"/>
                </a:solidFill>
                <a:latin typeface="Quicksand" pitchFamily="34" charset="0"/>
                <a:ea typeface="Quicksand" pitchFamily="34" charset="-122"/>
                <a:cs typeface="Quicksand" pitchFamily="34" charset="-120"/>
              </a:rPr>
              <a:t>Small core, single light path, little reflection</a:t>
            </a:r>
            <a:endParaRPr lang="en-US" sz="1200" dirty="0"/>
          </a:p>
        </p:txBody>
      </p:sp>
      <p:sp>
        <p:nvSpPr>
          <p:cNvPr id="12" name="Text 9"/>
          <p:cNvSpPr txBox="1"/>
          <p:nvPr/>
        </p:nvSpPr>
        <p:spPr>
          <a:xfrm>
            <a:off x="1097280" y="3749040"/>
            <a:ext cx="4572000" cy="914400"/>
          </a:xfrm>
          <a:prstGeom prst="rect">
            <a:avLst/>
          </a:prstGeom>
          <a:noFill/>
          <a:ln/>
        </p:spPr>
        <p:txBody>
          <a:bodyPr wrap="square" lIns="0" tIns="0" rIns="0" bIns="0" rtlCol="0" anchor="t"/>
          <a:lstStyle/>
          <a:p>
            <a:pPr indent="0" marL="0">
              <a:spcAft>
                <a:spcPts val="600"/>
              </a:spcAft>
              <a:buNone/>
            </a:pPr>
            <a:r>
              <a:rPr lang="en-US" sz="1500" dirty="0">
                <a:solidFill>
                  <a:srgbClr val="202124"/>
                </a:solidFill>
                <a:latin typeface="Quicksand" pitchFamily="34" charset="0"/>
                <a:ea typeface="Quicksand" pitchFamily="34" charset="-122"/>
                <a:cs typeface="Quicksand" pitchFamily="34" charset="-120"/>
              </a:rPr>
              <a:t>Data travels faster and further. Used for telecommunications and cable TV.</a:t>
            </a:r>
            <a:endParaRPr lang="en-US" sz="1500" dirty="0"/>
          </a:p>
        </p:txBody>
      </p:sp>
      <p:sp>
        <p:nvSpPr>
          <p:cNvPr id="13" name="Shape 10"/>
          <p:cNvSpPr/>
          <p:nvPr/>
        </p:nvSpPr>
        <p:spPr>
          <a:xfrm>
            <a:off x="6263640" y="1280160"/>
            <a:ext cx="5120640" cy="3749040"/>
          </a:xfrm>
          <a:prstGeom prst="rect">
            <a:avLst/>
          </a:prstGeom>
          <a:solidFill>
            <a:srgbClr val="F6F5FC"/>
          </a:solidFill>
          <a:ln w="12700">
            <a:solidFill>
              <a:srgbClr val="F6F5FC"/>
            </a:solidFill>
            <a:prstDash val="solid"/>
          </a:ln>
        </p:spPr>
      </p:sp>
      <p:sp>
        <p:nvSpPr>
          <p:cNvPr id="14" name="Text 11"/>
          <p:cNvSpPr txBox="1"/>
          <p:nvPr/>
        </p:nvSpPr>
        <p:spPr>
          <a:xfrm>
            <a:off x="6446520" y="1371600"/>
            <a:ext cx="4754880" cy="411480"/>
          </a:xfrm>
          <a:prstGeom prst="rect">
            <a:avLst/>
          </a:prstGeom>
          <a:noFill/>
          <a:ln/>
        </p:spPr>
        <p:txBody>
          <a:bodyPr wrap="square" lIns="0" tIns="0" rIns="0" bIns="0" rtlCol="0" anchor="ctr"/>
          <a:lstStyle/>
          <a:p>
            <a:pPr indent="0" marL="0">
              <a:buNone/>
            </a:pPr>
            <a:r>
              <a:rPr lang="en-US" sz="1700" b="1" dirty="0">
                <a:solidFill>
                  <a:srgbClr val="494985"/>
                </a:solidFill>
                <a:latin typeface="Quicksand" pitchFamily="34" charset="0"/>
                <a:ea typeface="Quicksand" pitchFamily="34" charset="-122"/>
                <a:cs typeface="Quicksand" pitchFamily="34" charset="-120"/>
              </a:rPr>
              <a:t>Multi-mode</a:t>
            </a:r>
            <a:endParaRPr lang="en-US" sz="1700" dirty="0"/>
          </a:p>
        </p:txBody>
      </p:sp>
      <p:sp>
        <p:nvSpPr>
          <p:cNvPr id="15" name="Shape 12"/>
          <p:cNvSpPr/>
          <p:nvPr/>
        </p:nvSpPr>
        <p:spPr>
          <a:xfrm>
            <a:off x="6629400" y="2240280"/>
            <a:ext cx="4389120" cy="731520"/>
          </a:xfrm>
          <a:prstGeom prst="rect">
            <a:avLst/>
          </a:prstGeom>
          <a:solidFill>
            <a:srgbClr val="FFF4C7"/>
          </a:solidFill>
          <a:ln w="12700">
            <a:solidFill>
              <a:srgbClr val="494985"/>
            </a:solidFill>
            <a:prstDash val="solid"/>
          </a:ln>
        </p:spPr>
      </p:sp>
      <p:sp>
        <p:nvSpPr>
          <p:cNvPr id="16" name="Shape 13"/>
          <p:cNvSpPr/>
          <p:nvPr/>
        </p:nvSpPr>
        <p:spPr>
          <a:xfrm>
            <a:off x="6720840" y="2286000"/>
            <a:ext cx="640080" cy="640080"/>
          </a:xfrm>
          <a:prstGeom prst="line">
            <a:avLst/>
          </a:prstGeom>
          <a:noFill/>
          <a:ln w="25400">
            <a:solidFill>
              <a:srgbClr val="C0392B"/>
            </a:solidFill>
            <a:prstDash val="solid"/>
          </a:ln>
        </p:spPr>
      </p:sp>
      <p:sp>
        <p:nvSpPr>
          <p:cNvPr id="17" name="Shape 14"/>
          <p:cNvSpPr/>
          <p:nvPr/>
        </p:nvSpPr>
        <p:spPr>
          <a:xfrm flipV="1">
            <a:off x="7360920" y="2286000"/>
            <a:ext cx="640080" cy="640080"/>
          </a:xfrm>
          <a:prstGeom prst="line">
            <a:avLst/>
          </a:prstGeom>
          <a:noFill/>
          <a:ln w="25400">
            <a:solidFill>
              <a:srgbClr val="C0392B"/>
            </a:solidFill>
            <a:prstDash val="solid"/>
          </a:ln>
        </p:spPr>
      </p:sp>
      <p:sp>
        <p:nvSpPr>
          <p:cNvPr id="18" name="Shape 15"/>
          <p:cNvSpPr/>
          <p:nvPr/>
        </p:nvSpPr>
        <p:spPr>
          <a:xfrm>
            <a:off x="8001000" y="2286000"/>
            <a:ext cx="640080" cy="640080"/>
          </a:xfrm>
          <a:prstGeom prst="line">
            <a:avLst/>
          </a:prstGeom>
          <a:noFill/>
          <a:ln w="25400">
            <a:solidFill>
              <a:srgbClr val="C0392B"/>
            </a:solidFill>
            <a:prstDash val="solid"/>
          </a:ln>
        </p:spPr>
      </p:sp>
      <p:sp>
        <p:nvSpPr>
          <p:cNvPr id="19" name="Shape 16"/>
          <p:cNvSpPr/>
          <p:nvPr/>
        </p:nvSpPr>
        <p:spPr>
          <a:xfrm flipV="1">
            <a:off x="8641080" y="2286000"/>
            <a:ext cx="640080" cy="640080"/>
          </a:xfrm>
          <a:prstGeom prst="line">
            <a:avLst/>
          </a:prstGeom>
          <a:noFill/>
          <a:ln w="25400">
            <a:solidFill>
              <a:srgbClr val="C0392B"/>
            </a:solidFill>
            <a:prstDash val="solid"/>
          </a:ln>
        </p:spPr>
      </p:sp>
      <p:sp>
        <p:nvSpPr>
          <p:cNvPr id="20" name="Shape 17"/>
          <p:cNvSpPr/>
          <p:nvPr/>
        </p:nvSpPr>
        <p:spPr>
          <a:xfrm>
            <a:off x="9281160" y="2286000"/>
            <a:ext cx="640080" cy="640080"/>
          </a:xfrm>
          <a:prstGeom prst="line">
            <a:avLst/>
          </a:prstGeom>
          <a:noFill/>
          <a:ln w="25400">
            <a:solidFill>
              <a:srgbClr val="C0392B"/>
            </a:solidFill>
            <a:prstDash val="solid"/>
          </a:ln>
        </p:spPr>
      </p:sp>
      <p:sp>
        <p:nvSpPr>
          <p:cNvPr id="21" name="Shape 18"/>
          <p:cNvSpPr/>
          <p:nvPr/>
        </p:nvSpPr>
        <p:spPr>
          <a:xfrm flipV="1">
            <a:off x="9921240" y="2286000"/>
            <a:ext cx="640080" cy="640080"/>
          </a:xfrm>
          <a:prstGeom prst="line">
            <a:avLst/>
          </a:prstGeom>
          <a:noFill/>
          <a:ln w="25400">
            <a:solidFill>
              <a:srgbClr val="C0392B"/>
            </a:solidFill>
            <a:prstDash val="solid"/>
          </a:ln>
        </p:spPr>
      </p:sp>
      <p:sp>
        <p:nvSpPr>
          <p:cNvPr id="22" name="Shape 19"/>
          <p:cNvSpPr/>
          <p:nvPr/>
        </p:nvSpPr>
        <p:spPr>
          <a:xfrm>
            <a:off x="10561320" y="2286000"/>
            <a:ext cx="365760" cy="640080"/>
          </a:xfrm>
          <a:prstGeom prst="line">
            <a:avLst/>
          </a:prstGeom>
          <a:noFill/>
          <a:ln w="25400">
            <a:solidFill>
              <a:srgbClr val="C0392B"/>
            </a:solidFill>
            <a:prstDash val="solid"/>
          </a:ln>
        </p:spPr>
      </p:sp>
      <p:sp>
        <p:nvSpPr>
          <p:cNvPr id="23" name="Text 20"/>
          <p:cNvSpPr txBox="1"/>
          <p:nvPr/>
        </p:nvSpPr>
        <p:spPr>
          <a:xfrm>
            <a:off x="6537960" y="3200400"/>
            <a:ext cx="4572000" cy="365760"/>
          </a:xfrm>
          <a:prstGeom prst="rect">
            <a:avLst/>
          </a:prstGeom>
          <a:noFill/>
          <a:ln/>
        </p:spPr>
        <p:txBody>
          <a:bodyPr wrap="square" lIns="0" tIns="0" rIns="0" bIns="0" rtlCol="0" anchor="ctr"/>
          <a:lstStyle/>
          <a:p>
            <a:pPr algn="ctr" indent="0" marL="0">
              <a:buNone/>
            </a:pPr>
            <a:r>
              <a:rPr lang="en-US" sz="1200" i="1" dirty="0">
                <a:solidFill>
                  <a:srgbClr val="666666"/>
                </a:solidFill>
                <a:latin typeface="Quicksand" pitchFamily="34" charset="0"/>
                <a:ea typeface="Quicksand" pitchFamily="34" charset="-122"/>
                <a:cs typeface="Quicksand" pitchFamily="34" charset="-120"/>
              </a:rPr>
              <a:t>Larger core, light reflects many times</a:t>
            </a:r>
            <a:endParaRPr lang="en-US" sz="1200" dirty="0"/>
          </a:p>
        </p:txBody>
      </p:sp>
      <p:sp>
        <p:nvSpPr>
          <p:cNvPr id="24" name="Text 21"/>
          <p:cNvSpPr txBox="1"/>
          <p:nvPr/>
        </p:nvSpPr>
        <p:spPr>
          <a:xfrm>
            <a:off x="6537960" y="3749040"/>
            <a:ext cx="4572000" cy="914400"/>
          </a:xfrm>
          <a:prstGeom prst="rect">
            <a:avLst/>
          </a:prstGeom>
          <a:noFill/>
          <a:ln/>
        </p:spPr>
        <p:txBody>
          <a:bodyPr wrap="square" lIns="0" tIns="0" rIns="0" bIns="0" rtlCol="0" anchor="t"/>
          <a:lstStyle/>
          <a:p>
            <a:pPr indent="0" marL="0">
              <a:spcAft>
                <a:spcPts val="600"/>
              </a:spcAft>
              <a:buNone/>
            </a:pPr>
            <a:r>
              <a:rPr lang="en-US" sz="1500" dirty="0">
                <a:solidFill>
                  <a:srgbClr val="202124"/>
                </a:solidFill>
                <a:latin typeface="Quicksand" pitchFamily="34" charset="0"/>
                <a:ea typeface="Quicksand" pitchFamily="34" charset="-122"/>
                <a:cs typeface="Quicksand" pitchFamily="34" charset="-120"/>
              </a:rPr>
              <a:t>Works best over shorter distances, e.g. within a LAN.</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Wired or wireless?</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2</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10</a:t>
            </a:r>
            <a:endParaRPr lang="en-US" sz="13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896112" y="1280160"/>
          <a:ext cx="10387584" cy="914400"/>
        </p:xfrm>
        <a:graphic>
          <a:graphicData uri="http://schemas.openxmlformats.org/drawingml/2006/table">
            <a:tbl>
              <a:tblPr/>
              <a:tblGrid>
                <a:gridCol w="5193792"/>
                <a:gridCol w="5193792"/>
              </a:tblGrid>
              <a:tr h="548640">
                <a:tc>
                  <a:txBody>
                    <a:bodyPr/>
                    <a:lstStyle/>
                    <a:p>
                      <a:pPr indent="0" marL="0">
                        <a:buNone/>
                      </a:pPr>
                      <a:r>
                        <a:rPr lang="en-US" sz="1400" b="1" dirty="0">
                          <a:solidFill>
                            <a:srgbClr val="FFFFFF"/>
                          </a:solidFill>
                          <a:latin typeface="Quicksand" pitchFamily="34" charset="0"/>
                          <a:ea typeface="Quicksand" pitchFamily="34" charset="-122"/>
                          <a:cs typeface="Quicksand" pitchFamily="34" charset="-120"/>
                        </a:rPr>
                        <a:t>Wireless</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00" b="1" dirty="0">
                          <a:solidFill>
                            <a:srgbClr val="FFFFFF"/>
                          </a:solidFill>
                          <a:latin typeface="Quicksand" pitchFamily="34" charset="0"/>
                          <a:ea typeface="Quicksand" pitchFamily="34" charset="-122"/>
                          <a:cs typeface="Quicksand" pitchFamily="34" charset="-120"/>
                        </a:rPr>
                        <a:t>Wired</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548640">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 Easy to expand - no cables to install</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 More reliable and stable - less interference</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48640">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 Devices are mobile within range of the WAPs</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 Faster data transfer, no "dead spots"</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48640">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 More interference from external sources</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 Tends to be cheaper overall</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48640">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 Less secure: signals can be intercepted, so encrypt (e.g. WPA2)</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 Devices are not mobile</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48640">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 Slower data transfer rate</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 Trip hazards, overheating, cables pulled out</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48640">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 Signals blocked by thick walls; strength can drop out</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 May need permission to lay cables underground</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
        <p:nvSpPr>
          <p:cNvPr id="8" name="Text 4"/>
          <p:cNvSpPr txBox="1"/>
          <p:nvPr/>
        </p:nvSpPr>
        <p:spPr>
          <a:xfrm>
            <a:off x="896112" y="5349240"/>
            <a:ext cx="10332720" cy="457200"/>
          </a:xfrm>
          <a:prstGeom prst="rect">
            <a:avLst/>
          </a:prstGeom>
          <a:noFill/>
          <a:ln/>
        </p:spPr>
        <p:txBody>
          <a:bodyPr wrap="square" lIns="0" tIns="0" rIns="0" bIns="0" rtlCol="0" anchor="t"/>
          <a:lstStyle/>
          <a:p>
            <a:pPr indent="0" marL="0">
              <a:buNone/>
            </a:pPr>
            <a:r>
              <a:rPr lang="en-US" sz="1500" b="1" dirty="0">
                <a:solidFill>
                  <a:srgbClr val="494985"/>
                </a:solidFill>
                <a:latin typeface="Quicksand" pitchFamily="34" charset="0"/>
                <a:ea typeface="Quicksand" pitchFamily="34" charset="-122"/>
                <a:cs typeface="Quicksand" pitchFamily="34" charset="-120"/>
              </a:rPr>
              <a:t>Also consider: phones and tablets need Wi-Fi or Bluetooth; some countries restrict wireless frequencies.</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Exam technique: "recommend and justify"</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3</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11</a:t>
            </a:r>
            <a:endParaRPr lang="en-US" sz="1350" dirty="0"/>
          </a:p>
        </p:txBody>
      </p:sp>
      <p:sp>
        <p:nvSpPr>
          <p:cNvPr id="7" name="Shape 4"/>
          <p:cNvSpPr/>
          <p:nvPr/>
        </p:nvSpPr>
        <p:spPr>
          <a:xfrm>
            <a:off x="877824" y="1325880"/>
            <a:ext cx="3383280" cy="1920240"/>
          </a:xfrm>
          <a:prstGeom prst="rect">
            <a:avLst/>
          </a:prstGeom>
          <a:solidFill>
            <a:srgbClr val="F6F5FC"/>
          </a:solidFill>
          <a:ln w="12700">
            <a:solidFill>
              <a:srgbClr val="F6F5FC"/>
            </a:solidFill>
            <a:prstDash val="solid"/>
          </a:ln>
        </p:spPr>
      </p:sp>
      <p:sp>
        <p:nvSpPr>
          <p:cNvPr id="8" name="Text 5"/>
          <p:cNvSpPr/>
          <p:nvPr/>
        </p:nvSpPr>
        <p:spPr>
          <a:xfrm>
            <a:off x="1014984" y="146304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1</a:t>
            </a:r>
            <a:endParaRPr lang="en-US" sz="1400" dirty="0"/>
          </a:p>
        </p:txBody>
      </p:sp>
      <p:sp>
        <p:nvSpPr>
          <p:cNvPr id="9" name="Text 6"/>
          <p:cNvSpPr txBox="1"/>
          <p:nvPr/>
        </p:nvSpPr>
        <p:spPr>
          <a:xfrm>
            <a:off x="1536192" y="1435608"/>
            <a:ext cx="260604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Point</a:t>
            </a:r>
            <a:endParaRPr lang="en-US" sz="1500" dirty="0"/>
          </a:p>
        </p:txBody>
      </p:sp>
      <p:sp>
        <p:nvSpPr>
          <p:cNvPr id="10" name="Text 7"/>
          <p:cNvSpPr txBox="1"/>
          <p:nvPr/>
        </p:nvSpPr>
        <p:spPr>
          <a:xfrm>
            <a:off x="1536192" y="1828800"/>
            <a:ext cx="2606040" cy="1353312"/>
          </a:xfrm>
          <a:prstGeom prst="rect">
            <a:avLst/>
          </a:prstGeom>
          <a:noFill/>
          <a:ln/>
        </p:spPr>
        <p:txBody>
          <a:bodyPr wrap="square" lIns="0" tIns="0" rIns="0" bIns="0" rtlCol="0" anchor="t"/>
          <a:lstStyle/>
          <a:p>
            <a:pPr indent="0" marL="0">
              <a:buNone/>
            </a:pPr>
            <a:r>
              <a:rPr lang="en-US" sz="1300" dirty="0">
                <a:solidFill>
                  <a:srgbClr val="202124"/>
                </a:solidFill>
                <a:latin typeface="Quicksand" pitchFamily="34" charset="0"/>
                <a:ea typeface="Quicksand" pitchFamily="34" charset="-122"/>
                <a:cs typeface="Quicksand" pitchFamily="34" charset="-120"/>
              </a:rPr>
              <a:t>State the advantage or disadvantage, comparing the two options: "Wired is faster than wireless..."</a:t>
            </a:r>
            <a:endParaRPr lang="en-US" sz="1300" dirty="0"/>
          </a:p>
        </p:txBody>
      </p:sp>
      <p:sp>
        <p:nvSpPr>
          <p:cNvPr id="11" name="Shape 8"/>
          <p:cNvSpPr/>
          <p:nvPr/>
        </p:nvSpPr>
        <p:spPr>
          <a:xfrm>
            <a:off x="4407408" y="1325880"/>
            <a:ext cx="3383280" cy="1920240"/>
          </a:xfrm>
          <a:prstGeom prst="rect">
            <a:avLst/>
          </a:prstGeom>
          <a:solidFill>
            <a:srgbClr val="F6F5FC"/>
          </a:solidFill>
          <a:ln w="12700">
            <a:solidFill>
              <a:srgbClr val="F6F5FC"/>
            </a:solidFill>
            <a:prstDash val="solid"/>
          </a:ln>
        </p:spPr>
      </p:sp>
      <p:sp>
        <p:nvSpPr>
          <p:cNvPr id="12" name="Text 9"/>
          <p:cNvSpPr/>
          <p:nvPr/>
        </p:nvSpPr>
        <p:spPr>
          <a:xfrm>
            <a:off x="4544568" y="146304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2</a:t>
            </a:r>
            <a:endParaRPr lang="en-US" sz="1400" dirty="0"/>
          </a:p>
        </p:txBody>
      </p:sp>
      <p:sp>
        <p:nvSpPr>
          <p:cNvPr id="13" name="Text 10"/>
          <p:cNvSpPr txBox="1"/>
          <p:nvPr/>
        </p:nvSpPr>
        <p:spPr>
          <a:xfrm>
            <a:off x="5065776" y="1435608"/>
            <a:ext cx="260604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Expansion</a:t>
            </a:r>
            <a:endParaRPr lang="en-US" sz="1500" dirty="0"/>
          </a:p>
        </p:txBody>
      </p:sp>
      <p:sp>
        <p:nvSpPr>
          <p:cNvPr id="14" name="Text 11"/>
          <p:cNvSpPr txBox="1"/>
          <p:nvPr/>
        </p:nvSpPr>
        <p:spPr>
          <a:xfrm>
            <a:off x="5065776" y="1828800"/>
            <a:ext cx="2606040" cy="1353312"/>
          </a:xfrm>
          <a:prstGeom prst="rect">
            <a:avLst/>
          </a:prstGeom>
          <a:noFill/>
          <a:ln/>
        </p:spPr>
        <p:txBody>
          <a:bodyPr wrap="square" lIns="0" tIns="0" rIns="0" bIns="0" rtlCol="0" anchor="t"/>
          <a:lstStyle/>
          <a:p>
            <a:pPr indent="0" marL="0">
              <a:buNone/>
            </a:pPr>
            <a:r>
              <a:rPr lang="en-US" sz="1300" dirty="0">
                <a:solidFill>
                  <a:srgbClr val="202124"/>
                </a:solidFill>
                <a:latin typeface="Quicksand" pitchFamily="34" charset="0"/>
                <a:ea typeface="Quicksand" pitchFamily="34" charset="-122"/>
                <a:cs typeface="Quicksand" pitchFamily="34" charset="-120"/>
              </a:rPr>
              <a:t>...apply it to the scenario: "...so staff on every floor can access the file server quickly."</a:t>
            </a:r>
            <a:endParaRPr lang="en-US" sz="1300" dirty="0"/>
          </a:p>
        </p:txBody>
      </p:sp>
      <p:sp>
        <p:nvSpPr>
          <p:cNvPr id="15" name="Shape 12"/>
          <p:cNvSpPr/>
          <p:nvPr/>
        </p:nvSpPr>
        <p:spPr>
          <a:xfrm>
            <a:off x="7936992" y="1325880"/>
            <a:ext cx="3383280" cy="1920240"/>
          </a:xfrm>
          <a:prstGeom prst="rect">
            <a:avLst/>
          </a:prstGeom>
          <a:solidFill>
            <a:srgbClr val="F6F5FC"/>
          </a:solidFill>
          <a:ln w="12700">
            <a:solidFill>
              <a:srgbClr val="F6F5FC"/>
            </a:solidFill>
            <a:prstDash val="solid"/>
          </a:ln>
        </p:spPr>
      </p:sp>
      <p:sp>
        <p:nvSpPr>
          <p:cNvPr id="16" name="Text 13"/>
          <p:cNvSpPr/>
          <p:nvPr/>
        </p:nvSpPr>
        <p:spPr>
          <a:xfrm>
            <a:off x="8074152" y="146304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3</a:t>
            </a:r>
            <a:endParaRPr lang="en-US" sz="1400" dirty="0"/>
          </a:p>
        </p:txBody>
      </p:sp>
      <p:sp>
        <p:nvSpPr>
          <p:cNvPr id="17" name="Text 14"/>
          <p:cNvSpPr txBox="1"/>
          <p:nvPr/>
        </p:nvSpPr>
        <p:spPr>
          <a:xfrm>
            <a:off x="8595360" y="1435608"/>
            <a:ext cx="260604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Conclusion</a:t>
            </a:r>
            <a:endParaRPr lang="en-US" sz="1500" dirty="0"/>
          </a:p>
        </p:txBody>
      </p:sp>
      <p:sp>
        <p:nvSpPr>
          <p:cNvPr id="18" name="Text 15"/>
          <p:cNvSpPr txBox="1"/>
          <p:nvPr/>
        </p:nvSpPr>
        <p:spPr>
          <a:xfrm>
            <a:off x="8595360" y="1828800"/>
            <a:ext cx="2606040" cy="1353312"/>
          </a:xfrm>
          <a:prstGeom prst="rect">
            <a:avLst/>
          </a:prstGeom>
          <a:noFill/>
          <a:ln/>
        </p:spPr>
        <p:txBody>
          <a:bodyPr wrap="square" lIns="0" tIns="0" rIns="0" bIns="0" rtlCol="0" anchor="t"/>
          <a:lstStyle/>
          <a:p>
            <a:pPr indent="0" marL="0">
              <a:buNone/>
            </a:pPr>
            <a:r>
              <a:rPr lang="en-US" sz="1300" dirty="0">
                <a:solidFill>
                  <a:srgbClr val="202124"/>
                </a:solidFill>
                <a:latin typeface="Quicksand" pitchFamily="34" charset="0"/>
                <a:ea typeface="Quicksand" pitchFamily="34" charset="-122"/>
                <a:cs typeface="Quicksand" pitchFamily="34" charset="-120"/>
              </a:rPr>
              <a:t>Make a decision and justify it - a mixed solution is allowed: "Wired backbone with Wi-Fi on each floor, because..."</a:t>
            </a:r>
            <a:endParaRPr lang="en-US" sz="1300" dirty="0"/>
          </a:p>
        </p:txBody>
      </p:sp>
      <p:sp>
        <p:nvSpPr>
          <p:cNvPr id="19" name="Text 16"/>
          <p:cNvSpPr txBox="1"/>
          <p:nvPr/>
        </p:nvSpPr>
        <p:spPr>
          <a:xfrm>
            <a:off x="877824" y="3566160"/>
            <a:ext cx="10332720" cy="640080"/>
          </a:xfrm>
          <a:prstGeom prst="rect">
            <a:avLst/>
          </a:prstGeom>
          <a:noFill/>
          <a:ln/>
        </p:spPr>
        <p:txBody>
          <a:bodyPr wrap="square" lIns="0" tIns="0" rIns="0" bIns="0" rtlCol="0" anchor="t"/>
          <a:lstStyle/>
          <a:p>
            <a:pPr indent="0" marL="0">
              <a:buNone/>
            </a:pPr>
            <a:r>
              <a:rPr lang="en-US" sz="1500" b="1" dirty="0">
                <a:solidFill>
                  <a:srgbClr val="494985"/>
                </a:solidFill>
                <a:latin typeface="Quicksand" pitchFamily="34" charset="0"/>
                <a:ea typeface="Quicksand" pitchFamily="34" charset="-122"/>
                <a:cs typeface="Quicksand" pitchFamily="34" charset="-120"/>
              </a:rPr>
              <a:t>A list of single words ("faster", "secure") earns little. Point + expansion applied to the scenario earns the marks.</a:t>
            </a:r>
            <a:endParaRPr lang="en-US" sz="1500" dirty="0"/>
          </a:p>
        </p:txBody>
      </p:sp>
      <p:sp>
        <p:nvSpPr>
          <p:cNvPr id="20" name="Text 17"/>
          <p:cNvSpPr txBox="1"/>
          <p:nvPr/>
        </p:nvSpPr>
        <p:spPr>
          <a:xfrm>
            <a:off x="877824" y="4343400"/>
            <a:ext cx="10332720" cy="365760"/>
          </a:xfrm>
          <a:prstGeom prst="rect">
            <a:avLst/>
          </a:prstGeom>
          <a:noFill/>
          <a:ln/>
        </p:spPr>
        <p:txBody>
          <a:bodyPr wrap="square" lIns="0" tIns="0" rIns="0" bIns="0" rtlCol="0" anchor="t"/>
          <a:lstStyle/>
          <a:p>
            <a:pPr indent="0" marL="0">
              <a:spcAft>
                <a:spcPts val="600"/>
              </a:spcAft>
              <a:buNone/>
            </a:pPr>
            <a:r>
              <a:rPr lang="en-US" sz="1600" b="1" dirty="0">
                <a:solidFill>
                  <a:srgbClr val="202124"/>
                </a:solidFill>
                <a:latin typeface="Quicksand" pitchFamily="34" charset="0"/>
                <a:ea typeface="Quicksand" pitchFamily="34" charset="-122"/>
                <a:cs typeface="Quicksand" pitchFamily="34" charset="-120"/>
              </a:rPr>
              <a:t>Modelled together - one point for a 20-floor office building:</a:t>
            </a:r>
            <a:endParaRPr lang="en-US" sz="1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877824" y="4754880"/>
          <a:ext cx="10424160" cy="914400"/>
        </p:xfrm>
        <a:graphic>
          <a:graphicData uri="http://schemas.openxmlformats.org/drawingml/2006/table">
            <a:tbl>
              <a:tblPr/>
              <a:tblGrid>
                <a:gridCol w="4572000"/>
                <a:gridCol w="5852160"/>
              </a:tblGrid>
              <a:tr h="502920">
                <a:tc>
                  <a:txBody>
                    <a:bodyPr/>
                    <a:lstStyle/>
                    <a:p>
                      <a:pPr indent="0" marL="0">
                        <a:buNone/>
                      </a:pPr>
                      <a:r>
                        <a:rPr lang="en-US" sz="1350" b="1" dirty="0">
                          <a:solidFill>
                            <a:srgbClr val="FFFFFF"/>
                          </a:solidFill>
                          <a:latin typeface="Quicksand" pitchFamily="34" charset="0"/>
                          <a:ea typeface="Quicksand" pitchFamily="34" charset="-122"/>
                          <a:cs typeface="Quicksand" pitchFamily="34" charset="-120"/>
                        </a:rPr>
                        <a:t>Point</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350" b="1" dirty="0">
                          <a:solidFill>
                            <a:srgbClr val="FFFFFF"/>
                          </a:solidFill>
                          <a:latin typeface="Quicksand" pitchFamily="34" charset="0"/>
                          <a:ea typeface="Quicksand" pitchFamily="34" charset="-122"/>
                          <a:cs typeface="Quicksand" pitchFamily="34" charset="-120"/>
                        </a:rPr>
                        <a:t>Expansion (applied to the scenario)</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502920">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Wired connections give faster, more stable data transfer than wireless</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...so staff on all 20 floors can open large files on the server without slowdowns or drop-outs</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Misconceptions and exit question</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Plenary</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12</a:t>
            </a:r>
            <a:endParaRPr lang="en-US" sz="13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704088" y="1234440"/>
          <a:ext cx="10789920" cy="914400"/>
        </p:xfrm>
        <a:graphic>
          <a:graphicData uri="http://schemas.openxmlformats.org/drawingml/2006/table">
            <a:tbl>
              <a:tblPr/>
              <a:tblGrid>
                <a:gridCol w="3931920"/>
                <a:gridCol w="6858000"/>
              </a:tblGrid>
              <a:tr h="566928">
                <a:tc>
                  <a:txBody>
                    <a:bodyPr/>
                    <a:lstStyle/>
                    <a:p>
                      <a:pPr indent="0" marL="0">
                        <a:buNone/>
                      </a:pPr>
                      <a:r>
                        <a:rPr lang="en-US" sz="1400" b="1" dirty="0">
                          <a:solidFill>
                            <a:srgbClr val="FFFFFF"/>
                          </a:solidFill>
                          <a:latin typeface="Quicksand" pitchFamily="34" charset="0"/>
                          <a:ea typeface="Quicksand" pitchFamily="34" charset="-122"/>
                          <a:cs typeface="Quicksand" pitchFamily="34" charset="-120"/>
                        </a:rPr>
                        <a:t>Misconception</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00" b="1" dirty="0">
                          <a:solidFill>
                            <a:srgbClr val="FFFFFF"/>
                          </a:solidFill>
                          <a:latin typeface="Quicksand" pitchFamily="34" charset="0"/>
                          <a:ea typeface="Quicksand" pitchFamily="34" charset="-122"/>
                          <a:cs typeface="Quicksand" pitchFamily="34" charset="-120"/>
                        </a:rPr>
                        <a:t>Why it is wrong</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566928">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"Bluetooth and Wi-Fi are the same."</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Bluetooth: short range (&lt; 30 m), low bandwidth, WPAN. Wi-Fi: about 100 m, faster, full networks.</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66928">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"Fibre carries electricity very fast."</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Fibre carries pulses of light, which is why it is not affected by electrical interference.</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66928">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"Wireless is always cheaper."</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Wired tends to be cheaper overall, despite the cost of buying and installing cable.</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bl>
          </a:graphicData>
        </a:graphic>
      </p:graphicFrame>
      <p:sp>
        <p:nvSpPr>
          <p:cNvPr id="8" name="Text 4"/>
          <p:cNvSpPr txBox="1"/>
          <p:nvPr/>
        </p:nvSpPr>
        <p:spPr>
          <a:xfrm>
            <a:off x="704088" y="4023360"/>
            <a:ext cx="10789920" cy="731520"/>
          </a:xfrm>
          <a:prstGeom prst="rect">
            <a:avLst/>
          </a:prstGeom>
          <a:noFill/>
          <a:ln/>
        </p:spPr>
        <p:txBody>
          <a:bodyPr wrap="square" lIns="0" tIns="0" rIns="0" bIns="0" rtlCol="0" anchor="t"/>
          <a:lstStyle/>
          <a:p>
            <a:pPr indent="0" marL="0">
              <a:buNone/>
            </a:pPr>
            <a:r>
              <a:rPr lang="en-US" sz="1800" b="1" dirty="0">
                <a:solidFill>
                  <a:srgbClr val="202124"/>
                </a:solidFill>
                <a:latin typeface="Quicksand" pitchFamily="34" charset="0"/>
                <a:ea typeface="Quicksand" pitchFamily="34" charset="-122"/>
                <a:cs typeface="Quicksand" pitchFamily="34" charset="-120"/>
              </a:rPr>
              <a:t>Exit: Two school buildings are 2 km apart. Which cable should connect them? Give one reason. [2]</a:t>
            </a:r>
            <a:endParaRPr lang="en-US" sz="1800" dirty="0"/>
          </a:p>
        </p:txBody>
      </p:sp>
      <p:sp>
        <p:nvSpPr>
          <p:cNvPr id="9" name="Text 5"/>
          <p:cNvSpPr txBox="1"/>
          <p:nvPr/>
        </p:nvSpPr>
        <p:spPr>
          <a:xfrm>
            <a:off x="704088" y="5120640"/>
            <a:ext cx="10789920" cy="457200"/>
          </a:xfrm>
          <a:prstGeom prst="rect">
            <a:avLst/>
          </a:prstGeom>
          <a:noFill/>
          <a:ln/>
        </p:spPr>
        <p:txBody>
          <a:bodyPr wrap="square" lIns="0" tIns="0" rIns="0" bIns="0" rtlCol="0" anchor="t"/>
          <a:lstStyle/>
          <a:p>
            <a:pPr indent="0" marL="0">
              <a:buNone/>
            </a:pPr>
            <a:r>
              <a:rPr lang="en-US" sz="1500" b="1" dirty="0">
                <a:solidFill>
                  <a:srgbClr val="494985"/>
                </a:solidFill>
                <a:latin typeface="Quicksand" pitchFamily="34" charset="0"/>
                <a:ea typeface="Quicksand" pitchFamily="34" charset="-122"/>
                <a:cs typeface="Quicksand" pitchFamily="34" charset="-120"/>
              </a:rPr>
              <a:t>Next lesson: 2.1.6 - hardware requirements of networks (switch, router, WAP, bridge, NIC, modem).</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Wired and wireless networking</dc:title>
  <dc:subject>PptxGenJS Presentation</dc:subject>
  <dc:creator>PptxGenJS</dc:creator>
  <cp:lastModifiedBy>PptxGenJS</cp:lastModifiedBy>
  <cp:revision>1</cp:revision>
  <dcterms:created xsi:type="dcterms:W3CDTF">2026-10-02T01:41:16Z</dcterms:created>
  <dcterms:modified xsi:type="dcterms:W3CDTF">2026-10-02T01:41:16Z</dcterms:modified>
</cp:coreProperties>
</file>