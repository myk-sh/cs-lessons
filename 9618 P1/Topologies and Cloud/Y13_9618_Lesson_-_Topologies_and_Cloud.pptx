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Follows the online lesson on 2.1.1-2.1.2 (LAN/MAN/WAN, client-server vs peer-to-peer, thin and thick clients). Starts with a closed-book recall test (worksheet Task 1). Exam questions used: 9618/11 Nov 2023 Q2, 9618/11 June 2024 Q5 and Q8, 9618/12 June 2024 Q3, 9618/13 June 2024 Q5.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book, 10 minutes, worksheet Task 1. Because last lesson was online, use the results to decide what to re-teach: anything below about half marks on Q3 or Q5 (client-server/peer-to-peer, thin/thick client) is worth a 5-minute recap before moving on. Two of the questions are real exam questions (June 2024 9618/11 Q5(a) and 9618/12 Q3(b)).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topology is the arrangement of devices and the links between them. Ask: which of these have you seen? (School network: star of stars; the internet: mesh.)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packet passes every node: each node checks the destination address and ignores packets not meant for it. Only one device can transmit at a time; simultaneous transmissions cause collisions (CSMA/CD - covered later). Terminators stop the signal reflecting back along the 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mark scheme wording (9618/13 June 2024 Q5(b)): the sending computer transmits packets directly to the switch/central device; the switch checks the destination address and forwards the packet directly to that device. Most school and office LANs are stars.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Hubs are not in the 9618 syllabus as hardware to describe, but the comparison explains why a star with a switch is more secure and has fewer collisions. A star with a hub behaves like a bus: every packet reaches every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mesh: nodes act like routers and send data by the best route, re-routing round failed links. Flooding mesh: data is sent to every node (no routing logic) - simple but creates extra traffic. The internet and many WANs are mesh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Textbook example: three hotel chains using bus, star and mesh networks are taken over by one company and joined into a single hybrid network. Advantages and disadvantages depend on the topologies combined; the extra disadvantage is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exactly the knowledge tested by the June 2024 9618/11 Q8(a) tick-box question (worksheet Task 3). Students should be able to justify each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after students attempt worksheet Task 4. Official marking points from 9618/13 May/June 2024 Q5(b) [2] and 9618/11 Oct/Nov 2023 Q2(d) [2]. Note the 2-mark "explain" pattern: a point, then an expansion that applies it to the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answers: Star - a school ICT suite (cheap switch, easy to add PCs, one cable fault only affects one PC). Mesh - a hospital patient-monitoring sensor network or a bank WAN (no single point of failure, re-routing). Bus - a small temporary office with light traffic (cheapest).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storage is one part of cloud computing (others: cloud software, databases, analytics). Data redundancy: the same data is kept on more than one server so it is still available during maintenance, repair or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definition of private cloud (9618/13 June 2024 Q5(a)(i)): dedicated / bespoke services or storage on a remote server only available to the company. Public cloud: the customer and the cloud provider are different companies; services are offered to anyone over the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 answers must be specific: "needs internet" alone is weak; "cannot access their files without a reliable internet connection" earns the mark (Nov 2023 9618/11 Q2(c)).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Textbook examples: the XEN hypervisor flaw forced providers to reboot servers; a provider permanently lost data during a routine backup; celebrity photo leaks from hacked cloud accounts; 93 million Mexican voter records exposed (2016). Use these to discuss why a bank might choose a private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after students attempt worksheet Task 5. Official marking points: 9618/13 May/June 2024 Q5(a)(ii) [3] and 9618/11 Oct/Nov 2023 Q2(c) [2].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 was the recall test. Tasks 2-5 on paper (about 30 minutes); Task 6 extension. Show slides 11 and 17 after Tasks 4 and 5 so students can self-mark against the official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answer: Star (1). Each laptop/device has its own connection to a switch, so one faulty cable only affects one device // the switch only forwards packets to the destination so fewer collisions and better performance (1 for expansion). Private cloud (1) because patient records are confidential: the clinic is not reliant on a third party and has greater control over security/privacy (1).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0416" y="0"/>
            <a:ext cx="4288536" cy="6858000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67512" y="2560320"/>
            <a:ext cx="7004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Topologies &amp; cloud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3547872"/>
            <a:ext cx="7004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Y13 - Cambridge International 9618  |  2.1.3 - 2.1.4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" y="4050792"/>
            <a:ext cx="1719072" cy="54864"/>
          </a:xfrm>
          <a:prstGeom prst="rect">
            <a:avLst/>
          </a:prstGeom>
          <a:solidFill>
            <a:srgbClr val="494985"/>
          </a:solidFill>
          <a:ln w="12700">
            <a:solidFill>
              <a:srgbClr val="4949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Recall test: last lesson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Starter activity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80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Last lesson was online. Let us check what stuck before we build on it.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7132320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Worksheet Task 1 covers...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Marks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LAN, MAN, WAN and PAN - size and description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4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Benefits of networking computers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3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Client-server or peer-to-peer?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5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Exam question: client and server in an online bank (June 2024)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4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Exam question: thin clients for online exam marking (June 2024)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4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9372600" y="1965960"/>
            <a:ext cx="2148840" cy="11887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509760" y="210312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030968" y="20756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Closed book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0030968" y="24688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No notes, no slides.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372600" y="3291840"/>
            <a:ext cx="2148840" cy="11887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509760" y="342900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030968" y="34015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10 minutes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0030968" y="37947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Then swap and mark.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96112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Total: 20 marks. Be honest when you mark - it tells us what to revisit.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 this lesson, you will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46304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Describe bus, star, mesh and hybrid topologies, and draw each one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Explain how packets are transmitted in each topology, including the difference between a hub and a switch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Give and explain advantages and disadvantages of each topology for a given scenario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Explain public, private and hybrid cloud, and the benefits and drawbacks of cloud storage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Answer real 9618 Paper 1 questions using the wording examiners reward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What is a network topology?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4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topology is the way the devices (nodes) in a network are arranged and connected to each other.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31520" y="2011680"/>
            <a:ext cx="2606040" cy="35661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520440" y="2011680"/>
            <a:ext cx="2606040" cy="35661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Star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309360" y="2011680"/>
            <a:ext cx="2606040" cy="35661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Mesh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098280" y="2011680"/>
            <a:ext cx="2606040" cy="35661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98280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Hybrid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960120" y="3931920"/>
            <a:ext cx="2148840" cy="914"/>
          </a:xfrm>
          <a:prstGeom prst="line">
            <a:avLst/>
          </a:prstGeom>
          <a:noFill/>
          <a:ln w="38100">
            <a:solidFill>
              <a:srgbClr val="49498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840480"/>
            <a:ext cx="182880" cy="182880"/>
          </a:xfrm>
          <a:prstGeom prst="ellipse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17520" y="3840480"/>
            <a:ext cx="182880" cy="182880"/>
          </a:xfrm>
          <a:prstGeom prst="ellipse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497330" y="3383280"/>
            <a:ext cx="914" cy="5486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04722" y="301752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034540" y="3931920"/>
            <a:ext cx="914" cy="5486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41932" y="448056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571750" y="3383280"/>
            <a:ext cx="914" cy="5486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79142" y="301752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18888" y="3145536"/>
            <a:ext cx="914" cy="694944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4818888" y="3625730"/>
            <a:ext cx="826164" cy="21475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18888" y="3840480"/>
            <a:ext cx="510597" cy="562222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4308291" y="3840480"/>
            <a:ext cx="510597" cy="562222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992724" y="3625730"/>
            <a:ext cx="826164" cy="21475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30268" y="3639312"/>
            <a:ext cx="777240" cy="402336"/>
          </a:xfrm>
          <a:prstGeom prst="rect">
            <a:avLst/>
          </a:prstGeom>
          <a:solidFill>
            <a:srgbClr val="FFD84D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switch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26280" y="2962656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352444" y="344285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36877" y="4219822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015683" y="4219822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700116" y="344285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607808" y="3102102"/>
            <a:ext cx="826164" cy="510207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607808" y="3102102"/>
            <a:ext cx="510597" cy="1335738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V="1">
            <a:off x="7097211" y="3102102"/>
            <a:ext cx="510597" cy="1335738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6781644" y="3102102"/>
            <a:ext cx="826164" cy="510207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8118405" y="3612309"/>
            <a:ext cx="315566" cy="825532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7097211" y="3612309"/>
            <a:ext cx="1336761" cy="825532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V="1">
            <a:off x="6781644" y="3612309"/>
            <a:ext cx="1652328" cy="914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97211" y="4437840"/>
            <a:ext cx="1021195" cy="914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81644" y="3612309"/>
            <a:ext cx="1336761" cy="825532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781644" y="3612309"/>
            <a:ext cx="315566" cy="825532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15200" y="2919222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141364" y="3429429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825797" y="425496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804603" y="425496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489036" y="3429429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9281160" y="4480560"/>
            <a:ext cx="2240280" cy="914"/>
          </a:xfrm>
          <a:prstGeom prst="line">
            <a:avLst/>
          </a:prstGeom>
          <a:noFill/>
          <a:ln w="38100">
            <a:solidFill>
              <a:srgbClr val="49498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692640" y="4480560"/>
            <a:ext cx="914" cy="5486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400032" y="49834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10424160" y="3840480"/>
            <a:ext cx="914" cy="64008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081260" y="3456432"/>
            <a:ext cx="685800" cy="402336"/>
          </a:xfrm>
          <a:prstGeom prst="rect">
            <a:avLst/>
          </a:prstGeom>
          <a:solidFill>
            <a:srgbClr val="FFD84D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switch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9646920" y="2971800"/>
            <a:ext cx="777240" cy="68580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354312" y="278892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10424160" y="2697480"/>
            <a:ext cx="914" cy="96012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131552" y="251460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 flipV="1">
            <a:off x="10424160" y="2971800"/>
            <a:ext cx="777240" cy="68580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908792" y="278892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11201400" y="4480560"/>
            <a:ext cx="914" cy="5486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0908792" y="49834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Bus topology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5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344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All devices connect to one shared central cable (the backbone). Terminators at each end stop signals bouncing back.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97280" y="2926080"/>
            <a:ext cx="4937760" cy="914"/>
          </a:xfrm>
          <a:prstGeom prst="line">
            <a:avLst/>
          </a:prstGeom>
          <a:noFill/>
          <a:ln w="38100">
            <a:solidFill>
              <a:srgbClr val="4949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2834640"/>
            <a:ext cx="182880" cy="182880"/>
          </a:xfrm>
          <a:prstGeom prst="ellipse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0" y="2834640"/>
            <a:ext cx="182880" cy="182880"/>
          </a:xfrm>
          <a:prstGeom prst="ellipse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20240" y="2377440"/>
            <a:ext cx="914" cy="5486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27632" y="20116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0" y="2377440"/>
            <a:ext cx="914" cy="5486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50592" y="20116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566160" y="2377440"/>
            <a:ext cx="914" cy="5486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73552" y="20116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89120" y="2377440"/>
            <a:ext cx="914" cy="5486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96512" y="20116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12080" y="2377440"/>
            <a:ext cx="914" cy="5486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9472" y="20116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terminator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57784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terminator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77824" y="4160520"/>
            <a:ext cx="5394960" cy="146304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14984" y="429768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536192" y="42702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How a packet travels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536192" y="4663440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sends to D: the packet travels along the whole cable. Every node checks the destination address; only D accepts it.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37160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Advantages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Disadvantages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Cheap: little cabling, no central device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If the backbone fails, the whole network fails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Easy to add another node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Collisions: only one device can transmit at a time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One failed node does not stop the others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Performance drops as traffic grows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Less secure: every packet passes every node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Star topology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6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344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Every device has its own cable to a central device (usually a switch). All packets go through the central device.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91840" y="2350008"/>
            <a:ext cx="914" cy="1170432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3291840" y="3158757"/>
            <a:ext cx="1391434" cy="361683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3520440"/>
            <a:ext cx="859953" cy="946899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2431887" y="3520440"/>
            <a:ext cx="859953" cy="946899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0406" y="3158757"/>
            <a:ext cx="1391434" cy="361683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3319272"/>
            <a:ext cx="914400" cy="402336"/>
          </a:xfrm>
          <a:prstGeom prst="rect">
            <a:avLst/>
          </a:prstGeom>
          <a:solidFill>
            <a:srgbClr val="FFD84D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switch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99232" y="2167128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390666" y="2975877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59185" y="4284459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139279" y="4284459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607798" y="2975877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371600"/>
          <a:ext cx="49377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Advantages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Disadvantages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Fewer collisions: each device has its own link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If the switch fails, the whole network fails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One broken cable only affects one device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More cable, and a switch, so higher set-up cost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Easy to add or remove devices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More secure with a switch: packets go only to the destination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Easy to find faults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877824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sends to D: A -&gt; switch, the switch reads the destination address, switch -&gt; D only.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Star: hub or switch in the middle?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7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1520" y="1234440"/>
            <a:ext cx="5212080" cy="39319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325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Hub: sends every packet to every device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600200" y="2423160"/>
            <a:ext cx="1737360" cy="914400"/>
          </a:xfrm>
          <a:prstGeom prst="line">
            <a:avLst/>
          </a:prstGeom>
          <a:noFill/>
          <a:ln w="31750">
            <a:solidFill>
              <a:srgbClr val="49498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07592" y="22402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FFD84D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 flipV="1">
            <a:off x="3337560" y="2423160"/>
            <a:ext cx="1737360" cy="914400"/>
          </a:xfrm>
          <a:prstGeom prst="line">
            <a:avLst/>
          </a:prstGeom>
          <a:noFill/>
          <a:ln w="31750">
            <a:solidFill>
              <a:srgbClr val="4949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82312" y="22402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 flipV="1">
            <a:off x="1600200" y="3337560"/>
            <a:ext cx="1737360" cy="1097280"/>
          </a:xfrm>
          <a:prstGeom prst="line">
            <a:avLst/>
          </a:prstGeom>
          <a:noFill/>
          <a:ln w="31750">
            <a:solidFill>
              <a:srgbClr val="4949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07592" y="425196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37560" y="3337560"/>
            <a:ext cx="1737360" cy="1097280"/>
          </a:xfrm>
          <a:prstGeom prst="line">
            <a:avLst/>
          </a:prstGeom>
          <a:noFill/>
          <a:ln w="31750">
            <a:solidFill>
              <a:srgbClr val="49498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82312" y="425196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26080" y="3136392"/>
            <a:ext cx="822960" cy="402336"/>
          </a:xfrm>
          <a:prstGeom prst="rect">
            <a:avLst/>
          </a:prstGeom>
          <a:solidFill>
            <a:srgbClr val="FFD84D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hub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1234440"/>
            <a:ext cx="5212080" cy="39319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46520" y="1325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Switch: sends each packet only to its destination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132320" y="2423160"/>
            <a:ext cx="1737360" cy="914400"/>
          </a:xfrm>
          <a:prstGeom prst="line">
            <a:avLst/>
          </a:prstGeom>
          <a:noFill/>
          <a:ln w="31750">
            <a:solidFill>
              <a:srgbClr val="49498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39712" y="22402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FFD84D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flipV="1">
            <a:off x="8869680" y="2423160"/>
            <a:ext cx="1737360" cy="914400"/>
          </a:xfrm>
          <a:prstGeom prst="line">
            <a:avLst/>
          </a:prstGeom>
          <a:noFill/>
          <a:ln w="15875">
            <a:solidFill>
              <a:srgbClr val="C8C8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14432" y="22402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 flipV="1">
            <a:off x="7132320" y="3337560"/>
            <a:ext cx="1737360" cy="1097280"/>
          </a:xfrm>
          <a:prstGeom prst="line">
            <a:avLst/>
          </a:prstGeom>
          <a:noFill/>
          <a:ln w="15875">
            <a:solidFill>
              <a:srgbClr val="C8C8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39712" y="425196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869680" y="3337560"/>
            <a:ext cx="1737360" cy="1097280"/>
          </a:xfrm>
          <a:prstGeom prst="line">
            <a:avLst/>
          </a:prstGeom>
          <a:noFill/>
          <a:ln w="31750">
            <a:solidFill>
              <a:srgbClr val="49498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314432" y="425196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458200" y="3136392"/>
            <a:ext cx="822960" cy="402336"/>
          </a:xfrm>
          <a:prstGeom prst="rect">
            <a:avLst/>
          </a:prstGeom>
          <a:solidFill>
            <a:srgbClr val="FFD84D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switch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77824" y="5349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sends a packet to D. With a hub, B, C and D all receive it (B and C ignore it). With a switch, only D receives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Mesh topology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8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344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Devices are interconnected so there are many routes between any two nodes. Data can be re-routed if a link fails.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91840" y="2414016"/>
            <a:ext cx="1391434" cy="859295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0" y="2414016"/>
            <a:ext cx="859953" cy="2249665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2431887" y="2414016"/>
            <a:ext cx="859953" cy="2249665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1900406" y="2414016"/>
            <a:ext cx="1391434" cy="859295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4151793" y="3273311"/>
            <a:ext cx="531480" cy="1390369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2431887" y="3273311"/>
            <a:ext cx="2251387" cy="1390369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00406" y="3273311"/>
            <a:ext cx="2782867" cy="914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31887" y="4663681"/>
            <a:ext cx="1719907" cy="914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00406" y="3273311"/>
            <a:ext cx="2251387" cy="1390369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00406" y="3273311"/>
            <a:ext cx="531480" cy="1390369"/>
          </a:xfrm>
          <a:prstGeom prst="line">
            <a:avLst/>
          </a:prstGeom>
          <a:noFill/>
          <a:ln w="15875">
            <a:solidFill>
              <a:srgbClr val="7A7A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99232" y="2231136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90666" y="3090431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59185" y="4480801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139279" y="4480801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607798" y="3090431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371600"/>
          <a:ext cx="49377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Advantages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Disadvantages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Multiple paths: a broken link does not stop the network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Lots of cabling - expensive (wired mesh)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Data can take the best/shortest route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Complex to set up and maintain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Handles heavy traffic well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Good privacy: packets follow dedicated routes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583680" y="4434840"/>
            <a:ext cx="4937760" cy="11887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20840" y="457200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242048" y="45445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Routing vs flooding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7242048" y="493776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Routing: nodes choose the best route. Flooding: data is sent through every node.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Hybrid topology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9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34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combination of two or more topologies, e.g. star networks joined by a bus backbone.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3840480"/>
            <a:ext cx="5577840" cy="914"/>
          </a:xfrm>
          <a:prstGeom prst="line">
            <a:avLst/>
          </a:prstGeom>
          <a:noFill/>
          <a:ln w="38100">
            <a:solidFill>
              <a:srgbClr val="4949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749040"/>
            <a:ext cx="182880" cy="182880"/>
          </a:xfrm>
          <a:prstGeom prst="ellipse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3749040"/>
            <a:ext cx="182880" cy="182880"/>
          </a:xfrm>
          <a:prstGeom prst="ellipse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03120" y="3063240"/>
            <a:ext cx="914" cy="7772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68780" y="2679192"/>
            <a:ext cx="868680" cy="402336"/>
          </a:xfrm>
          <a:prstGeom prst="rect">
            <a:avLst/>
          </a:prstGeom>
          <a:solidFill>
            <a:srgbClr val="FFD84D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Office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88720" y="2103120"/>
            <a:ext cx="914400" cy="7772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192024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103120" y="1965960"/>
            <a:ext cx="914" cy="91440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10512" y="17830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 flipV="1">
            <a:off x="2103120" y="2103120"/>
            <a:ext cx="914400" cy="7772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24912" y="192024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120640" y="3063240"/>
            <a:ext cx="914" cy="7772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86300" y="2679192"/>
            <a:ext cx="868680" cy="402336"/>
          </a:xfrm>
          <a:prstGeom prst="rect">
            <a:avLst/>
          </a:prstGeom>
          <a:solidFill>
            <a:srgbClr val="FFD84D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Labs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06240" y="2103120"/>
            <a:ext cx="914400" cy="7772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13632" y="192024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120640" y="1965960"/>
            <a:ext cx="914" cy="91440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28032" y="17830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 flipV="1">
            <a:off x="5120640" y="2103120"/>
            <a:ext cx="914400" cy="77724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42432" y="192024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PC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611880" y="3840480"/>
            <a:ext cx="914" cy="59436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19272" y="443484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Server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120640" y="3931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bus backbone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949440" y="1874520"/>
            <a:ext cx="4572000" cy="155448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86600" y="201168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607808" y="19842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607808" y="2377440"/>
            <a:ext cx="3794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Joins existing networks without rebuilding them. Handles large traffic volumes. Well suited to large networks; easy to expand.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949440" y="3611880"/>
            <a:ext cx="4572000" cy="137160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86600" y="374904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607808" y="372160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Disadvantage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7607808" y="411480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Complex to install, configure and maintain. Other pros and cons depend on the topologies used.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877824" y="52578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Example: a company buys three hotel chains that use bus, star and mesh networks, and joins them into one hybrid network.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Comparing the topologies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2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10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34440"/>
          <a:ext cx="10515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06040"/>
                <a:gridCol w="2606040"/>
                <a:gridCol w="2651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Bus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Star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Mesh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Devices connect to...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one shared central cable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one central device (switch)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several other devices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Paths between two nodes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one (the backbone)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one (through the switch)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many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Single point of failure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backbone cable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switch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none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Collisions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most likely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fewer (switch)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few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Who sees each packet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every node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only the destination (switch)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nodes on the route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Cost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lowest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medium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highest (wired)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Typical use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small, light-traffic networks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most school / office LANs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internet, WANs, sensor networks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Exam focus: packets in a star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2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11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1188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June 2024 (9618/13) Q5(b): Explain how packets are transmitted between two devices in a star topology. [2]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737360"/>
          <a:ext cx="1038758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47318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Mark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Marking point (official)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sending computer transmits the packet directly to the switch / central device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switch checks the destination address of the packet and forwards it directly to that device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41248" y="3246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Nov 2023 (9618/11) Q2(d): 20 computers and a switch. Explain one advantage of a star instead of a bus. [2]</a:t>
            </a:r>
            <a:endParaRPr lang="en-US" sz="15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3886200"/>
          <a:ext cx="10387584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27278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Advantage (1 mark)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... expansion (1 mark)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More resilient to faults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no single shared cable, so less disruption to teaching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Higher performance as fewer collisions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each device is only connected to the switch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Easier to add new nodes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each device connects directly to the switch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Easier to find faults than in a bus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Think, pair, share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2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12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3258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Choose the best topology for each scenario, and justify it with one advantage that is relevant to that scenario.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77824" y="2331720"/>
            <a:ext cx="10332720" cy="7315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4984" y="246888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36192" y="244144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school ICT suite with 30 PCs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7824" y="3200400"/>
            <a:ext cx="10332720" cy="7315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4984" y="333756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536192" y="33101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Sensors monitoring patients across a hospital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77824" y="4069080"/>
            <a:ext cx="10332720" cy="7315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4984" y="420624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536192" y="417880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small temporary office with 4 laptops and light traffic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" y="5120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Exam tip: "Explain" = make the point, then say why it matters in THIS scenario.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Cloud computing and cloud storage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3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13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34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Cloud storage: data is stored on off-site servers, owned and managed by a hosting company, and accessed over the internet.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1920" y="2331720"/>
            <a:ext cx="2377440" cy="1463040"/>
          </a:xfrm>
          <a:prstGeom prst="cloud">
            <a:avLst/>
          </a:prstGeom>
          <a:solidFill>
            <a:srgbClr val="E6EEFB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internet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70432" y="224028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Laptop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783080" y="2423160"/>
            <a:ext cx="2240280" cy="64008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88036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Phone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783080" y="3063240"/>
            <a:ext cx="2240280" cy="914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0432" y="3520440"/>
            <a:ext cx="585216" cy="365760"/>
          </a:xfrm>
          <a:prstGeom prst="roundRect">
            <a:avLst>
              <a:gd name="adj" fmla="val 15000"/>
            </a:avLst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Tablet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 flipV="1">
            <a:off x="1783080" y="3063240"/>
            <a:ext cx="2240280" cy="64008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2221992"/>
            <a:ext cx="914400" cy="402336"/>
          </a:xfrm>
          <a:prstGeom prst="rect">
            <a:avLst/>
          </a:prstGeom>
          <a:solidFill>
            <a:srgbClr val="FFD84D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server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 flipV="1">
            <a:off x="6263640" y="2423160"/>
            <a:ext cx="1051560" cy="64008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2862072"/>
            <a:ext cx="914400" cy="402336"/>
          </a:xfrm>
          <a:prstGeom prst="rect">
            <a:avLst/>
          </a:prstGeom>
          <a:solidFill>
            <a:srgbClr val="FFD84D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server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63640" y="3063240"/>
            <a:ext cx="1051560" cy="914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0" y="3502152"/>
            <a:ext cx="914400" cy="402336"/>
          </a:xfrm>
          <a:prstGeom prst="rect">
            <a:avLst/>
          </a:prstGeom>
          <a:solidFill>
            <a:srgbClr val="FFD84D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server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63640" y="3063240"/>
            <a:ext cx="1051560" cy="640080"/>
          </a:xfrm>
          <a:prstGeom prst="line">
            <a:avLst/>
          </a:prstGeom>
          <a:noFill/>
          <a:ln w="19050">
            <a:solidFill>
              <a:srgbClr val="7A7AA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7512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same data copied on several servers = data redundancy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915400" y="2103120"/>
            <a:ext cx="2606040" cy="246888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52560" y="224028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573768" y="22128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Redundancy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573768" y="2606040"/>
            <a:ext cx="18288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 same data is stored on more than one server, so it is still available if one is down for maintenance or repair.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77824" y="49377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Cloud computing also includes cloud software: applications hosted and maintained by the provider and used through a browser or app.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Public, private and hybrid cloud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3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14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3444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97480"/>
                <a:gridCol w="2697480"/>
                <a:gridCol w="27432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Public cloud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Private cloud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Hybrid cloud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Who provides it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 third-party provider (a different company)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Dedicated to one organisation, behind its firewall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 mix of both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Who can use it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Anyone who pays / signs up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Only that organisation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Sensitive data private; the rest public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Control of security &amp; backup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provider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organisation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Split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Cost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Low start-up; pay as you go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High start-up and running costs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In between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Example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Students saving work to a free cloud drive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 bank storing customer records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 hospital: patient records private, public website files public</a:t>
                      </a:r>
                      <a:endParaRPr lang="en-US" sz="12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Learn the private cloud definition: storage/services on a remote server dedicated to, and only available to, one company.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Benefits and drawbacks of cloud storage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3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15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3444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Benefits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Drawbacks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Access files from any device, anywhere, with internet access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No access without a reliable internet connection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No need to carry storage devices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Free space is limited - more storage must be paid for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Remote backup helps disaster recovery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Users depend on a third party for security and backups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Data redundancy keeps data available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Large uploads/downloads use data allowance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Almost unlimited, scalable capacity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If the provider fails, data could be lost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Provider handles maintenance and upgrades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Hacking of accounts / data breaches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Security and data loss in the cloud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3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16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34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company that moves its data to a public cloud gives up direct control of its data security.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77824" y="1920240"/>
            <a:ext cx="3291840" cy="146304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4984" y="205740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36192" y="20299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Physical security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36192" y="242316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How well protected is the building that houses the servers?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07408" y="1920240"/>
            <a:ext cx="3291840" cy="146304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44568" y="205740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65776" y="20299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Disasters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65776" y="242316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How resilient is the provider to fires, floods and outages?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36992" y="1920240"/>
            <a:ext cx="3291840" cy="146304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74152" y="205740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20299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Staff and hackers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242316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Could provider staff or hackers access confidential data?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77824" y="3703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Real incidents: a provider permanently lost customer data during a routine backup; hacked cloud accounts leaked private photos; 93 million voter records were exposed in 2016.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77824" y="4754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This is why organisations with sensitive data often choose a private or hybrid cloud.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Exam focus: cloud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3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17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1188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June 2024 (9618/13) Q5(a)(ii): benefits to a company of private instead of public cloud storage. [3]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828800"/>
          <a:ext cx="10387584" cy="914400"/>
        </p:xfrm>
        <a:graphic>
          <a:graphicData uri="http://schemas.openxmlformats.org/drawingml/2006/table">
            <a:tbl>
              <a:tblPr/>
              <a:tblGrid>
                <a:gridCol w="1038758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Marking point (official, any 3)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Not reliant on a third party ...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... gives greater control over security / privacy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... gives greater control over backup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Storage can be tailored / scaled to the company's requirements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41248" y="3886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Nov 2023 (9618/11) Q2(c): two drawbacks of students storing files on a public cloud. [2]</a:t>
            </a:r>
            <a:endParaRPr lang="en-US" sz="15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4389120"/>
          <a:ext cx="10387584" cy="914400"/>
        </p:xfrm>
        <a:graphic>
          <a:graphicData uri="http://schemas.openxmlformats.org/drawingml/2006/table">
            <a:tbl>
              <a:tblPr/>
              <a:tblGrid>
                <a:gridCol w="1038758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Marking point (official, any 2)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Cannot access their files without a reliable internet connection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Free space may be limited, so they may have to buy more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No control over backup / security - dependent on a third party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Guided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4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18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98448"/>
            <a:ext cx="10296144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2: draw bus and star networks, and identify topologies from descriptions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3: the June 2024 tick-box question, then trace a packet through a bus, a hub and a switch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4: real exam questions on topologies (Nov 2023, June 2024)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5: real exam questions on public and private cloud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6 (extension): peer-to-peer vs mesh, and choosing a cloud for a scenario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Check your work against the answer key when your teacher shares it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Common misconceptions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Plenary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19</a:t>
            </a:r>
            <a:endParaRPr lang="en-US" sz="13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1280160"/>
          <a:ext cx="1078992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64922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Misconception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Why it is wrong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"In a star, packets go to every computer."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Only with a hub. A switch checks the destination address and forwards to that device only.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"A star has no single point of failure."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If the central switch fails, the whole network fails.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"Mesh means peer-to-peer."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Mesh is a physical layout of links; peer-to-peer is a model of how nodes share resources.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"Private cloud means storing data on your own computer."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It is still remote server storage - but dedicated to one organisation only.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"The cloud needs internet" is enough for the mark.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Be specific: users cannot access files without a reliable internet connection.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Exit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Plenary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463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medical clinic is setting up a new LAN with 15 computers. It also needs to store confidential patient records.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5603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1. Which topology would you recommend for the LAN? Explain one advantage for the clinic. [2]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4747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2. Should the patient records be stored on a public or a private cloud? Justify your answer. [2]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 this lesson, you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Summary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21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1417320"/>
            <a:ext cx="1029614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Checked your recall of LANs/WANs, client-server and thin/thick clients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Described and drew bus, star, mesh and hybrid topologies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Explained how packets travel in each topology, and why a switch beats a hub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Compared public, private and hybrid cloud, and the benefits and drawbacks of cloud storage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Answered real 9618 Paper 1 questions using the official marking points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4937760"/>
            <a:ext cx="1029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Next lesson: 2.1.5 - wired and wireless networking (Wi-Fi, Bluetooth and cables).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topologies and cloud computing</dc:title>
  <dc:subject>PptxGenJS Presentation</dc:subject>
  <dc:creator>PptxGenJS</dc:creator>
  <cp:lastModifiedBy>PptxGenJS</cp:lastModifiedBy>
  <cp:revision>1</cp:revision>
  <dcterms:created xsi:type="dcterms:W3CDTF">2026-10-01T02:21:27Z</dcterms:created>
  <dcterms:modified xsi:type="dcterms:W3CDTF">2026-10-01T02:21:27Z</dcterms:modified>
</cp:coreProperties>
</file>