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Covers bit streaming (textbook 2.1.8) and all of textbook section 2.2: internet vs WWW; hardware that supports the internet (modems, PSTN, dedicated lines, cell phone network, satellites); IP addresses (IPv4, IPv6, subnetting, public/private, static/dynamic); URLs and DNS. It opens with a recall test and recap on network hardware (2.1.6). Scripting in HTML (2.2.6) is beyond the syllabus and is left out.
This is a lot of content: plan it as a double lesson, or split after slide 11 (bit streaming done) or slide 19.
Photos: Wikimedia Commons, full credits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Worksheet Task 1 - closed book, 8 minutes, then swap and mark from the answer key. It covers last lesson (2.1.6 network hardware). Q3 is a real question: 9618/12 May/June 2025 Q6(e). Re-teach threshold: fewer than 2/3 on Q3 or confusing MAC and IP addresses -&gt; recap slides 3-4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recap after marking Task 1. Cover the purpose line and ask students to say it first. Key exam wording from last lesson: a switch forwards data only to the intended device using MAC addresses; a router forwards packets between networks using the destination IP address and its routing table; a WAP connects wireless devices to the wired network using radio waves.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last lesson to today. Walk left to right: the laptop's WNIC sends radio waves to the WAP; the switch forwards the frame to the router (the default gateway); the router uses NAT to swap the private IP for the school's public IP and forwards the packet; the modem or fibre terminal puts the data onto the line to the ISP. Everything right of the dashed line is "the internet" - today's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definition (9618/11 May/June 2024 Q2(e)(i)): a continuous ordered flow of bits over a communication path. Textbook: a contiguous sequence of bits (digital data) sent over a network. The file is played as it arrives - it does not have to be downloaded first. Large files are compressed before transmission, and a buffer is used to give smooth playback.
Think-pair-share: what do you think the spinning "buffering" circle on YouTube actually means? (The buffer has run low: data is arriving more slowly than the player is using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2.1.8: the rate data arrives from the server must be greater than the rate the media player takes it from the buffer. The player keeps the buffer between a low water mark and a high water mark; if it falls below the low mark the player asks the server to send faster, above the high mark slower. If the buffer empties, playback pauses ("buffering") until it refills.
Exam wording to use: the buffer stores data temporarily, so playback continues smoothly even if the data transfer rate varies / the connection drops briefly.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2.1.8 plus mark-scheme wording (e.g. 9618/11 May/June 2024 Q2(e)): real-time is a live event, streamed as it happens - it cannot be paused, rewound or fast-forwarded and everyone sees the same point. On-demand files are already stored (encoded) on a server and can be watched at any time, paused, rewound and fast-forwarded.
Sort it: live football, Netflix film, a Spotify playlist, a live lesson on Teams, a recorded lesson, a radio station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 rate = the number of bits per second the media needs (higher quality = higher bit rate). Broadband speed = the number of bits per second the connection can deliver. If the broadband speed is lower than the bit rate, data is played faster than it arrives, the buffer empties and the stream pauses. Fixes: stream at a lower quality (lower bit rate), get faster broadband, or let a larger buffer fill first.
Worked answer: 5 Mbps x 7200 s = 36 000 Mb = 4500 MB = 4.5 GB for a 2-hour film. Quick check answers: (a) 3 Mbps &lt; 5 Mbps, so the buffer empties and the film keeps pausing; (b) drop to SD at 3 Mbps or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Table 2.7. Use this for "give advantages / disadvantages of streaming" questions - remember to apply each point to the scenario in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points (e.g. 9618 Paper 1 questions on this - see the answer key): the internet is the hardware infrastructure - a global network of interconnected networks that uses TCP/IP; the WWW is a collection of (multimedia) web pages / resources, written in HTML, identified by URLs, accessed with a web browser using HTTP(S), that runs ON the internet. Email, VoIP, online gaming and file transfer use the internet but are not the WWW.
Analogy: the internet is the road network; the WWW is one kind of traffic (delivery vans) using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Syllabus: "Describe the hardware that is used to support the Internet - including modems, PSTN (Public Switched Telephone Network), dedicated lines, cell phone network." Overview first, then one slide each. The backbone between ISPs and countries is mostly fibre-optic cable (including undersea cables) plus satellites.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modem point (9618/11 May/June 2025 Q2(c)): converts digital data into analogue for transmission down phone lines // converts analogue back into digital after transmission.
Official PSTN points (9618/12 May/June 2024 Q3(c)(ii), max 2): the PSTN consists of many different types of communication lines... so digital data may need to be converted to an analogue signal; data is transmitted in both directions at the same time (duplex); the communication passes through different switching centres / ISPs.
PSTN = Public Switched Telephone Network: the worldwide network of public telephone lines and exchanges, originally built for voice calls using circuit switching (a dedicated circuit for the whole call). Today much of it is digital and fibre, and home broadband uses it to reach the ISP. PSTN lines are shared by many users and are not dedicated to one organisation.
Photos: an old telephone exchange (switching equipment) and a street broadband fibre cabinet next to a phone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points: dedicated line (9618/11 May/June 2025 Q2(c)) - provides a direct / private connection, so faster transmission. Cell phone network (9618/12 May/June 2025 Q6(b)): land is split into cells designed for maximum line of sight; each cell has a tower with an antenna that receives and transmits data; data is transmitted wirelessly between tower and phone using low-power radio signals; multiple devices can communicate with the same tower at once.
Dedicated (leased) line: a permanent, private connection between two sites, rented from a telecoms company and used only by that organisation - always on, guaranteed bandwidth, more secure, but expensive. Examiner report 9618/11 May/June 2025: "Dedicated lines are dedicated connections" earned nothing - say what it is used for.
Cell phone network: the area is divided into cells, each with a mast (base station); phones connect by radio waves to the nearest mast, which connects to the network; the mobile operator acts as the ISP (4G/5G).
Satellites (textbook): GEO ~35 800 km for long-distance communications; MEO for GPS; LEO for mobile/low-latency internet. Ground stations (dish photo) send and receive the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comparison. PSTN calls use circuit switching: a dedicated circuit is set up and kept open for the whole call, even during silences. Internet calls (VoIP - Voice over Internet Protocol) digitise and compress the voice, split it into packets and send them by packet switching; the connection only carries data while someone is talking, so a 10-minute call may only send ~3 minutes of data. Packet switching vs circuit switching is covered fully in Chapter 14 (A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IP address identifies a device on a network so packets can be routed to it. IPv4: 32 bits, written as four denary numbers 0-255 separated by full stops (each is one byte). About 4.3 billion addresses - not enough, so IPv6 was introduced. IPv6: 128 bits, written as eight groups of four hexadecimal digits (16 bits each) separated by colons. Leading zeros in a group can be dropped, and ONE run of all-zero groups can be replaced by :: (zero compression) - only once, or the address is ambiguous.
Benefits of IPv6 (textbook): far more addresses, no need for NAT, no private-address collisions, built-in authentication, more efficient routing.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valid IPv4. 2 invalid - 256 is more than 255. 3 invalid - IPv4 has 4 groups, this has 5. 4 valid IPv6 (8 groups of 4 hex digits). 5 valid IPv6 using zero compression once. 6 invalid - :: used twice, ambiguous. 7 invalid - G is not a hexadecimal digit. 8 invalid - 9 groups in IPv6.
Worksheet Task 3 has a real exam version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IP address has two parts: the network ID (which network) and the host ID (which device on it). Routers on the internet route by the network ID first; the destination network then delivers to the host. A CIDR suffix such as /24 says how many bits are the network ID.
Subnetting divides one network into smaller sub-networks by borrowing host bits as a subnet ID. Benefits: less broadcast traffic in each subnet, better security (departments separated), easier management, more efficient use of addresses.
Worked example: 77 = 01001101, mask 192 = 11000000; AND gives 01000000 = 64, so 192.168.10.77 is in the subnet 192.168.10.64 (hosts .65 to .126). Note: the textbook's university example (192.200.20...) has typos (e.g. "192.200.20.03"); use this example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Private IP: assigned by the router to devices inside a LAN; only unique within that LAN; cannot be reached directly from the internet; reserved ranges (10.x.x.x, 172.16-31.x.x, 192.168.x.x). Public IP: assigned by the ISP; unique on the internet; visible to the internet. The router has one of each (9618/13 Oct/Nov 2024 Q9(d)(i): public so the router is visible to the internet / WAN; private so it is identified by computers within the LAN). NAT lets all devices share the router's public IP.
Static: does not change; set manually or permanently allocated by the ISP; used for servers (web, email, DNS) so they can always be found. Dynamic: allocated (by DHCP) each time a device connects and can change; cheaper; ISP reuses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URL is the text address of a resource on the WWW. Format: protocol://domain name/path/file name. The domain name is made of the host (www), the organisation name and the domain type (.com, .org, .gov, .ac) and sometimes a country code (.uk, .th).
Textbook slip: it says URLs "are represented by a set of four numbers, such as 109.108.158.1" - that is an IP address, not a URL. A URL is turned INTO an IP address by DNS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DNS (domain name service / system) is a system of servers that store databases of domain names and their matching IP addresses, so users can type easy-to-remember names. Textbook Figure 2.25. If DNS server 1 does not have the name in its database or cache it asks another DNS server; the answer is cached for next time.
Exam answers should mention: the URL / domain name is sent to a DNS server; the DNS server looks up (searches) its database for the matching IP address; if not found it is passed to another (higher-level) DNS server; the IP address is returned to the browser; the browser sends the request to that IP address; the web server returns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AFTER students attempt worksheet Task 2. Official marking points for 9618/13 Oct/Nov 2024 Q9(c) [4] and 9618/11 May/June 2024 Q2(e)(ii) [2]. The same answer structure scored in 9618/11 May/June 2025 Q2(a) [4]. Examiner reports: describe WHY a buffer is needed, not just how it works (Nov 2022); for compression questions say why lossy is chosen (less data, less bandwidth, less buffering), not how it works (Nov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AFTER worksheet Task 4. Official answers: 9618/12 Oct/Nov 2023 Q7(d) [4] and 9618/11 May/June 2023 Q4(d)(i) [5] (4; 8; 8; 16; double colon). Examiner reports: "there are eight groups of digits in IPv6 not six" (Nov 2023); a single colon instead of a double colon was a common wrong answer (June 2023); "an IP address that randomly changes" is not enough for dynamic (Nov 2023); and say network ID / host ID, not "network IP / host IP" (June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students should finish Tasks 1-5 in a double lesson; Task 6 is extension or homework. Real past-paper questions are cited under each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Principal Examiner reports for 9618 Paper 1 and the textbook. Ask students which ones they believed at the start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answers:
(a) Real-time: a live event streamed as it happens - cannot be paused / rewound (1). On-demand: stored files streamed when the user requests them - can be paused / rewound (1).
(b) The browser sends the domain name to a DNS server (1); the DNS server looks up / finds the matching IP address and returns it to the browser (1).
(c) Any valid IPv6 with :: used once, e.g. 2001:DB8::1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lesson: edit to match your scheme - e.g. 3.1 Computers and their components, or a past-paper practice lesson on all of 2.1/2.2.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image" Target="../media/image-3-5.jpg"/><Relationship Id="rId6" Type="http://schemas.openxmlformats.org/officeDocument/2006/relationships/image" Target="../media/image-3-6.jp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image" Target="../media/image-14-3.jp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900416" y="0"/>
            <a:ext cx="4288536" cy="6858000"/>
          </a:xfrm>
          <a:prstGeom prst="rect">
            <a:avLst/>
          </a:prstGeom>
          <a:solidFill>
            <a:srgbClr val="FFD84D"/>
          </a:solidFill>
          <a:ln w="12700">
            <a:solidFill>
              <a:srgbClr val="FFD84D"/>
            </a:solidFill>
            <a:prstDash val="solid"/>
          </a:ln>
        </p:spPr>
      </p:sp>
      <p:sp>
        <p:nvSpPr>
          <p:cNvPr id="3" name="Text 1"/>
          <p:cNvSpPr txBox="1"/>
          <p:nvPr/>
        </p:nvSpPr>
        <p:spPr>
          <a:xfrm>
            <a:off x="667512" y="2560320"/>
            <a:ext cx="7004304" cy="914400"/>
          </a:xfrm>
          <a:prstGeom prst="rect">
            <a:avLst/>
          </a:prstGeom>
          <a:noFill/>
          <a:ln/>
        </p:spPr>
        <p:txBody>
          <a:bodyPr wrap="square" lIns="0" tIns="0" rIns="0" bIns="0" rtlCol="0" anchor="b"/>
          <a:lstStyle/>
          <a:p>
            <a:pPr indent="0" marL="0">
              <a:buNone/>
            </a:pPr>
            <a:r>
              <a:rPr lang="en-US" sz="5400" b="1" dirty="0">
                <a:solidFill>
                  <a:srgbClr val="202124"/>
                </a:solidFill>
                <a:latin typeface="Quicksand" pitchFamily="34" charset="0"/>
                <a:ea typeface="Quicksand" pitchFamily="34" charset="-122"/>
                <a:cs typeface="Quicksand" pitchFamily="34" charset="-120"/>
              </a:rPr>
              <a:t>The internet</a:t>
            </a:r>
            <a:endParaRPr lang="en-US" sz="5400" dirty="0"/>
          </a:p>
        </p:txBody>
      </p:sp>
      <p:sp>
        <p:nvSpPr>
          <p:cNvPr id="4" name="Text 2"/>
          <p:cNvSpPr txBox="1"/>
          <p:nvPr/>
        </p:nvSpPr>
        <p:spPr>
          <a:xfrm>
            <a:off x="667512" y="3547872"/>
            <a:ext cx="7004304" cy="411480"/>
          </a:xfrm>
          <a:prstGeom prst="rect">
            <a:avLst/>
          </a:prstGeom>
          <a:noFill/>
          <a:ln/>
        </p:spPr>
        <p:txBody>
          <a:bodyPr wrap="square" lIns="0" tIns="0" rIns="0" bIns="0" rtlCol="0" anchor="ctr"/>
          <a:lstStyle/>
          <a:p>
            <a:pPr indent="0" marL="0">
              <a:buNone/>
            </a:pPr>
            <a:r>
              <a:rPr lang="en-US" sz="2000" dirty="0">
                <a:solidFill>
                  <a:srgbClr val="666666"/>
                </a:solidFill>
                <a:latin typeface="Quicksand" pitchFamily="34" charset="0"/>
                <a:ea typeface="Quicksand" pitchFamily="34" charset="-122"/>
                <a:cs typeface="Quicksand" pitchFamily="34" charset="-120"/>
              </a:rPr>
              <a:t>Y12 - Cambridge International 9618  |  2.2</a:t>
            </a:r>
            <a:endParaRPr lang="en-US" sz="2000" dirty="0"/>
          </a:p>
        </p:txBody>
      </p:sp>
      <p:sp>
        <p:nvSpPr>
          <p:cNvPr id="5" name="Shape 3"/>
          <p:cNvSpPr/>
          <p:nvPr/>
        </p:nvSpPr>
        <p:spPr>
          <a:xfrm>
            <a:off x="667512" y="4050792"/>
            <a:ext cx="1719072" cy="54864"/>
          </a:xfrm>
          <a:prstGeom prst="rect">
            <a:avLst/>
          </a:prstGeom>
          <a:solidFill>
            <a:srgbClr val="494985"/>
          </a:solidFill>
          <a:ln w="12700">
            <a:solidFill>
              <a:srgbClr val="494985"/>
            </a:solidFill>
            <a:prstDash val="solid"/>
          </a:ln>
        </p:spPr>
      </p:sp>
      <p:sp>
        <p:nvSpPr>
          <p:cNvPr id="6" name="Text 4"/>
          <p:cNvSpPr txBox="1"/>
          <p:nvPr/>
        </p:nvSpPr>
        <p:spPr>
          <a:xfrm>
            <a:off x="11247120" y="6400800"/>
            <a:ext cx="548640" cy="274320"/>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a:t>
            </a:r>
            <a:endParaRPr lang="en-US" sz="1350" dirty="0"/>
          </a:p>
        </p:txBody>
      </p:sp>
      <p:sp>
        <p:nvSpPr>
          <p:cNvPr id="8" name="Shape 5"/>
          <p:cNvSpPr/>
          <p:nvPr/>
        </p:nvSpPr>
        <p:spPr>
          <a:xfrm>
            <a:off x="8193024" y="1810512"/>
            <a:ext cx="3685032" cy="2962656"/>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9" name="Image 0" descr="figs/satellite.jpg">    </p:cNvPr>
          <p:cNvPicPr>
            <a:picLocks noChangeAspect="1"/>
          </p:cNvPicPr>
          <p:nvPr/>
        </p:nvPicPr>
        <p:blipFill>
          <a:blip r:embed="rId1"/>
          <a:stretch>
            <a:fillRect/>
          </a:stretch>
        </p:blipFill>
        <p:spPr>
          <a:xfrm>
            <a:off x="8229600" y="1847088"/>
            <a:ext cx="3611880" cy="2889504"/>
          </a:xfrm>
          <a:prstGeom prst="rect">
            <a:avLst/>
          </a:prstGeom>
        </p:spPr>
      </p:pic>
      <p:sp>
        <p:nvSpPr>
          <p:cNvPr id="10" name="Text 6"/>
          <p:cNvSpPr txBox="1"/>
          <p:nvPr/>
        </p:nvSpPr>
        <p:spPr>
          <a:xfrm>
            <a:off x="8046720" y="4800600"/>
            <a:ext cx="3977640" cy="237744"/>
          </a:xfrm>
          <a:prstGeom prst="rect">
            <a:avLst/>
          </a:prstGeom>
          <a:noFill/>
          <a:ln/>
        </p:spPr>
        <p:txBody>
          <a:bodyPr wrap="square" lIns="0" tIns="0" rIns="0" bIns="0" rtlCol="0" anchor="ctr"/>
          <a:lstStyle/>
          <a:p>
            <a:pPr algn="ctr" indent="0" marL="0">
              <a:buNone/>
            </a:pPr>
            <a:r>
              <a:rPr lang="en-US" sz="800" i="1" dirty="0">
                <a:solidFill>
                  <a:srgbClr val="8A8A99"/>
                </a:solidFill>
                <a:latin typeface="Quicksand" pitchFamily="34" charset="0"/>
                <a:ea typeface="Quicksand" pitchFamily="34" charset="-122"/>
                <a:cs typeface="Quicksand" pitchFamily="34" charset="-120"/>
              </a:rPr>
              <a:t>Photo: NASA, Public domain, Wikimedia Commons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Recall test: network hardware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Starter activity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a:t>
            </a:r>
            <a:endParaRPr lang="en-US" sz="13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96112" y="1325880"/>
          <a:ext cx="7315200" cy="914400"/>
        </p:xfrm>
        <a:graphic>
          <a:graphicData uri="http://schemas.openxmlformats.org/drawingml/2006/table">
            <a:tbl>
              <a:tblPr/>
              <a:tblGrid>
                <a:gridCol w="6309360"/>
                <a:gridCol w="1005840"/>
              </a:tblGrid>
              <a:tr h="502920">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Worksheet Task 1 covers...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Marks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Q1  Match six devices to their purpose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6</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Q2  MAC address or IP address?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3</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Q3  Describe the role of a switch (9618/12 June 2025)</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3</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8" name="Shape 4"/>
          <p:cNvSpPr/>
          <p:nvPr/>
        </p:nvSpPr>
        <p:spPr>
          <a:xfrm>
            <a:off x="8924544" y="1289304"/>
            <a:ext cx="2359152" cy="235915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9" name="Image 0" descr="figs/router.jpg">    </p:cNvPr>
          <p:cNvPicPr>
            <a:picLocks noChangeAspect="1"/>
          </p:cNvPicPr>
          <p:nvPr/>
        </p:nvPicPr>
        <p:blipFill>
          <a:blip r:embed="rId1"/>
          <a:stretch>
            <a:fillRect/>
          </a:stretch>
        </p:blipFill>
        <p:spPr>
          <a:xfrm>
            <a:off x="8961120" y="1325880"/>
            <a:ext cx="2286000" cy="2286000"/>
          </a:xfrm>
          <a:prstGeom prst="rect">
            <a:avLst/>
          </a:prstGeom>
        </p:spPr>
      </p:pic>
      <p:sp>
        <p:nvSpPr>
          <p:cNvPr id="10" name="Text 5"/>
          <p:cNvSpPr txBox="1"/>
          <p:nvPr/>
        </p:nvSpPr>
        <p:spPr>
          <a:xfrm>
            <a:off x="8549640" y="3675888"/>
            <a:ext cx="3108960" cy="237744"/>
          </a:xfrm>
          <a:prstGeom prst="rect">
            <a:avLst/>
          </a:prstGeom>
          <a:noFill/>
          <a:ln/>
        </p:spPr>
        <p:txBody>
          <a:bodyPr wrap="square" lIns="0" tIns="0" rIns="0" bIns="0" rtlCol="0" anchor="ctr"/>
          <a:lstStyle/>
          <a:p>
            <a:pPr algn="ctr" indent="0" marL="0">
              <a:buNone/>
            </a:pPr>
            <a:r>
              <a:rPr lang="en-US" sz="800" i="1" dirty="0">
                <a:solidFill>
                  <a:srgbClr val="8A8A99"/>
                </a:solidFill>
                <a:latin typeface="Quicksand" pitchFamily="34" charset="0"/>
                <a:ea typeface="Quicksand" pitchFamily="34" charset="-122"/>
                <a:cs typeface="Quicksand" pitchFamily="34" charset="-120"/>
              </a:rPr>
              <a:t>Photo: Hayden Schiff, CC BY 4.0, Wikimedia Commons</a:t>
            </a:r>
            <a:endParaRPr lang="en-US" sz="800" dirty="0"/>
          </a:p>
        </p:txBody>
      </p:sp>
      <p:sp>
        <p:nvSpPr>
          <p:cNvPr id="11" name="Shape 6"/>
          <p:cNvSpPr/>
          <p:nvPr/>
        </p:nvSpPr>
        <p:spPr>
          <a:xfrm>
            <a:off x="896112" y="3931920"/>
            <a:ext cx="7315200" cy="960120"/>
          </a:xfrm>
          <a:prstGeom prst="rect">
            <a:avLst/>
          </a:prstGeom>
          <a:solidFill>
            <a:srgbClr val="F6F5FC"/>
          </a:solidFill>
          <a:ln w="12700">
            <a:solidFill>
              <a:srgbClr val="F6F5FC"/>
            </a:solidFill>
            <a:prstDash val="solid"/>
          </a:ln>
        </p:spPr>
      </p:sp>
      <p:sp>
        <p:nvSpPr>
          <p:cNvPr id="12" name="Text 7"/>
          <p:cNvSpPr/>
          <p:nvPr/>
        </p:nvSpPr>
        <p:spPr>
          <a:xfrm>
            <a:off x="1033272" y="40690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3" name="Text 8"/>
          <p:cNvSpPr txBox="1"/>
          <p:nvPr/>
        </p:nvSpPr>
        <p:spPr>
          <a:xfrm>
            <a:off x="1554480" y="4041648"/>
            <a:ext cx="65379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Closed book - 8 minutes</a:t>
            </a:r>
            <a:endParaRPr lang="en-US" sz="1500" dirty="0"/>
          </a:p>
        </p:txBody>
      </p:sp>
      <p:sp>
        <p:nvSpPr>
          <p:cNvPr id="14" name="Text 9"/>
          <p:cNvSpPr txBox="1"/>
          <p:nvPr/>
        </p:nvSpPr>
        <p:spPr>
          <a:xfrm>
            <a:off x="1554480" y="4434840"/>
            <a:ext cx="6537960" cy="39319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No notes, no slides. Then swap and mark with a different colour pen.</a:t>
            </a:r>
            <a:endParaRPr lang="en-US" sz="1250" dirty="0"/>
          </a:p>
        </p:txBody>
      </p:sp>
      <p:sp>
        <p:nvSpPr>
          <p:cNvPr id="15" name="Shape 10"/>
          <p:cNvSpPr/>
          <p:nvPr/>
        </p:nvSpPr>
        <p:spPr>
          <a:xfrm>
            <a:off x="896112" y="5029200"/>
            <a:ext cx="7315200" cy="960120"/>
          </a:xfrm>
          <a:prstGeom prst="rect">
            <a:avLst/>
          </a:prstGeom>
          <a:solidFill>
            <a:srgbClr val="F6F5FC"/>
          </a:solidFill>
          <a:ln w="12700">
            <a:solidFill>
              <a:srgbClr val="F6F5FC"/>
            </a:solidFill>
            <a:prstDash val="solid"/>
          </a:ln>
        </p:spPr>
      </p:sp>
      <p:sp>
        <p:nvSpPr>
          <p:cNvPr id="16" name="Text 11"/>
          <p:cNvSpPr/>
          <p:nvPr/>
        </p:nvSpPr>
        <p:spPr>
          <a:xfrm>
            <a:off x="1033272" y="51663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7" name="Text 12"/>
          <p:cNvSpPr txBox="1"/>
          <p:nvPr/>
        </p:nvSpPr>
        <p:spPr>
          <a:xfrm>
            <a:off x="1554480" y="5138928"/>
            <a:ext cx="65379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Why?</a:t>
            </a:r>
            <a:endParaRPr lang="en-US" sz="1500" dirty="0"/>
          </a:p>
        </p:txBody>
      </p:sp>
      <p:sp>
        <p:nvSpPr>
          <p:cNvPr id="18" name="Text 13"/>
          <p:cNvSpPr txBox="1"/>
          <p:nvPr/>
        </p:nvSpPr>
        <p:spPr>
          <a:xfrm>
            <a:off x="1554480" y="5532120"/>
            <a:ext cx="6537960" cy="39319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Today you follow data out of the school LAN and across the internet - every device from last lesson appears on the way.</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Recap: network hardware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Recap</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3</a:t>
            </a:r>
            <a:endParaRPr lang="en-US" sz="1350" dirty="0"/>
          </a:p>
        </p:txBody>
      </p:sp>
      <p:sp>
        <p:nvSpPr>
          <p:cNvPr id="7" name="Shape 4"/>
          <p:cNvSpPr/>
          <p:nvPr/>
        </p:nvSpPr>
        <p:spPr>
          <a:xfrm>
            <a:off x="694944" y="1261122"/>
            <a:ext cx="1536192" cy="1363956"/>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nic.jpg">    </p:cNvPr>
          <p:cNvPicPr>
            <a:picLocks noChangeAspect="1"/>
          </p:cNvPicPr>
          <p:nvPr/>
        </p:nvPicPr>
        <p:blipFill>
          <a:blip r:embed="rId1"/>
          <a:stretch>
            <a:fillRect/>
          </a:stretch>
        </p:blipFill>
        <p:spPr>
          <a:xfrm>
            <a:off x="731520" y="1297698"/>
            <a:ext cx="1463040" cy="1290804"/>
          </a:xfrm>
          <a:prstGeom prst="rect">
            <a:avLst/>
          </a:prstGeom>
        </p:spPr>
      </p:pic>
      <p:sp>
        <p:nvSpPr>
          <p:cNvPr id="9" name="Text 5"/>
          <p:cNvSpPr txBox="1"/>
          <p:nvPr/>
        </p:nvSpPr>
        <p:spPr>
          <a:xfrm>
            <a:off x="548640" y="2652510"/>
            <a:ext cx="1828800" cy="237744"/>
          </a:xfrm>
          <a:prstGeom prst="rect">
            <a:avLst/>
          </a:prstGeom>
          <a:noFill/>
          <a:ln/>
        </p:spPr>
        <p:txBody>
          <a:bodyPr wrap="square" lIns="0" tIns="0" rIns="0" bIns="0" rtlCol="0" anchor="ctr"/>
          <a:lstStyle/>
          <a:p>
            <a:pPr algn="ctr" indent="0" marL="0">
              <a:buNone/>
            </a:pPr>
            <a:r>
              <a:rPr lang="en-US" sz="800" i="1" dirty="0">
                <a:solidFill>
                  <a:srgbClr val="8A8A99"/>
                </a:solidFill>
                <a:latin typeface="Quicksand" pitchFamily="34" charset="0"/>
                <a:ea typeface="Quicksand" pitchFamily="34" charset="-122"/>
                <a:cs typeface="Quicksand" pitchFamily="34" charset="-120"/>
              </a:rPr>
              <a:t>Photo: ktims, Public domain, Wikimedia Commons</a:t>
            </a:r>
            <a:endParaRPr lang="en-US" sz="800" dirty="0"/>
          </a:p>
        </p:txBody>
      </p:sp>
      <p:sp>
        <p:nvSpPr>
          <p:cNvPr id="10" name="Text 6"/>
          <p:cNvSpPr/>
          <p:nvPr/>
        </p:nvSpPr>
        <p:spPr>
          <a:xfrm>
            <a:off x="2377440" y="1280160"/>
            <a:ext cx="1828800" cy="365760"/>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NIC / WNIC</a:t>
            </a:r>
            <a:endParaRPr lang="en-US" sz="1500" dirty="0"/>
          </a:p>
        </p:txBody>
      </p:sp>
      <p:sp>
        <p:nvSpPr>
          <p:cNvPr id="11" name="Text 7"/>
          <p:cNvSpPr txBox="1"/>
          <p:nvPr/>
        </p:nvSpPr>
        <p:spPr>
          <a:xfrm>
            <a:off x="2377440" y="1691640"/>
            <a:ext cx="1828800" cy="1097280"/>
          </a:xfrm>
          <a:prstGeom prst="rect">
            <a:avLst/>
          </a:prstGeom>
          <a:noFill/>
          <a:ln/>
        </p:spPr>
        <p:txBody>
          <a:bodyPr wrap="square" lIns="0" tIns="0" rIns="0" bIns="0" rtlCol="0" anchor="t"/>
          <a:lstStyle/>
          <a:p>
            <a:pPr indent="0" marL="0">
              <a:spcAft>
                <a:spcPts val="600"/>
              </a:spcAft>
              <a:buNone/>
            </a:pPr>
            <a:r>
              <a:rPr lang="en-US" sz="1250" dirty="0">
                <a:solidFill>
                  <a:srgbClr val="202124"/>
                </a:solidFill>
                <a:latin typeface="Quicksand" pitchFamily="34" charset="0"/>
                <a:ea typeface="Quicksand" pitchFamily="34" charset="-122"/>
                <a:cs typeface="Quicksand" pitchFamily="34" charset="-120"/>
              </a:rPr>
              <a:t>Connects a device to a (wireless) network; holds its MAC address</a:t>
            </a:r>
            <a:endParaRPr lang="en-US" sz="1250" dirty="0"/>
          </a:p>
        </p:txBody>
      </p:sp>
      <p:sp>
        <p:nvSpPr>
          <p:cNvPr id="12" name="Shape 8"/>
          <p:cNvSpPr/>
          <p:nvPr/>
        </p:nvSpPr>
        <p:spPr>
          <a:xfrm>
            <a:off x="4352544" y="1296924"/>
            <a:ext cx="1536192" cy="129235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13" name="Image 1" descr="figs/switch.jpg">    </p:cNvPr>
          <p:cNvPicPr>
            <a:picLocks noChangeAspect="1"/>
          </p:cNvPicPr>
          <p:nvPr/>
        </p:nvPicPr>
        <p:blipFill>
          <a:blip r:embed="rId2"/>
          <a:stretch>
            <a:fillRect/>
          </a:stretch>
        </p:blipFill>
        <p:spPr>
          <a:xfrm>
            <a:off x="4389120" y="1333500"/>
            <a:ext cx="1463040" cy="1219200"/>
          </a:xfrm>
          <a:prstGeom prst="rect">
            <a:avLst/>
          </a:prstGeom>
        </p:spPr>
      </p:pic>
      <p:sp>
        <p:nvSpPr>
          <p:cNvPr id="14" name="Text 9"/>
          <p:cNvSpPr txBox="1"/>
          <p:nvPr/>
        </p:nvSpPr>
        <p:spPr>
          <a:xfrm>
            <a:off x="4206240" y="2616708"/>
            <a:ext cx="1828800" cy="237744"/>
          </a:xfrm>
          <a:prstGeom prst="rect">
            <a:avLst/>
          </a:prstGeom>
          <a:noFill/>
          <a:ln/>
        </p:spPr>
        <p:txBody>
          <a:bodyPr wrap="square" lIns="0" tIns="0" rIns="0" bIns="0" rtlCol="0" anchor="ctr"/>
          <a:lstStyle/>
          <a:p>
            <a:pPr algn="ctr" indent="0" marL="0">
              <a:buNone/>
            </a:pPr>
            <a:r>
              <a:rPr lang="en-US" sz="800" i="1" dirty="0">
                <a:solidFill>
                  <a:srgbClr val="8A8A99"/>
                </a:solidFill>
                <a:latin typeface="Quicksand" pitchFamily="34" charset="0"/>
                <a:ea typeface="Quicksand" pitchFamily="34" charset="-122"/>
                <a:cs typeface="Quicksand" pitchFamily="34" charset="-120"/>
              </a:rPr>
              <a:t>Photo: Simon A. Eugster, CC BY-SA 3.0, Wikimedia Commons</a:t>
            </a:r>
            <a:endParaRPr lang="en-US" sz="800" dirty="0"/>
          </a:p>
        </p:txBody>
      </p:sp>
      <p:sp>
        <p:nvSpPr>
          <p:cNvPr id="15" name="Text 10"/>
          <p:cNvSpPr/>
          <p:nvPr/>
        </p:nvSpPr>
        <p:spPr>
          <a:xfrm>
            <a:off x="6035040" y="1280160"/>
            <a:ext cx="1828800" cy="365760"/>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Switch</a:t>
            </a:r>
            <a:endParaRPr lang="en-US" sz="1500" dirty="0"/>
          </a:p>
        </p:txBody>
      </p:sp>
      <p:sp>
        <p:nvSpPr>
          <p:cNvPr id="16" name="Text 11"/>
          <p:cNvSpPr txBox="1"/>
          <p:nvPr/>
        </p:nvSpPr>
        <p:spPr>
          <a:xfrm>
            <a:off x="6035040" y="1691640"/>
            <a:ext cx="1828800" cy="1097280"/>
          </a:xfrm>
          <a:prstGeom prst="rect">
            <a:avLst/>
          </a:prstGeom>
          <a:noFill/>
          <a:ln/>
        </p:spPr>
        <p:txBody>
          <a:bodyPr wrap="square" lIns="0" tIns="0" rIns="0" bIns="0" rtlCol="0" anchor="t"/>
          <a:lstStyle/>
          <a:p>
            <a:pPr indent="0" marL="0">
              <a:spcAft>
                <a:spcPts val="600"/>
              </a:spcAft>
              <a:buNone/>
            </a:pPr>
            <a:r>
              <a:rPr lang="en-US" sz="1250" dirty="0">
                <a:solidFill>
                  <a:srgbClr val="202124"/>
                </a:solidFill>
                <a:latin typeface="Quicksand" pitchFamily="34" charset="0"/>
                <a:ea typeface="Quicksand" pitchFamily="34" charset="-122"/>
                <a:cs typeface="Quicksand" pitchFamily="34" charset="-120"/>
              </a:rPr>
              <a:t>Forwards data only to the intended device, using MAC addresses</a:t>
            </a:r>
            <a:endParaRPr lang="en-US" sz="1250" dirty="0"/>
          </a:p>
        </p:txBody>
      </p:sp>
      <p:sp>
        <p:nvSpPr>
          <p:cNvPr id="17" name="Shape 12"/>
          <p:cNvSpPr/>
          <p:nvPr/>
        </p:nvSpPr>
        <p:spPr>
          <a:xfrm>
            <a:off x="8010144" y="1402588"/>
            <a:ext cx="1536192" cy="1081024"/>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18" name="Image 2" descr="figs/wap.jpg">    </p:cNvPr>
          <p:cNvPicPr>
            <a:picLocks noChangeAspect="1"/>
          </p:cNvPicPr>
          <p:nvPr/>
        </p:nvPicPr>
        <p:blipFill>
          <a:blip r:embed="rId3"/>
          <a:stretch>
            <a:fillRect/>
          </a:stretch>
        </p:blipFill>
        <p:spPr>
          <a:xfrm>
            <a:off x="8046720" y="1439164"/>
            <a:ext cx="1463040" cy="1007872"/>
          </a:xfrm>
          <a:prstGeom prst="rect">
            <a:avLst/>
          </a:prstGeom>
        </p:spPr>
      </p:pic>
      <p:sp>
        <p:nvSpPr>
          <p:cNvPr id="19" name="Text 13"/>
          <p:cNvSpPr txBox="1"/>
          <p:nvPr/>
        </p:nvSpPr>
        <p:spPr>
          <a:xfrm>
            <a:off x="7863840" y="2511044"/>
            <a:ext cx="1828800" cy="237744"/>
          </a:xfrm>
          <a:prstGeom prst="rect">
            <a:avLst/>
          </a:prstGeom>
          <a:noFill/>
          <a:ln/>
        </p:spPr>
        <p:txBody>
          <a:bodyPr wrap="square" lIns="0" tIns="0" rIns="0" bIns="0" rtlCol="0" anchor="ctr"/>
          <a:lstStyle/>
          <a:p>
            <a:pPr algn="ctr" indent="0" marL="0">
              <a:buNone/>
            </a:pPr>
            <a:r>
              <a:rPr lang="en-US" sz="800" i="1" dirty="0">
                <a:solidFill>
                  <a:srgbClr val="8A8A99"/>
                </a:solidFill>
                <a:latin typeface="Quicksand" pitchFamily="34" charset="0"/>
                <a:ea typeface="Quicksand" pitchFamily="34" charset="-122"/>
                <a:cs typeface="Quicksand" pitchFamily="34" charset="-120"/>
              </a:rPr>
              <a:t>Photo: Sabbo91, CC BY-SA 4.0, Wikimedia Commons</a:t>
            </a:r>
            <a:endParaRPr lang="en-US" sz="800" dirty="0"/>
          </a:p>
        </p:txBody>
      </p:sp>
      <p:sp>
        <p:nvSpPr>
          <p:cNvPr id="20" name="Text 14"/>
          <p:cNvSpPr/>
          <p:nvPr/>
        </p:nvSpPr>
        <p:spPr>
          <a:xfrm>
            <a:off x="9692640" y="1280160"/>
            <a:ext cx="1828800" cy="365760"/>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WAP</a:t>
            </a:r>
            <a:endParaRPr lang="en-US" sz="1500" dirty="0"/>
          </a:p>
        </p:txBody>
      </p:sp>
      <p:sp>
        <p:nvSpPr>
          <p:cNvPr id="21" name="Text 15"/>
          <p:cNvSpPr txBox="1"/>
          <p:nvPr/>
        </p:nvSpPr>
        <p:spPr>
          <a:xfrm>
            <a:off x="9692640" y="1691640"/>
            <a:ext cx="1828800" cy="1097280"/>
          </a:xfrm>
          <a:prstGeom prst="rect">
            <a:avLst/>
          </a:prstGeom>
          <a:noFill/>
          <a:ln/>
        </p:spPr>
        <p:txBody>
          <a:bodyPr wrap="square" lIns="0" tIns="0" rIns="0" bIns="0" rtlCol="0" anchor="t"/>
          <a:lstStyle/>
          <a:p>
            <a:pPr indent="0" marL="0">
              <a:spcAft>
                <a:spcPts val="600"/>
              </a:spcAft>
              <a:buNone/>
            </a:pPr>
            <a:r>
              <a:rPr lang="en-US" sz="1250" dirty="0">
                <a:solidFill>
                  <a:srgbClr val="202124"/>
                </a:solidFill>
                <a:latin typeface="Quicksand" pitchFamily="34" charset="0"/>
                <a:ea typeface="Quicksand" pitchFamily="34" charset="-122"/>
                <a:cs typeface="Quicksand" pitchFamily="34" charset="-120"/>
              </a:rPr>
              <a:t>Connects wireless devices to the wired LAN using radio waves</a:t>
            </a:r>
            <a:endParaRPr lang="en-US" sz="1250" dirty="0"/>
          </a:p>
        </p:txBody>
      </p:sp>
      <p:sp>
        <p:nvSpPr>
          <p:cNvPr id="22" name="Shape 16"/>
          <p:cNvSpPr/>
          <p:nvPr/>
        </p:nvSpPr>
        <p:spPr>
          <a:xfrm>
            <a:off x="717804" y="3666744"/>
            <a:ext cx="1490472" cy="149047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23" name="Image 3" descr="figs/router.jpg">    </p:cNvPr>
          <p:cNvPicPr>
            <a:picLocks noChangeAspect="1"/>
          </p:cNvPicPr>
          <p:nvPr/>
        </p:nvPicPr>
        <p:blipFill>
          <a:blip r:embed="rId4"/>
          <a:stretch>
            <a:fillRect/>
          </a:stretch>
        </p:blipFill>
        <p:spPr>
          <a:xfrm>
            <a:off x="754380" y="3703320"/>
            <a:ext cx="1417320" cy="1417320"/>
          </a:xfrm>
          <a:prstGeom prst="rect">
            <a:avLst/>
          </a:prstGeom>
        </p:spPr>
      </p:pic>
      <p:sp>
        <p:nvSpPr>
          <p:cNvPr id="24" name="Text 17"/>
          <p:cNvSpPr txBox="1"/>
          <p:nvPr/>
        </p:nvSpPr>
        <p:spPr>
          <a:xfrm>
            <a:off x="548640" y="5184648"/>
            <a:ext cx="1828800" cy="237744"/>
          </a:xfrm>
          <a:prstGeom prst="rect">
            <a:avLst/>
          </a:prstGeom>
          <a:noFill/>
          <a:ln/>
        </p:spPr>
        <p:txBody>
          <a:bodyPr wrap="square" lIns="0" tIns="0" rIns="0" bIns="0" rtlCol="0" anchor="ctr"/>
          <a:lstStyle/>
          <a:p>
            <a:pPr algn="ctr" indent="0" marL="0">
              <a:buNone/>
            </a:pPr>
            <a:r>
              <a:rPr lang="en-US" sz="800" i="1" dirty="0">
                <a:solidFill>
                  <a:srgbClr val="8A8A99"/>
                </a:solidFill>
                <a:latin typeface="Quicksand" pitchFamily="34" charset="0"/>
                <a:ea typeface="Quicksand" pitchFamily="34" charset="-122"/>
                <a:cs typeface="Quicksand" pitchFamily="34" charset="-120"/>
              </a:rPr>
              <a:t>Photo: Hayden Schiff, CC BY 4.0, Wikimedia Commons</a:t>
            </a:r>
            <a:endParaRPr lang="en-US" sz="800" dirty="0"/>
          </a:p>
        </p:txBody>
      </p:sp>
      <p:sp>
        <p:nvSpPr>
          <p:cNvPr id="25" name="Text 18"/>
          <p:cNvSpPr/>
          <p:nvPr/>
        </p:nvSpPr>
        <p:spPr>
          <a:xfrm>
            <a:off x="2377440" y="3749040"/>
            <a:ext cx="1828800" cy="365760"/>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Router</a:t>
            </a:r>
            <a:endParaRPr lang="en-US" sz="1500" dirty="0"/>
          </a:p>
        </p:txBody>
      </p:sp>
      <p:sp>
        <p:nvSpPr>
          <p:cNvPr id="26" name="Text 19"/>
          <p:cNvSpPr txBox="1"/>
          <p:nvPr/>
        </p:nvSpPr>
        <p:spPr>
          <a:xfrm>
            <a:off x="2377440" y="4160520"/>
            <a:ext cx="1828800" cy="1097280"/>
          </a:xfrm>
          <a:prstGeom prst="rect">
            <a:avLst/>
          </a:prstGeom>
          <a:noFill/>
          <a:ln/>
        </p:spPr>
        <p:txBody>
          <a:bodyPr wrap="square" lIns="0" tIns="0" rIns="0" bIns="0" rtlCol="0" anchor="t"/>
          <a:lstStyle/>
          <a:p>
            <a:pPr indent="0" marL="0">
              <a:spcAft>
                <a:spcPts val="600"/>
              </a:spcAft>
              <a:buNone/>
            </a:pPr>
            <a:r>
              <a:rPr lang="en-US" sz="1250" dirty="0">
                <a:solidFill>
                  <a:srgbClr val="202124"/>
                </a:solidFill>
                <a:latin typeface="Quicksand" pitchFamily="34" charset="0"/>
                <a:ea typeface="Quicksand" pitchFamily="34" charset="-122"/>
                <a:cs typeface="Quicksand" pitchFamily="34" charset="-120"/>
              </a:rPr>
              <a:t>Forwards packets between networks using IP addresses and a routing table</a:t>
            </a:r>
            <a:endParaRPr lang="en-US" sz="1250" dirty="0"/>
          </a:p>
        </p:txBody>
      </p:sp>
      <p:sp>
        <p:nvSpPr>
          <p:cNvPr id="27" name="Shape 20"/>
          <p:cNvSpPr/>
          <p:nvPr/>
        </p:nvSpPr>
        <p:spPr>
          <a:xfrm>
            <a:off x="4352544" y="3826764"/>
            <a:ext cx="1536192" cy="117043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28" name="Image 4" descr="figs/repeater.jpg">    </p:cNvPr>
          <p:cNvPicPr>
            <a:picLocks noChangeAspect="1"/>
          </p:cNvPicPr>
          <p:nvPr/>
        </p:nvPicPr>
        <p:blipFill>
          <a:blip r:embed="rId5"/>
          <a:stretch>
            <a:fillRect/>
          </a:stretch>
        </p:blipFill>
        <p:spPr>
          <a:xfrm>
            <a:off x="4389120" y="3863340"/>
            <a:ext cx="1463040" cy="1097280"/>
          </a:xfrm>
          <a:prstGeom prst="rect">
            <a:avLst/>
          </a:prstGeom>
        </p:spPr>
      </p:pic>
      <p:sp>
        <p:nvSpPr>
          <p:cNvPr id="29" name="Text 21"/>
          <p:cNvSpPr txBox="1"/>
          <p:nvPr/>
        </p:nvSpPr>
        <p:spPr>
          <a:xfrm>
            <a:off x="4206240" y="5024628"/>
            <a:ext cx="1828800" cy="237744"/>
          </a:xfrm>
          <a:prstGeom prst="rect">
            <a:avLst/>
          </a:prstGeom>
          <a:noFill/>
          <a:ln/>
        </p:spPr>
        <p:txBody>
          <a:bodyPr wrap="square" lIns="0" tIns="0" rIns="0" bIns="0" rtlCol="0" anchor="ctr"/>
          <a:lstStyle/>
          <a:p>
            <a:pPr algn="ctr" indent="0" marL="0">
              <a:buNone/>
            </a:pPr>
            <a:r>
              <a:rPr lang="en-US" sz="800" i="1" dirty="0">
                <a:solidFill>
                  <a:srgbClr val="8A8A99"/>
                </a:solidFill>
                <a:latin typeface="Quicksand" pitchFamily="34" charset="0"/>
                <a:ea typeface="Quicksand" pitchFamily="34" charset="-122"/>
                <a:cs typeface="Quicksand" pitchFamily="34" charset="-120"/>
              </a:rPr>
              <a:t>Photo: Blingooo, CC BY-SA 4.0, Wikimedia Commons</a:t>
            </a:r>
            <a:endParaRPr lang="en-US" sz="800" dirty="0"/>
          </a:p>
        </p:txBody>
      </p:sp>
      <p:sp>
        <p:nvSpPr>
          <p:cNvPr id="30" name="Text 22"/>
          <p:cNvSpPr/>
          <p:nvPr/>
        </p:nvSpPr>
        <p:spPr>
          <a:xfrm>
            <a:off x="6035040" y="3749040"/>
            <a:ext cx="1828800" cy="365760"/>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Repeater</a:t>
            </a:r>
            <a:endParaRPr lang="en-US" sz="1500" dirty="0"/>
          </a:p>
        </p:txBody>
      </p:sp>
      <p:sp>
        <p:nvSpPr>
          <p:cNvPr id="31" name="Text 23"/>
          <p:cNvSpPr txBox="1"/>
          <p:nvPr/>
        </p:nvSpPr>
        <p:spPr>
          <a:xfrm>
            <a:off x="6035040" y="4160520"/>
            <a:ext cx="1828800" cy="1097280"/>
          </a:xfrm>
          <a:prstGeom prst="rect">
            <a:avLst/>
          </a:prstGeom>
          <a:noFill/>
          <a:ln/>
        </p:spPr>
        <p:txBody>
          <a:bodyPr wrap="square" lIns="0" tIns="0" rIns="0" bIns="0" rtlCol="0" anchor="t"/>
          <a:lstStyle/>
          <a:p>
            <a:pPr indent="0" marL="0">
              <a:spcAft>
                <a:spcPts val="600"/>
              </a:spcAft>
              <a:buNone/>
            </a:pPr>
            <a:r>
              <a:rPr lang="en-US" sz="1250" dirty="0">
                <a:solidFill>
                  <a:srgbClr val="202124"/>
                </a:solidFill>
                <a:latin typeface="Quicksand" pitchFamily="34" charset="0"/>
                <a:ea typeface="Quicksand" pitchFamily="34" charset="-122"/>
                <a:cs typeface="Quicksand" pitchFamily="34" charset="-120"/>
              </a:rPr>
              <a:t>Restores a weakened signal so it can travel further</a:t>
            </a:r>
            <a:endParaRPr lang="en-US" sz="1250" dirty="0"/>
          </a:p>
        </p:txBody>
      </p:sp>
      <p:sp>
        <p:nvSpPr>
          <p:cNvPr id="32" name="Shape 24"/>
          <p:cNvSpPr/>
          <p:nvPr/>
        </p:nvSpPr>
        <p:spPr>
          <a:xfrm>
            <a:off x="8038548" y="3666744"/>
            <a:ext cx="1479385" cy="149047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33" name="Image 5" descr="figs/modem.jpg">    </p:cNvPr>
          <p:cNvPicPr>
            <a:picLocks noChangeAspect="1"/>
          </p:cNvPicPr>
          <p:nvPr/>
        </p:nvPicPr>
        <p:blipFill>
          <a:blip r:embed="rId6"/>
          <a:stretch>
            <a:fillRect/>
          </a:stretch>
        </p:blipFill>
        <p:spPr>
          <a:xfrm>
            <a:off x="8075124" y="3703320"/>
            <a:ext cx="1406233" cy="1417320"/>
          </a:xfrm>
          <a:prstGeom prst="rect">
            <a:avLst/>
          </a:prstGeom>
        </p:spPr>
      </p:pic>
      <p:sp>
        <p:nvSpPr>
          <p:cNvPr id="34" name="Text 25"/>
          <p:cNvSpPr txBox="1"/>
          <p:nvPr/>
        </p:nvSpPr>
        <p:spPr>
          <a:xfrm>
            <a:off x="7863840" y="5184648"/>
            <a:ext cx="1828800" cy="237744"/>
          </a:xfrm>
          <a:prstGeom prst="rect">
            <a:avLst/>
          </a:prstGeom>
          <a:noFill/>
          <a:ln/>
        </p:spPr>
        <p:txBody>
          <a:bodyPr wrap="square" lIns="0" tIns="0" rIns="0" bIns="0" rtlCol="0" anchor="ctr"/>
          <a:lstStyle/>
          <a:p>
            <a:pPr algn="ctr" indent="0" marL="0">
              <a:buNone/>
            </a:pPr>
            <a:r>
              <a:rPr lang="en-US" sz="800" i="1" dirty="0">
                <a:solidFill>
                  <a:srgbClr val="8A8A99"/>
                </a:solidFill>
                <a:latin typeface="Quicksand" pitchFamily="34" charset="0"/>
                <a:ea typeface="Quicksand" pitchFamily="34" charset="-122"/>
                <a:cs typeface="Quicksand" pitchFamily="34" charset="-120"/>
              </a:rPr>
              <a:t>Photo: Heidas, CC BY-SA 3.0, Wikimedia Commons</a:t>
            </a:r>
            <a:endParaRPr lang="en-US" sz="800" dirty="0"/>
          </a:p>
        </p:txBody>
      </p:sp>
      <p:sp>
        <p:nvSpPr>
          <p:cNvPr id="35" name="Text 26"/>
          <p:cNvSpPr/>
          <p:nvPr/>
        </p:nvSpPr>
        <p:spPr>
          <a:xfrm>
            <a:off x="9692640" y="3749040"/>
            <a:ext cx="1828800" cy="365760"/>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Modem</a:t>
            </a:r>
            <a:endParaRPr lang="en-US" sz="1500" dirty="0"/>
          </a:p>
        </p:txBody>
      </p:sp>
      <p:sp>
        <p:nvSpPr>
          <p:cNvPr id="36" name="Text 27"/>
          <p:cNvSpPr txBox="1"/>
          <p:nvPr/>
        </p:nvSpPr>
        <p:spPr>
          <a:xfrm>
            <a:off x="9692640" y="4160520"/>
            <a:ext cx="1828800" cy="1097280"/>
          </a:xfrm>
          <a:prstGeom prst="rect">
            <a:avLst/>
          </a:prstGeom>
          <a:noFill/>
          <a:ln/>
        </p:spPr>
        <p:txBody>
          <a:bodyPr wrap="square" lIns="0" tIns="0" rIns="0" bIns="0" rtlCol="0" anchor="t"/>
          <a:lstStyle/>
          <a:p>
            <a:pPr indent="0" marL="0">
              <a:spcAft>
                <a:spcPts val="600"/>
              </a:spcAft>
              <a:buNone/>
            </a:pPr>
            <a:r>
              <a:rPr lang="en-US" sz="1250" dirty="0">
                <a:solidFill>
                  <a:srgbClr val="202124"/>
                </a:solidFill>
                <a:latin typeface="Quicksand" pitchFamily="34" charset="0"/>
                <a:ea typeface="Quicksand" pitchFamily="34" charset="-122"/>
                <a:cs typeface="Quicksand" pitchFamily="34" charset="-120"/>
              </a:rPr>
              <a:t>Converts digital data to analogue for a phone line, and back</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Recap: from your laptop to a website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Recap</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4</a:t>
            </a:r>
            <a:endParaRPr lang="en-US" sz="1350" dirty="0"/>
          </a:p>
        </p:txBody>
      </p:sp>
      <p:sp>
        <p:nvSpPr>
          <p:cNvPr id="7" name="Text 4"/>
          <p:cNvSpPr/>
          <p:nvPr/>
        </p:nvSpPr>
        <p:spPr>
          <a:xfrm>
            <a:off x="525780" y="2034540"/>
            <a:ext cx="1143000" cy="685800"/>
          </a:xfrm>
          <a:prstGeom prst="rect">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Laptop</a:t>
            </a:r>
            <a:endParaRPr lang="en-US" sz="1200" dirty="0"/>
          </a:p>
          <a:p>
            <a:pPr algn="ctr" indent="0" marL="0">
              <a:buNone/>
            </a:pPr>
            <a:r>
              <a:rPr lang="en-US" sz="1200" b="1" dirty="0">
                <a:solidFill>
                  <a:srgbClr val="202124"/>
                </a:solidFill>
                <a:latin typeface="Quicksand" pitchFamily="34" charset="0"/>
                <a:ea typeface="Quicksand" pitchFamily="34" charset="-122"/>
                <a:cs typeface="Quicksand" pitchFamily="34" charset="-120"/>
              </a:rPr>
              <a:t>(WNIC)</a:t>
            </a:r>
            <a:endParaRPr lang="en-US" sz="1200" dirty="0"/>
          </a:p>
        </p:txBody>
      </p:sp>
      <p:sp>
        <p:nvSpPr>
          <p:cNvPr id="8" name="Shape 5"/>
          <p:cNvSpPr/>
          <p:nvPr/>
        </p:nvSpPr>
        <p:spPr>
          <a:xfrm>
            <a:off x="1691640" y="2377440"/>
            <a:ext cx="384048" cy="914"/>
          </a:xfrm>
          <a:prstGeom prst="line">
            <a:avLst/>
          </a:prstGeom>
          <a:noFill/>
          <a:ln w="25400">
            <a:solidFill>
              <a:srgbClr val="4A90D9"/>
            </a:solidFill>
            <a:prstDash val="dash"/>
            <a:tailEnd type="triangle"/>
          </a:ln>
        </p:spPr>
      </p:sp>
      <p:sp>
        <p:nvSpPr>
          <p:cNvPr id="9" name="Text 6"/>
          <p:cNvSpPr/>
          <p:nvPr/>
        </p:nvSpPr>
        <p:spPr>
          <a:xfrm>
            <a:off x="2125980" y="2034540"/>
            <a:ext cx="1143000" cy="685800"/>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WAP</a:t>
            </a:r>
            <a:endParaRPr lang="en-US" sz="1200" dirty="0"/>
          </a:p>
        </p:txBody>
      </p:sp>
      <p:sp>
        <p:nvSpPr>
          <p:cNvPr id="10" name="Shape 7"/>
          <p:cNvSpPr/>
          <p:nvPr/>
        </p:nvSpPr>
        <p:spPr>
          <a:xfrm>
            <a:off x="3291840" y="2377440"/>
            <a:ext cx="292608" cy="914"/>
          </a:xfrm>
          <a:prstGeom prst="line">
            <a:avLst/>
          </a:prstGeom>
          <a:noFill/>
          <a:ln w="25400">
            <a:solidFill>
              <a:srgbClr val="494985"/>
            </a:solidFill>
            <a:prstDash val="solid"/>
            <a:tailEnd type="triangle"/>
          </a:ln>
        </p:spPr>
      </p:sp>
      <p:sp>
        <p:nvSpPr>
          <p:cNvPr id="11" name="Text 8"/>
          <p:cNvSpPr/>
          <p:nvPr/>
        </p:nvSpPr>
        <p:spPr>
          <a:xfrm>
            <a:off x="3634740" y="2034540"/>
            <a:ext cx="1143000" cy="685800"/>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Switch</a:t>
            </a:r>
            <a:endParaRPr lang="en-US" sz="1200" dirty="0"/>
          </a:p>
        </p:txBody>
      </p:sp>
      <p:sp>
        <p:nvSpPr>
          <p:cNvPr id="12" name="Shape 9"/>
          <p:cNvSpPr/>
          <p:nvPr/>
        </p:nvSpPr>
        <p:spPr>
          <a:xfrm>
            <a:off x="4800600" y="2377440"/>
            <a:ext cx="292608" cy="914"/>
          </a:xfrm>
          <a:prstGeom prst="line">
            <a:avLst/>
          </a:prstGeom>
          <a:noFill/>
          <a:ln w="25400">
            <a:solidFill>
              <a:srgbClr val="494985"/>
            </a:solidFill>
            <a:prstDash val="solid"/>
            <a:tailEnd type="triangle"/>
          </a:ln>
        </p:spPr>
      </p:sp>
      <p:sp>
        <p:nvSpPr>
          <p:cNvPr id="13" name="Text 10"/>
          <p:cNvSpPr/>
          <p:nvPr/>
        </p:nvSpPr>
        <p:spPr>
          <a:xfrm>
            <a:off x="5143500" y="2034540"/>
            <a:ext cx="1143000" cy="685800"/>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Router</a:t>
            </a:r>
            <a:endParaRPr lang="en-US" sz="1200" dirty="0"/>
          </a:p>
        </p:txBody>
      </p:sp>
      <p:sp>
        <p:nvSpPr>
          <p:cNvPr id="14" name="Shape 11"/>
          <p:cNvSpPr/>
          <p:nvPr/>
        </p:nvSpPr>
        <p:spPr>
          <a:xfrm>
            <a:off x="6309360" y="2377440"/>
            <a:ext cx="292608" cy="914"/>
          </a:xfrm>
          <a:prstGeom prst="line">
            <a:avLst/>
          </a:prstGeom>
          <a:noFill/>
          <a:ln w="25400">
            <a:solidFill>
              <a:srgbClr val="494985"/>
            </a:solidFill>
            <a:prstDash val="solid"/>
            <a:tailEnd type="triangle"/>
          </a:ln>
        </p:spPr>
      </p:sp>
      <p:sp>
        <p:nvSpPr>
          <p:cNvPr id="15" name="Text 12"/>
          <p:cNvSpPr/>
          <p:nvPr/>
        </p:nvSpPr>
        <p:spPr>
          <a:xfrm>
            <a:off x="6652260" y="2034540"/>
            <a:ext cx="1143000" cy="685800"/>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Modem</a:t>
            </a:r>
            <a:endParaRPr lang="en-US" sz="1200" dirty="0"/>
          </a:p>
        </p:txBody>
      </p:sp>
      <p:sp>
        <p:nvSpPr>
          <p:cNvPr id="16" name="Shape 13"/>
          <p:cNvSpPr/>
          <p:nvPr/>
        </p:nvSpPr>
        <p:spPr>
          <a:xfrm>
            <a:off x="7818120" y="2377440"/>
            <a:ext cx="338328" cy="914"/>
          </a:xfrm>
          <a:prstGeom prst="line">
            <a:avLst/>
          </a:prstGeom>
          <a:noFill/>
          <a:ln w="25400">
            <a:solidFill>
              <a:srgbClr val="494985"/>
            </a:solidFill>
            <a:prstDash val="solid"/>
            <a:tailEnd type="triangle"/>
          </a:ln>
        </p:spPr>
      </p:sp>
      <p:sp>
        <p:nvSpPr>
          <p:cNvPr id="17" name="Text 14"/>
          <p:cNvSpPr/>
          <p:nvPr/>
        </p:nvSpPr>
        <p:spPr>
          <a:xfrm>
            <a:off x="8206740" y="2034540"/>
            <a:ext cx="1143000" cy="685800"/>
          </a:xfrm>
          <a:prstGeom prst="rect">
            <a:avLst/>
          </a:prstGeom>
          <a:solidFill>
            <a:srgbClr val="FFFFFF"/>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ISP</a:t>
            </a:r>
            <a:endParaRPr lang="en-US" sz="1200" dirty="0"/>
          </a:p>
        </p:txBody>
      </p:sp>
      <p:sp>
        <p:nvSpPr>
          <p:cNvPr id="18" name="Shape 15"/>
          <p:cNvSpPr/>
          <p:nvPr/>
        </p:nvSpPr>
        <p:spPr>
          <a:xfrm>
            <a:off x="9372600" y="2377440"/>
            <a:ext cx="457200" cy="914"/>
          </a:xfrm>
          <a:prstGeom prst="line">
            <a:avLst/>
          </a:prstGeom>
          <a:noFill/>
          <a:ln w="25400">
            <a:solidFill>
              <a:srgbClr val="494985"/>
            </a:solidFill>
            <a:prstDash val="solid"/>
            <a:tailEnd type="triangle"/>
          </a:ln>
        </p:spPr>
      </p:sp>
      <p:sp>
        <p:nvSpPr>
          <p:cNvPr id="19" name="Text 16"/>
          <p:cNvSpPr/>
          <p:nvPr/>
        </p:nvSpPr>
        <p:spPr>
          <a:xfrm>
            <a:off x="9829800" y="1783080"/>
            <a:ext cx="1828800" cy="1188720"/>
          </a:xfrm>
          <a:prstGeom prst="cloud">
            <a:avLst/>
          </a:prstGeom>
          <a:solidFill>
            <a:srgbClr val="EEF3FB"/>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Internet</a:t>
            </a:r>
            <a:endParaRPr lang="en-US" sz="1200" dirty="0"/>
          </a:p>
        </p:txBody>
      </p:sp>
      <p:sp>
        <p:nvSpPr>
          <p:cNvPr id="20" name="Shape 17"/>
          <p:cNvSpPr/>
          <p:nvPr/>
        </p:nvSpPr>
        <p:spPr>
          <a:xfrm>
            <a:off x="8001000" y="1371600"/>
            <a:ext cx="0" cy="2103120"/>
          </a:xfrm>
          <a:prstGeom prst="line">
            <a:avLst/>
          </a:prstGeom>
          <a:noFill/>
          <a:ln w="19050">
            <a:solidFill>
              <a:srgbClr val="B3261E"/>
            </a:solidFill>
            <a:prstDash val="dash"/>
          </a:ln>
        </p:spPr>
      </p:sp>
      <p:sp>
        <p:nvSpPr>
          <p:cNvPr id="21" name="Text 18"/>
          <p:cNvSpPr txBox="1"/>
          <p:nvPr/>
        </p:nvSpPr>
        <p:spPr>
          <a:xfrm>
            <a:off x="3749040" y="1371600"/>
            <a:ext cx="4206240" cy="274320"/>
          </a:xfrm>
          <a:prstGeom prst="rect">
            <a:avLst/>
          </a:prstGeom>
          <a:noFill/>
          <a:ln/>
        </p:spPr>
        <p:txBody>
          <a:bodyPr wrap="square" lIns="0" tIns="0" rIns="0" bIns="0" rtlCol="0" anchor="ctr"/>
          <a:lstStyle/>
          <a:p>
            <a:pPr algn="ctr" indent="0" marL="0">
              <a:buNone/>
            </a:pPr>
            <a:r>
              <a:rPr lang="en-US" sz="1300" i="1" dirty="0">
                <a:solidFill>
                  <a:srgbClr val="494985"/>
                </a:solidFill>
                <a:latin typeface="Quicksand" pitchFamily="34" charset="0"/>
                <a:ea typeface="Quicksand" pitchFamily="34" charset="-122"/>
                <a:cs typeface="Quicksand" pitchFamily="34" charset="-120"/>
              </a:rPr>
              <a:t>School LAN</a:t>
            </a:r>
            <a:endParaRPr lang="en-US" sz="1300" dirty="0"/>
          </a:p>
        </p:txBody>
      </p:sp>
      <p:sp>
        <p:nvSpPr>
          <p:cNvPr id="22" name="Text 19"/>
          <p:cNvSpPr txBox="1"/>
          <p:nvPr/>
        </p:nvSpPr>
        <p:spPr>
          <a:xfrm>
            <a:off x="8046720" y="1371600"/>
            <a:ext cx="3657600" cy="274320"/>
          </a:xfrm>
          <a:prstGeom prst="rect">
            <a:avLst/>
          </a:prstGeom>
          <a:noFill/>
          <a:ln/>
        </p:spPr>
        <p:txBody>
          <a:bodyPr wrap="square" lIns="0" tIns="0" rIns="0" bIns="0" rtlCol="0" anchor="ctr"/>
          <a:lstStyle/>
          <a:p>
            <a:pPr algn="ctr" indent="0" marL="0">
              <a:buNone/>
            </a:pPr>
            <a:r>
              <a:rPr lang="en-US" sz="1300" i="1" dirty="0">
                <a:solidFill>
                  <a:srgbClr val="B3261E"/>
                </a:solidFill>
                <a:latin typeface="Quicksand" pitchFamily="34" charset="0"/>
                <a:ea typeface="Quicksand" pitchFamily="34" charset="-122"/>
                <a:cs typeface="Quicksand" pitchFamily="34" charset="-120"/>
              </a:rPr>
              <a:t>Outside the LAN</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1520" y="3337560"/>
          <a:ext cx="10789920" cy="914400"/>
        </p:xfrm>
        <a:graphic>
          <a:graphicData uri="http://schemas.openxmlformats.org/drawingml/2006/table">
            <a:tbl>
              <a:tblPr/>
              <a:tblGrid>
                <a:gridCol w="2743200"/>
                <a:gridCol w="8046720"/>
              </a:tblGrid>
              <a:tr h="457200">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Step</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What happens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5720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Laptop -&gt; WAP</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The WNIC turns data into radio waves; the WAP receives them</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WAP -&gt; switch -&gt; router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The switch reads the MAC address and forwards the frame to the router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Router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Reads the destination IP; swaps the private IP for the public IP (NAT); forwards the packet</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Modem -&gt; ISP</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Puts the data on the line (phone, fibre or cable) to the Internet Service Provider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 this lesson, you will</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Objectives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5</a:t>
            </a:r>
            <a:endParaRPr lang="en-US" sz="1350" dirty="0"/>
          </a:p>
        </p:txBody>
      </p:sp>
      <p:sp>
        <p:nvSpPr>
          <p:cNvPr id="6" name="Text 4"/>
          <p:cNvSpPr txBox="1"/>
          <p:nvPr/>
        </p:nvSpPr>
        <p:spPr>
          <a:xfrm>
            <a:off x="841248" y="1371600"/>
            <a:ext cx="10241280" cy="4389120"/>
          </a:xfrm>
          <a:prstGeom prst="rect">
            <a:avLst/>
          </a:prstGeom>
          <a:noFill/>
          <a:ln/>
        </p:spPr>
        <p:txBody>
          <a:bodyPr wrap="square" lIns="0" tIns="0" rIns="0" bIns="0" rtlCol="0" anchor="t"/>
          <a:lstStyle/>
          <a:p>
            <a:pPr marL="228600" indent="-228600">
              <a:spcAft>
                <a:spcPts val="1200"/>
              </a:spcAft>
              <a:buSzPct val="100000"/>
              <a:buChar char="•"/>
            </a:pPr>
            <a:r>
              <a:rPr lang="en-US" sz="1800" dirty="0">
                <a:solidFill>
                  <a:srgbClr val="202124"/>
                </a:solidFill>
                <a:latin typeface="Quicksand" pitchFamily="34" charset="0"/>
                <a:ea typeface="Quicksand" pitchFamily="34" charset="-122"/>
                <a:cs typeface="Quicksand" pitchFamily="34" charset="-120"/>
              </a:rPr>
              <a:t>Explain bit streaming, the role of the buffer, and why bit rate and broadband speed matter</a:t>
            </a:r>
            <a:endParaRPr lang="en-US" sz="1800" dirty="0"/>
          </a:p>
          <a:p>
            <a:pPr marL="228600" indent="-228600">
              <a:spcAft>
                <a:spcPts val="1200"/>
              </a:spcAft>
              <a:buSzPct val="100000"/>
              <a:buChar char="•"/>
            </a:pPr>
            <a:r>
              <a:rPr lang="en-US" sz="1800" dirty="0">
                <a:solidFill>
                  <a:srgbClr val="202124"/>
                </a:solidFill>
                <a:latin typeface="Quicksand" pitchFamily="34" charset="0"/>
                <a:ea typeface="Quicksand" pitchFamily="34" charset="-122"/>
                <a:cs typeface="Quicksand" pitchFamily="34" charset="-120"/>
              </a:rPr>
              <a:t>Compare real-time and on-demand bit streaming</a:t>
            </a:r>
            <a:endParaRPr lang="en-US" sz="1800" dirty="0"/>
          </a:p>
          <a:p>
            <a:pPr marL="228600" indent="-228600">
              <a:spcAft>
                <a:spcPts val="1200"/>
              </a:spcAft>
              <a:buSzPct val="100000"/>
              <a:buChar char="•"/>
            </a:pPr>
            <a:r>
              <a:rPr lang="en-US" sz="1800" dirty="0">
                <a:solidFill>
                  <a:srgbClr val="202124"/>
                </a:solidFill>
                <a:latin typeface="Quicksand" pitchFamily="34" charset="0"/>
                <a:ea typeface="Quicksand" pitchFamily="34" charset="-122"/>
                <a:cs typeface="Quicksand" pitchFamily="34" charset="-120"/>
              </a:rPr>
              <a:t>Describe the difference between the internet and the World Wide Web</a:t>
            </a:r>
            <a:endParaRPr lang="en-US" sz="1800" dirty="0"/>
          </a:p>
          <a:p>
            <a:pPr marL="228600" indent="-228600">
              <a:spcAft>
                <a:spcPts val="1200"/>
              </a:spcAft>
              <a:buSzPct val="100000"/>
              <a:buChar char="•"/>
            </a:pPr>
            <a:r>
              <a:rPr lang="en-US" sz="1800" dirty="0">
                <a:solidFill>
                  <a:srgbClr val="202124"/>
                </a:solidFill>
                <a:latin typeface="Quicksand" pitchFamily="34" charset="0"/>
                <a:ea typeface="Quicksand" pitchFamily="34" charset="-122"/>
                <a:cs typeface="Quicksand" pitchFamily="34" charset="-120"/>
              </a:rPr>
              <a:t>Describe the hardware that supports the internet: modems, PSTN, dedicated lines, cell phone network</a:t>
            </a:r>
            <a:endParaRPr lang="en-US" sz="1800" dirty="0"/>
          </a:p>
          <a:p>
            <a:pPr marL="228600" indent="-228600">
              <a:spcAft>
                <a:spcPts val="1200"/>
              </a:spcAft>
              <a:buSzPct val="100000"/>
              <a:buChar char="•"/>
            </a:pPr>
            <a:r>
              <a:rPr lang="en-US" sz="1800" dirty="0">
                <a:solidFill>
                  <a:srgbClr val="202124"/>
                </a:solidFill>
                <a:latin typeface="Quicksand" pitchFamily="34" charset="0"/>
                <a:ea typeface="Quicksand" pitchFamily="34" charset="-122"/>
                <a:cs typeface="Quicksand" pitchFamily="34" charset="-120"/>
              </a:rPr>
              <a:t>Explain IPv4 and IPv6 addresses, subnetting, public/private and static/dynamic addresses</a:t>
            </a:r>
            <a:endParaRPr lang="en-US" sz="1800" dirty="0"/>
          </a:p>
          <a:p>
            <a:pPr marL="228600" indent="-228600">
              <a:spcAft>
                <a:spcPts val="1200"/>
              </a:spcAft>
              <a:buSzPct val="100000"/>
              <a:buChar char="•"/>
            </a:pPr>
            <a:r>
              <a:rPr lang="en-US" sz="1800" dirty="0">
                <a:solidFill>
                  <a:srgbClr val="202124"/>
                </a:solidFill>
                <a:latin typeface="Quicksand" pitchFamily="34" charset="0"/>
                <a:ea typeface="Quicksand" pitchFamily="34" charset="-122"/>
                <a:cs typeface="Quicksand" pitchFamily="34" charset="-120"/>
              </a:rPr>
              <a:t>Explain how a URL and the Domain Name Service (DNS) are used to find a web page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Bit streaming</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6</a:t>
            </a:r>
            <a:endParaRPr lang="en-US" sz="1350" dirty="0"/>
          </a:p>
        </p:txBody>
      </p:sp>
      <p:sp>
        <p:nvSpPr>
          <p:cNvPr id="7" name="Text 4"/>
          <p:cNvSpPr txBox="1"/>
          <p:nvPr/>
        </p:nvSpPr>
        <p:spPr>
          <a:xfrm>
            <a:off x="777240" y="1234440"/>
            <a:ext cx="10698480" cy="685800"/>
          </a:xfrm>
          <a:prstGeom prst="rect">
            <a:avLst/>
          </a:prstGeom>
          <a:noFill/>
          <a:ln/>
        </p:spPr>
        <p:txBody>
          <a:bodyPr wrap="square" lIns="0" tIns="0" rIns="0" bIns="0" rtlCol="0" anchor="t"/>
          <a:lstStyle/>
          <a:p>
            <a:pPr indent="0" marL="0">
              <a:buNone/>
            </a:pPr>
            <a:r>
              <a:rPr lang="en-US" sz="1600" b="1" dirty="0">
                <a:solidFill>
                  <a:srgbClr val="202124"/>
                </a:solidFill>
                <a:latin typeface="Quicksand" pitchFamily="34" charset="0"/>
                <a:ea typeface="Quicksand" pitchFamily="34" charset="-122"/>
                <a:cs typeface="Quicksand" pitchFamily="34" charset="-120"/>
              </a:rPr>
              <a:t>Bit streaming: data (e.g. video or music) is sent as a continuous sequence of bits over a network, and played as it arrives rather than after the whole file has downloaded.</a:t>
            </a:r>
            <a:endParaRPr lang="en-US" sz="1600" dirty="0"/>
          </a:p>
        </p:txBody>
      </p:sp>
      <p:sp>
        <p:nvSpPr>
          <p:cNvPr id="8" name="Text 5"/>
          <p:cNvSpPr/>
          <p:nvPr/>
        </p:nvSpPr>
        <p:spPr>
          <a:xfrm>
            <a:off x="685800" y="2743200"/>
            <a:ext cx="1554480" cy="731520"/>
          </a:xfrm>
          <a:prstGeom prst="rect">
            <a:avLst/>
          </a:prstGeom>
          <a:solidFill>
            <a:srgbClr val="E9E8F5"/>
          </a:solidFill>
          <a:ln w="15875">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Media server</a:t>
            </a:r>
            <a:endParaRPr lang="en-US" sz="1300" dirty="0"/>
          </a:p>
        </p:txBody>
      </p:sp>
      <p:sp>
        <p:nvSpPr>
          <p:cNvPr id="9" name="Shape 6"/>
          <p:cNvSpPr/>
          <p:nvPr/>
        </p:nvSpPr>
        <p:spPr>
          <a:xfrm>
            <a:off x="2286000" y="3108960"/>
            <a:ext cx="1554480" cy="914"/>
          </a:xfrm>
          <a:prstGeom prst="line">
            <a:avLst/>
          </a:prstGeom>
          <a:noFill/>
          <a:ln w="38100">
            <a:solidFill>
              <a:srgbClr val="494985"/>
            </a:solidFill>
            <a:prstDash val="solid"/>
            <a:tailEnd type="triangle"/>
          </a:ln>
        </p:spPr>
      </p:sp>
      <p:sp>
        <p:nvSpPr>
          <p:cNvPr id="10" name="Text 7"/>
          <p:cNvSpPr txBox="1"/>
          <p:nvPr/>
        </p:nvSpPr>
        <p:spPr>
          <a:xfrm>
            <a:off x="2240280" y="2651760"/>
            <a:ext cx="1645920" cy="274320"/>
          </a:xfrm>
          <a:prstGeom prst="rect">
            <a:avLst/>
          </a:prstGeom>
          <a:noFill/>
          <a:ln/>
        </p:spPr>
        <p:txBody>
          <a:bodyPr wrap="square" lIns="0" tIns="0" rIns="0" bIns="0" rtlCol="0" anchor="ctr"/>
          <a:lstStyle/>
          <a:p>
            <a:pPr algn="ctr" indent="0" marL="0">
              <a:buNone/>
            </a:pPr>
            <a:r>
              <a:rPr lang="en-US" sz="1200" i="1" dirty="0">
                <a:solidFill>
                  <a:srgbClr val="494985"/>
                </a:solidFill>
                <a:latin typeface="Quicksand" pitchFamily="34" charset="0"/>
                <a:ea typeface="Quicksand" pitchFamily="34" charset="-122"/>
                <a:cs typeface="Quicksand" pitchFamily="34" charset="-120"/>
              </a:rPr>
              <a:t>0110101100...</a:t>
            </a:r>
            <a:endParaRPr lang="en-US" sz="1200" dirty="0"/>
          </a:p>
        </p:txBody>
      </p:sp>
      <p:sp>
        <p:nvSpPr>
          <p:cNvPr id="11" name="Shape 8"/>
          <p:cNvSpPr/>
          <p:nvPr/>
        </p:nvSpPr>
        <p:spPr>
          <a:xfrm>
            <a:off x="3886200" y="2606040"/>
            <a:ext cx="3291840" cy="1005840"/>
          </a:xfrm>
          <a:prstGeom prst="rect">
            <a:avLst/>
          </a:prstGeom>
          <a:solidFill>
            <a:srgbClr val="FFFFFF"/>
          </a:solidFill>
          <a:ln w="19050">
            <a:solidFill>
              <a:srgbClr val="494985"/>
            </a:solidFill>
            <a:prstDash val="solid"/>
          </a:ln>
        </p:spPr>
      </p:sp>
      <p:sp>
        <p:nvSpPr>
          <p:cNvPr id="12" name="Shape 9"/>
          <p:cNvSpPr/>
          <p:nvPr/>
        </p:nvSpPr>
        <p:spPr>
          <a:xfrm>
            <a:off x="3886200" y="2606040"/>
            <a:ext cx="2286000" cy="1005840"/>
          </a:xfrm>
          <a:prstGeom prst="rect">
            <a:avLst/>
          </a:prstGeom>
          <a:solidFill>
            <a:srgbClr val="DCE8F8"/>
          </a:solidFill>
          <a:ln w="19050">
            <a:solidFill>
              <a:srgbClr val="494985"/>
            </a:solidFill>
            <a:prstDash val="solid"/>
          </a:ln>
        </p:spPr>
      </p:sp>
      <p:sp>
        <p:nvSpPr>
          <p:cNvPr id="13" name="Text 10"/>
          <p:cNvSpPr/>
          <p:nvPr/>
        </p:nvSpPr>
        <p:spPr>
          <a:xfrm>
            <a:off x="3886200" y="2606040"/>
            <a:ext cx="3291840" cy="1005840"/>
          </a:xfrm>
          <a:prstGeom prst="rect">
            <a:avLst/>
          </a:prstGeom>
          <a:no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Buffer</a:t>
            </a:r>
            <a:endParaRPr lang="en-US" sz="1500" dirty="0"/>
          </a:p>
        </p:txBody>
      </p:sp>
      <p:sp>
        <p:nvSpPr>
          <p:cNvPr id="14" name="Text 11"/>
          <p:cNvSpPr txBox="1"/>
          <p:nvPr/>
        </p:nvSpPr>
        <p:spPr>
          <a:xfrm>
            <a:off x="3886200" y="3657600"/>
            <a:ext cx="3291840" cy="274320"/>
          </a:xfrm>
          <a:prstGeom prst="rect">
            <a:avLst/>
          </a:prstGeom>
          <a:noFill/>
          <a:ln/>
        </p:spPr>
        <p:txBody>
          <a:bodyPr wrap="square" lIns="0" tIns="0" rIns="0" bIns="0" rtlCol="0" anchor="ctr"/>
          <a:lstStyle/>
          <a:p>
            <a:pPr algn="ctr" indent="0" marL="0">
              <a:buNone/>
            </a:pPr>
            <a:r>
              <a:rPr lang="en-US" sz="1100" i="1" dirty="0">
                <a:solidFill>
                  <a:srgbClr val="666666"/>
                </a:solidFill>
                <a:latin typeface="Quicksand" pitchFamily="34" charset="0"/>
                <a:ea typeface="Quicksand" pitchFamily="34" charset="-122"/>
                <a:cs typeface="Quicksand" pitchFamily="34" charset="-120"/>
              </a:rPr>
              <a:t>temporary storage in RAM on your device</a:t>
            </a:r>
            <a:endParaRPr lang="en-US" sz="1100" dirty="0"/>
          </a:p>
        </p:txBody>
      </p:sp>
      <p:sp>
        <p:nvSpPr>
          <p:cNvPr id="15" name="Shape 12"/>
          <p:cNvSpPr/>
          <p:nvPr/>
        </p:nvSpPr>
        <p:spPr>
          <a:xfrm>
            <a:off x="7223760" y="3108960"/>
            <a:ext cx="1554480" cy="914"/>
          </a:xfrm>
          <a:prstGeom prst="line">
            <a:avLst/>
          </a:prstGeom>
          <a:noFill/>
          <a:ln w="38100">
            <a:solidFill>
              <a:srgbClr val="494985"/>
            </a:solidFill>
            <a:prstDash val="solid"/>
            <a:tailEnd type="triangle"/>
          </a:ln>
        </p:spPr>
      </p:sp>
      <p:sp>
        <p:nvSpPr>
          <p:cNvPr id="16" name="Text 13"/>
          <p:cNvSpPr/>
          <p:nvPr/>
        </p:nvSpPr>
        <p:spPr>
          <a:xfrm>
            <a:off x="8823960" y="2743200"/>
            <a:ext cx="1554480" cy="731520"/>
          </a:xfrm>
          <a:prstGeom prst="rect">
            <a:avLst/>
          </a:prstGeom>
          <a:solidFill>
            <a:srgbClr val="E9E8F5"/>
          </a:solidFill>
          <a:ln w="15875">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Media player</a:t>
            </a:r>
            <a:endParaRPr lang="en-US" sz="1300" dirty="0"/>
          </a:p>
        </p:txBody>
      </p:sp>
      <p:sp>
        <p:nvSpPr>
          <p:cNvPr id="17" name="Text 14"/>
          <p:cNvSpPr/>
          <p:nvPr/>
        </p:nvSpPr>
        <p:spPr>
          <a:xfrm>
            <a:off x="10721340" y="2916936"/>
            <a:ext cx="777240"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050" b="1" dirty="0">
                <a:solidFill>
                  <a:srgbClr val="202124"/>
                </a:solidFill>
                <a:latin typeface="Quicksand" pitchFamily="34" charset="0"/>
                <a:ea typeface="Quicksand" pitchFamily="34" charset="-122"/>
                <a:cs typeface="Quicksand" pitchFamily="34" charset="-120"/>
              </a:rPr>
              <a:t>Screen</a:t>
            </a:r>
            <a:endParaRPr lang="en-US" sz="1050" dirty="0"/>
          </a:p>
        </p:txBody>
      </p:sp>
      <p:sp>
        <p:nvSpPr>
          <p:cNvPr id="18" name="Shape 15"/>
          <p:cNvSpPr/>
          <p:nvPr/>
        </p:nvSpPr>
        <p:spPr>
          <a:xfrm>
            <a:off x="10378440" y="3108960"/>
            <a:ext cx="338328" cy="914"/>
          </a:xfrm>
          <a:prstGeom prst="line">
            <a:avLst/>
          </a:prstGeom>
          <a:noFill/>
          <a:ln w="19050">
            <a:solidFill>
              <a:srgbClr val="7A7AA0"/>
            </a:solidFill>
            <a:prstDash val="solid"/>
          </a:ln>
        </p:spPr>
      </p:sp>
      <p:sp>
        <p:nvSpPr>
          <p:cNvPr id="19" name="Shape 16"/>
          <p:cNvSpPr/>
          <p:nvPr/>
        </p:nvSpPr>
        <p:spPr>
          <a:xfrm>
            <a:off x="777240" y="4343400"/>
            <a:ext cx="3474720" cy="1280160"/>
          </a:xfrm>
          <a:prstGeom prst="rect">
            <a:avLst/>
          </a:prstGeom>
          <a:solidFill>
            <a:srgbClr val="F6F5FC"/>
          </a:solidFill>
          <a:ln w="12700">
            <a:solidFill>
              <a:srgbClr val="F6F5FC"/>
            </a:solidFill>
            <a:prstDash val="solid"/>
          </a:ln>
        </p:spPr>
      </p:sp>
      <p:sp>
        <p:nvSpPr>
          <p:cNvPr id="20" name="Text 17"/>
          <p:cNvSpPr/>
          <p:nvPr/>
        </p:nvSpPr>
        <p:spPr>
          <a:xfrm>
            <a:off x="914400" y="44805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21" name="Text 18"/>
          <p:cNvSpPr txBox="1"/>
          <p:nvPr/>
        </p:nvSpPr>
        <p:spPr>
          <a:xfrm>
            <a:off x="1435608" y="4453128"/>
            <a:ext cx="269748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Compressed</a:t>
            </a:r>
            <a:endParaRPr lang="en-US" sz="1500" dirty="0"/>
          </a:p>
        </p:txBody>
      </p:sp>
      <p:sp>
        <p:nvSpPr>
          <p:cNvPr id="22" name="Text 19"/>
          <p:cNvSpPr txBox="1"/>
          <p:nvPr/>
        </p:nvSpPr>
        <p:spPr>
          <a:xfrm>
            <a:off x="1435608" y="4846320"/>
            <a:ext cx="2697480" cy="71323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Files are compressed first, so fewer bits need to be sent</a:t>
            </a:r>
            <a:endParaRPr lang="en-US" sz="1250" dirty="0"/>
          </a:p>
        </p:txBody>
      </p:sp>
      <p:sp>
        <p:nvSpPr>
          <p:cNvPr id="23" name="Shape 20"/>
          <p:cNvSpPr/>
          <p:nvPr/>
        </p:nvSpPr>
        <p:spPr>
          <a:xfrm>
            <a:off x="4389120" y="4343400"/>
            <a:ext cx="3474720" cy="1280160"/>
          </a:xfrm>
          <a:prstGeom prst="rect">
            <a:avLst/>
          </a:prstGeom>
          <a:solidFill>
            <a:srgbClr val="F6F5FC"/>
          </a:solidFill>
          <a:ln w="12700">
            <a:solidFill>
              <a:srgbClr val="F6F5FC"/>
            </a:solidFill>
            <a:prstDash val="solid"/>
          </a:ln>
        </p:spPr>
      </p:sp>
      <p:sp>
        <p:nvSpPr>
          <p:cNvPr id="24" name="Text 21"/>
          <p:cNvSpPr/>
          <p:nvPr/>
        </p:nvSpPr>
        <p:spPr>
          <a:xfrm>
            <a:off x="4526280" y="44805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25" name="Text 22"/>
          <p:cNvSpPr txBox="1"/>
          <p:nvPr/>
        </p:nvSpPr>
        <p:spPr>
          <a:xfrm>
            <a:off x="5047488" y="4453128"/>
            <a:ext cx="269748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Buffered</a:t>
            </a:r>
            <a:endParaRPr lang="en-US" sz="1500" dirty="0"/>
          </a:p>
        </p:txBody>
      </p:sp>
      <p:sp>
        <p:nvSpPr>
          <p:cNvPr id="26" name="Text 23"/>
          <p:cNvSpPr txBox="1"/>
          <p:nvPr/>
        </p:nvSpPr>
        <p:spPr>
          <a:xfrm>
            <a:off x="5047488" y="4846320"/>
            <a:ext cx="2697480" cy="71323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Bits arriving are stored in the buffer before they are played</a:t>
            </a:r>
            <a:endParaRPr lang="en-US" sz="1250" dirty="0"/>
          </a:p>
        </p:txBody>
      </p:sp>
      <p:sp>
        <p:nvSpPr>
          <p:cNvPr id="27" name="Shape 24"/>
          <p:cNvSpPr/>
          <p:nvPr/>
        </p:nvSpPr>
        <p:spPr>
          <a:xfrm>
            <a:off x="8001000" y="4343400"/>
            <a:ext cx="3474720" cy="1280160"/>
          </a:xfrm>
          <a:prstGeom prst="rect">
            <a:avLst/>
          </a:prstGeom>
          <a:solidFill>
            <a:srgbClr val="F6F5FC"/>
          </a:solidFill>
          <a:ln w="12700">
            <a:solidFill>
              <a:srgbClr val="F6F5FC"/>
            </a:solidFill>
            <a:prstDash val="solid"/>
          </a:ln>
        </p:spPr>
      </p:sp>
      <p:sp>
        <p:nvSpPr>
          <p:cNvPr id="28" name="Text 25"/>
          <p:cNvSpPr/>
          <p:nvPr/>
        </p:nvSpPr>
        <p:spPr>
          <a:xfrm>
            <a:off x="8138160" y="44805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29" name="Text 26"/>
          <p:cNvSpPr txBox="1"/>
          <p:nvPr/>
        </p:nvSpPr>
        <p:spPr>
          <a:xfrm>
            <a:off x="8659368" y="4453128"/>
            <a:ext cx="269748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Played as it arrives</a:t>
            </a:r>
            <a:endParaRPr lang="en-US" sz="1500" dirty="0"/>
          </a:p>
        </p:txBody>
      </p:sp>
      <p:sp>
        <p:nvSpPr>
          <p:cNvPr id="30" name="Text 27"/>
          <p:cNvSpPr txBox="1"/>
          <p:nvPr/>
        </p:nvSpPr>
        <p:spPr>
          <a:xfrm>
            <a:off x="8659368" y="4846320"/>
            <a:ext cx="2697480" cy="71323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No need to wait for - or store - the whole file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Why the buffer matters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7</a:t>
            </a:r>
            <a:endParaRPr lang="en-US" sz="1350" dirty="0"/>
          </a:p>
        </p:txBody>
      </p:sp>
      <p:sp>
        <p:nvSpPr>
          <p:cNvPr id="7" name="Shape 4"/>
          <p:cNvSpPr/>
          <p:nvPr/>
        </p:nvSpPr>
        <p:spPr>
          <a:xfrm>
            <a:off x="822960" y="1325880"/>
            <a:ext cx="1463040" cy="4023360"/>
          </a:xfrm>
          <a:prstGeom prst="rect">
            <a:avLst/>
          </a:prstGeom>
          <a:solidFill>
            <a:srgbClr val="FFFFFF"/>
          </a:solidFill>
          <a:ln w="22225">
            <a:solidFill>
              <a:srgbClr val="494985"/>
            </a:solidFill>
            <a:prstDash val="solid"/>
          </a:ln>
        </p:spPr>
      </p:sp>
      <p:sp>
        <p:nvSpPr>
          <p:cNvPr id="8" name="Shape 5"/>
          <p:cNvSpPr/>
          <p:nvPr/>
        </p:nvSpPr>
        <p:spPr>
          <a:xfrm>
            <a:off x="822960" y="2788920"/>
            <a:ext cx="1463040" cy="2560320"/>
          </a:xfrm>
          <a:prstGeom prst="rect">
            <a:avLst/>
          </a:prstGeom>
          <a:solidFill>
            <a:srgbClr val="DCE8F8"/>
          </a:solidFill>
          <a:ln w="22225">
            <a:solidFill>
              <a:srgbClr val="494985"/>
            </a:solidFill>
            <a:prstDash val="solid"/>
          </a:ln>
        </p:spPr>
      </p:sp>
      <p:sp>
        <p:nvSpPr>
          <p:cNvPr id="9" name="Shape 6"/>
          <p:cNvSpPr/>
          <p:nvPr/>
        </p:nvSpPr>
        <p:spPr>
          <a:xfrm>
            <a:off x="640080" y="1874520"/>
            <a:ext cx="1828800" cy="0"/>
          </a:xfrm>
          <a:prstGeom prst="line">
            <a:avLst/>
          </a:prstGeom>
          <a:noFill/>
          <a:ln w="25400">
            <a:solidFill>
              <a:srgbClr val="2E7D5B"/>
            </a:solidFill>
            <a:prstDash val="dash"/>
          </a:ln>
        </p:spPr>
      </p:sp>
      <p:sp>
        <p:nvSpPr>
          <p:cNvPr id="10" name="Shape 7"/>
          <p:cNvSpPr/>
          <p:nvPr/>
        </p:nvSpPr>
        <p:spPr>
          <a:xfrm>
            <a:off x="640080" y="4800600"/>
            <a:ext cx="1828800" cy="0"/>
          </a:xfrm>
          <a:prstGeom prst="line">
            <a:avLst/>
          </a:prstGeom>
          <a:noFill/>
          <a:ln w="25400">
            <a:solidFill>
              <a:srgbClr val="B3261E"/>
            </a:solidFill>
            <a:prstDash val="dash"/>
          </a:ln>
        </p:spPr>
      </p:sp>
      <p:sp>
        <p:nvSpPr>
          <p:cNvPr id="11" name="Text 8"/>
          <p:cNvSpPr txBox="1"/>
          <p:nvPr/>
        </p:nvSpPr>
        <p:spPr>
          <a:xfrm>
            <a:off x="2514600" y="1737360"/>
            <a:ext cx="2103120" cy="274320"/>
          </a:xfrm>
          <a:prstGeom prst="rect">
            <a:avLst/>
          </a:prstGeom>
          <a:noFill/>
          <a:ln/>
        </p:spPr>
        <p:txBody>
          <a:bodyPr wrap="square" lIns="0" tIns="0" rIns="0" bIns="0" rtlCol="0" anchor="ctr"/>
          <a:lstStyle/>
          <a:p>
            <a:pPr algn="l" indent="0" marL="0">
              <a:buNone/>
            </a:pPr>
            <a:r>
              <a:rPr lang="en-US" sz="1200" i="1" dirty="0">
                <a:solidFill>
                  <a:srgbClr val="2E7D5B"/>
                </a:solidFill>
                <a:latin typeface="Quicksand" pitchFamily="34" charset="0"/>
                <a:ea typeface="Quicksand" pitchFamily="34" charset="-122"/>
                <a:cs typeface="Quicksand" pitchFamily="34" charset="-120"/>
              </a:rPr>
              <a:t>high water mark</a:t>
            </a:r>
            <a:endParaRPr lang="en-US" sz="1200" dirty="0"/>
          </a:p>
        </p:txBody>
      </p:sp>
      <p:sp>
        <p:nvSpPr>
          <p:cNvPr id="12" name="Text 9"/>
          <p:cNvSpPr txBox="1"/>
          <p:nvPr/>
        </p:nvSpPr>
        <p:spPr>
          <a:xfrm>
            <a:off x="2514600" y="4663440"/>
            <a:ext cx="2103120" cy="274320"/>
          </a:xfrm>
          <a:prstGeom prst="rect">
            <a:avLst/>
          </a:prstGeom>
          <a:noFill/>
          <a:ln/>
        </p:spPr>
        <p:txBody>
          <a:bodyPr wrap="square" lIns="0" tIns="0" rIns="0" bIns="0" rtlCol="0" anchor="ctr"/>
          <a:lstStyle/>
          <a:p>
            <a:pPr algn="l" indent="0" marL="0">
              <a:buNone/>
            </a:pPr>
            <a:r>
              <a:rPr lang="en-US" sz="1200" i="1" dirty="0">
                <a:solidFill>
                  <a:srgbClr val="B3261E"/>
                </a:solidFill>
                <a:latin typeface="Quicksand" pitchFamily="34" charset="0"/>
                <a:ea typeface="Quicksand" pitchFamily="34" charset="-122"/>
                <a:cs typeface="Quicksand" pitchFamily="34" charset="-120"/>
              </a:rPr>
              <a:t>low water mark</a:t>
            </a:r>
            <a:endParaRPr lang="en-US" sz="1200" dirty="0"/>
          </a:p>
        </p:txBody>
      </p:sp>
      <p:sp>
        <p:nvSpPr>
          <p:cNvPr id="13" name="Text 10"/>
          <p:cNvSpPr txBox="1"/>
          <p:nvPr/>
        </p:nvSpPr>
        <p:spPr>
          <a:xfrm>
            <a:off x="822960" y="5440680"/>
            <a:ext cx="1463040" cy="274320"/>
          </a:xfrm>
          <a:prstGeom prst="rect">
            <a:avLst/>
          </a:prstGeom>
          <a:noFill/>
          <a:ln/>
        </p:spPr>
        <p:txBody>
          <a:bodyPr wrap="square" lIns="0" tIns="0" rIns="0" bIns="0" rtlCol="0" anchor="ctr"/>
          <a:lstStyle/>
          <a:p>
            <a:pPr algn="ctr" indent="0" marL="0">
              <a:buNone/>
            </a:pPr>
            <a:r>
              <a:rPr lang="en-US" sz="1300" i="1" dirty="0">
                <a:solidFill>
                  <a:srgbClr val="202124"/>
                </a:solidFill>
                <a:latin typeface="Quicksand" pitchFamily="34" charset="0"/>
                <a:ea typeface="Quicksand" pitchFamily="34" charset="-122"/>
                <a:cs typeface="Quicksand" pitchFamily="34" charset="-120"/>
              </a:rPr>
              <a:t>Buffer</a:t>
            </a:r>
            <a:endParaRPr lang="en-US" sz="1300" dirty="0"/>
          </a:p>
        </p:txBody>
      </p:sp>
      <p:sp>
        <p:nvSpPr>
          <p:cNvPr id="14" name="Shape 11"/>
          <p:cNvSpPr/>
          <p:nvPr/>
        </p:nvSpPr>
        <p:spPr>
          <a:xfrm>
            <a:off x="4480560" y="1280160"/>
            <a:ext cx="7040880" cy="987552"/>
          </a:xfrm>
          <a:prstGeom prst="rect">
            <a:avLst/>
          </a:prstGeom>
          <a:solidFill>
            <a:srgbClr val="F6F5FC"/>
          </a:solidFill>
          <a:ln w="12700">
            <a:solidFill>
              <a:srgbClr val="F6F5FC"/>
            </a:solidFill>
            <a:prstDash val="solid"/>
          </a:ln>
        </p:spPr>
      </p:sp>
      <p:sp>
        <p:nvSpPr>
          <p:cNvPr id="15" name="Text 12"/>
          <p:cNvSpPr/>
          <p:nvPr/>
        </p:nvSpPr>
        <p:spPr>
          <a:xfrm>
            <a:off x="4617720" y="14173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6" name="Text 13"/>
          <p:cNvSpPr txBox="1"/>
          <p:nvPr/>
        </p:nvSpPr>
        <p:spPr>
          <a:xfrm>
            <a:off x="5138928" y="1389888"/>
            <a:ext cx="62636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Fill</a:t>
            </a:r>
            <a:endParaRPr lang="en-US" sz="1500" dirty="0"/>
          </a:p>
        </p:txBody>
      </p:sp>
      <p:sp>
        <p:nvSpPr>
          <p:cNvPr id="17" name="Text 14"/>
          <p:cNvSpPr txBox="1"/>
          <p:nvPr/>
        </p:nvSpPr>
        <p:spPr>
          <a:xfrm>
            <a:off x="5138928" y="1783080"/>
            <a:ext cx="6263640" cy="420624"/>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Bits arrive from the server faster than the player uses them, so the buffer fills before playback starts</a:t>
            </a:r>
            <a:endParaRPr lang="en-US" sz="1250" dirty="0"/>
          </a:p>
        </p:txBody>
      </p:sp>
      <p:sp>
        <p:nvSpPr>
          <p:cNvPr id="18" name="Shape 15"/>
          <p:cNvSpPr/>
          <p:nvPr/>
        </p:nvSpPr>
        <p:spPr>
          <a:xfrm>
            <a:off x="4480560" y="2395728"/>
            <a:ext cx="7040880" cy="987552"/>
          </a:xfrm>
          <a:prstGeom prst="rect">
            <a:avLst/>
          </a:prstGeom>
          <a:solidFill>
            <a:srgbClr val="F6F5FC"/>
          </a:solidFill>
          <a:ln w="12700">
            <a:solidFill>
              <a:srgbClr val="F6F5FC"/>
            </a:solidFill>
            <a:prstDash val="solid"/>
          </a:ln>
        </p:spPr>
      </p:sp>
      <p:sp>
        <p:nvSpPr>
          <p:cNvPr id="19" name="Text 16"/>
          <p:cNvSpPr/>
          <p:nvPr/>
        </p:nvSpPr>
        <p:spPr>
          <a:xfrm>
            <a:off x="4617720" y="2532888"/>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20" name="Text 17"/>
          <p:cNvSpPr txBox="1"/>
          <p:nvPr/>
        </p:nvSpPr>
        <p:spPr>
          <a:xfrm>
            <a:off x="5138928" y="2505456"/>
            <a:ext cx="62636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Play</a:t>
            </a:r>
            <a:endParaRPr lang="en-US" sz="1500" dirty="0"/>
          </a:p>
        </p:txBody>
      </p:sp>
      <p:sp>
        <p:nvSpPr>
          <p:cNvPr id="21" name="Text 18"/>
          <p:cNvSpPr txBox="1"/>
          <p:nvPr/>
        </p:nvSpPr>
        <p:spPr>
          <a:xfrm>
            <a:off x="5138928" y="2898648"/>
            <a:ext cx="6263640" cy="420624"/>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The player takes data from the buffer at a steady rate - smooth playback even if the network speed varies</a:t>
            </a:r>
            <a:endParaRPr lang="en-US" sz="1250" dirty="0"/>
          </a:p>
        </p:txBody>
      </p:sp>
      <p:sp>
        <p:nvSpPr>
          <p:cNvPr id="22" name="Shape 19"/>
          <p:cNvSpPr/>
          <p:nvPr/>
        </p:nvSpPr>
        <p:spPr>
          <a:xfrm>
            <a:off x="4480560" y="3511296"/>
            <a:ext cx="7040880" cy="987552"/>
          </a:xfrm>
          <a:prstGeom prst="rect">
            <a:avLst/>
          </a:prstGeom>
          <a:solidFill>
            <a:srgbClr val="F6F5FC"/>
          </a:solidFill>
          <a:ln w="12700">
            <a:solidFill>
              <a:srgbClr val="F6F5FC"/>
            </a:solidFill>
            <a:prstDash val="solid"/>
          </a:ln>
        </p:spPr>
      </p:sp>
      <p:sp>
        <p:nvSpPr>
          <p:cNvPr id="23" name="Text 20"/>
          <p:cNvSpPr/>
          <p:nvPr/>
        </p:nvSpPr>
        <p:spPr>
          <a:xfrm>
            <a:off x="4617720" y="3648456"/>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24" name="Text 21"/>
          <p:cNvSpPr txBox="1"/>
          <p:nvPr/>
        </p:nvSpPr>
        <p:spPr>
          <a:xfrm>
            <a:off x="5138928" y="3621024"/>
            <a:ext cx="62636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Top up</a:t>
            </a:r>
            <a:endParaRPr lang="en-US" sz="1500" dirty="0"/>
          </a:p>
        </p:txBody>
      </p:sp>
      <p:sp>
        <p:nvSpPr>
          <p:cNvPr id="25" name="Text 22"/>
          <p:cNvSpPr txBox="1"/>
          <p:nvPr/>
        </p:nvSpPr>
        <p:spPr>
          <a:xfrm>
            <a:off x="5138928" y="4014216"/>
            <a:ext cx="6263640" cy="420624"/>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Below the low water mark: the server is asked to send faster. Above the high mark: slower</a:t>
            </a:r>
            <a:endParaRPr lang="en-US" sz="1250" dirty="0"/>
          </a:p>
        </p:txBody>
      </p:sp>
      <p:sp>
        <p:nvSpPr>
          <p:cNvPr id="26" name="Shape 23"/>
          <p:cNvSpPr/>
          <p:nvPr/>
        </p:nvSpPr>
        <p:spPr>
          <a:xfrm>
            <a:off x="4480560" y="4626864"/>
            <a:ext cx="7040880" cy="987552"/>
          </a:xfrm>
          <a:prstGeom prst="rect">
            <a:avLst/>
          </a:prstGeom>
          <a:solidFill>
            <a:srgbClr val="F6F5FC"/>
          </a:solidFill>
          <a:ln w="12700">
            <a:solidFill>
              <a:srgbClr val="F6F5FC"/>
            </a:solidFill>
            <a:prstDash val="solid"/>
          </a:ln>
        </p:spPr>
      </p:sp>
      <p:sp>
        <p:nvSpPr>
          <p:cNvPr id="27" name="Text 24"/>
          <p:cNvSpPr/>
          <p:nvPr/>
        </p:nvSpPr>
        <p:spPr>
          <a:xfrm>
            <a:off x="4617720" y="4764024"/>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4</a:t>
            </a:r>
            <a:endParaRPr lang="en-US" sz="1400" dirty="0"/>
          </a:p>
        </p:txBody>
      </p:sp>
      <p:sp>
        <p:nvSpPr>
          <p:cNvPr id="28" name="Text 25"/>
          <p:cNvSpPr txBox="1"/>
          <p:nvPr/>
        </p:nvSpPr>
        <p:spPr>
          <a:xfrm>
            <a:off x="5138928" y="4736592"/>
            <a:ext cx="62636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Empty = pause</a:t>
            </a:r>
            <a:endParaRPr lang="en-US" sz="1500" dirty="0"/>
          </a:p>
        </p:txBody>
      </p:sp>
      <p:sp>
        <p:nvSpPr>
          <p:cNvPr id="29" name="Text 26"/>
          <p:cNvSpPr txBox="1"/>
          <p:nvPr/>
        </p:nvSpPr>
        <p:spPr>
          <a:xfrm>
            <a:off x="5138928" y="5129784"/>
            <a:ext cx="6263640" cy="420624"/>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If data arrives slower than it is played, the buffer empties and the video stops to "buffer"</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Real-time vs on-demand</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8</a:t>
            </a:r>
            <a:endParaRPr lang="en-US" sz="13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1280160"/>
          <a:ext cx="10698480" cy="914400"/>
        </p:xfrm>
        <a:graphic>
          <a:graphicData uri="http://schemas.openxmlformats.org/drawingml/2006/table">
            <a:tbl>
              <a:tblPr/>
              <a:tblGrid>
                <a:gridCol w="2011680"/>
                <a:gridCol w="4343400"/>
                <a:gridCol w="4343400"/>
              </a:tblGrid>
              <a:tr h="566928">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Real-time (live)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On-demand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6692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Source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 live event captured by camera / microphone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Files already recorded and stored on a server</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How</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Encoded as it happens and sent straight to the streaming server and viewers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Encoded in advance; a link on a web page streams the file when the user asks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Pause / rewind?</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No - you see it as it happens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Yes - pause, rewind, fast-forward</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When?</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Only while the event is happening</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Any time the user chooses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Examples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Live football, a live lesson, online radio</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Netflix film, YouTube video, recorded lesson</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8" name="Text 4"/>
          <p:cNvSpPr txBox="1"/>
          <p:nvPr/>
        </p:nvSpPr>
        <p:spPr>
          <a:xfrm>
            <a:off x="777240" y="5166360"/>
            <a:ext cx="10698480" cy="54864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Sort it: live football, Spotify playlist, a Teams lesson happening now, last week's recorded lesson, online radio.</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Bit rate and broadband speed</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9</a:t>
            </a:r>
            <a:endParaRPr lang="en-US" sz="13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77240" y="1280160"/>
          <a:ext cx="4206240" cy="914400"/>
        </p:xfrm>
        <a:graphic>
          <a:graphicData uri="http://schemas.openxmlformats.org/drawingml/2006/table">
            <a:tbl>
              <a:tblPr/>
              <a:tblGrid>
                <a:gridCol w="2377440"/>
                <a:gridCol w="1828800"/>
              </a:tblGrid>
              <a:tr h="457200">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Quality</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Typical bit rate</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5720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Music</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0.3 Mbps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SD video</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3 Mbps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HD video (1080p)</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5 Mbps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4K video</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15-25 Mbps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777240" y="3611880"/>
            <a:ext cx="4206240" cy="274320"/>
          </a:xfrm>
          <a:prstGeom prst="rect">
            <a:avLst/>
          </a:prstGeom>
          <a:noFill/>
          <a:ln/>
        </p:spPr>
        <p:txBody>
          <a:bodyPr wrap="square" lIns="0" tIns="0" rIns="0" bIns="0" rtlCol="0" anchor="ctr"/>
          <a:lstStyle/>
          <a:p>
            <a:pPr algn="ctr" indent="0" marL="0">
              <a:buNone/>
            </a:pPr>
            <a:r>
              <a:rPr lang="en-US" sz="1100" i="1" dirty="0">
                <a:solidFill>
                  <a:srgbClr val="666666"/>
                </a:solidFill>
                <a:latin typeface="Quicksand" pitchFamily="34" charset="0"/>
                <a:ea typeface="Quicksand" pitchFamily="34" charset="-122"/>
                <a:cs typeface="Quicksand" pitchFamily="34" charset="-120"/>
              </a:rPr>
              <a:t>Typical values - they vary by service</a:t>
            </a:r>
            <a:endParaRPr lang="en-US" sz="1100" dirty="0"/>
          </a:p>
        </p:txBody>
      </p:sp>
      <p:sp>
        <p:nvSpPr>
          <p:cNvPr id="9" name="Shape 5"/>
          <p:cNvSpPr/>
          <p:nvPr/>
        </p:nvSpPr>
        <p:spPr>
          <a:xfrm>
            <a:off x="5349240" y="1280160"/>
            <a:ext cx="6126480" cy="2240280"/>
          </a:xfrm>
          <a:prstGeom prst="rect">
            <a:avLst/>
          </a:prstGeom>
          <a:solidFill>
            <a:srgbClr val="F6F5FC"/>
          </a:solidFill>
          <a:ln w="12700">
            <a:solidFill>
              <a:srgbClr val="F6F5FC"/>
            </a:solidFill>
            <a:prstDash val="solid"/>
          </a:ln>
        </p:spPr>
      </p:sp>
      <p:sp>
        <p:nvSpPr>
          <p:cNvPr id="10" name="Shape 6"/>
          <p:cNvSpPr/>
          <p:nvPr/>
        </p:nvSpPr>
        <p:spPr>
          <a:xfrm>
            <a:off x="5349240" y="1280160"/>
            <a:ext cx="73152" cy="2240280"/>
          </a:xfrm>
          <a:prstGeom prst="rect">
            <a:avLst/>
          </a:prstGeom>
          <a:solidFill>
            <a:srgbClr val="494985"/>
          </a:solidFill>
          <a:ln w="12700">
            <a:solidFill>
              <a:srgbClr val="494985"/>
            </a:solidFill>
            <a:prstDash val="solid"/>
          </a:ln>
        </p:spPr>
      </p:sp>
      <p:sp>
        <p:nvSpPr>
          <p:cNvPr id="11" name="Text 7"/>
          <p:cNvSpPr txBox="1"/>
          <p:nvPr/>
        </p:nvSpPr>
        <p:spPr>
          <a:xfrm>
            <a:off x="5577840" y="1371600"/>
            <a:ext cx="576072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The rule</a:t>
            </a:r>
            <a:endParaRPr lang="en-US" sz="1500" dirty="0"/>
          </a:p>
        </p:txBody>
      </p:sp>
      <p:sp>
        <p:nvSpPr>
          <p:cNvPr id="12" name="Text 8"/>
          <p:cNvSpPr txBox="1"/>
          <p:nvPr/>
        </p:nvSpPr>
        <p:spPr>
          <a:xfrm>
            <a:off x="5577840" y="1783080"/>
            <a:ext cx="5760720" cy="1645920"/>
          </a:xfrm>
          <a:prstGeom prst="rect">
            <a:avLst/>
          </a:prstGeom>
          <a:noFill/>
          <a:ln/>
        </p:spPr>
        <p:txBody>
          <a:bodyPr wrap="square" lIns="0" tIns="0" rIns="0" bIns="0" rtlCol="0" anchor="t"/>
          <a:lstStyle/>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Broadband speed must be at least the bit rate of the stream</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Higher quality = higher bit rate = more bandwidth needed</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If the connection is slower, the buffer empties and playback pauses</a:t>
            </a:r>
            <a:endParaRPr lang="en-US" sz="1300" dirty="0"/>
          </a:p>
        </p:txBody>
      </p:sp>
      <p:sp>
        <p:nvSpPr>
          <p:cNvPr id="13" name="Shape 9"/>
          <p:cNvSpPr/>
          <p:nvPr/>
        </p:nvSpPr>
        <p:spPr>
          <a:xfrm>
            <a:off x="777240" y="4023360"/>
            <a:ext cx="10698480" cy="868680"/>
          </a:xfrm>
          <a:prstGeom prst="rect">
            <a:avLst/>
          </a:prstGeom>
          <a:solidFill>
            <a:srgbClr val="F6F5FC"/>
          </a:solidFill>
          <a:ln w="12700">
            <a:solidFill>
              <a:srgbClr val="F6F5FC"/>
            </a:solidFill>
            <a:prstDash val="solid"/>
          </a:ln>
        </p:spPr>
      </p:sp>
      <p:sp>
        <p:nvSpPr>
          <p:cNvPr id="14" name="Text 10"/>
          <p:cNvSpPr/>
          <p:nvPr/>
        </p:nvSpPr>
        <p:spPr>
          <a:xfrm>
            <a:off x="914400" y="41605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5" name="Text 11"/>
          <p:cNvSpPr txBox="1"/>
          <p:nvPr/>
        </p:nvSpPr>
        <p:spPr>
          <a:xfrm>
            <a:off x="1435608" y="4133088"/>
            <a:ext cx="99212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Worked example</a:t>
            </a:r>
            <a:endParaRPr lang="en-US" sz="1500" dirty="0"/>
          </a:p>
        </p:txBody>
      </p:sp>
      <p:sp>
        <p:nvSpPr>
          <p:cNvPr id="16" name="Text 12"/>
          <p:cNvSpPr txBox="1"/>
          <p:nvPr/>
        </p:nvSpPr>
        <p:spPr>
          <a:xfrm>
            <a:off x="1435608" y="4526280"/>
            <a:ext cx="9921240" cy="301752"/>
          </a:xfrm>
          <a:prstGeom prst="rect">
            <a:avLst/>
          </a:prstGeom>
          <a:noFill/>
          <a:ln/>
        </p:spPr>
        <p:txBody>
          <a:bodyPr wrap="square" lIns="0" tIns="0" rIns="0" bIns="0" rtlCol="0" anchor="t"/>
          <a:lstStyle/>
          <a:p>
            <a:pPr indent="0" marL="0">
              <a:buNone/>
            </a:pPr>
            <a:r>
              <a:rPr lang="en-US" sz="1350" dirty="0">
                <a:solidFill>
                  <a:srgbClr val="202124"/>
                </a:solidFill>
                <a:latin typeface="Quicksand" pitchFamily="34" charset="0"/>
                <a:ea typeface="Quicksand" pitchFamily="34" charset="-122"/>
                <a:cs typeface="Quicksand" pitchFamily="34" charset="-120"/>
              </a:rPr>
              <a:t>A 2-hour HD film streams at 5 Mbps. How much data is sent?   5 Mbps x 7200 s = 36 000 Mb = 4500 MB = 4.5 GB</a:t>
            </a:r>
            <a:endParaRPr lang="en-US" sz="1350" dirty="0"/>
          </a:p>
        </p:txBody>
      </p:sp>
      <p:sp>
        <p:nvSpPr>
          <p:cNvPr id="17" name="Text 13"/>
          <p:cNvSpPr txBox="1"/>
          <p:nvPr/>
        </p:nvSpPr>
        <p:spPr>
          <a:xfrm>
            <a:off x="777240" y="5120640"/>
            <a:ext cx="10698480" cy="68580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Quick check: your broadband gives 3 Mbps. (a) What happens if you stream the HD film? (b) How could you watch it without pauses?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Bit streaming: pros and cons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10</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77240" y="1325880"/>
          <a:ext cx="5212080" cy="914400"/>
        </p:xfrm>
        <a:graphic>
          <a:graphicData uri="http://schemas.openxmlformats.org/drawingml/2006/table">
            <a:tbl>
              <a:tblPr/>
              <a:tblGrid>
                <a:gridCol w="5212080"/>
              </a:tblGrid>
              <a:tr h="548640">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Advantages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4864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No need to wait for the whole file to download before watching</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No need to store large files on your device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Files can be played on demand, whenever wanted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Harder to copy - some protection against piracy</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263640" y="1325880"/>
          <a:ext cx="5212080" cy="914400"/>
        </p:xfrm>
        <a:graphic>
          <a:graphicData uri="http://schemas.openxmlformats.org/drawingml/2006/table">
            <a:tbl>
              <a:tblPr/>
              <a:tblGrid>
                <a:gridCol w="5212080"/>
              </a:tblGrid>
              <a:tr h="548640">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Disadvantages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4864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Cannot stream if the connection is lost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Pauses to "buffer" if the connection is slow or the buffer is too small</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Uses a lot of bandwidth</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Copyright and security issues with some sources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9" name="Shape 4"/>
          <p:cNvSpPr/>
          <p:nvPr/>
        </p:nvSpPr>
        <p:spPr>
          <a:xfrm>
            <a:off x="5132822" y="4306824"/>
            <a:ext cx="1895876" cy="144475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10" name="Image 0" descr="figs/server.jpg">    </p:cNvPr>
          <p:cNvPicPr>
            <a:picLocks noChangeAspect="1"/>
          </p:cNvPicPr>
          <p:nvPr/>
        </p:nvPicPr>
        <p:blipFill>
          <a:blip r:embed="rId1"/>
          <a:stretch>
            <a:fillRect/>
          </a:stretch>
        </p:blipFill>
        <p:spPr>
          <a:xfrm>
            <a:off x="5169398" y="4343400"/>
            <a:ext cx="1822724" cy="1371600"/>
          </a:xfrm>
          <a:prstGeom prst="rect">
            <a:avLst/>
          </a:prstGeom>
        </p:spPr>
      </p:pic>
      <p:sp>
        <p:nvSpPr>
          <p:cNvPr id="11" name="Text 5"/>
          <p:cNvSpPr txBox="1"/>
          <p:nvPr/>
        </p:nvSpPr>
        <p:spPr>
          <a:xfrm>
            <a:off x="3840480" y="5779008"/>
            <a:ext cx="4480560" cy="237744"/>
          </a:xfrm>
          <a:prstGeom prst="rect">
            <a:avLst/>
          </a:prstGeom>
          <a:noFill/>
          <a:ln/>
        </p:spPr>
        <p:txBody>
          <a:bodyPr wrap="square" lIns="0" tIns="0" rIns="0" bIns="0" rtlCol="0" anchor="ctr"/>
          <a:lstStyle/>
          <a:p>
            <a:pPr algn="ctr" indent="0" marL="0">
              <a:buNone/>
            </a:pPr>
            <a:r>
              <a:rPr lang="en-US" sz="1050" b="1" i="1" dirty="0">
                <a:solidFill>
                  <a:srgbClr val="202124"/>
                </a:solidFill>
                <a:latin typeface="Quicksand" pitchFamily="34" charset="0"/>
                <a:ea typeface="Quicksand" pitchFamily="34" charset="-122"/>
                <a:cs typeface="Quicksand" pitchFamily="34" charset="-120"/>
              </a:rPr>
              <a:t>Streaming servers   </a:t>
            </a:r>
            <a:r>
              <a:rPr lang="en-US" sz="800" i="1" dirty="0">
                <a:solidFill>
                  <a:srgbClr val="8A8A99"/>
                </a:solidFill>
                <a:latin typeface="Quicksand" pitchFamily="34" charset="0"/>
                <a:ea typeface="Quicksand" pitchFamily="34" charset="-122"/>
                <a:cs typeface="Quicksand" pitchFamily="34" charset="-120"/>
              </a:rPr>
              <a:t>Photo: Marián Hubinský, CC BY-SA 4.0, Wikimedia Commons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The internet vs the World Wide Web</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11</a:t>
            </a:r>
            <a:endParaRPr lang="en-US" sz="13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77240" y="1280160"/>
          <a:ext cx="10698480" cy="914400"/>
        </p:xfrm>
        <a:graphic>
          <a:graphicData uri="http://schemas.openxmlformats.org/drawingml/2006/table">
            <a:tbl>
              <a:tblPr/>
              <a:tblGrid>
                <a:gridCol w="2011680"/>
                <a:gridCol w="4343400"/>
                <a:gridCol w="4343400"/>
              </a:tblGrid>
              <a:tr h="566928">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The internet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The World Wide Web (WWW)</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6692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What is it?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 global network of interconnected networks (the infrastructure)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 collection of linked web pages and resources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Made of...</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Hardware: routers, cables, satellites, servers...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Information: web pages written in HTML</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Protocols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TCP/IP</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HTTP / HTTPS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Found using</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IP addresses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URLs, through a web browser</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Relationship</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Carries the WWW - and email, VoIP, gaming...</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Runs ON the internet - it is one service of many</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8" name="Text 4"/>
          <p:cNvSpPr txBox="1"/>
          <p:nvPr/>
        </p:nvSpPr>
        <p:spPr>
          <a:xfrm>
            <a:off x="777240" y="5166360"/>
            <a:ext cx="10698480" cy="54864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The internet is the roads; the WWW is one kind of traffic using them. Email uses the internet but is not the WWW.</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Hardware that supports the internet</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4</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12</a:t>
            </a:r>
            <a:endParaRPr lang="en-US" sz="1350" dirty="0"/>
          </a:p>
        </p:txBody>
      </p:sp>
      <p:sp>
        <p:nvSpPr>
          <p:cNvPr id="7" name="Text 4"/>
          <p:cNvSpPr/>
          <p:nvPr/>
        </p:nvSpPr>
        <p:spPr>
          <a:xfrm>
            <a:off x="548640" y="1463040"/>
            <a:ext cx="1463040" cy="731520"/>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Home router</a:t>
            </a:r>
            <a:endParaRPr lang="en-US" sz="1200" dirty="0"/>
          </a:p>
          <a:p>
            <a:pPr algn="ctr" indent="0" marL="0">
              <a:buNone/>
            </a:pPr>
            <a:r>
              <a:rPr lang="en-US" sz="1200" b="1" dirty="0">
                <a:solidFill>
                  <a:srgbClr val="202124"/>
                </a:solidFill>
                <a:latin typeface="Quicksand" pitchFamily="34" charset="0"/>
                <a:ea typeface="Quicksand" pitchFamily="34" charset="-122"/>
                <a:cs typeface="Quicksand" pitchFamily="34" charset="-120"/>
              </a:rPr>
              <a:t>+ modem</a:t>
            </a:r>
            <a:endParaRPr lang="en-US" sz="1200" dirty="0"/>
          </a:p>
        </p:txBody>
      </p:sp>
      <p:sp>
        <p:nvSpPr>
          <p:cNvPr id="8" name="Text 5"/>
          <p:cNvSpPr/>
          <p:nvPr/>
        </p:nvSpPr>
        <p:spPr>
          <a:xfrm>
            <a:off x="548640" y="2971800"/>
            <a:ext cx="1463040" cy="731520"/>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Company</a:t>
            </a:r>
            <a:endParaRPr lang="en-US" sz="1200" dirty="0"/>
          </a:p>
          <a:p>
            <a:pPr algn="ctr" indent="0" marL="0">
              <a:buNone/>
            </a:pPr>
            <a:r>
              <a:rPr lang="en-US" sz="1200" b="1" dirty="0">
                <a:solidFill>
                  <a:srgbClr val="202124"/>
                </a:solidFill>
                <a:latin typeface="Quicksand" pitchFamily="34" charset="0"/>
                <a:ea typeface="Quicksand" pitchFamily="34" charset="-122"/>
                <a:cs typeface="Quicksand" pitchFamily="34" charset="-120"/>
              </a:rPr>
              <a:t>LAN</a:t>
            </a:r>
            <a:endParaRPr lang="en-US" sz="1200" dirty="0"/>
          </a:p>
        </p:txBody>
      </p:sp>
      <p:sp>
        <p:nvSpPr>
          <p:cNvPr id="9" name="Text 6"/>
          <p:cNvSpPr/>
          <p:nvPr/>
        </p:nvSpPr>
        <p:spPr>
          <a:xfrm>
            <a:off x="548640" y="4480560"/>
            <a:ext cx="1463040" cy="731520"/>
          </a:xfrm>
          <a:prstGeom prst="rect">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Mobile</a:t>
            </a:r>
            <a:endParaRPr lang="en-US" sz="1200" dirty="0"/>
          </a:p>
          <a:p>
            <a:pPr algn="ctr" indent="0" marL="0">
              <a:buNone/>
            </a:pPr>
            <a:r>
              <a:rPr lang="en-US" sz="1200" b="1" dirty="0">
                <a:solidFill>
                  <a:srgbClr val="202124"/>
                </a:solidFill>
                <a:latin typeface="Quicksand" pitchFamily="34" charset="0"/>
                <a:ea typeface="Quicksand" pitchFamily="34" charset="-122"/>
                <a:cs typeface="Quicksand" pitchFamily="34" charset="-120"/>
              </a:rPr>
              <a:t>phone</a:t>
            </a:r>
            <a:endParaRPr lang="en-US" sz="1200" dirty="0"/>
          </a:p>
        </p:txBody>
      </p:sp>
      <p:sp>
        <p:nvSpPr>
          <p:cNvPr id="10" name="Shape 7"/>
          <p:cNvSpPr/>
          <p:nvPr/>
        </p:nvSpPr>
        <p:spPr>
          <a:xfrm>
            <a:off x="2011680" y="1828800"/>
            <a:ext cx="2743200" cy="914"/>
          </a:xfrm>
          <a:prstGeom prst="line">
            <a:avLst/>
          </a:prstGeom>
          <a:noFill/>
          <a:ln w="25400">
            <a:solidFill>
              <a:srgbClr val="494985"/>
            </a:solidFill>
            <a:prstDash val="solid"/>
            <a:tailEnd type="triangle"/>
          </a:ln>
        </p:spPr>
      </p:sp>
      <p:sp>
        <p:nvSpPr>
          <p:cNvPr id="11" name="Text 8"/>
          <p:cNvSpPr txBox="1"/>
          <p:nvPr/>
        </p:nvSpPr>
        <p:spPr>
          <a:xfrm>
            <a:off x="2103120" y="1417320"/>
            <a:ext cx="2651760" cy="274320"/>
          </a:xfrm>
          <a:prstGeom prst="rect">
            <a:avLst/>
          </a:prstGeom>
          <a:noFill/>
          <a:ln/>
        </p:spPr>
        <p:txBody>
          <a:bodyPr wrap="square" lIns="0" tIns="0" rIns="0" bIns="0" rtlCol="0" anchor="ctr"/>
          <a:lstStyle/>
          <a:p>
            <a:pPr algn="ctr" indent="0" marL="0">
              <a:buNone/>
            </a:pPr>
            <a:r>
              <a:rPr lang="en-US" sz="1200" i="1" dirty="0">
                <a:solidFill>
                  <a:srgbClr val="494985"/>
                </a:solidFill>
                <a:latin typeface="Quicksand" pitchFamily="34" charset="0"/>
                <a:ea typeface="Quicksand" pitchFamily="34" charset="-122"/>
                <a:cs typeface="Quicksand" pitchFamily="34" charset="-120"/>
              </a:rPr>
              <a:t>PSTN / broadband line</a:t>
            </a:r>
            <a:endParaRPr lang="en-US" sz="1200" dirty="0"/>
          </a:p>
        </p:txBody>
      </p:sp>
      <p:sp>
        <p:nvSpPr>
          <p:cNvPr id="12" name="Shape 9"/>
          <p:cNvSpPr/>
          <p:nvPr/>
        </p:nvSpPr>
        <p:spPr>
          <a:xfrm>
            <a:off x="2011680" y="3337560"/>
            <a:ext cx="2743200" cy="914"/>
          </a:xfrm>
          <a:prstGeom prst="line">
            <a:avLst/>
          </a:prstGeom>
          <a:noFill/>
          <a:ln w="44450">
            <a:solidFill>
              <a:srgbClr val="2E7D5B"/>
            </a:solidFill>
            <a:prstDash val="solid"/>
            <a:tailEnd type="triangle"/>
          </a:ln>
        </p:spPr>
      </p:sp>
      <p:sp>
        <p:nvSpPr>
          <p:cNvPr id="13" name="Text 10"/>
          <p:cNvSpPr txBox="1"/>
          <p:nvPr/>
        </p:nvSpPr>
        <p:spPr>
          <a:xfrm>
            <a:off x="2103120" y="2926080"/>
            <a:ext cx="2651760" cy="274320"/>
          </a:xfrm>
          <a:prstGeom prst="rect">
            <a:avLst/>
          </a:prstGeom>
          <a:noFill/>
          <a:ln/>
        </p:spPr>
        <p:txBody>
          <a:bodyPr wrap="square" lIns="0" tIns="0" rIns="0" bIns="0" rtlCol="0" anchor="ctr"/>
          <a:lstStyle/>
          <a:p>
            <a:pPr algn="ctr" indent="0" marL="0">
              <a:buNone/>
            </a:pPr>
            <a:r>
              <a:rPr lang="en-US" sz="1200" i="1" dirty="0">
                <a:solidFill>
                  <a:srgbClr val="2E7D5B"/>
                </a:solidFill>
                <a:latin typeface="Quicksand" pitchFamily="34" charset="0"/>
                <a:ea typeface="Quicksand" pitchFamily="34" charset="-122"/>
                <a:cs typeface="Quicksand" pitchFamily="34" charset="-120"/>
              </a:rPr>
              <a:t>dedicated (leased) line</a:t>
            </a:r>
            <a:endParaRPr lang="en-US" sz="1200" dirty="0"/>
          </a:p>
        </p:txBody>
      </p:sp>
      <p:sp>
        <p:nvSpPr>
          <p:cNvPr id="14" name="Shape 11"/>
          <p:cNvSpPr/>
          <p:nvPr/>
        </p:nvSpPr>
        <p:spPr>
          <a:xfrm>
            <a:off x="2011680" y="4846320"/>
            <a:ext cx="2743200" cy="914"/>
          </a:xfrm>
          <a:prstGeom prst="line">
            <a:avLst/>
          </a:prstGeom>
          <a:noFill/>
          <a:ln w="25400">
            <a:solidFill>
              <a:srgbClr val="4A90D9"/>
            </a:solidFill>
            <a:prstDash val="dash"/>
            <a:tailEnd type="triangle"/>
          </a:ln>
        </p:spPr>
      </p:sp>
      <p:sp>
        <p:nvSpPr>
          <p:cNvPr id="15" name="Text 12"/>
          <p:cNvSpPr txBox="1"/>
          <p:nvPr/>
        </p:nvSpPr>
        <p:spPr>
          <a:xfrm>
            <a:off x="2103120" y="4434840"/>
            <a:ext cx="2651760" cy="274320"/>
          </a:xfrm>
          <a:prstGeom prst="rect">
            <a:avLst/>
          </a:prstGeom>
          <a:noFill/>
          <a:ln/>
        </p:spPr>
        <p:txBody>
          <a:bodyPr wrap="square" lIns="0" tIns="0" rIns="0" bIns="0" rtlCol="0" anchor="ctr"/>
          <a:lstStyle/>
          <a:p>
            <a:pPr algn="ctr" indent="0" marL="0">
              <a:buNone/>
            </a:pPr>
            <a:r>
              <a:rPr lang="en-US" sz="1200" i="1" dirty="0">
                <a:solidFill>
                  <a:srgbClr val="4A90D9"/>
                </a:solidFill>
                <a:latin typeface="Quicksand" pitchFamily="34" charset="0"/>
                <a:ea typeface="Quicksand" pitchFamily="34" charset="-122"/>
                <a:cs typeface="Quicksand" pitchFamily="34" charset="-120"/>
              </a:rPr>
              <a:t>cell phone network</a:t>
            </a:r>
            <a:endParaRPr lang="en-US" sz="1200" dirty="0"/>
          </a:p>
        </p:txBody>
      </p:sp>
      <p:sp>
        <p:nvSpPr>
          <p:cNvPr id="16" name="Text 13"/>
          <p:cNvSpPr/>
          <p:nvPr/>
        </p:nvSpPr>
        <p:spPr>
          <a:xfrm>
            <a:off x="4846320" y="1691640"/>
            <a:ext cx="1280160" cy="3291840"/>
          </a:xfrm>
          <a:prstGeom prst="rect">
            <a:avLst/>
          </a:prstGeom>
          <a:solidFill>
            <a:srgbClr val="FFFFFF"/>
          </a:solidFill>
          <a:ln w="15875">
            <a:solidFill>
              <a:srgbClr val="494985"/>
            </a:solidFill>
          </a:ln>
        </p:spPr>
        <p:txBody>
          <a:bodyPr wrap="square" lIns="0" tIns="0" rIns="0" bIns="0" rtlCol="0" anchor="ctr"/>
          <a:lstStyle/>
          <a:p>
            <a:pPr algn="ctr" indent="0" marL="0">
              <a:buNone/>
            </a:pPr>
            <a:r>
              <a:rPr lang="en-US" sz="1400" b="1" dirty="0">
                <a:solidFill>
                  <a:srgbClr val="202124"/>
                </a:solidFill>
                <a:latin typeface="Quicksand" pitchFamily="34" charset="0"/>
                <a:ea typeface="Quicksand" pitchFamily="34" charset="-122"/>
                <a:cs typeface="Quicksand" pitchFamily="34" charset="-120"/>
              </a:rPr>
              <a:t>ISPs</a:t>
            </a:r>
            <a:endParaRPr lang="en-US" sz="1400" dirty="0"/>
          </a:p>
        </p:txBody>
      </p:sp>
      <p:sp>
        <p:nvSpPr>
          <p:cNvPr id="17" name="Shape 14"/>
          <p:cNvSpPr/>
          <p:nvPr/>
        </p:nvSpPr>
        <p:spPr>
          <a:xfrm>
            <a:off x="6126480" y="3337560"/>
            <a:ext cx="1280160" cy="914"/>
          </a:xfrm>
          <a:prstGeom prst="line">
            <a:avLst/>
          </a:prstGeom>
          <a:noFill/>
          <a:ln w="38100">
            <a:solidFill>
              <a:srgbClr val="494985"/>
            </a:solidFill>
            <a:prstDash val="solid"/>
            <a:tailEnd type="triangle"/>
          </a:ln>
        </p:spPr>
      </p:sp>
      <p:sp>
        <p:nvSpPr>
          <p:cNvPr id="18" name="Text 15"/>
          <p:cNvSpPr/>
          <p:nvPr/>
        </p:nvSpPr>
        <p:spPr>
          <a:xfrm>
            <a:off x="7406640" y="2331720"/>
            <a:ext cx="2194560" cy="2011680"/>
          </a:xfrm>
          <a:prstGeom prst="cloud">
            <a:avLst/>
          </a:prstGeom>
          <a:solidFill>
            <a:srgbClr val="EEF3FB"/>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Internet backbone</a:t>
            </a:r>
            <a:endParaRPr lang="en-US" sz="1200" dirty="0"/>
          </a:p>
          <a:p>
            <a:pPr algn="ctr" indent="0" marL="0">
              <a:buNone/>
            </a:pPr>
            <a:r>
              <a:rPr lang="en-US" sz="1200" b="1" dirty="0">
                <a:solidFill>
                  <a:srgbClr val="202124"/>
                </a:solidFill>
                <a:latin typeface="Quicksand" pitchFamily="34" charset="0"/>
                <a:ea typeface="Quicksand" pitchFamily="34" charset="-122"/>
                <a:cs typeface="Quicksand" pitchFamily="34" charset="-120"/>
              </a:rPr>
              <a:t>routers, fibre,</a:t>
            </a:r>
            <a:endParaRPr lang="en-US" sz="1200" dirty="0"/>
          </a:p>
          <a:p>
            <a:pPr algn="ctr" indent="0" marL="0">
              <a:buNone/>
            </a:pPr>
            <a:r>
              <a:rPr lang="en-US" sz="1200" b="1" dirty="0">
                <a:solidFill>
                  <a:srgbClr val="202124"/>
                </a:solidFill>
                <a:latin typeface="Quicksand" pitchFamily="34" charset="0"/>
                <a:ea typeface="Quicksand" pitchFamily="34" charset="-122"/>
                <a:cs typeface="Quicksand" pitchFamily="34" charset="-120"/>
              </a:rPr>
              <a:t>undersea cables</a:t>
            </a:r>
            <a:endParaRPr lang="en-US" sz="1200" dirty="0"/>
          </a:p>
        </p:txBody>
      </p:sp>
      <p:sp>
        <p:nvSpPr>
          <p:cNvPr id="19" name="Shape 16"/>
          <p:cNvSpPr/>
          <p:nvPr/>
        </p:nvSpPr>
        <p:spPr>
          <a:xfrm>
            <a:off x="9601200" y="3337560"/>
            <a:ext cx="640080" cy="914"/>
          </a:xfrm>
          <a:prstGeom prst="line">
            <a:avLst/>
          </a:prstGeom>
          <a:noFill/>
          <a:ln w="25400">
            <a:solidFill>
              <a:srgbClr val="494985"/>
            </a:solidFill>
            <a:prstDash val="solid"/>
            <a:tailEnd type="triangle"/>
          </a:ln>
        </p:spPr>
      </p:sp>
      <p:sp>
        <p:nvSpPr>
          <p:cNvPr id="20" name="Text 17"/>
          <p:cNvSpPr/>
          <p:nvPr/>
        </p:nvSpPr>
        <p:spPr>
          <a:xfrm>
            <a:off x="10241280" y="2971800"/>
            <a:ext cx="1188720" cy="731520"/>
          </a:xfrm>
          <a:prstGeom prst="rect">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Web</a:t>
            </a:r>
            <a:endParaRPr lang="en-US" sz="1200" dirty="0"/>
          </a:p>
          <a:p>
            <a:pPr algn="ctr" indent="0" marL="0">
              <a:buNone/>
            </a:pPr>
            <a:r>
              <a:rPr lang="en-US" sz="1200" b="1" dirty="0">
                <a:solidFill>
                  <a:srgbClr val="202124"/>
                </a:solidFill>
                <a:latin typeface="Quicksand" pitchFamily="34" charset="0"/>
                <a:ea typeface="Quicksand" pitchFamily="34" charset="-122"/>
                <a:cs typeface="Quicksand" pitchFamily="34" charset="-120"/>
              </a:rPr>
              <a:t>server</a:t>
            </a:r>
            <a:endParaRPr lang="en-US" sz="1200" dirty="0"/>
          </a:p>
        </p:txBody>
      </p:sp>
      <p:sp>
        <p:nvSpPr>
          <p:cNvPr id="21" name="Shape 18"/>
          <p:cNvSpPr/>
          <p:nvPr/>
        </p:nvSpPr>
        <p:spPr>
          <a:xfrm>
            <a:off x="9858764" y="1106424"/>
            <a:ext cx="1542271" cy="139903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22" name="Image 0" descr="figs/dish.jpg">    </p:cNvPr>
          <p:cNvPicPr>
            <a:picLocks noChangeAspect="1"/>
          </p:cNvPicPr>
          <p:nvPr/>
        </p:nvPicPr>
        <p:blipFill>
          <a:blip r:embed="rId1"/>
          <a:stretch>
            <a:fillRect/>
          </a:stretch>
        </p:blipFill>
        <p:spPr>
          <a:xfrm>
            <a:off x="9895340" y="1143000"/>
            <a:ext cx="1469119" cy="1325880"/>
          </a:xfrm>
          <a:prstGeom prst="rect">
            <a:avLst/>
          </a:prstGeom>
        </p:spPr>
      </p:pic>
      <p:sp>
        <p:nvSpPr>
          <p:cNvPr id="23" name="Text 19"/>
          <p:cNvSpPr txBox="1"/>
          <p:nvPr/>
        </p:nvSpPr>
        <p:spPr>
          <a:xfrm>
            <a:off x="9646920" y="2532888"/>
            <a:ext cx="1965960" cy="237744"/>
          </a:xfrm>
          <a:prstGeom prst="rect">
            <a:avLst/>
          </a:prstGeom>
          <a:noFill/>
          <a:ln/>
        </p:spPr>
        <p:txBody>
          <a:bodyPr wrap="square" lIns="0" tIns="0" rIns="0" bIns="0" rtlCol="0" anchor="ctr"/>
          <a:lstStyle/>
          <a:p>
            <a:pPr algn="ctr" indent="0" marL="0">
              <a:buNone/>
            </a:pPr>
            <a:r>
              <a:rPr lang="en-US" sz="800" i="1" dirty="0">
                <a:solidFill>
                  <a:srgbClr val="8A8A99"/>
                </a:solidFill>
                <a:latin typeface="Quicksand" pitchFamily="34" charset="0"/>
                <a:ea typeface="Quicksand" pitchFamily="34" charset="-122"/>
                <a:cs typeface="Quicksand" pitchFamily="34" charset="-120"/>
              </a:rPr>
              <a:t>Photo: Richard Bartz, CC BY-SA 2.5, Wikimedia Commons</a:t>
            </a:r>
            <a:endParaRPr lang="en-US" sz="800" dirty="0"/>
          </a:p>
        </p:txBody>
      </p:sp>
      <p:sp>
        <p:nvSpPr>
          <p:cNvPr id="24" name="Text 20"/>
          <p:cNvSpPr txBox="1"/>
          <p:nvPr/>
        </p:nvSpPr>
        <p:spPr>
          <a:xfrm>
            <a:off x="6949440" y="4617720"/>
            <a:ext cx="3291840" cy="274320"/>
          </a:xfrm>
          <a:prstGeom prst="rect">
            <a:avLst/>
          </a:prstGeom>
          <a:noFill/>
          <a:ln/>
        </p:spPr>
        <p:txBody>
          <a:bodyPr wrap="square" lIns="0" tIns="0" rIns="0" bIns="0" rtlCol="0" anchor="ctr"/>
          <a:lstStyle/>
          <a:p>
            <a:pPr algn="ctr" indent="0" marL="0">
              <a:buNone/>
            </a:pPr>
            <a:r>
              <a:rPr lang="en-US" sz="1150" i="1" dirty="0">
                <a:solidFill>
                  <a:srgbClr val="666666"/>
                </a:solidFill>
                <a:latin typeface="Quicksand" pitchFamily="34" charset="0"/>
                <a:ea typeface="Quicksand" pitchFamily="34" charset="-122"/>
                <a:cs typeface="Quicksand" pitchFamily="34" charset="-120"/>
              </a:rPr>
              <a:t>Satellites link continents and remote areas</a:t>
            </a:r>
            <a:endParaRPr lang="en-US" sz="1150" dirty="0"/>
          </a:p>
        </p:txBody>
      </p:sp>
      <p:sp>
        <p:nvSpPr>
          <p:cNvPr id="25" name="Text 21"/>
          <p:cNvSpPr txBox="1"/>
          <p:nvPr/>
        </p:nvSpPr>
        <p:spPr>
          <a:xfrm>
            <a:off x="777240" y="5532120"/>
            <a:ext cx="10698480" cy="41148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Learn four: modem, PSTN, dedicated line, cell phone network.</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Modems and the PSTN</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4</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13</a:t>
            </a:r>
            <a:endParaRPr lang="en-US" sz="1350" dirty="0"/>
          </a:p>
        </p:txBody>
      </p:sp>
      <p:sp>
        <p:nvSpPr>
          <p:cNvPr id="7" name="Shape 4"/>
          <p:cNvSpPr/>
          <p:nvPr/>
        </p:nvSpPr>
        <p:spPr>
          <a:xfrm>
            <a:off x="734255" y="1243584"/>
            <a:ext cx="3286371" cy="222199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exchange.jpg">    </p:cNvPr>
          <p:cNvPicPr>
            <a:picLocks noChangeAspect="1"/>
          </p:cNvPicPr>
          <p:nvPr/>
        </p:nvPicPr>
        <p:blipFill>
          <a:blip r:embed="rId1"/>
          <a:stretch>
            <a:fillRect/>
          </a:stretch>
        </p:blipFill>
        <p:spPr>
          <a:xfrm>
            <a:off x="770831" y="1280160"/>
            <a:ext cx="3213219" cy="2148840"/>
          </a:xfrm>
          <a:prstGeom prst="rect">
            <a:avLst/>
          </a:prstGeom>
        </p:spPr>
      </p:pic>
      <p:sp>
        <p:nvSpPr>
          <p:cNvPr id="9" name="Text 5"/>
          <p:cNvSpPr txBox="1"/>
          <p:nvPr/>
        </p:nvSpPr>
        <p:spPr>
          <a:xfrm>
            <a:off x="548640" y="3493008"/>
            <a:ext cx="3657600" cy="237744"/>
          </a:xfrm>
          <a:prstGeom prst="rect">
            <a:avLst/>
          </a:prstGeom>
          <a:noFill/>
          <a:ln/>
        </p:spPr>
        <p:txBody>
          <a:bodyPr wrap="square" lIns="0" tIns="0" rIns="0" bIns="0" rtlCol="0" anchor="ctr"/>
          <a:lstStyle/>
          <a:p>
            <a:pPr algn="ctr" indent="0" marL="0">
              <a:buNone/>
            </a:pPr>
            <a:r>
              <a:rPr lang="en-US" sz="1050" b="1" i="1" dirty="0">
                <a:solidFill>
                  <a:srgbClr val="202124"/>
                </a:solidFill>
                <a:latin typeface="Quicksand" pitchFamily="34" charset="0"/>
                <a:ea typeface="Quicksand" pitchFamily="34" charset="-122"/>
                <a:cs typeface="Quicksand" pitchFamily="34" charset="-120"/>
              </a:rPr>
              <a:t>Telephone exchange   </a:t>
            </a:r>
            <a:r>
              <a:rPr lang="en-US" sz="800" i="1" dirty="0">
                <a:solidFill>
                  <a:srgbClr val="8A8A99"/>
                </a:solidFill>
                <a:latin typeface="Quicksand" pitchFamily="34" charset="0"/>
                <a:ea typeface="Quicksand" pitchFamily="34" charset="-122"/>
                <a:cs typeface="Quicksand" pitchFamily="34" charset="-120"/>
              </a:rPr>
              <a:t>Photo: David Palmer, CC BY-SA 4.0, Wikimedia Commons</a:t>
            </a:r>
            <a:endParaRPr lang="en-US" sz="1050" dirty="0"/>
          </a:p>
        </p:txBody>
      </p:sp>
      <p:sp>
        <p:nvSpPr>
          <p:cNvPr id="10" name="Shape 6"/>
          <p:cNvSpPr/>
          <p:nvPr/>
        </p:nvSpPr>
        <p:spPr>
          <a:xfrm>
            <a:off x="1137706" y="3895344"/>
            <a:ext cx="2479468" cy="190195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11" name="Image 1" descr="figs/cabinet.jpg">    </p:cNvPr>
          <p:cNvPicPr>
            <a:picLocks noChangeAspect="1"/>
          </p:cNvPicPr>
          <p:nvPr/>
        </p:nvPicPr>
        <p:blipFill>
          <a:blip r:embed="rId2"/>
          <a:stretch>
            <a:fillRect/>
          </a:stretch>
        </p:blipFill>
        <p:spPr>
          <a:xfrm>
            <a:off x="1174282" y="3931920"/>
            <a:ext cx="2406316" cy="1828800"/>
          </a:xfrm>
          <a:prstGeom prst="rect">
            <a:avLst/>
          </a:prstGeom>
        </p:spPr>
      </p:pic>
      <p:sp>
        <p:nvSpPr>
          <p:cNvPr id="12" name="Text 7"/>
          <p:cNvSpPr txBox="1"/>
          <p:nvPr/>
        </p:nvSpPr>
        <p:spPr>
          <a:xfrm>
            <a:off x="548640" y="5824728"/>
            <a:ext cx="3657600" cy="237744"/>
          </a:xfrm>
          <a:prstGeom prst="rect">
            <a:avLst/>
          </a:prstGeom>
          <a:noFill/>
          <a:ln/>
        </p:spPr>
        <p:txBody>
          <a:bodyPr wrap="square" lIns="0" tIns="0" rIns="0" bIns="0" rtlCol="0" anchor="ctr"/>
          <a:lstStyle/>
          <a:p>
            <a:pPr algn="ctr" indent="0" marL="0">
              <a:buNone/>
            </a:pPr>
            <a:r>
              <a:rPr lang="en-US" sz="1050" b="1" i="1" dirty="0">
                <a:solidFill>
                  <a:srgbClr val="202124"/>
                </a:solidFill>
                <a:latin typeface="Quicksand" pitchFamily="34" charset="0"/>
                <a:ea typeface="Quicksand" pitchFamily="34" charset="-122"/>
                <a:cs typeface="Quicksand" pitchFamily="34" charset="-120"/>
              </a:rPr>
              <a:t>Street fibre cabinet   </a:t>
            </a:r>
            <a:r>
              <a:rPr lang="en-US" sz="800" i="1" dirty="0">
                <a:solidFill>
                  <a:srgbClr val="8A8A99"/>
                </a:solidFill>
                <a:latin typeface="Quicksand" pitchFamily="34" charset="0"/>
                <a:ea typeface="Quicksand" pitchFamily="34" charset="-122"/>
                <a:cs typeface="Quicksand" pitchFamily="34" charset="-120"/>
              </a:rPr>
              <a:t>Photo: Geographer, CC BY-SA 2.0, Wikimedia Commons</a:t>
            </a:r>
            <a:endParaRPr lang="en-US" sz="1050" dirty="0"/>
          </a:p>
        </p:txBody>
      </p:sp>
      <p:sp>
        <p:nvSpPr>
          <p:cNvPr id="13" name="Shape 8"/>
          <p:cNvSpPr/>
          <p:nvPr/>
        </p:nvSpPr>
        <p:spPr>
          <a:xfrm>
            <a:off x="4480560" y="1280160"/>
            <a:ext cx="7040880" cy="2011680"/>
          </a:xfrm>
          <a:prstGeom prst="rect">
            <a:avLst/>
          </a:prstGeom>
          <a:solidFill>
            <a:srgbClr val="F6F5FC"/>
          </a:solidFill>
          <a:ln w="12700">
            <a:solidFill>
              <a:srgbClr val="F6F5FC"/>
            </a:solidFill>
            <a:prstDash val="solid"/>
          </a:ln>
        </p:spPr>
      </p:sp>
      <p:sp>
        <p:nvSpPr>
          <p:cNvPr id="14" name="Shape 9"/>
          <p:cNvSpPr/>
          <p:nvPr/>
        </p:nvSpPr>
        <p:spPr>
          <a:xfrm>
            <a:off x="4480560" y="1280160"/>
            <a:ext cx="73152" cy="2011680"/>
          </a:xfrm>
          <a:prstGeom prst="rect">
            <a:avLst/>
          </a:prstGeom>
          <a:solidFill>
            <a:srgbClr val="494985"/>
          </a:solidFill>
          <a:ln w="12700">
            <a:solidFill>
              <a:srgbClr val="494985"/>
            </a:solidFill>
            <a:prstDash val="solid"/>
          </a:ln>
        </p:spPr>
      </p:sp>
      <p:sp>
        <p:nvSpPr>
          <p:cNvPr id="15" name="Text 10"/>
          <p:cNvSpPr txBox="1"/>
          <p:nvPr/>
        </p:nvSpPr>
        <p:spPr>
          <a:xfrm>
            <a:off x="4709160" y="1371600"/>
            <a:ext cx="667512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Modem (modulator-demodulator)</a:t>
            </a:r>
            <a:endParaRPr lang="en-US" sz="1500" dirty="0"/>
          </a:p>
        </p:txBody>
      </p:sp>
      <p:sp>
        <p:nvSpPr>
          <p:cNvPr id="16" name="Text 11"/>
          <p:cNvSpPr txBox="1"/>
          <p:nvPr/>
        </p:nvSpPr>
        <p:spPr>
          <a:xfrm>
            <a:off x="4709160" y="1783080"/>
            <a:ext cx="6675120" cy="1417320"/>
          </a:xfrm>
          <a:prstGeom prst="rect">
            <a:avLst/>
          </a:prstGeom>
          <a:noFill/>
          <a:ln/>
        </p:spPr>
        <p:txBody>
          <a:bodyPr wrap="square" lIns="0" tIns="0" rIns="0" bIns="0" rtlCol="0" anchor="t"/>
          <a:lstStyle/>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Converts digital data from the computer into analogue signals to send down a telephone line</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Converts analogue signals received back into digital data</a:t>
            </a:r>
            <a:endParaRPr lang="en-US" sz="1300" dirty="0"/>
          </a:p>
        </p:txBody>
      </p:sp>
      <p:sp>
        <p:nvSpPr>
          <p:cNvPr id="17" name="Shape 12"/>
          <p:cNvSpPr/>
          <p:nvPr/>
        </p:nvSpPr>
        <p:spPr>
          <a:xfrm>
            <a:off x="4480560" y="3520440"/>
            <a:ext cx="7040880" cy="2240280"/>
          </a:xfrm>
          <a:prstGeom prst="rect">
            <a:avLst/>
          </a:prstGeom>
          <a:solidFill>
            <a:srgbClr val="F6F5FC"/>
          </a:solidFill>
          <a:ln w="12700">
            <a:solidFill>
              <a:srgbClr val="F6F5FC"/>
            </a:solidFill>
            <a:prstDash val="solid"/>
          </a:ln>
        </p:spPr>
      </p:sp>
      <p:sp>
        <p:nvSpPr>
          <p:cNvPr id="18" name="Shape 13"/>
          <p:cNvSpPr/>
          <p:nvPr/>
        </p:nvSpPr>
        <p:spPr>
          <a:xfrm>
            <a:off x="4480560" y="3520440"/>
            <a:ext cx="73152" cy="2240280"/>
          </a:xfrm>
          <a:prstGeom prst="rect">
            <a:avLst/>
          </a:prstGeom>
          <a:solidFill>
            <a:srgbClr val="494985"/>
          </a:solidFill>
          <a:ln w="12700">
            <a:solidFill>
              <a:srgbClr val="494985"/>
            </a:solidFill>
            <a:prstDash val="solid"/>
          </a:ln>
        </p:spPr>
      </p:sp>
      <p:sp>
        <p:nvSpPr>
          <p:cNvPr id="19" name="Text 14"/>
          <p:cNvSpPr txBox="1"/>
          <p:nvPr/>
        </p:nvSpPr>
        <p:spPr>
          <a:xfrm>
            <a:off x="4709160" y="3611880"/>
            <a:ext cx="667512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PSTN (Public Switched Telephone Network)</a:t>
            </a:r>
            <a:endParaRPr lang="en-US" sz="1500" dirty="0"/>
          </a:p>
        </p:txBody>
      </p:sp>
      <p:sp>
        <p:nvSpPr>
          <p:cNvPr id="20" name="Text 15"/>
          <p:cNvSpPr txBox="1"/>
          <p:nvPr/>
        </p:nvSpPr>
        <p:spPr>
          <a:xfrm>
            <a:off x="4709160" y="4023360"/>
            <a:ext cx="6675120" cy="1645920"/>
          </a:xfrm>
          <a:prstGeom prst="rect">
            <a:avLst/>
          </a:prstGeom>
          <a:noFill/>
          <a:ln/>
        </p:spPr>
        <p:txBody>
          <a:bodyPr wrap="square" lIns="0" tIns="0" rIns="0" bIns="0" rtlCol="0" anchor="t"/>
          <a:lstStyle/>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The public telephone network of lines and exchanges, built for phone calls</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Many types of line, so digital data may be converted to analogue</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Data passes through switching centres to the ISP, both ways at once (duplex)</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Dedicated lines, cell phones and satellites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4</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14</a:t>
            </a:r>
            <a:endParaRPr lang="en-US" sz="1350" dirty="0"/>
          </a:p>
        </p:txBody>
      </p:sp>
      <p:sp>
        <p:nvSpPr>
          <p:cNvPr id="7" name="Shape 4"/>
          <p:cNvSpPr/>
          <p:nvPr/>
        </p:nvSpPr>
        <p:spPr>
          <a:xfrm>
            <a:off x="694944" y="1255383"/>
            <a:ext cx="2267712" cy="2975635"/>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mast.jpg">    </p:cNvPr>
          <p:cNvPicPr>
            <a:picLocks noChangeAspect="1"/>
          </p:cNvPicPr>
          <p:nvPr/>
        </p:nvPicPr>
        <p:blipFill>
          <a:blip r:embed="rId1"/>
          <a:stretch>
            <a:fillRect/>
          </a:stretch>
        </p:blipFill>
        <p:spPr>
          <a:xfrm>
            <a:off x="731520" y="1291959"/>
            <a:ext cx="2194560" cy="2902483"/>
          </a:xfrm>
          <a:prstGeom prst="rect">
            <a:avLst/>
          </a:prstGeom>
        </p:spPr>
      </p:pic>
      <p:sp>
        <p:nvSpPr>
          <p:cNvPr id="9" name="Text 5"/>
          <p:cNvSpPr txBox="1"/>
          <p:nvPr/>
        </p:nvSpPr>
        <p:spPr>
          <a:xfrm>
            <a:off x="548640" y="4258449"/>
            <a:ext cx="2560320" cy="237744"/>
          </a:xfrm>
          <a:prstGeom prst="rect">
            <a:avLst/>
          </a:prstGeom>
          <a:noFill/>
          <a:ln/>
        </p:spPr>
        <p:txBody>
          <a:bodyPr wrap="square" lIns="0" tIns="0" rIns="0" bIns="0" rtlCol="0" anchor="ctr"/>
          <a:lstStyle/>
          <a:p>
            <a:pPr algn="ctr" indent="0" marL="0">
              <a:buNone/>
            </a:pPr>
            <a:r>
              <a:rPr lang="en-US" sz="1050" b="1" i="1" dirty="0">
                <a:solidFill>
                  <a:srgbClr val="202124"/>
                </a:solidFill>
                <a:latin typeface="Quicksand" pitchFamily="34" charset="0"/>
                <a:ea typeface="Quicksand" pitchFamily="34" charset="-122"/>
                <a:cs typeface="Quicksand" pitchFamily="34" charset="-120"/>
              </a:rPr>
              <a:t>Cell mast   </a:t>
            </a:r>
            <a:r>
              <a:rPr lang="en-US" sz="800" i="1" dirty="0">
                <a:solidFill>
                  <a:srgbClr val="8A8A99"/>
                </a:solidFill>
                <a:latin typeface="Quicksand" pitchFamily="34" charset="0"/>
                <a:ea typeface="Quicksand" pitchFamily="34" charset="-122"/>
                <a:cs typeface="Quicksand" pitchFamily="34" charset="-120"/>
              </a:rPr>
              <a:t>Photo: Hnapel, CC BY-SA 4.0, Wikimedia Commons</a:t>
            </a:r>
            <a:endParaRPr lang="en-US" sz="1050" dirty="0"/>
          </a:p>
        </p:txBody>
      </p:sp>
      <p:sp>
        <p:nvSpPr>
          <p:cNvPr id="10" name="Shape 6"/>
          <p:cNvSpPr/>
          <p:nvPr/>
        </p:nvSpPr>
        <p:spPr>
          <a:xfrm>
            <a:off x="3163824" y="1243584"/>
            <a:ext cx="2816352" cy="226771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11" name="Image 1" descr="figs/satellite.jpg">    </p:cNvPr>
          <p:cNvPicPr>
            <a:picLocks noChangeAspect="1"/>
          </p:cNvPicPr>
          <p:nvPr/>
        </p:nvPicPr>
        <p:blipFill>
          <a:blip r:embed="rId2"/>
          <a:stretch>
            <a:fillRect/>
          </a:stretch>
        </p:blipFill>
        <p:spPr>
          <a:xfrm>
            <a:off x="3200400" y="1280160"/>
            <a:ext cx="2743200" cy="2194560"/>
          </a:xfrm>
          <a:prstGeom prst="rect">
            <a:avLst/>
          </a:prstGeom>
        </p:spPr>
      </p:pic>
      <p:sp>
        <p:nvSpPr>
          <p:cNvPr id="12" name="Text 7"/>
          <p:cNvSpPr txBox="1"/>
          <p:nvPr/>
        </p:nvSpPr>
        <p:spPr>
          <a:xfrm>
            <a:off x="3017520" y="3538728"/>
            <a:ext cx="3108960" cy="237744"/>
          </a:xfrm>
          <a:prstGeom prst="rect">
            <a:avLst/>
          </a:prstGeom>
          <a:noFill/>
          <a:ln/>
        </p:spPr>
        <p:txBody>
          <a:bodyPr wrap="square" lIns="0" tIns="0" rIns="0" bIns="0" rtlCol="0" anchor="ctr"/>
          <a:lstStyle/>
          <a:p>
            <a:pPr algn="ctr" indent="0" marL="0">
              <a:buNone/>
            </a:pPr>
            <a:r>
              <a:rPr lang="en-US" sz="1050" b="1" i="1" dirty="0">
                <a:solidFill>
                  <a:srgbClr val="202124"/>
                </a:solidFill>
                <a:latin typeface="Quicksand" pitchFamily="34" charset="0"/>
                <a:ea typeface="Quicksand" pitchFamily="34" charset="-122"/>
                <a:cs typeface="Quicksand" pitchFamily="34" charset="-120"/>
              </a:rPr>
              <a:t>Satellite   </a:t>
            </a:r>
            <a:r>
              <a:rPr lang="en-US" sz="800" i="1" dirty="0">
                <a:solidFill>
                  <a:srgbClr val="8A8A99"/>
                </a:solidFill>
                <a:latin typeface="Quicksand" pitchFamily="34" charset="0"/>
                <a:ea typeface="Quicksand" pitchFamily="34" charset="-122"/>
                <a:cs typeface="Quicksand" pitchFamily="34" charset="-120"/>
              </a:rPr>
              <a:t>Photo: NASA, Public domain, Wikimedia Commons</a:t>
            </a:r>
            <a:endParaRPr lang="en-US" sz="1050" dirty="0"/>
          </a:p>
        </p:txBody>
      </p:sp>
      <p:sp>
        <p:nvSpPr>
          <p:cNvPr id="13" name="Shape 8"/>
          <p:cNvSpPr/>
          <p:nvPr/>
        </p:nvSpPr>
        <p:spPr>
          <a:xfrm>
            <a:off x="3572898" y="3849624"/>
            <a:ext cx="1998205" cy="181051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14" name="Image 2" descr="figs/dish.jpg">    </p:cNvPr>
          <p:cNvPicPr>
            <a:picLocks noChangeAspect="1"/>
          </p:cNvPicPr>
          <p:nvPr/>
        </p:nvPicPr>
        <p:blipFill>
          <a:blip r:embed="rId3"/>
          <a:stretch>
            <a:fillRect/>
          </a:stretch>
        </p:blipFill>
        <p:spPr>
          <a:xfrm>
            <a:off x="3609474" y="3886200"/>
            <a:ext cx="1925053" cy="1737360"/>
          </a:xfrm>
          <a:prstGeom prst="rect">
            <a:avLst/>
          </a:prstGeom>
        </p:spPr>
      </p:pic>
      <p:sp>
        <p:nvSpPr>
          <p:cNvPr id="15" name="Text 9"/>
          <p:cNvSpPr txBox="1"/>
          <p:nvPr/>
        </p:nvSpPr>
        <p:spPr>
          <a:xfrm>
            <a:off x="3017520" y="5687568"/>
            <a:ext cx="3108960" cy="237744"/>
          </a:xfrm>
          <a:prstGeom prst="rect">
            <a:avLst/>
          </a:prstGeom>
          <a:noFill/>
          <a:ln/>
        </p:spPr>
        <p:txBody>
          <a:bodyPr wrap="square" lIns="0" tIns="0" rIns="0" bIns="0" rtlCol="0" anchor="ctr"/>
          <a:lstStyle/>
          <a:p>
            <a:pPr algn="ctr" indent="0" marL="0">
              <a:buNone/>
            </a:pPr>
            <a:r>
              <a:rPr lang="en-US" sz="1050" b="1" i="1" dirty="0">
                <a:solidFill>
                  <a:srgbClr val="202124"/>
                </a:solidFill>
                <a:latin typeface="Quicksand" pitchFamily="34" charset="0"/>
                <a:ea typeface="Quicksand" pitchFamily="34" charset="-122"/>
                <a:cs typeface="Quicksand" pitchFamily="34" charset="-120"/>
              </a:rPr>
              <a:t>Ground station   </a:t>
            </a:r>
            <a:r>
              <a:rPr lang="en-US" sz="800" i="1" dirty="0">
                <a:solidFill>
                  <a:srgbClr val="8A8A99"/>
                </a:solidFill>
                <a:latin typeface="Quicksand" pitchFamily="34" charset="0"/>
                <a:ea typeface="Quicksand" pitchFamily="34" charset="-122"/>
                <a:cs typeface="Quicksand" pitchFamily="34" charset="-120"/>
              </a:rPr>
              <a:t>Photo: Richard Bartz, CC BY-SA 2.5, Wikimedia Commons</a:t>
            </a:r>
            <a:endParaRPr lang="en-US" sz="1050" dirty="0"/>
          </a:p>
        </p:txBody>
      </p:sp>
      <p:sp>
        <p:nvSpPr>
          <p:cNvPr id="16" name="Shape 10"/>
          <p:cNvSpPr/>
          <p:nvPr/>
        </p:nvSpPr>
        <p:spPr>
          <a:xfrm>
            <a:off x="6309360" y="1280160"/>
            <a:ext cx="5212080" cy="1508760"/>
          </a:xfrm>
          <a:prstGeom prst="rect">
            <a:avLst/>
          </a:prstGeom>
          <a:solidFill>
            <a:srgbClr val="F6F5FC"/>
          </a:solidFill>
          <a:ln w="12700">
            <a:solidFill>
              <a:srgbClr val="F6F5FC"/>
            </a:solidFill>
            <a:prstDash val="solid"/>
          </a:ln>
        </p:spPr>
      </p:sp>
      <p:sp>
        <p:nvSpPr>
          <p:cNvPr id="17" name="Shape 11"/>
          <p:cNvSpPr/>
          <p:nvPr/>
        </p:nvSpPr>
        <p:spPr>
          <a:xfrm>
            <a:off x="6309360" y="1280160"/>
            <a:ext cx="73152" cy="1508760"/>
          </a:xfrm>
          <a:prstGeom prst="rect">
            <a:avLst/>
          </a:prstGeom>
          <a:solidFill>
            <a:srgbClr val="494985"/>
          </a:solidFill>
          <a:ln w="12700">
            <a:solidFill>
              <a:srgbClr val="494985"/>
            </a:solidFill>
            <a:prstDash val="solid"/>
          </a:ln>
        </p:spPr>
      </p:sp>
      <p:sp>
        <p:nvSpPr>
          <p:cNvPr id="18" name="Text 12"/>
          <p:cNvSpPr txBox="1"/>
          <p:nvPr/>
        </p:nvSpPr>
        <p:spPr>
          <a:xfrm>
            <a:off x="6537960" y="1371600"/>
            <a:ext cx="484632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Dedicated (leased) line</a:t>
            </a:r>
            <a:endParaRPr lang="en-US" sz="1500" dirty="0"/>
          </a:p>
        </p:txBody>
      </p:sp>
      <p:sp>
        <p:nvSpPr>
          <p:cNvPr id="19" name="Text 13"/>
          <p:cNvSpPr txBox="1"/>
          <p:nvPr/>
        </p:nvSpPr>
        <p:spPr>
          <a:xfrm>
            <a:off x="6537960" y="1783080"/>
            <a:ext cx="4846320" cy="914400"/>
          </a:xfrm>
          <a:prstGeom prst="rect">
            <a:avLst/>
          </a:prstGeom>
          <a:noFill/>
          <a:ln/>
        </p:spPr>
        <p:txBody>
          <a:bodyPr wrap="square" lIns="0" tIns="0" rIns="0" bIns="0" rtlCol="0" anchor="t"/>
          <a:lstStyle/>
          <a:p>
            <a:pPr indent="0" marL="0">
              <a:spcAft>
                <a:spcPts val="600"/>
              </a:spcAft>
              <a:buNone/>
            </a:pPr>
            <a:r>
              <a:rPr lang="en-US" sz="1250" dirty="0">
                <a:solidFill>
                  <a:srgbClr val="202124"/>
                </a:solidFill>
                <a:latin typeface="Quicksand" pitchFamily="34" charset="0"/>
                <a:ea typeface="Quicksand" pitchFamily="34" charset="-122"/>
                <a:cs typeface="Quicksand" pitchFamily="34" charset="-120"/>
              </a:rPr>
              <a:t>A direct, private connection between two sites, used only by one organisation: faster, always available and more secure - but expensive.</a:t>
            </a:r>
            <a:endParaRPr lang="en-US" sz="1250" dirty="0"/>
          </a:p>
        </p:txBody>
      </p:sp>
      <p:sp>
        <p:nvSpPr>
          <p:cNvPr id="20" name="Shape 14"/>
          <p:cNvSpPr/>
          <p:nvPr/>
        </p:nvSpPr>
        <p:spPr>
          <a:xfrm>
            <a:off x="6309360" y="2926080"/>
            <a:ext cx="5212080" cy="1508760"/>
          </a:xfrm>
          <a:prstGeom prst="rect">
            <a:avLst/>
          </a:prstGeom>
          <a:solidFill>
            <a:srgbClr val="F6F5FC"/>
          </a:solidFill>
          <a:ln w="12700">
            <a:solidFill>
              <a:srgbClr val="F6F5FC"/>
            </a:solidFill>
            <a:prstDash val="solid"/>
          </a:ln>
        </p:spPr>
      </p:sp>
      <p:sp>
        <p:nvSpPr>
          <p:cNvPr id="21" name="Shape 15"/>
          <p:cNvSpPr/>
          <p:nvPr/>
        </p:nvSpPr>
        <p:spPr>
          <a:xfrm>
            <a:off x="6309360" y="2926080"/>
            <a:ext cx="73152" cy="1508760"/>
          </a:xfrm>
          <a:prstGeom prst="rect">
            <a:avLst/>
          </a:prstGeom>
          <a:solidFill>
            <a:srgbClr val="494985"/>
          </a:solidFill>
          <a:ln w="12700">
            <a:solidFill>
              <a:srgbClr val="494985"/>
            </a:solidFill>
            <a:prstDash val="solid"/>
          </a:ln>
        </p:spPr>
      </p:sp>
      <p:sp>
        <p:nvSpPr>
          <p:cNvPr id="22" name="Text 16"/>
          <p:cNvSpPr txBox="1"/>
          <p:nvPr/>
        </p:nvSpPr>
        <p:spPr>
          <a:xfrm>
            <a:off x="6537960" y="3017520"/>
            <a:ext cx="484632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Cell phone network</a:t>
            </a:r>
            <a:endParaRPr lang="en-US" sz="1500" dirty="0"/>
          </a:p>
        </p:txBody>
      </p:sp>
      <p:sp>
        <p:nvSpPr>
          <p:cNvPr id="23" name="Text 17"/>
          <p:cNvSpPr txBox="1"/>
          <p:nvPr/>
        </p:nvSpPr>
        <p:spPr>
          <a:xfrm>
            <a:off x="6537960" y="3429000"/>
            <a:ext cx="4846320" cy="914400"/>
          </a:xfrm>
          <a:prstGeom prst="rect">
            <a:avLst/>
          </a:prstGeom>
          <a:noFill/>
          <a:ln/>
        </p:spPr>
        <p:txBody>
          <a:bodyPr wrap="square" lIns="0" tIns="0" rIns="0" bIns="0" rtlCol="0" anchor="t"/>
          <a:lstStyle/>
          <a:p>
            <a:pPr indent="0" marL="0">
              <a:spcAft>
                <a:spcPts val="600"/>
              </a:spcAft>
              <a:buNone/>
            </a:pPr>
            <a:r>
              <a:rPr lang="en-US" sz="1250" dirty="0">
                <a:solidFill>
                  <a:srgbClr val="202124"/>
                </a:solidFill>
                <a:latin typeface="Quicksand" pitchFamily="34" charset="0"/>
                <a:ea typeface="Quicksand" pitchFamily="34" charset="-122"/>
                <a:cs typeface="Quicksand" pitchFamily="34" charset="-120"/>
              </a:rPr>
              <a:t>Land split into cells, each with a tower and antenna. Phones send and receive low-power radio signals to the tower; many phones share one tower.</a:t>
            </a:r>
            <a:endParaRPr lang="en-US" sz="1250" dirty="0"/>
          </a:p>
        </p:txBody>
      </p:sp>
      <p:sp>
        <p:nvSpPr>
          <p:cNvPr id="24" name="Shape 18"/>
          <p:cNvSpPr/>
          <p:nvPr/>
        </p:nvSpPr>
        <p:spPr>
          <a:xfrm>
            <a:off x="6309360" y="4572000"/>
            <a:ext cx="5212080" cy="1280160"/>
          </a:xfrm>
          <a:prstGeom prst="rect">
            <a:avLst/>
          </a:prstGeom>
          <a:solidFill>
            <a:srgbClr val="F6F5FC"/>
          </a:solidFill>
          <a:ln w="12700">
            <a:solidFill>
              <a:srgbClr val="F6F5FC"/>
            </a:solidFill>
            <a:prstDash val="solid"/>
          </a:ln>
        </p:spPr>
      </p:sp>
      <p:sp>
        <p:nvSpPr>
          <p:cNvPr id="25" name="Shape 19"/>
          <p:cNvSpPr/>
          <p:nvPr/>
        </p:nvSpPr>
        <p:spPr>
          <a:xfrm>
            <a:off x="6309360" y="4572000"/>
            <a:ext cx="73152" cy="1280160"/>
          </a:xfrm>
          <a:prstGeom prst="rect">
            <a:avLst/>
          </a:prstGeom>
          <a:solidFill>
            <a:srgbClr val="494985"/>
          </a:solidFill>
          <a:ln w="12700">
            <a:solidFill>
              <a:srgbClr val="494985"/>
            </a:solidFill>
            <a:prstDash val="solid"/>
          </a:ln>
        </p:spPr>
      </p:sp>
      <p:sp>
        <p:nvSpPr>
          <p:cNvPr id="26" name="Text 20"/>
          <p:cNvSpPr txBox="1"/>
          <p:nvPr/>
        </p:nvSpPr>
        <p:spPr>
          <a:xfrm>
            <a:off x="6537960" y="4663440"/>
            <a:ext cx="484632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Satellites</a:t>
            </a:r>
            <a:endParaRPr lang="en-US" sz="1500" dirty="0"/>
          </a:p>
        </p:txBody>
      </p:sp>
      <p:sp>
        <p:nvSpPr>
          <p:cNvPr id="27" name="Text 21"/>
          <p:cNvSpPr txBox="1"/>
          <p:nvPr/>
        </p:nvSpPr>
        <p:spPr>
          <a:xfrm>
            <a:off x="6537960" y="5074920"/>
            <a:ext cx="4846320" cy="685800"/>
          </a:xfrm>
          <a:prstGeom prst="rect">
            <a:avLst/>
          </a:prstGeom>
          <a:noFill/>
          <a:ln/>
        </p:spPr>
        <p:txBody>
          <a:bodyPr wrap="square" lIns="0" tIns="0" rIns="0" bIns="0" rtlCol="0" anchor="t"/>
          <a:lstStyle/>
          <a:p>
            <a:pPr indent="0" marL="0">
              <a:spcAft>
                <a:spcPts val="600"/>
              </a:spcAft>
              <a:buNone/>
            </a:pPr>
            <a:r>
              <a:rPr lang="en-US" sz="1250" dirty="0">
                <a:solidFill>
                  <a:srgbClr val="202124"/>
                </a:solidFill>
                <a:latin typeface="Quicksand" pitchFamily="34" charset="0"/>
                <a:ea typeface="Quicksand" pitchFamily="34" charset="-122"/>
                <a:cs typeface="Quicksand" pitchFamily="34" charset="-120"/>
              </a:rPr>
              <a:t>Relay signals across oceans and to remote areas where cables cannot reach.</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Phone calls: PSTN vs VoIP</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4</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15</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1280160"/>
          <a:ext cx="10698480" cy="914400"/>
        </p:xfrm>
        <a:graphic>
          <a:graphicData uri="http://schemas.openxmlformats.org/drawingml/2006/table">
            <a:tbl>
              <a:tblPr/>
              <a:tblGrid>
                <a:gridCol w="2194560"/>
                <a:gridCol w="4251960"/>
                <a:gridCol w="4251960"/>
              </a:tblGrid>
              <a:tr h="594360">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PSTN (traditional phone)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VoIP (internet call)</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9436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Switching</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Circuit switching - one circuit kept open for the whole call</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Packet switching - voice split into packets that take any route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9436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When is data sent?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All the time, even in silences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Only while someone is talking</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9436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Data</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Voice signal</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Voice digitised and compressed into packets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9436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Power cut?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Usually still works (line has its own power)</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Needs the router / internet to be working</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9436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Cost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Charged per call / distance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Usually free over an internet connection</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IP addresses: IPv4 and IPv6</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5</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16</a:t>
            </a:r>
            <a:endParaRPr lang="en-US" sz="1350" dirty="0"/>
          </a:p>
        </p:txBody>
      </p:sp>
      <p:sp>
        <p:nvSpPr>
          <p:cNvPr id="7" name="Shape 4"/>
          <p:cNvSpPr/>
          <p:nvPr/>
        </p:nvSpPr>
        <p:spPr>
          <a:xfrm>
            <a:off x="777240" y="1280160"/>
            <a:ext cx="5212080" cy="1508760"/>
          </a:xfrm>
          <a:prstGeom prst="rect">
            <a:avLst/>
          </a:prstGeom>
          <a:solidFill>
            <a:srgbClr val="F6F5FC"/>
          </a:solidFill>
          <a:ln w="12700">
            <a:solidFill>
              <a:srgbClr val="F6F5FC"/>
            </a:solidFill>
            <a:prstDash val="solid"/>
          </a:ln>
        </p:spPr>
      </p:sp>
      <p:sp>
        <p:nvSpPr>
          <p:cNvPr id="8" name="Shape 5"/>
          <p:cNvSpPr/>
          <p:nvPr/>
        </p:nvSpPr>
        <p:spPr>
          <a:xfrm>
            <a:off x="777240" y="1280160"/>
            <a:ext cx="73152" cy="1508760"/>
          </a:xfrm>
          <a:prstGeom prst="rect">
            <a:avLst/>
          </a:prstGeom>
          <a:solidFill>
            <a:srgbClr val="494985"/>
          </a:solidFill>
          <a:ln w="12700">
            <a:solidFill>
              <a:srgbClr val="494985"/>
            </a:solidFill>
            <a:prstDash val="solid"/>
          </a:ln>
        </p:spPr>
      </p:sp>
      <p:sp>
        <p:nvSpPr>
          <p:cNvPr id="9" name="Text 6"/>
          <p:cNvSpPr txBox="1"/>
          <p:nvPr/>
        </p:nvSpPr>
        <p:spPr>
          <a:xfrm>
            <a:off x="1005840" y="1371600"/>
            <a:ext cx="484632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IPv4 - 32 bits</a:t>
            </a:r>
            <a:endParaRPr lang="en-US" sz="1500" dirty="0"/>
          </a:p>
        </p:txBody>
      </p:sp>
      <p:sp>
        <p:nvSpPr>
          <p:cNvPr id="10" name="Text 7"/>
          <p:cNvSpPr txBox="1"/>
          <p:nvPr/>
        </p:nvSpPr>
        <p:spPr>
          <a:xfrm>
            <a:off x="1005840" y="1783080"/>
            <a:ext cx="4846320" cy="914400"/>
          </a:xfrm>
          <a:prstGeom prst="rect">
            <a:avLst/>
          </a:prstGeom>
          <a:noFill/>
          <a:ln/>
        </p:spPr>
        <p:txBody>
          <a:bodyPr wrap="square" lIns="0" tIns="0" rIns="0" bIns="0" rtlCol="0" anchor="t"/>
          <a:lstStyle/>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4 groups of 8 bits, written in denary (0 to 255)</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Separated by full stops</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2^32 = about 4.3 billion addresses</a:t>
            </a:r>
            <a:endParaRPr lang="en-US" sz="1300" dirty="0"/>
          </a:p>
        </p:txBody>
      </p:sp>
      <p:sp>
        <p:nvSpPr>
          <p:cNvPr id="11" name="Text 8"/>
          <p:cNvSpPr/>
          <p:nvPr/>
        </p:nvSpPr>
        <p:spPr>
          <a:xfrm>
            <a:off x="777240" y="2926080"/>
            <a:ext cx="5212080" cy="502920"/>
          </a:xfrm>
          <a:prstGeom prst="rect">
            <a:avLst/>
          </a:prstGeom>
          <a:noFill/>
          <a:ln/>
        </p:spPr>
        <p:txBody>
          <a:bodyPr wrap="square" lIns="0" tIns="0" rIns="0" bIns="0" rtlCol="0" anchor="ctr"/>
          <a:lstStyle/>
          <a:p>
            <a:pPr algn="ctr" indent="0" marL="0">
              <a:buNone/>
            </a:pPr>
            <a:r>
              <a:rPr lang="en-US" sz="2400" b="1" dirty="0">
                <a:solidFill>
                  <a:srgbClr val="494985"/>
                </a:solidFill>
                <a:latin typeface="Roboto Mono" pitchFamily="34" charset="0"/>
                <a:ea typeface="Roboto Mono" pitchFamily="34" charset="-122"/>
                <a:cs typeface="Roboto Mono" pitchFamily="34" charset="-120"/>
              </a:rPr>
              <a:t>192.168.10.77</a:t>
            </a:r>
            <a:endParaRPr lang="en-US" sz="2400" dirty="0"/>
          </a:p>
        </p:txBody>
      </p:sp>
      <p:sp>
        <p:nvSpPr>
          <p:cNvPr id="12" name="Text 9"/>
          <p:cNvSpPr/>
          <p:nvPr/>
        </p:nvSpPr>
        <p:spPr>
          <a:xfrm>
            <a:off x="777240" y="3474720"/>
            <a:ext cx="5212080" cy="365760"/>
          </a:xfrm>
          <a:prstGeom prst="rect">
            <a:avLst/>
          </a:prstGeom>
          <a:noFill/>
          <a:ln/>
        </p:spPr>
        <p:txBody>
          <a:bodyPr wrap="square" lIns="0" tIns="0" rIns="0" bIns="0" rtlCol="0" anchor="ctr"/>
          <a:lstStyle/>
          <a:p>
            <a:pPr algn="ctr" indent="0" marL="0">
              <a:buNone/>
            </a:pPr>
            <a:r>
              <a:rPr lang="en-US" sz="1300" dirty="0">
                <a:solidFill>
                  <a:srgbClr val="666666"/>
                </a:solidFill>
                <a:latin typeface="Roboto Mono" pitchFamily="34" charset="0"/>
                <a:ea typeface="Roboto Mono" pitchFamily="34" charset="-122"/>
                <a:cs typeface="Roboto Mono" pitchFamily="34" charset="-120"/>
              </a:rPr>
              <a:t>11000000.10101000.00001010.01001101</a:t>
            </a:r>
            <a:endParaRPr lang="en-US" sz="1300" dirty="0"/>
          </a:p>
        </p:txBody>
      </p:sp>
      <p:sp>
        <p:nvSpPr>
          <p:cNvPr id="13" name="Shape 10"/>
          <p:cNvSpPr/>
          <p:nvPr/>
        </p:nvSpPr>
        <p:spPr>
          <a:xfrm>
            <a:off x="6263640" y="1280160"/>
            <a:ext cx="5212080" cy="1508760"/>
          </a:xfrm>
          <a:prstGeom prst="rect">
            <a:avLst/>
          </a:prstGeom>
          <a:solidFill>
            <a:srgbClr val="F6F5FC"/>
          </a:solidFill>
          <a:ln w="12700">
            <a:solidFill>
              <a:srgbClr val="F6F5FC"/>
            </a:solidFill>
            <a:prstDash val="solid"/>
          </a:ln>
        </p:spPr>
      </p:sp>
      <p:sp>
        <p:nvSpPr>
          <p:cNvPr id="14" name="Shape 11"/>
          <p:cNvSpPr/>
          <p:nvPr/>
        </p:nvSpPr>
        <p:spPr>
          <a:xfrm>
            <a:off x="6263640" y="1280160"/>
            <a:ext cx="73152" cy="1508760"/>
          </a:xfrm>
          <a:prstGeom prst="rect">
            <a:avLst/>
          </a:prstGeom>
          <a:solidFill>
            <a:srgbClr val="494985"/>
          </a:solidFill>
          <a:ln w="12700">
            <a:solidFill>
              <a:srgbClr val="494985"/>
            </a:solidFill>
            <a:prstDash val="solid"/>
          </a:ln>
        </p:spPr>
      </p:sp>
      <p:sp>
        <p:nvSpPr>
          <p:cNvPr id="15" name="Text 12"/>
          <p:cNvSpPr txBox="1"/>
          <p:nvPr/>
        </p:nvSpPr>
        <p:spPr>
          <a:xfrm>
            <a:off x="6492240" y="1371600"/>
            <a:ext cx="484632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IPv6 - 128 bits</a:t>
            </a:r>
            <a:endParaRPr lang="en-US" sz="1500" dirty="0"/>
          </a:p>
        </p:txBody>
      </p:sp>
      <p:sp>
        <p:nvSpPr>
          <p:cNvPr id="16" name="Text 13"/>
          <p:cNvSpPr txBox="1"/>
          <p:nvPr/>
        </p:nvSpPr>
        <p:spPr>
          <a:xfrm>
            <a:off x="6492240" y="1783080"/>
            <a:ext cx="4846320" cy="914400"/>
          </a:xfrm>
          <a:prstGeom prst="rect">
            <a:avLst/>
          </a:prstGeom>
          <a:noFill/>
          <a:ln/>
        </p:spPr>
        <p:txBody>
          <a:bodyPr wrap="square" lIns="0" tIns="0" rIns="0" bIns="0" rtlCol="0" anchor="t"/>
          <a:lstStyle/>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8 groups of 16 bits, each 4 hex digits</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Separated by colons</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2^128 addresses - enough for every device</a:t>
            </a:r>
            <a:endParaRPr lang="en-US" sz="1300" dirty="0"/>
          </a:p>
        </p:txBody>
      </p:sp>
      <p:sp>
        <p:nvSpPr>
          <p:cNvPr id="17" name="Text 14"/>
          <p:cNvSpPr/>
          <p:nvPr/>
        </p:nvSpPr>
        <p:spPr>
          <a:xfrm>
            <a:off x="6263640" y="2926080"/>
            <a:ext cx="5212080" cy="502920"/>
          </a:xfrm>
          <a:prstGeom prst="rect">
            <a:avLst/>
          </a:prstGeom>
          <a:noFill/>
          <a:ln/>
        </p:spPr>
        <p:txBody>
          <a:bodyPr wrap="square" lIns="0" tIns="0" rIns="0" bIns="0" rtlCol="0" anchor="ctr"/>
          <a:lstStyle/>
          <a:p>
            <a:pPr algn="ctr" indent="0" marL="0">
              <a:buNone/>
            </a:pPr>
            <a:r>
              <a:rPr lang="en-US" sz="1500" b="1" dirty="0">
                <a:solidFill>
                  <a:srgbClr val="494985"/>
                </a:solidFill>
                <a:latin typeface="Roboto Mono" pitchFamily="34" charset="0"/>
                <a:ea typeface="Roboto Mono" pitchFamily="34" charset="-122"/>
                <a:cs typeface="Roboto Mono" pitchFamily="34" charset="-120"/>
              </a:rPr>
              <a:t>2001:0DB8:0000:0000:0000:FF00:0042:8329</a:t>
            </a:r>
            <a:endParaRPr lang="en-US" sz="1500" dirty="0"/>
          </a:p>
        </p:txBody>
      </p:sp>
      <p:sp>
        <p:nvSpPr>
          <p:cNvPr id="18" name="Text 15"/>
          <p:cNvSpPr/>
          <p:nvPr/>
        </p:nvSpPr>
        <p:spPr>
          <a:xfrm>
            <a:off x="6263640" y="3474720"/>
            <a:ext cx="5212080" cy="365760"/>
          </a:xfrm>
          <a:prstGeom prst="rect">
            <a:avLst/>
          </a:prstGeom>
          <a:noFill/>
          <a:ln/>
        </p:spPr>
        <p:txBody>
          <a:bodyPr wrap="square" lIns="0" tIns="0" rIns="0" bIns="0" rtlCol="0" anchor="ctr"/>
          <a:lstStyle/>
          <a:p>
            <a:pPr algn="ctr" indent="0" marL="0">
              <a:buNone/>
            </a:pPr>
            <a:r>
              <a:rPr lang="en-US" sz="1500" b="1" dirty="0">
                <a:solidFill>
                  <a:srgbClr val="2E7D5B"/>
                </a:solidFill>
                <a:latin typeface="Roboto Mono" pitchFamily="34" charset="0"/>
                <a:ea typeface="Roboto Mono" pitchFamily="34" charset="-122"/>
                <a:cs typeface="Roboto Mono" pitchFamily="34" charset="-120"/>
              </a:rPr>
              <a:t>2001:DB8::FF00:42:8329</a:t>
            </a:r>
            <a:endParaRPr lang="en-US" sz="1500" dirty="0"/>
          </a:p>
        </p:txBody>
      </p:sp>
      <p:sp>
        <p:nvSpPr>
          <p:cNvPr id="19" name="Text 16"/>
          <p:cNvSpPr txBox="1"/>
          <p:nvPr/>
        </p:nvSpPr>
        <p:spPr>
          <a:xfrm>
            <a:off x="6263640" y="3886200"/>
            <a:ext cx="5212080" cy="274320"/>
          </a:xfrm>
          <a:prstGeom prst="rect">
            <a:avLst/>
          </a:prstGeom>
          <a:noFill/>
          <a:ln/>
        </p:spPr>
        <p:txBody>
          <a:bodyPr wrap="square" lIns="0" tIns="0" rIns="0" bIns="0" rtlCol="0" anchor="ctr"/>
          <a:lstStyle/>
          <a:p>
            <a:pPr algn="ctr" indent="0" marL="0">
              <a:buNone/>
            </a:pPr>
            <a:r>
              <a:rPr lang="en-US" sz="1100" i="1" dirty="0">
                <a:solidFill>
                  <a:srgbClr val="666666"/>
                </a:solidFill>
                <a:latin typeface="Quicksand" pitchFamily="34" charset="0"/>
                <a:ea typeface="Quicksand" pitchFamily="34" charset="-122"/>
                <a:cs typeface="Quicksand" pitchFamily="34" charset="-120"/>
              </a:rPr>
              <a:t>the same IPv6 address after zero compression</a:t>
            </a:r>
            <a:endParaRPr lang="en-US" sz="1100" dirty="0"/>
          </a:p>
        </p:txBody>
      </p:sp>
      <p:sp>
        <p:nvSpPr>
          <p:cNvPr id="20" name="Text 17"/>
          <p:cNvSpPr txBox="1"/>
          <p:nvPr/>
        </p:nvSpPr>
        <p:spPr>
          <a:xfrm>
            <a:off x="777240" y="4297680"/>
            <a:ext cx="10698480" cy="45720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Why IPv6? IPv4 is running out of addresses. IPv6 also removes the need for NAT and private-address clashes.</a:t>
            </a:r>
            <a:endParaRPr lang="en-US" sz="1500" dirty="0"/>
          </a:p>
        </p:txBody>
      </p:sp>
      <p:sp>
        <p:nvSpPr>
          <p:cNvPr id="21" name="Shape 18"/>
          <p:cNvSpPr/>
          <p:nvPr/>
        </p:nvSpPr>
        <p:spPr>
          <a:xfrm>
            <a:off x="777240" y="4892040"/>
            <a:ext cx="3474720" cy="960120"/>
          </a:xfrm>
          <a:prstGeom prst="rect">
            <a:avLst/>
          </a:prstGeom>
          <a:solidFill>
            <a:srgbClr val="F6F5FC"/>
          </a:solidFill>
          <a:ln w="12700">
            <a:solidFill>
              <a:srgbClr val="F6F5FC"/>
            </a:solidFill>
            <a:prstDash val="solid"/>
          </a:ln>
        </p:spPr>
      </p:sp>
      <p:sp>
        <p:nvSpPr>
          <p:cNvPr id="22" name="Text 19"/>
          <p:cNvSpPr/>
          <p:nvPr/>
        </p:nvSpPr>
        <p:spPr>
          <a:xfrm>
            <a:off x="914400" y="50292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23" name="Text 20"/>
          <p:cNvSpPr txBox="1"/>
          <p:nvPr/>
        </p:nvSpPr>
        <p:spPr>
          <a:xfrm>
            <a:off x="1435608" y="5001768"/>
            <a:ext cx="269748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Drop leading zeros</a:t>
            </a:r>
            <a:endParaRPr lang="en-US" sz="1500" dirty="0"/>
          </a:p>
        </p:txBody>
      </p:sp>
      <p:sp>
        <p:nvSpPr>
          <p:cNvPr id="24" name="Text 21"/>
          <p:cNvSpPr txBox="1"/>
          <p:nvPr/>
        </p:nvSpPr>
        <p:spPr>
          <a:xfrm>
            <a:off x="1435608" y="5394960"/>
            <a:ext cx="2697480" cy="39319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0DB8 -&gt; DB8,  0042 -&gt; 42</a:t>
            </a:r>
            <a:endParaRPr lang="en-US" sz="1250" dirty="0"/>
          </a:p>
        </p:txBody>
      </p:sp>
      <p:sp>
        <p:nvSpPr>
          <p:cNvPr id="25" name="Shape 22"/>
          <p:cNvSpPr/>
          <p:nvPr/>
        </p:nvSpPr>
        <p:spPr>
          <a:xfrm>
            <a:off x="4389120" y="4892040"/>
            <a:ext cx="3474720" cy="960120"/>
          </a:xfrm>
          <a:prstGeom prst="rect">
            <a:avLst/>
          </a:prstGeom>
          <a:solidFill>
            <a:srgbClr val="F6F5FC"/>
          </a:solidFill>
          <a:ln w="12700">
            <a:solidFill>
              <a:srgbClr val="F6F5FC"/>
            </a:solidFill>
            <a:prstDash val="solid"/>
          </a:ln>
        </p:spPr>
      </p:sp>
      <p:sp>
        <p:nvSpPr>
          <p:cNvPr id="26" name="Text 23"/>
          <p:cNvSpPr/>
          <p:nvPr/>
        </p:nvSpPr>
        <p:spPr>
          <a:xfrm>
            <a:off x="4526280" y="50292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27" name="Text 24"/>
          <p:cNvSpPr txBox="1"/>
          <p:nvPr/>
        </p:nvSpPr>
        <p:spPr>
          <a:xfrm>
            <a:off x="5047488" y="5001768"/>
            <a:ext cx="269748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Replace zero groups</a:t>
            </a:r>
            <a:endParaRPr lang="en-US" sz="1500" dirty="0"/>
          </a:p>
        </p:txBody>
      </p:sp>
      <p:sp>
        <p:nvSpPr>
          <p:cNvPr id="28" name="Text 25"/>
          <p:cNvSpPr txBox="1"/>
          <p:nvPr/>
        </p:nvSpPr>
        <p:spPr>
          <a:xfrm>
            <a:off x="5047488" y="5394960"/>
            <a:ext cx="2697480" cy="39319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One run of 0000 groups -&gt; ::</a:t>
            </a:r>
            <a:endParaRPr lang="en-US" sz="1250" dirty="0"/>
          </a:p>
        </p:txBody>
      </p:sp>
      <p:sp>
        <p:nvSpPr>
          <p:cNvPr id="29" name="Shape 26"/>
          <p:cNvSpPr/>
          <p:nvPr/>
        </p:nvSpPr>
        <p:spPr>
          <a:xfrm>
            <a:off x="8001000" y="4892040"/>
            <a:ext cx="3474720" cy="960120"/>
          </a:xfrm>
          <a:prstGeom prst="rect">
            <a:avLst/>
          </a:prstGeom>
          <a:solidFill>
            <a:srgbClr val="F6F5FC"/>
          </a:solidFill>
          <a:ln w="12700">
            <a:solidFill>
              <a:srgbClr val="F6F5FC"/>
            </a:solidFill>
            <a:prstDash val="solid"/>
          </a:ln>
        </p:spPr>
      </p:sp>
      <p:sp>
        <p:nvSpPr>
          <p:cNvPr id="30" name="Text 27"/>
          <p:cNvSpPr/>
          <p:nvPr/>
        </p:nvSpPr>
        <p:spPr>
          <a:xfrm>
            <a:off x="8138160" y="50292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31" name="Text 28"/>
          <p:cNvSpPr txBox="1"/>
          <p:nvPr/>
        </p:nvSpPr>
        <p:spPr>
          <a:xfrm>
            <a:off x="8659368" y="5001768"/>
            <a:ext cx="269748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Only once</a:t>
            </a:r>
            <a:endParaRPr lang="en-US" sz="1500" dirty="0"/>
          </a:p>
        </p:txBody>
      </p:sp>
      <p:sp>
        <p:nvSpPr>
          <p:cNvPr id="32" name="Text 29"/>
          <p:cNvSpPr txBox="1"/>
          <p:nvPr/>
        </p:nvSpPr>
        <p:spPr>
          <a:xfrm>
            <a:off x="8659368" y="5394960"/>
            <a:ext cx="2697480" cy="39319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Two lots of :: would be ambiguous</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Valid or invalid?</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5</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17</a:t>
            </a:r>
            <a:endParaRPr lang="en-US" sz="1350" dirty="0"/>
          </a:p>
        </p:txBody>
      </p:sp>
      <p:sp>
        <p:nvSpPr>
          <p:cNvPr id="7" name="Shape 4"/>
          <p:cNvSpPr/>
          <p:nvPr/>
        </p:nvSpPr>
        <p:spPr>
          <a:xfrm>
            <a:off x="777240" y="1325880"/>
            <a:ext cx="7863840" cy="457200"/>
          </a:xfrm>
          <a:prstGeom prst="rect">
            <a:avLst/>
          </a:prstGeom>
          <a:solidFill>
            <a:srgbClr val="F6F5FC"/>
          </a:solidFill>
          <a:ln w="12700">
            <a:solidFill>
              <a:srgbClr val="E4E4EC"/>
            </a:solidFill>
            <a:prstDash val="solid"/>
          </a:ln>
        </p:spPr>
      </p:sp>
      <p:sp>
        <p:nvSpPr>
          <p:cNvPr id="8" name="Text 5"/>
          <p:cNvSpPr/>
          <p:nvPr/>
        </p:nvSpPr>
        <p:spPr>
          <a:xfrm>
            <a:off x="914400" y="1325880"/>
            <a:ext cx="7680960" cy="457200"/>
          </a:xfrm>
          <a:prstGeom prst="rect">
            <a:avLst/>
          </a:prstGeom>
          <a:noFill/>
          <a:ln/>
        </p:spPr>
        <p:txBody>
          <a:bodyPr wrap="square" lIns="0" tIns="0" rIns="0" bIns="0" rtlCol="0" anchor="ctr"/>
          <a:lstStyle/>
          <a:p>
            <a:pPr indent="0" marL="0">
              <a:buNone/>
            </a:pPr>
            <a:r>
              <a:rPr lang="en-US" sz="1500" dirty="0">
                <a:solidFill>
                  <a:srgbClr val="202124"/>
                </a:solidFill>
                <a:latin typeface="Roboto Mono" pitchFamily="34" charset="0"/>
                <a:ea typeface="Roboto Mono" pitchFamily="34" charset="-122"/>
                <a:cs typeface="Roboto Mono" pitchFamily="34" charset="-120"/>
              </a:rPr>
              <a:t>1   10.24.156.3</a:t>
            </a:r>
            <a:endParaRPr lang="en-US" sz="1500" dirty="0"/>
          </a:p>
        </p:txBody>
      </p:sp>
      <p:sp>
        <p:nvSpPr>
          <p:cNvPr id="9" name="Shape 6"/>
          <p:cNvSpPr/>
          <p:nvPr/>
        </p:nvSpPr>
        <p:spPr>
          <a:xfrm>
            <a:off x="777240" y="1874520"/>
            <a:ext cx="7863840" cy="457200"/>
          </a:xfrm>
          <a:prstGeom prst="rect">
            <a:avLst/>
          </a:prstGeom>
          <a:solidFill>
            <a:srgbClr val="FFFFFF"/>
          </a:solidFill>
          <a:ln w="12700">
            <a:solidFill>
              <a:srgbClr val="E4E4EC"/>
            </a:solidFill>
            <a:prstDash val="solid"/>
          </a:ln>
        </p:spPr>
      </p:sp>
      <p:sp>
        <p:nvSpPr>
          <p:cNvPr id="10" name="Text 7"/>
          <p:cNvSpPr/>
          <p:nvPr/>
        </p:nvSpPr>
        <p:spPr>
          <a:xfrm>
            <a:off x="914400" y="1874520"/>
            <a:ext cx="7680960" cy="457200"/>
          </a:xfrm>
          <a:prstGeom prst="rect">
            <a:avLst/>
          </a:prstGeom>
          <a:noFill/>
          <a:ln/>
        </p:spPr>
        <p:txBody>
          <a:bodyPr wrap="square" lIns="0" tIns="0" rIns="0" bIns="0" rtlCol="0" anchor="ctr"/>
          <a:lstStyle/>
          <a:p>
            <a:pPr indent="0" marL="0">
              <a:buNone/>
            </a:pPr>
            <a:r>
              <a:rPr lang="en-US" sz="1500" dirty="0">
                <a:solidFill>
                  <a:srgbClr val="202124"/>
                </a:solidFill>
                <a:latin typeface="Roboto Mono" pitchFamily="34" charset="0"/>
                <a:ea typeface="Roboto Mono" pitchFamily="34" charset="-122"/>
                <a:cs typeface="Roboto Mono" pitchFamily="34" charset="-120"/>
              </a:rPr>
              <a:t>2   192.168.1.256</a:t>
            </a:r>
            <a:endParaRPr lang="en-US" sz="1500" dirty="0"/>
          </a:p>
        </p:txBody>
      </p:sp>
      <p:sp>
        <p:nvSpPr>
          <p:cNvPr id="11" name="Shape 8"/>
          <p:cNvSpPr/>
          <p:nvPr/>
        </p:nvSpPr>
        <p:spPr>
          <a:xfrm>
            <a:off x="777240" y="2423160"/>
            <a:ext cx="7863840" cy="457200"/>
          </a:xfrm>
          <a:prstGeom prst="rect">
            <a:avLst/>
          </a:prstGeom>
          <a:solidFill>
            <a:srgbClr val="F6F5FC"/>
          </a:solidFill>
          <a:ln w="12700">
            <a:solidFill>
              <a:srgbClr val="E4E4EC"/>
            </a:solidFill>
            <a:prstDash val="solid"/>
          </a:ln>
        </p:spPr>
      </p:sp>
      <p:sp>
        <p:nvSpPr>
          <p:cNvPr id="12" name="Text 9"/>
          <p:cNvSpPr/>
          <p:nvPr/>
        </p:nvSpPr>
        <p:spPr>
          <a:xfrm>
            <a:off x="914400" y="2423160"/>
            <a:ext cx="7680960" cy="457200"/>
          </a:xfrm>
          <a:prstGeom prst="rect">
            <a:avLst/>
          </a:prstGeom>
          <a:noFill/>
          <a:ln/>
        </p:spPr>
        <p:txBody>
          <a:bodyPr wrap="square" lIns="0" tIns="0" rIns="0" bIns="0" rtlCol="0" anchor="ctr"/>
          <a:lstStyle/>
          <a:p>
            <a:pPr indent="0" marL="0">
              <a:buNone/>
            </a:pPr>
            <a:r>
              <a:rPr lang="en-US" sz="1500" dirty="0">
                <a:solidFill>
                  <a:srgbClr val="202124"/>
                </a:solidFill>
                <a:latin typeface="Roboto Mono" pitchFamily="34" charset="0"/>
                <a:ea typeface="Roboto Mono" pitchFamily="34" charset="-122"/>
                <a:cs typeface="Roboto Mono" pitchFamily="34" charset="-120"/>
              </a:rPr>
              <a:t>3   172.16.4.20.1</a:t>
            </a:r>
            <a:endParaRPr lang="en-US" sz="1500" dirty="0"/>
          </a:p>
        </p:txBody>
      </p:sp>
      <p:sp>
        <p:nvSpPr>
          <p:cNvPr id="13" name="Shape 10"/>
          <p:cNvSpPr/>
          <p:nvPr/>
        </p:nvSpPr>
        <p:spPr>
          <a:xfrm>
            <a:off x="777240" y="2971800"/>
            <a:ext cx="7863840" cy="457200"/>
          </a:xfrm>
          <a:prstGeom prst="rect">
            <a:avLst/>
          </a:prstGeom>
          <a:solidFill>
            <a:srgbClr val="FFFFFF"/>
          </a:solidFill>
          <a:ln w="12700">
            <a:solidFill>
              <a:srgbClr val="E4E4EC"/>
            </a:solidFill>
            <a:prstDash val="solid"/>
          </a:ln>
        </p:spPr>
      </p:sp>
      <p:sp>
        <p:nvSpPr>
          <p:cNvPr id="14" name="Text 11"/>
          <p:cNvSpPr/>
          <p:nvPr/>
        </p:nvSpPr>
        <p:spPr>
          <a:xfrm>
            <a:off x="914400" y="2971800"/>
            <a:ext cx="7680960" cy="457200"/>
          </a:xfrm>
          <a:prstGeom prst="rect">
            <a:avLst/>
          </a:prstGeom>
          <a:noFill/>
          <a:ln/>
        </p:spPr>
        <p:txBody>
          <a:bodyPr wrap="square" lIns="0" tIns="0" rIns="0" bIns="0" rtlCol="0" anchor="ctr"/>
          <a:lstStyle/>
          <a:p>
            <a:pPr indent="0" marL="0">
              <a:buNone/>
            </a:pPr>
            <a:r>
              <a:rPr lang="en-US" sz="1500" dirty="0">
                <a:solidFill>
                  <a:srgbClr val="202124"/>
                </a:solidFill>
                <a:latin typeface="Roboto Mono" pitchFamily="34" charset="0"/>
                <a:ea typeface="Roboto Mono" pitchFamily="34" charset="-122"/>
                <a:cs typeface="Roboto Mono" pitchFamily="34" charset="-120"/>
              </a:rPr>
              <a:t>4   FE80:0000:0000:0000:0202:B3FF:FE1E:8329</a:t>
            </a:r>
            <a:endParaRPr lang="en-US" sz="1500" dirty="0"/>
          </a:p>
        </p:txBody>
      </p:sp>
      <p:sp>
        <p:nvSpPr>
          <p:cNvPr id="15" name="Shape 12"/>
          <p:cNvSpPr/>
          <p:nvPr/>
        </p:nvSpPr>
        <p:spPr>
          <a:xfrm>
            <a:off x="777240" y="3520440"/>
            <a:ext cx="7863840" cy="457200"/>
          </a:xfrm>
          <a:prstGeom prst="rect">
            <a:avLst/>
          </a:prstGeom>
          <a:solidFill>
            <a:srgbClr val="F6F5FC"/>
          </a:solidFill>
          <a:ln w="12700">
            <a:solidFill>
              <a:srgbClr val="E4E4EC"/>
            </a:solidFill>
            <a:prstDash val="solid"/>
          </a:ln>
        </p:spPr>
      </p:sp>
      <p:sp>
        <p:nvSpPr>
          <p:cNvPr id="16" name="Text 13"/>
          <p:cNvSpPr/>
          <p:nvPr/>
        </p:nvSpPr>
        <p:spPr>
          <a:xfrm>
            <a:off x="914400" y="3520440"/>
            <a:ext cx="7680960" cy="457200"/>
          </a:xfrm>
          <a:prstGeom prst="rect">
            <a:avLst/>
          </a:prstGeom>
          <a:noFill/>
          <a:ln/>
        </p:spPr>
        <p:txBody>
          <a:bodyPr wrap="square" lIns="0" tIns="0" rIns="0" bIns="0" rtlCol="0" anchor="ctr"/>
          <a:lstStyle/>
          <a:p>
            <a:pPr indent="0" marL="0">
              <a:buNone/>
            </a:pPr>
            <a:r>
              <a:rPr lang="en-US" sz="1500" dirty="0">
                <a:solidFill>
                  <a:srgbClr val="202124"/>
                </a:solidFill>
                <a:latin typeface="Roboto Mono" pitchFamily="34" charset="0"/>
                <a:ea typeface="Roboto Mono" pitchFamily="34" charset="-122"/>
                <a:cs typeface="Roboto Mono" pitchFamily="34" charset="-120"/>
              </a:rPr>
              <a:t>5   FE80::202:B3FF:FE1E:8329</a:t>
            </a:r>
            <a:endParaRPr lang="en-US" sz="1500" dirty="0"/>
          </a:p>
        </p:txBody>
      </p:sp>
      <p:sp>
        <p:nvSpPr>
          <p:cNvPr id="17" name="Shape 14"/>
          <p:cNvSpPr/>
          <p:nvPr/>
        </p:nvSpPr>
        <p:spPr>
          <a:xfrm>
            <a:off x="777240" y="4069080"/>
            <a:ext cx="7863840" cy="457200"/>
          </a:xfrm>
          <a:prstGeom prst="rect">
            <a:avLst/>
          </a:prstGeom>
          <a:solidFill>
            <a:srgbClr val="FFFFFF"/>
          </a:solidFill>
          <a:ln w="12700">
            <a:solidFill>
              <a:srgbClr val="E4E4EC"/>
            </a:solidFill>
            <a:prstDash val="solid"/>
          </a:ln>
        </p:spPr>
      </p:sp>
      <p:sp>
        <p:nvSpPr>
          <p:cNvPr id="18" name="Text 15"/>
          <p:cNvSpPr/>
          <p:nvPr/>
        </p:nvSpPr>
        <p:spPr>
          <a:xfrm>
            <a:off x="914400" y="4069080"/>
            <a:ext cx="7680960" cy="457200"/>
          </a:xfrm>
          <a:prstGeom prst="rect">
            <a:avLst/>
          </a:prstGeom>
          <a:noFill/>
          <a:ln/>
        </p:spPr>
        <p:txBody>
          <a:bodyPr wrap="square" lIns="0" tIns="0" rIns="0" bIns="0" rtlCol="0" anchor="ctr"/>
          <a:lstStyle/>
          <a:p>
            <a:pPr indent="0" marL="0">
              <a:buNone/>
            </a:pPr>
            <a:r>
              <a:rPr lang="en-US" sz="1500" dirty="0">
                <a:solidFill>
                  <a:srgbClr val="202124"/>
                </a:solidFill>
                <a:latin typeface="Roboto Mono" pitchFamily="34" charset="0"/>
                <a:ea typeface="Roboto Mono" pitchFamily="34" charset="-122"/>
                <a:cs typeface="Roboto Mono" pitchFamily="34" charset="-120"/>
              </a:rPr>
              <a:t>6   2001::85A3::7334</a:t>
            </a:r>
            <a:endParaRPr lang="en-US" sz="1500" dirty="0"/>
          </a:p>
        </p:txBody>
      </p:sp>
      <p:sp>
        <p:nvSpPr>
          <p:cNvPr id="19" name="Shape 16"/>
          <p:cNvSpPr/>
          <p:nvPr/>
        </p:nvSpPr>
        <p:spPr>
          <a:xfrm>
            <a:off x="777240" y="4617720"/>
            <a:ext cx="7863840" cy="457200"/>
          </a:xfrm>
          <a:prstGeom prst="rect">
            <a:avLst/>
          </a:prstGeom>
          <a:solidFill>
            <a:srgbClr val="F6F5FC"/>
          </a:solidFill>
          <a:ln w="12700">
            <a:solidFill>
              <a:srgbClr val="E4E4EC"/>
            </a:solidFill>
            <a:prstDash val="solid"/>
          </a:ln>
        </p:spPr>
      </p:sp>
      <p:sp>
        <p:nvSpPr>
          <p:cNvPr id="20" name="Text 17"/>
          <p:cNvSpPr/>
          <p:nvPr/>
        </p:nvSpPr>
        <p:spPr>
          <a:xfrm>
            <a:off x="914400" y="4617720"/>
            <a:ext cx="7680960" cy="457200"/>
          </a:xfrm>
          <a:prstGeom prst="rect">
            <a:avLst/>
          </a:prstGeom>
          <a:noFill/>
          <a:ln/>
        </p:spPr>
        <p:txBody>
          <a:bodyPr wrap="square" lIns="0" tIns="0" rIns="0" bIns="0" rtlCol="0" anchor="ctr"/>
          <a:lstStyle/>
          <a:p>
            <a:pPr indent="0" marL="0">
              <a:buNone/>
            </a:pPr>
            <a:r>
              <a:rPr lang="en-US" sz="1500" dirty="0">
                <a:solidFill>
                  <a:srgbClr val="202124"/>
                </a:solidFill>
                <a:latin typeface="Roboto Mono" pitchFamily="34" charset="0"/>
                <a:ea typeface="Roboto Mono" pitchFamily="34" charset="-122"/>
                <a:cs typeface="Roboto Mono" pitchFamily="34" charset="-120"/>
              </a:rPr>
              <a:t>7   2001:0DB8:85G3:0000:0000:8A2E:0370:7334</a:t>
            </a:r>
            <a:endParaRPr lang="en-US" sz="1500" dirty="0"/>
          </a:p>
        </p:txBody>
      </p:sp>
      <p:sp>
        <p:nvSpPr>
          <p:cNvPr id="21" name="Shape 18"/>
          <p:cNvSpPr/>
          <p:nvPr/>
        </p:nvSpPr>
        <p:spPr>
          <a:xfrm>
            <a:off x="777240" y="5166360"/>
            <a:ext cx="7863840" cy="457200"/>
          </a:xfrm>
          <a:prstGeom prst="rect">
            <a:avLst/>
          </a:prstGeom>
          <a:solidFill>
            <a:srgbClr val="FFFFFF"/>
          </a:solidFill>
          <a:ln w="12700">
            <a:solidFill>
              <a:srgbClr val="E4E4EC"/>
            </a:solidFill>
            <a:prstDash val="solid"/>
          </a:ln>
        </p:spPr>
      </p:sp>
      <p:sp>
        <p:nvSpPr>
          <p:cNvPr id="22" name="Text 19"/>
          <p:cNvSpPr/>
          <p:nvPr/>
        </p:nvSpPr>
        <p:spPr>
          <a:xfrm>
            <a:off x="914400" y="5166360"/>
            <a:ext cx="7680960" cy="457200"/>
          </a:xfrm>
          <a:prstGeom prst="rect">
            <a:avLst/>
          </a:prstGeom>
          <a:noFill/>
          <a:ln/>
        </p:spPr>
        <p:txBody>
          <a:bodyPr wrap="square" lIns="0" tIns="0" rIns="0" bIns="0" rtlCol="0" anchor="ctr"/>
          <a:lstStyle/>
          <a:p>
            <a:pPr indent="0" marL="0">
              <a:buNone/>
            </a:pPr>
            <a:r>
              <a:rPr lang="en-US" sz="1500" dirty="0">
                <a:solidFill>
                  <a:srgbClr val="202124"/>
                </a:solidFill>
                <a:latin typeface="Roboto Mono" pitchFamily="34" charset="0"/>
                <a:ea typeface="Roboto Mono" pitchFamily="34" charset="-122"/>
                <a:cs typeface="Roboto Mono" pitchFamily="34" charset="-120"/>
              </a:rPr>
              <a:t>8   1:2:3:4:5:6:7:8:9</a:t>
            </a:r>
            <a:endParaRPr lang="en-US" sz="1500" dirty="0"/>
          </a:p>
        </p:txBody>
      </p:sp>
      <p:sp>
        <p:nvSpPr>
          <p:cNvPr id="23" name="Shape 20"/>
          <p:cNvSpPr/>
          <p:nvPr/>
        </p:nvSpPr>
        <p:spPr>
          <a:xfrm>
            <a:off x="8915400" y="1325880"/>
            <a:ext cx="2606040" cy="4206240"/>
          </a:xfrm>
          <a:prstGeom prst="rect">
            <a:avLst/>
          </a:prstGeom>
          <a:solidFill>
            <a:srgbClr val="F6F5FC"/>
          </a:solidFill>
          <a:ln w="12700">
            <a:solidFill>
              <a:srgbClr val="F6F5FC"/>
            </a:solidFill>
            <a:prstDash val="solid"/>
          </a:ln>
        </p:spPr>
      </p:sp>
      <p:sp>
        <p:nvSpPr>
          <p:cNvPr id="24" name="Shape 21"/>
          <p:cNvSpPr/>
          <p:nvPr/>
        </p:nvSpPr>
        <p:spPr>
          <a:xfrm>
            <a:off x="8915400" y="1325880"/>
            <a:ext cx="73152" cy="4206240"/>
          </a:xfrm>
          <a:prstGeom prst="rect">
            <a:avLst/>
          </a:prstGeom>
          <a:solidFill>
            <a:srgbClr val="494985"/>
          </a:solidFill>
          <a:ln w="12700">
            <a:solidFill>
              <a:srgbClr val="494985"/>
            </a:solidFill>
            <a:prstDash val="solid"/>
          </a:ln>
        </p:spPr>
      </p:sp>
      <p:sp>
        <p:nvSpPr>
          <p:cNvPr id="25" name="Text 22"/>
          <p:cNvSpPr txBox="1"/>
          <p:nvPr/>
        </p:nvSpPr>
        <p:spPr>
          <a:xfrm>
            <a:off x="9144000" y="1417320"/>
            <a:ext cx="224028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Check</a:t>
            </a:r>
            <a:endParaRPr lang="en-US" sz="1500" dirty="0"/>
          </a:p>
        </p:txBody>
      </p:sp>
      <p:sp>
        <p:nvSpPr>
          <p:cNvPr id="26" name="Text 23"/>
          <p:cNvSpPr txBox="1"/>
          <p:nvPr/>
        </p:nvSpPr>
        <p:spPr>
          <a:xfrm>
            <a:off x="9144000" y="1828800"/>
            <a:ext cx="2240280" cy="3611880"/>
          </a:xfrm>
          <a:prstGeom prst="rect">
            <a:avLst/>
          </a:prstGeom>
          <a:noFill/>
          <a:ln/>
        </p:spPr>
        <p:txBody>
          <a:bodyPr wrap="square" lIns="0" tIns="0" rIns="0" bIns="0" rtlCol="0" anchor="t"/>
          <a:lstStyle/>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IPv4: 4 groups, each 0-255</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IPv6: 8 groups of hex (0-9, A-F)</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 only once</a:t>
            </a:r>
            <a:endParaRPr lang="en-US" sz="1300" dirty="0"/>
          </a:p>
        </p:txBody>
      </p:sp>
      <p:sp>
        <p:nvSpPr>
          <p:cNvPr id="27" name="Text 24"/>
          <p:cNvSpPr txBox="1"/>
          <p:nvPr/>
        </p:nvSpPr>
        <p:spPr>
          <a:xfrm>
            <a:off x="777240" y="5806440"/>
            <a:ext cx="10698480" cy="365760"/>
          </a:xfrm>
          <a:prstGeom prst="rect">
            <a:avLst/>
          </a:prstGeom>
          <a:noFill/>
          <a:ln/>
        </p:spPr>
        <p:txBody>
          <a:bodyPr wrap="square" lIns="0" tIns="0" rIns="0" bIns="0" rtlCol="0" anchor="t"/>
          <a:lstStyle/>
          <a:p>
            <a:pPr indent="0" marL="0">
              <a:buNone/>
            </a:pPr>
            <a:r>
              <a:rPr lang="en-US" sz="1400" b="1" dirty="0">
                <a:solidFill>
                  <a:srgbClr val="494985"/>
                </a:solidFill>
                <a:latin typeface="Quicksand" pitchFamily="34" charset="0"/>
                <a:ea typeface="Quicksand" pitchFamily="34" charset="-122"/>
                <a:cs typeface="Quicksand" pitchFamily="34" charset="-120"/>
              </a:rPr>
              <a:t>Valid IPv4, valid IPv6 or invalid? Give a reason for each invalid one.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Network ID, host ID and subnetting</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5</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18</a:t>
            </a:r>
            <a:endParaRPr lang="en-US" sz="13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77240" y="1280160"/>
          <a:ext cx="10698480" cy="914400"/>
        </p:xfrm>
        <a:graphic>
          <a:graphicData uri="http://schemas.openxmlformats.org/drawingml/2006/table">
            <a:tbl>
              <a:tblPr/>
              <a:tblGrid>
                <a:gridCol w="2926080"/>
                <a:gridCol w="4114800"/>
                <a:gridCol w="1371600"/>
                <a:gridCol w="2286000"/>
              </a:tblGrid>
              <a:tr h="502920">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Network ID (24 bits)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Subnet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Host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0292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192.168.10.77/26</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192.168.10</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01</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001101</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0292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Mask 255.255.255.192</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11111111.11111111.11111111</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11</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000000</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0292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IP AND mask</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192.168.10</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01</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000000  = .64</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8" name="Shape 4"/>
          <p:cNvSpPr/>
          <p:nvPr/>
        </p:nvSpPr>
        <p:spPr>
          <a:xfrm>
            <a:off x="777240" y="3520440"/>
            <a:ext cx="5212080" cy="2286000"/>
          </a:xfrm>
          <a:prstGeom prst="rect">
            <a:avLst/>
          </a:prstGeom>
          <a:solidFill>
            <a:srgbClr val="F6F5FC"/>
          </a:solidFill>
          <a:ln w="12700">
            <a:solidFill>
              <a:srgbClr val="F6F5FC"/>
            </a:solidFill>
            <a:prstDash val="solid"/>
          </a:ln>
        </p:spPr>
      </p:sp>
      <p:sp>
        <p:nvSpPr>
          <p:cNvPr id="9" name="Shape 5"/>
          <p:cNvSpPr/>
          <p:nvPr/>
        </p:nvSpPr>
        <p:spPr>
          <a:xfrm>
            <a:off x="777240" y="3520440"/>
            <a:ext cx="73152" cy="2286000"/>
          </a:xfrm>
          <a:prstGeom prst="rect">
            <a:avLst/>
          </a:prstGeom>
          <a:solidFill>
            <a:srgbClr val="494985"/>
          </a:solidFill>
          <a:ln w="12700">
            <a:solidFill>
              <a:srgbClr val="494985"/>
            </a:solidFill>
            <a:prstDash val="solid"/>
          </a:ln>
        </p:spPr>
      </p:sp>
      <p:sp>
        <p:nvSpPr>
          <p:cNvPr id="10" name="Text 6"/>
          <p:cNvSpPr txBox="1"/>
          <p:nvPr/>
        </p:nvSpPr>
        <p:spPr>
          <a:xfrm>
            <a:off x="1005840" y="3611880"/>
            <a:ext cx="484632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Subnetting</a:t>
            </a:r>
            <a:endParaRPr lang="en-US" sz="1500" dirty="0"/>
          </a:p>
        </p:txBody>
      </p:sp>
      <p:sp>
        <p:nvSpPr>
          <p:cNvPr id="11" name="Text 7"/>
          <p:cNvSpPr txBox="1"/>
          <p:nvPr/>
        </p:nvSpPr>
        <p:spPr>
          <a:xfrm>
            <a:off x="1005840" y="4023360"/>
            <a:ext cx="4846320" cy="1691640"/>
          </a:xfrm>
          <a:prstGeom prst="rect">
            <a:avLst/>
          </a:prstGeom>
          <a:noFill/>
          <a:ln/>
        </p:spPr>
        <p:txBody>
          <a:bodyPr wrap="square" lIns="0" tIns="0" rIns="0" bIns="0" rtlCol="0" anchor="t"/>
          <a:lstStyle/>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Splits one network into smaller sub-networks</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Some host bits become a subnet ID</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AND the IP with the subnet mask to find which subnet a device is in</a:t>
            </a:r>
            <a:endParaRPr lang="en-US" sz="1300" dirty="0"/>
          </a:p>
        </p:txBody>
      </p:sp>
      <p:sp>
        <p:nvSpPr>
          <p:cNvPr id="12" name="Shape 8"/>
          <p:cNvSpPr/>
          <p:nvPr/>
        </p:nvSpPr>
        <p:spPr>
          <a:xfrm>
            <a:off x="6263640" y="3520440"/>
            <a:ext cx="5212080" cy="2286000"/>
          </a:xfrm>
          <a:prstGeom prst="rect">
            <a:avLst/>
          </a:prstGeom>
          <a:solidFill>
            <a:srgbClr val="F6F5FC"/>
          </a:solidFill>
          <a:ln w="12700">
            <a:solidFill>
              <a:srgbClr val="F6F5FC"/>
            </a:solidFill>
            <a:prstDash val="solid"/>
          </a:ln>
        </p:spPr>
      </p:sp>
      <p:sp>
        <p:nvSpPr>
          <p:cNvPr id="13" name="Shape 9"/>
          <p:cNvSpPr/>
          <p:nvPr/>
        </p:nvSpPr>
        <p:spPr>
          <a:xfrm>
            <a:off x="6263640" y="3520440"/>
            <a:ext cx="73152" cy="2286000"/>
          </a:xfrm>
          <a:prstGeom prst="rect">
            <a:avLst/>
          </a:prstGeom>
          <a:solidFill>
            <a:srgbClr val="2E7D5B"/>
          </a:solidFill>
          <a:ln w="12700">
            <a:solidFill>
              <a:srgbClr val="2E7D5B"/>
            </a:solidFill>
            <a:prstDash val="solid"/>
          </a:ln>
        </p:spPr>
      </p:sp>
      <p:sp>
        <p:nvSpPr>
          <p:cNvPr id="14" name="Text 10"/>
          <p:cNvSpPr txBox="1"/>
          <p:nvPr/>
        </p:nvSpPr>
        <p:spPr>
          <a:xfrm>
            <a:off x="6492240" y="3611880"/>
            <a:ext cx="4846320" cy="347472"/>
          </a:xfrm>
          <a:prstGeom prst="rect">
            <a:avLst/>
          </a:prstGeom>
          <a:noFill/>
          <a:ln/>
        </p:spPr>
        <p:txBody>
          <a:bodyPr wrap="square" lIns="0" tIns="0" rIns="0" bIns="0" rtlCol="0" anchor="ctr"/>
          <a:lstStyle/>
          <a:p>
            <a:pPr indent="0" marL="0">
              <a:buNone/>
            </a:pPr>
            <a:r>
              <a:rPr lang="en-US" sz="1500" b="1" dirty="0">
                <a:solidFill>
                  <a:srgbClr val="2E7D5B"/>
                </a:solidFill>
                <a:latin typeface="Quicksand" pitchFamily="34" charset="0"/>
                <a:ea typeface="Quicksand" pitchFamily="34" charset="-122"/>
                <a:cs typeface="Quicksand" pitchFamily="34" charset="-120"/>
              </a:rPr>
              <a:t>Why do it?</a:t>
            </a:r>
            <a:endParaRPr lang="en-US" sz="1500" dirty="0"/>
          </a:p>
        </p:txBody>
      </p:sp>
      <p:sp>
        <p:nvSpPr>
          <p:cNvPr id="15" name="Text 11"/>
          <p:cNvSpPr txBox="1"/>
          <p:nvPr/>
        </p:nvSpPr>
        <p:spPr>
          <a:xfrm>
            <a:off x="6492240" y="4023360"/>
            <a:ext cx="4846320" cy="1691640"/>
          </a:xfrm>
          <a:prstGeom prst="rect">
            <a:avLst/>
          </a:prstGeom>
          <a:noFill/>
          <a:ln/>
        </p:spPr>
        <p:txBody>
          <a:bodyPr wrap="square" lIns="0" tIns="0" rIns="0" bIns="0" rtlCol="0" anchor="t"/>
          <a:lstStyle/>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Less traffic in each subnet - faster</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More secure: e.g. students and finance kept apart</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Easier to manage and to find faults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Public vs private, static vs dynamic</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5</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19</a:t>
            </a:r>
            <a:endParaRPr lang="en-US" sz="13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77240" y="1234440"/>
          <a:ext cx="10698480" cy="914400"/>
        </p:xfrm>
        <a:graphic>
          <a:graphicData uri="http://schemas.openxmlformats.org/drawingml/2006/table">
            <a:tbl>
              <a:tblPr/>
              <a:tblGrid>
                <a:gridCol w="3017520"/>
                <a:gridCol w="3840480"/>
                <a:gridCol w="3840480"/>
              </a:tblGrid>
              <a:tr h="457200">
                <a:tc>
                  <a:txBody>
                    <a:bodyPr/>
                    <a:lstStyle/>
                    <a:p>
                      <a:pPr indent="0" marL="0">
                        <a:buNone/>
                      </a:pP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Private IP</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Public IP</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5720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Given by</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The router (inside the LAN)</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The ISP</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Unique?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Only within its own LAN</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Across the whole internet</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Reachable from the internet?</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No - hidden behind the router (NAT)</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Yes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Ranges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10.x.x.x   172.16-31.x.x   192.168.x.x</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All other valid addresses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777240" y="3749040"/>
          <a:ext cx="10698480" cy="914400"/>
        </p:xfrm>
        <a:graphic>
          <a:graphicData uri="http://schemas.openxmlformats.org/drawingml/2006/table">
            <a:tbl>
              <a:tblPr/>
              <a:tblGrid>
                <a:gridCol w="3017520"/>
                <a:gridCol w="3840480"/>
                <a:gridCol w="3840480"/>
              </a:tblGrid>
              <a:tr h="457200">
                <a:tc>
                  <a:txBody>
                    <a:bodyPr/>
                    <a:lstStyle/>
                    <a:p>
                      <a:pPr indent="0" marL="0">
                        <a:buNone/>
                      </a:pP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Static IP</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Dynamic IP</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5720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Changes?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Never - fixed</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Can change each time the device connects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Allocated by</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Set manually / permanently by the ISP</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Automatically (DHCP) from a pool</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Used for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Servers that must always be found (web, email, DNS)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Most home devices and phones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Cost</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Costs more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Cheaper - addresses are reused</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Uniform Resource Locator (URL)</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6</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20</a:t>
            </a:r>
            <a:endParaRPr lang="en-US" sz="1350" dirty="0"/>
          </a:p>
        </p:txBody>
      </p:sp>
      <p:sp>
        <p:nvSpPr>
          <p:cNvPr id="7" name="Text 4"/>
          <p:cNvSpPr/>
          <p:nvPr/>
        </p:nvSpPr>
        <p:spPr>
          <a:xfrm>
            <a:off x="777240" y="1463040"/>
            <a:ext cx="1417320" cy="640080"/>
          </a:xfrm>
          <a:prstGeom prst="rect">
            <a:avLst/>
          </a:prstGeom>
          <a:solidFill>
            <a:srgbClr val="F6F5FC"/>
          </a:solidFill>
          <a:ln/>
        </p:spPr>
        <p:txBody>
          <a:bodyPr wrap="square" lIns="0" tIns="0" rIns="0" bIns="0" rtlCol="0" anchor="ctr"/>
          <a:lstStyle/>
          <a:p>
            <a:pPr algn="ctr" indent="0" marL="0">
              <a:buNone/>
            </a:pPr>
            <a:r>
              <a:rPr lang="en-US" sz="1800" b="1" dirty="0">
                <a:solidFill>
                  <a:srgbClr val="B3261E"/>
                </a:solidFill>
                <a:latin typeface="Roboto Mono" pitchFamily="34" charset="0"/>
                <a:ea typeface="Roboto Mono" pitchFamily="34" charset="-122"/>
                <a:cs typeface="Roboto Mono" pitchFamily="34" charset="-120"/>
              </a:rPr>
              <a:t>https://</a:t>
            </a:r>
            <a:endParaRPr lang="en-US" sz="1800" dirty="0"/>
          </a:p>
        </p:txBody>
      </p:sp>
      <p:sp>
        <p:nvSpPr>
          <p:cNvPr id="8" name="Shape 5"/>
          <p:cNvSpPr/>
          <p:nvPr/>
        </p:nvSpPr>
        <p:spPr>
          <a:xfrm>
            <a:off x="868680" y="2194560"/>
            <a:ext cx="1234440" cy="0"/>
          </a:xfrm>
          <a:prstGeom prst="line">
            <a:avLst/>
          </a:prstGeom>
          <a:noFill/>
          <a:ln w="38100">
            <a:solidFill>
              <a:srgbClr val="B3261E"/>
            </a:solidFill>
            <a:prstDash val="solid"/>
          </a:ln>
        </p:spPr>
      </p:sp>
      <p:sp>
        <p:nvSpPr>
          <p:cNvPr id="9" name="Text 6"/>
          <p:cNvSpPr/>
          <p:nvPr/>
        </p:nvSpPr>
        <p:spPr>
          <a:xfrm>
            <a:off x="777240" y="2331720"/>
            <a:ext cx="1417320" cy="365760"/>
          </a:xfrm>
          <a:prstGeom prst="rect">
            <a:avLst/>
          </a:prstGeom>
          <a:noFill/>
          <a:ln/>
        </p:spPr>
        <p:txBody>
          <a:bodyPr wrap="square" lIns="0" tIns="0" rIns="0" bIns="0" rtlCol="0" anchor="ctr"/>
          <a:lstStyle/>
          <a:p>
            <a:pPr algn="ctr" indent="0" marL="0">
              <a:buNone/>
            </a:pPr>
            <a:r>
              <a:rPr lang="en-US" sz="1400" b="1" dirty="0">
                <a:solidFill>
                  <a:srgbClr val="B3261E"/>
                </a:solidFill>
                <a:latin typeface="Quicksand" pitchFamily="34" charset="0"/>
                <a:ea typeface="Quicksand" pitchFamily="34" charset="-122"/>
                <a:cs typeface="Quicksand" pitchFamily="34" charset="-120"/>
              </a:rPr>
              <a:t>Protocol</a:t>
            </a:r>
            <a:endParaRPr lang="en-US" sz="1400" dirty="0"/>
          </a:p>
        </p:txBody>
      </p:sp>
      <p:sp>
        <p:nvSpPr>
          <p:cNvPr id="10" name="Text 7"/>
          <p:cNvSpPr txBox="1"/>
          <p:nvPr/>
        </p:nvSpPr>
        <p:spPr>
          <a:xfrm>
            <a:off x="822960" y="2743200"/>
            <a:ext cx="1325880" cy="914400"/>
          </a:xfrm>
          <a:prstGeom prst="rect">
            <a:avLst/>
          </a:prstGeom>
          <a:noFill/>
          <a:ln/>
        </p:spPr>
        <p:txBody>
          <a:bodyPr wrap="square" lIns="0" tIns="0" rIns="0" bIns="0" rtlCol="0" anchor="t"/>
          <a:lstStyle/>
          <a:p>
            <a:pPr algn="ctr" indent="0" marL="0">
              <a:spcAft>
                <a:spcPts val="600"/>
              </a:spcAft>
              <a:buNone/>
            </a:pPr>
            <a:r>
              <a:rPr lang="en-US" sz="1200" dirty="0">
                <a:solidFill>
                  <a:srgbClr val="202124"/>
                </a:solidFill>
                <a:latin typeface="Quicksand" pitchFamily="34" charset="0"/>
                <a:ea typeface="Quicksand" pitchFamily="34" charset="-122"/>
                <a:cs typeface="Quicksand" pitchFamily="34" charset="-120"/>
              </a:rPr>
              <a:t>Rules for transferring the page (HTTP or HTTPS - secure)</a:t>
            </a:r>
            <a:endParaRPr lang="en-US" sz="1200" dirty="0"/>
          </a:p>
        </p:txBody>
      </p:sp>
      <p:sp>
        <p:nvSpPr>
          <p:cNvPr id="11" name="Text 8"/>
          <p:cNvSpPr/>
          <p:nvPr/>
        </p:nvSpPr>
        <p:spPr>
          <a:xfrm>
            <a:off x="2286000" y="1463040"/>
            <a:ext cx="5120640" cy="640080"/>
          </a:xfrm>
          <a:prstGeom prst="rect">
            <a:avLst/>
          </a:prstGeom>
          <a:solidFill>
            <a:srgbClr val="F6F5FC"/>
          </a:solidFill>
          <a:ln/>
        </p:spPr>
        <p:txBody>
          <a:bodyPr wrap="square" lIns="0" tIns="0" rIns="0" bIns="0" rtlCol="0" anchor="ctr"/>
          <a:lstStyle/>
          <a:p>
            <a:pPr algn="ctr" indent="0" marL="0">
              <a:buNone/>
            </a:pPr>
            <a:r>
              <a:rPr lang="en-US" sz="1800" b="1" dirty="0">
                <a:solidFill>
                  <a:srgbClr val="494985"/>
                </a:solidFill>
                <a:latin typeface="Roboto Mono" pitchFamily="34" charset="0"/>
                <a:ea typeface="Roboto Mono" pitchFamily="34" charset="-122"/>
                <a:cs typeface="Roboto Mono" pitchFamily="34" charset="-120"/>
              </a:rPr>
              <a:t>www.cambridgeinternational.org</a:t>
            </a:r>
            <a:endParaRPr lang="en-US" sz="1800" dirty="0"/>
          </a:p>
        </p:txBody>
      </p:sp>
      <p:sp>
        <p:nvSpPr>
          <p:cNvPr id="12" name="Shape 9"/>
          <p:cNvSpPr/>
          <p:nvPr/>
        </p:nvSpPr>
        <p:spPr>
          <a:xfrm>
            <a:off x="2377440" y="2194560"/>
            <a:ext cx="4937760" cy="0"/>
          </a:xfrm>
          <a:prstGeom prst="line">
            <a:avLst/>
          </a:prstGeom>
          <a:noFill/>
          <a:ln w="38100">
            <a:solidFill>
              <a:srgbClr val="494985"/>
            </a:solidFill>
            <a:prstDash val="solid"/>
          </a:ln>
        </p:spPr>
      </p:sp>
      <p:sp>
        <p:nvSpPr>
          <p:cNvPr id="13" name="Text 10"/>
          <p:cNvSpPr/>
          <p:nvPr/>
        </p:nvSpPr>
        <p:spPr>
          <a:xfrm>
            <a:off x="2286000" y="2331720"/>
            <a:ext cx="5120640" cy="365760"/>
          </a:xfrm>
          <a:prstGeom prst="rect">
            <a:avLst/>
          </a:prstGeom>
          <a:noFill/>
          <a:ln/>
        </p:spPr>
        <p:txBody>
          <a:bodyPr wrap="square" lIns="0" tIns="0" rIns="0" bIns="0" rtlCol="0" anchor="ctr"/>
          <a:lstStyle/>
          <a:p>
            <a:pPr algn="ctr" indent="0" marL="0">
              <a:buNone/>
            </a:pPr>
            <a:r>
              <a:rPr lang="en-US" sz="1400" b="1" dirty="0">
                <a:solidFill>
                  <a:srgbClr val="494985"/>
                </a:solidFill>
                <a:latin typeface="Quicksand" pitchFamily="34" charset="0"/>
                <a:ea typeface="Quicksand" pitchFamily="34" charset="-122"/>
                <a:cs typeface="Quicksand" pitchFamily="34" charset="-120"/>
              </a:rPr>
              <a:t>Domain name</a:t>
            </a:r>
            <a:endParaRPr lang="en-US" sz="1400" dirty="0"/>
          </a:p>
        </p:txBody>
      </p:sp>
      <p:sp>
        <p:nvSpPr>
          <p:cNvPr id="14" name="Text 11"/>
          <p:cNvSpPr txBox="1"/>
          <p:nvPr/>
        </p:nvSpPr>
        <p:spPr>
          <a:xfrm>
            <a:off x="2331720" y="2743200"/>
            <a:ext cx="5029200" cy="914400"/>
          </a:xfrm>
          <a:prstGeom prst="rect">
            <a:avLst/>
          </a:prstGeom>
          <a:noFill/>
          <a:ln/>
        </p:spPr>
        <p:txBody>
          <a:bodyPr wrap="square" lIns="0" tIns="0" rIns="0" bIns="0" rtlCol="0" anchor="t"/>
          <a:lstStyle/>
          <a:p>
            <a:pPr algn="ctr" indent="0" marL="0">
              <a:spcAft>
                <a:spcPts val="600"/>
              </a:spcAft>
              <a:buNone/>
            </a:pPr>
            <a:r>
              <a:rPr lang="en-US" sz="1200" dirty="0">
                <a:solidFill>
                  <a:srgbClr val="202124"/>
                </a:solidFill>
                <a:latin typeface="Quicksand" pitchFamily="34" charset="0"/>
                <a:ea typeface="Quicksand" pitchFamily="34" charset="-122"/>
                <a:cs typeface="Quicksand" pitchFamily="34" charset="-120"/>
              </a:rPr>
              <a:t>Host (www) + organisation name + domain type (.org)</a:t>
            </a:r>
            <a:endParaRPr lang="en-US" sz="1200" dirty="0"/>
          </a:p>
        </p:txBody>
      </p:sp>
      <p:sp>
        <p:nvSpPr>
          <p:cNvPr id="15" name="Text 12"/>
          <p:cNvSpPr/>
          <p:nvPr/>
        </p:nvSpPr>
        <p:spPr>
          <a:xfrm>
            <a:off x="7498080" y="1463040"/>
            <a:ext cx="2103120" cy="640080"/>
          </a:xfrm>
          <a:prstGeom prst="rect">
            <a:avLst/>
          </a:prstGeom>
          <a:solidFill>
            <a:srgbClr val="F6F5FC"/>
          </a:solidFill>
          <a:ln/>
        </p:spPr>
        <p:txBody>
          <a:bodyPr wrap="square" lIns="0" tIns="0" rIns="0" bIns="0" rtlCol="0" anchor="ctr"/>
          <a:lstStyle/>
          <a:p>
            <a:pPr algn="ctr" indent="0" marL="0">
              <a:buNone/>
            </a:pPr>
            <a:r>
              <a:rPr lang="en-US" sz="1800" b="1" dirty="0">
                <a:solidFill>
                  <a:srgbClr val="2E7D5B"/>
                </a:solidFill>
                <a:latin typeface="Roboto Mono" pitchFamily="34" charset="0"/>
                <a:ea typeface="Roboto Mono" pitchFamily="34" charset="-122"/>
                <a:cs typeface="Roboto Mono" pitchFamily="34" charset="-120"/>
              </a:rPr>
              <a:t>/programmes/</a:t>
            </a:r>
            <a:endParaRPr lang="en-US" sz="1800" dirty="0"/>
          </a:p>
        </p:txBody>
      </p:sp>
      <p:sp>
        <p:nvSpPr>
          <p:cNvPr id="16" name="Shape 13"/>
          <p:cNvSpPr/>
          <p:nvPr/>
        </p:nvSpPr>
        <p:spPr>
          <a:xfrm>
            <a:off x="7589520" y="2194560"/>
            <a:ext cx="1920240" cy="0"/>
          </a:xfrm>
          <a:prstGeom prst="line">
            <a:avLst/>
          </a:prstGeom>
          <a:noFill/>
          <a:ln w="38100">
            <a:solidFill>
              <a:srgbClr val="2E7D5B"/>
            </a:solidFill>
            <a:prstDash val="solid"/>
          </a:ln>
        </p:spPr>
      </p:sp>
      <p:sp>
        <p:nvSpPr>
          <p:cNvPr id="17" name="Text 14"/>
          <p:cNvSpPr/>
          <p:nvPr/>
        </p:nvSpPr>
        <p:spPr>
          <a:xfrm>
            <a:off x="7498080" y="2331720"/>
            <a:ext cx="2103120" cy="365760"/>
          </a:xfrm>
          <a:prstGeom prst="rect">
            <a:avLst/>
          </a:prstGeom>
          <a:noFill/>
          <a:ln/>
        </p:spPr>
        <p:txBody>
          <a:bodyPr wrap="square" lIns="0" tIns="0" rIns="0" bIns="0" rtlCol="0" anchor="ctr"/>
          <a:lstStyle/>
          <a:p>
            <a:pPr algn="ctr" indent="0" marL="0">
              <a:buNone/>
            </a:pPr>
            <a:r>
              <a:rPr lang="en-US" sz="1400" b="1" dirty="0">
                <a:solidFill>
                  <a:srgbClr val="2E7D5B"/>
                </a:solidFill>
                <a:latin typeface="Quicksand" pitchFamily="34" charset="0"/>
                <a:ea typeface="Quicksand" pitchFamily="34" charset="-122"/>
                <a:cs typeface="Quicksand" pitchFamily="34" charset="-120"/>
              </a:rPr>
              <a:t>Path</a:t>
            </a:r>
            <a:endParaRPr lang="en-US" sz="1400" dirty="0"/>
          </a:p>
        </p:txBody>
      </p:sp>
      <p:sp>
        <p:nvSpPr>
          <p:cNvPr id="18" name="Text 15"/>
          <p:cNvSpPr txBox="1"/>
          <p:nvPr/>
        </p:nvSpPr>
        <p:spPr>
          <a:xfrm>
            <a:off x="7543800" y="2743200"/>
            <a:ext cx="2011680" cy="914400"/>
          </a:xfrm>
          <a:prstGeom prst="rect">
            <a:avLst/>
          </a:prstGeom>
          <a:noFill/>
          <a:ln/>
        </p:spPr>
        <p:txBody>
          <a:bodyPr wrap="square" lIns="0" tIns="0" rIns="0" bIns="0" rtlCol="0" anchor="t"/>
          <a:lstStyle/>
          <a:p>
            <a:pPr algn="ctr" indent="0" marL="0">
              <a:spcAft>
                <a:spcPts val="600"/>
              </a:spcAft>
              <a:buNone/>
            </a:pPr>
            <a:r>
              <a:rPr lang="en-US" sz="1200" dirty="0">
                <a:solidFill>
                  <a:srgbClr val="202124"/>
                </a:solidFill>
                <a:latin typeface="Quicksand" pitchFamily="34" charset="0"/>
                <a:ea typeface="Quicksand" pitchFamily="34" charset="-122"/>
                <a:cs typeface="Quicksand" pitchFamily="34" charset="-120"/>
              </a:rPr>
              <a:t>Folders on the web server</a:t>
            </a:r>
            <a:endParaRPr lang="en-US" sz="1200" dirty="0"/>
          </a:p>
        </p:txBody>
      </p:sp>
      <p:sp>
        <p:nvSpPr>
          <p:cNvPr id="19" name="Text 16"/>
          <p:cNvSpPr/>
          <p:nvPr/>
        </p:nvSpPr>
        <p:spPr>
          <a:xfrm>
            <a:off x="9692640" y="1463040"/>
            <a:ext cx="1737360" cy="640080"/>
          </a:xfrm>
          <a:prstGeom prst="rect">
            <a:avLst/>
          </a:prstGeom>
          <a:solidFill>
            <a:srgbClr val="F6F5FC"/>
          </a:solidFill>
          <a:ln/>
        </p:spPr>
        <p:txBody>
          <a:bodyPr wrap="square" lIns="0" tIns="0" rIns="0" bIns="0" rtlCol="0" anchor="ctr"/>
          <a:lstStyle/>
          <a:p>
            <a:pPr algn="ctr" indent="0" marL="0">
              <a:buNone/>
            </a:pPr>
            <a:r>
              <a:rPr lang="en-US" sz="1800" b="1" dirty="0">
                <a:solidFill>
                  <a:srgbClr val="8A6D00"/>
                </a:solidFill>
                <a:latin typeface="Roboto Mono" pitchFamily="34" charset="0"/>
                <a:ea typeface="Roboto Mono" pitchFamily="34" charset="-122"/>
                <a:cs typeface="Roboto Mono" pitchFamily="34" charset="-120"/>
              </a:rPr>
              <a:t>index.html</a:t>
            </a:r>
            <a:endParaRPr lang="en-US" sz="1800" dirty="0"/>
          </a:p>
        </p:txBody>
      </p:sp>
      <p:sp>
        <p:nvSpPr>
          <p:cNvPr id="20" name="Shape 17"/>
          <p:cNvSpPr/>
          <p:nvPr/>
        </p:nvSpPr>
        <p:spPr>
          <a:xfrm>
            <a:off x="9784080" y="2194560"/>
            <a:ext cx="1554480" cy="0"/>
          </a:xfrm>
          <a:prstGeom prst="line">
            <a:avLst/>
          </a:prstGeom>
          <a:noFill/>
          <a:ln w="38100">
            <a:solidFill>
              <a:srgbClr val="8A6D00"/>
            </a:solidFill>
            <a:prstDash val="solid"/>
          </a:ln>
        </p:spPr>
      </p:sp>
      <p:sp>
        <p:nvSpPr>
          <p:cNvPr id="21" name="Text 18"/>
          <p:cNvSpPr/>
          <p:nvPr/>
        </p:nvSpPr>
        <p:spPr>
          <a:xfrm>
            <a:off x="9692640" y="2331720"/>
            <a:ext cx="1737360" cy="365760"/>
          </a:xfrm>
          <a:prstGeom prst="rect">
            <a:avLst/>
          </a:prstGeom>
          <a:noFill/>
          <a:ln/>
        </p:spPr>
        <p:txBody>
          <a:bodyPr wrap="square" lIns="0" tIns="0" rIns="0" bIns="0" rtlCol="0" anchor="ctr"/>
          <a:lstStyle/>
          <a:p>
            <a:pPr algn="ctr" indent="0" marL="0">
              <a:buNone/>
            </a:pPr>
            <a:r>
              <a:rPr lang="en-US" sz="1400" b="1" dirty="0">
                <a:solidFill>
                  <a:srgbClr val="8A6D00"/>
                </a:solidFill>
                <a:latin typeface="Quicksand" pitchFamily="34" charset="0"/>
                <a:ea typeface="Quicksand" pitchFamily="34" charset="-122"/>
                <a:cs typeface="Quicksand" pitchFamily="34" charset="-120"/>
              </a:rPr>
              <a:t>File name</a:t>
            </a:r>
            <a:endParaRPr lang="en-US" sz="1400" dirty="0"/>
          </a:p>
        </p:txBody>
      </p:sp>
      <p:sp>
        <p:nvSpPr>
          <p:cNvPr id="22" name="Text 19"/>
          <p:cNvSpPr txBox="1"/>
          <p:nvPr/>
        </p:nvSpPr>
        <p:spPr>
          <a:xfrm>
            <a:off x="9738360" y="2743200"/>
            <a:ext cx="1645920" cy="914400"/>
          </a:xfrm>
          <a:prstGeom prst="rect">
            <a:avLst/>
          </a:prstGeom>
          <a:noFill/>
          <a:ln/>
        </p:spPr>
        <p:txBody>
          <a:bodyPr wrap="square" lIns="0" tIns="0" rIns="0" bIns="0" rtlCol="0" anchor="t"/>
          <a:lstStyle/>
          <a:p>
            <a:pPr algn="ctr" indent="0" marL="0">
              <a:spcAft>
                <a:spcPts val="600"/>
              </a:spcAft>
              <a:buNone/>
            </a:pPr>
            <a:r>
              <a:rPr lang="en-US" sz="1200" dirty="0">
                <a:solidFill>
                  <a:srgbClr val="202124"/>
                </a:solidFill>
                <a:latin typeface="Quicksand" pitchFamily="34" charset="0"/>
                <a:ea typeface="Quicksand" pitchFamily="34" charset="-122"/>
                <a:cs typeface="Quicksand" pitchFamily="34" charset="-120"/>
              </a:rPr>
              <a:t>The resource (page) wanted</a:t>
            </a:r>
            <a:endParaRPr lang="en-US" sz="1200" dirty="0"/>
          </a:p>
        </p:txBody>
      </p:sp>
      <p:sp>
        <p:nvSpPr>
          <p:cNvPr id="23" name="Shape 20"/>
          <p:cNvSpPr/>
          <p:nvPr/>
        </p:nvSpPr>
        <p:spPr>
          <a:xfrm>
            <a:off x="777240" y="3977640"/>
            <a:ext cx="10698480" cy="1783080"/>
          </a:xfrm>
          <a:prstGeom prst="rect">
            <a:avLst/>
          </a:prstGeom>
          <a:solidFill>
            <a:srgbClr val="F6F5FC"/>
          </a:solidFill>
          <a:ln w="12700">
            <a:solidFill>
              <a:srgbClr val="F6F5FC"/>
            </a:solidFill>
            <a:prstDash val="solid"/>
          </a:ln>
        </p:spPr>
      </p:sp>
      <p:sp>
        <p:nvSpPr>
          <p:cNvPr id="24" name="Shape 21"/>
          <p:cNvSpPr/>
          <p:nvPr/>
        </p:nvSpPr>
        <p:spPr>
          <a:xfrm>
            <a:off x="777240" y="3977640"/>
            <a:ext cx="73152" cy="1783080"/>
          </a:xfrm>
          <a:prstGeom prst="rect">
            <a:avLst/>
          </a:prstGeom>
          <a:solidFill>
            <a:srgbClr val="494985"/>
          </a:solidFill>
          <a:ln w="12700">
            <a:solidFill>
              <a:srgbClr val="494985"/>
            </a:solidFill>
            <a:prstDash val="solid"/>
          </a:ln>
        </p:spPr>
      </p:sp>
      <p:sp>
        <p:nvSpPr>
          <p:cNvPr id="25" name="Text 22"/>
          <p:cNvSpPr txBox="1"/>
          <p:nvPr/>
        </p:nvSpPr>
        <p:spPr>
          <a:xfrm>
            <a:off x="1005840" y="4069080"/>
            <a:ext cx="1033272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How a URL is used</a:t>
            </a:r>
            <a:endParaRPr lang="en-US" sz="1500" dirty="0"/>
          </a:p>
        </p:txBody>
      </p:sp>
      <p:sp>
        <p:nvSpPr>
          <p:cNvPr id="26" name="Text 23"/>
          <p:cNvSpPr txBox="1"/>
          <p:nvPr/>
        </p:nvSpPr>
        <p:spPr>
          <a:xfrm>
            <a:off x="1005840" y="4480560"/>
            <a:ext cx="10332720" cy="1188720"/>
          </a:xfrm>
          <a:prstGeom prst="rect">
            <a:avLst/>
          </a:prstGeom>
          <a:noFill/>
          <a:ln/>
        </p:spPr>
        <p:txBody>
          <a:bodyPr wrap="square" lIns="0" tIns="0" rIns="0" bIns="0" rtlCol="0" anchor="t"/>
          <a:lstStyle/>
          <a:p>
            <a:pPr marL="228600" indent="-228600">
              <a:spcAft>
                <a:spcPts val="500"/>
              </a:spcAft>
              <a:buSzPct val="100000"/>
              <a:buChar char="•"/>
            </a:pPr>
            <a:r>
              <a:rPr lang="en-US" sz="1350" dirty="0">
                <a:solidFill>
                  <a:srgbClr val="202124"/>
                </a:solidFill>
                <a:latin typeface="Quicksand" pitchFamily="34" charset="0"/>
                <a:ea typeface="Quicksand" pitchFamily="34" charset="-122"/>
                <a:cs typeface="Quicksand" pitchFamily="34" charset="-120"/>
              </a:rPr>
              <a:t>The user types the URL (or clicks a link) in a web browser</a:t>
            </a:r>
            <a:endParaRPr lang="en-US" sz="1350" dirty="0"/>
          </a:p>
          <a:p>
            <a:pPr marL="228600" indent="-228600">
              <a:spcAft>
                <a:spcPts val="500"/>
              </a:spcAft>
              <a:buSzPct val="100000"/>
              <a:buChar char="•"/>
            </a:pPr>
            <a:r>
              <a:rPr lang="en-US" sz="1350" dirty="0">
                <a:solidFill>
                  <a:srgbClr val="202124"/>
                </a:solidFill>
                <a:latin typeface="Quicksand" pitchFamily="34" charset="0"/>
                <a:ea typeface="Quicksand" pitchFamily="34" charset="-122"/>
                <a:cs typeface="Quicksand" pitchFamily="34" charset="-120"/>
              </a:rPr>
              <a:t>The browser asks a DNS server for the IP address of the domain name</a:t>
            </a:r>
            <a:endParaRPr lang="en-US" sz="1350" dirty="0"/>
          </a:p>
          <a:p>
            <a:pPr marL="228600" indent="-228600">
              <a:spcAft>
                <a:spcPts val="500"/>
              </a:spcAft>
              <a:buSzPct val="100000"/>
              <a:buChar char="•"/>
            </a:pPr>
            <a:r>
              <a:rPr lang="en-US" sz="1350" dirty="0">
                <a:solidFill>
                  <a:srgbClr val="202124"/>
                </a:solidFill>
                <a:latin typeface="Quicksand" pitchFamily="34" charset="0"/>
                <a:ea typeface="Quicksand" pitchFamily="34" charset="-122"/>
                <a:cs typeface="Quicksand" pitchFamily="34" charset="-120"/>
              </a:rPr>
              <a:t>The browser then requests the page from the web server at that IP address, using HTTP(S)</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Domain Name Service (DNS)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6</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21</a:t>
            </a:r>
            <a:endParaRPr lang="en-US" sz="1350" dirty="0"/>
          </a:p>
        </p:txBody>
      </p:sp>
      <p:sp>
        <p:nvSpPr>
          <p:cNvPr id="7" name="Text 4"/>
          <p:cNvSpPr/>
          <p:nvPr/>
        </p:nvSpPr>
        <p:spPr>
          <a:xfrm>
            <a:off x="640080" y="3099816"/>
            <a:ext cx="1463040"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150" b="1" dirty="0">
                <a:solidFill>
                  <a:srgbClr val="202124"/>
                </a:solidFill>
                <a:latin typeface="Quicksand" pitchFamily="34" charset="0"/>
                <a:ea typeface="Quicksand" pitchFamily="34" charset="-122"/>
                <a:cs typeface="Quicksand" pitchFamily="34" charset="-120"/>
              </a:rPr>
              <a:t>Computer</a:t>
            </a:r>
            <a:endParaRPr lang="en-US" sz="1150" dirty="0"/>
          </a:p>
          <a:p>
            <a:pPr algn="ctr" indent="0" marL="0">
              <a:buNone/>
            </a:pPr>
            <a:r>
              <a:rPr lang="en-US" sz="1150" b="1" dirty="0">
                <a:solidFill>
                  <a:srgbClr val="202124"/>
                </a:solidFill>
                <a:latin typeface="Quicksand" pitchFamily="34" charset="0"/>
                <a:ea typeface="Quicksand" pitchFamily="34" charset="-122"/>
                <a:cs typeface="Quicksand" pitchFamily="34" charset="-120"/>
              </a:rPr>
              <a:t>(browser)</a:t>
            </a:r>
            <a:endParaRPr lang="en-US" sz="1150" dirty="0"/>
          </a:p>
        </p:txBody>
      </p:sp>
      <p:sp>
        <p:nvSpPr>
          <p:cNvPr id="8" name="Text 5"/>
          <p:cNvSpPr/>
          <p:nvPr/>
        </p:nvSpPr>
        <p:spPr>
          <a:xfrm>
            <a:off x="3383280" y="4846320"/>
            <a:ext cx="1645920" cy="548640"/>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DNS server 1</a:t>
            </a:r>
            <a:endParaRPr lang="en-US" sz="1200" dirty="0"/>
          </a:p>
        </p:txBody>
      </p:sp>
      <p:sp>
        <p:nvSpPr>
          <p:cNvPr id="9" name="Text 6"/>
          <p:cNvSpPr/>
          <p:nvPr/>
        </p:nvSpPr>
        <p:spPr>
          <a:xfrm>
            <a:off x="6858000" y="4846320"/>
            <a:ext cx="1645920" cy="548640"/>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DNS server 2</a:t>
            </a:r>
            <a:endParaRPr lang="en-US" sz="1200" dirty="0"/>
          </a:p>
        </p:txBody>
      </p:sp>
      <p:sp>
        <p:nvSpPr>
          <p:cNvPr id="10" name="Text 7"/>
          <p:cNvSpPr/>
          <p:nvPr/>
        </p:nvSpPr>
        <p:spPr>
          <a:xfrm>
            <a:off x="6858000" y="1280160"/>
            <a:ext cx="1645920" cy="548640"/>
          </a:xfrm>
          <a:prstGeom prst="rect">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Web server</a:t>
            </a:r>
            <a:endParaRPr lang="en-US" sz="1200" dirty="0"/>
          </a:p>
        </p:txBody>
      </p:sp>
      <p:sp>
        <p:nvSpPr>
          <p:cNvPr id="11" name="Shape 8"/>
          <p:cNvSpPr/>
          <p:nvPr/>
        </p:nvSpPr>
        <p:spPr>
          <a:xfrm>
            <a:off x="1737360" y="3520440"/>
            <a:ext cx="1920240" cy="1325880"/>
          </a:xfrm>
          <a:prstGeom prst="line">
            <a:avLst/>
          </a:prstGeom>
          <a:noFill/>
          <a:ln w="25400">
            <a:solidFill>
              <a:srgbClr val="494985"/>
            </a:solidFill>
            <a:prstDash val="solid"/>
            <a:tailEnd type="triangle"/>
          </a:ln>
        </p:spPr>
      </p:sp>
      <p:sp>
        <p:nvSpPr>
          <p:cNvPr id="12" name="Text 9"/>
          <p:cNvSpPr/>
          <p:nvPr/>
        </p:nvSpPr>
        <p:spPr>
          <a:xfrm>
            <a:off x="2203704" y="416966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1</a:t>
            </a:r>
            <a:endParaRPr lang="en-US" sz="1200" dirty="0"/>
          </a:p>
        </p:txBody>
      </p:sp>
      <p:sp>
        <p:nvSpPr>
          <p:cNvPr id="13" name="Shape 10"/>
          <p:cNvSpPr/>
          <p:nvPr/>
        </p:nvSpPr>
        <p:spPr>
          <a:xfrm>
            <a:off x="5029200" y="4983480"/>
            <a:ext cx="1828800" cy="914"/>
          </a:xfrm>
          <a:prstGeom prst="line">
            <a:avLst/>
          </a:prstGeom>
          <a:noFill/>
          <a:ln w="25400">
            <a:solidFill>
              <a:srgbClr val="494985"/>
            </a:solidFill>
            <a:prstDash val="solid"/>
            <a:tailEnd type="triangle"/>
          </a:ln>
        </p:spPr>
      </p:sp>
      <p:sp>
        <p:nvSpPr>
          <p:cNvPr id="14" name="Text 11"/>
          <p:cNvSpPr/>
          <p:nvPr/>
        </p:nvSpPr>
        <p:spPr>
          <a:xfrm>
            <a:off x="5769864" y="444398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2</a:t>
            </a:r>
            <a:endParaRPr lang="en-US" sz="1200" dirty="0"/>
          </a:p>
        </p:txBody>
      </p:sp>
      <p:sp>
        <p:nvSpPr>
          <p:cNvPr id="15" name="Shape 12"/>
          <p:cNvSpPr/>
          <p:nvPr/>
        </p:nvSpPr>
        <p:spPr>
          <a:xfrm flipH="1">
            <a:off x="5029200" y="5285232"/>
            <a:ext cx="1828800" cy="914"/>
          </a:xfrm>
          <a:prstGeom prst="line">
            <a:avLst/>
          </a:prstGeom>
          <a:noFill/>
          <a:ln w="25400">
            <a:solidFill>
              <a:srgbClr val="2E7D5B"/>
            </a:solidFill>
            <a:prstDash val="solid"/>
            <a:tailEnd type="triangle"/>
          </a:ln>
        </p:spPr>
      </p:sp>
      <p:sp>
        <p:nvSpPr>
          <p:cNvPr id="16" name="Text 13"/>
          <p:cNvSpPr/>
          <p:nvPr/>
        </p:nvSpPr>
        <p:spPr>
          <a:xfrm>
            <a:off x="5769864" y="549554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3</a:t>
            </a:r>
            <a:endParaRPr lang="en-US" sz="1200" dirty="0"/>
          </a:p>
        </p:txBody>
      </p:sp>
      <p:sp>
        <p:nvSpPr>
          <p:cNvPr id="17" name="Shape 14"/>
          <p:cNvSpPr/>
          <p:nvPr/>
        </p:nvSpPr>
        <p:spPr>
          <a:xfrm flipH="1" flipV="1">
            <a:off x="2011680" y="3520440"/>
            <a:ext cx="1920240" cy="1325880"/>
          </a:xfrm>
          <a:prstGeom prst="line">
            <a:avLst/>
          </a:prstGeom>
          <a:noFill/>
          <a:ln w="25400">
            <a:solidFill>
              <a:srgbClr val="2E7D5B"/>
            </a:solidFill>
            <a:prstDash val="solid"/>
            <a:tailEnd type="triangle"/>
          </a:ln>
        </p:spPr>
      </p:sp>
      <p:sp>
        <p:nvSpPr>
          <p:cNvPr id="18" name="Text 15"/>
          <p:cNvSpPr/>
          <p:nvPr/>
        </p:nvSpPr>
        <p:spPr>
          <a:xfrm>
            <a:off x="3118104" y="366674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4</a:t>
            </a:r>
            <a:endParaRPr lang="en-US" sz="1200" dirty="0"/>
          </a:p>
        </p:txBody>
      </p:sp>
      <p:sp>
        <p:nvSpPr>
          <p:cNvPr id="19" name="Shape 16"/>
          <p:cNvSpPr/>
          <p:nvPr/>
        </p:nvSpPr>
        <p:spPr>
          <a:xfrm flipV="1">
            <a:off x="2103120" y="1691640"/>
            <a:ext cx="4754880" cy="1417320"/>
          </a:xfrm>
          <a:prstGeom prst="line">
            <a:avLst/>
          </a:prstGeom>
          <a:noFill/>
          <a:ln w="25400">
            <a:solidFill>
              <a:srgbClr val="B3261E"/>
            </a:solidFill>
            <a:prstDash val="solid"/>
            <a:tailEnd type="triangle"/>
          </a:ln>
        </p:spPr>
      </p:sp>
      <p:sp>
        <p:nvSpPr>
          <p:cNvPr id="20" name="Text 17"/>
          <p:cNvSpPr/>
          <p:nvPr/>
        </p:nvSpPr>
        <p:spPr>
          <a:xfrm>
            <a:off x="4306824" y="192938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5</a:t>
            </a:r>
            <a:endParaRPr lang="en-US" sz="1200" dirty="0"/>
          </a:p>
        </p:txBody>
      </p:sp>
      <p:sp>
        <p:nvSpPr>
          <p:cNvPr id="21" name="Text 18"/>
          <p:cNvSpPr txBox="1"/>
          <p:nvPr/>
        </p:nvSpPr>
        <p:spPr>
          <a:xfrm>
            <a:off x="9006840" y="2286000"/>
            <a:ext cx="2560320" cy="640080"/>
          </a:xfrm>
          <a:prstGeom prst="rect">
            <a:avLst/>
          </a:prstGeom>
          <a:noFill/>
          <a:ln/>
        </p:spPr>
        <p:txBody>
          <a:bodyPr wrap="square" lIns="0" tIns="0" rIns="0" bIns="0" rtlCol="0" anchor="t"/>
          <a:lstStyle/>
          <a:p>
            <a:pPr indent="0" marL="0">
              <a:spcAft>
                <a:spcPts val="600"/>
              </a:spcAft>
              <a:buNone/>
            </a:pPr>
            <a:r>
              <a:rPr lang="en-US" sz="1150" b="1" dirty="0">
                <a:solidFill>
                  <a:srgbClr val="494985"/>
                </a:solidFill>
                <a:latin typeface="Quicksand" pitchFamily="34" charset="0"/>
                <a:ea typeface="Quicksand" pitchFamily="34" charset="-122"/>
                <a:cs typeface="Quicksand" pitchFamily="34" charset="-120"/>
              </a:rPr>
              <a:t>1  </a:t>
            </a:r>
            <a:r>
              <a:rPr lang="en-US" sz="1150" dirty="0">
                <a:solidFill>
                  <a:srgbClr val="202124"/>
                </a:solidFill>
                <a:latin typeface="Quicksand" pitchFamily="34" charset="0"/>
                <a:ea typeface="Quicksand" pitchFamily="34" charset="-122"/>
                <a:cs typeface="Quicksand" pitchFamily="34" charset="-120"/>
              </a:rPr>
              <a:t>Browser sends the domain name to DNS server 1</a:t>
            </a:r>
            <a:endParaRPr lang="en-US" sz="1150" dirty="0"/>
          </a:p>
        </p:txBody>
      </p:sp>
      <p:sp>
        <p:nvSpPr>
          <p:cNvPr id="22" name="Text 19"/>
          <p:cNvSpPr txBox="1"/>
          <p:nvPr/>
        </p:nvSpPr>
        <p:spPr>
          <a:xfrm>
            <a:off x="9006840" y="2971800"/>
            <a:ext cx="2560320" cy="640080"/>
          </a:xfrm>
          <a:prstGeom prst="rect">
            <a:avLst/>
          </a:prstGeom>
          <a:noFill/>
          <a:ln/>
        </p:spPr>
        <p:txBody>
          <a:bodyPr wrap="square" lIns="0" tIns="0" rIns="0" bIns="0" rtlCol="0" anchor="t"/>
          <a:lstStyle/>
          <a:p>
            <a:pPr indent="0" marL="0">
              <a:spcAft>
                <a:spcPts val="600"/>
              </a:spcAft>
              <a:buNone/>
            </a:pPr>
            <a:r>
              <a:rPr lang="en-US" sz="1150" b="1" dirty="0">
                <a:solidFill>
                  <a:srgbClr val="494985"/>
                </a:solidFill>
                <a:latin typeface="Quicksand" pitchFamily="34" charset="0"/>
                <a:ea typeface="Quicksand" pitchFamily="34" charset="-122"/>
                <a:cs typeface="Quicksand" pitchFamily="34" charset="-120"/>
              </a:rPr>
              <a:t>2  </a:t>
            </a:r>
            <a:r>
              <a:rPr lang="en-US" sz="1150" dirty="0">
                <a:solidFill>
                  <a:srgbClr val="202124"/>
                </a:solidFill>
                <a:latin typeface="Quicksand" pitchFamily="34" charset="0"/>
                <a:ea typeface="Quicksand" pitchFamily="34" charset="-122"/>
                <a:cs typeface="Quicksand" pitchFamily="34" charset="-120"/>
              </a:rPr>
              <a:t>Not in its database / cache, so it asks DNS server 2</a:t>
            </a:r>
            <a:endParaRPr lang="en-US" sz="1150" dirty="0"/>
          </a:p>
        </p:txBody>
      </p:sp>
      <p:sp>
        <p:nvSpPr>
          <p:cNvPr id="23" name="Text 20"/>
          <p:cNvSpPr txBox="1"/>
          <p:nvPr/>
        </p:nvSpPr>
        <p:spPr>
          <a:xfrm>
            <a:off x="9006840" y="3657600"/>
            <a:ext cx="2560320" cy="640080"/>
          </a:xfrm>
          <a:prstGeom prst="rect">
            <a:avLst/>
          </a:prstGeom>
          <a:noFill/>
          <a:ln/>
        </p:spPr>
        <p:txBody>
          <a:bodyPr wrap="square" lIns="0" tIns="0" rIns="0" bIns="0" rtlCol="0" anchor="t"/>
          <a:lstStyle/>
          <a:p>
            <a:pPr indent="0" marL="0">
              <a:spcAft>
                <a:spcPts val="600"/>
              </a:spcAft>
              <a:buNone/>
            </a:pPr>
            <a:r>
              <a:rPr lang="en-US" sz="1150" b="1" dirty="0">
                <a:solidFill>
                  <a:srgbClr val="494985"/>
                </a:solidFill>
                <a:latin typeface="Quicksand" pitchFamily="34" charset="0"/>
                <a:ea typeface="Quicksand" pitchFamily="34" charset="-122"/>
                <a:cs typeface="Quicksand" pitchFamily="34" charset="-120"/>
              </a:rPr>
              <a:t>3  </a:t>
            </a:r>
            <a:r>
              <a:rPr lang="en-US" sz="1150" dirty="0">
                <a:solidFill>
                  <a:srgbClr val="202124"/>
                </a:solidFill>
                <a:latin typeface="Quicksand" pitchFamily="34" charset="0"/>
                <a:ea typeface="Quicksand" pitchFamily="34" charset="-122"/>
                <a:cs typeface="Quicksand" pitchFamily="34" charset="-120"/>
              </a:rPr>
              <a:t>DNS server 2 finds the IP address and sends it back; server 1 caches it</a:t>
            </a:r>
            <a:endParaRPr lang="en-US" sz="1150" dirty="0"/>
          </a:p>
        </p:txBody>
      </p:sp>
      <p:sp>
        <p:nvSpPr>
          <p:cNvPr id="24" name="Text 21"/>
          <p:cNvSpPr txBox="1"/>
          <p:nvPr/>
        </p:nvSpPr>
        <p:spPr>
          <a:xfrm>
            <a:off x="9006840" y="4343400"/>
            <a:ext cx="2560320" cy="640080"/>
          </a:xfrm>
          <a:prstGeom prst="rect">
            <a:avLst/>
          </a:prstGeom>
          <a:noFill/>
          <a:ln/>
        </p:spPr>
        <p:txBody>
          <a:bodyPr wrap="square" lIns="0" tIns="0" rIns="0" bIns="0" rtlCol="0" anchor="t"/>
          <a:lstStyle/>
          <a:p>
            <a:pPr indent="0" marL="0">
              <a:spcAft>
                <a:spcPts val="600"/>
              </a:spcAft>
              <a:buNone/>
            </a:pPr>
            <a:r>
              <a:rPr lang="en-US" sz="1150" b="1" dirty="0">
                <a:solidFill>
                  <a:srgbClr val="494985"/>
                </a:solidFill>
                <a:latin typeface="Quicksand" pitchFamily="34" charset="0"/>
                <a:ea typeface="Quicksand" pitchFamily="34" charset="-122"/>
                <a:cs typeface="Quicksand" pitchFamily="34" charset="-120"/>
              </a:rPr>
              <a:t>4  </a:t>
            </a:r>
            <a:r>
              <a:rPr lang="en-US" sz="1150" dirty="0">
                <a:solidFill>
                  <a:srgbClr val="202124"/>
                </a:solidFill>
                <a:latin typeface="Quicksand" pitchFamily="34" charset="0"/>
                <a:ea typeface="Quicksand" pitchFamily="34" charset="-122"/>
                <a:cs typeface="Quicksand" pitchFamily="34" charset="-120"/>
              </a:rPr>
              <a:t>The IP address is returned to the browser</a:t>
            </a:r>
            <a:endParaRPr lang="en-US" sz="1150" dirty="0"/>
          </a:p>
        </p:txBody>
      </p:sp>
      <p:sp>
        <p:nvSpPr>
          <p:cNvPr id="25" name="Text 22"/>
          <p:cNvSpPr txBox="1"/>
          <p:nvPr/>
        </p:nvSpPr>
        <p:spPr>
          <a:xfrm>
            <a:off x="9006840" y="5029200"/>
            <a:ext cx="2560320" cy="640080"/>
          </a:xfrm>
          <a:prstGeom prst="rect">
            <a:avLst/>
          </a:prstGeom>
          <a:noFill/>
          <a:ln/>
        </p:spPr>
        <p:txBody>
          <a:bodyPr wrap="square" lIns="0" tIns="0" rIns="0" bIns="0" rtlCol="0" anchor="t"/>
          <a:lstStyle/>
          <a:p>
            <a:pPr indent="0" marL="0">
              <a:spcAft>
                <a:spcPts val="600"/>
              </a:spcAft>
              <a:buNone/>
            </a:pPr>
            <a:r>
              <a:rPr lang="en-US" sz="1150" b="1" dirty="0">
                <a:solidFill>
                  <a:srgbClr val="494985"/>
                </a:solidFill>
                <a:latin typeface="Quicksand" pitchFamily="34" charset="0"/>
                <a:ea typeface="Quicksand" pitchFamily="34" charset="-122"/>
                <a:cs typeface="Quicksand" pitchFamily="34" charset="-120"/>
              </a:rPr>
              <a:t>5  </a:t>
            </a:r>
            <a:r>
              <a:rPr lang="en-US" sz="1150" dirty="0">
                <a:solidFill>
                  <a:srgbClr val="202124"/>
                </a:solidFill>
                <a:latin typeface="Quicksand" pitchFamily="34" charset="0"/>
                <a:ea typeface="Quicksand" pitchFamily="34" charset="-122"/>
                <a:cs typeface="Quicksand" pitchFamily="34" charset="-120"/>
              </a:rPr>
              <a:t>The browser requests the page from the web server at that IP; the server sends it back</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Exam focus: bit streaming</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Exam focus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22</a:t>
            </a:r>
            <a:endParaRPr lang="en-US" sz="1350" dirty="0"/>
          </a:p>
        </p:txBody>
      </p:sp>
      <p:sp>
        <p:nvSpPr>
          <p:cNvPr id="7" name="Text 4"/>
          <p:cNvSpPr txBox="1"/>
          <p:nvPr/>
        </p:nvSpPr>
        <p:spPr>
          <a:xfrm>
            <a:off x="777240" y="1234440"/>
            <a:ext cx="10698480" cy="411480"/>
          </a:xfrm>
          <a:prstGeom prst="rect">
            <a:avLst/>
          </a:prstGeom>
          <a:noFill/>
          <a:ln/>
        </p:spPr>
        <p:txBody>
          <a:bodyPr wrap="square" lIns="0" tIns="0" rIns="0" bIns="0" rtlCol="0" anchor="t"/>
          <a:lstStyle/>
          <a:p>
            <a:pPr indent="0" marL="0">
              <a:spcAft>
                <a:spcPts val="600"/>
              </a:spcAft>
              <a:buNone/>
            </a:pPr>
            <a:r>
              <a:rPr lang="en-US" sz="1500" b="1" dirty="0">
                <a:solidFill>
                  <a:srgbClr val="494985"/>
                </a:solidFill>
                <a:latin typeface="Quicksand" pitchFamily="34" charset="0"/>
                <a:ea typeface="Quicksand" pitchFamily="34" charset="-122"/>
                <a:cs typeface="Quicksand" pitchFamily="34" charset="-120"/>
              </a:rPr>
              <a:t>9618/13 Oct/Nov 2024 Q9(c)   </a:t>
            </a:r>
            <a:r>
              <a:rPr lang="en-US" sz="1500" dirty="0">
                <a:solidFill>
                  <a:srgbClr val="202124"/>
                </a:solidFill>
                <a:latin typeface="Quicksand" pitchFamily="34" charset="0"/>
                <a:ea typeface="Quicksand" pitchFamily="34" charset="-122"/>
                <a:cs typeface="Quicksand" pitchFamily="34" charset="-120"/>
              </a:rPr>
              <a:t>Explain how bit streaming is used in a real-time video conference.  [4]</a:t>
            </a:r>
            <a:endParaRPr lang="en-US" sz="15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98480" cy="914400"/>
        </p:xfrm>
        <a:graphic>
          <a:graphicData uri="http://schemas.openxmlformats.org/drawingml/2006/table">
            <a:tbl>
              <a:tblPr/>
              <a:tblGrid>
                <a:gridCol w="5349240"/>
                <a:gridCol w="5349240"/>
              </a:tblGrid>
              <a:tr h="438912">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Official marking points (max 4)</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38912">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Data is compressed before transmitting</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 transmitted continuously as a series of bits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38912">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 uploaded to a media server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The media server sends the data to a buffer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The buffer stores data until the device can process it</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The receiving device receives the bit stream from the buffer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9" name="Text 5"/>
          <p:cNvSpPr txBox="1"/>
          <p:nvPr/>
        </p:nvSpPr>
        <p:spPr>
          <a:xfrm>
            <a:off x="777240" y="3611880"/>
            <a:ext cx="10698480" cy="411480"/>
          </a:xfrm>
          <a:prstGeom prst="rect">
            <a:avLst/>
          </a:prstGeom>
          <a:noFill/>
          <a:ln/>
        </p:spPr>
        <p:txBody>
          <a:bodyPr wrap="square" lIns="0" tIns="0" rIns="0" bIns="0" rtlCol="0" anchor="t"/>
          <a:lstStyle/>
          <a:p>
            <a:pPr indent="0" marL="0">
              <a:spcAft>
                <a:spcPts val="600"/>
              </a:spcAft>
              <a:buNone/>
            </a:pPr>
            <a:r>
              <a:rPr lang="en-US" sz="1500" b="1" dirty="0">
                <a:solidFill>
                  <a:srgbClr val="494985"/>
                </a:solidFill>
                <a:latin typeface="Quicksand" pitchFamily="34" charset="0"/>
                <a:ea typeface="Quicksand" pitchFamily="34" charset="-122"/>
                <a:cs typeface="Quicksand" pitchFamily="34" charset="-120"/>
              </a:rPr>
              <a:t>9618/11 May/June 2024 Q2(e)(ii)   </a:t>
            </a:r>
            <a:r>
              <a:rPr lang="en-US" sz="1500" dirty="0">
                <a:solidFill>
                  <a:srgbClr val="202124"/>
                </a:solidFill>
                <a:latin typeface="Quicksand" pitchFamily="34" charset="0"/>
                <a:ea typeface="Quicksand" pitchFamily="34" charset="-122"/>
                <a:cs typeface="Quicksand" pitchFamily="34" charset="-120"/>
              </a:rPr>
              <a:t>Give two differences between real-time and on-demand bit streaming.  [2]</a:t>
            </a:r>
            <a:endParaRPr lang="en-US" sz="1500" dirty="0"/>
          </a:p>
        </p:txBody>
      </p:sp>
      <p:graphicFrame>
        <p:nvGraphicFramePr>
          <p:cNvPr id="45" name="Table 1"/>
          <p:cNvGraphicFramePr>
            <a:graphicFrameLocks noGrp="1"/>
          </p:cNvGraphicFramePr>
          <p:nvPr>
            <p:extLst>
              <p:ext uri="{D42A27DB-BD31-4B8C-83A1-F6EECF244321}">
                <p14:modId xmlns:p14="http://schemas.microsoft.com/office/powerpoint/2010/main" val="1579011935"/>
              </p:ext>
            </p:extLst>
          </p:nvPr>
        </p:nvGraphicFramePr>
        <p:xfrm>
          <a:off x="777240" y="4069080"/>
          <a:ext cx="10698480" cy="914400"/>
        </p:xfrm>
        <a:graphic>
          <a:graphicData uri="http://schemas.openxmlformats.org/drawingml/2006/table">
            <a:tbl>
              <a:tblPr/>
              <a:tblGrid>
                <a:gridCol w="10698480"/>
              </a:tblGrid>
              <a:tr h="411480">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Official marking points (1 each)</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1148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Real-time is direct from the source, whereas on-demand is pre-recorded / downloaded to view later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1148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Real-time cannot be re-watched, whereas on-demand can be paused, re-watched etc.</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Real-time plays continually; on-demand downloads sections and cannot play until the next section has downloaded</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Exam focus: IP addresses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Exam focus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23</a:t>
            </a:r>
            <a:endParaRPr lang="en-US" sz="1350" dirty="0"/>
          </a:p>
        </p:txBody>
      </p:sp>
      <p:sp>
        <p:nvSpPr>
          <p:cNvPr id="7" name="Text 4"/>
          <p:cNvSpPr txBox="1"/>
          <p:nvPr/>
        </p:nvSpPr>
        <p:spPr>
          <a:xfrm>
            <a:off x="777240" y="1234440"/>
            <a:ext cx="10698480" cy="411480"/>
          </a:xfrm>
          <a:prstGeom prst="rect">
            <a:avLst/>
          </a:prstGeom>
          <a:noFill/>
          <a:ln/>
        </p:spPr>
        <p:txBody>
          <a:bodyPr wrap="square" lIns="0" tIns="0" rIns="0" bIns="0" rtlCol="0" anchor="t"/>
          <a:lstStyle/>
          <a:p>
            <a:pPr indent="0" marL="0">
              <a:spcAft>
                <a:spcPts val="600"/>
              </a:spcAft>
              <a:buNone/>
            </a:pPr>
            <a:r>
              <a:rPr lang="en-US" sz="1500" b="1" dirty="0">
                <a:solidFill>
                  <a:srgbClr val="494985"/>
                </a:solidFill>
                <a:latin typeface="Quicksand" pitchFamily="34" charset="0"/>
                <a:ea typeface="Quicksand" pitchFamily="34" charset="-122"/>
                <a:cs typeface="Quicksand" pitchFamily="34" charset="-120"/>
              </a:rPr>
              <a:t>9618/12 Oct/Nov 2023 Q7(d)   </a:t>
            </a:r>
            <a:r>
              <a:rPr lang="en-US" sz="1500" dirty="0">
                <a:solidFill>
                  <a:srgbClr val="202124"/>
                </a:solidFill>
                <a:latin typeface="Quicksand" pitchFamily="34" charset="0"/>
                <a:ea typeface="Quicksand" pitchFamily="34" charset="-122"/>
                <a:cs typeface="Quicksand" pitchFamily="34" charset="-120"/>
              </a:rPr>
              <a:t>Complete the table by writing the missing types of IP addresses and the missing descriptions.  [4]</a:t>
            </a:r>
            <a:endParaRPr lang="en-US" sz="15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777240" y="1737360"/>
          <a:ext cx="10698480" cy="914400"/>
        </p:xfrm>
        <a:graphic>
          <a:graphicData uri="http://schemas.openxmlformats.org/drawingml/2006/table">
            <a:tbl>
              <a:tblPr/>
              <a:tblGrid>
                <a:gridCol w="2011680"/>
                <a:gridCol w="8686800"/>
              </a:tblGrid>
              <a:tr h="457200">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Type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Description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57200">
                <a:tc>
                  <a:txBody>
                    <a:bodyPr/>
                    <a:lstStyle/>
                    <a:p>
                      <a:pPr indent="0" marL="0">
                        <a:buNone/>
                      </a:pPr>
                      <a:r>
                        <a:rPr lang="en-US" sz="1350" b="1" dirty="0">
                          <a:solidFill>
                            <a:srgbClr val="2E7D5B"/>
                          </a:solidFill>
                          <a:latin typeface="Quicksand" pitchFamily="34" charset="0"/>
                          <a:ea typeface="Quicksand" pitchFamily="34" charset="-122"/>
                          <a:cs typeface="Quicksand" pitchFamily="34" charset="-120"/>
                        </a:rPr>
                        <a:t>Public</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Assigned to a device to allow direct access on the internet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350" b="1" dirty="0">
                          <a:solidFill>
                            <a:srgbClr val="2E7D5B"/>
                          </a:solidFill>
                          <a:latin typeface="Quicksand" pitchFamily="34" charset="0"/>
                          <a:ea typeface="Quicksand" pitchFamily="34" charset="-122"/>
                          <a:cs typeface="Quicksand" pitchFamily="34" charset="-120"/>
                        </a:rPr>
                        <a:t>Private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Used for internal LAN communication only</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Static</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b="1" dirty="0">
                          <a:solidFill>
                            <a:srgbClr val="2E7D5B"/>
                          </a:solidFill>
                          <a:latin typeface="Quicksand" pitchFamily="34" charset="0"/>
                          <a:ea typeface="Quicksand" pitchFamily="34" charset="-122"/>
                          <a:cs typeface="Quicksand" pitchFamily="34" charset="-120"/>
                        </a:rPr>
                        <a:t>Fixed - does not change each time the device re-joins the network</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Dynamic</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b="1" dirty="0">
                          <a:solidFill>
                            <a:srgbClr val="2E7D5B"/>
                          </a:solidFill>
                          <a:latin typeface="Quicksand" pitchFamily="34" charset="0"/>
                          <a:ea typeface="Quicksand" pitchFamily="34" charset="-122"/>
                          <a:cs typeface="Quicksand" pitchFamily="34" charset="-120"/>
                        </a:rPr>
                        <a:t>May change each time the device re-joins the network</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9" name="Shape 5"/>
          <p:cNvSpPr/>
          <p:nvPr/>
        </p:nvSpPr>
        <p:spPr>
          <a:xfrm>
            <a:off x="777240" y="4343400"/>
            <a:ext cx="2560320" cy="1371600"/>
          </a:xfrm>
          <a:prstGeom prst="rect">
            <a:avLst/>
          </a:prstGeom>
          <a:solidFill>
            <a:srgbClr val="F6F5FC"/>
          </a:solidFill>
          <a:ln w="12700">
            <a:solidFill>
              <a:srgbClr val="F6F5FC"/>
            </a:solidFill>
            <a:prstDash val="solid"/>
          </a:ln>
        </p:spPr>
      </p:sp>
      <p:sp>
        <p:nvSpPr>
          <p:cNvPr id="10" name="Text 6"/>
          <p:cNvSpPr/>
          <p:nvPr/>
        </p:nvSpPr>
        <p:spPr>
          <a:xfrm>
            <a:off x="914400" y="44805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1" name="Text 7"/>
          <p:cNvSpPr txBox="1"/>
          <p:nvPr/>
        </p:nvSpPr>
        <p:spPr>
          <a:xfrm>
            <a:off x="1435608" y="4453128"/>
            <a:ext cx="1783080" cy="411480"/>
          </a:xfrm>
          <a:prstGeom prst="rect">
            <a:avLst/>
          </a:prstGeom>
          <a:noFill/>
          <a:ln/>
        </p:spPr>
        <p:txBody>
          <a:bodyPr wrap="square" lIns="0" tIns="0" rIns="0" bIns="0" rtlCol="0" anchor="ctr"/>
          <a:lstStyle/>
          <a:p>
            <a:pPr indent="0" marL="0">
              <a:buNone/>
            </a:pPr>
            <a:r>
              <a:rPr lang="en-US" sz="1350" b="1" dirty="0">
                <a:solidFill>
                  <a:srgbClr val="202124"/>
                </a:solidFill>
                <a:latin typeface="Quicksand" pitchFamily="34" charset="0"/>
                <a:ea typeface="Quicksand" pitchFamily="34" charset="-122"/>
                <a:cs typeface="Quicksand" pitchFamily="34" charset="-120"/>
              </a:rPr>
              <a:t>8 groups, not 6</a:t>
            </a:r>
            <a:endParaRPr lang="en-US" sz="1350" dirty="0"/>
          </a:p>
        </p:txBody>
      </p:sp>
      <p:sp>
        <p:nvSpPr>
          <p:cNvPr id="12" name="Text 8"/>
          <p:cNvSpPr txBox="1"/>
          <p:nvPr/>
        </p:nvSpPr>
        <p:spPr>
          <a:xfrm>
            <a:off x="1435608" y="4846320"/>
            <a:ext cx="1783080" cy="804672"/>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IPv6 = eight groups of four hex digits</a:t>
            </a:r>
            <a:endParaRPr lang="en-US" sz="1200" dirty="0"/>
          </a:p>
        </p:txBody>
      </p:sp>
      <p:sp>
        <p:nvSpPr>
          <p:cNvPr id="13" name="Shape 9"/>
          <p:cNvSpPr/>
          <p:nvPr/>
        </p:nvSpPr>
        <p:spPr>
          <a:xfrm>
            <a:off x="3474720" y="4343400"/>
            <a:ext cx="2560320" cy="1371600"/>
          </a:xfrm>
          <a:prstGeom prst="rect">
            <a:avLst/>
          </a:prstGeom>
          <a:solidFill>
            <a:srgbClr val="F6F5FC"/>
          </a:solidFill>
          <a:ln w="12700">
            <a:solidFill>
              <a:srgbClr val="F6F5FC"/>
            </a:solidFill>
            <a:prstDash val="solid"/>
          </a:ln>
        </p:spPr>
      </p:sp>
      <p:sp>
        <p:nvSpPr>
          <p:cNvPr id="14" name="Text 10"/>
          <p:cNvSpPr/>
          <p:nvPr/>
        </p:nvSpPr>
        <p:spPr>
          <a:xfrm>
            <a:off x="3611880" y="44805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5" name="Text 11"/>
          <p:cNvSpPr txBox="1"/>
          <p:nvPr/>
        </p:nvSpPr>
        <p:spPr>
          <a:xfrm>
            <a:off x="4133088" y="4453128"/>
            <a:ext cx="1783080" cy="411480"/>
          </a:xfrm>
          <a:prstGeom prst="rect">
            <a:avLst/>
          </a:prstGeom>
          <a:noFill/>
          <a:ln/>
        </p:spPr>
        <p:txBody>
          <a:bodyPr wrap="square" lIns="0" tIns="0" rIns="0" bIns="0" rtlCol="0" anchor="ctr"/>
          <a:lstStyle/>
          <a:p>
            <a:pPr indent="0" marL="0">
              <a:buNone/>
            </a:pPr>
            <a:r>
              <a:rPr lang="en-US" sz="1350" b="1" dirty="0">
                <a:solidFill>
                  <a:srgbClr val="202124"/>
                </a:solidFill>
                <a:latin typeface="Quicksand" pitchFamily="34" charset="0"/>
                <a:ea typeface="Quicksand" pitchFamily="34" charset="-122"/>
                <a:cs typeface="Quicksand" pitchFamily="34" charset="-120"/>
              </a:rPr>
              <a:t>Double colon</a:t>
            </a:r>
            <a:endParaRPr lang="en-US" sz="1350" dirty="0"/>
          </a:p>
        </p:txBody>
      </p:sp>
      <p:sp>
        <p:nvSpPr>
          <p:cNvPr id="16" name="Text 12"/>
          <p:cNvSpPr txBox="1"/>
          <p:nvPr/>
        </p:nvSpPr>
        <p:spPr>
          <a:xfrm>
            <a:off x="4133088" y="4846320"/>
            <a:ext cx="1783080" cy="804672"/>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 replaces groups of zeros - once only</a:t>
            </a:r>
            <a:endParaRPr lang="en-US" sz="1200" dirty="0"/>
          </a:p>
        </p:txBody>
      </p:sp>
      <p:sp>
        <p:nvSpPr>
          <p:cNvPr id="17" name="Shape 13"/>
          <p:cNvSpPr/>
          <p:nvPr/>
        </p:nvSpPr>
        <p:spPr>
          <a:xfrm>
            <a:off x="6172200" y="4343400"/>
            <a:ext cx="2560320" cy="1371600"/>
          </a:xfrm>
          <a:prstGeom prst="rect">
            <a:avLst/>
          </a:prstGeom>
          <a:solidFill>
            <a:srgbClr val="F6F5FC"/>
          </a:solidFill>
          <a:ln w="12700">
            <a:solidFill>
              <a:srgbClr val="F6F5FC"/>
            </a:solidFill>
            <a:prstDash val="solid"/>
          </a:ln>
        </p:spPr>
      </p:sp>
      <p:sp>
        <p:nvSpPr>
          <p:cNvPr id="18" name="Text 14"/>
          <p:cNvSpPr/>
          <p:nvPr/>
        </p:nvSpPr>
        <p:spPr>
          <a:xfrm>
            <a:off x="6309360" y="44805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9" name="Text 15"/>
          <p:cNvSpPr txBox="1"/>
          <p:nvPr/>
        </p:nvSpPr>
        <p:spPr>
          <a:xfrm>
            <a:off x="6830568" y="4453128"/>
            <a:ext cx="1783080" cy="411480"/>
          </a:xfrm>
          <a:prstGeom prst="rect">
            <a:avLst/>
          </a:prstGeom>
          <a:noFill/>
          <a:ln/>
        </p:spPr>
        <p:txBody>
          <a:bodyPr wrap="square" lIns="0" tIns="0" rIns="0" bIns="0" rtlCol="0" anchor="ctr"/>
          <a:lstStyle/>
          <a:p>
            <a:pPr indent="0" marL="0">
              <a:buNone/>
            </a:pPr>
            <a:r>
              <a:rPr lang="en-US" sz="1350" b="1" dirty="0">
                <a:solidFill>
                  <a:srgbClr val="202124"/>
                </a:solidFill>
                <a:latin typeface="Quicksand" pitchFamily="34" charset="0"/>
                <a:ea typeface="Quicksand" pitchFamily="34" charset="-122"/>
                <a:cs typeface="Quicksand" pitchFamily="34" charset="-120"/>
              </a:rPr>
              <a:t>Not "random"</a:t>
            </a:r>
            <a:endParaRPr lang="en-US" sz="1350" dirty="0"/>
          </a:p>
        </p:txBody>
      </p:sp>
      <p:sp>
        <p:nvSpPr>
          <p:cNvPr id="20" name="Text 16"/>
          <p:cNvSpPr txBox="1"/>
          <p:nvPr/>
        </p:nvSpPr>
        <p:spPr>
          <a:xfrm>
            <a:off x="6830568" y="4846320"/>
            <a:ext cx="1783080" cy="804672"/>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A dynamic IP changes when the device reconnects</a:t>
            </a:r>
            <a:endParaRPr lang="en-US" sz="1200" dirty="0"/>
          </a:p>
        </p:txBody>
      </p:sp>
      <p:sp>
        <p:nvSpPr>
          <p:cNvPr id="21" name="Shape 17"/>
          <p:cNvSpPr/>
          <p:nvPr/>
        </p:nvSpPr>
        <p:spPr>
          <a:xfrm>
            <a:off x="8869680" y="4343400"/>
            <a:ext cx="2560320" cy="1371600"/>
          </a:xfrm>
          <a:prstGeom prst="rect">
            <a:avLst/>
          </a:prstGeom>
          <a:solidFill>
            <a:srgbClr val="F6F5FC"/>
          </a:solidFill>
          <a:ln w="12700">
            <a:solidFill>
              <a:srgbClr val="F6F5FC"/>
            </a:solidFill>
            <a:prstDash val="solid"/>
          </a:ln>
        </p:spPr>
      </p:sp>
      <p:sp>
        <p:nvSpPr>
          <p:cNvPr id="22" name="Text 18"/>
          <p:cNvSpPr/>
          <p:nvPr/>
        </p:nvSpPr>
        <p:spPr>
          <a:xfrm>
            <a:off x="9006840" y="44805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4</a:t>
            </a:r>
            <a:endParaRPr lang="en-US" sz="1400" dirty="0"/>
          </a:p>
        </p:txBody>
      </p:sp>
      <p:sp>
        <p:nvSpPr>
          <p:cNvPr id="23" name="Text 19"/>
          <p:cNvSpPr txBox="1"/>
          <p:nvPr/>
        </p:nvSpPr>
        <p:spPr>
          <a:xfrm>
            <a:off x="9528048" y="4453128"/>
            <a:ext cx="1783080" cy="411480"/>
          </a:xfrm>
          <a:prstGeom prst="rect">
            <a:avLst/>
          </a:prstGeom>
          <a:noFill/>
          <a:ln/>
        </p:spPr>
        <p:txBody>
          <a:bodyPr wrap="square" lIns="0" tIns="0" rIns="0" bIns="0" rtlCol="0" anchor="ctr"/>
          <a:lstStyle/>
          <a:p>
            <a:pPr indent="0" marL="0">
              <a:buNone/>
            </a:pPr>
            <a:r>
              <a:rPr lang="en-US" sz="1350" b="1" dirty="0">
                <a:solidFill>
                  <a:srgbClr val="202124"/>
                </a:solidFill>
                <a:latin typeface="Quicksand" pitchFamily="34" charset="0"/>
                <a:ea typeface="Quicksand" pitchFamily="34" charset="-122"/>
                <a:cs typeface="Quicksand" pitchFamily="34" charset="-120"/>
              </a:rPr>
              <a:t>ID, not IP</a:t>
            </a:r>
            <a:endParaRPr lang="en-US" sz="1350" dirty="0"/>
          </a:p>
        </p:txBody>
      </p:sp>
      <p:sp>
        <p:nvSpPr>
          <p:cNvPr id="24" name="Text 20"/>
          <p:cNvSpPr txBox="1"/>
          <p:nvPr/>
        </p:nvSpPr>
        <p:spPr>
          <a:xfrm>
            <a:off x="9528048" y="4846320"/>
            <a:ext cx="1783080" cy="804672"/>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Say network ID and host ID</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Guided practice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8</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24</a:t>
            </a:r>
            <a:endParaRPr lang="en-US" sz="13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77240" y="1280160"/>
          <a:ext cx="10698480" cy="914400"/>
        </p:xfrm>
        <a:graphic>
          <a:graphicData uri="http://schemas.openxmlformats.org/drawingml/2006/table">
            <a:tbl>
              <a:tblPr/>
              <a:tblGrid>
                <a:gridCol w="3291840"/>
                <a:gridCol w="6400800"/>
                <a:gridCol w="1005840"/>
              </a:tblGrid>
              <a:tr h="530352">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Task</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What you do</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Marks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30352">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  Recall test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Network hardware - closed book</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12</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30352">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2  Bit streaming</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Real 9618 questions; bit rate and broadband speed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12</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30352">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3  The internet and its hardware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Internet vs WWW; modems, dedicated lines, PSTN, cell network</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9</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30352">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4  IP addresses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IPv4 / IPv6 format, valid or invalid, public / private, static / dynamic</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15</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30352">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5  Subnetting, URLs and DNS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Network ID and host ID; benefits of subnetting; URL parts; the DNS process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13</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30352">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6  Extension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Compressing a live stream; using a subnet mask</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10</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777240" y="5257800"/>
            <a:ext cx="10698480" cy="45720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Check your work against the answer key when your teacher shares it.</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Common misconceptions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Plenary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25</a:t>
            </a:r>
            <a:endParaRPr lang="en-US" sz="13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77240" y="1234440"/>
          <a:ext cx="10698480" cy="914400"/>
        </p:xfrm>
        <a:graphic>
          <a:graphicData uri="http://schemas.openxmlformats.org/drawingml/2006/table">
            <a:tbl>
              <a:tblPr/>
              <a:tblGrid>
                <a:gridCol w="3931920"/>
                <a:gridCol w="6766560"/>
              </a:tblGrid>
              <a:tr h="530352">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Misconception</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Why it is wrong</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30352">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The internet and the WWW are the same thing</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The internet is the network infrastructure; the WWW is web pages that run on it</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30352">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Streaming means downloading the file first</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The bits are played as they arrive; the whole file is never stored</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30352">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A buffer makes the connection faster</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It only stores data temporarily so playback stays smooth when the rate varies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30352">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IPv6 has six groups separated by single colons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Eight groups of four hex digits; :: replaces zero groups once only</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30352">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A dynamic IP address changes randomly</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It may change each time the device reconnects to the network</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30352">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A URL is a set of four numbers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That is an IP address - DNS turns the domain name in the URL into an IP address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30352">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"Network IP" and "host IP"</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The two parts are the network ID and the host ID</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30352">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"Dedicated lines are dedicated connections"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Say what it is: a direct, private link used only by one organisation - faster and more secure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Exit question</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Plenary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26</a:t>
            </a:r>
            <a:endParaRPr lang="en-US" sz="1350" dirty="0"/>
          </a:p>
        </p:txBody>
      </p:sp>
      <p:sp>
        <p:nvSpPr>
          <p:cNvPr id="7" name="Text 4"/>
          <p:cNvSpPr txBox="1"/>
          <p:nvPr/>
        </p:nvSpPr>
        <p:spPr>
          <a:xfrm>
            <a:off x="777240" y="1325880"/>
            <a:ext cx="10698480" cy="457200"/>
          </a:xfrm>
          <a:prstGeom prst="rect">
            <a:avLst/>
          </a:prstGeom>
          <a:noFill/>
          <a:ln/>
        </p:spPr>
        <p:txBody>
          <a:bodyPr wrap="square" lIns="0" tIns="0" rIns="0" bIns="0" rtlCol="0" anchor="t"/>
          <a:lstStyle/>
          <a:p>
            <a:pPr indent="0" marL="0">
              <a:spcAft>
                <a:spcPts val="600"/>
              </a:spcAft>
              <a:buNone/>
            </a:pPr>
            <a:r>
              <a:rPr lang="en-US" sz="1800" b="1" dirty="0">
                <a:solidFill>
                  <a:srgbClr val="494985"/>
                </a:solidFill>
                <a:latin typeface="Quicksand" pitchFamily="34" charset="0"/>
                <a:ea typeface="Quicksand" pitchFamily="34" charset="-122"/>
                <a:cs typeface="Quicksand" pitchFamily="34" charset="-120"/>
              </a:rPr>
              <a:t>On a sticky note or mini-whiteboard:</a:t>
            </a:r>
            <a:endParaRPr lang="en-US" sz="1800" dirty="0"/>
          </a:p>
        </p:txBody>
      </p:sp>
      <p:sp>
        <p:nvSpPr>
          <p:cNvPr id="8" name="Shape 5"/>
          <p:cNvSpPr/>
          <p:nvPr/>
        </p:nvSpPr>
        <p:spPr>
          <a:xfrm>
            <a:off x="777240" y="1965960"/>
            <a:ext cx="10698480" cy="1097280"/>
          </a:xfrm>
          <a:prstGeom prst="rect">
            <a:avLst/>
          </a:prstGeom>
          <a:solidFill>
            <a:srgbClr val="F6F5FC"/>
          </a:solidFill>
          <a:ln w="12700">
            <a:solidFill>
              <a:srgbClr val="F6F5FC"/>
            </a:solidFill>
            <a:prstDash val="solid"/>
          </a:ln>
        </p:spPr>
      </p:sp>
      <p:sp>
        <p:nvSpPr>
          <p:cNvPr id="9" name="Text 6"/>
          <p:cNvSpPr/>
          <p:nvPr/>
        </p:nvSpPr>
        <p:spPr>
          <a:xfrm>
            <a:off x="914400" y="21031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a</a:t>
            </a:r>
            <a:endParaRPr lang="en-US" sz="1400" dirty="0"/>
          </a:p>
        </p:txBody>
      </p:sp>
      <p:sp>
        <p:nvSpPr>
          <p:cNvPr id="10" name="Text 7"/>
          <p:cNvSpPr txBox="1"/>
          <p:nvPr/>
        </p:nvSpPr>
        <p:spPr>
          <a:xfrm>
            <a:off x="1435608" y="2075688"/>
            <a:ext cx="9921240" cy="411480"/>
          </a:xfrm>
          <a:prstGeom prst="rect">
            <a:avLst/>
          </a:prstGeom>
          <a:noFill/>
          <a:ln/>
        </p:spPr>
        <p:txBody>
          <a:bodyPr wrap="square" lIns="0" tIns="0" rIns="0" bIns="0" rtlCol="0" anchor="ctr"/>
          <a:lstStyle/>
          <a:p>
            <a:pPr indent="0" marL="0">
              <a:buNone/>
            </a:pPr>
            <a:r>
              <a:rPr lang="en-US" sz="1700" b="1" dirty="0">
                <a:solidFill>
                  <a:srgbClr val="202124"/>
                </a:solidFill>
                <a:latin typeface="Quicksand" pitchFamily="34" charset="0"/>
                <a:ea typeface="Quicksand" pitchFamily="34" charset="-122"/>
                <a:cs typeface="Quicksand" pitchFamily="34" charset="-120"/>
              </a:rPr>
              <a:t>Streaming</a:t>
            </a:r>
            <a:endParaRPr lang="en-US" sz="1700" dirty="0"/>
          </a:p>
        </p:txBody>
      </p:sp>
      <p:sp>
        <p:nvSpPr>
          <p:cNvPr id="11" name="Text 8"/>
          <p:cNvSpPr txBox="1"/>
          <p:nvPr/>
        </p:nvSpPr>
        <p:spPr>
          <a:xfrm>
            <a:off x="1435608" y="2468880"/>
            <a:ext cx="9921240" cy="530352"/>
          </a:xfrm>
          <a:prstGeom prst="rect">
            <a:avLst/>
          </a:prstGeom>
          <a:noFill/>
          <a:ln/>
        </p:spPr>
        <p:txBody>
          <a:bodyPr wrap="square" lIns="0" tIns="0" rIns="0" bIns="0" rtlCol="0" anchor="t"/>
          <a:lstStyle/>
          <a:p>
            <a:pPr indent="0" marL="0">
              <a:buNone/>
            </a:pPr>
            <a:r>
              <a:rPr lang="en-US" sz="1500" dirty="0">
                <a:solidFill>
                  <a:srgbClr val="202124"/>
                </a:solidFill>
                <a:latin typeface="Quicksand" pitchFamily="34" charset="0"/>
                <a:ea typeface="Quicksand" pitchFamily="34" charset="-122"/>
                <a:cs typeface="Quicksand" pitchFamily="34" charset="-120"/>
              </a:rPr>
              <a:t>State one difference between real-time and on-demand bit streaming.  [2]</a:t>
            </a:r>
            <a:endParaRPr lang="en-US" sz="1500" dirty="0"/>
          </a:p>
        </p:txBody>
      </p:sp>
      <p:sp>
        <p:nvSpPr>
          <p:cNvPr id="12" name="Shape 9"/>
          <p:cNvSpPr/>
          <p:nvPr/>
        </p:nvSpPr>
        <p:spPr>
          <a:xfrm>
            <a:off x="777240" y="3246120"/>
            <a:ext cx="10698480" cy="1097280"/>
          </a:xfrm>
          <a:prstGeom prst="rect">
            <a:avLst/>
          </a:prstGeom>
          <a:solidFill>
            <a:srgbClr val="F6F5FC"/>
          </a:solidFill>
          <a:ln w="12700">
            <a:solidFill>
              <a:srgbClr val="F6F5FC"/>
            </a:solidFill>
            <a:prstDash val="solid"/>
          </a:ln>
        </p:spPr>
      </p:sp>
      <p:sp>
        <p:nvSpPr>
          <p:cNvPr id="13" name="Text 10"/>
          <p:cNvSpPr/>
          <p:nvPr/>
        </p:nvSpPr>
        <p:spPr>
          <a:xfrm>
            <a:off x="914400" y="33832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b</a:t>
            </a:r>
            <a:endParaRPr lang="en-US" sz="1400" dirty="0"/>
          </a:p>
        </p:txBody>
      </p:sp>
      <p:sp>
        <p:nvSpPr>
          <p:cNvPr id="14" name="Text 11"/>
          <p:cNvSpPr txBox="1"/>
          <p:nvPr/>
        </p:nvSpPr>
        <p:spPr>
          <a:xfrm>
            <a:off x="1435608" y="3355848"/>
            <a:ext cx="9921240" cy="411480"/>
          </a:xfrm>
          <a:prstGeom prst="rect">
            <a:avLst/>
          </a:prstGeom>
          <a:noFill/>
          <a:ln/>
        </p:spPr>
        <p:txBody>
          <a:bodyPr wrap="square" lIns="0" tIns="0" rIns="0" bIns="0" rtlCol="0" anchor="ctr"/>
          <a:lstStyle/>
          <a:p>
            <a:pPr indent="0" marL="0">
              <a:buNone/>
            </a:pPr>
            <a:r>
              <a:rPr lang="en-US" sz="1700" b="1" dirty="0">
                <a:solidFill>
                  <a:srgbClr val="202124"/>
                </a:solidFill>
                <a:latin typeface="Quicksand" pitchFamily="34" charset="0"/>
                <a:ea typeface="Quicksand" pitchFamily="34" charset="-122"/>
                <a:cs typeface="Quicksand" pitchFamily="34" charset="-120"/>
              </a:rPr>
              <a:t>DNS</a:t>
            </a:r>
            <a:endParaRPr lang="en-US" sz="1700" dirty="0"/>
          </a:p>
        </p:txBody>
      </p:sp>
      <p:sp>
        <p:nvSpPr>
          <p:cNvPr id="15" name="Text 12"/>
          <p:cNvSpPr txBox="1"/>
          <p:nvPr/>
        </p:nvSpPr>
        <p:spPr>
          <a:xfrm>
            <a:off x="1435608" y="3749040"/>
            <a:ext cx="9921240" cy="530352"/>
          </a:xfrm>
          <a:prstGeom prst="rect">
            <a:avLst/>
          </a:prstGeom>
          <a:noFill/>
          <a:ln/>
        </p:spPr>
        <p:txBody>
          <a:bodyPr wrap="square" lIns="0" tIns="0" rIns="0" bIns="0" rtlCol="0" anchor="t"/>
          <a:lstStyle/>
          <a:p>
            <a:pPr indent="0" marL="0">
              <a:buNone/>
            </a:pPr>
            <a:r>
              <a:rPr lang="en-US" sz="1500" dirty="0">
                <a:solidFill>
                  <a:srgbClr val="202124"/>
                </a:solidFill>
                <a:latin typeface="Quicksand" pitchFamily="34" charset="0"/>
                <a:ea typeface="Quicksand" pitchFamily="34" charset="-122"/>
                <a:cs typeface="Quicksand" pitchFamily="34" charset="-120"/>
              </a:rPr>
              <a:t>A user types www.bbc.co.uk into a browser. Explain the role of the DNS.  [2]</a:t>
            </a:r>
            <a:endParaRPr lang="en-US" sz="1500" dirty="0"/>
          </a:p>
        </p:txBody>
      </p:sp>
      <p:sp>
        <p:nvSpPr>
          <p:cNvPr id="16" name="Shape 13"/>
          <p:cNvSpPr/>
          <p:nvPr/>
        </p:nvSpPr>
        <p:spPr>
          <a:xfrm>
            <a:off x="777240" y="4526280"/>
            <a:ext cx="10698480" cy="1097280"/>
          </a:xfrm>
          <a:prstGeom prst="rect">
            <a:avLst/>
          </a:prstGeom>
          <a:solidFill>
            <a:srgbClr val="F6F5FC"/>
          </a:solidFill>
          <a:ln w="12700">
            <a:solidFill>
              <a:srgbClr val="F6F5FC"/>
            </a:solidFill>
            <a:prstDash val="solid"/>
          </a:ln>
        </p:spPr>
      </p:sp>
      <p:sp>
        <p:nvSpPr>
          <p:cNvPr id="17" name="Text 14"/>
          <p:cNvSpPr/>
          <p:nvPr/>
        </p:nvSpPr>
        <p:spPr>
          <a:xfrm>
            <a:off x="914400" y="46634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c</a:t>
            </a:r>
            <a:endParaRPr lang="en-US" sz="1400" dirty="0"/>
          </a:p>
        </p:txBody>
      </p:sp>
      <p:sp>
        <p:nvSpPr>
          <p:cNvPr id="18" name="Text 15"/>
          <p:cNvSpPr txBox="1"/>
          <p:nvPr/>
        </p:nvSpPr>
        <p:spPr>
          <a:xfrm>
            <a:off x="1435608" y="4636008"/>
            <a:ext cx="9921240" cy="411480"/>
          </a:xfrm>
          <a:prstGeom prst="rect">
            <a:avLst/>
          </a:prstGeom>
          <a:noFill/>
          <a:ln/>
        </p:spPr>
        <p:txBody>
          <a:bodyPr wrap="square" lIns="0" tIns="0" rIns="0" bIns="0" rtlCol="0" anchor="ctr"/>
          <a:lstStyle/>
          <a:p>
            <a:pPr indent="0" marL="0">
              <a:buNone/>
            </a:pPr>
            <a:r>
              <a:rPr lang="en-US" sz="1700" b="1" dirty="0">
                <a:solidFill>
                  <a:srgbClr val="202124"/>
                </a:solidFill>
                <a:latin typeface="Quicksand" pitchFamily="34" charset="0"/>
                <a:ea typeface="Quicksand" pitchFamily="34" charset="-122"/>
                <a:cs typeface="Quicksand" pitchFamily="34" charset="-120"/>
              </a:rPr>
              <a:t>IPv6</a:t>
            </a:r>
            <a:endParaRPr lang="en-US" sz="1700" dirty="0"/>
          </a:p>
        </p:txBody>
      </p:sp>
      <p:sp>
        <p:nvSpPr>
          <p:cNvPr id="19" name="Text 16"/>
          <p:cNvSpPr txBox="1"/>
          <p:nvPr/>
        </p:nvSpPr>
        <p:spPr>
          <a:xfrm>
            <a:off x="1435608" y="5029200"/>
            <a:ext cx="9921240" cy="530352"/>
          </a:xfrm>
          <a:prstGeom prst="rect">
            <a:avLst/>
          </a:prstGeom>
          <a:noFill/>
          <a:ln/>
        </p:spPr>
        <p:txBody>
          <a:bodyPr wrap="square" lIns="0" tIns="0" rIns="0" bIns="0" rtlCol="0" anchor="t"/>
          <a:lstStyle/>
          <a:p>
            <a:pPr indent="0" marL="0">
              <a:buNone/>
            </a:pPr>
            <a:r>
              <a:rPr lang="en-US" sz="1500" dirty="0">
                <a:solidFill>
                  <a:srgbClr val="202124"/>
                </a:solidFill>
                <a:latin typeface="Quicksand" pitchFamily="34" charset="0"/>
                <a:ea typeface="Quicksand" pitchFamily="34" charset="-122"/>
                <a:cs typeface="Quicksand" pitchFamily="34" charset="-120"/>
              </a:rPr>
              <a:t>Write down a valid IPv6 address that uses zero compression.  [1]</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 this lesson, you</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Summary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27</a:t>
            </a:r>
            <a:endParaRPr lang="en-US" sz="1350" dirty="0"/>
          </a:p>
        </p:txBody>
      </p:sp>
      <p:sp>
        <p:nvSpPr>
          <p:cNvPr id="7" name="Text 4"/>
          <p:cNvSpPr txBox="1"/>
          <p:nvPr/>
        </p:nvSpPr>
        <p:spPr>
          <a:xfrm>
            <a:off x="841248" y="1371600"/>
            <a:ext cx="10241280" cy="3566160"/>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Explained bit streaming, buffering, bit rate and broadband speed; compared real-time and on-demand</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Separated the internet (the network) from the WWW (the web pages that run on it)</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Described modems, the PSTN, dedicated lines, the cell phone network and satellites</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Read and checked IPv4 and IPv6 addresses; used a subnet mask; compared public/private and static/dynamic</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Followed a URL through the DNS to a web server</a:t>
            </a:r>
            <a:endParaRPr lang="en-US" sz="1700" dirty="0"/>
          </a:p>
        </p:txBody>
      </p:sp>
      <p:sp>
        <p:nvSpPr>
          <p:cNvPr id="8" name="Text 5"/>
          <p:cNvSpPr txBox="1"/>
          <p:nvPr/>
        </p:nvSpPr>
        <p:spPr>
          <a:xfrm>
            <a:off x="841248" y="5120640"/>
            <a:ext cx="10241280" cy="54864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Next lesson: past-paper practice on 2.1 and 2.2 (edit to match your scheme)</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Photo credits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Credits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28</a:t>
            </a:r>
            <a:endParaRPr lang="en-US" sz="13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77240" y="1188720"/>
          <a:ext cx="10698480" cy="914400"/>
        </p:xfrm>
        <a:graphic>
          <a:graphicData uri="http://schemas.openxmlformats.org/drawingml/2006/table">
            <a:tbl>
              <a:tblPr/>
              <a:tblGrid>
                <a:gridCol w="6035040"/>
                <a:gridCol w="2743200"/>
                <a:gridCol w="1920240"/>
              </a:tblGrid>
              <a:tr h="274320">
                <a:tc>
                  <a:txBody>
                    <a:bodyPr/>
                    <a:lstStyle/>
                    <a:p>
                      <a:pPr indent="0" marL="0">
                        <a:buNone/>
                      </a:pPr>
                      <a:r>
                        <a:rPr lang="en-US" sz="1100" b="1" dirty="0">
                          <a:solidFill>
                            <a:srgbClr val="FFFFFF"/>
                          </a:solidFill>
                          <a:latin typeface="Quicksand" pitchFamily="34" charset="0"/>
                          <a:ea typeface="Quicksand" pitchFamily="34" charset="-122"/>
                          <a:cs typeface="Quicksand" pitchFamily="34" charset="-120"/>
                        </a:rPr>
                        <a:t>Photo</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100" b="1" dirty="0">
                          <a:solidFill>
                            <a:srgbClr val="FFFFFF"/>
                          </a:solidFill>
                          <a:latin typeface="Quicksand" pitchFamily="34" charset="0"/>
                          <a:ea typeface="Quicksand" pitchFamily="34" charset="-122"/>
                          <a:cs typeface="Quicksand" pitchFamily="34" charset="-120"/>
                        </a:rPr>
                        <a:t>Author</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100" b="1" dirty="0">
                          <a:solidFill>
                            <a:srgbClr val="FFFFFF"/>
                          </a:solidFill>
                          <a:latin typeface="Quicksand" pitchFamily="34" charset="0"/>
                          <a:ea typeface="Quicksand" pitchFamily="34" charset="-122"/>
                          <a:cs typeface="Quicksand" pitchFamily="34" charset="-120"/>
                        </a:rPr>
                        <a:t>Licence</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274320">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Netgear Gigabit Switch 5-port</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Simon A. Eugster</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CC BY-SA 3.0</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274320">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TP-Link TL-WR740N router</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Hayden Schiff</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CC BY 4.0</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Access Point UniFi</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Sabbo91</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CC BY-SA 4.0</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274320">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Intel PRO-1000 GT PCI NIC</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ktims</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Public domain</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Rack of Worldwide LHC Computing Grid</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Marián Hubinský</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CC BY-SA 4.0</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274320">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Fritz WLAN repeater an der Steckdose</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Blingooo</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CC BY-SA 4.0</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T-DSL Modem</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Heidas</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CC BY-SA 3.0</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274320">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TDRS gen3 (artist's impression)</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NASA</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Public domain</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Cell Phone Tower Monnickendam</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Hnapel</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CC BY-SA 4.0</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274320">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Telephone Box and Broadband Fibre Cabinet (geograph 4030096)</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Geographer</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CC BY-SA 2.0</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Erdfunkstelle Raisting 2</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Richard Bartz</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CC BY-SA 2.5</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274320">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Ferrymead Heritage Park telephone switch equipment 04</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David Palmer</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50" dirty="0">
                          <a:solidFill>
                            <a:srgbClr val="202124"/>
                          </a:solidFill>
                          <a:latin typeface="Quicksand" pitchFamily="34" charset="0"/>
                          <a:ea typeface="Quicksand" pitchFamily="34" charset="-122"/>
                          <a:cs typeface="Quicksand" pitchFamily="34" charset="-120"/>
                        </a:rPr>
                        <a:t>CC BY-SA 4.0</a:t>
                      </a:r>
                      <a:endParaRPr lang="en-US" sz="1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777240" y="6035040"/>
            <a:ext cx="10698480" cy="274320"/>
          </a:xfrm>
          <a:prstGeom prst="rect">
            <a:avLst/>
          </a:prstGeom>
          <a:noFill/>
          <a:ln/>
        </p:spPr>
        <p:txBody>
          <a:bodyPr wrap="square" lIns="0" tIns="0" rIns="0" bIns="0" rtlCol="0" anchor="ctr"/>
          <a:lstStyle/>
          <a:p>
            <a:pPr algn="ctr" indent="0" marL="0">
              <a:buNone/>
            </a:pPr>
            <a:r>
              <a:rPr lang="en-US" sz="1050" i="1" dirty="0">
                <a:solidFill>
                  <a:srgbClr val="666666"/>
                </a:solidFill>
                <a:latin typeface="Quicksand" pitchFamily="34" charset="0"/>
                <a:ea typeface="Quicksand" pitchFamily="34" charset="-122"/>
                <a:cs typeface="Quicksand" pitchFamily="34" charset="-120"/>
              </a:rPr>
              <a:t>All photos from Wikimedia Commons (commons.wikimedia.org), used under the licences shown. Cropped for layout.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internet</dc:title>
  <dc:subject>PptxGenJS Presentation</dc:subject>
  <dc:creator>PptxGenJS</dc:creator>
  <cp:lastModifiedBy>PptxGenJS</cp:lastModifiedBy>
  <cp:revision>1</cp:revision>
  <dcterms:created xsi:type="dcterms:W3CDTF">2026-10-22T02:28:08Z</dcterms:created>
  <dcterms:modified xsi:type="dcterms:W3CDTF">2026-10-22T02:28:08Z</dcterms:modified>
</cp:coreProperties>
</file>