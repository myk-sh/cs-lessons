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lesson on 3.1 Computers and their components. Covers: the need for input, output, primary memory and secondary storage; RAM and ROM; SRAM and DRAM; PROM, EPROM and EEPROM; embedded systems (benefits and drawbacks). Next lessons in 3.1: secondary storage devices and buffers (magnetic hard disk, solid state, optical), then input and output devices (laser printer, 3D printer, microphone, speakers, touchscreen, VR headset) and ADC / DAC.
Suggested 60-minute pacing (also on slide 19):
0-5 starter (Task 1)
5-15 memory and storage, RAM, ROM (slides 4-8)
15-22 DRAM and SRAM (slides 9-10) + Task 2
22-32 PROM, EPROM, EEPROM (slides 11-12) + Task 3
32-47 embedded systems (slides 13-16) + Task 4
47-55 exam focus (slides 17-18), start Task 5
55-60 exit question.
Task 5 (real Paper 1 questions) is homework. Photo credits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5 minutes. Students name each component and say whether it is primary memory, secondary storage or neither. Answers: A RAM module - primary memory. B hard disk drive (HDD), opened up - secondary storage. C solid state drive (SSD, M.2) - secondary storage. D optical disc (CD / DVD) in a laptop drive - secondary storage, removable. E USB flash drive - secondary storage, removable. F processor (CPU) - neither, but it contains registers and cache, the fastest memory. Use F to start the discussion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asks why each is needed. Input devices get data into the computer; output devices give results to the user (or to other devices). The processor can only work on data and instructions held in primary memory, which it accesses directly - so programs are loaded from secondary storage into RAM before they run. Primary memory (RAM) is volatile and limited in size, so secondary storage is needed to keep programs and files permanently and in large amounts. Removable storage lets data be moved between computers or kept as a backup in a different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memory is accessed directly by the processor; it holds the programs and data in use now (RAM) and the start-up instructions (ROM). It is fast but small and RAM is volatile. Secondary storage is not directly accessible by the CPU: data must be loaded into RAM first. It is non-volatile, much larger and much slower. Removable secondary storage (USB flash drives, memory cards, optical discs, external HDDs) can be moved between computers or used for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3.3 in the textbook. Primary memory is made of RAM and ROM chips. RAM comes in two technologies, DRAM and SRAM. ROM comes in several kinds; PROM, EPROM and EEPROM can be programmed after the chip is made. Flash memory (USB drives, SSDs, memory cards) is a type of EEPROM. Leave this slide up while students work through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access: any location can be read directly, in the same time, whatever location was used last - not that data is stored randomly. RAM can be read from and written to; it holds the data, files, parts of applications and parts of the operating system currently in use; it is volatile. Why more RAM speeds a computer up: when RAM is full, data has to be swapped out to (much slower) secondary storage and read back in; more RAM means less swapping. The processor itself is not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 is also random access but cannot be written to in normal use. It is non-volatile, so it keeps the start-up instructions (bootstrap / BIOS) that the computer needs before anything is loaded from secondary storage. In embedded systems it holds the firmware - the program that runs the device. Mark-scheme wording (9618/12 N22): ROM stores data that does not change; data must be kept without power; it stores boot-up instructions / firmware / 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 each bit is stored as charge on a capacitor, with a transistor acting as a switch to read or change it. The charge leaks away, so it must be refreshed (recharged) about every 15 microseconds. One transistor and one capacitor per bit - simple, so many bits fit on a chip: cheaper, higher capacity (density). SRAM: each bit is held by a flip-flop (about 6 transistors) - no refreshing, faster access (textbook: about 25 ns compared with 60 ns), but more transistors per bit, so it is more expensive and holds less per chip. Power: DRAM uses power to refresh; SRAM can use more than DRAM when accessed very often (mark schemes accept "DRAM consumes less power" in some contexts - use the textbook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hierarchy: the closer to the processor, the faster, smaller and more expensive per bit. Cache is SRAM because speed matters most and only a small amount is needed; main memory is DRAM because a large, cheap memory is needed and refresh delays are acceptable. Exam questions often give a device and ask why DRAM was chosen - answer in context: cheaper per unit, higher density, and the device does not need the fastest access (e.g. a 3D printer buffering print data, 9618/11 N23 Q7(c)). Worksheet Task 2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kinds of ROM that can be programmed after manufacture. PROM: a matrix of fuses; a PROM writer burns (blows) fuses with an electric current, so it can be written only once (textbook examples: mobile phones, RFID tags). EPROM: uses floating-gate transistors; erased by shining ultraviolet light through the quartz window, which erases the whole chip, and the chip must be removed from the circuit; then it can be reprogrammed - used for devices under development. EEPROM: erased and rewritten electrically, while still in the circuit, a byte at a time if needed, many times - so firmware can be updated by the user (e.g. a BIOS or TV update). Flash memory is a type of EEPROM that erases in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exam comparison (9618/12 N24 Q2(c) is in Task 5). EEPROM benefits in a device: firmware can be updated without removing the chip, without specialist equipment, by a non-technical user, and particular bytes can be changed. Worksheet Task 3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embedded system is a microprocessor or microcontroller (with its own memory and input / output) built into a larger device and dedicated to one task. It runs firmware stored in ROM / EEPROM / flash, usually with no general-purpose operating system, and the user cannot install other programs. Mark-scheme wording (9618/12 N23 Q1(c)): dedicated to a single task / limited number of functions; built into a larger system; must contain a processor, memory and I/O capability. Ask: which of these are embedded systems? (All of them.) What does each one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microcontroller puts a processor, RAM, ROM (flash / EEPROM) and input / output pins on one chip; a board like the Arduino Uno is used to prototype embedded systems. The firmware in ROM runs the device as soon as it is powered; RAM holds the current settings, sensor readings and timers. It reacts in real time to its inputs. It does not need much processing power - only a dedicated processor for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textbook Table 3.3 and recent mark schemes (9618/12 N24 Q2(a) asks for drawbacks - in Task 5). Drawbacks examiners credit: firmware difficult for the user to change / update; faults hard to fix - repair is a specialist task; cannot easily be adapted for another task; devices thrown away rather than repaired - e-waste; internet-connected devices can be hacked.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textbook Extension activity 3A. Model the answer style: say what each memory holds IN THIS DEVICE. ROM (non-volatile): the firmware - the program that runs the oven, the start-up instructions, the stored cooking programs (e.g. defrost settings). RAM (volatile): the time and power level the user keys in, the time left / countdown, the current state of the door switch and the clock. Then students do Task 4 for a smart thermostat.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questions with their official mark schemes. 9618/12 Oct/Nov 2023 Q1(c): (i) identify two features of embedded systems [2]; (ii) identify one drawback [1]. 9618/11 Oct/Nov 2022 Q9: (a) explain why modern televisions are embedded systems [2]; (b) describe one benefit of using EEPROMs in an embedded system [2]. Note how answers are applied to the device in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9618/11 Oct/Nov 2023 Q7(c): "A 3D printer contains 1GB of Dynamic RAM (DRAM) to store print data. State two advantages of the printer having Dynamic RAM instead of Static RAM (SRAM)." [2]. Official points: DRAM has lower cost per unit; a fast access speed is not needed; higher bit density // more data can be stored per chip. Point out the context mark: "fast access speed is not needed" only makes sense for this device. Then start Task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60-minute plan. If time is short, set Task 4(c) and Task 5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they believed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 Any two: RAM is volatile, ROM is non-volatile; RAM can be written to, ROM is read-only in normal use; RAM holds data / programs in use, ROM holds start-up instructions / firmware (1 each).
(b) SRAM has faster access times than DRAM / does not need refreshing, and only a small amount is needed so the higher cost is acceptable (1).
(c) Any one: difficult to update the firmware; repair is a specialist task; cannot easily be adapted for another task; often thrown away rather than repaired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secondary storage in detail - how a magnetic hard disk, solid state (flash) memory and an optical disc reader/writer work, and the use of buffers. After that: input and output devices and ADC / DAC.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photographs not from the textbook are from Wikimedia Commons, used under the licence shown. Exam questions are from Cambridge International AS &amp; A Level Computer Science 9618 past papers and mark schemes.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Hardware 1</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Y12 - Cambridge International 9618  |  3.1</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147304" y="2645275"/>
            <a:ext cx="3822192" cy="156745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motherboard.jpg">    </p:cNvPr>
          <p:cNvPicPr>
            <a:picLocks noChangeAspect="1"/>
          </p:cNvPicPr>
          <p:nvPr/>
        </p:nvPicPr>
        <p:blipFill>
          <a:blip r:embed="rId1"/>
          <a:stretch>
            <a:fillRect/>
          </a:stretch>
        </p:blipFill>
        <p:spPr>
          <a:xfrm>
            <a:off x="8183880" y="2681851"/>
            <a:ext cx="3749040" cy="14942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Starter: memory or storage?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Shape 4"/>
          <p:cNvSpPr/>
          <p:nvPr/>
        </p:nvSpPr>
        <p:spPr>
          <a:xfrm>
            <a:off x="1057331" y="1243584"/>
            <a:ext cx="3005978" cy="20391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pdf_ramstick.jpg">    </p:cNvPr>
          <p:cNvPicPr>
            <a:picLocks noChangeAspect="1"/>
          </p:cNvPicPr>
          <p:nvPr/>
        </p:nvPicPr>
        <p:blipFill>
          <a:blip r:embed="rId1"/>
          <a:stretch>
            <a:fillRect/>
          </a:stretch>
        </p:blipFill>
        <p:spPr>
          <a:xfrm>
            <a:off x="1093907" y="1280160"/>
            <a:ext cx="2932826" cy="1965960"/>
          </a:xfrm>
          <a:prstGeom prst="rect">
            <a:avLst/>
          </a:prstGeom>
        </p:spPr>
      </p:pic>
      <p:sp>
        <p:nvSpPr>
          <p:cNvPr id="9" name="Text 5"/>
          <p:cNvSpPr/>
          <p:nvPr/>
        </p:nvSpPr>
        <p:spPr>
          <a:xfrm>
            <a:off x="713232" y="121615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A</a:t>
            </a:r>
            <a:endParaRPr lang="en-US" sz="1200" dirty="0"/>
          </a:p>
        </p:txBody>
      </p:sp>
      <p:sp>
        <p:nvSpPr>
          <p:cNvPr id="10" name="Shape 6"/>
          <p:cNvSpPr/>
          <p:nvPr/>
        </p:nvSpPr>
        <p:spPr>
          <a:xfrm>
            <a:off x="4877410" y="1243584"/>
            <a:ext cx="2589581" cy="20391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pdf_hdd.jpg">    </p:cNvPr>
          <p:cNvPicPr>
            <a:picLocks noChangeAspect="1"/>
          </p:cNvPicPr>
          <p:nvPr/>
        </p:nvPicPr>
        <p:blipFill>
          <a:blip r:embed="rId2"/>
          <a:stretch>
            <a:fillRect/>
          </a:stretch>
        </p:blipFill>
        <p:spPr>
          <a:xfrm>
            <a:off x="4913986" y="1280160"/>
            <a:ext cx="2516429" cy="1965960"/>
          </a:xfrm>
          <a:prstGeom prst="rect">
            <a:avLst/>
          </a:prstGeom>
        </p:spPr>
      </p:pic>
      <p:sp>
        <p:nvSpPr>
          <p:cNvPr id="12" name="Text 7"/>
          <p:cNvSpPr/>
          <p:nvPr/>
        </p:nvSpPr>
        <p:spPr>
          <a:xfrm>
            <a:off x="4325112" y="121615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B</a:t>
            </a:r>
            <a:endParaRPr lang="en-US" sz="1200" dirty="0"/>
          </a:p>
        </p:txBody>
      </p:sp>
      <p:sp>
        <p:nvSpPr>
          <p:cNvPr id="13" name="Shape 8"/>
          <p:cNvSpPr/>
          <p:nvPr/>
        </p:nvSpPr>
        <p:spPr>
          <a:xfrm>
            <a:off x="8383069" y="1243584"/>
            <a:ext cx="2802022" cy="20391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4" name="Image 2" descr="figs/pdf_ssd.jpg">    </p:cNvPr>
          <p:cNvPicPr>
            <a:picLocks noChangeAspect="1"/>
          </p:cNvPicPr>
          <p:nvPr/>
        </p:nvPicPr>
        <p:blipFill>
          <a:blip r:embed="rId3"/>
          <a:stretch>
            <a:fillRect/>
          </a:stretch>
        </p:blipFill>
        <p:spPr>
          <a:xfrm>
            <a:off x="8419645" y="1280160"/>
            <a:ext cx="2728870" cy="1965960"/>
          </a:xfrm>
          <a:prstGeom prst="rect">
            <a:avLst/>
          </a:prstGeom>
        </p:spPr>
      </p:pic>
      <p:sp>
        <p:nvSpPr>
          <p:cNvPr id="15" name="Text 9"/>
          <p:cNvSpPr/>
          <p:nvPr/>
        </p:nvSpPr>
        <p:spPr>
          <a:xfrm>
            <a:off x="7936992" y="121615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C</a:t>
            </a:r>
            <a:endParaRPr lang="en-US" sz="1200" dirty="0"/>
          </a:p>
        </p:txBody>
      </p:sp>
      <p:sp>
        <p:nvSpPr>
          <p:cNvPr id="16" name="Shape 10"/>
          <p:cNvSpPr/>
          <p:nvPr/>
        </p:nvSpPr>
        <p:spPr>
          <a:xfrm>
            <a:off x="1263513" y="3575304"/>
            <a:ext cx="2593614" cy="20391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7" name="Image 3" descr="figs/pdf_optical.jpg">    </p:cNvPr>
          <p:cNvPicPr>
            <a:picLocks noChangeAspect="1"/>
          </p:cNvPicPr>
          <p:nvPr/>
        </p:nvPicPr>
        <p:blipFill>
          <a:blip r:embed="rId4"/>
          <a:stretch>
            <a:fillRect/>
          </a:stretch>
        </p:blipFill>
        <p:spPr>
          <a:xfrm>
            <a:off x="1300089" y="3611880"/>
            <a:ext cx="2520462" cy="1965960"/>
          </a:xfrm>
          <a:prstGeom prst="rect">
            <a:avLst/>
          </a:prstGeom>
        </p:spPr>
      </p:pic>
      <p:sp>
        <p:nvSpPr>
          <p:cNvPr id="18" name="Text 11"/>
          <p:cNvSpPr/>
          <p:nvPr/>
        </p:nvSpPr>
        <p:spPr>
          <a:xfrm>
            <a:off x="713232" y="354787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D</a:t>
            </a:r>
            <a:endParaRPr lang="en-US" sz="1200" dirty="0"/>
          </a:p>
        </p:txBody>
      </p:sp>
      <p:sp>
        <p:nvSpPr>
          <p:cNvPr id="19" name="Shape 12"/>
          <p:cNvSpPr/>
          <p:nvPr/>
        </p:nvSpPr>
        <p:spPr>
          <a:xfrm>
            <a:off x="4535424" y="3770757"/>
            <a:ext cx="3273552" cy="1648206"/>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0" name="Image 4" descr="figs/usb.jpg">    </p:cNvPr>
          <p:cNvPicPr>
            <a:picLocks noChangeAspect="1"/>
          </p:cNvPicPr>
          <p:nvPr/>
        </p:nvPicPr>
        <p:blipFill>
          <a:blip r:embed="rId5"/>
          <a:stretch>
            <a:fillRect/>
          </a:stretch>
        </p:blipFill>
        <p:spPr>
          <a:xfrm>
            <a:off x="4572000" y="3807333"/>
            <a:ext cx="3200400" cy="1575054"/>
          </a:xfrm>
          <a:prstGeom prst="rect">
            <a:avLst/>
          </a:prstGeom>
        </p:spPr>
      </p:pic>
      <p:sp>
        <p:nvSpPr>
          <p:cNvPr id="21" name="Text 13"/>
          <p:cNvSpPr/>
          <p:nvPr/>
        </p:nvSpPr>
        <p:spPr>
          <a:xfrm>
            <a:off x="4325112" y="354787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E</a:t>
            </a:r>
            <a:endParaRPr lang="en-US" sz="1200" dirty="0"/>
          </a:p>
        </p:txBody>
      </p:sp>
      <p:sp>
        <p:nvSpPr>
          <p:cNvPr id="22" name="Shape 14"/>
          <p:cNvSpPr/>
          <p:nvPr/>
        </p:nvSpPr>
        <p:spPr>
          <a:xfrm>
            <a:off x="8830814" y="3575304"/>
            <a:ext cx="1906533" cy="20391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3" name="Image 5" descr="figs/cpu.jpg">    </p:cNvPr>
          <p:cNvPicPr>
            <a:picLocks noChangeAspect="1"/>
          </p:cNvPicPr>
          <p:nvPr/>
        </p:nvPicPr>
        <p:blipFill>
          <a:blip r:embed="rId6"/>
          <a:stretch>
            <a:fillRect/>
          </a:stretch>
        </p:blipFill>
        <p:spPr>
          <a:xfrm>
            <a:off x="8867390" y="3611880"/>
            <a:ext cx="1833381" cy="1965960"/>
          </a:xfrm>
          <a:prstGeom prst="rect">
            <a:avLst/>
          </a:prstGeom>
        </p:spPr>
      </p:pic>
      <p:sp>
        <p:nvSpPr>
          <p:cNvPr id="24" name="Text 15"/>
          <p:cNvSpPr/>
          <p:nvPr/>
        </p:nvSpPr>
        <p:spPr>
          <a:xfrm>
            <a:off x="7936992" y="3547872"/>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F</a:t>
            </a:r>
            <a:endParaRPr lang="en-US" sz="1200" dirty="0"/>
          </a:p>
        </p:txBody>
      </p:sp>
      <p:sp>
        <p:nvSpPr>
          <p:cNvPr id="25" name="Text 16"/>
          <p:cNvSpPr txBox="1"/>
          <p:nvPr/>
        </p:nvSpPr>
        <p:spPr>
          <a:xfrm>
            <a:off x="777240" y="5943600"/>
            <a:ext cx="1074420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Name each one. Is it primary memory, secondary storage, or neither?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why a computer needs input, output, primary memory and secondary storage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the differences between RAM and ROM, and where each is used</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the differences between SRAM and DRAM, and where each is used</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the differences between PROM, EPROM and EEPROM</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embedded systems, with their benefits and drawbacks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does a computer need?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p:nvPr/>
        </p:nvSpPr>
        <p:spPr>
          <a:xfrm>
            <a:off x="731520" y="2286000"/>
            <a:ext cx="1737360" cy="9144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Input</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devices</a:t>
            </a:r>
            <a:endParaRPr lang="en-US" sz="1500" dirty="0"/>
          </a:p>
        </p:txBody>
      </p:sp>
      <p:sp>
        <p:nvSpPr>
          <p:cNvPr id="8" name="Text 5"/>
          <p:cNvSpPr/>
          <p:nvPr/>
        </p:nvSpPr>
        <p:spPr>
          <a:xfrm>
            <a:off x="3429000" y="1805940"/>
            <a:ext cx="2743200" cy="6858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Processor (CPU)</a:t>
            </a:r>
            <a:endParaRPr lang="en-US" sz="1500" dirty="0"/>
          </a:p>
        </p:txBody>
      </p:sp>
      <p:sp>
        <p:nvSpPr>
          <p:cNvPr id="9" name="Text 6"/>
          <p:cNvSpPr/>
          <p:nvPr/>
        </p:nvSpPr>
        <p:spPr>
          <a:xfrm>
            <a:off x="3429000" y="2971800"/>
            <a:ext cx="2743200" cy="91440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Primary memory</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RAM + ROM</a:t>
            </a:r>
            <a:endParaRPr lang="en-US" sz="1500" dirty="0"/>
          </a:p>
        </p:txBody>
      </p:sp>
      <p:sp>
        <p:nvSpPr>
          <p:cNvPr id="10" name="Text 7"/>
          <p:cNvSpPr/>
          <p:nvPr/>
        </p:nvSpPr>
        <p:spPr>
          <a:xfrm>
            <a:off x="7223760" y="2286000"/>
            <a:ext cx="1737360" cy="9144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Output</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devices</a:t>
            </a:r>
            <a:endParaRPr lang="en-US" sz="1500" dirty="0"/>
          </a:p>
        </p:txBody>
      </p:sp>
      <p:sp>
        <p:nvSpPr>
          <p:cNvPr id="11" name="Text 8"/>
          <p:cNvSpPr/>
          <p:nvPr/>
        </p:nvSpPr>
        <p:spPr>
          <a:xfrm>
            <a:off x="3154680" y="4709160"/>
            <a:ext cx="3291840" cy="9144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Secondary storage</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HDD, SSD, optical, flash</a:t>
            </a:r>
            <a:endParaRPr lang="en-US" sz="1500" dirty="0"/>
          </a:p>
        </p:txBody>
      </p:sp>
      <p:sp>
        <p:nvSpPr>
          <p:cNvPr id="12" name="Shape 9"/>
          <p:cNvSpPr/>
          <p:nvPr/>
        </p:nvSpPr>
        <p:spPr>
          <a:xfrm>
            <a:off x="2468880" y="2743200"/>
            <a:ext cx="960120" cy="914"/>
          </a:xfrm>
          <a:prstGeom prst="line">
            <a:avLst/>
          </a:prstGeom>
          <a:noFill/>
          <a:ln w="25400">
            <a:solidFill>
              <a:srgbClr val="494985"/>
            </a:solidFill>
            <a:prstDash val="solid"/>
            <a:tailEnd type="triangle"/>
          </a:ln>
        </p:spPr>
      </p:sp>
      <p:sp>
        <p:nvSpPr>
          <p:cNvPr id="13" name="Shape 10"/>
          <p:cNvSpPr/>
          <p:nvPr/>
        </p:nvSpPr>
        <p:spPr>
          <a:xfrm>
            <a:off x="6172200" y="2743200"/>
            <a:ext cx="1051560" cy="914"/>
          </a:xfrm>
          <a:prstGeom prst="line">
            <a:avLst/>
          </a:prstGeom>
          <a:noFill/>
          <a:ln w="25400">
            <a:solidFill>
              <a:srgbClr val="494985"/>
            </a:solidFill>
            <a:prstDash val="solid"/>
            <a:tailEnd type="triangle"/>
          </a:ln>
        </p:spPr>
      </p:sp>
      <p:sp>
        <p:nvSpPr>
          <p:cNvPr id="14" name="Shape 11"/>
          <p:cNvSpPr/>
          <p:nvPr/>
        </p:nvSpPr>
        <p:spPr>
          <a:xfrm>
            <a:off x="4617720" y="2496312"/>
            <a:ext cx="914" cy="475488"/>
          </a:xfrm>
          <a:prstGeom prst="line">
            <a:avLst/>
          </a:prstGeom>
          <a:noFill/>
          <a:ln w="25400">
            <a:solidFill>
              <a:srgbClr val="494985"/>
            </a:solidFill>
            <a:prstDash val="solid"/>
            <a:tailEnd type="triangle"/>
          </a:ln>
        </p:spPr>
      </p:sp>
      <p:sp>
        <p:nvSpPr>
          <p:cNvPr id="15" name="Shape 12"/>
          <p:cNvSpPr/>
          <p:nvPr/>
        </p:nvSpPr>
        <p:spPr>
          <a:xfrm flipV="1">
            <a:off x="4983480" y="2496312"/>
            <a:ext cx="914" cy="475488"/>
          </a:xfrm>
          <a:prstGeom prst="line">
            <a:avLst/>
          </a:prstGeom>
          <a:noFill/>
          <a:ln w="25400">
            <a:solidFill>
              <a:srgbClr val="494985"/>
            </a:solidFill>
            <a:prstDash val="solid"/>
            <a:tailEnd type="triangle"/>
          </a:ln>
        </p:spPr>
      </p:sp>
      <p:sp>
        <p:nvSpPr>
          <p:cNvPr id="16" name="Shape 13"/>
          <p:cNvSpPr/>
          <p:nvPr/>
        </p:nvSpPr>
        <p:spPr>
          <a:xfrm>
            <a:off x="4617720" y="3886200"/>
            <a:ext cx="914" cy="822960"/>
          </a:xfrm>
          <a:prstGeom prst="line">
            <a:avLst/>
          </a:prstGeom>
          <a:noFill/>
          <a:ln w="25400">
            <a:solidFill>
              <a:srgbClr val="494985"/>
            </a:solidFill>
            <a:prstDash val="solid"/>
            <a:tailEnd type="triangle"/>
          </a:ln>
        </p:spPr>
      </p:sp>
      <p:sp>
        <p:nvSpPr>
          <p:cNvPr id="17" name="Shape 14"/>
          <p:cNvSpPr/>
          <p:nvPr/>
        </p:nvSpPr>
        <p:spPr>
          <a:xfrm flipV="1">
            <a:off x="4983480" y="3886200"/>
            <a:ext cx="914" cy="822960"/>
          </a:xfrm>
          <a:prstGeom prst="line">
            <a:avLst/>
          </a:prstGeom>
          <a:noFill/>
          <a:ln w="25400">
            <a:solidFill>
              <a:srgbClr val="494985"/>
            </a:solidFill>
            <a:prstDash val="solid"/>
            <a:tailEnd type="triangle"/>
          </a:ln>
        </p:spPr>
      </p:sp>
      <p:sp>
        <p:nvSpPr>
          <p:cNvPr id="18" name="Shape 15"/>
          <p:cNvSpPr/>
          <p:nvPr/>
        </p:nvSpPr>
        <p:spPr>
          <a:xfrm>
            <a:off x="3291840" y="1691640"/>
            <a:ext cx="3017520" cy="2331720"/>
          </a:xfrm>
          <a:prstGeom prst="rect">
            <a:avLst/>
          </a:prstGeom>
          <a:ln w="12700">
            <a:solidFill>
              <a:srgbClr val="494985"/>
            </a:solidFill>
            <a:prstDash val="dash"/>
          </a:ln>
        </p:spPr>
      </p:sp>
      <p:sp>
        <p:nvSpPr>
          <p:cNvPr id="19" name="Text 16"/>
          <p:cNvSpPr txBox="1"/>
          <p:nvPr/>
        </p:nvSpPr>
        <p:spPr>
          <a:xfrm>
            <a:off x="3291840" y="1371600"/>
            <a:ext cx="3017520" cy="27432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on the motherboard</a:t>
            </a:r>
            <a:endParaRPr lang="en-US" sz="1200" dirty="0"/>
          </a:p>
        </p:txBody>
      </p:sp>
      <p:sp>
        <p:nvSpPr>
          <p:cNvPr id="20" name="Shape 17"/>
          <p:cNvSpPr/>
          <p:nvPr/>
        </p:nvSpPr>
        <p:spPr>
          <a:xfrm>
            <a:off x="9235440" y="1280160"/>
            <a:ext cx="2286000" cy="4754880"/>
          </a:xfrm>
          <a:prstGeom prst="rect">
            <a:avLst/>
          </a:prstGeom>
          <a:solidFill>
            <a:srgbClr val="F6F5FC"/>
          </a:solidFill>
          <a:ln w="12700">
            <a:solidFill>
              <a:srgbClr val="F6F5FC"/>
            </a:solidFill>
            <a:prstDash val="solid"/>
          </a:ln>
        </p:spPr>
      </p:sp>
      <p:sp>
        <p:nvSpPr>
          <p:cNvPr id="21" name="Shape 18"/>
          <p:cNvSpPr/>
          <p:nvPr/>
        </p:nvSpPr>
        <p:spPr>
          <a:xfrm>
            <a:off x="9235440" y="1280160"/>
            <a:ext cx="73152" cy="4754880"/>
          </a:xfrm>
          <a:prstGeom prst="rect">
            <a:avLst/>
          </a:prstGeom>
          <a:solidFill>
            <a:srgbClr val="494985"/>
          </a:solidFill>
          <a:ln w="12700">
            <a:solidFill>
              <a:srgbClr val="494985"/>
            </a:solidFill>
            <a:prstDash val="solid"/>
          </a:ln>
        </p:spPr>
      </p:sp>
      <p:sp>
        <p:nvSpPr>
          <p:cNvPr id="22" name="Text 19"/>
          <p:cNvSpPr txBox="1"/>
          <p:nvPr/>
        </p:nvSpPr>
        <p:spPr>
          <a:xfrm>
            <a:off x="9464040" y="1371600"/>
            <a:ext cx="192024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Why?</a:t>
            </a:r>
            <a:endParaRPr lang="en-US" sz="1500" dirty="0"/>
          </a:p>
        </p:txBody>
      </p:sp>
      <p:sp>
        <p:nvSpPr>
          <p:cNvPr id="23" name="Text 20"/>
          <p:cNvSpPr txBox="1"/>
          <p:nvPr/>
        </p:nvSpPr>
        <p:spPr>
          <a:xfrm>
            <a:off x="9464040" y="1783080"/>
            <a:ext cx="1920240" cy="4160520"/>
          </a:xfrm>
          <a:prstGeom prst="rect">
            <a:avLst/>
          </a:prstGeom>
          <a:noFill/>
          <a:ln/>
        </p:spPr>
        <p:txBody>
          <a:bodyPr wrap="square" lIns="0" tIns="0" rIns="0" bIns="0" rtlCol="0" anchor="t"/>
          <a:lstStyle/>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Input: data in</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Output: results out</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Primary memory: the CPU can only use data held here</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Secondary storage: keeps files when power is off, in large amounts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Primary memory and secondary storage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6675120" cy="914400"/>
        </p:xfrm>
        <a:graphic>
          <a:graphicData uri="http://schemas.openxmlformats.org/drawingml/2006/table">
            <a:tbl>
              <a:tblPr/>
              <a:tblGrid>
                <a:gridCol w="1737360"/>
                <a:gridCol w="2286000"/>
                <a:gridCol w="2651760"/>
              </a:tblGrid>
              <a:tr h="548640">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Primary memory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Secondary storage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Accessed by the CPU</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Directly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Not directly: loaded into RAM first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Volatile?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RAM: yes   ROM: no</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No - kept without power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Size and speed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Small, very fast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Large, much slower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Examples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RAM, ROM (also cache, registers)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HDD, SSD, optical disc, flash drive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7735824" y="1328463"/>
            <a:ext cx="1856232" cy="1274994"/>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rammods.jpg">    </p:cNvPr>
          <p:cNvPicPr>
            <a:picLocks noChangeAspect="1"/>
          </p:cNvPicPr>
          <p:nvPr/>
        </p:nvPicPr>
        <p:blipFill>
          <a:blip r:embed="rId1"/>
          <a:stretch>
            <a:fillRect/>
          </a:stretch>
        </p:blipFill>
        <p:spPr>
          <a:xfrm>
            <a:off x="7772400" y="1365039"/>
            <a:ext cx="1783080" cy="1201842"/>
          </a:xfrm>
          <a:prstGeom prst="rect">
            <a:avLst/>
          </a:prstGeom>
        </p:spPr>
      </p:pic>
      <p:sp>
        <p:nvSpPr>
          <p:cNvPr id="10" name="Text 5"/>
          <p:cNvSpPr txBox="1"/>
          <p:nvPr/>
        </p:nvSpPr>
        <p:spPr>
          <a:xfrm>
            <a:off x="7589520" y="2630889"/>
            <a:ext cx="214884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RAM modules</a:t>
            </a:r>
            <a:endParaRPr lang="en-US" sz="1100" dirty="0"/>
          </a:p>
        </p:txBody>
      </p:sp>
      <p:sp>
        <p:nvSpPr>
          <p:cNvPr id="11" name="Shape 6"/>
          <p:cNvSpPr/>
          <p:nvPr/>
        </p:nvSpPr>
        <p:spPr>
          <a:xfrm>
            <a:off x="9701784" y="1232868"/>
            <a:ext cx="1856232" cy="1466183"/>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2" name="Image 1" descr="figs/pdf_hdd.jpg">    </p:cNvPr>
          <p:cNvPicPr>
            <a:picLocks noChangeAspect="1"/>
          </p:cNvPicPr>
          <p:nvPr/>
        </p:nvPicPr>
        <p:blipFill>
          <a:blip r:embed="rId2"/>
          <a:stretch>
            <a:fillRect/>
          </a:stretch>
        </p:blipFill>
        <p:spPr>
          <a:xfrm>
            <a:off x="9738360" y="1269444"/>
            <a:ext cx="1783080" cy="1393031"/>
          </a:xfrm>
          <a:prstGeom prst="rect">
            <a:avLst/>
          </a:prstGeom>
        </p:spPr>
      </p:pic>
      <p:sp>
        <p:nvSpPr>
          <p:cNvPr id="13" name="Text 7"/>
          <p:cNvSpPr txBox="1"/>
          <p:nvPr/>
        </p:nvSpPr>
        <p:spPr>
          <a:xfrm>
            <a:off x="9555480" y="2726484"/>
            <a:ext cx="214884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Hard disk</a:t>
            </a:r>
            <a:endParaRPr lang="en-US" sz="1100" dirty="0"/>
          </a:p>
        </p:txBody>
      </p:sp>
      <p:sp>
        <p:nvSpPr>
          <p:cNvPr id="14" name="Shape 8"/>
          <p:cNvSpPr/>
          <p:nvPr/>
        </p:nvSpPr>
        <p:spPr>
          <a:xfrm>
            <a:off x="7735824" y="3410859"/>
            <a:ext cx="1856232" cy="95068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5" name="Image 2" descr="figs/usb.jpg">    </p:cNvPr>
          <p:cNvPicPr>
            <a:picLocks noChangeAspect="1"/>
          </p:cNvPicPr>
          <p:nvPr/>
        </p:nvPicPr>
        <p:blipFill>
          <a:blip r:embed="rId3"/>
          <a:stretch>
            <a:fillRect/>
          </a:stretch>
        </p:blipFill>
        <p:spPr>
          <a:xfrm>
            <a:off x="7772400" y="3447435"/>
            <a:ext cx="1783080" cy="877530"/>
          </a:xfrm>
          <a:prstGeom prst="rect">
            <a:avLst/>
          </a:prstGeom>
        </p:spPr>
      </p:pic>
      <p:sp>
        <p:nvSpPr>
          <p:cNvPr id="16" name="Text 9"/>
          <p:cNvSpPr txBox="1"/>
          <p:nvPr/>
        </p:nvSpPr>
        <p:spPr>
          <a:xfrm>
            <a:off x="7589520" y="4388973"/>
            <a:ext cx="214884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Flash drive</a:t>
            </a:r>
            <a:endParaRPr lang="en-US" sz="1100" dirty="0"/>
          </a:p>
        </p:txBody>
      </p:sp>
      <p:sp>
        <p:nvSpPr>
          <p:cNvPr id="17" name="Shape 10"/>
          <p:cNvSpPr/>
          <p:nvPr/>
        </p:nvSpPr>
        <p:spPr>
          <a:xfrm>
            <a:off x="9701784" y="3265471"/>
            <a:ext cx="1856232" cy="1241458"/>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8" name="Image 3" descr="figs/sdcard.jpg">    </p:cNvPr>
          <p:cNvPicPr>
            <a:picLocks noChangeAspect="1"/>
          </p:cNvPicPr>
          <p:nvPr/>
        </p:nvPicPr>
        <p:blipFill>
          <a:blip r:embed="rId4"/>
          <a:stretch>
            <a:fillRect/>
          </a:stretch>
        </p:blipFill>
        <p:spPr>
          <a:xfrm>
            <a:off x="9738360" y="3302047"/>
            <a:ext cx="1783080" cy="1168306"/>
          </a:xfrm>
          <a:prstGeom prst="rect">
            <a:avLst/>
          </a:prstGeom>
        </p:spPr>
      </p:pic>
      <p:sp>
        <p:nvSpPr>
          <p:cNvPr id="19" name="Text 11"/>
          <p:cNvSpPr txBox="1"/>
          <p:nvPr/>
        </p:nvSpPr>
        <p:spPr>
          <a:xfrm>
            <a:off x="9555480" y="4534361"/>
            <a:ext cx="214884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Memory card</a:t>
            </a:r>
            <a:endParaRPr lang="en-US" sz="1100" dirty="0"/>
          </a:p>
        </p:txBody>
      </p:sp>
      <p:sp>
        <p:nvSpPr>
          <p:cNvPr id="20" name="Shape 12"/>
          <p:cNvSpPr/>
          <p:nvPr/>
        </p:nvSpPr>
        <p:spPr>
          <a:xfrm>
            <a:off x="777240" y="4251960"/>
            <a:ext cx="6675120" cy="1737360"/>
          </a:xfrm>
          <a:prstGeom prst="rect">
            <a:avLst/>
          </a:prstGeom>
          <a:solidFill>
            <a:srgbClr val="F6F5FC"/>
          </a:solidFill>
          <a:ln w="12700">
            <a:solidFill>
              <a:srgbClr val="F6F5FC"/>
            </a:solidFill>
            <a:prstDash val="solid"/>
          </a:ln>
        </p:spPr>
      </p:sp>
      <p:sp>
        <p:nvSpPr>
          <p:cNvPr id="21" name="Shape 13"/>
          <p:cNvSpPr/>
          <p:nvPr/>
        </p:nvSpPr>
        <p:spPr>
          <a:xfrm>
            <a:off x="777240" y="4251960"/>
            <a:ext cx="73152" cy="1737360"/>
          </a:xfrm>
          <a:prstGeom prst="rect">
            <a:avLst/>
          </a:prstGeom>
          <a:solidFill>
            <a:srgbClr val="2E7D5B"/>
          </a:solidFill>
          <a:ln w="12700">
            <a:solidFill>
              <a:srgbClr val="2E7D5B"/>
            </a:solidFill>
            <a:prstDash val="solid"/>
          </a:ln>
        </p:spPr>
      </p:sp>
      <p:sp>
        <p:nvSpPr>
          <p:cNvPr id="22" name="Text 14"/>
          <p:cNvSpPr txBox="1"/>
          <p:nvPr/>
        </p:nvSpPr>
        <p:spPr>
          <a:xfrm>
            <a:off x="1005840" y="4343400"/>
            <a:ext cx="630936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Removable storage</a:t>
            </a:r>
            <a:endParaRPr lang="en-US" sz="1500" dirty="0"/>
          </a:p>
        </p:txBody>
      </p:sp>
      <p:sp>
        <p:nvSpPr>
          <p:cNvPr id="23" name="Text 15"/>
          <p:cNvSpPr txBox="1"/>
          <p:nvPr/>
        </p:nvSpPr>
        <p:spPr>
          <a:xfrm>
            <a:off x="1005840" y="4754880"/>
            <a:ext cx="6309360" cy="1143000"/>
          </a:xfrm>
          <a:prstGeom prst="rect">
            <a:avLst/>
          </a:prstGeom>
          <a:noFill/>
          <a:ln/>
        </p:spPr>
        <p:txBody>
          <a:bodyPr wrap="square" lIns="0" tIns="0" rIns="0" bIns="0" rtlCol="0" anchor="t"/>
          <a:lstStyle/>
          <a:p>
            <a:pPr indent="0" marL="0">
              <a:spcAft>
                <a:spcPts val="600"/>
              </a:spcAft>
              <a:buNone/>
            </a:pPr>
            <a:r>
              <a:rPr lang="en-US" sz="1350" dirty="0">
                <a:solidFill>
                  <a:srgbClr val="202124"/>
                </a:solidFill>
                <a:latin typeface="Quicksand" pitchFamily="34" charset="0"/>
                <a:ea typeface="Quicksand" pitchFamily="34" charset="-122"/>
                <a:cs typeface="Quicksand" pitchFamily="34" charset="-120"/>
              </a:rPr>
              <a:t>Flash drives, memory cards, optical discs and external hard disks can be moved between computers, or kept in another building as a backup.</a:t>
            </a:r>
            <a:endParaRPr lang="en-US" sz="1350" dirty="0"/>
          </a:p>
        </p:txBody>
      </p:sp>
      <p:sp>
        <p:nvSpPr>
          <p:cNvPr id="24" name="Text 16"/>
          <p:cNvSpPr txBox="1"/>
          <p:nvPr/>
        </p:nvSpPr>
        <p:spPr>
          <a:xfrm>
            <a:off x="7772400" y="5074920"/>
            <a:ext cx="374904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Primary memory (top left), secondary storage (the rest)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Types of primary memory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p:nvPr/>
        </p:nvSpPr>
        <p:spPr>
          <a:xfrm>
            <a:off x="2606040" y="1325880"/>
            <a:ext cx="2743200" cy="54864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Primary memory</a:t>
            </a:r>
            <a:endParaRPr lang="en-US" sz="1600" dirty="0"/>
          </a:p>
        </p:txBody>
      </p:sp>
      <p:sp>
        <p:nvSpPr>
          <p:cNvPr id="8" name="Text 5"/>
          <p:cNvSpPr/>
          <p:nvPr/>
        </p:nvSpPr>
        <p:spPr>
          <a:xfrm>
            <a:off x="1188720" y="2674620"/>
            <a:ext cx="1828800" cy="5029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RAM</a:t>
            </a:r>
            <a:endParaRPr lang="en-US" sz="1600" dirty="0"/>
          </a:p>
        </p:txBody>
      </p:sp>
      <p:sp>
        <p:nvSpPr>
          <p:cNvPr id="9" name="Text 6"/>
          <p:cNvSpPr/>
          <p:nvPr/>
        </p:nvSpPr>
        <p:spPr>
          <a:xfrm>
            <a:off x="4937760" y="2674620"/>
            <a:ext cx="1828800" cy="50292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600" b="1" dirty="0">
                <a:solidFill>
                  <a:srgbClr val="202124"/>
                </a:solidFill>
                <a:latin typeface="Quicksand" pitchFamily="34" charset="0"/>
                <a:ea typeface="Quicksand" pitchFamily="34" charset="-122"/>
                <a:cs typeface="Quicksand" pitchFamily="34" charset="-120"/>
              </a:rPr>
              <a:t>ROM</a:t>
            </a:r>
            <a:endParaRPr lang="en-US" sz="1600" dirty="0"/>
          </a:p>
        </p:txBody>
      </p:sp>
      <p:sp>
        <p:nvSpPr>
          <p:cNvPr id="10" name="Text 7"/>
          <p:cNvSpPr/>
          <p:nvPr/>
        </p:nvSpPr>
        <p:spPr>
          <a:xfrm>
            <a:off x="548640" y="4023360"/>
            <a:ext cx="1371600" cy="4572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SRAM</a:t>
            </a:r>
            <a:endParaRPr lang="en-US" sz="1400" dirty="0"/>
          </a:p>
        </p:txBody>
      </p:sp>
      <p:sp>
        <p:nvSpPr>
          <p:cNvPr id="11" name="Text 8"/>
          <p:cNvSpPr/>
          <p:nvPr/>
        </p:nvSpPr>
        <p:spPr>
          <a:xfrm>
            <a:off x="2286000" y="4023360"/>
            <a:ext cx="1371600" cy="4572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DRAM</a:t>
            </a:r>
            <a:endParaRPr lang="en-US" sz="1400" dirty="0"/>
          </a:p>
        </p:txBody>
      </p:sp>
      <p:sp>
        <p:nvSpPr>
          <p:cNvPr id="12" name="Text 9"/>
          <p:cNvSpPr/>
          <p:nvPr/>
        </p:nvSpPr>
        <p:spPr>
          <a:xfrm>
            <a:off x="3886200" y="4023360"/>
            <a:ext cx="1280160" cy="4572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PROM</a:t>
            </a:r>
            <a:endParaRPr lang="en-US" sz="1400" dirty="0"/>
          </a:p>
        </p:txBody>
      </p:sp>
      <p:sp>
        <p:nvSpPr>
          <p:cNvPr id="13" name="Text 10"/>
          <p:cNvSpPr/>
          <p:nvPr/>
        </p:nvSpPr>
        <p:spPr>
          <a:xfrm>
            <a:off x="5257800" y="4023360"/>
            <a:ext cx="1280160" cy="4572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EPROM</a:t>
            </a:r>
            <a:endParaRPr lang="en-US" sz="1400" dirty="0"/>
          </a:p>
        </p:txBody>
      </p:sp>
      <p:sp>
        <p:nvSpPr>
          <p:cNvPr id="14" name="Text 11"/>
          <p:cNvSpPr/>
          <p:nvPr/>
        </p:nvSpPr>
        <p:spPr>
          <a:xfrm>
            <a:off x="6629400" y="4023360"/>
            <a:ext cx="1280160" cy="457200"/>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400" b="1" dirty="0">
                <a:solidFill>
                  <a:srgbClr val="202124"/>
                </a:solidFill>
                <a:latin typeface="Quicksand" pitchFamily="34" charset="0"/>
                <a:ea typeface="Quicksand" pitchFamily="34" charset="-122"/>
                <a:cs typeface="Quicksand" pitchFamily="34" charset="-120"/>
              </a:rPr>
              <a:t>EEPROM</a:t>
            </a:r>
            <a:endParaRPr lang="en-US" sz="1400" dirty="0"/>
          </a:p>
        </p:txBody>
      </p:sp>
      <p:sp>
        <p:nvSpPr>
          <p:cNvPr id="15" name="Shape 12"/>
          <p:cNvSpPr/>
          <p:nvPr/>
        </p:nvSpPr>
        <p:spPr>
          <a:xfrm flipH="1">
            <a:off x="2103120" y="1874520"/>
            <a:ext cx="1874520" cy="795528"/>
          </a:xfrm>
          <a:prstGeom prst="line">
            <a:avLst/>
          </a:prstGeom>
          <a:noFill/>
          <a:ln w="19050">
            <a:solidFill>
              <a:srgbClr val="494985"/>
            </a:solidFill>
            <a:prstDash val="solid"/>
          </a:ln>
        </p:spPr>
      </p:sp>
      <p:sp>
        <p:nvSpPr>
          <p:cNvPr id="16" name="Shape 13"/>
          <p:cNvSpPr/>
          <p:nvPr/>
        </p:nvSpPr>
        <p:spPr>
          <a:xfrm>
            <a:off x="3977640" y="1874520"/>
            <a:ext cx="1874520" cy="795528"/>
          </a:xfrm>
          <a:prstGeom prst="line">
            <a:avLst/>
          </a:prstGeom>
          <a:noFill/>
          <a:ln w="19050">
            <a:solidFill>
              <a:srgbClr val="494985"/>
            </a:solidFill>
            <a:prstDash val="solid"/>
          </a:ln>
        </p:spPr>
      </p:sp>
      <p:sp>
        <p:nvSpPr>
          <p:cNvPr id="17" name="Shape 14"/>
          <p:cNvSpPr/>
          <p:nvPr/>
        </p:nvSpPr>
        <p:spPr>
          <a:xfrm flipH="1">
            <a:off x="1234440" y="3182112"/>
            <a:ext cx="868680" cy="841248"/>
          </a:xfrm>
          <a:prstGeom prst="line">
            <a:avLst/>
          </a:prstGeom>
          <a:noFill/>
          <a:ln w="19050">
            <a:solidFill>
              <a:srgbClr val="494985"/>
            </a:solidFill>
            <a:prstDash val="solid"/>
          </a:ln>
        </p:spPr>
      </p:sp>
      <p:sp>
        <p:nvSpPr>
          <p:cNvPr id="18" name="Shape 15"/>
          <p:cNvSpPr/>
          <p:nvPr/>
        </p:nvSpPr>
        <p:spPr>
          <a:xfrm>
            <a:off x="2103120" y="3182112"/>
            <a:ext cx="868680" cy="841248"/>
          </a:xfrm>
          <a:prstGeom prst="line">
            <a:avLst/>
          </a:prstGeom>
          <a:noFill/>
          <a:ln w="19050">
            <a:solidFill>
              <a:srgbClr val="494985"/>
            </a:solidFill>
            <a:prstDash val="solid"/>
          </a:ln>
        </p:spPr>
      </p:sp>
      <p:sp>
        <p:nvSpPr>
          <p:cNvPr id="19" name="Shape 16"/>
          <p:cNvSpPr/>
          <p:nvPr/>
        </p:nvSpPr>
        <p:spPr>
          <a:xfrm flipH="1">
            <a:off x="4526280" y="3182112"/>
            <a:ext cx="1325880" cy="841248"/>
          </a:xfrm>
          <a:prstGeom prst="line">
            <a:avLst/>
          </a:prstGeom>
          <a:noFill/>
          <a:ln w="19050">
            <a:solidFill>
              <a:srgbClr val="494985"/>
            </a:solidFill>
            <a:prstDash val="solid"/>
          </a:ln>
        </p:spPr>
      </p:sp>
      <p:sp>
        <p:nvSpPr>
          <p:cNvPr id="20" name="Shape 17"/>
          <p:cNvSpPr/>
          <p:nvPr/>
        </p:nvSpPr>
        <p:spPr>
          <a:xfrm>
            <a:off x="5852160" y="3182112"/>
            <a:ext cx="45720" cy="841248"/>
          </a:xfrm>
          <a:prstGeom prst="line">
            <a:avLst/>
          </a:prstGeom>
          <a:noFill/>
          <a:ln w="19050">
            <a:solidFill>
              <a:srgbClr val="494985"/>
            </a:solidFill>
            <a:prstDash val="solid"/>
          </a:ln>
        </p:spPr>
      </p:sp>
      <p:sp>
        <p:nvSpPr>
          <p:cNvPr id="21" name="Shape 18"/>
          <p:cNvSpPr/>
          <p:nvPr/>
        </p:nvSpPr>
        <p:spPr>
          <a:xfrm>
            <a:off x="5852160" y="3182112"/>
            <a:ext cx="1417320" cy="841248"/>
          </a:xfrm>
          <a:prstGeom prst="line">
            <a:avLst/>
          </a:prstGeom>
          <a:noFill/>
          <a:ln w="19050">
            <a:solidFill>
              <a:srgbClr val="494985"/>
            </a:solidFill>
            <a:prstDash val="solid"/>
          </a:ln>
        </p:spPr>
      </p:sp>
      <p:sp>
        <p:nvSpPr>
          <p:cNvPr id="22" name="Text 19"/>
          <p:cNvSpPr txBox="1"/>
          <p:nvPr/>
        </p:nvSpPr>
        <p:spPr>
          <a:xfrm>
            <a:off x="777240" y="4709160"/>
            <a:ext cx="2743200" cy="274320"/>
          </a:xfrm>
          <a:prstGeom prst="rect">
            <a:avLst/>
          </a:prstGeom>
          <a:noFill/>
          <a:ln/>
        </p:spPr>
        <p:txBody>
          <a:bodyPr wrap="square" lIns="0" tIns="0" rIns="0" bIns="0" rtlCol="0" anchor="ctr"/>
          <a:lstStyle/>
          <a:p>
            <a:pPr algn="ctr" indent="0" marL="0">
              <a:buNone/>
            </a:pPr>
            <a:r>
              <a:rPr lang="en-US" sz="1200" i="1" dirty="0">
                <a:solidFill>
                  <a:srgbClr val="B3261E"/>
                </a:solidFill>
                <a:latin typeface="Quicksand" pitchFamily="34" charset="0"/>
                <a:ea typeface="Quicksand" pitchFamily="34" charset="-122"/>
                <a:cs typeface="Quicksand" pitchFamily="34" charset="-120"/>
              </a:rPr>
              <a:t>read and write, volatile</a:t>
            </a:r>
            <a:endParaRPr lang="en-US" sz="1200" dirty="0"/>
          </a:p>
        </p:txBody>
      </p:sp>
      <p:sp>
        <p:nvSpPr>
          <p:cNvPr id="23" name="Text 20"/>
          <p:cNvSpPr txBox="1"/>
          <p:nvPr/>
        </p:nvSpPr>
        <p:spPr>
          <a:xfrm>
            <a:off x="3886200" y="4709160"/>
            <a:ext cx="4023360" cy="274320"/>
          </a:xfrm>
          <a:prstGeom prst="rect">
            <a:avLst/>
          </a:prstGeom>
          <a:noFill/>
          <a:ln/>
        </p:spPr>
        <p:txBody>
          <a:bodyPr wrap="square" lIns="0" tIns="0" rIns="0" bIns="0" rtlCol="0" anchor="ctr"/>
          <a:lstStyle/>
          <a:p>
            <a:pPr algn="ctr" indent="0" marL="0">
              <a:buNone/>
            </a:pPr>
            <a:r>
              <a:rPr lang="en-US" sz="1200" i="1" dirty="0">
                <a:solidFill>
                  <a:srgbClr val="B3261E"/>
                </a:solidFill>
                <a:latin typeface="Quicksand" pitchFamily="34" charset="0"/>
                <a:ea typeface="Quicksand" pitchFamily="34" charset="-122"/>
                <a:cs typeface="Quicksand" pitchFamily="34" charset="-120"/>
              </a:rPr>
              <a:t>read only in normal use, non-volatile</a:t>
            </a:r>
            <a:endParaRPr lang="en-US" sz="1200" dirty="0"/>
          </a:p>
        </p:txBody>
      </p:sp>
      <p:sp>
        <p:nvSpPr>
          <p:cNvPr id="24" name="Text 21"/>
          <p:cNvSpPr txBox="1"/>
          <p:nvPr/>
        </p:nvSpPr>
        <p:spPr>
          <a:xfrm>
            <a:off x="6629400" y="4983480"/>
            <a:ext cx="128016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incl. flash</a:t>
            </a:r>
            <a:endParaRPr lang="en-US" sz="1100" dirty="0"/>
          </a:p>
        </p:txBody>
      </p:sp>
      <p:sp>
        <p:nvSpPr>
          <p:cNvPr id="25" name="Shape 22"/>
          <p:cNvSpPr/>
          <p:nvPr/>
        </p:nvSpPr>
        <p:spPr>
          <a:xfrm>
            <a:off x="8467344" y="1654248"/>
            <a:ext cx="3090672" cy="98918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6" name="Image 0" descr="figs/dimmslots.jpg">    </p:cNvPr>
          <p:cNvPicPr>
            <a:picLocks noChangeAspect="1"/>
          </p:cNvPicPr>
          <p:nvPr/>
        </p:nvPicPr>
        <p:blipFill>
          <a:blip r:embed="rId1"/>
          <a:stretch>
            <a:fillRect/>
          </a:stretch>
        </p:blipFill>
        <p:spPr>
          <a:xfrm>
            <a:off x="8503920" y="1690824"/>
            <a:ext cx="3017520" cy="916033"/>
          </a:xfrm>
          <a:prstGeom prst="rect">
            <a:avLst/>
          </a:prstGeom>
        </p:spPr>
      </p:pic>
      <p:sp>
        <p:nvSpPr>
          <p:cNvPr id="27" name="Text 23"/>
          <p:cNvSpPr txBox="1"/>
          <p:nvPr/>
        </p:nvSpPr>
        <p:spPr>
          <a:xfrm>
            <a:off x="8321040" y="2670864"/>
            <a:ext cx="338328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RAM slots on a motherboard</a:t>
            </a:r>
            <a:endParaRPr lang="en-US" sz="1100" dirty="0"/>
          </a:p>
        </p:txBody>
      </p:sp>
      <p:sp>
        <p:nvSpPr>
          <p:cNvPr id="28" name="Shape 24"/>
          <p:cNvSpPr/>
          <p:nvPr/>
        </p:nvSpPr>
        <p:spPr>
          <a:xfrm>
            <a:off x="8467344" y="3648599"/>
            <a:ext cx="3090672" cy="157248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9" name="Image 1" descr="figs/bios.jpg">    </p:cNvPr>
          <p:cNvPicPr>
            <a:picLocks noChangeAspect="1"/>
          </p:cNvPicPr>
          <p:nvPr/>
        </p:nvPicPr>
        <p:blipFill>
          <a:blip r:embed="rId2"/>
          <a:stretch>
            <a:fillRect/>
          </a:stretch>
        </p:blipFill>
        <p:spPr>
          <a:xfrm>
            <a:off x="8503920" y="3685175"/>
            <a:ext cx="3017520" cy="1499330"/>
          </a:xfrm>
          <a:prstGeom prst="rect">
            <a:avLst/>
          </a:prstGeom>
        </p:spPr>
      </p:pic>
      <p:sp>
        <p:nvSpPr>
          <p:cNvPr id="30" name="Text 25"/>
          <p:cNvSpPr txBox="1"/>
          <p:nvPr/>
        </p:nvSpPr>
        <p:spPr>
          <a:xfrm>
            <a:off x="8321040" y="5248513"/>
            <a:ext cx="338328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ROM chip holding the BIOS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Random access memory (RAM)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1304132" y="1243584"/>
            <a:ext cx="2603816" cy="22677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pdf_dram.jpg">    </p:cNvPr>
          <p:cNvPicPr>
            <a:picLocks noChangeAspect="1"/>
          </p:cNvPicPr>
          <p:nvPr/>
        </p:nvPicPr>
        <p:blipFill>
          <a:blip r:embed="rId1"/>
          <a:stretch>
            <a:fillRect/>
          </a:stretch>
        </p:blipFill>
        <p:spPr>
          <a:xfrm>
            <a:off x="1340708" y="1280160"/>
            <a:ext cx="2530664" cy="2194560"/>
          </a:xfrm>
          <a:prstGeom prst="rect">
            <a:avLst/>
          </a:prstGeom>
        </p:spPr>
      </p:pic>
      <p:sp>
        <p:nvSpPr>
          <p:cNvPr id="9" name="Text 5"/>
          <p:cNvSpPr txBox="1"/>
          <p:nvPr/>
        </p:nvSpPr>
        <p:spPr>
          <a:xfrm>
            <a:off x="594360" y="3538728"/>
            <a:ext cx="4023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RAM modules (DRAM)</a:t>
            </a:r>
            <a:endParaRPr lang="en-US" sz="1200" dirty="0"/>
          </a:p>
        </p:txBody>
      </p:sp>
      <p:sp>
        <p:nvSpPr>
          <p:cNvPr id="10" name="Shape 6"/>
          <p:cNvSpPr/>
          <p:nvPr/>
        </p:nvSpPr>
        <p:spPr>
          <a:xfrm>
            <a:off x="740664" y="4172258"/>
            <a:ext cx="3730752" cy="1531004"/>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motherboard.jpg">    </p:cNvPr>
          <p:cNvPicPr>
            <a:picLocks noChangeAspect="1"/>
          </p:cNvPicPr>
          <p:nvPr/>
        </p:nvPicPr>
        <p:blipFill>
          <a:blip r:embed="rId2"/>
          <a:stretch>
            <a:fillRect/>
          </a:stretch>
        </p:blipFill>
        <p:spPr>
          <a:xfrm>
            <a:off x="777240" y="4208834"/>
            <a:ext cx="3657600" cy="1457852"/>
          </a:xfrm>
          <a:prstGeom prst="rect">
            <a:avLst/>
          </a:prstGeom>
        </p:spPr>
      </p:pic>
      <p:sp>
        <p:nvSpPr>
          <p:cNvPr id="12" name="Text 7"/>
          <p:cNvSpPr txBox="1"/>
          <p:nvPr/>
        </p:nvSpPr>
        <p:spPr>
          <a:xfrm>
            <a:off x="594360" y="5730694"/>
            <a:ext cx="4023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RAM slots beside the processor socket</a:t>
            </a:r>
            <a:endParaRPr lang="en-US" sz="1200" dirty="0"/>
          </a:p>
        </p:txBody>
      </p:sp>
      <p:sp>
        <p:nvSpPr>
          <p:cNvPr id="13" name="Shape 8"/>
          <p:cNvSpPr/>
          <p:nvPr/>
        </p:nvSpPr>
        <p:spPr>
          <a:xfrm>
            <a:off x="4754880" y="1280160"/>
            <a:ext cx="6766560" cy="2606040"/>
          </a:xfrm>
          <a:prstGeom prst="rect">
            <a:avLst/>
          </a:prstGeom>
          <a:solidFill>
            <a:srgbClr val="F6F5FC"/>
          </a:solidFill>
          <a:ln w="12700">
            <a:solidFill>
              <a:srgbClr val="F6F5FC"/>
            </a:solidFill>
            <a:prstDash val="solid"/>
          </a:ln>
        </p:spPr>
      </p:sp>
      <p:sp>
        <p:nvSpPr>
          <p:cNvPr id="14" name="Shape 9"/>
          <p:cNvSpPr/>
          <p:nvPr/>
        </p:nvSpPr>
        <p:spPr>
          <a:xfrm>
            <a:off x="4754880" y="1280160"/>
            <a:ext cx="73152" cy="2606040"/>
          </a:xfrm>
          <a:prstGeom prst="rect">
            <a:avLst/>
          </a:prstGeom>
          <a:solidFill>
            <a:srgbClr val="494985"/>
          </a:solidFill>
          <a:ln w="12700">
            <a:solidFill>
              <a:srgbClr val="494985"/>
            </a:solidFill>
            <a:prstDash val="solid"/>
          </a:ln>
        </p:spPr>
      </p:sp>
      <p:sp>
        <p:nvSpPr>
          <p:cNvPr id="15" name="Text 10"/>
          <p:cNvSpPr txBox="1"/>
          <p:nvPr/>
        </p:nvSpPr>
        <p:spPr>
          <a:xfrm>
            <a:off x="4983480" y="1371600"/>
            <a:ext cx="640080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RAM</a:t>
            </a:r>
            <a:endParaRPr lang="en-US" sz="1500" dirty="0"/>
          </a:p>
        </p:txBody>
      </p:sp>
      <p:sp>
        <p:nvSpPr>
          <p:cNvPr id="16" name="Text 11"/>
          <p:cNvSpPr txBox="1"/>
          <p:nvPr/>
        </p:nvSpPr>
        <p:spPr>
          <a:xfrm>
            <a:off x="4983480" y="1783080"/>
            <a:ext cx="6400800" cy="201168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Can be read from and written to</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Holds the data, files, programs and parts of the OS in use now</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Volatile: contents are lost when the power is off</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Any location can be accessed directly (random access)</a:t>
            </a:r>
            <a:endParaRPr lang="en-US" sz="1400" dirty="0"/>
          </a:p>
        </p:txBody>
      </p:sp>
      <p:sp>
        <p:nvSpPr>
          <p:cNvPr id="17" name="Shape 12"/>
          <p:cNvSpPr/>
          <p:nvPr/>
        </p:nvSpPr>
        <p:spPr>
          <a:xfrm>
            <a:off x="4754880" y="4069080"/>
            <a:ext cx="6766560" cy="1920240"/>
          </a:xfrm>
          <a:prstGeom prst="rect">
            <a:avLst/>
          </a:prstGeom>
          <a:solidFill>
            <a:srgbClr val="F6F5FC"/>
          </a:solidFill>
          <a:ln w="12700">
            <a:solidFill>
              <a:srgbClr val="F6F5FC"/>
            </a:solidFill>
            <a:prstDash val="solid"/>
          </a:ln>
        </p:spPr>
      </p:sp>
      <p:sp>
        <p:nvSpPr>
          <p:cNvPr id="18" name="Shape 13"/>
          <p:cNvSpPr/>
          <p:nvPr/>
        </p:nvSpPr>
        <p:spPr>
          <a:xfrm>
            <a:off x="4754880" y="4069080"/>
            <a:ext cx="73152" cy="1920240"/>
          </a:xfrm>
          <a:prstGeom prst="rect">
            <a:avLst/>
          </a:prstGeom>
          <a:solidFill>
            <a:srgbClr val="2E7D5B"/>
          </a:solidFill>
          <a:ln w="12700">
            <a:solidFill>
              <a:srgbClr val="2E7D5B"/>
            </a:solidFill>
            <a:prstDash val="solid"/>
          </a:ln>
        </p:spPr>
      </p:sp>
      <p:sp>
        <p:nvSpPr>
          <p:cNvPr id="19" name="Text 14"/>
          <p:cNvSpPr txBox="1"/>
          <p:nvPr/>
        </p:nvSpPr>
        <p:spPr>
          <a:xfrm>
            <a:off x="4983480" y="4160520"/>
            <a:ext cx="640080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Why does more RAM make a computer faster?</a:t>
            </a:r>
            <a:endParaRPr lang="en-US" sz="1500" dirty="0"/>
          </a:p>
        </p:txBody>
      </p:sp>
      <p:sp>
        <p:nvSpPr>
          <p:cNvPr id="20" name="Text 15"/>
          <p:cNvSpPr txBox="1"/>
          <p:nvPr/>
        </p:nvSpPr>
        <p:spPr>
          <a:xfrm>
            <a:off x="4983480" y="4572000"/>
            <a:ext cx="6400800" cy="1325880"/>
          </a:xfrm>
          <a:prstGeom prst="rect">
            <a:avLst/>
          </a:prstGeom>
          <a:noFill/>
          <a:ln/>
        </p:spPr>
        <p:txBody>
          <a:bodyPr wrap="square" lIns="0" tIns="0" rIns="0" bIns="0" rtlCol="0" anchor="t"/>
          <a:lstStyle/>
          <a:p>
            <a:pPr indent="0" marL="0">
              <a:spcAft>
                <a:spcPts val="600"/>
              </a:spcAft>
              <a:buNone/>
            </a:pPr>
            <a:r>
              <a:rPr lang="en-US" sz="1400" dirty="0">
                <a:solidFill>
                  <a:srgbClr val="202124"/>
                </a:solidFill>
                <a:latin typeface="Quicksand" pitchFamily="34" charset="0"/>
                <a:ea typeface="Quicksand" pitchFamily="34" charset="-122"/>
                <a:cs typeface="Quicksand" pitchFamily="34" charset="-120"/>
              </a:rPr>
              <a:t>When RAM is full, data is swapped out to slow secondary storage and read back later. More RAM means less swapping.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Read-only memory (ROM)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6949440" cy="914400"/>
        </p:xfrm>
        <a:graphic>
          <a:graphicData uri="http://schemas.openxmlformats.org/drawingml/2006/table">
            <a:tbl>
              <a:tblPr/>
              <a:tblGrid>
                <a:gridCol w="3474720"/>
                <a:gridCol w="347472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RAM</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ROM</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Temporary memory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Permanent memory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Volatile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Non-volatile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Can be read from and written to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Can only be read in normal use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Holds data and programs in use now</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Holds the BIOS / start-up instructions, firmware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Adding more can improve performance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Size is fixed by the manufacturer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010144" y="1386173"/>
            <a:ext cx="3547872" cy="1799654"/>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bios.jpg">    </p:cNvPr>
          <p:cNvPicPr>
            <a:picLocks noChangeAspect="1"/>
          </p:cNvPicPr>
          <p:nvPr/>
        </p:nvPicPr>
        <p:blipFill>
          <a:blip r:embed="rId1"/>
          <a:stretch>
            <a:fillRect/>
          </a:stretch>
        </p:blipFill>
        <p:spPr>
          <a:xfrm>
            <a:off x="8046720" y="1422749"/>
            <a:ext cx="3474720" cy="1726502"/>
          </a:xfrm>
          <a:prstGeom prst="rect">
            <a:avLst/>
          </a:prstGeom>
        </p:spPr>
      </p:pic>
      <p:sp>
        <p:nvSpPr>
          <p:cNvPr id="10" name="Text 5"/>
          <p:cNvSpPr txBox="1"/>
          <p:nvPr/>
        </p:nvSpPr>
        <p:spPr>
          <a:xfrm>
            <a:off x="7863840" y="3213259"/>
            <a:ext cx="384048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BIOS ROM chip on a motherboard</a:t>
            </a:r>
            <a:endParaRPr lang="en-US" sz="1200" dirty="0"/>
          </a:p>
        </p:txBody>
      </p:sp>
      <p:sp>
        <p:nvSpPr>
          <p:cNvPr id="11" name="Shape 6"/>
          <p:cNvSpPr/>
          <p:nvPr/>
        </p:nvSpPr>
        <p:spPr>
          <a:xfrm>
            <a:off x="8046720" y="3794760"/>
            <a:ext cx="3474720" cy="2194560"/>
          </a:xfrm>
          <a:prstGeom prst="rect">
            <a:avLst/>
          </a:prstGeom>
          <a:solidFill>
            <a:srgbClr val="F6F5FC"/>
          </a:solidFill>
          <a:ln w="12700">
            <a:solidFill>
              <a:srgbClr val="F6F5FC"/>
            </a:solidFill>
            <a:prstDash val="solid"/>
          </a:ln>
        </p:spPr>
      </p:sp>
      <p:sp>
        <p:nvSpPr>
          <p:cNvPr id="12" name="Shape 7"/>
          <p:cNvSpPr/>
          <p:nvPr/>
        </p:nvSpPr>
        <p:spPr>
          <a:xfrm>
            <a:off x="8046720" y="3794760"/>
            <a:ext cx="73152" cy="2194560"/>
          </a:xfrm>
          <a:prstGeom prst="rect">
            <a:avLst/>
          </a:prstGeom>
          <a:solidFill>
            <a:srgbClr val="494985"/>
          </a:solidFill>
          <a:ln w="12700">
            <a:solidFill>
              <a:srgbClr val="494985"/>
            </a:solidFill>
            <a:prstDash val="solid"/>
          </a:ln>
        </p:spPr>
      </p:sp>
      <p:sp>
        <p:nvSpPr>
          <p:cNvPr id="13" name="Text 8"/>
          <p:cNvSpPr txBox="1"/>
          <p:nvPr/>
        </p:nvSpPr>
        <p:spPr>
          <a:xfrm>
            <a:off x="8275320" y="3886200"/>
            <a:ext cx="310896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Bootstrap</a:t>
            </a:r>
            <a:endParaRPr lang="en-US" sz="1500" dirty="0"/>
          </a:p>
        </p:txBody>
      </p:sp>
      <p:sp>
        <p:nvSpPr>
          <p:cNvPr id="14" name="Text 9"/>
          <p:cNvSpPr txBox="1"/>
          <p:nvPr/>
        </p:nvSpPr>
        <p:spPr>
          <a:xfrm>
            <a:off x="8275320" y="4297680"/>
            <a:ext cx="3108960" cy="160020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At power-on, RAM is empty. The start-up instructions in ROM load the operating system from secondary storage into RAM.</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Dynamic RAM and static RAM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1170267" y="1197864"/>
            <a:ext cx="1865706" cy="16276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pdf_dram.jpg">    </p:cNvPr>
          <p:cNvPicPr>
            <a:picLocks noChangeAspect="1"/>
          </p:cNvPicPr>
          <p:nvPr/>
        </p:nvPicPr>
        <p:blipFill>
          <a:blip r:embed="rId1"/>
          <a:stretch>
            <a:fillRect/>
          </a:stretch>
        </p:blipFill>
        <p:spPr>
          <a:xfrm>
            <a:off x="1206843" y="1234440"/>
            <a:ext cx="1792554" cy="1554480"/>
          </a:xfrm>
          <a:prstGeom prst="rect">
            <a:avLst/>
          </a:prstGeom>
        </p:spPr>
      </p:pic>
      <p:sp>
        <p:nvSpPr>
          <p:cNvPr id="9" name="Text 5"/>
          <p:cNvSpPr txBox="1"/>
          <p:nvPr/>
        </p:nvSpPr>
        <p:spPr>
          <a:xfrm>
            <a:off x="594360" y="2852928"/>
            <a:ext cx="301752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DRAM modules</a:t>
            </a:r>
            <a:endParaRPr lang="en-US" sz="1100" dirty="0"/>
          </a:p>
        </p:txBody>
      </p:sp>
      <p:sp>
        <p:nvSpPr>
          <p:cNvPr id="10" name="Shape 6"/>
          <p:cNvSpPr/>
          <p:nvPr/>
        </p:nvSpPr>
        <p:spPr>
          <a:xfrm>
            <a:off x="778809" y="3255264"/>
            <a:ext cx="2648622" cy="16276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sramchip.jpg">    </p:cNvPr>
          <p:cNvPicPr>
            <a:picLocks noChangeAspect="1"/>
          </p:cNvPicPr>
          <p:nvPr/>
        </p:nvPicPr>
        <p:blipFill>
          <a:blip r:embed="rId2"/>
          <a:stretch>
            <a:fillRect/>
          </a:stretch>
        </p:blipFill>
        <p:spPr>
          <a:xfrm>
            <a:off x="815385" y="3291840"/>
            <a:ext cx="2575470" cy="1554480"/>
          </a:xfrm>
          <a:prstGeom prst="rect">
            <a:avLst/>
          </a:prstGeom>
        </p:spPr>
      </p:pic>
      <p:sp>
        <p:nvSpPr>
          <p:cNvPr id="12" name="Text 7"/>
          <p:cNvSpPr txBox="1"/>
          <p:nvPr/>
        </p:nvSpPr>
        <p:spPr>
          <a:xfrm>
            <a:off x="594360" y="4910328"/>
            <a:ext cx="301752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An SRAM chip</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749040" y="1234440"/>
          <a:ext cx="7772400" cy="914400"/>
        </p:xfrm>
        <a:graphic>
          <a:graphicData uri="http://schemas.openxmlformats.org/drawingml/2006/table">
            <a:tbl>
              <a:tblPr/>
              <a:tblGrid>
                <a:gridCol w="2011680"/>
                <a:gridCol w="2880360"/>
                <a:gridCol w="2880360"/>
              </a:tblGrid>
              <a:tr h="548640">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DRAM (dynamic)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SRAM (static)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Stores each bit with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capacitor and a transistor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flip-flop (several transistors)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Refreshing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Needed constantly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Not needed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Access speed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Slower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Faster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Cost and capacity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Cheaper; more data per chip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More expensive; less per chip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Used for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Main memory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Cache memory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4" name="Text 8"/>
          <p:cNvSpPr txBox="1"/>
          <p:nvPr/>
        </p:nvSpPr>
        <p:spPr>
          <a:xfrm>
            <a:off x="777240" y="5349240"/>
            <a:ext cx="10744200" cy="45720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Dynamic = must be refreshed.  Static = keeps its value while powered.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Where are DRAM and SRAM used?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Text 4"/>
          <p:cNvSpPr/>
          <p:nvPr/>
        </p:nvSpPr>
        <p:spPr>
          <a:xfrm>
            <a:off x="2697480" y="1280160"/>
            <a:ext cx="2560320" cy="914400"/>
          </a:xfrm>
          <a:prstGeom prst="rect">
            <a:avLst/>
          </a:prstGeom>
          <a:solidFill>
            <a:srgbClr val="FFD84D"/>
          </a:solidFill>
          <a:ln w="12700">
            <a:solidFill>
              <a:srgbClr val="494985"/>
            </a:solidFill>
          </a:ln>
        </p:spPr>
        <p:txBody>
          <a:bodyPr wrap="square" lIns="25400" tIns="25400" rIns="25400" bIns="2540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Registers</a:t>
            </a:r>
            <a:endParaRPr lang="en-US" sz="1500" dirty="0"/>
          </a:p>
          <a:p>
            <a:pPr algn="ctr" indent="0" marL="0">
              <a:buNone/>
            </a:pPr>
            <a:r>
              <a:rPr lang="en-US" sz="1200" dirty="0">
                <a:solidFill>
                  <a:srgbClr val="666666"/>
                </a:solidFill>
                <a:latin typeface="Quicksand" pitchFamily="34" charset="0"/>
                <a:ea typeface="Quicksand" pitchFamily="34" charset="-122"/>
                <a:cs typeface="Quicksand" pitchFamily="34" charset="-120"/>
              </a:rPr>
              <a:t>inside the CPU</a:t>
            </a:r>
            <a:endParaRPr lang="en-US" sz="1500" dirty="0"/>
          </a:p>
        </p:txBody>
      </p:sp>
      <p:sp>
        <p:nvSpPr>
          <p:cNvPr id="8" name="Text 5"/>
          <p:cNvSpPr/>
          <p:nvPr/>
        </p:nvSpPr>
        <p:spPr>
          <a:xfrm>
            <a:off x="2103120" y="2331720"/>
            <a:ext cx="3749040" cy="914400"/>
          </a:xfrm>
          <a:prstGeom prst="rect">
            <a:avLst/>
          </a:prstGeom>
          <a:solidFill>
            <a:srgbClr val="FFE68A"/>
          </a:solidFill>
          <a:ln w="12700">
            <a:solidFill>
              <a:srgbClr val="494985"/>
            </a:solidFill>
          </a:ln>
        </p:spPr>
        <p:txBody>
          <a:bodyPr wrap="square" lIns="25400" tIns="25400" rIns="25400" bIns="2540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Cache  (SRAM)</a:t>
            </a:r>
            <a:endParaRPr lang="en-US" sz="1500" dirty="0"/>
          </a:p>
          <a:p>
            <a:pPr algn="ctr" indent="0" marL="0">
              <a:buNone/>
            </a:pPr>
            <a:r>
              <a:rPr lang="en-US" sz="1200" dirty="0">
                <a:solidFill>
                  <a:srgbClr val="666666"/>
                </a:solidFill>
                <a:latin typeface="Quicksand" pitchFamily="34" charset="0"/>
                <a:ea typeface="Quicksand" pitchFamily="34" charset="-122"/>
                <a:cs typeface="Quicksand" pitchFamily="34" charset="-120"/>
              </a:rPr>
              <a:t>in or next to the CPU</a:t>
            </a:r>
            <a:endParaRPr lang="en-US" sz="1500" dirty="0"/>
          </a:p>
        </p:txBody>
      </p:sp>
      <p:sp>
        <p:nvSpPr>
          <p:cNvPr id="9" name="Text 6"/>
          <p:cNvSpPr/>
          <p:nvPr/>
        </p:nvSpPr>
        <p:spPr>
          <a:xfrm>
            <a:off x="1508760" y="3383280"/>
            <a:ext cx="4937760" cy="914400"/>
          </a:xfrm>
          <a:prstGeom prst="rect">
            <a:avLst/>
          </a:prstGeom>
          <a:solidFill>
            <a:srgbClr val="E9E8F5"/>
          </a:solidFill>
          <a:ln w="12700">
            <a:solidFill>
              <a:srgbClr val="494985"/>
            </a:solidFill>
          </a:ln>
        </p:spPr>
        <p:txBody>
          <a:bodyPr wrap="square" lIns="25400" tIns="25400" rIns="25400" bIns="2540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Main memory  (DRAM)</a:t>
            </a:r>
            <a:endParaRPr lang="en-US" sz="1500" dirty="0"/>
          </a:p>
          <a:p>
            <a:pPr algn="ctr" indent="0" marL="0">
              <a:buNone/>
            </a:pPr>
            <a:r>
              <a:rPr lang="en-US" sz="1200" dirty="0">
                <a:solidFill>
                  <a:srgbClr val="666666"/>
                </a:solidFill>
                <a:latin typeface="Quicksand" pitchFamily="34" charset="0"/>
                <a:ea typeface="Quicksand" pitchFamily="34" charset="-122"/>
                <a:cs typeface="Quicksand" pitchFamily="34" charset="-120"/>
              </a:rPr>
              <a:t>RAM modules</a:t>
            </a:r>
            <a:endParaRPr lang="en-US" sz="1500" dirty="0"/>
          </a:p>
        </p:txBody>
      </p:sp>
      <p:sp>
        <p:nvSpPr>
          <p:cNvPr id="10" name="Text 7"/>
          <p:cNvSpPr/>
          <p:nvPr/>
        </p:nvSpPr>
        <p:spPr>
          <a:xfrm>
            <a:off x="914400" y="4434840"/>
            <a:ext cx="6126480" cy="914400"/>
          </a:xfrm>
          <a:prstGeom prst="rect">
            <a:avLst/>
          </a:prstGeom>
          <a:solidFill>
            <a:srgbClr val="F6F5FC"/>
          </a:solidFill>
          <a:ln w="12700">
            <a:solidFill>
              <a:srgbClr val="494985"/>
            </a:solidFill>
          </a:ln>
        </p:spPr>
        <p:txBody>
          <a:bodyPr wrap="square" lIns="25400" tIns="25400" rIns="25400" bIns="2540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Secondary storage</a:t>
            </a:r>
            <a:endParaRPr lang="en-US" sz="1500" dirty="0"/>
          </a:p>
          <a:p>
            <a:pPr algn="ctr" indent="0" marL="0">
              <a:buNone/>
            </a:pPr>
            <a:r>
              <a:rPr lang="en-US" sz="1200" dirty="0">
                <a:solidFill>
                  <a:srgbClr val="666666"/>
                </a:solidFill>
                <a:latin typeface="Quicksand" pitchFamily="34" charset="0"/>
                <a:ea typeface="Quicksand" pitchFamily="34" charset="-122"/>
                <a:cs typeface="Quicksand" pitchFamily="34" charset="-120"/>
              </a:rPr>
              <a:t>HDD, SSD, flash, optical</a:t>
            </a:r>
            <a:endParaRPr lang="en-US" sz="1500" dirty="0"/>
          </a:p>
        </p:txBody>
      </p:sp>
      <p:sp>
        <p:nvSpPr>
          <p:cNvPr id="11" name="Shape 8"/>
          <p:cNvSpPr/>
          <p:nvPr/>
        </p:nvSpPr>
        <p:spPr>
          <a:xfrm flipV="1">
            <a:off x="7360920" y="1371600"/>
            <a:ext cx="914" cy="4023360"/>
          </a:xfrm>
          <a:prstGeom prst="line">
            <a:avLst/>
          </a:prstGeom>
          <a:noFill/>
          <a:ln w="25400">
            <a:solidFill>
              <a:srgbClr val="B3261E"/>
            </a:solidFill>
            <a:prstDash val="solid"/>
            <a:tailEnd type="triangle"/>
          </a:ln>
        </p:spPr>
      </p:sp>
      <p:sp>
        <p:nvSpPr>
          <p:cNvPr id="12" name="Text 9"/>
          <p:cNvSpPr txBox="1"/>
          <p:nvPr/>
        </p:nvSpPr>
        <p:spPr>
          <a:xfrm>
            <a:off x="7498080" y="1280160"/>
            <a:ext cx="1097280" cy="274320"/>
          </a:xfrm>
          <a:prstGeom prst="rect">
            <a:avLst/>
          </a:prstGeom>
          <a:noFill/>
          <a:ln/>
        </p:spPr>
        <p:txBody>
          <a:bodyPr wrap="square" lIns="0" tIns="0" rIns="0" bIns="0" rtlCol="0" anchor="ctr"/>
          <a:lstStyle/>
          <a:p>
            <a:pPr algn="l" indent="0" marL="0">
              <a:buNone/>
            </a:pPr>
            <a:r>
              <a:rPr lang="en-US" sz="1300" i="1" dirty="0">
                <a:solidFill>
                  <a:srgbClr val="B3261E"/>
                </a:solidFill>
                <a:latin typeface="Quicksand" pitchFamily="34" charset="0"/>
                <a:ea typeface="Quicksand" pitchFamily="34" charset="-122"/>
                <a:cs typeface="Quicksand" pitchFamily="34" charset="-120"/>
              </a:rPr>
              <a:t>faster</a:t>
            </a:r>
            <a:endParaRPr lang="en-US" sz="1300" dirty="0"/>
          </a:p>
        </p:txBody>
      </p:sp>
      <p:sp>
        <p:nvSpPr>
          <p:cNvPr id="13" name="Text 10"/>
          <p:cNvSpPr txBox="1"/>
          <p:nvPr/>
        </p:nvSpPr>
        <p:spPr>
          <a:xfrm>
            <a:off x="7498080" y="4846320"/>
            <a:ext cx="1188720" cy="548640"/>
          </a:xfrm>
          <a:prstGeom prst="rect">
            <a:avLst/>
          </a:prstGeom>
          <a:noFill/>
          <a:ln/>
        </p:spPr>
        <p:txBody>
          <a:bodyPr wrap="square" lIns="0" tIns="0" rIns="0" bIns="0" rtlCol="0" anchor="ctr"/>
          <a:lstStyle/>
          <a:p>
            <a:pPr algn="l" indent="0" marL="0">
              <a:buNone/>
            </a:pPr>
            <a:r>
              <a:rPr lang="en-US" sz="1300" i="1" dirty="0">
                <a:solidFill>
                  <a:srgbClr val="B3261E"/>
                </a:solidFill>
                <a:latin typeface="Quicksand" pitchFamily="34" charset="0"/>
                <a:ea typeface="Quicksand" pitchFamily="34" charset="-122"/>
                <a:cs typeface="Quicksand" pitchFamily="34" charset="-120"/>
              </a:rPr>
              <a:t>bigger, cheaper per bit</a:t>
            </a:r>
            <a:endParaRPr lang="en-US" sz="1300" dirty="0"/>
          </a:p>
        </p:txBody>
      </p:sp>
      <p:sp>
        <p:nvSpPr>
          <p:cNvPr id="14" name="Shape 11"/>
          <p:cNvSpPr/>
          <p:nvPr/>
        </p:nvSpPr>
        <p:spPr>
          <a:xfrm>
            <a:off x="9132618" y="1243584"/>
            <a:ext cx="2034443" cy="21762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5" name="Image 0" descr="figs/cpu.jpg">    </p:cNvPr>
          <p:cNvPicPr>
            <a:picLocks noChangeAspect="1"/>
          </p:cNvPicPr>
          <p:nvPr/>
        </p:nvPicPr>
        <p:blipFill>
          <a:blip r:embed="rId1"/>
          <a:stretch>
            <a:fillRect/>
          </a:stretch>
        </p:blipFill>
        <p:spPr>
          <a:xfrm>
            <a:off x="9169194" y="1280160"/>
            <a:ext cx="1961291" cy="2103120"/>
          </a:xfrm>
          <a:prstGeom prst="rect">
            <a:avLst/>
          </a:prstGeom>
        </p:spPr>
      </p:pic>
      <p:sp>
        <p:nvSpPr>
          <p:cNvPr id="16" name="Text 12"/>
          <p:cNvSpPr txBox="1"/>
          <p:nvPr/>
        </p:nvSpPr>
        <p:spPr>
          <a:xfrm>
            <a:off x="8595360" y="3447288"/>
            <a:ext cx="310896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Processor with SRAM cache</a:t>
            </a:r>
            <a:endParaRPr lang="en-US" sz="1100" dirty="0"/>
          </a:p>
        </p:txBody>
      </p:sp>
      <p:sp>
        <p:nvSpPr>
          <p:cNvPr id="17" name="Shape 13"/>
          <p:cNvSpPr/>
          <p:nvPr/>
        </p:nvSpPr>
        <p:spPr>
          <a:xfrm>
            <a:off x="8741664" y="3793810"/>
            <a:ext cx="2816352" cy="192214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8" name="Image 1" descr="figs/rammods.jpg">    </p:cNvPr>
          <p:cNvPicPr>
            <a:picLocks noChangeAspect="1"/>
          </p:cNvPicPr>
          <p:nvPr/>
        </p:nvPicPr>
        <p:blipFill>
          <a:blip r:embed="rId2"/>
          <a:stretch>
            <a:fillRect/>
          </a:stretch>
        </p:blipFill>
        <p:spPr>
          <a:xfrm>
            <a:off x="8778240" y="3830386"/>
            <a:ext cx="2743200" cy="1848988"/>
          </a:xfrm>
          <a:prstGeom prst="rect">
            <a:avLst/>
          </a:prstGeom>
        </p:spPr>
      </p:pic>
      <p:sp>
        <p:nvSpPr>
          <p:cNvPr id="19" name="Text 14"/>
          <p:cNvSpPr txBox="1"/>
          <p:nvPr/>
        </p:nvSpPr>
        <p:spPr>
          <a:xfrm>
            <a:off x="8595360" y="5743382"/>
            <a:ext cx="310896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Main memory: DRAM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PROM, EPROM and EEPROM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p:nvPr/>
        </p:nvSpPr>
        <p:spPr>
          <a:xfrm>
            <a:off x="777240" y="1234440"/>
            <a:ext cx="3429000" cy="457200"/>
          </a:xfrm>
          <a:prstGeom prst="rect">
            <a:avLst/>
          </a:prstGeom>
          <a:solidFill>
            <a:srgbClr val="494985"/>
          </a:solidFill>
          <a:ln>
            <a:solidFill>
              <a:srgbClr val="494985"/>
            </a:solidFill>
          </a:ln>
        </p:spPr>
        <p:txBody>
          <a:bodyPr wrap="square" lIns="0" tIns="0" rIns="0" bIns="0" rtlCol="0" anchor="ctr"/>
          <a:lstStyle/>
          <a:p>
            <a:pPr algn="ctr" indent="0" marL="0">
              <a:buNone/>
            </a:pPr>
            <a:r>
              <a:rPr lang="en-US" sz="1600" b="1" dirty="0">
                <a:solidFill>
                  <a:srgbClr val="FFFFFF"/>
                </a:solidFill>
                <a:latin typeface="Quicksand" pitchFamily="34" charset="0"/>
                <a:ea typeface="Quicksand" pitchFamily="34" charset="-122"/>
                <a:cs typeface="Quicksand" pitchFamily="34" charset="-120"/>
              </a:rPr>
              <a:t>PROM</a:t>
            </a:r>
            <a:endParaRPr lang="en-US" sz="1600" dirty="0"/>
          </a:p>
        </p:txBody>
      </p:sp>
      <p:sp>
        <p:nvSpPr>
          <p:cNvPr id="8" name="Text 5"/>
          <p:cNvSpPr txBox="1"/>
          <p:nvPr/>
        </p:nvSpPr>
        <p:spPr>
          <a:xfrm>
            <a:off x="868680" y="3886200"/>
            <a:ext cx="3246120" cy="21945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Programmable ROM</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Fuses are burnt by a PROM writer</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Written once only</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Cannot be erased</a:t>
            </a:r>
            <a:endParaRPr lang="en-US" sz="1300" dirty="0"/>
          </a:p>
        </p:txBody>
      </p:sp>
      <p:sp>
        <p:nvSpPr>
          <p:cNvPr id="9" name="Text 6"/>
          <p:cNvSpPr/>
          <p:nvPr/>
        </p:nvSpPr>
        <p:spPr>
          <a:xfrm>
            <a:off x="4434840" y="1234440"/>
            <a:ext cx="3429000" cy="457200"/>
          </a:xfrm>
          <a:prstGeom prst="rect">
            <a:avLst/>
          </a:prstGeom>
          <a:solidFill>
            <a:srgbClr val="494985"/>
          </a:solidFill>
          <a:ln>
            <a:solidFill>
              <a:srgbClr val="494985"/>
            </a:solidFill>
          </a:ln>
        </p:spPr>
        <p:txBody>
          <a:bodyPr wrap="square" lIns="0" tIns="0" rIns="0" bIns="0" rtlCol="0" anchor="ctr"/>
          <a:lstStyle/>
          <a:p>
            <a:pPr algn="ctr" indent="0" marL="0">
              <a:buNone/>
            </a:pPr>
            <a:r>
              <a:rPr lang="en-US" sz="1600" b="1" dirty="0">
                <a:solidFill>
                  <a:srgbClr val="FFFFFF"/>
                </a:solidFill>
                <a:latin typeface="Quicksand" pitchFamily="34" charset="0"/>
                <a:ea typeface="Quicksand" pitchFamily="34" charset="-122"/>
                <a:cs typeface="Quicksand" pitchFamily="34" charset="-120"/>
              </a:rPr>
              <a:t>EPROM</a:t>
            </a:r>
            <a:endParaRPr lang="en-US" sz="1600" dirty="0"/>
          </a:p>
        </p:txBody>
      </p:sp>
      <p:sp>
        <p:nvSpPr>
          <p:cNvPr id="10" name="Text 7"/>
          <p:cNvSpPr txBox="1"/>
          <p:nvPr/>
        </p:nvSpPr>
        <p:spPr>
          <a:xfrm>
            <a:off x="4526280" y="3886200"/>
            <a:ext cx="3246120" cy="21945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Erasable PROM</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Erased by UV light through a quartz window</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Removed from the circuit; whole chip erased</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Can be reprogrammed</a:t>
            </a:r>
            <a:endParaRPr lang="en-US" sz="1300" dirty="0"/>
          </a:p>
        </p:txBody>
      </p:sp>
      <p:sp>
        <p:nvSpPr>
          <p:cNvPr id="11" name="Text 8"/>
          <p:cNvSpPr/>
          <p:nvPr/>
        </p:nvSpPr>
        <p:spPr>
          <a:xfrm>
            <a:off x="8092440" y="1234440"/>
            <a:ext cx="3429000" cy="457200"/>
          </a:xfrm>
          <a:prstGeom prst="rect">
            <a:avLst/>
          </a:prstGeom>
          <a:solidFill>
            <a:srgbClr val="494985"/>
          </a:solidFill>
          <a:ln>
            <a:solidFill>
              <a:srgbClr val="494985"/>
            </a:solidFill>
          </a:ln>
        </p:spPr>
        <p:txBody>
          <a:bodyPr wrap="square" lIns="0" tIns="0" rIns="0" bIns="0" rtlCol="0" anchor="ctr"/>
          <a:lstStyle/>
          <a:p>
            <a:pPr algn="ctr" indent="0" marL="0">
              <a:buNone/>
            </a:pPr>
            <a:r>
              <a:rPr lang="en-US" sz="1600" b="1" dirty="0">
                <a:solidFill>
                  <a:srgbClr val="FFFFFF"/>
                </a:solidFill>
                <a:latin typeface="Quicksand" pitchFamily="34" charset="0"/>
                <a:ea typeface="Quicksand" pitchFamily="34" charset="-122"/>
                <a:cs typeface="Quicksand" pitchFamily="34" charset="-120"/>
              </a:rPr>
              <a:t>EEPROM</a:t>
            </a:r>
            <a:endParaRPr lang="en-US" sz="1600" dirty="0"/>
          </a:p>
        </p:txBody>
      </p:sp>
      <p:sp>
        <p:nvSpPr>
          <p:cNvPr id="12" name="Text 9"/>
          <p:cNvSpPr txBox="1"/>
          <p:nvPr/>
        </p:nvSpPr>
        <p:spPr>
          <a:xfrm>
            <a:off x="8183880" y="3886200"/>
            <a:ext cx="3246120" cy="21945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Electrically erasable PROM</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Erased by an electrical signal, in the circuit</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Can erase single bytes</a:t>
            </a:r>
            <a:endParaRPr lang="en-US" sz="1300" dirty="0"/>
          </a:p>
          <a:p>
            <a:pPr marL="228600" indent="-228600">
              <a:spcAft>
                <a:spcPts val="400"/>
              </a:spcAft>
              <a:buSzPct val="100000"/>
              <a:buChar char="•"/>
            </a:pPr>
            <a:r>
              <a:rPr lang="en-US" sz="1300" dirty="0">
                <a:solidFill>
                  <a:srgbClr val="202124"/>
                </a:solidFill>
                <a:latin typeface="Quicksand" pitchFamily="34" charset="0"/>
                <a:ea typeface="Quicksand" pitchFamily="34" charset="-122"/>
                <a:cs typeface="Quicksand" pitchFamily="34" charset="-120"/>
              </a:rPr>
              <a:t>Rewritten many times; flash memory is a type</a:t>
            </a:r>
            <a:endParaRPr lang="en-US" sz="1300" dirty="0"/>
          </a:p>
        </p:txBody>
      </p:sp>
      <p:sp>
        <p:nvSpPr>
          <p:cNvPr id="13" name="Shape 10"/>
          <p:cNvSpPr/>
          <p:nvPr/>
        </p:nvSpPr>
        <p:spPr>
          <a:xfrm>
            <a:off x="960120" y="2075688"/>
            <a:ext cx="384048" cy="0"/>
          </a:xfrm>
          <a:prstGeom prst="line">
            <a:avLst/>
          </a:prstGeom>
          <a:noFill/>
          <a:ln w="25400">
            <a:solidFill>
              <a:srgbClr val="494985"/>
            </a:solidFill>
            <a:prstDash val="solid"/>
          </a:ln>
        </p:spPr>
      </p:sp>
      <p:sp>
        <p:nvSpPr>
          <p:cNvPr id="14" name="Shape 11"/>
          <p:cNvSpPr/>
          <p:nvPr/>
        </p:nvSpPr>
        <p:spPr>
          <a:xfrm>
            <a:off x="1481328" y="2075688"/>
            <a:ext cx="384048" cy="0"/>
          </a:xfrm>
          <a:prstGeom prst="line">
            <a:avLst/>
          </a:prstGeom>
          <a:noFill/>
          <a:ln w="25400">
            <a:solidFill>
              <a:srgbClr val="B3261E"/>
            </a:solidFill>
            <a:prstDash val="dash"/>
          </a:ln>
        </p:spPr>
      </p:sp>
      <p:sp>
        <p:nvSpPr>
          <p:cNvPr id="15" name="Shape 12"/>
          <p:cNvSpPr/>
          <p:nvPr/>
        </p:nvSpPr>
        <p:spPr>
          <a:xfrm>
            <a:off x="2002536" y="2075688"/>
            <a:ext cx="384048" cy="0"/>
          </a:xfrm>
          <a:prstGeom prst="line">
            <a:avLst/>
          </a:prstGeom>
          <a:noFill/>
          <a:ln w="25400">
            <a:solidFill>
              <a:srgbClr val="494985"/>
            </a:solidFill>
            <a:prstDash val="solid"/>
          </a:ln>
        </p:spPr>
      </p:sp>
      <p:sp>
        <p:nvSpPr>
          <p:cNvPr id="16" name="Shape 13"/>
          <p:cNvSpPr/>
          <p:nvPr/>
        </p:nvSpPr>
        <p:spPr>
          <a:xfrm>
            <a:off x="2523744" y="2075688"/>
            <a:ext cx="384048" cy="0"/>
          </a:xfrm>
          <a:prstGeom prst="line">
            <a:avLst/>
          </a:prstGeom>
          <a:noFill/>
          <a:ln w="25400">
            <a:solidFill>
              <a:srgbClr val="494985"/>
            </a:solidFill>
            <a:prstDash val="solid"/>
          </a:ln>
        </p:spPr>
      </p:sp>
      <p:sp>
        <p:nvSpPr>
          <p:cNvPr id="17" name="Shape 14"/>
          <p:cNvSpPr/>
          <p:nvPr/>
        </p:nvSpPr>
        <p:spPr>
          <a:xfrm>
            <a:off x="3044952" y="2075688"/>
            <a:ext cx="384048" cy="0"/>
          </a:xfrm>
          <a:prstGeom prst="line">
            <a:avLst/>
          </a:prstGeom>
          <a:noFill/>
          <a:ln w="25400">
            <a:solidFill>
              <a:srgbClr val="B3261E"/>
            </a:solidFill>
            <a:prstDash val="dash"/>
          </a:ln>
        </p:spPr>
      </p:sp>
      <p:sp>
        <p:nvSpPr>
          <p:cNvPr id="18" name="Shape 15"/>
          <p:cNvSpPr/>
          <p:nvPr/>
        </p:nvSpPr>
        <p:spPr>
          <a:xfrm>
            <a:off x="3566160" y="2075688"/>
            <a:ext cx="384048" cy="0"/>
          </a:xfrm>
          <a:prstGeom prst="line">
            <a:avLst/>
          </a:prstGeom>
          <a:noFill/>
          <a:ln w="25400">
            <a:solidFill>
              <a:srgbClr val="494985"/>
            </a:solidFill>
            <a:prstDash val="solid"/>
          </a:ln>
        </p:spPr>
      </p:sp>
      <p:sp>
        <p:nvSpPr>
          <p:cNvPr id="19" name="Shape 16"/>
          <p:cNvSpPr/>
          <p:nvPr/>
        </p:nvSpPr>
        <p:spPr>
          <a:xfrm>
            <a:off x="960120" y="2487168"/>
            <a:ext cx="384048" cy="0"/>
          </a:xfrm>
          <a:prstGeom prst="line">
            <a:avLst/>
          </a:prstGeom>
          <a:noFill/>
          <a:ln w="25400">
            <a:solidFill>
              <a:srgbClr val="494985"/>
            </a:solidFill>
            <a:prstDash val="solid"/>
          </a:ln>
        </p:spPr>
      </p:sp>
      <p:sp>
        <p:nvSpPr>
          <p:cNvPr id="20" name="Shape 17"/>
          <p:cNvSpPr/>
          <p:nvPr/>
        </p:nvSpPr>
        <p:spPr>
          <a:xfrm>
            <a:off x="1481328" y="2487168"/>
            <a:ext cx="384048" cy="0"/>
          </a:xfrm>
          <a:prstGeom prst="line">
            <a:avLst/>
          </a:prstGeom>
          <a:noFill/>
          <a:ln w="25400">
            <a:solidFill>
              <a:srgbClr val="494985"/>
            </a:solidFill>
            <a:prstDash val="solid"/>
          </a:ln>
        </p:spPr>
      </p:sp>
      <p:sp>
        <p:nvSpPr>
          <p:cNvPr id="21" name="Shape 18"/>
          <p:cNvSpPr/>
          <p:nvPr/>
        </p:nvSpPr>
        <p:spPr>
          <a:xfrm>
            <a:off x="2002536" y="2487168"/>
            <a:ext cx="384048" cy="0"/>
          </a:xfrm>
          <a:prstGeom prst="line">
            <a:avLst/>
          </a:prstGeom>
          <a:noFill/>
          <a:ln w="25400">
            <a:solidFill>
              <a:srgbClr val="B3261E"/>
            </a:solidFill>
            <a:prstDash val="dash"/>
          </a:ln>
        </p:spPr>
      </p:sp>
      <p:sp>
        <p:nvSpPr>
          <p:cNvPr id="22" name="Shape 19"/>
          <p:cNvSpPr/>
          <p:nvPr/>
        </p:nvSpPr>
        <p:spPr>
          <a:xfrm>
            <a:off x="2523744" y="2487168"/>
            <a:ext cx="384048" cy="0"/>
          </a:xfrm>
          <a:prstGeom prst="line">
            <a:avLst/>
          </a:prstGeom>
          <a:noFill/>
          <a:ln w="25400">
            <a:solidFill>
              <a:srgbClr val="494985"/>
            </a:solidFill>
            <a:prstDash val="solid"/>
          </a:ln>
        </p:spPr>
      </p:sp>
      <p:sp>
        <p:nvSpPr>
          <p:cNvPr id="23" name="Shape 20"/>
          <p:cNvSpPr/>
          <p:nvPr/>
        </p:nvSpPr>
        <p:spPr>
          <a:xfrm>
            <a:off x="3044952" y="2487168"/>
            <a:ext cx="384048" cy="0"/>
          </a:xfrm>
          <a:prstGeom prst="line">
            <a:avLst/>
          </a:prstGeom>
          <a:noFill/>
          <a:ln w="25400">
            <a:solidFill>
              <a:srgbClr val="494985"/>
            </a:solidFill>
            <a:prstDash val="solid"/>
          </a:ln>
        </p:spPr>
      </p:sp>
      <p:sp>
        <p:nvSpPr>
          <p:cNvPr id="24" name="Shape 21"/>
          <p:cNvSpPr/>
          <p:nvPr/>
        </p:nvSpPr>
        <p:spPr>
          <a:xfrm>
            <a:off x="3566160" y="2487168"/>
            <a:ext cx="384048" cy="0"/>
          </a:xfrm>
          <a:prstGeom prst="line">
            <a:avLst/>
          </a:prstGeom>
          <a:noFill/>
          <a:ln w="25400">
            <a:solidFill>
              <a:srgbClr val="494985"/>
            </a:solidFill>
            <a:prstDash val="solid"/>
          </a:ln>
        </p:spPr>
      </p:sp>
      <p:sp>
        <p:nvSpPr>
          <p:cNvPr id="25" name="Shape 22"/>
          <p:cNvSpPr/>
          <p:nvPr/>
        </p:nvSpPr>
        <p:spPr>
          <a:xfrm>
            <a:off x="960120" y="2898648"/>
            <a:ext cx="384048" cy="0"/>
          </a:xfrm>
          <a:prstGeom prst="line">
            <a:avLst/>
          </a:prstGeom>
          <a:noFill/>
          <a:ln w="25400">
            <a:solidFill>
              <a:srgbClr val="B3261E"/>
            </a:solidFill>
            <a:prstDash val="dash"/>
          </a:ln>
        </p:spPr>
      </p:sp>
      <p:sp>
        <p:nvSpPr>
          <p:cNvPr id="26" name="Shape 23"/>
          <p:cNvSpPr/>
          <p:nvPr/>
        </p:nvSpPr>
        <p:spPr>
          <a:xfrm>
            <a:off x="1481328" y="2898648"/>
            <a:ext cx="384048" cy="0"/>
          </a:xfrm>
          <a:prstGeom prst="line">
            <a:avLst/>
          </a:prstGeom>
          <a:noFill/>
          <a:ln w="25400">
            <a:solidFill>
              <a:srgbClr val="494985"/>
            </a:solidFill>
            <a:prstDash val="solid"/>
          </a:ln>
        </p:spPr>
      </p:sp>
      <p:sp>
        <p:nvSpPr>
          <p:cNvPr id="27" name="Shape 24"/>
          <p:cNvSpPr/>
          <p:nvPr/>
        </p:nvSpPr>
        <p:spPr>
          <a:xfrm>
            <a:off x="2002536" y="2898648"/>
            <a:ext cx="384048" cy="0"/>
          </a:xfrm>
          <a:prstGeom prst="line">
            <a:avLst/>
          </a:prstGeom>
          <a:noFill/>
          <a:ln w="25400">
            <a:solidFill>
              <a:srgbClr val="494985"/>
            </a:solidFill>
            <a:prstDash val="solid"/>
          </a:ln>
        </p:spPr>
      </p:sp>
      <p:sp>
        <p:nvSpPr>
          <p:cNvPr id="28" name="Shape 25"/>
          <p:cNvSpPr/>
          <p:nvPr/>
        </p:nvSpPr>
        <p:spPr>
          <a:xfrm>
            <a:off x="2523744" y="2898648"/>
            <a:ext cx="384048" cy="0"/>
          </a:xfrm>
          <a:prstGeom prst="line">
            <a:avLst/>
          </a:prstGeom>
          <a:noFill/>
          <a:ln w="25400">
            <a:solidFill>
              <a:srgbClr val="494985"/>
            </a:solidFill>
            <a:prstDash val="solid"/>
          </a:ln>
        </p:spPr>
      </p:sp>
      <p:sp>
        <p:nvSpPr>
          <p:cNvPr id="29" name="Shape 26"/>
          <p:cNvSpPr/>
          <p:nvPr/>
        </p:nvSpPr>
        <p:spPr>
          <a:xfrm>
            <a:off x="3044952" y="2898648"/>
            <a:ext cx="384048" cy="0"/>
          </a:xfrm>
          <a:prstGeom prst="line">
            <a:avLst/>
          </a:prstGeom>
          <a:noFill/>
          <a:ln w="25400">
            <a:solidFill>
              <a:srgbClr val="494985"/>
            </a:solidFill>
            <a:prstDash val="solid"/>
          </a:ln>
        </p:spPr>
      </p:sp>
      <p:sp>
        <p:nvSpPr>
          <p:cNvPr id="30" name="Shape 27"/>
          <p:cNvSpPr/>
          <p:nvPr/>
        </p:nvSpPr>
        <p:spPr>
          <a:xfrm>
            <a:off x="3566160" y="2898648"/>
            <a:ext cx="384048" cy="0"/>
          </a:xfrm>
          <a:prstGeom prst="line">
            <a:avLst/>
          </a:prstGeom>
          <a:noFill/>
          <a:ln w="25400">
            <a:solidFill>
              <a:srgbClr val="B3261E"/>
            </a:solidFill>
            <a:prstDash val="dash"/>
          </a:ln>
        </p:spPr>
      </p:sp>
      <p:sp>
        <p:nvSpPr>
          <p:cNvPr id="31" name="Shape 28"/>
          <p:cNvSpPr/>
          <p:nvPr/>
        </p:nvSpPr>
        <p:spPr>
          <a:xfrm>
            <a:off x="960120" y="3310128"/>
            <a:ext cx="384048" cy="0"/>
          </a:xfrm>
          <a:prstGeom prst="line">
            <a:avLst/>
          </a:prstGeom>
          <a:noFill/>
          <a:ln w="25400">
            <a:solidFill>
              <a:srgbClr val="494985"/>
            </a:solidFill>
            <a:prstDash val="solid"/>
          </a:ln>
        </p:spPr>
      </p:sp>
      <p:sp>
        <p:nvSpPr>
          <p:cNvPr id="32" name="Shape 29"/>
          <p:cNvSpPr/>
          <p:nvPr/>
        </p:nvSpPr>
        <p:spPr>
          <a:xfrm>
            <a:off x="1481328" y="3310128"/>
            <a:ext cx="384048" cy="0"/>
          </a:xfrm>
          <a:prstGeom prst="line">
            <a:avLst/>
          </a:prstGeom>
          <a:noFill/>
          <a:ln w="25400">
            <a:solidFill>
              <a:srgbClr val="494985"/>
            </a:solidFill>
            <a:prstDash val="solid"/>
          </a:ln>
        </p:spPr>
      </p:sp>
      <p:sp>
        <p:nvSpPr>
          <p:cNvPr id="33" name="Shape 30"/>
          <p:cNvSpPr/>
          <p:nvPr/>
        </p:nvSpPr>
        <p:spPr>
          <a:xfrm>
            <a:off x="2002536" y="3310128"/>
            <a:ext cx="384048" cy="0"/>
          </a:xfrm>
          <a:prstGeom prst="line">
            <a:avLst/>
          </a:prstGeom>
          <a:noFill/>
          <a:ln w="25400">
            <a:solidFill>
              <a:srgbClr val="494985"/>
            </a:solidFill>
            <a:prstDash val="solid"/>
          </a:ln>
        </p:spPr>
      </p:sp>
      <p:sp>
        <p:nvSpPr>
          <p:cNvPr id="34" name="Shape 31"/>
          <p:cNvSpPr/>
          <p:nvPr/>
        </p:nvSpPr>
        <p:spPr>
          <a:xfrm>
            <a:off x="2523744" y="3310128"/>
            <a:ext cx="384048" cy="0"/>
          </a:xfrm>
          <a:prstGeom prst="line">
            <a:avLst/>
          </a:prstGeom>
          <a:noFill/>
          <a:ln w="25400">
            <a:solidFill>
              <a:srgbClr val="B3261E"/>
            </a:solidFill>
            <a:prstDash val="dash"/>
          </a:ln>
        </p:spPr>
      </p:sp>
      <p:sp>
        <p:nvSpPr>
          <p:cNvPr id="35" name="Shape 32"/>
          <p:cNvSpPr/>
          <p:nvPr/>
        </p:nvSpPr>
        <p:spPr>
          <a:xfrm>
            <a:off x="3044952" y="3310128"/>
            <a:ext cx="384048" cy="0"/>
          </a:xfrm>
          <a:prstGeom prst="line">
            <a:avLst/>
          </a:prstGeom>
          <a:noFill/>
          <a:ln w="25400">
            <a:solidFill>
              <a:srgbClr val="494985"/>
            </a:solidFill>
            <a:prstDash val="solid"/>
          </a:ln>
        </p:spPr>
      </p:sp>
      <p:sp>
        <p:nvSpPr>
          <p:cNvPr id="36" name="Shape 33"/>
          <p:cNvSpPr/>
          <p:nvPr/>
        </p:nvSpPr>
        <p:spPr>
          <a:xfrm>
            <a:off x="3566160" y="3310128"/>
            <a:ext cx="384048" cy="0"/>
          </a:xfrm>
          <a:prstGeom prst="line">
            <a:avLst/>
          </a:prstGeom>
          <a:noFill/>
          <a:ln w="25400">
            <a:solidFill>
              <a:srgbClr val="494985"/>
            </a:solidFill>
            <a:prstDash val="solid"/>
          </a:ln>
        </p:spPr>
      </p:sp>
      <p:sp>
        <p:nvSpPr>
          <p:cNvPr id="37" name="Text 34"/>
          <p:cNvSpPr txBox="1"/>
          <p:nvPr/>
        </p:nvSpPr>
        <p:spPr>
          <a:xfrm>
            <a:off x="777240" y="3520440"/>
            <a:ext cx="342900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fuses: blown (red) = 0, intact = 1</a:t>
            </a:r>
            <a:endParaRPr lang="en-US" sz="1100" dirty="0"/>
          </a:p>
        </p:txBody>
      </p:sp>
      <p:sp>
        <p:nvSpPr>
          <p:cNvPr id="38" name="Shape 35"/>
          <p:cNvSpPr/>
          <p:nvPr/>
        </p:nvSpPr>
        <p:spPr>
          <a:xfrm>
            <a:off x="4927034" y="1773936"/>
            <a:ext cx="2444613" cy="18562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39" name="Image 0" descr="figs/eprom.jpg">    </p:cNvPr>
          <p:cNvPicPr>
            <a:picLocks noChangeAspect="1"/>
          </p:cNvPicPr>
          <p:nvPr/>
        </p:nvPicPr>
        <p:blipFill>
          <a:blip r:embed="rId1"/>
          <a:stretch>
            <a:fillRect/>
          </a:stretch>
        </p:blipFill>
        <p:spPr>
          <a:xfrm>
            <a:off x="4963610" y="1810512"/>
            <a:ext cx="2371461" cy="1783080"/>
          </a:xfrm>
          <a:prstGeom prst="rect">
            <a:avLst/>
          </a:prstGeom>
        </p:spPr>
      </p:pic>
      <p:sp>
        <p:nvSpPr>
          <p:cNvPr id="40" name="Shape 36"/>
          <p:cNvSpPr/>
          <p:nvPr/>
        </p:nvSpPr>
        <p:spPr>
          <a:xfrm>
            <a:off x="8409687" y="1773936"/>
            <a:ext cx="2794506" cy="18562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41" name="Image 1" descr="figs/sdcard.jpg">    </p:cNvPr>
          <p:cNvPicPr>
            <a:picLocks noChangeAspect="1"/>
          </p:cNvPicPr>
          <p:nvPr/>
        </p:nvPicPr>
        <p:blipFill>
          <a:blip r:embed="rId2"/>
          <a:stretch>
            <a:fillRect/>
          </a:stretch>
        </p:blipFill>
        <p:spPr>
          <a:xfrm>
            <a:off x="8446263" y="1810512"/>
            <a:ext cx="2721354" cy="1783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EPROM or EEPROM?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832104" y="1197864"/>
            <a:ext cx="3730752" cy="28163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eprom2.jpg">    </p:cNvPr>
          <p:cNvPicPr>
            <a:picLocks noChangeAspect="1"/>
          </p:cNvPicPr>
          <p:nvPr/>
        </p:nvPicPr>
        <p:blipFill>
          <a:blip r:embed="rId1"/>
          <a:stretch>
            <a:fillRect/>
          </a:stretch>
        </p:blipFill>
        <p:spPr>
          <a:xfrm>
            <a:off x="868680" y="1234440"/>
            <a:ext cx="3657600" cy="2743200"/>
          </a:xfrm>
          <a:prstGeom prst="rect">
            <a:avLst/>
          </a:prstGeom>
        </p:spPr>
      </p:pic>
      <p:sp>
        <p:nvSpPr>
          <p:cNvPr id="9" name="Text 5"/>
          <p:cNvSpPr txBox="1"/>
          <p:nvPr/>
        </p:nvSpPr>
        <p:spPr>
          <a:xfrm>
            <a:off x="594360" y="4041648"/>
            <a:ext cx="420624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EPROMs: the quartz window lets UV light reach the chip</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92040" y="1234440"/>
          <a:ext cx="6629400" cy="914400"/>
        </p:xfrm>
        <a:graphic>
          <a:graphicData uri="http://schemas.openxmlformats.org/drawingml/2006/table">
            <a:tbl>
              <a:tblPr/>
              <a:tblGrid>
                <a:gridCol w="1600200"/>
                <a:gridCol w="2514600"/>
                <a:gridCol w="2514600"/>
              </a:tblGrid>
              <a:tr h="566928">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EPROM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EEPROM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Erased by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Ultraviolet light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 electrical signal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Where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Removed from the circuit board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Stays in the circuit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How much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The whole chip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single byte or the whole chip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Typical use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Devices under development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Firmware that the user can update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1" name="Shape 6"/>
          <p:cNvSpPr/>
          <p:nvPr/>
        </p:nvSpPr>
        <p:spPr>
          <a:xfrm>
            <a:off x="4892040" y="4297680"/>
            <a:ext cx="6629400" cy="1691640"/>
          </a:xfrm>
          <a:prstGeom prst="rect">
            <a:avLst/>
          </a:prstGeom>
          <a:solidFill>
            <a:srgbClr val="F6F5FC"/>
          </a:solidFill>
          <a:ln w="12700">
            <a:solidFill>
              <a:srgbClr val="F6F5FC"/>
            </a:solidFill>
            <a:prstDash val="solid"/>
          </a:ln>
        </p:spPr>
      </p:sp>
      <p:sp>
        <p:nvSpPr>
          <p:cNvPr id="12" name="Shape 7"/>
          <p:cNvSpPr/>
          <p:nvPr/>
        </p:nvSpPr>
        <p:spPr>
          <a:xfrm>
            <a:off x="4892040" y="4297680"/>
            <a:ext cx="73152" cy="1691640"/>
          </a:xfrm>
          <a:prstGeom prst="rect">
            <a:avLst/>
          </a:prstGeom>
          <a:solidFill>
            <a:srgbClr val="2E7D5B"/>
          </a:solidFill>
          <a:ln w="12700">
            <a:solidFill>
              <a:srgbClr val="2E7D5B"/>
            </a:solidFill>
            <a:prstDash val="solid"/>
          </a:ln>
        </p:spPr>
      </p:sp>
      <p:sp>
        <p:nvSpPr>
          <p:cNvPr id="13" name="Text 8"/>
          <p:cNvSpPr txBox="1"/>
          <p:nvPr/>
        </p:nvSpPr>
        <p:spPr>
          <a:xfrm>
            <a:off x="5120640" y="4389120"/>
            <a:ext cx="626364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Why put EEPROM in a device?</a:t>
            </a:r>
            <a:endParaRPr lang="en-US" sz="1500" dirty="0"/>
          </a:p>
        </p:txBody>
      </p:sp>
      <p:sp>
        <p:nvSpPr>
          <p:cNvPr id="14" name="Text 9"/>
          <p:cNvSpPr txBox="1"/>
          <p:nvPr/>
        </p:nvSpPr>
        <p:spPr>
          <a:xfrm>
            <a:off x="5120640" y="4800600"/>
            <a:ext cx="6263640" cy="1097280"/>
          </a:xfrm>
          <a:prstGeom prst="rect">
            <a:avLst/>
          </a:prstGeom>
          <a:noFill/>
          <a:ln/>
        </p:spPr>
        <p:txBody>
          <a:bodyPr wrap="square" lIns="0" tIns="0" rIns="0" bIns="0" rtlCol="0" anchor="t"/>
          <a:lstStyle/>
          <a:p>
            <a:pPr indent="0" marL="0">
              <a:spcAft>
                <a:spcPts val="600"/>
              </a:spcAft>
              <a:buNone/>
            </a:pPr>
            <a:r>
              <a:rPr lang="en-US" sz="1400" dirty="0">
                <a:solidFill>
                  <a:srgbClr val="202124"/>
                </a:solidFill>
                <a:latin typeface="Quicksand" pitchFamily="34" charset="0"/>
                <a:ea typeface="Quicksand" pitchFamily="34" charset="-122"/>
                <a:cs typeface="Quicksand" pitchFamily="34" charset="-120"/>
              </a:rPr>
              <a:t>Its firmware can be updated many times, without removing the chip and without specialist equipment - even by the user.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Embedded systems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1152542" y="1197864"/>
            <a:ext cx="1763996"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wash.jpg">    </p:cNvPr>
          <p:cNvPicPr>
            <a:picLocks noChangeAspect="1"/>
          </p:cNvPicPr>
          <p:nvPr/>
        </p:nvPicPr>
        <p:blipFill>
          <a:blip r:embed="rId1"/>
          <a:stretch>
            <a:fillRect/>
          </a:stretch>
        </p:blipFill>
        <p:spPr>
          <a:xfrm>
            <a:off x="1189118" y="1234440"/>
            <a:ext cx="1690844" cy="1828800"/>
          </a:xfrm>
          <a:prstGeom prst="rect">
            <a:avLst/>
          </a:prstGeom>
        </p:spPr>
      </p:pic>
      <p:sp>
        <p:nvSpPr>
          <p:cNvPr id="9" name="Text 5"/>
          <p:cNvSpPr txBox="1"/>
          <p:nvPr/>
        </p:nvSpPr>
        <p:spPr>
          <a:xfrm>
            <a:off x="594360" y="3127248"/>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Washing machine</a:t>
            </a:r>
            <a:endParaRPr lang="en-US" sz="1200" dirty="0"/>
          </a:p>
        </p:txBody>
      </p:sp>
      <p:sp>
        <p:nvSpPr>
          <p:cNvPr id="10" name="Shape 6"/>
          <p:cNvSpPr/>
          <p:nvPr/>
        </p:nvSpPr>
        <p:spPr>
          <a:xfrm>
            <a:off x="3438144" y="1412728"/>
            <a:ext cx="2587752" cy="147222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microwave.jpg">    </p:cNvPr>
          <p:cNvPicPr>
            <a:picLocks noChangeAspect="1"/>
          </p:cNvPicPr>
          <p:nvPr/>
        </p:nvPicPr>
        <p:blipFill>
          <a:blip r:embed="rId2"/>
          <a:stretch>
            <a:fillRect/>
          </a:stretch>
        </p:blipFill>
        <p:spPr>
          <a:xfrm>
            <a:off x="3474720" y="1449304"/>
            <a:ext cx="2514600" cy="1399073"/>
          </a:xfrm>
          <a:prstGeom prst="rect">
            <a:avLst/>
          </a:prstGeom>
        </p:spPr>
      </p:pic>
      <p:sp>
        <p:nvSpPr>
          <p:cNvPr id="12" name="Text 7"/>
          <p:cNvSpPr txBox="1"/>
          <p:nvPr/>
        </p:nvSpPr>
        <p:spPr>
          <a:xfrm>
            <a:off x="3291840" y="2912384"/>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Microwave oven</a:t>
            </a:r>
            <a:endParaRPr lang="en-US" sz="1200" dirty="0"/>
          </a:p>
        </p:txBody>
      </p:sp>
      <p:sp>
        <p:nvSpPr>
          <p:cNvPr id="13" name="Shape 8"/>
          <p:cNvSpPr/>
          <p:nvPr/>
        </p:nvSpPr>
        <p:spPr>
          <a:xfrm>
            <a:off x="6135624" y="1274387"/>
            <a:ext cx="2587752" cy="1748906"/>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4" name="Image 2" descr="figs/thermostat.jpg">    </p:cNvPr>
          <p:cNvPicPr>
            <a:picLocks noChangeAspect="1"/>
          </p:cNvPicPr>
          <p:nvPr/>
        </p:nvPicPr>
        <p:blipFill>
          <a:blip r:embed="rId3"/>
          <a:stretch>
            <a:fillRect/>
          </a:stretch>
        </p:blipFill>
        <p:spPr>
          <a:xfrm>
            <a:off x="6172200" y="1310963"/>
            <a:ext cx="2514600" cy="1675754"/>
          </a:xfrm>
          <a:prstGeom prst="rect">
            <a:avLst/>
          </a:prstGeom>
        </p:spPr>
      </p:pic>
      <p:sp>
        <p:nvSpPr>
          <p:cNvPr id="15" name="Text 9"/>
          <p:cNvSpPr txBox="1"/>
          <p:nvPr/>
        </p:nvSpPr>
        <p:spPr>
          <a:xfrm>
            <a:off x="5989320" y="3050725"/>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Smart thermostat</a:t>
            </a:r>
            <a:endParaRPr lang="en-US" sz="1200" dirty="0"/>
          </a:p>
        </p:txBody>
      </p:sp>
      <p:sp>
        <p:nvSpPr>
          <p:cNvPr id="16" name="Shape 10"/>
          <p:cNvSpPr/>
          <p:nvPr/>
        </p:nvSpPr>
        <p:spPr>
          <a:xfrm>
            <a:off x="9174242" y="1197864"/>
            <a:ext cx="1905476"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7" name="Image 3" descr="figs/doorbell.jpg">    </p:cNvPr>
          <p:cNvPicPr>
            <a:picLocks noChangeAspect="1"/>
          </p:cNvPicPr>
          <p:nvPr/>
        </p:nvPicPr>
        <p:blipFill>
          <a:blip r:embed="rId4"/>
          <a:stretch>
            <a:fillRect/>
          </a:stretch>
        </p:blipFill>
        <p:spPr>
          <a:xfrm>
            <a:off x="9210818" y="1234440"/>
            <a:ext cx="1832324" cy="1828800"/>
          </a:xfrm>
          <a:prstGeom prst="rect">
            <a:avLst/>
          </a:prstGeom>
        </p:spPr>
      </p:pic>
      <p:sp>
        <p:nvSpPr>
          <p:cNvPr id="18" name="Text 11"/>
          <p:cNvSpPr txBox="1"/>
          <p:nvPr/>
        </p:nvSpPr>
        <p:spPr>
          <a:xfrm>
            <a:off x="8686800" y="3127248"/>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Video doorbell</a:t>
            </a:r>
            <a:endParaRPr lang="en-US" sz="1200" dirty="0"/>
          </a:p>
        </p:txBody>
      </p:sp>
      <p:sp>
        <p:nvSpPr>
          <p:cNvPr id="19" name="Shape 12"/>
          <p:cNvSpPr/>
          <p:nvPr/>
        </p:nvSpPr>
        <p:spPr>
          <a:xfrm>
            <a:off x="771717" y="3621024"/>
            <a:ext cx="2525647"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0" name="Image 4" descr="figs/dashboard.jpg">    </p:cNvPr>
          <p:cNvPicPr>
            <a:picLocks noChangeAspect="1"/>
          </p:cNvPicPr>
          <p:nvPr/>
        </p:nvPicPr>
        <p:blipFill>
          <a:blip r:embed="rId5"/>
          <a:stretch>
            <a:fillRect/>
          </a:stretch>
        </p:blipFill>
        <p:spPr>
          <a:xfrm>
            <a:off x="808293" y="3657600"/>
            <a:ext cx="2452495" cy="1828800"/>
          </a:xfrm>
          <a:prstGeom prst="rect">
            <a:avLst/>
          </a:prstGeom>
        </p:spPr>
      </p:pic>
      <p:sp>
        <p:nvSpPr>
          <p:cNvPr id="21" name="Text 13"/>
          <p:cNvSpPr txBox="1"/>
          <p:nvPr/>
        </p:nvSpPr>
        <p:spPr>
          <a:xfrm>
            <a:off x="594360" y="5550408"/>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Car dashboard</a:t>
            </a:r>
            <a:endParaRPr lang="en-US" sz="1200" dirty="0"/>
          </a:p>
        </p:txBody>
      </p:sp>
      <p:sp>
        <p:nvSpPr>
          <p:cNvPr id="22" name="Shape 14"/>
          <p:cNvSpPr/>
          <p:nvPr/>
        </p:nvSpPr>
        <p:spPr>
          <a:xfrm>
            <a:off x="3438144" y="3698836"/>
            <a:ext cx="2587752" cy="1746328"/>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3" name="Image 5" descr="figs/traffic.jpg">    </p:cNvPr>
          <p:cNvPicPr>
            <a:picLocks noChangeAspect="1"/>
          </p:cNvPicPr>
          <p:nvPr/>
        </p:nvPicPr>
        <p:blipFill>
          <a:blip r:embed="rId6"/>
          <a:stretch>
            <a:fillRect/>
          </a:stretch>
        </p:blipFill>
        <p:spPr>
          <a:xfrm>
            <a:off x="3474720" y="3735412"/>
            <a:ext cx="2514600" cy="1673176"/>
          </a:xfrm>
          <a:prstGeom prst="rect">
            <a:avLst/>
          </a:prstGeom>
        </p:spPr>
      </p:pic>
      <p:sp>
        <p:nvSpPr>
          <p:cNvPr id="24" name="Text 15"/>
          <p:cNvSpPr txBox="1"/>
          <p:nvPr/>
        </p:nvSpPr>
        <p:spPr>
          <a:xfrm>
            <a:off x="3291840" y="5472596"/>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Traffic lights</a:t>
            </a:r>
            <a:endParaRPr lang="en-US" sz="1200" dirty="0"/>
          </a:p>
        </p:txBody>
      </p:sp>
      <p:sp>
        <p:nvSpPr>
          <p:cNvPr id="25" name="Shape 16"/>
          <p:cNvSpPr/>
          <p:nvPr/>
        </p:nvSpPr>
        <p:spPr>
          <a:xfrm>
            <a:off x="6135624" y="3827444"/>
            <a:ext cx="2587752" cy="1489111"/>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26" name="Image 6" descr="figs/watch.jpg">    </p:cNvPr>
          <p:cNvPicPr>
            <a:picLocks noChangeAspect="1"/>
          </p:cNvPicPr>
          <p:nvPr/>
        </p:nvPicPr>
        <p:blipFill>
          <a:blip r:embed="rId7"/>
          <a:stretch>
            <a:fillRect/>
          </a:stretch>
        </p:blipFill>
        <p:spPr>
          <a:xfrm>
            <a:off x="6172200" y="3864020"/>
            <a:ext cx="2514600" cy="1415959"/>
          </a:xfrm>
          <a:prstGeom prst="rect">
            <a:avLst/>
          </a:prstGeom>
        </p:spPr>
      </p:pic>
      <p:sp>
        <p:nvSpPr>
          <p:cNvPr id="27" name="Text 17"/>
          <p:cNvSpPr txBox="1"/>
          <p:nvPr/>
        </p:nvSpPr>
        <p:spPr>
          <a:xfrm>
            <a:off x="5989320" y="5343988"/>
            <a:ext cx="28803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Fitness band</a:t>
            </a:r>
            <a:endParaRPr lang="en-US" sz="1200" dirty="0"/>
          </a:p>
        </p:txBody>
      </p:sp>
      <p:sp>
        <p:nvSpPr>
          <p:cNvPr id="28" name="Shape 18"/>
          <p:cNvSpPr/>
          <p:nvPr/>
        </p:nvSpPr>
        <p:spPr>
          <a:xfrm>
            <a:off x="8869680" y="3657600"/>
            <a:ext cx="2651760" cy="2377440"/>
          </a:xfrm>
          <a:prstGeom prst="rect">
            <a:avLst/>
          </a:prstGeom>
          <a:solidFill>
            <a:srgbClr val="F6F5FC"/>
          </a:solidFill>
          <a:ln w="12700">
            <a:solidFill>
              <a:srgbClr val="F6F5FC"/>
            </a:solidFill>
            <a:prstDash val="solid"/>
          </a:ln>
        </p:spPr>
      </p:sp>
      <p:sp>
        <p:nvSpPr>
          <p:cNvPr id="29" name="Shape 19"/>
          <p:cNvSpPr/>
          <p:nvPr/>
        </p:nvSpPr>
        <p:spPr>
          <a:xfrm>
            <a:off x="8869680" y="3657600"/>
            <a:ext cx="73152" cy="2377440"/>
          </a:xfrm>
          <a:prstGeom prst="rect">
            <a:avLst/>
          </a:prstGeom>
          <a:solidFill>
            <a:srgbClr val="2E7D5B"/>
          </a:solidFill>
          <a:ln w="12700">
            <a:solidFill>
              <a:srgbClr val="2E7D5B"/>
            </a:solidFill>
            <a:prstDash val="solid"/>
          </a:ln>
        </p:spPr>
      </p:sp>
      <p:sp>
        <p:nvSpPr>
          <p:cNvPr id="30" name="Text 20"/>
          <p:cNvSpPr txBox="1"/>
          <p:nvPr/>
        </p:nvSpPr>
        <p:spPr>
          <a:xfrm>
            <a:off x="9098280" y="3749040"/>
            <a:ext cx="228600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Embedded system</a:t>
            </a:r>
            <a:endParaRPr lang="en-US" sz="1500" dirty="0"/>
          </a:p>
        </p:txBody>
      </p:sp>
      <p:sp>
        <p:nvSpPr>
          <p:cNvPr id="31" name="Text 21"/>
          <p:cNvSpPr txBox="1"/>
          <p:nvPr/>
        </p:nvSpPr>
        <p:spPr>
          <a:xfrm>
            <a:off x="9098280" y="4160520"/>
            <a:ext cx="2286000" cy="178308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A processor, memory and I/O built into a larger device, dedicated to one task.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Inside an embedded system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915924" y="1243584"/>
            <a:ext cx="3745992" cy="30906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arduino.jpg">    </p:cNvPr>
          <p:cNvPicPr>
            <a:picLocks noChangeAspect="1"/>
          </p:cNvPicPr>
          <p:nvPr/>
        </p:nvPicPr>
        <p:blipFill>
          <a:blip r:embed="rId1"/>
          <a:stretch>
            <a:fillRect/>
          </a:stretch>
        </p:blipFill>
        <p:spPr>
          <a:xfrm>
            <a:off x="952500" y="1280160"/>
            <a:ext cx="3672840" cy="3017520"/>
          </a:xfrm>
          <a:prstGeom prst="rect">
            <a:avLst/>
          </a:prstGeom>
        </p:spPr>
      </p:pic>
      <p:sp>
        <p:nvSpPr>
          <p:cNvPr id="9" name="Text 5"/>
          <p:cNvSpPr txBox="1"/>
          <p:nvPr/>
        </p:nvSpPr>
        <p:spPr>
          <a:xfrm>
            <a:off x="594360" y="4361688"/>
            <a:ext cx="438912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A microcontroller board used to build embedded systems</a:t>
            </a:r>
            <a:endParaRPr lang="en-US" sz="1200" dirty="0"/>
          </a:p>
        </p:txBody>
      </p:sp>
      <p:sp>
        <p:nvSpPr>
          <p:cNvPr id="10" name="Shape 6"/>
          <p:cNvSpPr/>
          <p:nvPr/>
        </p:nvSpPr>
        <p:spPr>
          <a:xfrm>
            <a:off x="5120640" y="1280160"/>
            <a:ext cx="6400800" cy="1051560"/>
          </a:xfrm>
          <a:prstGeom prst="rect">
            <a:avLst/>
          </a:prstGeom>
          <a:solidFill>
            <a:srgbClr val="F6F5FC"/>
          </a:solidFill>
          <a:ln w="12700">
            <a:solidFill>
              <a:srgbClr val="F6F5FC"/>
            </a:solidFill>
            <a:prstDash val="solid"/>
          </a:ln>
        </p:spPr>
      </p:sp>
      <p:sp>
        <p:nvSpPr>
          <p:cNvPr id="11" name="Text 7"/>
          <p:cNvSpPr/>
          <p:nvPr/>
        </p:nvSpPr>
        <p:spPr>
          <a:xfrm>
            <a:off x="525780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2" name="Text 8"/>
          <p:cNvSpPr txBox="1"/>
          <p:nvPr/>
        </p:nvSpPr>
        <p:spPr>
          <a:xfrm>
            <a:off x="5779008" y="1389888"/>
            <a:ext cx="5623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Processor</a:t>
            </a:r>
            <a:endParaRPr lang="en-US" sz="1500" dirty="0"/>
          </a:p>
        </p:txBody>
      </p:sp>
      <p:sp>
        <p:nvSpPr>
          <p:cNvPr id="13" name="Text 9"/>
          <p:cNvSpPr txBox="1"/>
          <p:nvPr/>
        </p:nvSpPr>
        <p:spPr>
          <a:xfrm>
            <a:off x="5779008" y="1783080"/>
            <a:ext cx="5623560" cy="48463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runs the firmware; does one job</a:t>
            </a:r>
            <a:endParaRPr lang="en-US" sz="1350" dirty="0"/>
          </a:p>
        </p:txBody>
      </p:sp>
      <p:sp>
        <p:nvSpPr>
          <p:cNvPr id="14" name="Shape 10"/>
          <p:cNvSpPr/>
          <p:nvPr/>
        </p:nvSpPr>
        <p:spPr>
          <a:xfrm>
            <a:off x="5120640" y="2468880"/>
            <a:ext cx="6400800" cy="1051560"/>
          </a:xfrm>
          <a:prstGeom prst="rect">
            <a:avLst/>
          </a:prstGeom>
          <a:solidFill>
            <a:srgbClr val="F6F5FC"/>
          </a:solidFill>
          <a:ln w="12700">
            <a:solidFill>
              <a:srgbClr val="F6F5FC"/>
            </a:solidFill>
            <a:prstDash val="solid"/>
          </a:ln>
        </p:spPr>
      </p:sp>
      <p:sp>
        <p:nvSpPr>
          <p:cNvPr id="15" name="Text 11"/>
          <p:cNvSpPr/>
          <p:nvPr/>
        </p:nvSpPr>
        <p:spPr>
          <a:xfrm>
            <a:off x="5257800" y="2606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6" name="Text 12"/>
          <p:cNvSpPr txBox="1"/>
          <p:nvPr/>
        </p:nvSpPr>
        <p:spPr>
          <a:xfrm>
            <a:off x="5779008" y="2578608"/>
            <a:ext cx="5623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ROM / EEPROM / flash</a:t>
            </a:r>
            <a:endParaRPr lang="en-US" sz="1500" dirty="0"/>
          </a:p>
        </p:txBody>
      </p:sp>
      <p:sp>
        <p:nvSpPr>
          <p:cNvPr id="17" name="Text 13"/>
          <p:cNvSpPr txBox="1"/>
          <p:nvPr/>
        </p:nvSpPr>
        <p:spPr>
          <a:xfrm>
            <a:off x="5779008" y="2971800"/>
            <a:ext cx="5623560" cy="48463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firmware: the program that runs the device</a:t>
            </a:r>
            <a:endParaRPr lang="en-US" sz="1350" dirty="0"/>
          </a:p>
        </p:txBody>
      </p:sp>
      <p:sp>
        <p:nvSpPr>
          <p:cNvPr id="18" name="Shape 14"/>
          <p:cNvSpPr/>
          <p:nvPr/>
        </p:nvSpPr>
        <p:spPr>
          <a:xfrm>
            <a:off x="5120640" y="3657600"/>
            <a:ext cx="6400800" cy="1051560"/>
          </a:xfrm>
          <a:prstGeom prst="rect">
            <a:avLst/>
          </a:prstGeom>
          <a:solidFill>
            <a:srgbClr val="F6F5FC"/>
          </a:solidFill>
          <a:ln w="12700">
            <a:solidFill>
              <a:srgbClr val="F6F5FC"/>
            </a:solidFill>
            <a:prstDash val="solid"/>
          </a:ln>
        </p:spPr>
      </p:sp>
      <p:sp>
        <p:nvSpPr>
          <p:cNvPr id="19" name="Text 15"/>
          <p:cNvSpPr/>
          <p:nvPr/>
        </p:nvSpPr>
        <p:spPr>
          <a:xfrm>
            <a:off x="5257800" y="3794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0" name="Text 16"/>
          <p:cNvSpPr txBox="1"/>
          <p:nvPr/>
        </p:nvSpPr>
        <p:spPr>
          <a:xfrm>
            <a:off x="5779008" y="3767328"/>
            <a:ext cx="5623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RAM</a:t>
            </a:r>
            <a:endParaRPr lang="en-US" sz="1500" dirty="0"/>
          </a:p>
        </p:txBody>
      </p:sp>
      <p:sp>
        <p:nvSpPr>
          <p:cNvPr id="21" name="Text 17"/>
          <p:cNvSpPr txBox="1"/>
          <p:nvPr/>
        </p:nvSpPr>
        <p:spPr>
          <a:xfrm>
            <a:off x="5779008" y="4160520"/>
            <a:ext cx="5623560" cy="48463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current settings, sensor readings, timers</a:t>
            </a:r>
            <a:endParaRPr lang="en-US" sz="1350" dirty="0"/>
          </a:p>
        </p:txBody>
      </p:sp>
      <p:sp>
        <p:nvSpPr>
          <p:cNvPr id="22" name="Shape 18"/>
          <p:cNvSpPr/>
          <p:nvPr/>
        </p:nvSpPr>
        <p:spPr>
          <a:xfrm>
            <a:off x="5120640" y="4846320"/>
            <a:ext cx="6400800" cy="1051560"/>
          </a:xfrm>
          <a:prstGeom prst="rect">
            <a:avLst/>
          </a:prstGeom>
          <a:solidFill>
            <a:srgbClr val="F6F5FC"/>
          </a:solidFill>
          <a:ln w="12700">
            <a:solidFill>
              <a:srgbClr val="F6F5FC"/>
            </a:solidFill>
            <a:prstDash val="solid"/>
          </a:ln>
        </p:spPr>
      </p:sp>
      <p:sp>
        <p:nvSpPr>
          <p:cNvPr id="23" name="Text 19"/>
          <p:cNvSpPr/>
          <p:nvPr/>
        </p:nvSpPr>
        <p:spPr>
          <a:xfrm>
            <a:off x="5257800" y="4983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4" name="Text 20"/>
          <p:cNvSpPr txBox="1"/>
          <p:nvPr/>
        </p:nvSpPr>
        <p:spPr>
          <a:xfrm>
            <a:off x="5779008" y="4956048"/>
            <a:ext cx="56235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Input / output</a:t>
            </a:r>
            <a:endParaRPr lang="en-US" sz="1500" dirty="0"/>
          </a:p>
        </p:txBody>
      </p:sp>
      <p:sp>
        <p:nvSpPr>
          <p:cNvPr id="25" name="Text 21"/>
          <p:cNvSpPr txBox="1"/>
          <p:nvPr/>
        </p:nvSpPr>
        <p:spPr>
          <a:xfrm>
            <a:off x="5779008" y="5349240"/>
            <a:ext cx="5623560" cy="484632"/>
          </a:xfrm>
          <a:prstGeom prst="rect">
            <a:avLst/>
          </a:prstGeom>
          <a:noFill/>
          <a:ln/>
        </p:spPr>
        <p:txBody>
          <a:bodyPr wrap="square" lIns="0" tIns="0" rIns="0" bIns="0" rtlCol="0" anchor="t"/>
          <a:lstStyle/>
          <a:p>
            <a:pPr indent="0" marL="0">
              <a:buNone/>
            </a:pPr>
            <a:r>
              <a:rPr lang="en-US" sz="1350" dirty="0">
                <a:solidFill>
                  <a:srgbClr val="202124"/>
                </a:solidFill>
                <a:latin typeface="Quicksand" pitchFamily="34" charset="0"/>
                <a:ea typeface="Quicksand" pitchFamily="34" charset="-122"/>
                <a:cs typeface="Quicksand" pitchFamily="34" charset="-120"/>
              </a:rPr>
              <a:t>sensors, buttons, display, motors</a:t>
            </a:r>
            <a:endParaRPr lang="en-US" sz="1350" dirty="0"/>
          </a:p>
        </p:txBody>
      </p:sp>
      <p:sp>
        <p:nvSpPr>
          <p:cNvPr id="26" name="Text 22"/>
          <p:cNvSpPr txBox="1"/>
          <p:nvPr/>
        </p:nvSpPr>
        <p:spPr>
          <a:xfrm>
            <a:off x="777240" y="5029200"/>
            <a:ext cx="4069080" cy="8229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Dedicated to one task, built into a larger device, no general-purpose OS.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Benefits and drawbacks of embedded systems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7863840" cy="914400"/>
        </p:xfrm>
        <a:graphic>
          <a:graphicData uri="http://schemas.openxmlformats.org/drawingml/2006/table">
            <a:tbl>
              <a:tblPr/>
              <a:tblGrid>
                <a:gridCol w="3931920"/>
                <a:gridCol w="3931920"/>
              </a:tblGrid>
              <a:tr h="56692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Benefits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Drawbacks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Small, so easy to fit into a device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Difficult to upgrade or update the firmware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Cheap to make in large numbers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Fault-finding and repair is a specialist task</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Dedicated to one task: simple interface, no OS needed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Cannot easily be adapted for another task</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Use very little power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Often thrown away rather than repaired: e-waste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React quickly to inputs (real time)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Devices on the internet can be hacked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Mass production makes them reliable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"simple" interface can be confusing (e.g. setting a clock)</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Shape 4"/>
          <p:cNvSpPr/>
          <p:nvPr/>
        </p:nvSpPr>
        <p:spPr>
          <a:xfrm>
            <a:off x="8878824" y="1289639"/>
            <a:ext cx="2679192" cy="1809843"/>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thermostat.jpg">    </p:cNvPr>
          <p:cNvPicPr>
            <a:picLocks noChangeAspect="1"/>
          </p:cNvPicPr>
          <p:nvPr/>
        </p:nvPicPr>
        <p:blipFill>
          <a:blip r:embed="rId1"/>
          <a:stretch>
            <a:fillRect/>
          </a:stretch>
        </p:blipFill>
        <p:spPr>
          <a:xfrm>
            <a:off x="8915400" y="1326215"/>
            <a:ext cx="2606040" cy="1736691"/>
          </a:xfrm>
          <a:prstGeom prst="rect">
            <a:avLst/>
          </a:prstGeom>
        </p:spPr>
      </p:pic>
      <p:sp>
        <p:nvSpPr>
          <p:cNvPr id="10" name="Text 5"/>
          <p:cNvSpPr txBox="1"/>
          <p:nvPr/>
        </p:nvSpPr>
        <p:spPr>
          <a:xfrm>
            <a:off x="8732520" y="3126913"/>
            <a:ext cx="297180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Controlled from a phone app</a:t>
            </a:r>
            <a:endParaRPr lang="en-US" sz="1100" dirty="0"/>
          </a:p>
        </p:txBody>
      </p:sp>
      <p:sp>
        <p:nvSpPr>
          <p:cNvPr id="11" name="Shape 6"/>
          <p:cNvSpPr/>
          <p:nvPr/>
        </p:nvSpPr>
        <p:spPr>
          <a:xfrm>
            <a:off x="8878824" y="3893140"/>
            <a:ext cx="2679192" cy="1540601"/>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2" name="Image 1" descr="figs/watch.jpg">    </p:cNvPr>
          <p:cNvPicPr>
            <a:picLocks noChangeAspect="1"/>
          </p:cNvPicPr>
          <p:nvPr/>
        </p:nvPicPr>
        <p:blipFill>
          <a:blip r:embed="rId2"/>
          <a:stretch>
            <a:fillRect/>
          </a:stretch>
        </p:blipFill>
        <p:spPr>
          <a:xfrm>
            <a:off x="8915400" y="3929716"/>
            <a:ext cx="2606040" cy="1467449"/>
          </a:xfrm>
          <a:prstGeom prst="rect">
            <a:avLst/>
          </a:prstGeom>
        </p:spPr>
      </p:pic>
      <p:sp>
        <p:nvSpPr>
          <p:cNvPr id="13" name="Text 7"/>
          <p:cNvSpPr txBox="1"/>
          <p:nvPr/>
        </p:nvSpPr>
        <p:spPr>
          <a:xfrm>
            <a:off x="8732520" y="5461172"/>
            <a:ext cx="2971800" cy="256032"/>
          </a:xfrm>
          <a:prstGeom prst="rect">
            <a:avLst/>
          </a:prstGeom>
          <a:noFill/>
          <a:ln/>
        </p:spPr>
        <p:txBody>
          <a:bodyPr wrap="square" lIns="0" tIns="0" rIns="0" bIns="0" rtlCol="0" anchor="ctr"/>
          <a:lstStyle/>
          <a:p>
            <a:pPr algn="ctr" indent="0" marL="0">
              <a:buNone/>
            </a:pPr>
            <a:r>
              <a:rPr lang="en-US" sz="1100" b="1" i="1" dirty="0">
                <a:solidFill>
                  <a:srgbClr val="202124"/>
                </a:solidFill>
                <a:latin typeface="Quicksand" pitchFamily="34" charset="0"/>
                <a:ea typeface="Quicksand" pitchFamily="34" charset="-122"/>
                <a:cs typeface="Quicksand" pitchFamily="34" charset="-120"/>
              </a:rPr>
              <a:t>Small, low power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Worked example: RAM and ROM in a microwave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740664" y="1343300"/>
            <a:ext cx="4645152" cy="2616921"/>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microwave.jpg">    </p:cNvPr>
          <p:cNvPicPr>
            <a:picLocks noChangeAspect="1"/>
          </p:cNvPicPr>
          <p:nvPr/>
        </p:nvPicPr>
        <p:blipFill>
          <a:blip r:embed="rId1"/>
          <a:stretch>
            <a:fillRect/>
          </a:stretch>
        </p:blipFill>
        <p:spPr>
          <a:xfrm>
            <a:off x="777240" y="1379876"/>
            <a:ext cx="4572000" cy="2543769"/>
          </a:xfrm>
          <a:prstGeom prst="rect">
            <a:avLst/>
          </a:prstGeom>
        </p:spPr>
      </p:pic>
      <p:sp>
        <p:nvSpPr>
          <p:cNvPr id="9" name="Text 5"/>
          <p:cNvSpPr txBox="1"/>
          <p:nvPr/>
        </p:nvSpPr>
        <p:spPr>
          <a:xfrm>
            <a:off x="594360" y="3987652"/>
            <a:ext cx="4937760" cy="256032"/>
          </a:xfrm>
          <a:prstGeom prst="rect">
            <a:avLst/>
          </a:prstGeom>
          <a:noFill/>
          <a:ln/>
        </p:spPr>
        <p:txBody>
          <a:bodyPr wrap="square" lIns="0" tIns="0" rIns="0" bIns="0" rtlCol="0" anchor="ctr"/>
          <a:lstStyle/>
          <a:p>
            <a:pPr algn="ctr" indent="0" marL="0">
              <a:buNone/>
            </a:pPr>
            <a:r>
              <a:rPr lang="en-US" sz="1200" b="1" i="1" dirty="0">
                <a:solidFill>
                  <a:srgbClr val="202124"/>
                </a:solidFill>
                <a:latin typeface="Quicksand" pitchFamily="34" charset="0"/>
                <a:ea typeface="Quicksand" pitchFamily="34" charset="-122"/>
                <a:cs typeface="Quicksand" pitchFamily="34" charset="-120"/>
              </a:rPr>
              <a:t>Microwave oven with keypad and display</a:t>
            </a:r>
            <a:endParaRPr lang="en-US" sz="1200" dirty="0"/>
          </a:p>
        </p:txBody>
      </p:sp>
      <p:sp>
        <p:nvSpPr>
          <p:cNvPr id="10" name="Shape 6"/>
          <p:cNvSpPr/>
          <p:nvPr/>
        </p:nvSpPr>
        <p:spPr>
          <a:xfrm>
            <a:off x="5669280" y="1280160"/>
            <a:ext cx="5852160" cy="2240280"/>
          </a:xfrm>
          <a:prstGeom prst="rect">
            <a:avLst/>
          </a:prstGeom>
          <a:solidFill>
            <a:srgbClr val="F6F5FC"/>
          </a:solidFill>
          <a:ln w="12700">
            <a:solidFill>
              <a:srgbClr val="F6F5FC"/>
            </a:solidFill>
            <a:prstDash val="solid"/>
          </a:ln>
        </p:spPr>
      </p:sp>
      <p:sp>
        <p:nvSpPr>
          <p:cNvPr id="11" name="Shape 7"/>
          <p:cNvSpPr/>
          <p:nvPr/>
        </p:nvSpPr>
        <p:spPr>
          <a:xfrm>
            <a:off x="5669280" y="1280160"/>
            <a:ext cx="73152" cy="2240280"/>
          </a:xfrm>
          <a:prstGeom prst="rect">
            <a:avLst/>
          </a:prstGeom>
          <a:solidFill>
            <a:srgbClr val="494985"/>
          </a:solidFill>
          <a:ln w="12700">
            <a:solidFill>
              <a:srgbClr val="494985"/>
            </a:solidFill>
            <a:prstDash val="solid"/>
          </a:ln>
        </p:spPr>
      </p:sp>
      <p:sp>
        <p:nvSpPr>
          <p:cNvPr id="12" name="Text 8"/>
          <p:cNvSpPr txBox="1"/>
          <p:nvPr/>
        </p:nvSpPr>
        <p:spPr>
          <a:xfrm>
            <a:off x="5897880" y="1371600"/>
            <a:ext cx="548640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ROM holds</a:t>
            </a:r>
            <a:endParaRPr lang="en-US" sz="1500" dirty="0"/>
          </a:p>
        </p:txBody>
      </p:sp>
      <p:sp>
        <p:nvSpPr>
          <p:cNvPr id="13" name="Text 9"/>
          <p:cNvSpPr txBox="1"/>
          <p:nvPr/>
        </p:nvSpPr>
        <p:spPr>
          <a:xfrm>
            <a:off x="5897880" y="1783080"/>
            <a:ext cx="5486400" cy="164592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The firmware that controls the oven</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Start-up instructions</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Built-in cooking programs (defrost, popcorn ...)</a:t>
            </a:r>
            <a:endParaRPr lang="en-US" sz="1400" dirty="0"/>
          </a:p>
        </p:txBody>
      </p:sp>
      <p:sp>
        <p:nvSpPr>
          <p:cNvPr id="14" name="Shape 10"/>
          <p:cNvSpPr/>
          <p:nvPr/>
        </p:nvSpPr>
        <p:spPr>
          <a:xfrm>
            <a:off x="5669280" y="3703320"/>
            <a:ext cx="5852160" cy="2286000"/>
          </a:xfrm>
          <a:prstGeom prst="rect">
            <a:avLst/>
          </a:prstGeom>
          <a:solidFill>
            <a:srgbClr val="F6F5FC"/>
          </a:solidFill>
          <a:ln w="12700">
            <a:solidFill>
              <a:srgbClr val="F6F5FC"/>
            </a:solidFill>
            <a:prstDash val="solid"/>
          </a:ln>
        </p:spPr>
      </p:sp>
      <p:sp>
        <p:nvSpPr>
          <p:cNvPr id="15" name="Shape 11"/>
          <p:cNvSpPr/>
          <p:nvPr/>
        </p:nvSpPr>
        <p:spPr>
          <a:xfrm>
            <a:off x="5669280" y="3703320"/>
            <a:ext cx="73152" cy="2286000"/>
          </a:xfrm>
          <a:prstGeom prst="rect">
            <a:avLst/>
          </a:prstGeom>
          <a:solidFill>
            <a:srgbClr val="2E7D5B"/>
          </a:solidFill>
          <a:ln w="12700">
            <a:solidFill>
              <a:srgbClr val="2E7D5B"/>
            </a:solidFill>
            <a:prstDash val="solid"/>
          </a:ln>
        </p:spPr>
      </p:sp>
      <p:sp>
        <p:nvSpPr>
          <p:cNvPr id="16" name="Text 12"/>
          <p:cNvSpPr txBox="1"/>
          <p:nvPr/>
        </p:nvSpPr>
        <p:spPr>
          <a:xfrm>
            <a:off x="5897880" y="3794760"/>
            <a:ext cx="548640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RAM holds</a:t>
            </a:r>
            <a:endParaRPr lang="en-US" sz="1500" dirty="0"/>
          </a:p>
        </p:txBody>
      </p:sp>
      <p:sp>
        <p:nvSpPr>
          <p:cNvPr id="17" name="Text 13"/>
          <p:cNvSpPr txBox="1"/>
          <p:nvPr/>
        </p:nvSpPr>
        <p:spPr>
          <a:xfrm>
            <a:off x="5897880" y="4206240"/>
            <a:ext cx="5486400" cy="1691640"/>
          </a:xfrm>
          <a:prstGeom prst="rect">
            <a:avLst/>
          </a:prstGeom>
          <a:noFill/>
          <a:ln/>
        </p:spPr>
        <p:txBody>
          <a:bodyPr wrap="square" lIns="0" tIns="0" rIns="0" bIns="0" rtlCol="0" anchor="t"/>
          <a:lstStyle/>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The time and power level the user enters</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The time left in the countdown</a:t>
            </a:r>
            <a:endParaRPr lang="en-US" sz="1400" dirty="0"/>
          </a:p>
          <a:p>
            <a:pPr marL="228600" indent="-228600">
              <a:spcAft>
                <a:spcPts val="500"/>
              </a:spcAft>
              <a:buSzPct val="100000"/>
              <a:buChar char="•"/>
            </a:pPr>
            <a:r>
              <a:rPr lang="en-US" sz="1400" dirty="0">
                <a:solidFill>
                  <a:srgbClr val="202124"/>
                </a:solidFill>
                <a:latin typeface="Quicksand" pitchFamily="34" charset="0"/>
                <a:ea typeface="Quicksand" pitchFamily="34" charset="-122"/>
                <a:cs typeface="Quicksand" pitchFamily="34" charset="-120"/>
              </a:rPr>
              <a:t>Current readings, e.g. whether the door is open</a:t>
            </a:r>
            <a:endParaRPr lang="en-US" sz="1400" dirty="0"/>
          </a:p>
        </p:txBody>
      </p:sp>
      <p:sp>
        <p:nvSpPr>
          <p:cNvPr id="18" name="Text 14"/>
          <p:cNvSpPr txBox="1"/>
          <p:nvPr/>
        </p:nvSpPr>
        <p:spPr>
          <a:xfrm>
            <a:off x="777240" y="4572000"/>
            <a:ext cx="4572000" cy="8229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Always say what the memory holds in THIS device.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embedded systems (Paper 1)</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744200" cy="914400"/>
        </p:xfrm>
        <a:graphic>
          <a:graphicData uri="http://schemas.openxmlformats.org/drawingml/2006/table">
            <a:tbl>
              <a:tblPr/>
              <a:tblGrid>
                <a:gridCol w="2743200"/>
                <a:gridCol w="8001000"/>
              </a:tblGrid>
              <a:tr h="86868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Question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Official marking points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8686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9618/12 N23 Q1(c)(i)</a:t>
                      </a:r>
                      <a:endParaRPr lang="en-US" sz="1250" dirty="0">
                        <a:latin typeface="Quicksand" charset="0"/>
                        <a:ea typeface="Quicksand" charset="0"/>
                        <a:cs typeface="Quicksand" charset="0"/>
                      </a:endParaRPr>
                    </a:p>
                    <a:p>
                      <a:pPr indent="0" marL="0">
                        <a:buNone/>
                      </a:pPr>
                      <a:r>
                        <a:rPr lang="en-US" sz="1250" dirty="0">
                          <a:solidFill>
                            <a:srgbClr val="202124"/>
                          </a:solidFill>
                          <a:latin typeface="Quicksand" pitchFamily="34" charset="0"/>
                          <a:ea typeface="Quicksand" pitchFamily="34" charset="-122"/>
                          <a:cs typeface="Quicksand" pitchFamily="34" charset="-120"/>
                        </a:rPr>
                        <a:t>Two features [2]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Dedicated to a single task // limited number of functions;  built into / integrated into a larger system;  contains a processor, memory and an I/O capability // dedicated hardware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8686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9618/12 N23 Q1(c)(ii)</a:t>
                      </a:r>
                      <a:endParaRPr lang="en-US" sz="1250" dirty="0">
                        <a:latin typeface="Quicksand" charset="0"/>
                        <a:ea typeface="Quicksand" charset="0"/>
                        <a:cs typeface="Quicksand" charset="0"/>
                      </a:endParaRPr>
                    </a:p>
                    <a:p>
                      <a:pPr indent="0" marL="0">
                        <a:buNone/>
                      </a:pPr>
                      <a:r>
                        <a:rPr lang="en-US" sz="1250" dirty="0">
                          <a:solidFill>
                            <a:srgbClr val="202124"/>
                          </a:solidFill>
                          <a:latin typeface="Quicksand" pitchFamily="34" charset="0"/>
                          <a:ea typeface="Quicksand" pitchFamily="34" charset="-122"/>
                          <a:cs typeface="Quicksand" pitchFamily="34" charset="-120"/>
                        </a:rPr>
                        <a:t>One drawback [1]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Difficult for the user to change / update the firmware;  cannot be easily adapted for another task;  troubleshooting / upgrading is a specialist task;  often thrown away rather than repaired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8686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9618/11 N22 Q9(a)</a:t>
                      </a:r>
                      <a:endParaRPr lang="en-US" sz="1250" dirty="0">
                        <a:latin typeface="Quicksand" charset="0"/>
                        <a:ea typeface="Quicksand" charset="0"/>
                        <a:cs typeface="Quicksand" charset="0"/>
                      </a:endParaRPr>
                    </a:p>
                    <a:p>
                      <a:pPr indent="0" marL="0">
                        <a:buNone/>
                      </a:pPr>
                      <a:r>
                        <a:rPr lang="en-US" sz="1250" dirty="0">
                          <a:solidFill>
                            <a:srgbClr val="202124"/>
                          </a:solidFill>
                          <a:latin typeface="Quicksand" pitchFamily="34" charset="0"/>
                          <a:ea typeface="Quicksand" pitchFamily="34" charset="-122"/>
                          <a:cs typeface="Quicksand" pitchFamily="34" charset="-120"/>
                        </a:rPr>
                        <a:t>Why is a TV embedded? [2]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Built into / integrated into the TV;  combination of hardware and software designed for a specific function;  not easily changed / updated by the TV owner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8686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9618/11 N22 Q9(b)</a:t>
                      </a:r>
                      <a:endParaRPr lang="en-US" sz="1250" dirty="0">
                        <a:latin typeface="Quicksand" charset="0"/>
                        <a:ea typeface="Quicksand" charset="0"/>
                        <a:cs typeface="Quicksand" charset="0"/>
                      </a:endParaRPr>
                    </a:p>
                    <a:p>
                      <a:pPr indent="0" marL="0">
                        <a:buNone/>
                      </a:pPr>
                      <a:r>
                        <a:rPr lang="en-US" sz="1250" dirty="0">
                          <a:solidFill>
                            <a:srgbClr val="202124"/>
                          </a:solidFill>
                          <a:latin typeface="Quicksand" pitchFamily="34" charset="0"/>
                          <a:ea typeface="Quicksand" pitchFamily="34" charset="-122"/>
                          <a:cs typeface="Quicksand" pitchFamily="34" charset="-120"/>
                        </a:rPr>
                        <a:t>One benefit of EEPROM [2]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Can be erased and reprogrammed several times ... so firmware can be updated;  no extra equipment needed ... updates by non-technical users;  possible to update without removing it from the device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choosing a type of RAM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Shape 4"/>
          <p:cNvSpPr/>
          <p:nvPr/>
        </p:nvSpPr>
        <p:spPr>
          <a:xfrm>
            <a:off x="1121252" y="1197864"/>
            <a:ext cx="2603816" cy="22677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pdf_dram.jpg">    </p:cNvPr>
          <p:cNvPicPr>
            <a:picLocks noChangeAspect="1"/>
          </p:cNvPicPr>
          <p:nvPr/>
        </p:nvPicPr>
        <p:blipFill>
          <a:blip r:embed="rId1"/>
          <a:stretch>
            <a:fillRect/>
          </a:stretch>
        </p:blipFill>
        <p:spPr>
          <a:xfrm>
            <a:off x="1157828" y="1234440"/>
            <a:ext cx="2530664" cy="2194560"/>
          </a:xfrm>
          <a:prstGeom prst="rect">
            <a:avLst/>
          </a:prstGeom>
        </p:spPr>
      </p:pic>
      <p:sp>
        <p:nvSpPr>
          <p:cNvPr id="9" name="Text 5"/>
          <p:cNvSpPr txBox="1"/>
          <p:nvPr/>
        </p:nvSpPr>
        <p:spPr>
          <a:xfrm>
            <a:off x="4389120" y="1234440"/>
            <a:ext cx="7132320" cy="146304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9618/11 Oct/Nov 2023 Q7(c)</a:t>
            </a:r>
            <a:endParaRPr lang="en-US" sz="1500" dirty="0"/>
          </a:p>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A 3D printer contains 1GB of Dynamic RAM (DRAM) to store print data. State two advantages of the printer having Dynamic RAM instead of Static RAM (SRAM).  [2]</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389120" y="2834640"/>
          <a:ext cx="7132320" cy="914400"/>
        </p:xfrm>
        <a:graphic>
          <a:graphicData uri="http://schemas.openxmlformats.org/drawingml/2006/table">
            <a:tbl>
              <a:tblPr/>
              <a:tblGrid>
                <a:gridCol w="7132320"/>
              </a:tblGrid>
              <a:tr h="45720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Official marking points (1 mark each, max 2)</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Dynamic RAM has lower cost per unit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fast access speed is not needed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Higher bit density // more data can be stored per chip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1" name="Text 6"/>
          <p:cNvSpPr txBox="1"/>
          <p:nvPr/>
        </p:nvSpPr>
        <p:spPr>
          <a:xfrm>
            <a:off x="777240" y="5120640"/>
            <a:ext cx="10744200" cy="45720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Compare in context: why is DRAM good enough for THIS device?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 and pacing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744200" cy="914400"/>
        </p:xfrm>
        <a:graphic>
          <a:graphicData uri="http://schemas.openxmlformats.org/drawingml/2006/table">
            <a:tbl>
              <a:tblPr/>
              <a:tblGrid>
                <a:gridCol w="1645920"/>
                <a:gridCol w="1371600"/>
                <a:gridCol w="7726680"/>
              </a:tblGrid>
              <a:tr h="47548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Time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Slides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1  Starter: memory or storage?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5-15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4-8</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Primary memory and secondary storage, RAM, ROM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15-22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9-10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DRAM and SRAM;  Task 2  RAM, ROM, DRAM, SRAM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22-32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11-12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PROM, EPROM, EEPROM;  Task 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32-47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13-16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Embedded systems;  Task 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47-55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17-18</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Exam focus;  start Task 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55-60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Exit question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7548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Homework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5  Real Paper 1 questions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77240" y="5669280"/>
            <a:ext cx="1074420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work against the answer key when your teacher shares it.</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188720"/>
          <a:ext cx="10744200" cy="914400"/>
        </p:xfrm>
        <a:graphic>
          <a:graphicData uri="http://schemas.openxmlformats.org/drawingml/2006/table">
            <a:tbl>
              <a:tblPr/>
              <a:tblGrid>
                <a:gridCol w="4023360"/>
                <a:gridCol w="6720840"/>
              </a:tblGrid>
              <a:tr h="548640">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Misconception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250" b="1" dirty="0">
                          <a:solidFill>
                            <a:srgbClr val="FFFFFF"/>
                          </a:solidFill>
                          <a:latin typeface="Quicksand" pitchFamily="34" charset="0"/>
                          <a:ea typeface="Quicksand" pitchFamily="34" charset="-122"/>
                          <a:cs typeface="Quicksand" pitchFamily="34" charset="-120"/>
                        </a:rPr>
                        <a:t>Why it is wrong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RAM is a storage device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RAM is primary memory: it holds the data and programs in use now, and is volatile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Random access means data is stored in random places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Any location can be read directly, in the same time, wherever the last one was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ROM can never be changed</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Normal ROM cannot be changed in use, but PROM can be written once and EPROM / EEPROM can be erased and rewritten</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SRAM is faster, so all RAM should be SRAM</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SRAM costs more, stores fewer bits per chip and can use more power; DRAM is used for main memory</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Dynamic RAM is dynamic because its size changes</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It must be refreshed (recharged) many times a second or its data leaks away</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More RAM makes the processor faster</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More RAM means less swapping data in and out of slower secondary storage</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EPROM is erased electrically</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EPROM is erased with UV light through a quartz window, out of the circuit, all at once. EEPROM is erased electrically</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An embedded system is just a small computer</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202124"/>
                          </a:solidFill>
                          <a:latin typeface="Quicksand" pitchFamily="34" charset="0"/>
                          <a:ea typeface="Quicksand" pitchFamily="34" charset="-122"/>
                          <a:cs typeface="Quicksand" pitchFamily="34" charset="-120"/>
                        </a:rPr>
                        <a:t>It is a processor, memory and I/O built into a larger device and dedicated to one task</a:t>
                      </a:r>
                      <a:endParaRPr lang="en-US" sz="12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777240" y="1325880"/>
            <a:ext cx="10698480" cy="45720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On a sticky note or mini-whiteboard:</a:t>
            </a:r>
            <a:endParaRPr lang="en-US" sz="1800" dirty="0"/>
          </a:p>
        </p:txBody>
      </p:sp>
      <p:sp>
        <p:nvSpPr>
          <p:cNvPr id="8" name="Shape 5"/>
          <p:cNvSpPr/>
          <p:nvPr/>
        </p:nvSpPr>
        <p:spPr>
          <a:xfrm>
            <a:off x="777240" y="1965960"/>
            <a:ext cx="10744200" cy="1097280"/>
          </a:xfrm>
          <a:prstGeom prst="rect">
            <a:avLst/>
          </a:prstGeom>
          <a:solidFill>
            <a:srgbClr val="F6F5FC"/>
          </a:solidFill>
          <a:ln w="12700">
            <a:solidFill>
              <a:srgbClr val="F6F5FC"/>
            </a:solidFill>
            <a:prstDash val="solid"/>
          </a:ln>
        </p:spPr>
      </p:sp>
      <p:sp>
        <p:nvSpPr>
          <p:cNvPr id="9" name="Text 6"/>
          <p:cNvSpPr/>
          <p:nvPr/>
        </p:nvSpPr>
        <p:spPr>
          <a:xfrm>
            <a:off x="914400" y="2103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a:t>
            </a:r>
            <a:endParaRPr lang="en-US" sz="1400" dirty="0"/>
          </a:p>
        </p:txBody>
      </p:sp>
      <p:sp>
        <p:nvSpPr>
          <p:cNvPr id="10" name="Text 7"/>
          <p:cNvSpPr txBox="1"/>
          <p:nvPr/>
        </p:nvSpPr>
        <p:spPr>
          <a:xfrm>
            <a:off x="1435608" y="207568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RAM and ROM</a:t>
            </a:r>
            <a:endParaRPr lang="en-US" sz="1700" dirty="0"/>
          </a:p>
        </p:txBody>
      </p:sp>
      <p:sp>
        <p:nvSpPr>
          <p:cNvPr id="11" name="Text 8"/>
          <p:cNvSpPr txBox="1"/>
          <p:nvPr/>
        </p:nvSpPr>
        <p:spPr>
          <a:xfrm>
            <a:off x="1435608" y="246888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Give two differences between RAM and ROM.  [2]</a:t>
            </a:r>
            <a:endParaRPr lang="en-US" sz="1500" dirty="0"/>
          </a:p>
        </p:txBody>
      </p:sp>
      <p:sp>
        <p:nvSpPr>
          <p:cNvPr id="12" name="Shape 9"/>
          <p:cNvSpPr/>
          <p:nvPr/>
        </p:nvSpPr>
        <p:spPr>
          <a:xfrm>
            <a:off x="777240" y="3246120"/>
            <a:ext cx="10744200" cy="1097280"/>
          </a:xfrm>
          <a:prstGeom prst="rect">
            <a:avLst/>
          </a:prstGeom>
          <a:solidFill>
            <a:srgbClr val="F6F5FC"/>
          </a:solidFill>
          <a:ln w="12700">
            <a:solidFill>
              <a:srgbClr val="F6F5FC"/>
            </a:solidFill>
            <a:prstDash val="solid"/>
          </a:ln>
        </p:spPr>
      </p:sp>
      <p:sp>
        <p:nvSpPr>
          <p:cNvPr id="13" name="Text 10"/>
          <p:cNvSpPr/>
          <p:nvPr/>
        </p:nvSpPr>
        <p:spPr>
          <a:xfrm>
            <a:off x="914400"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b</a:t>
            </a:r>
            <a:endParaRPr lang="en-US" sz="1400" dirty="0"/>
          </a:p>
        </p:txBody>
      </p:sp>
      <p:sp>
        <p:nvSpPr>
          <p:cNvPr id="14" name="Text 11"/>
          <p:cNvSpPr txBox="1"/>
          <p:nvPr/>
        </p:nvSpPr>
        <p:spPr>
          <a:xfrm>
            <a:off x="1435608" y="335584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Cache memory</a:t>
            </a:r>
            <a:endParaRPr lang="en-US" sz="1700" dirty="0"/>
          </a:p>
        </p:txBody>
      </p:sp>
      <p:sp>
        <p:nvSpPr>
          <p:cNvPr id="15" name="Text 12"/>
          <p:cNvSpPr txBox="1"/>
          <p:nvPr/>
        </p:nvSpPr>
        <p:spPr>
          <a:xfrm>
            <a:off x="1435608" y="374904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Explain why cache memory is made from SRAM and not DRAM.  [1]</a:t>
            </a:r>
            <a:endParaRPr lang="en-US" sz="1500" dirty="0"/>
          </a:p>
        </p:txBody>
      </p:sp>
      <p:sp>
        <p:nvSpPr>
          <p:cNvPr id="16" name="Shape 13"/>
          <p:cNvSpPr/>
          <p:nvPr/>
        </p:nvSpPr>
        <p:spPr>
          <a:xfrm>
            <a:off x="777240" y="4526280"/>
            <a:ext cx="10744200" cy="1097280"/>
          </a:xfrm>
          <a:prstGeom prst="rect">
            <a:avLst/>
          </a:prstGeom>
          <a:solidFill>
            <a:srgbClr val="F6F5FC"/>
          </a:solidFill>
          <a:ln w="12700">
            <a:solidFill>
              <a:srgbClr val="F6F5FC"/>
            </a:solidFill>
            <a:prstDash val="solid"/>
          </a:ln>
        </p:spPr>
      </p:sp>
      <p:sp>
        <p:nvSpPr>
          <p:cNvPr id="17" name="Text 14"/>
          <p:cNvSpPr/>
          <p:nvPr/>
        </p:nvSpPr>
        <p:spPr>
          <a:xfrm>
            <a:off x="914400"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c</a:t>
            </a:r>
            <a:endParaRPr lang="en-US" sz="1400" dirty="0"/>
          </a:p>
        </p:txBody>
      </p:sp>
      <p:sp>
        <p:nvSpPr>
          <p:cNvPr id="18" name="Text 15"/>
          <p:cNvSpPr txBox="1"/>
          <p:nvPr/>
        </p:nvSpPr>
        <p:spPr>
          <a:xfrm>
            <a:off x="1435608" y="4636008"/>
            <a:ext cx="996696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Embedded systems</a:t>
            </a:r>
            <a:endParaRPr lang="en-US" sz="1700" dirty="0"/>
          </a:p>
        </p:txBody>
      </p:sp>
      <p:sp>
        <p:nvSpPr>
          <p:cNvPr id="19" name="Text 16"/>
          <p:cNvSpPr txBox="1"/>
          <p:nvPr/>
        </p:nvSpPr>
        <p:spPr>
          <a:xfrm>
            <a:off x="1435608" y="5029200"/>
            <a:ext cx="996696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Identify one drawback of embedded systems.  [1]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Text 4"/>
          <p:cNvSpPr txBox="1"/>
          <p:nvPr/>
        </p:nvSpPr>
        <p:spPr>
          <a:xfrm>
            <a:off x="841248" y="1371600"/>
            <a:ext cx="10241280" cy="35661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Explained why a computer needs input, output, primary memory and secondary storage</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Compared RAM and ROM, and said what each holds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Compared DRAM and SRAM, and where each is used</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Compared PROM, EPROM and EEPROM</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Described embedded systems, with their benefits and drawbacks</a:t>
            </a:r>
            <a:endParaRPr lang="en-US" sz="1700" dirty="0"/>
          </a:p>
        </p:txBody>
      </p:sp>
      <p:sp>
        <p:nvSpPr>
          <p:cNvPr id="8" name="Text 5"/>
          <p:cNvSpPr txBox="1"/>
          <p:nvPr/>
        </p:nvSpPr>
        <p:spPr>
          <a:xfrm>
            <a:off x="841248" y="5120640"/>
            <a:ext cx="10241280" cy="54864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how secondary storage devices work, and buffers.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Sources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Credits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7" name="Text 4"/>
          <p:cNvSpPr txBox="1"/>
          <p:nvPr/>
        </p:nvSpPr>
        <p:spPr>
          <a:xfrm>
            <a:off x="777240" y="1143000"/>
            <a:ext cx="10744200" cy="320040"/>
          </a:xfrm>
          <a:prstGeom prst="rect">
            <a:avLst/>
          </a:prstGeom>
          <a:noFill/>
          <a:ln/>
        </p:spPr>
        <p:txBody>
          <a:bodyPr wrap="square" lIns="0" tIns="0" rIns="0" bIns="0" rtlCol="0" anchor="t"/>
          <a:lstStyle/>
          <a:p>
            <a:pPr indent="0" marL="0">
              <a:spcAft>
                <a:spcPts val="600"/>
              </a:spcAft>
              <a:buNone/>
            </a:pPr>
            <a:r>
              <a:rPr lang="en-US" sz="1300" b="1" dirty="0">
                <a:solidFill>
                  <a:srgbClr val="494985"/>
                </a:solidFill>
                <a:latin typeface="Quicksand" pitchFamily="34" charset="0"/>
                <a:ea typeface="Quicksand" pitchFamily="34" charset="-122"/>
                <a:cs typeface="Quicksand" pitchFamily="34" charset="-120"/>
              </a:rPr>
              <a:t>Photos: Wikimedia Commons (title - author, licence)</a:t>
            </a:r>
            <a:endParaRPr lang="en-US" sz="1300" dirty="0"/>
          </a:p>
        </p:txBody>
      </p:sp>
      <p:sp>
        <p:nvSpPr>
          <p:cNvPr id="8" name="Text 5"/>
          <p:cNvSpPr txBox="1"/>
          <p:nvPr/>
        </p:nvSpPr>
        <p:spPr>
          <a:xfrm>
            <a:off x="777240" y="1508760"/>
            <a:ext cx="5303520" cy="2743200"/>
          </a:xfrm>
          <a:prstGeom prst="rect">
            <a:avLst/>
          </a:prstGeom>
          <a:noFill/>
          <a:ln/>
        </p:spPr>
        <p:txBody>
          <a:bodyPr wrap="square" lIns="0" tIns="0" rIns="0" bIns="0" rtlCol="0" anchor="t"/>
          <a:lstStyle/>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Arduino Uno - R3 - SparkFun Electronics (CC BY 2.0)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AMI 486DX EISA BIOS 20051109 - Andrew Dunn (CC BY-SA 2.0)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AMD Ryzen 9 5900X by BugWarp 02 - BugWarp (CC0)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Car Dashboard at Night - ParentingPatch (CC BY-SA 3.0)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DDR 4 SO-DIMM RAM slot PNr°0837 - D-Kuru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Ring video doorbell on stone - Robert Nelson (CC BY 2.0)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EPROM! in der Hand 20070124 - Windell Oskay (CC BY 2.0)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Microchips - Zephyris (CC BY-SA 3.0)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Microwave oven flashon - Wrightmt (Public domain)</a:t>
            </a:r>
            <a:endParaRPr lang="en-US" sz="1050" dirty="0"/>
          </a:p>
        </p:txBody>
      </p:sp>
      <p:sp>
        <p:nvSpPr>
          <p:cNvPr id="9" name="Text 6"/>
          <p:cNvSpPr txBox="1"/>
          <p:nvPr/>
        </p:nvSpPr>
        <p:spPr>
          <a:xfrm>
            <a:off x="6217920" y="1508760"/>
            <a:ext cx="5303520" cy="2743200"/>
          </a:xfrm>
          <a:prstGeom prst="rect">
            <a:avLst/>
          </a:prstGeom>
          <a:noFill/>
          <a:ln/>
        </p:spPr>
        <p:txBody>
          <a:bodyPr wrap="square" lIns="0" tIns="0" rIns="0" bIns="0" rtlCol="0" anchor="t"/>
          <a:lstStyle/>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Computer-motherboard - Marcin Wieclaw (pcsite.co.uk)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DIMM IMGP5807 smial wp - smial (Free Art License)</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SanDisk 128MB SD card - Mister rf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Hyundai RAM HY6116AP-10 - Satyamfifa (Public domain)</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Woman adjusts temperature on smart thermostat with remote control at home - Shixart1985 (CC BY 2.0)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Traffic Light, Vienna - John Samuel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Kingston Technology DataTraveler G4 USB flash drive USB 3.0 32 Gb - Dmitry Makeev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Washing-machine - Baruzza (CC BY-SA 4.0)</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Huawei Smartwatch (Band 4) - TheArchivistMan (CC0)</a:t>
            </a:r>
            <a:endParaRPr lang="en-US" sz="1050" dirty="0"/>
          </a:p>
        </p:txBody>
      </p:sp>
      <p:sp>
        <p:nvSpPr>
          <p:cNvPr id="10" name="Text 7"/>
          <p:cNvSpPr txBox="1"/>
          <p:nvPr/>
        </p:nvSpPr>
        <p:spPr>
          <a:xfrm>
            <a:off x="777240" y="4389120"/>
            <a:ext cx="10744200" cy="1737360"/>
          </a:xfrm>
          <a:prstGeom prst="rect">
            <a:avLst/>
          </a:prstGeom>
          <a:noFill/>
          <a:ln/>
        </p:spPr>
        <p:txBody>
          <a:bodyPr wrap="square" lIns="0" tIns="0" rIns="0" bIns="0" rtlCol="0" anchor="t"/>
          <a:lstStyle/>
          <a:p>
            <a:pPr indent="0" marL="0">
              <a:spcAft>
                <a:spcPts val="600"/>
              </a:spcAft>
              <a:buNone/>
            </a:pPr>
            <a:r>
              <a:rPr lang="en-US" sz="1050" b="1" dirty="0">
                <a:solidFill>
                  <a:srgbClr val="494985"/>
                </a:solidFill>
                <a:latin typeface="Quicksand" pitchFamily="34" charset="0"/>
                <a:ea typeface="Quicksand" pitchFamily="34" charset="-122"/>
                <a:cs typeface="Quicksand" pitchFamily="34" charset="-120"/>
              </a:rPr>
              <a:t>Textbook</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Watson, D. and Williams, H. Cambridge International AS &amp; A Level Computer Science, Hodder Education, 2019, Chapter 3.1 (text; 5 photos: RAM, DRAM, SSD, hard disk, optical disc).</a:t>
            </a:r>
            <a:endParaRPr lang="en-US" sz="1050" dirty="0"/>
          </a:p>
          <a:p>
            <a:pPr indent="0" marL="0">
              <a:spcAft>
                <a:spcPts val="600"/>
              </a:spcAft>
              <a:buNone/>
            </a:pPr>
            <a:r>
              <a:rPr lang="en-US" sz="1050" b="1" dirty="0">
                <a:solidFill>
                  <a:srgbClr val="494985"/>
                </a:solidFill>
                <a:latin typeface="Quicksand" pitchFamily="34" charset="0"/>
                <a:ea typeface="Quicksand" pitchFamily="34" charset="-122"/>
                <a:cs typeface="Quicksand" pitchFamily="34" charset="-120"/>
              </a:rPr>
              <a:t>Exam questions</a:t>
            </a:r>
            <a:endParaRPr lang="en-US" sz="1050" dirty="0"/>
          </a:p>
          <a:p>
            <a:pPr indent="0" marL="0">
              <a:spcAft>
                <a:spcPts val="600"/>
              </a:spcAft>
              <a:buNone/>
            </a:pPr>
            <a:r>
              <a:rPr lang="en-US" sz="1050" dirty="0">
                <a:solidFill>
                  <a:srgbClr val="202124"/>
                </a:solidFill>
                <a:latin typeface="Quicksand" pitchFamily="34" charset="0"/>
                <a:ea typeface="Quicksand" pitchFamily="34" charset="-122"/>
                <a:cs typeface="Quicksand" pitchFamily="34" charset="-120"/>
              </a:rPr>
              <a:t>Cambridge International AS &amp; A Level Computer Science 9618 question papers and mark schemes: 9618/11 June 2021, 9618/11 and /12 Oct/Nov 2022, 9618/11 June 2023, 9618/11 and /12 Oct/Nov 2023, 9618/11 and /12 June 2024, 9618/11 and /12 Oct/Nov 2024. (c) Cambridge University Press &amp; Assessment.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1: memory and embedded systems</dc:title>
  <dc:subject>PptxGenJS Presentation</dc:subject>
  <dc:creator>PptxGenJS</dc:creator>
  <cp:lastModifiedBy>PptxGenJS</cp:lastModifiedBy>
  <cp:revision>1</cp:revision>
  <dcterms:created xsi:type="dcterms:W3CDTF">2026-10-30T01:13:06Z</dcterms:created>
  <dcterms:modified xsi:type="dcterms:W3CDTF">2026-10-30T01:13:06Z</dcterms:modified>
</cp:coreProperties>
</file>