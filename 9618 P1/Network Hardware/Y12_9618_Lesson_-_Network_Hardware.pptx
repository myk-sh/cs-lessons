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Covers syllabus 2.1: "Describe the hardware that is used to support a LAN" (switch, server, NIC, WNIC, WAP, cables, bridge, repeater) and "Describe the role and function of a router in a network". Hub, MAC address and modem are not named in the syllabus, but they appear in mark schemes, so they are included. Ethernet and CSMA/CD come next lesson (textbook 2.1.7).
All photos are from Wikimedia Commons under free licences; full credits are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Worksheet Task 1 - closed book, 7 minutes, then swap and mark from the answer key. It checks last lesson (2.1.5). Q2 is a real question: 9618/13 Oct/Nov 2024 Q9(b). Q3 is based on 9618/11 May/June 2021 Q4(c)(ii).
Re-teach threshold: fewer than 2/4 on Q2 means recap fibre vs radio/microwaves before slide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Think-pair-share, 3 minutes: which device is each letter? Worksheet Task 2(a) uses this diagram.
Answers (revealed on slide 18): A switch, B server, C wireless access point, D WNIC (inside the laptop), E NIC (inside the PC), F bridge, G repeater, H router.
Prompt questions: Why does the sports hall need G? (150 m is past the ~100 m limit of twisted pair, so the signal fades.) Why is F a bridge and not a router? (both segments are the same school LAN, same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NIC is needed for any device to connect to a network. Today it is usually built into the motherboard, but the job is the same. Key exam fact: the NIC holds the device's MAC address, set at manufacture. Wired NICs are for Ethernet (twisted pair cable).
MAC = Media Access Control. 48 bits = 12 hex digits, often written as 6 pairs. The first half identifies the manufacturer, the second half is the device serial number. Hub and MAC address are not named in the syllabus, but MAC appears in many router, switch and WNIC marking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marking points for "Describe the functions of a WNIC" (9618/11 &amp; 13 Oct/Nov 2021 Q8(c), [4]): provides an interface to the wireless network as an antenna; receives analogue radio waves and converts them to digital; checks incoming transmissions for the correct MAC/IP address and ignores those not for it; encrypts/decrypts data; takes digital data, converts it to analogue radio waves and sends them via the antenna.
Examiner report: "a frequent misconception that the WNIC provided an IP address rather than a unique MAC address", and "a WNIC functions like a NIC, but wirelessly" was not precise enough.
Modes (textbook): infrastructure mode goes through a WAP; ad hoc mode connects devices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contrast underpins the rest of the lesson: switches work with MAC addresses inside a LAN; routers work with IP addresses between networks. Private IP addresses are "assigned by the router within the LAN" (9618/12 May/June 2025 Q6(c)). IP addressing is covered in detail later in 2.1/2.2 - keep it light here.
Quick check: a laptop moves from home to school. Which address changes? (IP - it is given a new private IP by the school router. The MAC stays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connect devices in a star topology. A hub broadcasts every packet to every port: wasteful of bandwidth, more collisions, and insecure (every device sees all traffic). A switch reads the destination MAC address and sends the data only to that device.
Hubs are not in the syllabus but are credited as a connecting device (9618/11 Oct/Nov 2021 Q8(b)) and appear as a distractor: "directs each packet to all devices attached to it" is NOT done by a router (9618/11 May/June 2021 Q4(c)(i)).
Examiner report (9618/12 May/June 2025): candidates must "make it clear that the switch sends only to the intended recipient".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marking points for "Describe the role of a switch in a network" (9618/12 May/June 2025 Q6(e), max 3): stores the MAC addresses of devices connected to it; receives packets from devices; forwards packets directly to the intended recipient; provides a central point of connection; enables connected devices to communicate.
Examiner report: "A common incorrect answer was, 'to turn the network on and off'." On a home network the router box contains the switch.
The MAC address table is built automatically: the switch notes the source MAC of each frame and the port it came in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purpose (9618/11 Oct/Nov 2023 Q2(b)): to allow devices to connect to the central device using radio signals / Wi-Fi; to allow the central device to send/receive radio (Wi-Fi) signals; to allow wireless-enabled devices to connect to a wired network. (9618/12 May/June 2022 Q9(a)): hardware that provides radio communication from the central device to nodes on the network, and vice versa.
Examiner reports: "allows a device to connect wirelessly" is not clear enough, and "a WAP provides a wireless access point" just expands the acronym and earns nothing.
The photo shows a ceiling-mounted WAP like the ones in most schools: a cable (often with power over Ethernet) runs from it to a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server is a computer (hardware), usually more powerful than a client, that provides a service to the other computers (clients) on the network. Link back to client-server model (2.1.2). Servers in a school are usually in racks in a server room, connected to a core switch.
Careful: a server does not connect devices together. In 9618 Specimen Paper 1 Q2(d)(i) ("identify three items of hardware" that connect a LAN) the mark scheme says "Do not award cables, computers, servers".
One exam (9618/12 Oct/Nov 2022 Q10(b)(i)) accepts attaching the router to the server because "it processes requests and authorises traffic // firewall software on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from 2.1.5. Official marking points, 9618/12 May/June 2022 Q9(b) "Describe three differences between fibre-optic cables and copper cables" [3]: fibre uses light, copper uses electrical signals; fibre has higher bandwidth / transmission rate; fibre has a smaller risk of (noise) interference; fibre can be used over longer distances before repeaters are needed; fibre is much more difficult to hack into; fibre is more prone to damage.
Useful link to the next slide: every cable has a maximum length (about 100 m for twisted pair) because signals lose strength (attenuation).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description (9618/12 May/June 2022 Q9(a)): "Restores the digital signal so it can be transmitted over greater distances" - candidates had to name the device: Repeater.
Textbook points: signals suffer attenuation (signal loss) over long distances; repeaters boost the signal so it can travel further; used on copper and fibre links, and as Wi-Fi repeaters (range extenders) to remove dead spots. They are "non-logical": they boost every signal they detect, without reading addresses.
Misconception: a repeater does not filter, route or speed up data - it only restores signal strength.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purpose (9618/11 Oct/Nov 2023 Q2(b)): to connect two LANs / segments with the same protocol // to transmit data between two networks with the same protocol.
Textbook: bridges connect one LAN to another LAN that uses the same protocol, often to join parts of a LAN so they function as a single LAN. A bridge only passes on data meant for the other side, so it stops each segment flooding the other with traffic. To connect to a different network, such as the internet, a router is used.
Watch out: 9618/12 May/June 2022 Q9(a) gives the description "Receives and sends data between two networks operating on the same protocol" and its published mark scheme answer is "Router". That description matches the textbook's definition of a bridge. Teach "bridge"; see the answer key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most-examined device (about 8 question parts since 2021). Official marking points combined from 9618/11 Oct/Nov 2023 Q2(a), 9618/12 Oct/Nov 2022 Q10(b)(ii), 9618/12 Oct/Nov 2021 Q3(b)(ii), 9618/12 May/June 2024 Q3(c)(i): receives packets from devices / the internet; analyses the destination IP address of each packet; forwards the packet towards its destination using the routing table; maintains / updates the routing table; finds the most efficient route; assigns private IP addresses to devices on the LAN; provides the LAN with a public IP address / NAT; maintains a table of MAC and IP addresses; acts as a gateway; performs protocol conversion / changes the packet format for the next network; acts as a firewall.
Examiner reports: "the router connects the LAN to the Internet" is too superficial; good answers talk about receiving and forwarding packets and IP/MAC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numbered path. Within the LAN the switch delivers using MAC addresses; to leave the LAN, packets go to the router, which reads the destination IP address and forwards them using its routing table. Each router on the internet repeats this until the packet reaches the destination network (9618/12 May/June 2024 Q3(c)(i)).
Router vs switch is the key contrast. A router can join networks that use different protocols (e.g. Ethernet LAN to a Wi-Fi network, or to the ISP's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Modem (MOdulator DEModulator) is internet hardware (syllabus: "Describe the hardware that is used to support the internet": modems, PSTN, dedicated lines, cell phone network). Official point (9618/11 May/June 2025 Q2(c)): converts digital data into analogue for transmission down phone lines // converts analogue back into digital after transmission.
The home "router" is really several devices in one box. Students should name the device that does the job in the question, e.g. "the WAP in the router" - examiner report 9618/12 Oct/Nov 2021: "It asked for functions of the router not the WAP".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Task 2(a). Go round the class: for each device, one sentence on its purpose using the slide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AFTER students attempt worksheet Task 4. 9618/11 Oct/Nov 2023 Q2(a) [3] - official marking points (max 3) shown. Examiner report: "Many candidates need to improve their understanding of the function of a router in a network... answers are expected to include more technical detail, rather than general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AFTER worksheet Task 5. Official points from 9618/11 Oct/Nov 2023 Q2(b) [3] (1 per device), 9618/11 and /13 Oct/Nov 2021 Q8(c) [4] and 9618/12 May/June 2022 Q9(a) [4].
Examiner report patterns: expanding the acronym ("a WAP provides a wireless access point") earns nothing; "a WNIC acts like a NIC in a wireless network" is too vague; WNICs provide a MAC address, not an IP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students should finish Tasks 1-5 in the lesson; Task 6 is extension or homework. Real past-paper questions are cited under each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Principal Examiner reports for 9618 Paper 1 (Nov 2021, June 2022, Nov 2022, Nov 2023, June 2025) and the textbook. Ask students which ones they believed at the start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(2 marks for (a), 2 for (b)):
(a) A switch reads the destination MAC address (1) and sends the data only to that device (1) // a hub sends the data to every device (1).
(b) A bridge joins two LAN segments that use the same protocol so they act as one LAN (1); a router forwards packets between different networks using IP addresses / a routing table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lesson: Ethernet and CSMA/CD (textbook 2.1.7) - how devices sharing a network detect and deal with collisions. Edit if your scheme differs.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900416" y="0"/>
            <a:ext cx="4288536" cy="6858000"/>
          </a:xfrm>
          <a:prstGeom prst="rect">
            <a:avLst/>
          </a:prstGeom>
          <a:solidFill>
            <a:srgbClr val="FFD84D"/>
          </a:solidFill>
          <a:ln w="12700">
            <a:solidFill>
              <a:srgbClr val="FFD84D"/>
            </a:solidFill>
            <a:prstDash val="solid"/>
          </a:ln>
        </p:spPr>
      </p:sp>
      <p:sp>
        <p:nvSpPr>
          <p:cNvPr id="3" name="Text 1"/>
          <p:cNvSpPr txBox="1"/>
          <p:nvPr/>
        </p:nvSpPr>
        <p:spPr>
          <a:xfrm>
            <a:off x="667512" y="2560320"/>
            <a:ext cx="7004304" cy="914400"/>
          </a:xfrm>
          <a:prstGeom prst="rect">
            <a:avLst/>
          </a:prstGeom>
          <a:noFill/>
          <a:ln/>
        </p:spPr>
        <p:txBody>
          <a:bodyPr wrap="square" lIns="0" tIns="0" rIns="0" bIns="0" rtlCol="0" anchor="b"/>
          <a:lstStyle/>
          <a:p>
            <a:pPr indent="0" marL="0">
              <a:buNone/>
            </a:pPr>
            <a:r>
              <a:rPr lang="en-US" sz="5400" b="1" dirty="0">
                <a:solidFill>
                  <a:srgbClr val="202124"/>
                </a:solidFill>
                <a:latin typeface="Quicksand" pitchFamily="34" charset="0"/>
                <a:ea typeface="Quicksand" pitchFamily="34" charset="-122"/>
                <a:cs typeface="Quicksand" pitchFamily="34" charset="-120"/>
              </a:rPr>
              <a:t>Network hardware</a:t>
            </a:r>
            <a:endParaRPr lang="en-US" sz="5400" dirty="0"/>
          </a:p>
        </p:txBody>
      </p:sp>
      <p:sp>
        <p:nvSpPr>
          <p:cNvPr id="4" name="Text 2"/>
          <p:cNvSpPr txBox="1"/>
          <p:nvPr/>
        </p:nvSpPr>
        <p:spPr>
          <a:xfrm>
            <a:off x="667512" y="3547872"/>
            <a:ext cx="7004304" cy="411480"/>
          </a:xfrm>
          <a:prstGeom prst="rect">
            <a:avLst/>
          </a:prstGeom>
          <a:noFill/>
          <a:ln/>
        </p:spPr>
        <p:txBody>
          <a:bodyPr wrap="square" lIns="0" tIns="0" rIns="0" bIns="0" rtlCol="0" anchor="ctr"/>
          <a:lstStyle/>
          <a:p>
            <a:pPr indent="0" marL="0">
              <a:buNone/>
            </a:pPr>
            <a:r>
              <a:rPr lang="en-US" sz="2000" dirty="0">
                <a:solidFill>
                  <a:srgbClr val="666666"/>
                </a:solidFill>
                <a:latin typeface="Quicksand" pitchFamily="34" charset="0"/>
                <a:ea typeface="Quicksand" pitchFamily="34" charset="-122"/>
                <a:cs typeface="Quicksand" pitchFamily="34" charset="-120"/>
              </a:rPr>
              <a:t>Y12 - Cambridge International 9618  |  2.1.6</a:t>
            </a:r>
            <a:endParaRPr lang="en-US" sz="2000" dirty="0"/>
          </a:p>
        </p:txBody>
      </p:sp>
      <p:sp>
        <p:nvSpPr>
          <p:cNvPr id="5" name="Shape 3"/>
          <p:cNvSpPr/>
          <p:nvPr/>
        </p:nvSpPr>
        <p:spPr>
          <a:xfrm>
            <a:off x="667512" y="4050792"/>
            <a:ext cx="1719072" cy="54864"/>
          </a:xfrm>
          <a:prstGeom prst="rect">
            <a:avLst/>
          </a:prstGeom>
          <a:solidFill>
            <a:srgbClr val="494985"/>
          </a:solidFill>
          <a:ln w="12700">
            <a:solidFill>
              <a:srgbClr val="494985"/>
            </a:solidFill>
            <a:prstDash val="solid"/>
          </a:ln>
        </p:spPr>
      </p:sp>
      <p:sp>
        <p:nvSpPr>
          <p:cNvPr id="6" name="Text 4"/>
          <p:cNvSpPr txBox="1"/>
          <p:nvPr/>
        </p:nvSpPr>
        <p:spPr>
          <a:xfrm>
            <a:off x="11247120" y="6400800"/>
            <a:ext cx="548640" cy="274320"/>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a:t>
            </a:r>
            <a:endParaRPr lang="en-US" sz="1350" dirty="0"/>
          </a:p>
        </p:txBody>
      </p:sp>
      <p:sp>
        <p:nvSpPr>
          <p:cNvPr id="8" name="Shape 5"/>
          <p:cNvSpPr/>
          <p:nvPr/>
        </p:nvSpPr>
        <p:spPr>
          <a:xfrm>
            <a:off x="8193024" y="1796034"/>
            <a:ext cx="3685032" cy="308305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9" name="Image 0" descr="figs/switch.jpg">    </p:cNvPr>
          <p:cNvPicPr>
            <a:picLocks noChangeAspect="1"/>
          </p:cNvPicPr>
          <p:nvPr/>
        </p:nvPicPr>
        <p:blipFill>
          <a:blip r:embed="rId1"/>
          <a:stretch>
            <a:fillRect/>
          </a:stretch>
        </p:blipFill>
        <p:spPr>
          <a:xfrm>
            <a:off x="8229600" y="1832610"/>
            <a:ext cx="3611880" cy="3009900"/>
          </a:xfrm>
          <a:prstGeom prst="rect">
            <a:avLst/>
          </a:prstGeom>
        </p:spPr>
      </p:pic>
      <p:sp>
        <p:nvSpPr>
          <p:cNvPr id="10" name="Text 6"/>
          <p:cNvSpPr txBox="1"/>
          <p:nvPr/>
        </p:nvSpPr>
        <p:spPr>
          <a:xfrm>
            <a:off x="8046720" y="4906518"/>
            <a:ext cx="3977640" cy="237744"/>
          </a:xfrm>
          <a:prstGeom prst="rect">
            <a:avLst/>
          </a:prstGeom>
          <a:noFill/>
          <a:ln/>
        </p:spPr>
        <p:txBody>
          <a:bodyPr wrap="square" lIns="0" tIns="0" rIns="0" bIns="0" rtlCol="0" anchor="ctr"/>
          <a:lstStyle/>
          <a:p>
            <a:pPr algn="ctr" indent="0" marL="0">
              <a:buNone/>
            </a:pPr>
            <a:pPr algn="ctr" indent="0" marL="0">
              <a:buNone/>
            </a:pPr>
            <a:r>
              <a:rPr lang="en-US" sz="800" i="1" dirty="0">
                <a:solidFill>
                  <a:srgbClr val="8A8A99"/>
                </a:solidFill>
                <a:latin typeface="Quicksand" pitchFamily="34" charset="0"/>
                <a:ea typeface="Quicksand" pitchFamily="34" charset="-122"/>
                <a:cs typeface="Quicksand" pitchFamily="34" charset="-120"/>
              </a:rPr>
              <a:t>Photo: Simon A. Eugster, CC BY-SA 3.0, Wikimedia Commons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Recall test: wired and wireless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Starter activity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a:t>
            </a:r>
            <a:endParaRPr lang="en-US" sz="13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96112" y="1325880"/>
          <a:ext cx="7315200" cy="914400"/>
        </p:xfrm>
        <a:graphic>
          <a:graphicData uri="http://schemas.openxmlformats.org/drawingml/2006/table">
            <a:tbl>
              <a:tblPr/>
              <a:tblGrid>
                <a:gridCol w="6309360"/>
                <a:gridCol w="1005840"/>
              </a:tblGrid>
              <a:tr h="502920">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Worksheet Task 1 covers...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Marks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Q1  Which cable? Twisted pair, coaxial or fibre optic</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3</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Q2  Identify and describe two transmission media (9618/13 Nov 2024)</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4</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Q3  Wired or wireless for films and games? Justify</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3</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8" name="Shape 4"/>
          <p:cNvSpPr/>
          <p:nvPr/>
        </p:nvSpPr>
        <p:spPr>
          <a:xfrm>
            <a:off x="8658336" y="1289304"/>
            <a:ext cx="2845849" cy="222199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9" name="Image 0" descr="figs/rj45.jpg">    </p:cNvPr>
          <p:cNvPicPr>
            <a:picLocks noChangeAspect="1"/>
          </p:cNvPicPr>
          <p:nvPr/>
        </p:nvPicPr>
        <p:blipFill>
          <a:blip r:embed="rId1"/>
          <a:stretch>
            <a:fillRect/>
          </a:stretch>
        </p:blipFill>
        <p:spPr>
          <a:xfrm>
            <a:off x="8694912" y="1325880"/>
            <a:ext cx="2772697" cy="2148840"/>
          </a:xfrm>
          <a:prstGeom prst="rect">
            <a:avLst/>
          </a:prstGeom>
        </p:spPr>
      </p:pic>
      <p:sp>
        <p:nvSpPr>
          <p:cNvPr id="10" name="Text 5"/>
          <p:cNvSpPr txBox="1"/>
          <p:nvPr/>
        </p:nvSpPr>
        <p:spPr>
          <a:xfrm>
            <a:off x="8458200" y="3538728"/>
            <a:ext cx="3246120" cy="237744"/>
          </a:xfrm>
          <a:prstGeom prst="rect">
            <a:avLst/>
          </a:prstGeom>
          <a:noFill/>
          <a:ln/>
        </p:spPr>
        <p:txBody>
          <a:bodyPr wrap="square" lIns="0" tIns="0" rIns="0" bIns="0" rtlCol="0" anchor="ctr"/>
          <a:lstStyle/>
          <a:p>
            <a:pPr algn="ctr" indent="0" marL="0">
              <a:buNone/>
            </a:pPr>
            <a:pPr algn="ctr" indent="0" marL="0">
              <a:buNone/>
            </a:pPr>
            <a:r>
              <a:rPr lang="en-US" sz="800" i="1" dirty="0">
                <a:solidFill>
                  <a:srgbClr val="8A8A99"/>
                </a:solidFill>
                <a:latin typeface="Quicksand" pitchFamily="34" charset="0"/>
                <a:ea typeface="Quicksand" pitchFamily="34" charset="-122"/>
                <a:cs typeface="Quicksand" pitchFamily="34" charset="-120"/>
              </a:rPr>
              <a:t>Photo: David Monniaux, CC BY-SA 3.0, Wikimedia Commons</a:t>
            </a:r>
            <a:endParaRPr lang="en-US" sz="1050" dirty="0"/>
          </a:p>
        </p:txBody>
      </p:sp>
      <p:sp>
        <p:nvSpPr>
          <p:cNvPr id="11" name="Shape 6"/>
          <p:cNvSpPr/>
          <p:nvPr/>
        </p:nvSpPr>
        <p:spPr>
          <a:xfrm>
            <a:off x="896112" y="3931920"/>
            <a:ext cx="7315200" cy="960120"/>
          </a:xfrm>
          <a:prstGeom prst="rect">
            <a:avLst/>
          </a:prstGeom>
          <a:solidFill>
            <a:srgbClr val="F6F5FC"/>
          </a:solidFill>
          <a:ln w="12700">
            <a:solidFill>
              <a:srgbClr val="F6F5FC"/>
            </a:solidFill>
            <a:prstDash val="solid"/>
          </a:ln>
        </p:spPr>
      </p:sp>
      <p:sp>
        <p:nvSpPr>
          <p:cNvPr id="12" name="Text 7"/>
          <p:cNvSpPr/>
          <p:nvPr/>
        </p:nvSpPr>
        <p:spPr>
          <a:xfrm>
            <a:off x="1033272" y="40690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3" name="Text 8"/>
          <p:cNvSpPr txBox="1"/>
          <p:nvPr/>
        </p:nvSpPr>
        <p:spPr>
          <a:xfrm>
            <a:off x="1554480" y="4041648"/>
            <a:ext cx="65379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Closed book - 7 minutes</a:t>
            </a:r>
            <a:endParaRPr lang="en-US" sz="1500" dirty="0"/>
          </a:p>
        </p:txBody>
      </p:sp>
      <p:sp>
        <p:nvSpPr>
          <p:cNvPr id="14" name="Text 9"/>
          <p:cNvSpPr txBox="1"/>
          <p:nvPr/>
        </p:nvSpPr>
        <p:spPr>
          <a:xfrm>
            <a:off x="1554480" y="4434840"/>
            <a:ext cx="6537960" cy="39319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No notes, no slides. Write as much as you can, then swap and mark with a different colour pen.</a:t>
            </a:r>
            <a:endParaRPr lang="en-US" sz="1250" dirty="0"/>
          </a:p>
        </p:txBody>
      </p:sp>
      <p:sp>
        <p:nvSpPr>
          <p:cNvPr id="15" name="Shape 10"/>
          <p:cNvSpPr/>
          <p:nvPr/>
        </p:nvSpPr>
        <p:spPr>
          <a:xfrm>
            <a:off x="896112" y="5029200"/>
            <a:ext cx="7315200" cy="960120"/>
          </a:xfrm>
          <a:prstGeom prst="rect">
            <a:avLst/>
          </a:prstGeom>
          <a:solidFill>
            <a:srgbClr val="F6F5FC"/>
          </a:solidFill>
          <a:ln w="12700">
            <a:solidFill>
              <a:srgbClr val="F6F5FC"/>
            </a:solidFill>
            <a:prstDash val="solid"/>
          </a:ln>
        </p:spPr>
      </p:sp>
      <p:sp>
        <p:nvSpPr>
          <p:cNvPr id="16" name="Text 11"/>
          <p:cNvSpPr/>
          <p:nvPr/>
        </p:nvSpPr>
        <p:spPr>
          <a:xfrm>
            <a:off x="1033272" y="51663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7" name="Text 12"/>
          <p:cNvSpPr txBox="1"/>
          <p:nvPr/>
        </p:nvSpPr>
        <p:spPr>
          <a:xfrm>
            <a:off x="1554480" y="5138928"/>
            <a:ext cx="65379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Why?</a:t>
            </a:r>
            <a:endParaRPr lang="en-US" sz="1500" dirty="0"/>
          </a:p>
        </p:txBody>
      </p:sp>
      <p:sp>
        <p:nvSpPr>
          <p:cNvPr id="18" name="Text 13"/>
          <p:cNvSpPr txBox="1"/>
          <p:nvPr/>
        </p:nvSpPr>
        <p:spPr>
          <a:xfrm>
            <a:off x="1554480" y="5532120"/>
            <a:ext cx="6537960" cy="39319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Today's devices sit on top of last lesson's cables and radio waves - repeaters exist because signals fade along a cable.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 this lesson, you will</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Objectives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3</a:t>
            </a:r>
            <a:endParaRPr lang="en-US" sz="1350" dirty="0"/>
          </a:p>
        </p:txBody>
      </p:sp>
      <p:sp>
        <p:nvSpPr>
          <p:cNvPr id="6" name="Text 4"/>
          <p:cNvSpPr txBox="1"/>
          <p:nvPr/>
        </p:nvSpPr>
        <p:spPr>
          <a:xfrm>
            <a:off x="841248" y="1463040"/>
            <a:ext cx="10241280" cy="402336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Identify the hardware used to support a LAN: switch, server, NIC, WNIC, WAP, cables, bridge and repeater</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Explain how a switch forwards data using MAC addresses, and why it beats a hub</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Describe the role and function of a router, using the technical detail examiners expect</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Tell MAC addresses and IP addresses apart</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Write full-mark answers to "describe the purpose of..." exam questions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Spot the hardware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4</a:t>
            </a:r>
            <a:endParaRPr lang="en-US" sz="1350" dirty="0"/>
          </a:p>
        </p:txBody>
      </p:sp>
      <p:sp>
        <p:nvSpPr>
          <p:cNvPr id="7" name="Shape 4"/>
          <p:cNvSpPr/>
          <p:nvPr/>
        </p:nvSpPr>
        <p:spPr>
          <a:xfrm>
            <a:off x="548640" y="1234440"/>
            <a:ext cx="5943600" cy="4343400"/>
          </a:xfrm>
          <a:prstGeom prst="rect">
            <a:avLst/>
          </a:prstGeom>
          <a:solidFill>
            <a:srgbClr val="FBFBFE"/>
          </a:solidFill>
          <a:ln w="12700">
            <a:solidFill>
              <a:srgbClr val="C8C8DC"/>
            </a:solidFill>
            <a:prstDash val="dash"/>
          </a:ln>
        </p:spPr>
      </p:sp>
      <p:sp>
        <p:nvSpPr>
          <p:cNvPr id="8" name="Shape 5"/>
          <p:cNvSpPr/>
          <p:nvPr/>
        </p:nvSpPr>
        <p:spPr>
          <a:xfrm>
            <a:off x="8549640" y="1234440"/>
            <a:ext cx="3063240" cy="4343400"/>
          </a:xfrm>
          <a:prstGeom prst="rect">
            <a:avLst/>
          </a:prstGeom>
          <a:solidFill>
            <a:srgbClr val="FBFBFE"/>
          </a:solidFill>
          <a:ln w="12700">
            <a:solidFill>
              <a:srgbClr val="C8C8DC"/>
            </a:solidFill>
            <a:prstDash val="dash"/>
          </a:ln>
        </p:spPr>
      </p:sp>
      <p:sp>
        <p:nvSpPr>
          <p:cNvPr id="9" name="Text 6"/>
          <p:cNvSpPr txBox="1"/>
          <p:nvPr/>
        </p:nvSpPr>
        <p:spPr>
          <a:xfrm>
            <a:off x="640080" y="1280160"/>
            <a:ext cx="2743200" cy="274320"/>
          </a:xfrm>
          <a:prstGeom prst="rect">
            <a:avLst/>
          </a:prstGeom>
          <a:noFill/>
          <a:ln/>
        </p:spPr>
        <p:txBody>
          <a:bodyPr wrap="square" lIns="0" tIns="0" rIns="0" bIns="0" rtlCol="0" anchor="ctr"/>
          <a:lstStyle/>
          <a:p>
            <a:pPr algn="l" indent="0" marL="0">
              <a:buNone/>
            </a:pPr>
            <a:r>
              <a:rPr lang="en-US" sz="1050" i="1" dirty="0">
                <a:solidFill>
                  <a:srgbClr val="666666"/>
                </a:solidFill>
                <a:latin typeface="Quicksand" pitchFamily="34" charset="0"/>
                <a:ea typeface="Quicksand" pitchFamily="34" charset="-122"/>
                <a:cs typeface="Quicksand" pitchFamily="34" charset="-120"/>
              </a:rPr>
              <a:t>Main building (LAN segment 1)</a:t>
            </a:r>
            <a:endParaRPr lang="en-US" sz="1050" dirty="0"/>
          </a:p>
        </p:txBody>
      </p:sp>
      <p:sp>
        <p:nvSpPr>
          <p:cNvPr id="10" name="Text 7"/>
          <p:cNvSpPr txBox="1"/>
          <p:nvPr/>
        </p:nvSpPr>
        <p:spPr>
          <a:xfrm>
            <a:off x="8641080" y="1280160"/>
            <a:ext cx="2926080" cy="274320"/>
          </a:xfrm>
          <a:prstGeom prst="rect">
            <a:avLst/>
          </a:prstGeom>
          <a:noFill/>
          <a:ln/>
        </p:spPr>
        <p:txBody>
          <a:bodyPr wrap="square" lIns="0" tIns="0" rIns="0" bIns="0" rtlCol="0" anchor="ctr"/>
          <a:lstStyle/>
          <a:p>
            <a:pPr algn="l" indent="0" marL="0">
              <a:buNone/>
            </a:pPr>
            <a:r>
              <a:rPr lang="en-US" sz="1050" i="1" dirty="0">
                <a:solidFill>
                  <a:srgbClr val="666666"/>
                </a:solidFill>
                <a:latin typeface="Quicksand" pitchFamily="34" charset="0"/>
                <a:ea typeface="Quicksand" pitchFamily="34" charset="-122"/>
                <a:cs typeface="Quicksand" pitchFamily="34" charset="-120"/>
              </a:rPr>
              <a:t>Sports hall, 150 m away (segment 2)</a:t>
            </a:r>
            <a:endParaRPr lang="en-US" sz="1050" dirty="0"/>
          </a:p>
        </p:txBody>
      </p:sp>
      <p:sp>
        <p:nvSpPr>
          <p:cNvPr id="11" name="Shape 8"/>
          <p:cNvSpPr/>
          <p:nvPr/>
        </p:nvSpPr>
        <p:spPr>
          <a:xfrm>
            <a:off x="1828800" y="2194560"/>
            <a:ext cx="1463040" cy="1097280"/>
          </a:xfrm>
          <a:prstGeom prst="line">
            <a:avLst/>
          </a:prstGeom>
          <a:noFill/>
          <a:ln w="19050">
            <a:solidFill>
              <a:srgbClr val="7A7AA0"/>
            </a:solidFill>
            <a:prstDash val="solid"/>
          </a:ln>
        </p:spPr>
      </p:sp>
      <p:sp>
        <p:nvSpPr>
          <p:cNvPr id="12" name="Shape 9"/>
          <p:cNvSpPr/>
          <p:nvPr/>
        </p:nvSpPr>
        <p:spPr>
          <a:xfrm>
            <a:off x="1828800" y="3291840"/>
            <a:ext cx="1463040" cy="914"/>
          </a:xfrm>
          <a:prstGeom prst="line">
            <a:avLst/>
          </a:prstGeom>
          <a:noFill/>
          <a:ln w="19050">
            <a:solidFill>
              <a:srgbClr val="7A7AA0"/>
            </a:solidFill>
            <a:prstDash val="solid"/>
          </a:ln>
        </p:spPr>
      </p:sp>
      <p:sp>
        <p:nvSpPr>
          <p:cNvPr id="13" name="Shape 10"/>
          <p:cNvSpPr/>
          <p:nvPr/>
        </p:nvSpPr>
        <p:spPr>
          <a:xfrm flipV="1">
            <a:off x="1828800" y="3291840"/>
            <a:ext cx="1463040" cy="1097280"/>
          </a:xfrm>
          <a:prstGeom prst="line">
            <a:avLst/>
          </a:prstGeom>
          <a:noFill/>
          <a:ln w="19050">
            <a:solidFill>
              <a:srgbClr val="7A7AA0"/>
            </a:solidFill>
            <a:prstDash val="solid"/>
          </a:ln>
        </p:spPr>
      </p:sp>
      <p:sp>
        <p:nvSpPr>
          <p:cNvPr id="14" name="Text 11"/>
          <p:cNvSpPr/>
          <p:nvPr/>
        </p:nvSpPr>
        <p:spPr>
          <a:xfrm>
            <a:off x="1143000" y="2002536"/>
            <a:ext cx="640080"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a:t>
            </a:r>
            <a:endParaRPr lang="en-US" sz="1100" dirty="0"/>
          </a:p>
        </p:txBody>
      </p:sp>
      <p:sp>
        <p:nvSpPr>
          <p:cNvPr id="15" name="Text 12"/>
          <p:cNvSpPr/>
          <p:nvPr/>
        </p:nvSpPr>
        <p:spPr>
          <a:xfrm>
            <a:off x="1143000" y="3099816"/>
            <a:ext cx="640080"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a:t>
            </a:r>
            <a:endParaRPr lang="en-US" sz="1100" dirty="0"/>
          </a:p>
        </p:txBody>
      </p:sp>
      <p:sp>
        <p:nvSpPr>
          <p:cNvPr id="16" name="Text 13"/>
          <p:cNvSpPr/>
          <p:nvPr/>
        </p:nvSpPr>
        <p:spPr>
          <a:xfrm>
            <a:off x="1143000" y="4197096"/>
            <a:ext cx="640080"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a:t>
            </a:r>
            <a:endParaRPr lang="en-US" sz="1100" dirty="0"/>
          </a:p>
        </p:txBody>
      </p:sp>
      <p:sp>
        <p:nvSpPr>
          <p:cNvPr id="17" name="Text 14"/>
          <p:cNvSpPr/>
          <p:nvPr/>
        </p:nvSpPr>
        <p:spPr>
          <a:xfrm>
            <a:off x="786384" y="202082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E</a:t>
            </a:r>
            <a:endParaRPr lang="en-US" sz="1200" dirty="0"/>
          </a:p>
        </p:txBody>
      </p:sp>
      <p:sp>
        <p:nvSpPr>
          <p:cNvPr id="18" name="Shape 15"/>
          <p:cNvSpPr/>
          <p:nvPr/>
        </p:nvSpPr>
        <p:spPr>
          <a:xfrm flipV="1">
            <a:off x="3291840" y="2148840"/>
            <a:ext cx="914" cy="1143000"/>
          </a:xfrm>
          <a:prstGeom prst="line">
            <a:avLst/>
          </a:prstGeom>
          <a:noFill/>
          <a:ln w="19050">
            <a:solidFill>
              <a:srgbClr val="7A7AA0"/>
            </a:solidFill>
            <a:prstDash val="solid"/>
          </a:ln>
        </p:spPr>
      </p:sp>
      <p:sp>
        <p:nvSpPr>
          <p:cNvPr id="19" name="Text 16"/>
          <p:cNvSpPr/>
          <p:nvPr/>
        </p:nvSpPr>
        <p:spPr>
          <a:xfrm>
            <a:off x="2788920" y="1737360"/>
            <a:ext cx="1005840" cy="457200"/>
          </a:xfrm>
          <a:prstGeom prst="rect">
            <a:avLst/>
          </a:prstGeom>
          <a:solidFill>
            <a:srgbClr val="E9E8F5"/>
          </a:solidFill>
          <a:ln w="15875">
            <a:solidFill>
              <a:srgbClr val="494985"/>
            </a:solidFill>
          </a:ln>
        </p:spPr>
        <p:txBody>
          <a:bodyPr wrap="square" lIns="0" tIns="0" rIns="0" bIns="0" rtlCol="0" anchor="ctr"/>
          <a:lstStyle/>
          <a:p>
            <a:pPr algn="ctr" indent="0" marL="0">
              <a:buNone/>
            </a:pPr>
            <a:endParaRPr lang="en-US" sz="1200" dirty="0"/>
          </a:p>
        </p:txBody>
      </p:sp>
      <p:sp>
        <p:nvSpPr>
          <p:cNvPr id="20" name="Text 17"/>
          <p:cNvSpPr/>
          <p:nvPr/>
        </p:nvSpPr>
        <p:spPr>
          <a:xfrm>
            <a:off x="2569464" y="160934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B</a:t>
            </a:r>
            <a:endParaRPr lang="en-US" sz="1200" dirty="0"/>
          </a:p>
        </p:txBody>
      </p:sp>
      <p:sp>
        <p:nvSpPr>
          <p:cNvPr id="21" name="Shape 18"/>
          <p:cNvSpPr/>
          <p:nvPr/>
        </p:nvSpPr>
        <p:spPr>
          <a:xfrm flipV="1">
            <a:off x="3291840" y="2240280"/>
            <a:ext cx="1828800" cy="1051560"/>
          </a:xfrm>
          <a:prstGeom prst="line">
            <a:avLst/>
          </a:prstGeom>
          <a:noFill/>
          <a:ln w="19050">
            <a:solidFill>
              <a:srgbClr val="7A7AA0"/>
            </a:solidFill>
            <a:prstDash val="solid"/>
          </a:ln>
        </p:spPr>
      </p:sp>
      <p:sp>
        <p:nvSpPr>
          <p:cNvPr id="22" name="Text 19"/>
          <p:cNvSpPr/>
          <p:nvPr/>
        </p:nvSpPr>
        <p:spPr>
          <a:xfrm>
            <a:off x="4709160" y="1911096"/>
            <a:ext cx="822960" cy="384048"/>
          </a:xfrm>
          <a:prstGeom prst="rect">
            <a:avLst/>
          </a:prstGeom>
          <a:solidFill>
            <a:srgbClr val="FFFFFF"/>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a:t>
            </a:r>
            <a:endParaRPr lang="en-US" sz="1200" dirty="0"/>
          </a:p>
        </p:txBody>
      </p:sp>
      <p:sp>
        <p:nvSpPr>
          <p:cNvPr id="23" name="Text 20"/>
          <p:cNvSpPr/>
          <p:nvPr/>
        </p:nvSpPr>
        <p:spPr>
          <a:xfrm>
            <a:off x="4443984" y="165506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C</a:t>
            </a:r>
            <a:endParaRPr lang="en-US" sz="1200" dirty="0"/>
          </a:p>
        </p:txBody>
      </p:sp>
      <p:sp>
        <p:nvSpPr>
          <p:cNvPr id="24" name="Shape 21"/>
          <p:cNvSpPr/>
          <p:nvPr/>
        </p:nvSpPr>
        <p:spPr>
          <a:xfrm>
            <a:off x="5257800" y="2194560"/>
            <a:ext cx="182880" cy="777240"/>
          </a:xfrm>
          <a:prstGeom prst="line">
            <a:avLst/>
          </a:prstGeom>
          <a:noFill/>
          <a:ln w="19050">
            <a:solidFill>
              <a:srgbClr val="4A90D9"/>
            </a:solidFill>
            <a:prstDash val="dash"/>
          </a:ln>
        </p:spPr>
      </p:sp>
      <p:sp>
        <p:nvSpPr>
          <p:cNvPr id="25" name="Text 22"/>
          <p:cNvSpPr/>
          <p:nvPr/>
        </p:nvSpPr>
        <p:spPr>
          <a:xfrm>
            <a:off x="5358384" y="2779776"/>
            <a:ext cx="749808"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000" b="1" dirty="0">
                <a:solidFill>
                  <a:srgbClr val="202124"/>
                </a:solidFill>
                <a:latin typeface="Quicksand" pitchFamily="34" charset="0"/>
                <a:ea typeface="Quicksand" pitchFamily="34" charset="-122"/>
                <a:cs typeface="Quicksand" pitchFamily="34" charset="-120"/>
              </a:rPr>
              <a:t>Laptop</a:t>
            </a:r>
            <a:endParaRPr lang="en-US" sz="1000" dirty="0"/>
          </a:p>
        </p:txBody>
      </p:sp>
      <p:sp>
        <p:nvSpPr>
          <p:cNvPr id="26" name="Shape 23"/>
          <p:cNvSpPr/>
          <p:nvPr/>
        </p:nvSpPr>
        <p:spPr>
          <a:xfrm flipV="1">
            <a:off x="5257800" y="1828800"/>
            <a:ext cx="594360" cy="365760"/>
          </a:xfrm>
          <a:prstGeom prst="line">
            <a:avLst/>
          </a:prstGeom>
          <a:noFill/>
          <a:ln w="19050">
            <a:solidFill>
              <a:srgbClr val="4A90D9"/>
            </a:solidFill>
            <a:prstDash val="dash"/>
          </a:ln>
        </p:spPr>
      </p:sp>
      <p:sp>
        <p:nvSpPr>
          <p:cNvPr id="27" name="Text 24"/>
          <p:cNvSpPr/>
          <p:nvPr/>
        </p:nvSpPr>
        <p:spPr>
          <a:xfrm>
            <a:off x="5769864" y="1636776"/>
            <a:ext cx="749808"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000" b="1" dirty="0">
                <a:solidFill>
                  <a:srgbClr val="202124"/>
                </a:solidFill>
                <a:latin typeface="Quicksand" pitchFamily="34" charset="0"/>
                <a:ea typeface="Quicksand" pitchFamily="34" charset="-122"/>
                <a:cs typeface="Quicksand" pitchFamily="34" charset="-120"/>
              </a:rPr>
              <a:t>Laptop</a:t>
            </a:r>
            <a:endParaRPr lang="en-US" sz="1000" dirty="0"/>
          </a:p>
        </p:txBody>
      </p:sp>
      <p:sp>
        <p:nvSpPr>
          <p:cNvPr id="28" name="Text 25"/>
          <p:cNvSpPr/>
          <p:nvPr/>
        </p:nvSpPr>
        <p:spPr>
          <a:xfrm>
            <a:off x="6227064" y="234086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D</a:t>
            </a:r>
            <a:endParaRPr lang="en-US" sz="1200" dirty="0"/>
          </a:p>
        </p:txBody>
      </p:sp>
      <p:sp>
        <p:nvSpPr>
          <p:cNvPr id="29" name="Text 26"/>
          <p:cNvSpPr/>
          <p:nvPr/>
        </p:nvSpPr>
        <p:spPr>
          <a:xfrm>
            <a:off x="2788920" y="3090672"/>
            <a:ext cx="1005840" cy="402336"/>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a:t>
            </a:r>
            <a:endParaRPr lang="en-US" sz="1200" dirty="0"/>
          </a:p>
        </p:txBody>
      </p:sp>
      <p:sp>
        <p:nvSpPr>
          <p:cNvPr id="30" name="Text 27"/>
          <p:cNvSpPr/>
          <p:nvPr/>
        </p:nvSpPr>
        <p:spPr>
          <a:xfrm>
            <a:off x="2523744" y="279806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A</a:t>
            </a:r>
            <a:endParaRPr lang="en-US" sz="1200" dirty="0"/>
          </a:p>
        </p:txBody>
      </p:sp>
      <p:sp>
        <p:nvSpPr>
          <p:cNvPr id="31" name="Shape 28"/>
          <p:cNvSpPr/>
          <p:nvPr/>
        </p:nvSpPr>
        <p:spPr>
          <a:xfrm>
            <a:off x="3291840" y="3520440"/>
            <a:ext cx="914" cy="1097280"/>
          </a:xfrm>
          <a:prstGeom prst="line">
            <a:avLst/>
          </a:prstGeom>
          <a:noFill/>
          <a:ln w="19050">
            <a:solidFill>
              <a:srgbClr val="7A7AA0"/>
            </a:solidFill>
            <a:prstDash val="solid"/>
          </a:ln>
        </p:spPr>
      </p:sp>
      <p:sp>
        <p:nvSpPr>
          <p:cNvPr id="32" name="Text 29"/>
          <p:cNvSpPr/>
          <p:nvPr/>
        </p:nvSpPr>
        <p:spPr>
          <a:xfrm>
            <a:off x="2788920" y="4645152"/>
            <a:ext cx="1005840" cy="402336"/>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a:t>
            </a:r>
            <a:endParaRPr lang="en-US" sz="1200" dirty="0"/>
          </a:p>
        </p:txBody>
      </p:sp>
      <p:sp>
        <p:nvSpPr>
          <p:cNvPr id="33" name="Text 30"/>
          <p:cNvSpPr/>
          <p:nvPr/>
        </p:nvSpPr>
        <p:spPr>
          <a:xfrm>
            <a:off x="2523744" y="490118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H</a:t>
            </a:r>
            <a:endParaRPr lang="en-US" sz="1200" dirty="0"/>
          </a:p>
        </p:txBody>
      </p:sp>
      <p:sp>
        <p:nvSpPr>
          <p:cNvPr id="34" name="Shape 31"/>
          <p:cNvSpPr/>
          <p:nvPr/>
        </p:nvSpPr>
        <p:spPr>
          <a:xfrm>
            <a:off x="3794760" y="4846320"/>
            <a:ext cx="685800" cy="914"/>
          </a:xfrm>
          <a:prstGeom prst="line">
            <a:avLst/>
          </a:prstGeom>
          <a:noFill/>
          <a:ln w="19050">
            <a:solidFill>
              <a:srgbClr val="7A7AA0"/>
            </a:solidFill>
            <a:prstDash val="solid"/>
          </a:ln>
        </p:spPr>
      </p:sp>
      <p:sp>
        <p:nvSpPr>
          <p:cNvPr id="35" name="Text 32"/>
          <p:cNvSpPr/>
          <p:nvPr/>
        </p:nvSpPr>
        <p:spPr>
          <a:xfrm>
            <a:off x="4480560" y="4434840"/>
            <a:ext cx="1691640" cy="868680"/>
          </a:xfrm>
          <a:prstGeom prst="cloud">
            <a:avLst/>
          </a:prstGeom>
          <a:solidFill>
            <a:srgbClr val="EEF3FB"/>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Internet</a:t>
            </a:r>
            <a:endParaRPr lang="en-US" sz="1200" dirty="0"/>
          </a:p>
        </p:txBody>
      </p:sp>
      <p:sp>
        <p:nvSpPr>
          <p:cNvPr id="36" name="Shape 33"/>
          <p:cNvSpPr/>
          <p:nvPr/>
        </p:nvSpPr>
        <p:spPr>
          <a:xfrm>
            <a:off x="3794760" y="3291840"/>
            <a:ext cx="3017520" cy="914"/>
          </a:xfrm>
          <a:prstGeom prst="line">
            <a:avLst/>
          </a:prstGeom>
          <a:noFill/>
          <a:ln w="25400">
            <a:solidFill>
              <a:srgbClr val="494985"/>
            </a:solidFill>
            <a:prstDash val="solid"/>
          </a:ln>
        </p:spPr>
      </p:sp>
      <p:sp>
        <p:nvSpPr>
          <p:cNvPr id="37" name="Text 34"/>
          <p:cNvSpPr/>
          <p:nvPr/>
        </p:nvSpPr>
        <p:spPr>
          <a:xfrm>
            <a:off x="6789420" y="3090672"/>
            <a:ext cx="777240" cy="402336"/>
          </a:xfrm>
          <a:prstGeom prst="rect">
            <a:avLst/>
          </a:prstGeom>
          <a:solidFill>
            <a:srgbClr val="FFFFFF"/>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a:t>
            </a:r>
            <a:endParaRPr lang="en-US" sz="1200" dirty="0"/>
          </a:p>
        </p:txBody>
      </p:sp>
      <p:sp>
        <p:nvSpPr>
          <p:cNvPr id="38" name="Text 35"/>
          <p:cNvSpPr/>
          <p:nvPr/>
        </p:nvSpPr>
        <p:spPr>
          <a:xfrm>
            <a:off x="7004304" y="261518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F</a:t>
            </a:r>
            <a:endParaRPr lang="en-US" sz="1200" dirty="0"/>
          </a:p>
        </p:txBody>
      </p:sp>
      <p:sp>
        <p:nvSpPr>
          <p:cNvPr id="39" name="Shape 36"/>
          <p:cNvSpPr/>
          <p:nvPr/>
        </p:nvSpPr>
        <p:spPr>
          <a:xfrm>
            <a:off x="7571232" y="3291840"/>
            <a:ext cx="2121408" cy="914"/>
          </a:xfrm>
          <a:prstGeom prst="line">
            <a:avLst/>
          </a:prstGeom>
          <a:noFill/>
          <a:ln w="25400">
            <a:solidFill>
              <a:srgbClr val="494985"/>
            </a:solidFill>
            <a:prstDash val="solid"/>
          </a:ln>
        </p:spPr>
      </p:sp>
      <p:sp>
        <p:nvSpPr>
          <p:cNvPr id="40" name="Text 37"/>
          <p:cNvSpPr/>
          <p:nvPr/>
        </p:nvSpPr>
        <p:spPr>
          <a:xfrm>
            <a:off x="7795260" y="3090672"/>
            <a:ext cx="868680" cy="402336"/>
          </a:xfrm>
          <a:prstGeom prst="rect">
            <a:avLst/>
          </a:prstGeom>
          <a:solidFill>
            <a:srgbClr val="FFFFFF"/>
          </a:solidFill>
          <a:ln w="15875">
            <a:solidFill>
              <a:srgbClr val="494985"/>
            </a:solidFill>
          </a:ln>
        </p:spPr>
        <p:txBody>
          <a:bodyPr wrap="square" lIns="0" tIns="0" rIns="0" bIns="0" rtlCol="0" anchor="ctr"/>
          <a:lstStyle/>
          <a:p>
            <a:pPr algn="ctr" indent="0" marL="0">
              <a:buNone/>
            </a:pPr>
            <a:r>
              <a:rPr lang="en-US" sz="1050" b="1" dirty="0">
                <a:solidFill>
                  <a:srgbClr val="202124"/>
                </a:solidFill>
                <a:latin typeface="Quicksand" pitchFamily="34" charset="0"/>
                <a:ea typeface="Quicksand" pitchFamily="34" charset="-122"/>
                <a:cs typeface="Quicksand" pitchFamily="34" charset="-120"/>
              </a:rPr>
              <a:t>?</a:t>
            </a:r>
            <a:endParaRPr lang="en-US" sz="1050" dirty="0"/>
          </a:p>
        </p:txBody>
      </p:sp>
      <p:sp>
        <p:nvSpPr>
          <p:cNvPr id="41" name="Text 38"/>
          <p:cNvSpPr/>
          <p:nvPr/>
        </p:nvSpPr>
        <p:spPr>
          <a:xfrm>
            <a:off x="8055864" y="362102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G</a:t>
            </a:r>
            <a:endParaRPr lang="en-US" sz="1200" dirty="0"/>
          </a:p>
        </p:txBody>
      </p:sp>
      <p:sp>
        <p:nvSpPr>
          <p:cNvPr id="42" name="Text 39"/>
          <p:cNvSpPr txBox="1"/>
          <p:nvPr/>
        </p:nvSpPr>
        <p:spPr>
          <a:xfrm>
            <a:off x="6766560" y="3886200"/>
            <a:ext cx="1280160" cy="274320"/>
          </a:xfrm>
          <a:prstGeom prst="rect">
            <a:avLst/>
          </a:prstGeom>
          <a:noFill/>
          <a:ln/>
        </p:spPr>
        <p:txBody>
          <a:bodyPr wrap="square" lIns="0" tIns="0" rIns="0" bIns="0" rtlCol="0" anchor="ctr"/>
          <a:lstStyle/>
          <a:p>
            <a:pPr algn="ctr" indent="0" marL="0">
              <a:buNone/>
            </a:pPr>
            <a:r>
              <a:rPr lang="en-US" sz="1000" i="1" dirty="0">
                <a:solidFill>
                  <a:srgbClr val="666666"/>
                </a:solidFill>
                <a:latin typeface="Quicksand" pitchFamily="34" charset="0"/>
                <a:ea typeface="Quicksand" pitchFamily="34" charset="-122"/>
                <a:cs typeface="Quicksand" pitchFamily="34" charset="-120"/>
              </a:rPr>
              <a:t>150 m cable</a:t>
            </a:r>
            <a:endParaRPr lang="en-US" sz="1000" dirty="0"/>
          </a:p>
        </p:txBody>
      </p:sp>
      <p:sp>
        <p:nvSpPr>
          <p:cNvPr id="43" name="Text 40"/>
          <p:cNvSpPr/>
          <p:nvPr/>
        </p:nvSpPr>
        <p:spPr>
          <a:xfrm>
            <a:off x="9624060" y="3090672"/>
            <a:ext cx="868680" cy="402336"/>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Switch</a:t>
            </a:r>
            <a:endParaRPr lang="en-US" sz="1200" dirty="0"/>
          </a:p>
        </p:txBody>
      </p:sp>
      <p:sp>
        <p:nvSpPr>
          <p:cNvPr id="44" name="Shape 41"/>
          <p:cNvSpPr/>
          <p:nvPr/>
        </p:nvSpPr>
        <p:spPr>
          <a:xfrm flipH="1">
            <a:off x="9418320" y="3493008"/>
            <a:ext cx="640080" cy="987552"/>
          </a:xfrm>
          <a:prstGeom prst="line">
            <a:avLst/>
          </a:prstGeom>
          <a:noFill/>
          <a:ln w="19050">
            <a:solidFill>
              <a:srgbClr val="7A7AA0"/>
            </a:solidFill>
            <a:prstDash val="solid"/>
          </a:ln>
        </p:spPr>
      </p:sp>
      <p:sp>
        <p:nvSpPr>
          <p:cNvPr id="45" name="Shape 42"/>
          <p:cNvSpPr/>
          <p:nvPr/>
        </p:nvSpPr>
        <p:spPr>
          <a:xfrm>
            <a:off x="10058400" y="3493008"/>
            <a:ext cx="640080" cy="987552"/>
          </a:xfrm>
          <a:prstGeom prst="line">
            <a:avLst/>
          </a:prstGeom>
          <a:noFill/>
          <a:ln w="19050">
            <a:solidFill>
              <a:srgbClr val="7A7AA0"/>
            </a:solidFill>
            <a:prstDash val="solid"/>
          </a:ln>
        </p:spPr>
      </p:sp>
      <p:sp>
        <p:nvSpPr>
          <p:cNvPr id="46" name="Shape 43"/>
          <p:cNvSpPr/>
          <p:nvPr/>
        </p:nvSpPr>
        <p:spPr>
          <a:xfrm flipV="1">
            <a:off x="10058400" y="2286000"/>
            <a:ext cx="914" cy="804672"/>
          </a:xfrm>
          <a:prstGeom prst="line">
            <a:avLst/>
          </a:prstGeom>
          <a:noFill/>
          <a:ln w="19050">
            <a:solidFill>
              <a:srgbClr val="7A7AA0"/>
            </a:solidFill>
            <a:prstDash val="solid"/>
          </a:ln>
        </p:spPr>
      </p:sp>
      <p:sp>
        <p:nvSpPr>
          <p:cNvPr id="47" name="Text 44"/>
          <p:cNvSpPr/>
          <p:nvPr/>
        </p:nvSpPr>
        <p:spPr>
          <a:xfrm>
            <a:off x="9098280" y="4471416"/>
            <a:ext cx="640080"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a:t>
            </a:r>
            <a:endParaRPr lang="en-US" sz="1100" dirty="0"/>
          </a:p>
        </p:txBody>
      </p:sp>
      <p:sp>
        <p:nvSpPr>
          <p:cNvPr id="48" name="Text 45"/>
          <p:cNvSpPr/>
          <p:nvPr/>
        </p:nvSpPr>
        <p:spPr>
          <a:xfrm>
            <a:off x="10378440" y="4471416"/>
            <a:ext cx="640080"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a:t>
            </a:r>
            <a:endParaRPr lang="en-US" sz="1100" dirty="0"/>
          </a:p>
        </p:txBody>
      </p:sp>
      <p:sp>
        <p:nvSpPr>
          <p:cNvPr id="49" name="Text 46"/>
          <p:cNvSpPr/>
          <p:nvPr/>
        </p:nvSpPr>
        <p:spPr>
          <a:xfrm>
            <a:off x="9738360" y="1911096"/>
            <a:ext cx="640080"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a:t>
            </a:r>
            <a:endParaRPr lang="en-US" sz="1100" dirty="0"/>
          </a:p>
        </p:txBody>
      </p:sp>
      <p:sp>
        <p:nvSpPr>
          <p:cNvPr id="50" name="Text 47"/>
          <p:cNvSpPr txBox="1"/>
          <p:nvPr/>
        </p:nvSpPr>
        <p:spPr>
          <a:xfrm>
            <a:off x="548640" y="5715000"/>
            <a:ext cx="11064240" cy="274320"/>
          </a:xfrm>
          <a:prstGeom prst="rect">
            <a:avLst/>
          </a:prstGeom>
          <a:noFill/>
          <a:ln/>
        </p:spPr>
        <p:txBody>
          <a:bodyPr wrap="square" lIns="0" tIns="0" rIns="0" bIns="0" rtlCol="0" anchor="ctr"/>
          <a:lstStyle/>
          <a:p>
            <a:pPr algn="ctr" indent="0" marL="0">
              <a:buNone/>
            </a:pPr>
            <a:r>
              <a:rPr lang="en-US" sz="1300" i="1" dirty="0">
                <a:solidFill>
                  <a:srgbClr val="494985"/>
                </a:solidFill>
                <a:latin typeface="Quicksand" pitchFamily="34" charset="0"/>
                <a:ea typeface="Quicksand" pitchFamily="34" charset="-122"/>
                <a:cs typeface="Quicksand" pitchFamily="34" charset="-120"/>
              </a:rPr>
              <a:t>Name devices A to H. Which ones are inside a computer? Which one joins the school to a different network?</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Network Interface Card (NIC)</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5</a:t>
            </a:r>
            <a:endParaRPr lang="en-US" sz="1350" dirty="0"/>
          </a:p>
        </p:txBody>
      </p:sp>
      <p:sp>
        <p:nvSpPr>
          <p:cNvPr id="7" name="Shape 4"/>
          <p:cNvSpPr/>
          <p:nvPr/>
        </p:nvSpPr>
        <p:spPr>
          <a:xfrm>
            <a:off x="932523" y="1243584"/>
            <a:ext cx="3804233" cy="336499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nic.jpg">    </p:cNvPr>
          <p:cNvPicPr>
            <a:picLocks noChangeAspect="1"/>
          </p:cNvPicPr>
          <p:nvPr/>
        </p:nvPicPr>
        <p:blipFill>
          <a:blip r:embed="rId1"/>
          <a:stretch>
            <a:fillRect/>
          </a:stretch>
        </p:blipFill>
        <p:spPr>
          <a:xfrm>
            <a:off x="969099" y="1280160"/>
            <a:ext cx="3731081" cy="3291840"/>
          </a:xfrm>
          <a:prstGeom prst="rect">
            <a:avLst/>
          </a:prstGeom>
        </p:spPr>
      </p:pic>
      <p:sp>
        <p:nvSpPr>
          <p:cNvPr id="9" name="Text 5"/>
          <p:cNvSpPr txBox="1"/>
          <p:nvPr/>
        </p:nvSpPr>
        <p:spPr>
          <a:xfrm>
            <a:off x="548640" y="4636008"/>
            <a:ext cx="4572000" cy="237744"/>
          </a:xfrm>
          <a:prstGeom prst="rect">
            <a:avLst/>
          </a:prstGeom>
          <a:noFill/>
          <a:ln/>
        </p:spPr>
        <p:txBody>
          <a:bodyPr wrap="square" lIns="0" tIns="0" rIns="0" bIns="0" rtlCol="0" anchor="ctr"/>
          <a:lstStyle/>
          <a:p>
            <a:pPr algn="ctr" indent="0" marL="0">
              <a:buNone/>
            </a:pPr>
            <a:r>
              <a:rPr lang="en-US" sz="1050" b="1" i="1" dirty="0">
                <a:solidFill>
                  <a:srgbClr val="202124"/>
                </a:solidFill>
                <a:latin typeface="Quicksand" pitchFamily="34" charset="0"/>
                <a:ea typeface="Quicksand" pitchFamily="34" charset="-122"/>
                <a:cs typeface="Quicksand" pitchFamily="34" charset="-120"/>
              </a:rPr>
              <a:t>A PCI network card   </a:t>
            </a:r>
            <a:pPr algn="ctr" indent="0" marL="0">
              <a:buNone/>
            </a:pPr>
            <a:r>
              <a:rPr lang="en-US" sz="800" i="1" dirty="0">
                <a:solidFill>
                  <a:srgbClr val="8A8A99"/>
                </a:solidFill>
                <a:latin typeface="Quicksand" pitchFamily="34" charset="0"/>
                <a:ea typeface="Quicksand" pitchFamily="34" charset="-122"/>
                <a:cs typeface="Quicksand" pitchFamily="34" charset="-120"/>
              </a:rPr>
              <a:t>Photo: ktims, Public domain, Wikimedia Commons</a:t>
            </a:r>
            <a:endParaRPr lang="en-US" sz="1050" dirty="0"/>
          </a:p>
        </p:txBody>
      </p:sp>
      <p:sp>
        <p:nvSpPr>
          <p:cNvPr id="10" name="Shape 6"/>
          <p:cNvSpPr/>
          <p:nvPr/>
        </p:nvSpPr>
        <p:spPr>
          <a:xfrm>
            <a:off x="5394960" y="1280160"/>
            <a:ext cx="6126480" cy="2057400"/>
          </a:xfrm>
          <a:prstGeom prst="rect">
            <a:avLst/>
          </a:prstGeom>
          <a:solidFill>
            <a:srgbClr val="F6F5FC"/>
          </a:solidFill>
          <a:ln w="12700">
            <a:solidFill>
              <a:srgbClr val="F6F5FC"/>
            </a:solidFill>
            <a:prstDash val="solid"/>
          </a:ln>
        </p:spPr>
      </p:sp>
      <p:sp>
        <p:nvSpPr>
          <p:cNvPr id="11" name="Shape 7"/>
          <p:cNvSpPr/>
          <p:nvPr/>
        </p:nvSpPr>
        <p:spPr>
          <a:xfrm>
            <a:off x="5394960" y="1280160"/>
            <a:ext cx="73152" cy="2057400"/>
          </a:xfrm>
          <a:prstGeom prst="rect">
            <a:avLst/>
          </a:prstGeom>
          <a:solidFill>
            <a:srgbClr val="494985"/>
          </a:solidFill>
          <a:ln w="12700">
            <a:solidFill>
              <a:srgbClr val="494985"/>
            </a:solidFill>
            <a:prstDash val="solid"/>
          </a:ln>
        </p:spPr>
      </p:sp>
      <p:sp>
        <p:nvSpPr>
          <p:cNvPr id="12" name="Text 8"/>
          <p:cNvSpPr txBox="1"/>
          <p:nvPr/>
        </p:nvSpPr>
        <p:spPr>
          <a:xfrm>
            <a:off x="5623560" y="1371600"/>
            <a:ext cx="576072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What it does</a:t>
            </a:r>
            <a:endParaRPr lang="en-US" sz="1500" dirty="0"/>
          </a:p>
        </p:txBody>
      </p:sp>
      <p:sp>
        <p:nvSpPr>
          <p:cNvPr id="13" name="Text 9"/>
          <p:cNvSpPr txBox="1"/>
          <p:nvPr/>
        </p:nvSpPr>
        <p:spPr>
          <a:xfrm>
            <a:off x="5623560" y="1783080"/>
            <a:ext cx="5760720" cy="1463040"/>
          </a:xfrm>
          <a:prstGeom prst="rect">
            <a:avLst/>
          </a:prstGeom>
          <a:noFill/>
          <a:ln/>
        </p:spPr>
        <p:txBody>
          <a:bodyPr wrap="square" lIns="0" tIns="0" rIns="0" bIns="0" rtlCol="0" anchor="t"/>
          <a:lstStyle/>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Lets a device connect to a (wired) network - every device on a LAN needs one</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Converts the computer's data into signals for the cable, and back again</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Holds the device's unique MAC address, set when it is made</a:t>
            </a:r>
            <a:endParaRPr lang="en-US" sz="1300" dirty="0"/>
          </a:p>
        </p:txBody>
      </p:sp>
      <p:sp>
        <p:nvSpPr>
          <p:cNvPr id="14" name="Text 10"/>
          <p:cNvSpPr/>
          <p:nvPr/>
        </p:nvSpPr>
        <p:spPr>
          <a:xfrm>
            <a:off x="5394960" y="3611880"/>
            <a:ext cx="6126480" cy="548640"/>
          </a:xfrm>
          <a:prstGeom prst="rect">
            <a:avLst/>
          </a:prstGeom>
          <a:noFill/>
          <a:ln/>
        </p:spPr>
        <p:txBody>
          <a:bodyPr wrap="square" lIns="0" tIns="0" rIns="0" bIns="0" rtlCol="0" anchor="ctr"/>
          <a:lstStyle/>
          <a:p>
            <a:pPr algn="ctr" indent="0" marL="0">
              <a:buNone/>
            </a:pPr>
            <a:r>
              <a:rPr lang="en-US" sz="2600" b="1" dirty="0">
                <a:solidFill>
                  <a:srgbClr val="494985"/>
                </a:solidFill>
                <a:latin typeface="Roboto Mono" pitchFamily="34" charset="0"/>
                <a:ea typeface="Roboto Mono" pitchFamily="34" charset="-122"/>
                <a:cs typeface="Roboto Mono" pitchFamily="34" charset="-120"/>
              </a:rPr>
              <a:t>00 : 1A : 2B  :  3C : 4D : 5E</a:t>
            </a:r>
            <a:endParaRPr lang="en-US" sz="2600" dirty="0"/>
          </a:p>
        </p:txBody>
      </p:sp>
      <p:sp>
        <p:nvSpPr>
          <p:cNvPr id="15" name="Text 11"/>
          <p:cNvSpPr txBox="1"/>
          <p:nvPr/>
        </p:nvSpPr>
        <p:spPr>
          <a:xfrm>
            <a:off x="5394960" y="4160520"/>
            <a:ext cx="3063240" cy="274320"/>
          </a:xfrm>
          <a:prstGeom prst="rect">
            <a:avLst/>
          </a:prstGeom>
          <a:noFill/>
          <a:ln/>
        </p:spPr>
        <p:txBody>
          <a:bodyPr wrap="square" lIns="0" tIns="0" rIns="0" bIns="0" rtlCol="0" anchor="ctr"/>
          <a:lstStyle/>
          <a:p>
            <a:pPr algn="ctr" indent="0" marL="0">
              <a:buNone/>
            </a:pPr>
            <a:r>
              <a:rPr lang="en-US" sz="1150" i="1" dirty="0">
                <a:solidFill>
                  <a:srgbClr val="666666"/>
                </a:solidFill>
                <a:latin typeface="Quicksand" pitchFamily="34" charset="0"/>
                <a:ea typeface="Quicksand" pitchFamily="34" charset="-122"/>
                <a:cs typeface="Quicksand" pitchFamily="34" charset="-120"/>
              </a:rPr>
              <a:t>manufacturer ID (first 24 bits)</a:t>
            </a:r>
            <a:endParaRPr lang="en-US" sz="1150" dirty="0"/>
          </a:p>
        </p:txBody>
      </p:sp>
      <p:sp>
        <p:nvSpPr>
          <p:cNvPr id="16" name="Text 12"/>
          <p:cNvSpPr txBox="1"/>
          <p:nvPr/>
        </p:nvSpPr>
        <p:spPr>
          <a:xfrm>
            <a:off x="8458200" y="4160520"/>
            <a:ext cx="3063240" cy="274320"/>
          </a:xfrm>
          <a:prstGeom prst="rect">
            <a:avLst/>
          </a:prstGeom>
          <a:noFill/>
          <a:ln/>
        </p:spPr>
        <p:txBody>
          <a:bodyPr wrap="square" lIns="0" tIns="0" rIns="0" bIns="0" rtlCol="0" anchor="ctr"/>
          <a:lstStyle/>
          <a:p>
            <a:pPr algn="ctr" indent="0" marL="0">
              <a:buNone/>
            </a:pPr>
            <a:r>
              <a:rPr lang="en-US" sz="1150" i="1" dirty="0">
                <a:solidFill>
                  <a:srgbClr val="666666"/>
                </a:solidFill>
                <a:latin typeface="Quicksand" pitchFamily="34" charset="0"/>
                <a:ea typeface="Quicksand" pitchFamily="34" charset="-122"/>
                <a:cs typeface="Quicksand" pitchFamily="34" charset="-120"/>
              </a:rPr>
              <a:t>serial number of the device</a:t>
            </a:r>
            <a:endParaRPr lang="en-US" sz="1150" dirty="0"/>
          </a:p>
        </p:txBody>
      </p:sp>
      <p:sp>
        <p:nvSpPr>
          <p:cNvPr id="17" name="Text 13"/>
          <p:cNvSpPr txBox="1"/>
          <p:nvPr/>
        </p:nvSpPr>
        <p:spPr>
          <a:xfrm>
            <a:off x="5394960" y="4709160"/>
            <a:ext cx="6126480" cy="822960"/>
          </a:xfrm>
          <a:prstGeom prst="rect">
            <a:avLst/>
          </a:prstGeom>
          <a:noFill/>
          <a:ln/>
        </p:spPr>
        <p:txBody>
          <a:bodyPr wrap="square" lIns="0" tIns="0" rIns="0" bIns="0" rtlCol="0" anchor="t"/>
          <a:lstStyle/>
          <a:p>
            <a:pPr indent="0" marL="0">
              <a:buNone/>
            </a:pPr>
            <a:r>
              <a:rPr lang="en-US" sz="1400" b="1" dirty="0">
                <a:solidFill>
                  <a:srgbClr val="494985"/>
                </a:solidFill>
                <a:latin typeface="Quicksand" pitchFamily="34" charset="0"/>
                <a:ea typeface="Quicksand" pitchFamily="34" charset="-122"/>
                <a:cs typeface="Quicksand" pitchFamily="34" charset="-120"/>
              </a:rPr>
              <a:t>MAC address: a 48-bit physical address, written as 12 hex digits, that uniquely identifies a device on a network. It does not change.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Wireless NIC (WNIC)</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6</a:t>
            </a:r>
            <a:endParaRPr lang="en-US" sz="1350" dirty="0"/>
          </a:p>
        </p:txBody>
      </p:sp>
      <p:sp>
        <p:nvSpPr>
          <p:cNvPr id="7" name="Shape 4"/>
          <p:cNvSpPr/>
          <p:nvPr/>
        </p:nvSpPr>
        <p:spPr>
          <a:xfrm>
            <a:off x="713316" y="1243584"/>
            <a:ext cx="3053927" cy="231343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wnic.jpg">    </p:cNvPr>
          <p:cNvPicPr>
            <a:picLocks noChangeAspect="1"/>
          </p:cNvPicPr>
          <p:nvPr/>
        </p:nvPicPr>
        <p:blipFill>
          <a:blip r:embed="rId1"/>
          <a:stretch>
            <a:fillRect/>
          </a:stretch>
        </p:blipFill>
        <p:spPr>
          <a:xfrm>
            <a:off x="749892" y="1280160"/>
            <a:ext cx="2980775" cy="2240280"/>
          </a:xfrm>
          <a:prstGeom prst="rect">
            <a:avLst/>
          </a:prstGeom>
        </p:spPr>
      </p:pic>
      <p:sp>
        <p:nvSpPr>
          <p:cNvPr id="9" name="Text 5"/>
          <p:cNvSpPr txBox="1"/>
          <p:nvPr/>
        </p:nvSpPr>
        <p:spPr>
          <a:xfrm>
            <a:off x="548640" y="3584448"/>
            <a:ext cx="3383280" cy="237744"/>
          </a:xfrm>
          <a:prstGeom prst="rect">
            <a:avLst/>
          </a:prstGeom>
          <a:noFill/>
          <a:ln/>
        </p:spPr>
        <p:txBody>
          <a:bodyPr wrap="square" lIns="0" tIns="0" rIns="0" bIns="0" rtlCol="0" anchor="ctr"/>
          <a:lstStyle/>
          <a:p>
            <a:pPr algn="ctr" indent="0" marL="0">
              <a:buNone/>
            </a:pPr>
            <a:r>
              <a:rPr lang="en-US" sz="1050" b="1" i="1" dirty="0">
                <a:solidFill>
                  <a:srgbClr val="202124"/>
                </a:solidFill>
                <a:latin typeface="Quicksand" pitchFamily="34" charset="0"/>
                <a:ea typeface="Quicksand" pitchFamily="34" charset="-122"/>
                <a:cs typeface="Quicksand" pitchFamily="34" charset="-120"/>
              </a:rPr>
              <a:t>Internal card   </a:t>
            </a:r>
            <a:pPr algn="ctr" indent="0" marL="0">
              <a:buNone/>
            </a:pPr>
            <a:r>
              <a:rPr lang="en-US" sz="800" i="1" dirty="0">
                <a:solidFill>
                  <a:srgbClr val="8A8A99"/>
                </a:solidFill>
                <a:latin typeface="Quicksand" pitchFamily="34" charset="0"/>
                <a:ea typeface="Quicksand" pitchFamily="34" charset="-122"/>
                <a:cs typeface="Quicksand" pitchFamily="34" charset="-120"/>
              </a:rPr>
              <a:t>Photo: unknown, Public domain, Wikimedia Commons</a:t>
            </a:r>
            <a:endParaRPr lang="en-US" sz="1050" dirty="0"/>
          </a:p>
        </p:txBody>
      </p:sp>
      <p:sp>
        <p:nvSpPr>
          <p:cNvPr id="10" name="Shape 6"/>
          <p:cNvSpPr/>
          <p:nvPr/>
        </p:nvSpPr>
        <p:spPr>
          <a:xfrm>
            <a:off x="781304" y="3895344"/>
            <a:ext cx="2917952" cy="167335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1" name="Image 1" descr="figs/wnicusb.jpg">    </p:cNvPr>
          <p:cNvPicPr>
            <a:picLocks noChangeAspect="1"/>
          </p:cNvPicPr>
          <p:nvPr/>
        </p:nvPicPr>
        <p:blipFill>
          <a:blip r:embed="rId2"/>
          <a:stretch>
            <a:fillRect/>
          </a:stretch>
        </p:blipFill>
        <p:spPr>
          <a:xfrm>
            <a:off x="817880" y="3931920"/>
            <a:ext cx="2844800" cy="1600200"/>
          </a:xfrm>
          <a:prstGeom prst="rect">
            <a:avLst/>
          </a:prstGeom>
        </p:spPr>
      </p:pic>
      <p:sp>
        <p:nvSpPr>
          <p:cNvPr id="12" name="Text 7"/>
          <p:cNvSpPr txBox="1"/>
          <p:nvPr/>
        </p:nvSpPr>
        <p:spPr>
          <a:xfrm>
            <a:off x="548640" y="5596128"/>
            <a:ext cx="3383280" cy="237744"/>
          </a:xfrm>
          <a:prstGeom prst="rect">
            <a:avLst/>
          </a:prstGeom>
          <a:noFill/>
          <a:ln/>
        </p:spPr>
        <p:txBody>
          <a:bodyPr wrap="square" lIns="0" tIns="0" rIns="0" bIns="0" rtlCol="0" anchor="ctr"/>
          <a:lstStyle/>
          <a:p>
            <a:pPr algn="ctr" indent="0" marL="0">
              <a:buNone/>
            </a:pPr>
            <a:r>
              <a:rPr lang="en-US" sz="1050" b="1" i="1" dirty="0">
                <a:solidFill>
                  <a:srgbClr val="202124"/>
                </a:solidFill>
                <a:latin typeface="Quicksand" pitchFamily="34" charset="0"/>
                <a:ea typeface="Quicksand" pitchFamily="34" charset="-122"/>
                <a:cs typeface="Quicksand" pitchFamily="34" charset="-120"/>
              </a:rPr>
              <a:t>USB adapter   </a:t>
            </a:r>
            <a:pPr algn="ctr" indent="0" marL="0">
              <a:buNone/>
            </a:pPr>
            <a:r>
              <a:rPr lang="en-US" sz="800" i="1" dirty="0">
                <a:solidFill>
                  <a:srgbClr val="8A8A99"/>
                </a:solidFill>
                <a:latin typeface="Quicksand" pitchFamily="34" charset="0"/>
                <a:ea typeface="Quicksand" pitchFamily="34" charset="-122"/>
                <a:cs typeface="Quicksand" pitchFamily="34" charset="-120"/>
              </a:rPr>
              <a:t>Photo: OnionBulb, CC BY-SA 4.0, Wikimedia Commons</a:t>
            </a:r>
            <a:endParaRPr lang="en-US" sz="1050" dirty="0"/>
          </a:p>
        </p:txBody>
      </p:sp>
      <p:sp>
        <p:nvSpPr>
          <p:cNvPr id="13" name="Shape 8"/>
          <p:cNvSpPr/>
          <p:nvPr/>
        </p:nvSpPr>
        <p:spPr>
          <a:xfrm>
            <a:off x="4206240" y="1280160"/>
            <a:ext cx="3566160" cy="1463040"/>
          </a:xfrm>
          <a:prstGeom prst="rect">
            <a:avLst/>
          </a:prstGeom>
          <a:solidFill>
            <a:srgbClr val="F6F5FC"/>
          </a:solidFill>
          <a:ln w="12700">
            <a:solidFill>
              <a:srgbClr val="F6F5FC"/>
            </a:solidFill>
            <a:prstDash val="solid"/>
          </a:ln>
        </p:spPr>
      </p:sp>
      <p:sp>
        <p:nvSpPr>
          <p:cNvPr id="14" name="Text 9"/>
          <p:cNvSpPr/>
          <p:nvPr/>
        </p:nvSpPr>
        <p:spPr>
          <a:xfrm>
            <a:off x="4343400" y="14173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5" name="Text 10"/>
          <p:cNvSpPr txBox="1"/>
          <p:nvPr/>
        </p:nvSpPr>
        <p:spPr>
          <a:xfrm>
            <a:off x="4864608" y="1389888"/>
            <a:ext cx="278892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Antenna</a:t>
            </a:r>
            <a:endParaRPr lang="en-US" sz="1500" dirty="0"/>
          </a:p>
        </p:txBody>
      </p:sp>
      <p:sp>
        <p:nvSpPr>
          <p:cNvPr id="16" name="Text 11"/>
          <p:cNvSpPr txBox="1"/>
          <p:nvPr/>
        </p:nvSpPr>
        <p:spPr>
          <a:xfrm>
            <a:off x="4864608" y="1783080"/>
            <a:ext cx="2788920" cy="89611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Sends and receives radio waves - the device's interface to the wireless network</a:t>
            </a:r>
            <a:endParaRPr lang="en-US" sz="1250" dirty="0"/>
          </a:p>
        </p:txBody>
      </p:sp>
      <p:sp>
        <p:nvSpPr>
          <p:cNvPr id="17" name="Shape 12"/>
          <p:cNvSpPr/>
          <p:nvPr/>
        </p:nvSpPr>
        <p:spPr>
          <a:xfrm>
            <a:off x="7909560" y="1280160"/>
            <a:ext cx="3566160" cy="1463040"/>
          </a:xfrm>
          <a:prstGeom prst="rect">
            <a:avLst/>
          </a:prstGeom>
          <a:solidFill>
            <a:srgbClr val="F6F5FC"/>
          </a:solidFill>
          <a:ln w="12700">
            <a:solidFill>
              <a:srgbClr val="F6F5FC"/>
            </a:solidFill>
            <a:prstDash val="solid"/>
          </a:ln>
        </p:spPr>
      </p:sp>
      <p:sp>
        <p:nvSpPr>
          <p:cNvPr id="18" name="Text 13"/>
          <p:cNvSpPr/>
          <p:nvPr/>
        </p:nvSpPr>
        <p:spPr>
          <a:xfrm>
            <a:off x="8046720" y="14173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9" name="Text 14"/>
          <p:cNvSpPr txBox="1"/>
          <p:nvPr/>
        </p:nvSpPr>
        <p:spPr>
          <a:xfrm>
            <a:off x="8567928" y="1389888"/>
            <a:ext cx="278892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Converts</a:t>
            </a:r>
            <a:endParaRPr lang="en-US" sz="1500" dirty="0"/>
          </a:p>
        </p:txBody>
      </p:sp>
      <p:sp>
        <p:nvSpPr>
          <p:cNvPr id="20" name="Text 15"/>
          <p:cNvSpPr txBox="1"/>
          <p:nvPr/>
        </p:nvSpPr>
        <p:spPr>
          <a:xfrm>
            <a:off x="8567928" y="1783080"/>
            <a:ext cx="2788920" cy="89611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Analogue radio waves in -&gt; digital data for the CPU; digital data out -&gt; radio waves</a:t>
            </a:r>
            <a:endParaRPr lang="en-US" sz="1250" dirty="0"/>
          </a:p>
        </p:txBody>
      </p:sp>
      <p:sp>
        <p:nvSpPr>
          <p:cNvPr id="21" name="Shape 16"/>
          <p:cNvSpPr/>
          <p:nvPr/>
        </p:nvSpPr>
        <p:spPr>
          <a:xfrm>
            <a:off x="4206240" y="2880360"/>
            <a:ext cx="3566160" cy="1463040"/>
          </a:xfrm>
          <a:prstGeom prst="rect">
            <a:avLst/>
          </a:prstGeom>
          <a:solidFill>
            <a:srgbClr val="F6F5FC"/>
          </a:solidFill>
          <a:ln w="12700">
            <a:solidFill>
              <a:srgbClr val="F6F5FC"/>
            </a:solidFill>
            <a:prstDash val="solid"/>
          </a:ln>
        </p:spPr>
      </p:sp>
      <p:sp>
        <p:nvSpPr>
          <p:cNvPr id="22" name="Text 17"/>
          <p:cNvSpPr/>
          <p:nvPr/>
        </p:nvSpPr>
        <p:spPr>
          <a:xfrm>
            <a:off x="4343400" y="30175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23" name="Text 18"/>
          <p:cNvSpPr txBox="1"/>
          <p:nvPr/>
        </p:nvSpPr>
        <p:spPr>
          <a:xfrm>
            <a:off x="4864608" y="2990088"/>
            <a:ext cx="278892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Filters</a:t>
            </a:r>
            <a:endParaRPr lang="en-US" sz="1500" dirty="0"/>
          </a:p>
        </p:txBody>
      </p:sp>
      <p:sp>
        <p:nvSpPr>
          <p:cNvPr id="24" name="Text 19"/>
          <p:cNvSpPr txBox="1"/>
          <p:nvPr/>
        </p:nvSpPr>
        <p:spPr>
          <a:xfrm>
            <a:off x="4864608" y="3383280"/>
            <a:ext cx="2788920" cy="89611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Checks the MAC address on each incoming transmission and ignores data not meant for it</a:t>
            </a:r>
            <a:endParaRPr lang="en-US" sz="1250" dirty="0"/>
          </a:p>
        </p:txBody>
      </p:sp>
      <p:sp>
        <p:nvSpPr>
          <p:cNvPr id="25" name="Shape 20"/>
          <p:cNvSpPr/>
          <p:nvPr/>
        </p:nvSpPr>
        <p:spPr>
          <a:xfrm>
            <a:off x="7909560" y="2880360"/>
            <a:ext cx="3566160" cy="1463040"/>
          </a:xfrm>
          <a:prstGeom prst="rect">
            <a:avLst/>
          </a:prstGeom>
          <a:solidFill>
            <a:srgbClr val="F6F5FC"/>
          </a:solidFill>
          <a:ln w="12700">
            <a:solidFill>
              <a:srgbClr val="F6F5FC"/>
            </a:solidFill>
            <a:prstDash val="solid"/>
          </a:ln>
        </p:spPr>
      </p:sp>
      <p:sp>
        <p:nvSpPr>
          <p:cNvPr id="26" name="Text 21"/>
          <p:cNvSpPr/>
          <p:nvPr/>
        </p:nvSpPr>
        <p:spPr>
          <a:xfrm>
            <a:off x="8046720" y="30175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4</a:t>
            </a:r>
            <a:endParaRPr lang="en-US" sz="1400" dirty="0"/>
          </a:p>
        </p:txBody>
      </p:sp>
      <p:sp>
        <p:nvSpPr>
          <p:cNvPr id="27" name="Text 22"/>
          <p:cNvSpPr txBox="1"/>
          <p:nvPr/>
        </p:nvSpPr>
        <p:spPr>
          <a:xfrm>
            <a:off x="8567928" y="2990088"/>
            <a:ext cx="278892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Secures</a:t>
            </a:r>
            <a:endParaRPr lang="en-US" sz="1500" dirty="0"/>
          </a:p>
        </p:txBody>
      </p:sp>
      <p:sp>
        <p:nvSpPr>
          <p:cNvPr id="28" name="Text 23"/>
          <p:cNvSpPr txBox="1"/>
          <p:nvPr/>
        </p:nvSpPr>
        <p:spPr>
          <a:xfrm>
            <a:off x="8567928" y="3383280"/>
            <a:ext cx="2788920" cy="89611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Encrypts data before sending and decrypts data it receives</a:t>
            </a:r>
            <a:endParaRPr lang="en-US" sz="1250" dirty="0"/>
          </a:p>
        </p:txBody>
      </p:sp>
      <p:sp>
        <p:nvSpPr>
          <p:cNvPr id="29" name="Text 24"/>
          <p:cNvSpPr txBox="1"/>
          <p:nvPr/>
        </p:nvSpPr>
        <p:spPr>
          <a:xfrm>
            <a:off x="4206240" y="4617720"/>
            <a:ext cx="7269480" cy="411480"/>
          </a:xfrm>
          <a:prstGeom prst="rect">
            <a:avLst/>
          </a:prstGeom>
          <a:noFill/>
          <a:ln/>
        </p:spPr>
        <p:txBody>
          <a:bodyPr wrap="square" lIns="0" tIns="0" rIns="0" bIns="0" rtlCol="0" anchor="t"/>
          <a:lstStyle/>
          <a:p>
            <a:pPr indent="0" marL="0">
              <a:buNone/>
            </a:pPr>
            <a:r>
              <a:rPr lang="en-US" sz="1450" b="1" dirty="0">
                <a:solidFill>
                  <a:srgbClr val="494985"/>
                </a:solidFill>
                <a:latin typeface="Quicksand" pitchFamily="34" charset="0"/>
                <a:ea typeface="Quicksand" pitchFamily="34" charset="-122"/>
                <a:cs typeface="Quicksand" pitchFamily="34" charset="-120"/>
              </a:rPr>
              <a:t>Like a NIC, it provides the device's MAC address - NOT its IP address.</a:t>
            </a:r>
            <a:endParaRPr lang="en-US" sz="1450" dirty="0"/>
          </a:p>
        </p:txBody>
      </p:sp>
      <p:sp>
        <p:nvSpPr>
          <p:cNvPr id="30" name="Text 25"/>
          <p:cNvSpPr txBox="1"/>
          <p:nvPr/>
        </p:nvSpPr>
        <p:spPr>
          <a:xfrm>
            <a:off x="4206240" y="5120640"/>
            <a:ext cx="7269480" cy="274320"/>
          </a:xfrm>
          <a:prstGeom prst="rect">
            <a:avLst/>
          </a:prstGeom>
          <a:noFill/>
          <a:ln/>
        </p:spPr>
        <p:txBody>
          <a:bodyPr wrap="square" lIns="0" tIns="0" rIns="0" bIns="0" rtlCol="0" anchor="ctr"/>
          <a:lstStyle/>
          <a:p>
            <a:pPr algn="l" indent="0" marL="0">
              <a:buNone/>
            </a:pPr>
            <a:r>
              <a:rPr lang="en-US" sz="1200" i="1" dirty="0">
                <a:solidFill>
                  <a:srgbClr val="202124"/>
                </a:solidFill>
                <a:latin typeface="Quicksand" pitchFamily="34" charset="0"/>
                <a:ea typeface="Quicksand" pitchFamily="34" charset="-122"/>
                <a:cs typeface="Quicksand" pitchFamily="34" charset="-120"/>
              </a:rPr>
              <a:t>Infrastructure mode: connects through a WAP.   Ad hoc mode: devices connect directly to each other.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MAC address vs IP address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7</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77240" y="1325880"/>
          <a:ext cx="10698480" cy="914400"/>
        </p:xfrm>
        <a:graphic>
          <a:graphicData uri="http://schemas.openxmlformats.org/drawingml/2006/table">
            <a:tbl>
              <a:tblPr/>
              <a:tblGrid>
                <a:gridCol w="2194560"/>
                <a:gridCol w="4114800"/>
                <a:gridCol w="4389120"/>
              </a:tblGrid>
              <a:tr h="566928">
                <a:tc>
                  <a:txBody>
                    <a:bodyPr/>
                    <a:lstStyle/>
                    <a:p>
                      <a:pPr indent="0" marL="0">
                        <a:buNone/>
                      </a:pP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MAC address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IP address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Type of address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Physical - belongs to the NIC / WNIC</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Logical - belongs to the connection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Who sets it?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The manufacturer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The router (private IP) or the ISP (public IP)</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Does it change?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No - fixed for the device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Yes - can change when the device moves network or reconnects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Format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48 bits, e.g. 00:1A:2B:3C:4D:5E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IPv4: 32 bits, e.g. 192.168.0.12</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Used by...</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Switches - to deliver data inside the LAN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Routers - to send packets between networks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8" name="Text 4"/>
          <p:cNvSpPr txBox="1"/>
          <p:nvPr/>
        </p:nvSpPr>
        <p:spPr>
          <a:xfrm>
            <a:off x="777240" y="5074920"/>
            <a:ext cx="10698480" cy="64008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Quick check: your laptop moves from home Wi-Fi to the school network. Which address changes, and which stays the same?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Hub vs switch</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8</a:t>
            </a:r>
            <a:endParaRPr lang="en-US" sz="1350" dirty="0"/>
          </a:p>
        </p:txBody>
      </p:sp>
      <p:sp>
        <p:nvSpPr>
          <p:cNvPr id="7" name="Shape 4"/>
          <p:cNvSpPr/>
          <p:nvPr/>
        </p:nvSpPr>
        <p:spPr>
          <a:xfrm>
            <a:off x="801624" y="1243584"/>
            <a:ext cx="2511552" cy="190195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hub.jpg">    </p:cNvPr>
          <p:cNvPicPr>
            <a:picLocks noChangeAspect="1"/>
          </p:cNvPicPr>
          <p:nvPr/>
        </p:nvPicPr>
        <p:blipFill>
          <a:blip r:embed="rId1"/>
          <a:stretch>
            <a:fillRect/>
          </a:stretch>
        </p:blipFill>
        <p:spPr>
          <a:xfrm>
            <a:off x="838200" y="1280160"/>
            <a:ext cx="2438400" cy="1828800"/>
          </a:xfrm>
          <a:prstGeom prst="rect">
            <a:avLst/>
          </a:prstGeom>
        </p:spPr>
      </p:pic>
      <p:sp>
        <p:nvSpPr>
          <p:cNvPr id="9" name="Text 5"/>
          <p:cNvSpPr txBox="1"/>
          <p:nvPr/>
        </p:nvSpPr>
        <p:spPr>
          <a:xfrm>
            <a:off x="548640" y="3172968"/>
            <a:ext cx="3017520" cy="237744"/>
          </a:xfrm>
          <a:prstGeom prst="rect">
            <a:avLst/>
          </a:prstGeom>
          <a:noFill/>
          <a:ln/>
        </p:spPr>
        <p:txBody>
          <a:bodyPr wrap="square" lIns="0" tIns="0" rIns="0" bIns="0" rtlCol="0" anchor="ctr"/>
          <a:lstStyle/>
          <a:p>
            <a:pPr algn="ctr" indent="0" marL="0">
              <a:buNone/>
            </a:pPr>
            <a:r>
              <a:rPr lang="en-US" sz="1050" b="1" i="1" dirty="0">
                <a:solidFill>
                  <a:srgbClr val="202124"/>
                </a:solidFill>
                <a:latin typeface="Quicksand" pitchFamily="34" charset="0"/>
                <a:ea typeface="Quicksand" pitchFamily="34" charset="-122"/>
                <a:cs typeface="Quicksand" pitchFamily="34" charset="-120"/>
              </a:rPr>
              <a:t>Hub   </a:t>
            </a:r>
            <a:pPr algn="ctr" indent="0" marL="0">
              <a:buNone/>
            </a:pPr>
            <a:r>
              <a:rPr lang="en-US" sz="800" i="1" dirty="0">
                <a:solidFill>
                  <a:srgbClr val="8A8A99"/>
                </a:solidFill>
                <a:latin typeface="Quicksand" pitchFamily="34" charset="0"/>
                <a:ea typeface="Quicksand" pitchFamily="34" charset="-122"/>
                <a:cs typeface="Quicksand" pitchFamily="34" charset="-120"/>
              </a:rPr>
              <a:t>Photo: George Shuklin, Public domain, Wikimedia Commons</a:t>
            </a:r>
            <a:endParaRPr lang="en-US" sz="1050" dirty="0"/>
          </a:p>
        </p:txBody>
      </p:sp>
      <p:sp>
        <p:nvSpPr>
          <p:cNvPr id="10" name="Shape 6"/>
          <p:cNvSpPr/>
          <p:nvPr/>
        </p:nvSpPr>
        <p:spPr>
          <a:xfrm>
            <a:off x="813816" y="3621024"/>
            <a:ext cx="2487168" cy="208483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1" name="Image 1" descr="figs/switch.jpg">    </p:cNvPr>
          <p:cNvPicPr>
            <a:picLocks noChangeAspect="1"/>
          </p:cNvPicPr>
          <p:nvPr/>
        </p:nvPicPr>
        <p:blipFill>
          <a:blip r:embed="rId2"/>
          <a:stretch>
            <a:fillRect/>
          </a:stretch>
        </p:blipFill>
        <p:spPr>
          <a:xfrm>
            <a:off x="850392" y="3657600"/>
            <a:ext cx="2414016" cy="2011680"/>
          </a:xfrm>
          <a:prstGeom prst="rect">
            <a:avLst/>
          </a:prstGeom>
        </p:spPr>
      </p:pic>
      <p:sp>
        <p:nvSpPr>
          <p:cNvPr id="12" name="Text 7"/>
          <p:cNvSpPr txBox="1"/>
          <p:nvPr/>
        </p:nvSpPr>
        <p:spPr>
          <a:xfrm>
            <a:off x="548640" y="5733288"/>
            <a:ext cx="3017520" cy="237744"/>
          </a:xfrm>
          <a:prstGeom prst="rect">
            <a:avLst/>
          </a:prstGeom>
          <a:noFill/>
          <a:ln/>
        </p:spPr>
        <p:txBody>
          <a:bodyPr wrap="square" lIns="0" tIns="0" rIns="0" bIns="0" rtlCol="0" anchor="ctr"/>
          <a:lstStyle/>
          <a:p>
            <a:pPr algn="ctr" indent="0" marL="0">
              <a:buNone/>
            </a:pPr>
            <a:r>
              <a:rPr lang="en-US" sz="1050" b="1" i="1" dirty="0">
                <a:solidFill>
                  <a:srgbClr val="202124"/>
                </a:solidFill>
                <a:latin typeface="Quicksand" pitchFamily="34" charset="0"/>
                <a:ea typeface="Quicksand" pitchFamily="34" charset="-122"/>
                <a:cs typeface="Quicksand" pitchFamily="34" charset="-120"/>
              </a:rPr>
              <a:t>Switch   </a:t>
            </a:r>
            <a:pPr algn="ctr" indent="0" marL="0">
              <a:buNone/>
            </a:pPr>
            <a:r>
              <a:rPr lang="en-US" sz="800" i="1" dirty="0">
                <a:solidFill>
                  <a:srgbClr val="8A8A99"/>
                </a:solidFill>
                <a:latin typeface="Quicksand" pitchFamily="34" charset="0"/>
                <a:ea typeface="Quicksand" pitchFamily="34" charset="-122"/>
                <a:cs typeface="Quicksand" pitchFamily="34" charset="-120"/>
              </a:rPr>
              <a:t>Photo: Simon A. Eugster, CC BY-SA 3.0, Wikimedia Commons</a:t>
            </a:r>
            <a:endParaRPr lang="en-US" sz="1050" dirty="0"/>
          </a:p>
        </p:txBody>
      </p:sp>
      <p:sp>
        <p:nvSpPr>
          <p:cNvPr id="13" name="Shape 8"/>
          <p:cNvSpPr/>
          <p:nvPr/>
        </p:nvSpPr>
        <p:spPr>
          <a:xfrm>
            <a:off x="4114800" y="1417320"/>
            <a:ext cx="987552" cy="526694"/>
          </a:xfrm>
          <a:prstGeom prst="line">
            <a:avLst/>
          </a:prstGeom>
          <a:noFill/>
          <a:ln w="31750">
            <a:solidFill>
              <a:srgbClr val="B3261E"/>
            </a:solidFill>
            <a:prstDash val="solid"/>
            <a:tailEnd type="triangle"/>
          </a:ln>
        </p:spPr>
      </p:sp>
      <p:sp>
        <p:nvSpPr>
          <p:cNvPr id="14" name="Text 9"/>
          <p:cNvSpPr/>
          <p:nvPr/>
        </p:nvSpPr>
        <p:spPr>
          <a:xfrm>
            <a:off x="3794760" y="1225296"/>
            <a:ext cx="640080" cy="384048"/>
          </a:xfrm>
          <a:prstGeom prst="roundRect">
            <a:avLst>
              <a:gd name="adj" fmla="val 14286"/>
            </a:avLst>
          </a:prstGeom>
          <a:solidFill>
            <a:srgbClr val="FFE7E3"/>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PC1</a:t>
            </a:r>
            <a:endParaRPr lang="en-US" sz="1100" dirty="0"/>
          </a:p>
        </p:txBody>
      </p:sp>
      <p:sp>
        <p:nvSpPr>
          <p:cNvPr id="15" name="Shape 10"/>
          <p:cNvSpPr/>
          <p:nvPr/>
        </p:nvSpPr>
        <p:spPr>
          <a:xfrm flipV="1">
            <a:off x="5486400" y="1622146"/>
            <a:ext cx="987552" cy="526694"/>
          </a:xfrm>
          <a:prstGeom prst="line">
            <a:avLst/>
          </a:prstGeom>
          <a:noFill/>
          <a:ln w="31750">
            <a:solidFill>
              <a:srgbClr val="B3261E"/>
            </a:solidFill>
            <a:prstDash val="solid"/>
            <a:tailEnd type="triangle"/>
          </a:ln>
        </p:spPr>
      </p:sp>
      <p:sp>
        <p:nvSpPr>
          <p:cNvPr id="16" name="Text 11"/>
          <p:cNvSpPr/>
          <p:nvPr/>
        </p:nvSpPr>
        <p:spPr>
          <a:xfrm>
            <a:off x="6537960" y="1225296"/>
            <a:ext cx="640080" cy="384048"/>
          </a:xfrm>
          <a:prstGeom prst="roundRect">
            <a:avLst>
              <a:gd name="adj" fmla="val 14286"/>
            </a:avLst>
          </a:prstGeom>
          <a:solidFill>
            <a:srgbClr val="FFF4C7"/>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PC2</a:t>
            </a:r>
            <a:endParaRPr lang="en-US" sz="1100" dirty="0"/>
          </a:p>
        </p:txBody>
      </p:sp>
      <p:sp>
        <p:nvSpPr>
          <p:cNvPr id="17" name="Shape 12"/>
          <p:cNvSpPr/>
          <p:nvPr/>
        </p:nvSpPr>
        <p:spPr>
          <a:xfrm flipH="1">
            <a:off x="4498848" y="2148840"/>
            <a:ext cx="987552" cy="526694"/>
          </a:xfrm>
          <a:prstGeom prst="line">
            <a:avLst/>
          </a:prstGeom>
          <a:noFill/>
          <a:ln w="31750">
            <a:solidFill>
              <a:srgbClr val="B3261E"/>
            </a:solidFill>
            <a:prstDash val="solid"/>
            <a:tailEnd type="triangle"/>
          </a:ln>
        </p:spPr>
      </p:sp>
      <p:sp>
        <p:nvSpPr>
          <p:cNvPr id="18" name="Text 13"/>
          <p:cNvSpPr/>
          <p:nvPr/>
        </p:nvSpPr>
        <p:spPr>
          <a:xfrm>
            <a:off x="3794760" y="2688336"/>
            <a:ext cx="640080" cy="384048"/>
          </a:xfrm>
          <a:prstGeom prst="roundRect">
            <a:avLst>
              <a:gd name="adj" fmla="val 14286"/>
            </a:avLst>
          </a:prstGeom>
          <a:solidFill>
            <a:srgbClr val="FFF4C7"/>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PC3</a:t>
            </a:r>
            <a:endParaRPr lang="en-US" sz="1100" dirty="0"/>
          </a:p>
        </p:txBody>
      </p:sp>
      <p:sp>
        <p:nvSpPr>
          <p:cNvPr id="19" name="Shape 14"/>
          <p:cNvSpPr/>
          <p:nvPr/>
        </p:nvSpPr>
        <p:spPr>
          <a:xfrm>
            <a:off x="5486400" y="2148840"/>
            <a:ext cx="987552" cy="526694"/>
          </a:xfrm>
          <a:prstGeom prst="line">
            <a:avLst/>
          </a:prstGeom>
          <a:noFill/>
          <a:ln w="31750">
            <a:solidFill>
              <a:srgbClr val="B3261E"/>
            </a:solidFill>
            <a:prstDash val="solid"/>
            <a:tailEnd type="triangle"/>
          </a:ln>
        </p:spPr>
      </p:sp>
      <p:sp>
        <p:nvSpPr>
          <p:cNvPr id="20" name="Text 15"/>
          <p:cNvSpPr/>
          <p:nvPr/>
        </p:nvSpPr>
        <p:spPr>
          <a:xfrm>
            <a:off x="6537960" y="2688336"/>
            <a:ext cx="640080" cy="384048"/>
          </a:xfrm>
          <a:prstGeom prst="roundRect">
            <a:avLst>
              <a:gd name="adj" fmla="val 14286"/>
            </a:avLst>
          </a:prstGeom>
          <a:solidFill>
            <a:srgbClr val="FFF4C7"/>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PC4</a:t>
            </a:r>
            <a:endParaRPr lang="en-US" sz="1100" dirty="0"/>
          </a:p>
        </p:txBody>
      </p:sp>
      <p:sp>
        <p:nvSpPr>
          <p:cNvPr id="21" name="Text 16"/>
          <p:cNvSpPr/>
          <p:nvPr/>
        </p:nvSpPr>
        <p:spPr>
          <a:xfrm>
            <a:off x="5029200" y="1947672"/>
            <a:ext cx="914400" cy="402336"/>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Hub</a:t>
            </a:r>
            <a:endParaRPr lang="en-US" sz="1200" dirty="0"/>
          </a:p>
        </p:txBody>
      </p:sp>
      <p:sp>
        <p:nvSpPr>
          <p:cNvPr id="22" name="Shape 17"/>
          <p:cNvSpPr/>
          <p:nvPr/>
        </p:nvSpPr>
        <p:spPr>
          <a:xfrm>
            <a:off x="4114800" y="3794760"/>
            <a:ext cx="987552" cy="526694"/>
          </a:xfrm>
          <a:prstGeom prst="line">
            <a:avLst/>
          </a:prstGeom>
          <a:noFill/>
          <a:ln w="31750">
            <a:solidFill>
              <a:srgbClr val="B3261E"/>
            </a:solidFill>
            <a:prstDash val="solid"/>
            <a:tailEnd type="triangle"/>
          </a:ln>
        </p:spPr>
      </p:sp>
      <p:sp>
        <p:nvSpPr>
          <p:cNvPr id="23" name="Text 18"/>
          <p:cNvSpPr/>
          <p:nvPr/>
        </p:nvSpPr>
        <p:spPr>
          <a:xfrm>
            <a:off x="3794760" y="3602736"/>
            <a:ext cx="640080" cy="384048"/>
          </a:xfrm>
          <a:prstGeom prst="roundRect">
            <a:avLst>
              <a:gd name="adj" fmla="val 14286"/>
            </a:avLst>
          </a:prstGeom>
          <a:solidFill>
            <a:srgbClr val="FFE7E3"/>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PC1</a:t>
            </a:r>
            <a:endParaRPr lang="en-US" sz="1100" dirty="0"/>
          </a:p>
        </p:txBody>
      </p:sp>
      <p:sp>
        <p:nvSpPr>
          <p:cNvPr id="24" name="Shape 19"/>
          <p:cNvSpPr/>
          <p:nvPr/>
        </p:nvSpPr>
        <p:spPr>
          <a:xfrm flipV="1">
            <a:off x="5486400" y="3794760"/>
            <a:ext cx="1371600" cy="731520"/>
          </a:xfrm>
          <a:prstGeom prst="line">
            <a:avLst/>
          </a:prstGeom>
          <a:noFill/>
          <a:ln w="15875">
            <a:solidFill>
              <a:srgbClr val="C8C8D8"/>
            </a:solidFill>
            <a:prstDash val="solid"/>
          </a:ln>
        </p:spPr>
      </p:sp>
      <p:sp>
        <p:nvSpPr>
          <p:cNvPr id="25" name="Text 20"/>
          <p:cNvSpPr/>
          <p:nvPr/>
        </p:nvSpPr>
        <p:spPr>
          <a:xfrm>
            <a:off x="6537960" y="3602736"/>
            <a:ext cx="640080"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PC2</a:t>
            </a:r>
            <a:endParaRPr lang="en-US" sz="1100" dirty="0"/>
          </a:p>
        </p:txBody>
      </p:sp>
      <p:sp>
        <p:nvSpPr>
          <p:cNvPr id="26" name="Shape 21"/>
          <p:cNvSpPr/>
          <p:nvPr/>
        </p:nvSpPr>
        <p:spPr>
          <a:xfrm flipH="1">
            <a:off x="4498848" y="4526280"/>
            <a:ext cx="987552" cy="526694"/>
          </a:xfrm>
          <a:prstGeom prst="line">
            <a:avLst/>
          </a:prstGeom>
          <a:noFill/>
          <a:ln w="31750">
            <a:solidFill>
              <a:srgbClr val="B3261E"/>
            </a:solidFill>
            <a:prstDash val="solid"/>
            <a:tailEnd type="triangle"/>
          </a:ln>
        </p:spPr>
      </p:sp>
      <p:sp>
        <p:nvSpPr>
          <p:cNvPr id="27" name="Text 22"/>
          <p:cNvSpPr/>
          <p:nvPr/>
        </p:nvSpPr>
        <p:spPr>
          <a:xfrm>
            <a:off x="3794760" y="5065776"/>
            <a:ext cx="640080" cy="384048"/>
          </a:xfrm>
          <a:prstGeom prst="roundRect">
            <a:avLst>
              <a:gd name="adj" fmla="val 14286"/>
            </a:avLst>
          </a:prstGeom>
          <a:solidFill>
            <a:srgbClr val="FFF4C7"/>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PC3</a:t>
            </a:r>
            <a:endParaRPr lang="en-US" sz="1100" dirty="0"/>
          </a:p>
        </p:txBody>
      </p:sp>
      <p:sp>
        <p:nvSpPr>
          <p:cNvPr id="28" name="Shape 23"/>
          <p:cNvSpPr/>
          <p:nvPr/>
        </p:nvSpPr>
        <p:spPr>
          <a:xfrm>
            <a:off x="5486400" y="4526280"/>
            <a:ext cx="1371600" cy="731520"/>
          </a:xfrm>
          <a:prstGeom prst="line">
            <a:avLst/>
          </a:prstGeom>
          <a:noFill/>
          <a:ln w="15875">
            <a:solidFill>
              <a:srgbClr val="C8C8D8"/>
            </a:solidFill>
            <a:prstDash val="solid"/>
          </a:ln>
        </p:spPr>
      </p:sp>
      <p:sp>
        <p:nvSpPr>
          <p:cNvPr id="29" name="Text 24"/>
          <p:cNvSpPr/>
          <p:nvPr/>
        </p:nvSpPr>
        <p:spPr>
          <a:xfrm>
            <a:off x="6537960" y="5065776"/>
            <a:ext cx="640080"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PC4</a:t>
            </a:r>
            <a:endParaRPr lang="en-US" sz="1100" dirty="0"/>
          </a:p>
        </p:txBody>
      </p:sp>
      <p:sp>
        <p:nvSpPr>
          <p:cNvPr id="30" name="Text 25"/>
          <p:cNvSpPr/>
          <p:nvPr/>
        </p:nvSpPr>
        <p:spPr>
          <a:xfrm>
            <a:off x="5029200" y="4325112"/>
            <a:ext cx="914400" cy="402336"/>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Switch</a:t>
            </a:r>
            <a:endParaRPr lang="en-US" sz="1200" dirty="0"/>
          </a:p>
        </p:txBody>
      </p:sp>
      <p:sp>
        <p:nvSpPr>
          <p:cNvPr id="31" name="Shape 26"/>
          <p:cNvSpPr/>
          <p:nvPr/>
        </p:nvSpPr>
        <p:spPr>
          <a:xfrm>
            <a:off x="7818120" y="1280160"/>
            <a:ext cx="3703320" cy="1783080"/>
          </a:xfrm>
          <a:prstGeom prst="rect">
            <a:avLst/>
          </a:prstGeom>
          <a:solidFill>
            <a:srgbClr val="F6F5FC"/>
          </a:solidFill>
          <a:ln w="12700">
            <a:solidFill>
              <a:srgbClr val="F6F5FC"/>
            </a:solidFill>
            <a:prstDash val="solid"/>
          </a:ln>
        </p:spPr>
      </p:sp>
      <p:sp>
        <p:nvSpPr>
          <p:cNvPr id="32" name="Shape 27"/>
          <p:cNvSpPr/>
          <p:nvPr/>
        </p:nvSpPr>
        <p:spPr>
          <a:xfrm>
            <a:off x="7818120" y="1280160"/>
            <a:ext cx="73152" cy="1783080"/>
          </a:xfrm>
          <a:prstGeom prst="rect">
            <a:avLst/>
          </a:prstGeom>
          <a:solidFill>
            <a:srgbClr val="B3261E"/>
          </a:solidFill>
          <a:ln w="12700">
            <a:solidFill>
              <a:srgbClr val="B3261E"/>
            </a:solidFill>
            <a:prstDash val="solid"/>
          </a:ln>
        </p:spPr>
      </p:sp>
      <p:sp>
        <p:nvSpPr>
          <p:cNvPr id="33" name="Text 28"/>
          <p:cNvSpPr txBox="1"/>
          <p:nvPr/>
        </p:nvSpPr>
        <p:spPr>
          <a:xfrm>
            <a:off x="8046720" y="1371600"/>
            <a:ext cx="3337560" cy="347472"/>
          </a:xfrm>
          <a:prstGeom prst="rect">
            <a:avLst/>
          </a:prstGeom>
          <a:noFill/>
          <a:ln/>
        </p:spPr>
        <p:txBody>
          <a:bodyPr wrap="square" lIns="0" tIns="0" rIns="0" bIns="0" rtlCol="0" anchor="ctr"/>
          <a:lstStyle/>
          <a:p>
            <a:pPr indent="0" marL="0">
              <a:buNone/>
            </a:pPr>
            <a:r>
              <a:rPr lang="en-US" sz="1500" b="1" dirty="0">
                <a:solidFill>
                  <a:srgbClr val="B3261E"/>
                </a:solidFill>
                <a:latin typeface="Quicksand" pitchFamily="34" charset="0"/>
                <a:ea typeface="Quicksand" pitchFamily="34" charset="-122"/>
                <a:cs typeface="Quicksand" pitchFamily="34" charset="-120"/>
              </a:rPr>
              <a:t>Hub</a:t>
            </a:r>
            <a:endParaRPr lang="en-US" sz="1500" dirty="0"/>
          </a:p>
        </p:txBody>
      </p:sp>
      <p:sp>
        <p:nvSpPr>
          <p:cNvPr id="34" name="Text 29"/>
          <p:cNvSpPr txBox="1"/>
          <p:nvPr/>
        </p:nvSpPr>
        <p:spPr>
          <a:xfrm>
            <a:off x="8046720" y="1783080"/>
            <a:ext cx="3337560" cy="1188720"/>
          </a:xfrm>
          <a:prstGeom prst="rect">
            <a:avLst/>
          </a:prstGeom>
          <a:noFill/>
          <a:ln/>
        </p:spPr>
        <p:txBody>
          <a:bodyPr wrap="square" lIns="0" tIns="0" rIns="0" bIns="0" rtlCol="0" anchor="t"/>
          <a:lstStyle/>
          <a:p>
            <a:pPr marL="228600" indent="-228600">
              <a:spcAft>
                <a:spcPts val="500"/>
              </a:spcAft>
              <a:buSzPct val="100000"/>
              <a:buChar char="•"/>
            </a:pPr>
            <a:r>
              <a:rPr lang="en-US" sz="1250" dirty="0">
                <a:solidFill>
                  <a:srgbClr val="202124"/>
                </a:solidFill>
                <a:latin typeface="Quicksand" pitchFamily="34" charset="0"/>
                <a:ea typeface="Quicksand" pitchFamily="34" charset="-122"/>
                <a:cs typeface="Quicksand" pitchFamily="34" charset="-120"/>
              </a:rPr>
              <a:t>Sends every packet to ALL devices</a:t>
            </a:r>
            <a:endParaRPr lang="en-US" sz="1250" dirty="0"/>
          </a:p>
          <a:p>
            <a:pPr marL="228600" indent="-228600">
              <a:spcAft>
                <a:spcPts val="500"/>
              </a:spcAft>
              <a:buSzPct val="100000"/>
              <a:buChar char="•"/>
            </a:pPr>
            <a:r>
              <a:rPr lang="en-US" sz="1250" dirty="0">
                <a:solidFill>
                  <a:srgbClr val="202124"/>
                </a:solidFill>
                <a:latin typeface="Quicksand" pitchFamily="34" charset="0"/>
                <a:ea typeface="Quicksand" pitchFamily="34" charset="-122"/>
                <a:cs typeface="Quicksand" pitchFamily="34" charset="-120"/>
              </a:rPr>
              <a:t>Wastes bandwidth; any device can read the data</a:t>
            </a:r>
            <a:endParaRPr lang="en-US" sz="1250" dirty="0"/>
          </a:p>
        </p:txBody>
      </p:sp>
      <p:sp>
        <p:nvSpPr>
          <p:cNvPr id="35" name="Shape 30"/>
          <p:cNvSpPr/>
          <p:nvPr/>
        </p:nvSpPr>
        <p:spPr>
          <a:xfrm>
            <a:off x="7818120" y="3657600"/>
            <a:ext cx="3703320" cy="1783080"/>
          </a:xfrm>
          <a:prstGeom prst="rect">
            <a:avLst/>
          </a:prstGeom>
          <a:solidFill>
            <a:srgbClr val="F6F5FC"/>
          </a:solidFill>
          <a:ln w="12700">
            <a:solidFill>
              <a:srgbClr val="F6F5FC"/>
            </a:solidFill>
            <a:prstDash val="solid"/>
          </a:ln>
        </p:spPr>
      </p:sp>
      <p:sp>
        <p:nvSpPr>
          <p:cNvPr id="36" name="Shape 31"/>
          <p:cNvSpPr/>
          <p:nvPr/>
        </p:nvSpPr>
        <p:spPr>
          <a:xfrm>
            <a:off x="7818120" y="3657600"/>
            <a:ext cx="73152" cy="1783080"/>
          </a:xfrm>
          <a:prstGeom prst="rect">
            <a:avLst/>
          </a:prstGeom>
          <a:solidFill>
            <a:srgbClr val="2E7D5B"/>
          </a:solidFill>
          <a:ln w="12700">
            <a:solidFill>
              <a:srgbClr val="2E7D5B"/>
            </a:solidFill>
            <a:prstDash val="solid"/>
          </a:ln>
        </p:spPr>
      </p:sp>
      <p:sp>
        <p:nvSpPr>
          <p:cNvPr id="37" name="Text 32"/>
          <p:cNvSpPr txBox="1"/>
          <p:nvPr/>
        </p:nvSpPr>
        <p:spPr>
          <a:xfrm>
            <a:off x="8046720" y="3749040"/>
            <a:ext cx="3337560" cy="347472"/>
          </a:xfrm>
          <a:prstGeom prst="rect">
            <a:avLst/>
          </a:prstGeom>
          <a:noFill/>
          <a:ln/>
        </p:spPr>
        <p:txBody>
          <a:bodyPr wrap="square" lIns="0" tIns="0" rIns="0" bIns="0" rtlCol="0" anchor="ctr"/>
          <a:lstStyle/>
          <a:p>
            <a:pPr indent="0" marL="0">
              <a:buNone/>
            </a:pPr>
            <a:r>
              <a:rPr lang="en-US" sz="1500" b="1" dirty="0">
                <a:solidFill>
                  <a:srgbClr val="2E7D5B"/>
                </a:solidFill>
                <a:latin typeface="Quicksand" pitchFamily="34" charset="0"/>
                <a:ea typeface="Quicksand" pitchFamily="34" charset="-122"/>
                <a:cs typeface="Quicksand" pitchFamily="34" charset="-120"/>
              </a:rPr>
              <a:t>Switch</a:t>
            </a:r>
            <a:endParaRPr lang="en-US" sz="1500" dirty="0"/>
          </a:p>
        </p:txBody>
      </p:sp>
      <p:sp>
        <p:nvSpPr>
          <p:cNvPr id="38" name="Text 33"/>
          <p:cNvSpPr txBox="1"/>
          <p:nvPr/>
        </p:nvSpPr>
        <p:spPr>
          <a:xfrm>
            <a:off x="8046720" y="4160520"/>
            <a:ext cx="3337560" cy="1188720"/>
          </a:xfrm>
          <a:prstGeom prst="rect">
            <a:avLst/>
          </a:prstGeom>
          <a:noFill/>
          <a:ln/>
        </p:spPr>
        <p:txBody>
          <a:bodyPr wrap="square" lIns="0" tIns="0" rIns="0" bIns="0" rtlCol="0" anchor="t"/>
          <a:lstStyle/>
          <a:p>
            <a:pPr marL="228600" indent="-228600">
              <a:spcAft>
                <a:spcPts val="500"/>
              </a:spcAft>
              <a:buSzPct val="100000"/>
              <a:buChar char="•"/>
            </a:pPr>
            <a:r>
              <a:rPr lang="en-US" sz="1250" dirty="0">
                <a:solidFill>
                  <a:srgbClr val="202124"/>
                </a:solidFill>
                <a:latin typeface="Quicksand" pitchFamily="34" charset="0"/>
                <a:ea typeface="Quicksand" pitchFamily="34" charset="-122"/>
                <a:cs typeface="Quicksand" pitchFamily="34" charset="-120"/>
              </a:rPr>
              <a:t>Reads the destination MAC address</a:t>
            </a:r>
            <a:endParaRPr lang="en-US" sz="1250" dirty="0"/>
          </a:p>
          <a:p>
            <a:pPr marL="228600" indent="-228600">
              <a:spcAft>
                <a:spcPts val="500"/>
              </a:spcAft>
              <a:buSzPct val="100000"/>
              <a:buChar char="•"/>
            </a:pPr>
            <a:r>
              <a:rPr lang="en-US" sz="1250" dirty="0">
                <a:solidFill>
                  <a:srgbClr val="202124"/>
                </a:solidFill>
                <a:latin typeface="Quicksand" pitchFamily="34" charset="0"/>
                <a:ea typeface="Quicksand" pitchFamily="34" charset="-122"/>
                <a:cs typeface="Quicksand" pitchFamily="34" charset="-120"/>
              </a:rPr>
              <a:t>Sends the data ONLY to that device</a:t>
            </a:r>
            <a:endParaRPr lang="en-US" sz="1250" dirty="0"/>
          </a:p>
        </p:txBody>
      </p:sp>
      <p:sp>
        <p:nvSpPr>
          <p:cNvPr id="39" name="Text 34"/>
          <p:cNvSpPr txBox="1"/>
          <p:nvPr/>
        </p:nvSpPr>
        <p:spPr>
          <a:xfrm>
            <a:off x="3749040" y="3108960"/>
            <a:ext cx="3474720" cy="274320"/>
          </a:xfrm>
          <a:prstGeom prst="rect">
            <a:avLst/>
          </a:prstGeom>
          <a:noFill/>
          <a:ln/>
        </p:spPr>
        <p:txBody>
          <a:bodyPr wrap="square" lIns="0" tIns="0" rIns="0" bIns="0" rtlCol="0" anchor="ctr"/>
          <a:lstStyle/>
          <a:p>
            <a:pPr algn="ctr" indent="0" marL="0">
              <a:buNone/>
            </a:pPr>
            <a:r>
              <a:rPr lang="en-US" sz="1100" i="1" dirty="0">
                <a:solidFill>
                  <a:srgbClr val="666666"/>
                </a:solidFill>
                <a:latin typeface="Quicksand" pitchFamily="34" charset="0"/>
                <a:ea typeface="Quicksand" pitchFamily="34" charset="-122"/>
                <a:cs typeface="Quicksand" pitchFamily="34" charset="-120"/>
              </a:rPr>
              <a:t>PC1 sends to PC3 through a hub</a:t>
            </a:r>
            <a:endParaRPr lang="en-US" sz="1100" dirty="0"/>
          </a:p>
        </p:txBody>
      </p:sp>
      <p:sp>
        <p:nvSpPr>
          <p:cNvPr id="40" name="Text 35"/>
          <p:cNvSpPr txBox="1"/>
          <p:nvPr/>
        </p:nvSpPr>
        <p:spPr>
          <a:xfrm>
            <a:off x="3749040" y="5486400"/>
            <a:ext cx="3474720" cy="274320"/>
          </a:xfrm>
          <a:prstGeom prst="rect">
            <a:avLst/>
          </a:prstGeom>
          <a:noFill/>
          <a:ln/>
        </p:spPr>
        <p:txBody>
          <a:bodyPr wrap="square" lIns="0" tIns="0" rIns="0" bIns="0" rtlCol="0" anchor="ctr"/>
          <a:lstStyle/>
          <a:p>
            <a:pPr algn="ctr" indent="0" marL="0">
              <a:buNone/>
            </a:pPr>
            <a:r>
              <a:rPr lang="en-US" sz="1100" i="1" dirty="0">
                <a:solidFill>
                  <a:srgbClr val="666666"/>
                </a:solidFill>
                <a:latin typeface="Quicksand" pitchFamily="34" charset="0"/>
                <a:ea typeface="Quicksand" pitchFamily="34" charset="-122"/>
                <a:cs typeface="Quicksand" pitchFamily="34" charset="-120"/>
              </a:rPr>
              <a:t>PC1 sends to PC3 through a switch</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How a switch forwards data</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9</a:t>
            </a:r>
            <a:endParaRPr lang="en-US" sz="1350" dirty="0"/>
          </a:p>
        </p:txBody>
      </p:sp>
      <p:sp>
        <p:nvSpPr>
          <p:cNvPr id="7" name="Shape 4"/>
          <p:cNvSpPr/>
          <p:nvPr/>
        </p:nvSpPr>
        <p:spPr>
          <a:xfrm>
            <a:off x="777240" y="1280160"/>
            <a:ext cx="5577840" cy="960120"/>
          </a:xfrm>
          <a:prstGeom prst="rect">
            <a:avLst/>
          </a:prstGeom>
          <a:solidFill>
            <a:srgbClr val="F6F5FC"/>
          </a:solidFill>
          <a:ln w="12700">
            <a:solidFill>
              <a:srgbClr val="F6F5FC"/>
            </a:solidFill>
            <a:prstDash val="solid"/>
          </a:ln>
        </p:spPr>
      </p:sp>
      <p:sp>
        <p:nvSpPr>
          <p:cNvPr id="8" name="Text 5"/>
          <p:cNvSpPr/>
          <p:nvPr/>
        </p:nvSpPr>
        <p:spPr>
          <a:xfrm>
            <a:off x="914400" y="14173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9" name="Text 6"/>
          <p:cNvSpPr txBox="1"/>
          <p:nvPr/>
        </p:nvSpPr>
        <p:spPr>
          <a:xfrm>
            <a:off x="1435608" y="1389888"/>
            <a:ext cx="48006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Receives</a:t>
            </a:r>
            <a:endParaRPr lang="en-US" sz="1500" dirty="0"/>
          </a:p>
        </p:txBody>
      </p:sp>
      <p:sp>
        <p:nvSpPr>
          <p:cNvPr id="10" name="Text 7"/>
          <p:cNvSpPr txBox="1"/>
          <p:nvPr/>
        </p:nvSpPr>
        <p:spPr>
          <a:xfrm>
            <a:off x="1435608" y="1783080"/>
            <a:ext cx="4800600" cy="39319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A packet arrives from a device on one of its ports</a:t>
            </a:r>
            <a:endParaRPr lang="en-US" sz="1250" dirty="0"/>
          </a:p>
        </p:txBody>
      </p:sp>
      <p:sp>
        <p:nvSpPr>
          <p:cNvPr id="11" name="Shape 8"/>
          <p:cNvSpPr/>
          <p:nvPr/>
        </p:nvSpPr>
        <p:spPr>
          <a:xfrm>
            <a:off x="777240" y="2359152"/>
            <a:ext cx="5577840" cy="960120"/>
          </a:xfrm>
          <a:prstGeom prst="rect">
            <a:avLst/>
          </a:prstGeom>
          <a:solidFill>
            <a:srgbClr val="F6F5FC"/>
          </a:solidFill>
          <a:ln w="12700">
            <a:solidFill>
              <a:srgbClr val="F6F5FC"/>
            </a:solidFill>
            <a:prstDash val="solid"/>
          </a:ln>
        </p:spPr>
      </p:sp>
      <p:sp>
        <p:nvSpPr>
          <p:cNvPr id="12" name="Text 9"/>
          <p:cNvSpPr/>
          <p:nvPr/>
        </p:nvSpPr>
        <p:spPr>
          <a:xfrm>
            <a:off x="914400" y="2496312"/>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3" name="Text 10"/>
          <p:cNvSpPr txBox="1"/>
          <p:nvPr/>
        </p:nvSpPr>
        <p:spPr>
          <a:xfrm>
            <a:off x="1435608" y="2468880"/>
            <a:ext cx="48006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Reads</a:t>
            </a:r>
            <a:endParaRPr lang="en-US" sz="1500" dirty="0"/>
          </a:p>
        </p:txBody>
      </p:sp>
      <p:sp>
        <p:nvSpPr>
          <p:cNvPr id="14" name="Text 11"/>
          <p:cNvSpPr txBox="1"/>
          <p:nvPr/>
        </p:nvSpPr>
        <p:spPr>
          <a:xfrm>
            <a:off x="1435608" y="2862072"/>
            <a:ext cx="4800600" cy="39319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It reads the destination MAC address in the packet</a:t>
            </a:r>
            <a:endParaRPr lang="en-US" sz="1250" dirty="0"/>
          </a:p>
        </p:txBody>
      </p:sp>
      <p:sp>
        <p:nvSpPr>
          <p:cNvPr id="15" name="Shape 12"/>
          <p:cNvSpPr/>
          <p:nvPr/>
        </p:nvSpPr>
        <p:spPr>
          <a:xfrm>
            <a:off x="777240" y="3438144"/>
            <a:ext cx="5577840" cy="960120"/>
          </a:xfrm>
          <a:prstGeom prst="rect">
            <a:avLst/>
          </a:prstGeom>
          <a:solidFill>
            <a:srgbClr val="F6F5FC"/>
          </a:solidFill>
          <a:ln w="12700">
            <a:solidFill>
              <a:srgbClr val="F6F5FC"/>
            </a:solidFill>
            <a:prstDash val="solid"/>
          </a:ln>
        </p:spPr>
      </p:sp>
      <p:sp>
        <p:nvSpPr>
          <p:cNvPr id="16" name="Text 13"/>
          <p:cNvSpPr/>
          <p:nvPr/>
        </p:nvSpPr>
        <p:spPr>
          <a:xfrm>
            <a:off x="914400" y="3575304"/>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7" name="Text 14"/>
          <p:cNvSpPr txBox="1"/>
          <p:nvPr/>
        </p:nvSpPr>
        <p:spPr>
          <a:xfrm>
            <a:off x="1435608" y="3547872"/>
            <a:ext cx="48006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Looks up</a:t>
            </a:r>
            <a:endParaRPr lang="en-US" sz="1500" dirty="0"/>
          </a:p>
        </p:txBody>
      </p:sp>
      <p:sp>
        <p:nvSpPr>
          <p:cNvPr id="18" name="Text 15"/>
          <p:cNvSpPr txBox="1"/>
          <p:nvPr/>
        </p:nvSpPr>
        <p:spPr>
          <a:xfrm>
            <a:off x="1435608" y="3941064"/>
            <a:ext cx="4800600" cy="39319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It checks its table of MAC addresses to find the port that device is on</a:t>
            </a:r>
            <a:endParaRPr lang="en-US" sz="1250" dirty="0"/>
          </a:p>
        </p:txBody>
      </p:sp>
      <p:sp>
        <p:nvSpPr>
          <p:cNvPr id="19" name="Shape 16"/>
          <p:cNvSpPr/>
          <p:nvPr/>
        </p:nvSpPr>
        <p:spPr>
          <a:xfrm>
            <a:off x="777240" y="4517136"/>
            <a:ext cx="5577840" cy="960120"/>
          </a:xfrm>
          <a:prstGeom prst="rect">
            <a:avLst/>
          </a:prstGeom>
          <a:solidFill>
            <a:srgbClr val="F6F5FC"/>
          </a:solidFill>
          <a:ln w="12700">
            <a:solidFill>
              <a:srgbClr val="F6F5FC"/>
            </a:solidFill>
            <a:prstDash val="solid"/>
          </a:ln>
        </p:spPr>
      </p:sp>
      <p:sp>
        <p:nvSpPr>
          <p:cNvPr id="20" name="Text 17"/>
          <p:cNvSpPr/>
          <p:nvPr/>
        </p:nvSpPr>
        <p:spPr>
          <a:xfrm>
            <a:off x="914400" y="4654296"/>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4</a:t>
            </a:r>
            <a:endParaRPr lang="en-US" sz="1400" dirty="0"/>
          </a:p>
        </p:txBody>
      </p:sp>
      <p:sp>
        <p:nvSpPr>
          <p:cNvPr id="21" name="Text 18"/>
          <p:cNvSpPr txBox="1"/>
          <p:nvPr/>
        </p:nvSpPr>
        <p:spPr>
          <a:xfrm>
            <a:off x="1435608" y="4626864"/>
            <a:ext cx="48006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Forwards</a:t>
            </a:r>
            <a:endParaRPr lang="en-US" sz="1500" dirty="0"/>
          </a:p>
        </p:txBody>
      </p:sp>
      <p:sp>
        <p:nvSpPr>
          <p:cNvPr id="22" name="Text 19"/>
          <p:cNvSpPr txBox="1"/>
          <p:nvPr/>
        </p:nvSpPr>
        <p:spPr>
          <a:xfrm>
            <a:off x="1435608" y="5020056"/>
            <a:ext cx="4800600" cy="39319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It sends the packet only out of that port, to the intended recipient</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720840" y="1280160"/>
          <a:ext cx="4800600" cy="914400"/>
        </p:xfrm>
        <a:graphic>
          <a:graphicData uri="http://schemas.openxmlformats.org/drawingml/2006/table">
            <a:tbl>
              <a:tblPr/>
              <a:tblGrid>
                <a:gridCol w="731520"/>
                <a:gridCol w="2926080"/>
                <a:gridCol w="1143000"/>
              </a:tblGrid>
              <a:tr h="438912">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Port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MAC address of device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Device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38912">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00:1A:2B:3C:4D:5E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PC1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38912">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2</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00:1A:2B:7F:01:9C</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PC2</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3</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A4:83:E7:10:22:6B</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PC3</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38912">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4</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3C:22:FB:55:0A:11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Server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24" name="Text 20"/>
          <p:cNvSpPr txBox="1"/>
          <p:nvPr/>
        </p:nvSpPr>
        <p:spPr>
          <a:xfrm>
            <a:off x="6720840" y="3566160"/>
            <a:ext cx="4800600" cy="274320"/>
          </a:xfrm>
          <a:prstGeom prst="rect">
            <a:avLst/>
          </a:prstGeom>
          <a:noFill/>
          <a:ln/>
        </p:spPr>
        <p:txBody>
          <a:bodyPr wrap="square" lIns="0" tIns="0" rIns="0" bIns="0" rtlCol="0" anchor="ctr"/>
          <a:lstStyle/>
          <a:p>
            <a:pPr algn="ctr" indent="0" marL="0">
              <a:buNone/>
            </a:pPr>
            <a:r>
              <a:rPr lang="en-US" sz="1100" i="1" dirty="0">
                <a:solidFill>
                  <a:srgbClr val="666666"/>
                </a:solidFill>
                <a:latin typeface="Quicksand" pitchFamily="34" charset="0"/>
                <a:ea typeface="Quicksand" pitchFamily="34" charset="-122"/>
                <a:cs typeface="Quicksand" pitchFamily="34" charset="-120"/>
              </a:rPr>
              <a:t>The switch's MAC address table (it learns it automatically)</a:t>
            </a:r>
            <a:endParaRPr lang="en-US" sz="1100" dirty="0"/>
          </a:p>
        </p:txBody>
      </p:sp>
      <p:sp>
        <p:nvSpPr>
          <p:cNvPr id="25" name="Text 21"/>
          <p:cNvSpPr txBox="1"/>
          <p:nvPr/>
        </p:nvSpPr>
        <p:spPr>
          <a:xfrm>
            <a:off x="6720840" y="4069080"/>
            <a:ext cx="4800600" cy="1097280"/>
          </a:xfrm>
          <a:prstGeom prst="rect">
            <a:avLst/>
          </a:prstGeom>
          <a:noFill/>
          <a:ln/>
        </p:spPr>
        <p:txBody>
          <a:bodyPr wrap="square" lIns="0" tIns="0" rIns="0" bIns="0" rtlCol="0" anchor="t"/>
          <a:lstStyle/>
          <a:p>
            <a:pPr indent="0" marL="0">
              <a:buNone/>
            </a:pPr>
            <a:r>
              <a:rPr lang="en-US" sz="1400" b="1" dirty="0">
                <a:solidFill>
                  <a:srgbClr val="494985"/>
                </a:solidFill>
                <a:latin typeface="Quicksand" pitchFamily="34" charset="0"/>
                <a:ea typeface="Quicksand" pitchFamily="34" charset="-122"/>
                <a:cs typeface="Quicksand" pitchFamily="34" charset="-120"/>
              </a:rPr>
              <a:t>Quick check: a packet arrives for A4:83:E7:10:22:6B. Which port does the switch send it out of? Which devices never see it?</a:t>
            </a:r>
            <a:endParaRPr lang="en-US" sz="1400" dirty="0"/>
          </a:p>
        </p:txBody>
      </p:sp>
      <p:sp>
        <p:nvSpPr>
          <p:cNvPr id="26" name="Text 22"/>
          <p:cNvSpPr txBox="1"/>
          <p:nvPr/>
        </p:nvSpPr>
        <p:spPr>
          <a:xfrm>
            <a:off x="777240" y="5623560"/>
            <a:ext cx="10698480" cy="365760"/>
          </a:xfrm>
          <a:prstGeom prst="rect">
            <a:avLst/>
          </a:prstGeom>
          <a:noFill/>
          <a:ln/>
        </p:spPr>
        <p:txBody>
          <a:bodyPr wrap="square" lIns="0" tIns="0" rIns="0" bIns="0" rtlCol="0" anchor="t"/>
          <a:lstStyle/>
          <a:p>
            <a:pPr indent="0" marL="0">
              <a:spcAft>
                <a:spcPts val="600"/>
              </a:spcAft>
              <a:buNone/>
            </a:pPr>
            <a:r>
              <a:rPr lang="en-US" sz="1300" i="1" dirty="0">
                <a:solidFill>
                  <a:srgbClr val="666666"/>
                </a:solidFill>
                <a:latin typeface="Quicksand" pitchFamily="34" charset="0"/>
                <a:ea typeface="Quicksand" pitchFamily="34" charset="-122"/>
                <a:cs typeface="Quicksand" pitchFamily="34" charset="-120"/>
              </a:rPr>
              <a:t>A switch provides a central point of connection in a star topology, so connected devices can communicate.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Wireless access point (WAP)</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4</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10</a:t>
            </a:r>
            <a:endParaRPr lang="en-US" sz="1350" dirty="0"/>
          </a:p>
        </p:txBody>
      </p:sp>
      <p:sp>
        <p:nvSpPr>
          <p:cNvPr id="7" name="Shape 4"/>
          <p:cNvSpPr/>
          <p:nvPr/>
        </p:nvSpPr>
        <p:spPr>
          <a:xfrm>
            <a:off x="694944" y="1275080"/>
            <a:ext cx="4096512" cy="2844800"/>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wap.jpg">    </p:cNvPr>
          <p:cNvPicPr>
            <a:picLocks noChangeAspect="1"/>
          </p:cNvPicPr>
          <p:nvPr/>
        </p:nvPicPr>
        <p:blipFill>
          <a:blip r:embed="rId1"/>
          <a:stretch>
            <a:fillRect/>
          </a:stretch>
        </p:blipFill>
        <p:spPr>
          <a:xfrm>
            <a:off x="731520" y="1311656"/>
            <a:ext cx="4023360" cy="2771648"/>
          </a:xfrm>
          <a:prstGeom prst="rect">
            <a:avLst/>
          </a:prstGeom>
        </p:spPr>
      </p:pic>
      <p:sp>
        <p:nvSpPr>
          <p:cNvPr id="9" name="Text 5"/>
          <p:cNvSpPr txBox="1"/>
          <p:nvPr/>
        </p:nvSpPr>
        <p:spPr>
          <a:xfrm>
            <a:off x="548640" y="4147312"/>
            <a:ext cx="4389120" cy="237744"/>
          </a:xfrm>
          <a:prstGeom prst="rect">
            <a:avLst/>
          </a:prstGeom>
          <a:noFill/>
          <a:ln/>
        </p:spPr>
        <p:txBody>
          <a:bodyPr wrap="square" lIns="0" tIns="0" rIns="0" bIns="0" rtlCol="0" anchor="ctr"/>
          <a:lstStyle/>
          <a:p>
            <a:pPr algn="ctr" indent="0" marL="0">
              <a:buNone/>
            </a:pPr>
            <a:r>
              <a:rPr lang="en-US" sz="1050" b="1" i="1" dirty="0">
                <a:solidFill>
                  <a:srgbClr val="202124"/>
                </a:solidFill>
                <a:latin typeface="Quicksand" pitchFamily="34" charset="0"/>
                <a:ea typeface="Quicksand" pitchFamily="34" charset="-122"/>
                <a:cs typeface="Quicksand" pitchFamily="34" charset="-120"/>
              </a:rPr>
              <a:t>Ceiling-mounted WAP   </a:t>
            </a:r>
            <a:pPr algn="ctr" indent="0" marL="0">
              <a:buNone/>
            </a:pPr>
            <a:r>
              <a:rPr lang="en-US" sz="800" i="1" dirty="0">
                <a:solidFill>
                  <a:srgbClr val="8A8A99"/>
                </a:solidFill>
                <a:latin typeface="Quicksand" pitchFamily="34" charset="0"/>
                <a:ea typeface="Quicksand" pitchFamily="34" charset="-122"/>
                <a:cs typeface="Quicksand" pitchFamily="34" charset="-120"/>
              </a:rPr>
              <a:t>Photo: Sabbo91, CC BY-SA 4.0, Wikimedia Commons</a:t>
            </a:r>
            <a:endParaRPr lang="en-US" sz="1050" dirty="0"/>
          </a:p>
        </p:txBody>
      </p:sp>
      <p:sp>
        <p:nvSpPr>
          <p:cNvPr id="10" name="Shape 6"/>
          <p:cNvSpPr/>
          <p:nvPr/>
        </p:nvSpPr>
        <p:spPr>
          <a:xfrm>
            <a:off x="5212080" y="1280160"/>
            <a:ext cx="6309360" cy="1783080"/>
          </a:xfrm>
          <a:prstGeom prst="rect">
            <a:avLst/>
          </a:prstGeom>
          <a:solidFill>
            <a:srgbClr val="F6F5FC"/>
          </a:solidFill>
          <a:ln w="12700">
            <a:solidFill>
              <a:srgbClr val="F6F5FC"/>
            </a:solidFill>
            <a:prstDash val="solid"/>
          </a:ln>
        </p:spPr>
      </p:sp>
      <p:sp>
        <p:nvSpPr>
          <p:cNvPr id="11" name="Shape 7"/>
          <p:cNvSpPr/>
          <p:nvPr/>
        </p:nvSpPr>
        <p:spPr>
          <a:xfrm>
            <a:off x="5212080" y="1280160"/>
            <a:ext cx="73152" cy="1783080"/>
          </a:xfrm>
          <a:prstGeom prst="rect">
            <a:avLst/>
          </a:prstGeom>
          <a:solidFill>
            <a:srgbClr val="494985"/>
          </a:solidFill>
          <a:ln w="12700">
            <a:solidFill>
              <a:srgbClr val="494985"/>
            </a:solidFill>
            <a:prstDash val="solid"/>
          </a:ln>
        </p:spPr>
      </p:sp>
      <p:sp>
        <p:nvSpPr>
          <p:cNvPr id="12" name="Text 8"/>
          <p:cNvSpPr txBox="1"/>
          <p:nvPr/>
        </p:nvSpPr>
        <p:spPr>
          <a:xfrm>
            <a:off x="5440680" y="1371600"/>
            <a:ext cx="594360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Purpose</a:t>
            </a:r>
            <a:endParaRPr lang="en-US" sz="1500" dirty="0"/>
          </a:p>
        </p:txBody>
      </p:sp>
      <p:sp>
        <p:nvSpPr>
          <p:cNvPr id="13" name="Text 9"/>
          <p:cNvSpPr txBox="1"/>
          <p:nvPr/>
        </p:nvSpPr>
        <p:spPr>
          <a:xfrm>
            <a:off x="5440680" y="1783080"/>
            <a:ext cx="5943600" cy="1188720"/>
          </a:xfrm>
          <a:prstGeom prst="rect">
            <a:avLst/>
          </a:prstGeom>
          <a:noFill/>
          <a:ln/>
        </p:spPr>
        <p:txBody>
          <a:bodyPr wrap="square" lIns="0" tIns="0" rIns="0" bIns="0" rtlCol="0" anchor="t"/>
          <a:lstStyle/>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Connects wireless devices to a WIRED network - it is cabled to a switch</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Sends and receives radio (Wi-Fi) signals between the wired network and each device's WNIC</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Large sites need several WAPs to cover every room</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212080" y="3246120"/>
          <a:ext cx="6309360" cy="914400"/>
        </p:xfrm>
        <a:graphic>
          <a:graphicData uri="http://schemas.openxmlformats.org/drawingml/2006/table">
            <a:tbl>
              <a:tblPr/>
              <a:tblGrid>
                <a:gridCol w="2377440"/>
                <a:gridCol w="3931920"/>
              </a:tblGrid>
              <a:tr h="457200">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Weak answer (0 marks)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Full-mark answer</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5720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"It gives wireless access"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Lets wireless devices connect to the wired LAN, using radio waves to send and receive data between the switch and each device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15" name="Text 10"/>
          <p:cNvSpPr txBox="1"/>
          <p:nvPr/>
        </p:nvSpPr>
        <p:spPr>
          <a:xfrm>
            <a:off x="731520" y="4800600"/>
            <a:ext cx="4023360" cy="274320"/>
          </a:xfrm>
          <a:prstGeom prst="rect">
            <a:avLst/>
          </a:prstGeom>
          <a:noFill/>
          <a:ln/>
        </p:spPr>
        <p:txBody>
          <a:bodyPr wrap="square" lIns="0" tIns="0" rIns="0" bIns="0" rtlCol="0" anchor="ctr"/>
          <a:lstStyle/>
          <a:p>
            <a:pPr algn="ctr" indent="0" marL="0">
              <a:buNone/>
            </a:pPr>
            <a:r>
              <a:rPr lang="en-US" sz="1200" i="1" dirty="0">
                <a:solidFill>
                  <a:srgbClr val="202124"/>
                </a:solidFill>
                <a:latin typeface="Quicksand" pitchFamily="34" charset="0"/>
                <a:ea typeface="Quicksand" pitchFamily="34" charset="-122"/>
                <a:cs typeface="Quicksand" pitchFamily="34" charset="-120"/>
              </a:rPr>
              <a:t>At home, the WAP is built into the "router" box.</a:t>
            </a:r>
            <a:endParaRPr lang="en-US" sz="1200" dirty="0"/>
          </a:p>
        </p:txBody>
      </p:sp>
      <p:sp>
        <p:nvSpPr>
          <p:cNvPr id="16" name="Text 11"/>
          <p:cNvSpPr/>
          <p:nvPr/>
        </p:nvSpPr>
        <p:spPr>
          <a:xfrm>
            <a:off x="5349240" y="5102352"/>
            <a:ext cx="1005840" cy="402336"/>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Switch</a:t>
            </a:r>
            <a:endParaRPr lang="en-US" sz="1200" dirty="0"/>
          </a:p>
        </p:txBody>
      </p:sp>
      <p:sp>
        <p:nvSpPr>
          <p:cNvPr id="17" name="Shape 12"/>
          <p:cNvSpPr/>
          <p:nvPr/>
        </p:nvSpPr>
        <p:spPr>
          <a:xfrm>
            <a:off x="6355080" y="5303520"/>
            <a:ext cx="1280160" cy="914"/>
          </a:xfrm>
          <a:prstGeom prst="line">
            <a:avLst/>
          </a:prstGeom>
          <a:noFill/>
          <a:ln w="25400">
            <a:solidFill>
              <a:srgbClr val="494985"/>
            </a:solidFill>
            <a:prstDash val="solid"/>
          </a:ln>
        </p:spPr>
      </p:sp>
      <p:sp>
        <p:nvSpPr>
          <p:cNvPr id="18" name="Text 13"/>
          <p:cNvSpPr txBox="1"/>
          <p:nvPr/>
        </p:nvSpPr>
        <p:spPr>
          <a:xfrm>
            <a:off x="6355080" y="5394960"/>
            <a:ext cx="1280160" cy="274320"/>
          </a:xfrm>
          <a:prstGeom prst="rect">
            <a:avLst/>
          </a:prstGeom>
          <a:noFill/>
          <a:ln/>
        </p:spPr>
        <p:txBody>
          <a:bodyPr wrap="square" lIns="0" tIns="0" rIns="0" bIns="0" rtlCol="0" anchor="ctr"/>
          <a:lstStyle/>
          <a:p>
            <a:pPr algn="ctr" indent="0" marL="0">
              <a:buNone/>
            </a:pPr>
            <a:r>
              <a:rPr lang="en-US" sz="1050" i="1" dirty="0">
                <a:solidFill>
                  <a:srgbClr val="666666"/>
                </a:solidFill>
                <a:latin typeface="Quicksand" pitchFamily="34" charset="0"/>
                <a:ea typeface="Quicksand" pitchFamily="34" charset="-122"/>
                <a:cs typeface="Quicksand" pitchFamily="34" charset="-120"/>
              </a:rPr>
              <a:t>cable</a:t>
            </a:r>
            <a:endParaRPr lang="en-US" sz="1050" dirty="0"/>
          </a:p>
        </p:txBody>
      </p:sp>
      <p:sp>
        <p:nvSpPr>
          <p:cNvPr id="19" name="Text 14"/>
          <p:cNvSpPr/>
          <p:nvPr/>
        </p:nvSpPr>
        <p:spPr>
          <a:xfrm>
            <a:off x="7635240" y="5102352"/>
            <a:ext cx="914400" cy="402336"/>
          </a:xfrm>
          <a:prstGeom prst="rect">
            <a:avLst/>
          </a:prstGeom>
          <a:solidFill>
            <a:srgbClr val="FFFFFF"/>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WAP</a:t>
            </a:r>
            <a:endParaRPr lang="en-US" sz="1200" dirty="0"/>
          </a:p>
        </p:txBody>
      </p:sp>
      <p:sp>
        <p:nvSpPr>
          <p:cNvPr id="20" name="Shape 15"/>
          <p:cNvSpPr/>
          <p:nvPr/>
        </p:nvSpPr>
        <p:spPr>
          <a:xfrm flipV="1">
            <a:off x="8595360" y="4892040"/>
            <a:ext cx="1234440" cy="411480"/>
          </a:xfrm>
          <a:prstGeom prst="line">
            <a:avLst/>
          </a:prstGeom>
          <a:noFill/>
          <a:ln w="22225">
            <a:solidFill>
              <a:srgbClr val="4A90D9"/>
            </a:solidFill>
            <a:prstDash val="dash"/>
          </a:ln>
        </p:spPr>
      </p:sp>
      <p:sp>
        <p:nvSpPr>
          <p:cNvPr id="21" name="Text 16"/>
          <p:cNvSpPr/>
          <p:nvPr/>
        </p:nvSpPr>
        <p:spPr>
          <a:xfrm>
            <a:off x="9829800" y="4700016"/>
            <a:ext cx="822960"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050" b="1" dirty="0">
                <a:solidFill>
                  <a:srgbClr val="202124"/>
                </a:solidFill>
                <a:latin typeface="Quicksand" pitchFamily="34" charset="0"/>
                <a:ea typeface="Quicksand" pitchFamily="34" charset="-122"/>
                <a:cs typeface="Quicksand" pitchFamily="34" charset="-120"/>
              </a:rPr>
              <a:t>Laptop</a:t>
            </a:r>
            <a:endParaRPr lang="en-US" sz="1050" dirty="0"/>
          </a:p>
        </p:txBody>
      </p:sp>
      <p:sp>
        <p:nvSpPr>
          <p:cNvPr id="22" name="Shape 17"/>
          <p:cNvSpPr/>
          <p:nvPr/>
        </p:nvSpPr>
        <p:spPr>
          <a:xfrm>
            <a:off x="8595360" y="5303520"/>
            <a:ext cx="1234440" cy="411480"/>
          </a:xfrm>
          <a:prstGeom prst="line">
            <a:avLst/>
          </a:prstGeom>
          <a:noFill/>
          <a:ln w="22225">
            <a:solidFill>
              <a:srgbClr val="4A90D9"/>
            </a:solidFill>
            <a:prstDash val="dash"/>
          </a:ln>
        </p:spPr>
      </p:sp>
      <p:sp>
        <p:nvSpPr>
          <p:cNvPr id="23" name="Text 18"/>
          <p:cNvSpPr/>
          <p:nvPr/>
        </p:nvSpPr>
        <p:spPr>
          <a:xfrm>
            <a:off x="9829800" y="5522976"/>
            <a:ext cx="822960"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050" b="1" dirty="0">
                <a:solidFill>
                  <a:srgbClr val="202124"/>
                </a:solidFill>
                <a:latin typeface="Quicksand" pitchFamily="34" charset="0"/>
                <a:ea typeface="Quicksand" pitchFamily="34" charset="-122"/>
                <a:cs typeface="Quicksand" pitchFamily="34" charset="-120"/>
              </a:rPr>
              <a:t>Phone</a:t>
            </a:r>
            <a:endParaRPr lang="en-US" sz="1050" dirty="0"/>
          </a:p>
        </p:txBody>
      </p:sp>
      <p:sp>
        <p:nvSpPr>
          <p:cNvPr id="24" name="Text 19"/>
          <p:cNvSpPr txBox="1"/>
          <p:nvPr/>
        </p:nvSpPr>
        <p:spPr>
          <a:xfrm>
            <a:off x="8641080" y="5852160"/>
            <a:ext cx="1463040" cy="274320"/>
          </a:xfrm>
          <a:prstGeom prst="rect">
            <a:avLst/>
          </a:prstGeom>
          <a:noFill/>
          <a:ln/>
        </p:spPr>
        <p:txBody>
          <a:bodyPr wrap="square" lIns="0" tIns="0" rIns="0" bIns="0" rtlCol="0" anchor="ctr"/>
          <a:lstStyle/>
          <a:p>
            <a:pPr algn="ctr" indent="0" marL="0">
              <a:buNone/>
            </a:pPr>
            <a:r>
              <a:rPr lang="en-US" sz="1050" i="1" dirty="0">
                <a:solidFill>
                  <a:srgbClr val="4A90D9"/>
                </a:solidFill>
                <a:latin typeface="Quicksand" pitchFamily="34" charset="0"/>
                <a:ea typeface="Quicksand" pitchFamily="34" charset="-122"/>
                <a:cs typeface="Quicksand" pitchFamily="34" charset="-120"/>
              </a:rPr>
              <a:t>radio waves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Servers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4</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11</a:t>
            </a:r>
            <a:endParaRPr lang="en-US" sz="1350" dirty="0"/>
          </a:p>
        </p:txBody>
      </p:sp>
      <p:sp>
        <p:nvSpPr>
          <p:cNvPr id="7" name="Shape 4"/>
          <p:cNvSpPr/>
          <p:nvPr/>
        </p:nvSpPr>
        <p:spPr>
          <a:xfrm>
            <a:off x="824054" y="1243584"/>
            <a:ext cx="4386933" cy="331927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server.jpg">    </p:cNvPr>
          <p:cNvPicPr>
            <a:picLocks noChangeAspect="1"/>
          </p:cNvPicPr>
          <p:nvPr/>
        </p:nvPicPr>
        <p:blipFill>
          <a:blip r:embed="rId1"/>
          <a:stretch>
            <a:fillRect/>
          </a:stretch>
        </p:blipFill>
        <p:spPr>
          <a:xfrm>
            <a:off x="860630" y="1280160"/>
            <a:ext cx="4313781" cy="3246120"/>
          </a:xfrm>
          <a:prstGeom prst="rect">
            <a:avLst/>
          </a:prstGeom>
        </p:spPr>
      </p:pic>
      <p:sp>
        <p:nvSpPr>
          <p:cNvPr id="9" name="Text 5"/>
          <p:cNvSpPr txBox="1"/>
          <p:nvPr/>
        </p:nvSpPr>
        <p:spPr>
          <a:xfrm>
            <a:off x="548640" y="4590288"/>
            <a:ext cx="4937760" cy="237744"/>
          </a:xfrm>
          <a:prstGeom prst="rect">
            <a:avLst/>
          </a:prstGeom>
          <a:noFill/>
          <a:ln/>
        </p:spPr>
        <p:txBody>
          <a:bodyPr wrap="square" lIns="0" tIns="0" rIns="0" bIns="0" rtlCol="0" anchor="ctr"/>
          <a:lstStyle/>
          <a:p>
            <a:pPr algn="ctr" indent="0" marL="0">
              <a:buNone/>
            </a:pPr>
            <a:r>
              <a:rPr lang="en-US" sz="1050" b="1" i="1" dirty="0">
                <a:solidFill>
                  <a:srgbClr val="202124"/>
                </a:solidFill>
                <a:latin typeface="Quicksand" pitchFamily="34" charset="0"/>
                <a:ea typeface="Quicksand" pitchFamily="34" charset="-122"/>
                <a:cs typeface="Quicksand" pitchFamily="34" charset="-120"/>
              </a:rPr>
              <a:t>Server racks in a data centre   </a:t>
            </a:r>
            <a:pPr algn="ctr" indent="0" marL="0">
              <a:buNone/>
            </a:pPr>
            <a:r>
              <a:rPr lang="en-US" sz="800" i="1" dirty="0">
                <a:solidFill>
                  <a:srgbClr val="8A8A99"/>
                </a:solidFill>
                <a:latin typeface="Quicksand" pitchFamily="34" charset="0"/>
                <a:ea typeface="Quicksand" pitchFamily="34" charset="-122"/>
                <a:cs typeface="Quicksand" pitchFamily="34" charset="-120"/>
              </a:rPr>
              <a:t>Photo: Marián Hubinský, CC BY-SA 4.0, Wikimedia Commons</a:t>
            </a:r>
            <a:endParaRPr lang="en-US" sz="10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0" y="1280160"/>
          <a:ext cx="5852160" cy="914400"/>
        </p:xfrm>
        <a:graphic>
          <a:graphicData uri="http://schemas.openxmlformats.org/drawingml/2006/table">
            <a:tbl>
              <a:tblPr/>
              <a:tblGrid>
                <a:gridCol w="2103120"/>
                <a:gridCol w="3749040"/>
              </a:tblGrid>
              <a:tr h="512064">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Type of server</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Service it provides to clients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12064">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File server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Stores users' files centrally, with access rights and back-ups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12064">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Print server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Manages a queue of print jobs for shared printers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Email / web server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Stores and sends email; stores and sends web pages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12064">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Authentication server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Checks usernames and passwords at log-on</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11" name="Text 6"/>
          <p:cNvSpPr txBox="1"/>
          <p:nvPr/>
        </p:nvSpPr>
        <p:spPr>
          <a:xfrm>
            <a:off x="5669280" y="4069080"/>
            <a:ext cx="5852160" cy="822960"/>
          </a:xfrm>
          <a:prstGeom prst="rect">
            <a:avLst/>
          </a:prstGeom>
          <a:noFill/>
          <a:ln/>
        </p:spPr>
        <p:txBody>
          <a:bodyPr wrap="square" lIns="0" tIns="0" rIns="0" bIns="0" rtlCol="0" anchor="t"/>
          <a:lstStyle/>
          <a:p>
            <a:pPr indent="0" marL="0">
              <a:buNone/>
            </a:pPr>
            <a:r>
              <a:rPr lang="en-US" sz="1400" b="1" dirty="0">
                <a:solidFill>
                  <a:srgbClr val="494985"/>
                </a:solidFill>
                <a:latin typeface="Quicksand" pitchFamily="34" charset="0"/>
                <a:ea typeface="Quicksand" pitchFamily="34" charset="-122"/>
                <a:cs typeface="Quicksand" pitchFamily="34" charset="-120"/>
              </a:rPr>
              <a:t>A server is a computer that provides a service or resources to clients. It does NOT connect the devices together - the switch does.</a:t>
            </a:r>
            <a:endParaRPr lang="en-US" sz="1400" dirty="0"/>
          </a:p>
        </p:txBody>
      </p:sp>
      <p:sp>
        <p:nvSpPr>
          <p:cNvPr id="12" name="Shape 7"/>
          <p:cNvSpPr/>
          <p:nvPr/>
        </p:nvSpPr>
        <p:spPr>
          <a:xfrm>
            <a:off x="731520" y="5120640"/>
            <a:ext cx="4572000" cy="868680"/>
          </a:xfrm>
          <a:prstGeom prst="rect">
            <a:avLst/>
          </a:prstGeom>
          <a:solidFill>
            <a:srgbClr val="F6F5FC"/>
          </a:solidFill>
          <a:ln w="12700">
            <a:solidFill>
              <a:srgbClr val="F6F5FC"/>
            </a:solidFill>
            <a:prstDash val="solid"/>
          </a:ln>
        </p:spPr>
      </p:sp>
      <p:sp>
        <p:nvSpPr>
          <p:cNvPr id="13" name="Text 8"/>
          <p:cNvSpPr/>
          <p:nvPr/>
        </p:nvSpPr>
        <p:spPr>
          <a:xfrm>
            <a:off x="868680" y="52578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4" name="Text 9"/>
          <p:cNvSpPr txBox="1"/>
          <p:nvPr/>
        </p:nvSpPr>
        <p:spPr>
          <a:xfrm>
            <a:off x="1389888" y="5230368"/>
            <a:ext cx="37947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Client</a:t>
            </a:r>
            <a:endParaRPr lang="en-US" sz="1500" dirty="0"/>
          </a:p>
        </p:txBody>
      </p:sp>
      <p:sp>
        <p:nvSpPr>
          <p:cNvPr id="15" name="Text 10"/>
          <p:cNvSpPr txBox="1"/>
          <p:nvPr/>
        </p:nvSpPr>
        <p:spPr>
          <a:xfrm>
            <a:off x="1389888" y="5623560"/>
            <a:ext cx="3794760" cy="301752"/>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Sends a request to the server, then waits for the response</a:t>
            </a:r>
            <a:endParaRPr lang="en-US" sz="1200" dirty="0"/>
          </a:p>
        </p:txBody>
      </p:sp>
      <p:sp>
        <p:nvSpPr>
          <p:cNvPr id="16" name="Shape 11"/>
          <p:cNvSpPr/>
          <p:nvPr/>
        </p:nvSpPr>
        <p:spPr>
          <a:xfrm>
            <a:off x="5669280" y="5120640"/>
            <a:ext cx="5852160" cy="868680"/>
          </a:xfrm>
          <a:prstGeom prst="rect">
            <a:avLst/>
          </a:prstGeom>
          <a:solidFill>
            <a:srgbClr val="F6F5FC"/>
          </a:solidFill>
          <a:ln w="12700">
            <a:solidFill>
              <a:srgbClr val="F6F5FC"/>
            </a:solidFill>
            <a:prstDash val="solid"/>
          </a:ln>
        </p:spPr>
      </p:sp>
      <p:sp>
        <p:nvSpPr>
          <p:cNvPr id="17" name="Text 12"/>
          <p:cNvSpPr/>
          <p:nvPr/>
        </p:nvSpPr>
        <p:spPr>
          <a:xfrm>
            <a:off x="5806440" y="52578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8" name="Text 13"/>
          <p:cNvSpPr txBox="1"/>
          <p:nvPr/>
        </p:nvSpPr>
        <p:spPr>
          <a:xfrm>
            <a:off x="6327648" y="5230368"/>
            <a:ext cx="507492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Server</a:t>
            </a:r>
            <a:endParaRPr lang="en-US" sz="1500" dirty="0"/>
          </a:p>
        </p:txBody>
      </p:sp>
      <p:sp>
        <p:nvSpPr>
          <p:cNvPr id="19" name="Text 14"/>
          <p:cNvSpPr txBox="1"/>
          <p:nvPr/>
        </p:nvSpPr>
        <p:spPr>
          <a:xfrm>
            <a:off x="6327648" y="5623560"/>
            <a:ext cx="5074920" cy="301752"/>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Receives and processes requests, then sends back the response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Cables: copper and fibre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4</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12</a:t>
            </a:r>
            <a:endParaRPr lang="en-US" sz="1350" dirty="0"/>
          </a:p>
        </p:txBody>
      </p:sp>
      <p:sp>
        <p:nvSpPr>
          <p:cNvPr id="7" name="Shape 4"/>
          <p:cNvSpPr/>
          <p:nvPr/>
        </p:nvSpPr>
        <p:spPr>
          <a:xfrm>
            <a:off x="807032" y="1243584"/>
            <a:ext cx="3140817" cy="245059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rj45.jpg">    </p:cNvPr>
          <p:cNvPicPr>
            <a:picLocks noChangeAspect="1"/>
          </p:cNvPicPr>
          <p:nvPr/>
        </p:nvPicPr>
        <p:blipFill>
          <a:blip r:embed="rId1"/>
          <a:stretch>
            <a:fillRect/>
          </a:stretch>
        </p:blipFill>
        <p:spPr>
          <a:xfrm>
            <a:off x="843608" y="1280160"/>
            <a:ext cx="3067665" cy="2377440"/>
          </a:xfrm>
          <a:prstGeom prst="rect">
            <a:avLst/>
          </a:prstGeom>
        </p:spPr>
      </p:pic>
      <p:sp>
        <p:nvSpPr>
          <p:cNvPr id="9" name="Text 5"/>
          <p:cNvSpPr txBox="1"/>
          <p:nvPr/>
        </p:nvSpPr>
        <p:spPr>
          <a:xfrm>
            <a:off x="548640" y="3721608"/>
            <a:ext cx="3657600" cy="237744"/>
          </a:xfrm>
          <a:prstGeom prst="rect">
            <a:avLst/>
          </a:prstGeom>
          <a:noFill/>
          <a:ln/>
        </p:spPr>
        <p:txBody>
          <a:bodyPr wrap="square" lIns="0" tIns="0" rIns="0" bIns="0" rtlCol="0" anchor="ctr"/>
          <a:lstStyle/>
          <a:p>
            <a:pPr algn="ctr" indent="0" marL="0">
              <a:buNone/>
            </a:pPr>
            <a:r>
              <a:rPr lang="en-US" sz="1050" b="1" i="1" dirty="0">
                <a:solidFill>
                  <a:srgbClr val="202124"/>
                </a:solidFill>
                <a:latin typeface="Quicksand" pitchFamily="34" charset="0"/>
                <a:ea typeface="Quicksand" pitchFamily="34" charset="-122"/>
                <a:cs typeface="Quicksand" pitchFamily="34" charset="-120"/>
              </a:rPr>
              <a:t>Twisted pair, RJ45 plug   </a:t>
            </a:r>
            <a:pPr algn="ctr" indent="0" marL="0">
              <a:buNone/>
            </a:pPr>
            <a:r>
              <a:rPr lang="en-US" sz="800" i="1" dirty="0">
                <a:solidFill>
                  <a:srgbClr val="8A8A99"/>
                </a:solidFill>
                <a:latin typeface="Quicksand" pitchFamily="34" charset="0"/>
                <a:ea typeface="Quicksand" pitchFamily="34" charset="-122"/>
                <a:cs typeface="Quicksand" pitchFamily="34" charset="-120"/>
              </a:rPr>
              <a:t>Photo: David Monniaux, CC BY-SA 3.0, Wikimedia Commons</a:t>
            </a:r>
            <a:endParaRPr lang="en-US" sz="1050" dirty="0"/>
          </a:p>
        </p:txBody>
      </p:sp>
      <p:sp>
        <p:nvSpPr>
          <p:cNvPr id="10" name="Shape 6"/>
          <p:cNvSpPr/>
          <p:nvPr/>
        </p:nvSpPr>
        <p:spPr>
          <a:xfrm>
            <a:off x="1125714" y="3986784"/>
            <a:ext cx="2503451" cy="190195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11" name="Image 1" descr="figs/fibrepit.jpg">    </p:cNvPr>
          <p:cNvPicPr>
            <a:picLocks noChangeAspect="1"/>
          </p:cNvPicPr>
          <p:nvPr/>
        </p:nvPicPr>
        <p:blipFill>
          <a:blip r:embed="rId2"/>
          <a:stretch>
            <a:fillRect/>
          </a:stretch>
        </p:blipFill>
        <p:spPr>
          <a:xfrm>
            <a:off x="1162290" y="4023360"/>
            <a:ext cx="2430299" cy="1828800"/>
          </a:xfrm>
          <a:prstGeom prst="rect">
            <a:avLst/>
          </a:prstGeom>
        </p:spPr>
      </p:pic>
      <p:sp>
        <p:nvSpPr>
          <p:cNvPr id="12" name="Text 7"/>
          <p:cNvSpPr txBox="1"/>
          <p:nvPr/>
        </p:nvSpPr>
        <p:spPr>
          <a:xfrm>
            <a:off x="548640" y="5916168"/>
            <a:ext cx="3657600" cy="237744"/>
          </a:xfrm>
          <a:prstGeom prst="rect">
            <a:avLst/>
          </a:prstGeom>
          <a:noFill/>
          <a:ln/>
        </p:spPr>
        <p:txBody>
          <a:bodyPr wrap="square" lIns="0" tIns="0" rIns="0" bIns="0" rtlCol="0" anchor="ctr"/>
          <a:lstStyle/>
          <a:p>
            <a:pPr algn="ctr" indent="0" marL="0">
              <a:buNone/>
            </a:pPr>
            <a:r>
              <a:rPr lang="en-US" sz="1050" b="1" i="1" dirty="0">
                <a:solidFill>
                  <a:srgbClr val="202124"/>
                </a:solidFill>
                <a:latin typeface="Quicksand" pitchFamily="34" charset="0"/>
                <a:ea typeface="Quicksand" pitchFamily="34" charset="-122"/>
                <a:cs typeface="Quicksand" pitchFamily="34" charset="-120"/>
              </a:rPr>
              <a:t>Fibre-optic cables   </a:t>
            </a:r>
            <a:pPr algn="ctr" indent="0" marL="0">
              <a:buNone/>
            </a:pPr>
            <a:r>
              <a:rPr lang="en-US" sz="800" i="1" dirty="0">
                <a:solidFill>
                  <a:srgbClr val="8A8A99"/>
                </a:solidFill>
                <a:latin typeface="Quicksand" pitchFamily="34" charset="0"/>
                <a:ea typeface="Quicksand" pitchFamily="34" charset="-122"/>
                <a:cs typeface="Quicksand" pitchFamily="34" charset="-120"/>
              </a:rPr>
              <a:t>Photo: Bidgee, CC BY-SA 2.5 AU, Wikimedia Commons</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480560" y="1280160"/>
          <a:ext cx="7040880" cy="914400"/>
        </p:xfrm>
        <a:graphic>
          <a:graphicData uri="http://schemas.openxmlformats.org/drawingml/2006/table">
            <a:tbl>
              <a:tblPr/>
              <a:tblGrid>
                <a:gridCol w="2286000"/>
                <a:gridCol w="2377440"/>
                <a:gridCol w="2377440"/>
              </a:tblGrid>
              <a:tr h="512064">
                <a:tc>
                  <a:txBody>
                    <a:bodyPr/>
                    <a:lstStyle/>
                    <a:p>
                      <a:pPr indent="0" marL="0">
                        <a:buNone/>
                      </a:pP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Copper (twisted pair)</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Fibre optic</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12064">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Signal</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Electrical signals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Pulses of light</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12064">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Bandwidth</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Lower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Higher - faster transmission</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Interference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Affected by electrical noise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Not affected (light)</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12064">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Distance before a repeater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Short (~100 m)</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Much longer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Security</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Easier to tap</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Much harder to hack into</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12064">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Cost / handling</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Cheap, flexible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Costly, more prone to damage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14" name="Text 8"/>
          <p:cNvSpPr txBox="1"/>
          <p:nvPr/>
        </p:nvSpPr>
        <p:spPr>
          <a:xfrm>
            <a:off x="4480560" y="5029200"/>
            <a:ext cx="7040880" cy="548640"/>
          </a:xfrm>
          <a:prstGeom prst="rect">
            <a:avLst/>
          </a:prstGeom>
          <a:noFill/>
          <a:ln/>
        </p:spPr>
        <p:txBody>
          <a:bodyPr wrap="square" lIns="0" tIns="0" rIns="0" bIns="0" rtlCol="0" anchor="t"/>
          <a:lstStyle/>
          <a:p>
            <a:pPr indent="0" marL="0">
              <a:buNone/>
            </a:pPr>
            <a:r>
              <a:rPr lang="en-US" sz="1400" b="1" dirty="0">
                <a:solidFill>
                  <a:srgbClr val="494985"/>
                </a:solidFill>
                <a:latin typeface="Quicksand" pitchFamily="34" charset="0"/>
                <a:ea typeface="Quicksand" pitchFamily="34" charset="-122"/>
                <a:cs typeface="Quicksand" pitchFamily="34" charset="-120"/>
              </a:rPr>
              <a:t>Use: twisted pair to each desk; fibre for long links between buildings and the "backbone".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Repeater</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5</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13</a:t>
            </a:r>
            <a:endParaRPr lang="en-US" sz="1350" dirty="0"/>
          </a:p>
        </p:txBody>
      </p:sp>
      <p:sp>
        <p:nvSpPr>
          <p:cNvPr id="7" name="Shape 4"/>
          <p:cNvSpPr/>
          <p:nvPr/>
        </p:nvSpPr>
        <p:spPr>
          <a:xfrm>
            <a:off x="694944" y="1243584"/>
            <a:ext cx="3913632" cy="295351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repeater.jpg">    </p:cNvPr>
          <p:cNvPicPr>
            <a:picLocks noChangeAspect="1"/>
          </p:cNvPicPr>
          <p:nvPr/>
        </p:nvPicPr>
        <p:blipFill>
          <a:blip r:embed="rId1"/>
          <a:stretch>
            <a:fillRect/>
          </a:stretch>
        </p:blipFill>
        <p:spPr>
          <a:xfrm>
            <a:off x="731520" y="1280160"/>
            <a:ext cx="3840480" cy="2880360"/>
          </a:xfrm>
          <a:prstGeom prst="rect">
            <a:avLst/>
          </a:prstGeom>
        </p:spPr>
      </p:pic>
      <p:sp>
        <p:nvSpPr>
          <p:cNvPr id="9" name="Text 5"/>
          <p:cNvSpPr txBox="1"/>
          <p:nvPr/>
        </p:nvSpPr>
        <p:spPr>
          <a:xfrm>
            <a:off x="548640" y="4224528"/>
            <a:ext cx="4206240" cy="237744"/>
          </a:xfrm>
          <a:prstGeom prst="rect">
            <a:avLst/>
          </a:prstGeom>
          <a:noFill/>
          <a:ln/>
        </p:spPr>
        <p:txBody>
          <a:bodyPr wrap="square" lIns="0" tIns="0" rIns="0" bIns="0" rtlCol="0" anchor="ctr"/>
          <a:lstStyle/>
          <a:p>
            <a:pPr algn="ctr" indent="0" marL="0">
              <a:buNone/>
            </a:pPr>
            <a:r>
              <a:rPr lang="en-US" sz="1050" b="1" i="1" dirty="0">
                <a:solidFill>
                  <a:srgbClr val="202124"/>
                </a:solidFill>
                <a:latin typeface="Quicksand" pitchFamily="34" charset="0"/>
                <a:ea typeface="Quicksand" pitchFamily="34" charset="-122"/>
                <a:cs typeface="Quicksand" pitchFamily="34" charset="-120"/>
              </a:rPr>
              <a:t>Wi-Fi repeater in a wall socket   </a:t>
            </a:r>
            <a:pPr algn="ctr" indent="0" marL="0">
              <a:buNone/>
            </a:pPr>
            <a:r>
              <a:rPr lang="en-US" sz="800" i="1" dirty="0">
                <a:solidFill>
                  <a:srgbClr val="8A8A99"/>
                </a:solidFill>
                <a:latin typeface="Quicksand" pitchFamily="34" charset="0"/>
                <a:ea typeface="Quicksand" pitchFamily="34" charset="-122"/>
                <a:cs typeface="Quicksand" pitchFamily="34" charset="-120"/>
              </a:rPr>
              <a:t>Photo: Blingooo, CC BY-SA 4.0, Wikimedia Commons</a:t>
            </a:r>
            <a:endParaRPr lang="en-US" sz="1050" dirty="0"/>
          </a:p>
        </p:txBody>
      </p:sp>
      <p:sp>
        <p:nvSpPr>
          <p:cNvPr id="10" name="Shape 6"/>
          <p:cNvSpPr/>
          <p:nvPr/>
        </p:nvSpPr>
        <p:spPr>
          <a:xfrm>
            <a:off x="5120640" y="1417320"/>
            <a:ext cx="6355080" cy="2377440"/>
          </a:xfrm>
          <a:prstGeom prst="rect">
            <a:avLst/>
          </a:prstGeom>
          <a:solidFill>
            <a:srgbClr val="FBFBFE"/>
          </a:solidFill>
          <a:ln w="9525">
            <a:solidFill>
              <a:srgbClr val="D8D8E4"/>
            </a:solidFill>
            <a:prstDash val="solid"/>
          </a:ln>
        </p:spPr>
      </p:sp>
      <p:sp>
        <p:nvSpPr>
          <p:cNvPr id="11" name="Shape 7"/>
          <p:cNvSpPr/>
          <p:nvPr/>
        </p:nvSpPr>
        <p:spPr>
          <a:xfrm>
            <a:off x="5440680" y="1737360"/>
            <a:ext cx="411480" cy="1737360"/>
          </a:xfrm>
          <a:prstGeom prst="rect">
            <a:avLst/>
          </a:prstGeom>
          <a:solidFill>
            <a:srgbClr val="494985"/>
          </a:solidFill>
          <a:ln w="12700">
            <a:solidFill>
              <a:srgbClr val="FFFFFF"/>
            </a:solidFill>
            <a:prstDash val="solid"/>
          </a:ln>
        </p:spPr>
      </p:sp>
      <p:sp>
        <p:nvSpPr>
          <p:cNvPr id="12" name="Shape 8"/>
          <p:cNvSpPr/>
          <p:nvPr/>
        </p:nvSpPr>
        <p:spPr>
          <a:xfrm>
            <a:off x="6190488" y="2057400"/>
            <a:ext cx="411480" cy="1417320"/>
          </a:xfrm>
          <a:prstGeom prst="rect">
            <a:avLst/>
          </a:prstGeom>
          <a:solidFill>
            <a:srgbClr val="494985"/>
          </a:solidFill>
          <a:ln w="12700">
            <a:solidFill>
              <a:srgbClr val="FFFFFF"/>
            </a:solidFill>
            <a:prstDash val="solid"/>
          </a:ln>
        </p:spPr>
      </p:sp>
      <p:sp>
        <p:nvSpPr>
          <p:cNvPr id="13" name="Shape 9"/>
          <p:cNvSpPr/>
          <p:nvPr/>
        </p:nvSpPr>
        <p:spPr>
          <a:xfrm>
            <a:off x="6940296" y="2377440"/>
            <a:ext cx="411480" cy="1097280"/>
          </a:xfrm>
          <a:prstGeom prst="rect">
            <a:avLst/>
          </a:prstGeom>
          <a:solidFill>
            <a:srgbClr val="494985"/>
          </a:solidFill>
          <a:ln w="12700">
            <a:solidFill>
              <a:srgbClr val="FFFFFF"/>
            </a:solidFill>
            <a:prstDash val="solid"/>
          </a:ln>
        </p:spPr>
      </p:sp>
      <p:sp>
        <p:nvSpPr>
          <p:cNvPr id="14" name="Shape 10"/>
          <p:cNvSpPr/>
          <p:nvPr/>
        </p:nvSpPr>
        <p:spPr>
          <a:xfrm>
            <a:off x="7690104" y="2697480"/>
            <a:ext cx="411480" cy="777240"/>
          </a:xfrm>
          <a:prstGeom prst="rect">
            <a:avLst/>
          </a:prstGeom>
          <a:solidFill>
            <a:srgbClr val="494985"/>
          </a:solidFill>
          <a:ln w="12700">
            <a:solidFill>
              <a:srgbClr val="FFFFFF"/>
            </a:solidFill>
            <a:prstDash val="solid"/>
          </a:ln>
        </p:spPr>
      </p:sp>
      <p:sp>
        <p:nvSpPr>
          <p:cNvPr id="15" name="Shape 11"/>
          <p:cNvSpPr/>
          <p:nvPr/>
        </p:nvSpPr>
        <p:spPr>
          <a:xfrm>
            <a:off x="8439912" y="3017520"/>
            <a:ext cx="411480" cy="457200"/>
          </a:xfrm>
          <a:prstGeom prst="rect">
            <a:avLst/>
          </a:prstGeom>
          <a:solidFill>
            <a:srgbClr val="B3261E"/>
          </a:solidFill>
          <a:ln w="12700">
            <a:solidFill>
              <a:srgbClr val="FFFFFF"/>
            </a:solidFill>
            <a:prstDash val="solid"/>
          </a:ln>
        </p:spPr>
      </p:sp>
      <p:sp>
        <p:nvSpPr>
          <p:cNvPr id="16" name="Shape 12"/>
          <p:cNvSpPr/>
          <p:nvPr/>
        </p:nvSpPr>
        <p:spPr>
          <a:xfrm>
            <a:off x="9509760" y="1737360"/>
            <a:ext cx="411480" cy="1737360"/>
          </a:xfrm>
          <a:prstGeom prst="rect">
            <a:avLst/>
          </a:prstGeom>
          <a:solidFill>
            <a:srgbClr val="2E7D5B"/>
          </a:solidFill>
          <a:ln w="12700">
            <a:solidFill>
              <a:srgbClr val="FFFFFF"/>
            </a:solidFill>
            <a:prstDash val="solid"/>
          </a:ln>
        </p:spPr>
      </p:sp>
      <p:sp>
        <p:nvSpPr>
          <p:cNvPr id="17" name="Shape 13"/>
          <p:cNvSpPr/>
          <p:nvPr/>
        </p:nvSpPr>
        <p:spPr>
          <a:xfrm>
            <a:off x="10259568" y="2057400"/>
            <a:ext cx="411480" cy="1417320"/>
          </a:xfrm>
          <a:prstGeom prst="rect">
            <a:avLst/>
          </a:prstGeom>
          <a:solidFill>
            <a:srgbClr val="2E7D5B"/>
          </a:solidFill>
          <a:ln w="12700">
            <a:solidFill>
              <a:srgbClr val="FFFFFF"/>
            </a:solidFill>
            <a:prstDash val="solid"/>
          </a:ln>
        </p:spPr>
      </p:sp>
      <p:sp>
        <p:nvSpPr>
          <p:cNvPr id="18" name="Shape 14"/>
          <p:cNvSpPr/>
          <p:nvPr/>
        </p:nvSpPr>
        <p:spPr>
          <a:xfrm>
            <a:off x="11009376" y="2377440"/>
            <a:ext cx="411480" cy="1097280"/>
          </a:xfrm>
          <a:prstGeom prst="rect">
            <a:avLst/>
          </a:prstGeom>
          <a:solidFill>
            <a:srgbClr val="2E7D5B"/>
          </a:solidFill>
          <a:ln w="12700">
            <a:solidFill>
              <a:srgbClr val="FFFFFF"/>
            </a:solidFill>
            <a:prstDash val="solid"/>
          </a:ln>
        </p:spPr>
      </p:sp>
      <p:sp>
        <p:nvSpPr>
          <p:cNvPr id="19" name="Text 15"/>
          <p:cNvSpPr/>
          <p:nvPr/>
        </p:nvSpPr>
        <p:spPr>
          <a:xfrm>
            <a:off x="8663940" y="3383280"/>
            <a:ext cx="868680" cy="329184"/>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000" b="1" dirty="0">
                <a:solidFill>
                  <a:srgbClr val="202124"/>
                </a:solidFill>
                <a:latin typeface="Quicksand" pitchFamily="34" charset="0"/>
                <a:ea typeface="Quicksand" pitchFamily="34" charset="-122"/>
                <a:cs typeface="Quicksand" pitchFamily="34" charset="-120"/>
              </a:rPr>
              <a:t>Repeater</a:t>
            </a:r>
            <a:endParaRPr lang="en-US" sz="1000" dirty="0"/>
          </a:p>
        </p:txBody>
      </p:sp>
      <p:sp>
        <p:nvSpPr>
          <p:cNvPr id="20" name="Text 16"/>
          <p:cNvSpPr txBox="1"/>
          <p:nvPr/>
        </p:nvSpPr>
        <p:spPr>
          <a:xfrm>
            <a:off x="5120640" y="3813048"/>
            <a:ext cx="6355080" cy="274320"/>
          </a:xfrm>
          <a:prstGeom prst="rect">
            <a:avLst/>
          </a:prstGeom>
          <a:noFill/>
          <a:ln/>
        </p:spPr>
        <p:txBody>
          <a:bodyPr wrap="square" lIns="0" tIns="0" rIns="0" bIns="0" rtlCol="0" anchor="ctr"/>
          <a:lstStyle/>
          <a:p>
            <a:pPr algn="ctr" indent="0" marL="0">
              <a:buNone/>
            </a:pPr>
            <a:r>
              <a:rPr lang="en-US" sz="1100" i="1" dirty="0">
                <a:solidFill>
                  <a:srgbClr val="666666"/>
                </a:solidFill>
                <a:latin typeface="Quicksand" pitchFamily="34" charset="0"/>
                <a:ea typeface="Quicksand" pitchFamily="34" charset="-122"/>
                <a:cs typeface="Quicksand" pitchFamily="34" charset="-120"/>
              </a:rPr>
              <a:t>Signal strength along a long cable: it fades (attenuation), then the repeater restores it</a:t>
            </a:r>
            <a:endParaRPr lang="en-US" sz="1100" dirty="0"/>
          </a:p>
        </p:txBody>
      </p:sp>
      <p:sp>
        <p:nvSpPr>
          <p:cNvPr id="21" name="Shape 17"/>
          <p:cNvSpPr/>
          <p:nvPr/>
        </p:nvSpPr>
        <p:spPr>
          <a:xfrm>
            <a:off x="5120640" y="4160520"/>
            <a:ext cx="6355080" cy="1600200"/>
          </a:xfrm>
          <a:prstGeom prst="rect">
            <a:avLst/>
          </a:prstGeom>
          <a:solidFill>
            <a:srgbClr val="F6F5FC"/>
          </a:solidFill>
          <a:ln w="12700">
            <a:solidFill>
              <a:srgbClr val="F6F5FC"/>
            </a:solidFill>
            <a:prstDash val="solid"/>
          </a:ln>
        </p:spPr>
      </p:sp>
      <p:sp>
        <p:nvSpPr>
          <p:cNvPr id="22" name="Shape 18"/>
          <p:cNvSpPr/>
          <p:nvPr/>
        </p:nvSpPr>
        <p:spPr>
          <a:xfrm>
            <a:off x="5120640" y="4160520"/>
            <a:ext cx="73152" cy="1600200"/>
          </a:xfrm>
          <a:prstGeom prst="rect">
            <a:avLst/>
          </a:prstGeom>
          <a:solidFill>
            <a:srgbClr val="494985"/>
          </a:solidFill>
          <a:ln w="12700">
            <a:solidFill>
              <a:srgbClr val="494985"/>
            </a:solidFill>
            <a:prstDash val="solid"/>
          </a:ln>
        </p:spPr>
      </p:sp>
      <p:sp>
        <p:nvSpPr>
          <p:cNvPr id="23" name="Text 19"/>
          <p:cNvSpPr txBox="1"/>
          <p:nvPr/>
        </p:nvSpPr>
        <p:spPr>
          <a:xfrm>
            <a:off x="5349240" y="4251960"/>
            <a:ext cx="598932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Purpose</a:t>
            </a:r>
            <a:endParaRPr lang="en-US" sz="1500" dirty="0"/>
          </a:p>
        </p:txBody>
      </p:sp>
      <p:sp>
        <p:nvSpPr>
          <p:cNvPr id="24" name="Text 20"/>
          <p:cNvSpPr txBox="1"/>
          <p:nvPr/>
        </p:nvSpPr>
        <p:spPr>
          <a:xfrm>
            <a:off x="5349240" y="4663440"/>
            <a:ext cx="5989320" cy="1005840"/>
          </a:xfrm>
          <a:prstGeom prst="rect">
            <a:avLst/>
          </a:prstGeom>
          <a:noFill/>
          <a:ln/>
        </p:spPr>
        <p:txBody>
          <a:bodyPr wrap="square" lIns="0" tIns="0" rIns="0" bIns="0" rtlCol="0" anchor="t"/>
          <a:lstStyle/>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Restores (boosts) a signal that has weakened over distance, so it can travel further</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Wired (copper or fibre) or wireless - Wi-Fi repeaters remove "dead spots"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Bridge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5</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14</a:t>
            </a:r>
            <a:endParaRPr lang="en-US" sz="1350" dirty="0"/>
          </a:p>
        </p:txBody>
      </p:sp>
      <p:sp>
        <p:nvSpPr>
          <p:cNvPr id="7" name="Shape 4"/>
          <p:cNvSpPr/>
          <p:nvPr/>
        </p:nvSpPr>
        <p:spPr>
          <a:xfrm>
            <a:off x="731520" y="1325880"/>
            <a:ext cx="4114800" cy="3108960"/>
          </a:xfrm>
          <a:prstGeom prst="rect">
            <a:avLst/>
          </a:prstGeom>
          <a:solidFill>
            <a:srgbClr val="FBFBFE"/>
          </a:solidFill>
          <a:ln w="12700">
            <a:solidFill>
              <a:srgbClr val="C8C8DC"/>
            </a:solidFill>
            <a:prstDash val="dash"/>
          </a:ln>
        </p:spPr>
      </p:sp>
      <p:sp>
        <p:nvSpPr>
          <p:cNvPr id="8" name="Shape 5"/>
          <p:cNvSpPr/>
          <p:nvPr/>
        </p:nvSpPr>
        <p:spPr>
          <a:xfrm>
            <a:off x="7360920" y="1325880"/>
            <a:ext cx="4114800" cy="3108960"/>
          </a:xfrm>
          <a:prstGeom prst="rect">
            <a:avLst/>
          </a:prstGeom>
          <a:solidFill>
            <a:srgbClr val="FBFBFE"/>
          </a:solidFill>
          <a:ln w="12700">
            <a:solidFill>
              <a:srgbClr val="C8C8DC"/>
            </a:solidFill>
            <a:prstDash val="dash"/>
          </a:ln>
        </p:spPr>
      </p:sp>
      <p:sp>
        <p:nvSpPr>
          <p:cNvPr id="9" name="Text 6"/>
          <p:cNvSpPr txBox="1"/>
          <p:nvPr/>
        </p:nvSpPr>
        <p:spPr>
          <a:xfrm>
            <a:off x="822960" y="1371600"/>
            <a:ext cx="3931920" cy="274320"/>
          </a:xfrm>
          <a:prstGeom prst="rect">
            <a:avLst/>
          </a:prstGeom>
          <a:noFill/>
          <a:ln/>
        </p:spPr>
        <p:txBody>
          <a:bodyPr wrap="square" lIns="0" tIns="0" rIns="0" bIns="0" rtlCol="0" anchor="ctr"/>
          <a:lstStyle/>
          <a:p>
            <a:pPr algn="l" indent="0" marL="0">
              <a:buNone/>
            </a:pPr>
            <a:r>
              <a:rPr lang="en-US" sz="1050" i="1" dirty="0">
                <a:solidFill>
                  <a:srgbClr val="666666"/>
                </a:solidFill>
                <a:latin typeface="Quicksand" pitchFamily="34" charset="0"/>
                <a:ea typeface="Quicksand" pitchFamily="34" charset="-122"/>
                <a:cs typeface="Quicksand" pitchFamily="34" charset="-120"/>
              </a:rPr>
              <a:t>LAN segment 1 - Ethernet</a:t>
            </a:r>
            <a:endParaRPr lang="en-US" sz="1050" dirty="0"/>
          </a:p>
        </p:txBody>
      </p:sp>
      <p:sp>
        <p:nvSpPr>
          <p:cNvPr id="10" name="Text 7"/>
          <p:cNvSpPr txBox="1"/>
          <p:nvPr/>
        </p:nvSpPr>
        <p:spPr>
          <a:xfrm>
            <a:off x="7452360" y="1371600"/>
            <a:ext cx="3931920" cy="274320"/>
          </a:xfrm>
          <a:prstGeom prst="rect">
            <a:avLst/>
          </a:prstGeom>
          <a:noFill/>
          <a:ln/>
        </p:spPr>
        <p:txBody>
          <a:bodyPr wrap="square" lIns="0" tIns="0" rIns="0" bIns="0" rtlCol="0" anchor="ctr"/>
          <a:lstStyle/>
          <a:p>
            <a:pPr algn="l" indent="0" marL="0">
              <a:buNone/>
            </a:pPr>
            <a:r>
              <a:rPr lang="en-US" sz="1050" i="1" dirty="0">
                <a:solidFill>
                  <a:srgbClr val="666666"/>
                </a:solidFill>
                <a:latin typeface="Quicksand" pitchFamily="34" charset="0"/>
                <a:ea typeface="Quicksand" pitchFamily="34" charset="-122"/>
                <a:cs typeface="Quicksand" pitchFamily="34" charset="-120"/>
              </a:rPr>
              <a:t>LAN segment 2 - Ethernet</a:t>
            </a:r>
            <a:endParaRPr lang="en-US" sz="1050" dirty="0"/>
          </a:p>
        </p:txBody>
      </p:sp>
      <p:sp>
        <p:nvSpPr>
          <p:cNvPr id="11" name="Shape 8"/>
          <p:cNvSpPr/>
          <p:nvPr/>
        </p:nvSpPr>
        <p:spPr>
          <a:xfrm>
            <a:off x="1874520" y="2103120"/>
            <a:ext cx="1417320" cy="914400"/>
          </a:xfrm>
          <a:prstGeom prst="line">
            <a:avLst/>
          </a:prstGeom>
          <a:noFill/>
          <a:ln w="19050">
            <a:solidFill>
              <a:srgbClr val="7A7AA0"/>
            </a:solidFill>
            <a:prstDash val="solid"/>
          </a:ln>
        </p:spPr>
      </p:sp>
      <p:sp>
        <p:nvSpPr>
          <p:cNvPr id="12" name="Text 9"/>
          <p:cNvSpPr/>
          <p:nvPr/>
        </p:nvSpPr>
        <p:spPr>
          <a:xfrm>
            <a:off x="1234440" y="1911096"/>
            <a:ext cx="640080"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a:t>
            </a:r>
            <a:endParaRPr lang="en-US" sz="1100" dirty="0"/>
          </a:p>
        </p:txBody>
      </p:sp>
      <p:sp>
        <p:nvSpPr>
          <p:cNvPr id="13" name="Shape 10"/>
          <p:cNvSpPr/>
          <p:nvPr/>
        </p:nvSpPr>
        <p:spPr>
          <a:xfrm>
            <a:off x="1874520" y="3017520"/>
            <a:ext cx="1417320" cy="914"/>
          </a:xfrm>
          <a:prstGeom prst="line">
            <a:avLst/>
          </a:prstGeom>
          <a:noFill/>
          <a:ln w="19050">
            <a:solidFill>
              <a:srgbClr val="7A7AA0"/>
            </a:solidFill>
            <a:prstDash val="solid"/>
          </a:ln>
        </p:spPr>
      </p:sp>
      <p:sp>
        <p:nvSpPr>
          <p:cNvPr id="14" name="Text 11"/>
          <p:cNvSpPr/>
          <p:nvPr/>
        </p:nvSpPr>
        <p:spPr>
          <a:xfrm>
            <a:off x="1234440" y="2825496"/>
            <a:ext cx="640080"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a:t>
            </a:r>
            <a:endParaRPr lang="en-US" sz="1100" dirty="0"/>
          </a:p>
        </p:txBody>
      </p:sp>
      <p:sp>
        <p:nvSpPr>
          <p:cNvPr id="15" name="Shape 12"/>
          <p:cNvSpPr/>
          <p:nvPr/>
        </p:nvSpPr>
        <p:spPr>
          <a:xfrm flipV="1">
            <a:off x="1874520" y="3017520"/>
            <a:ext cx="1417320" cy="914400"/>
          </a:xfrm>
          <a:prstGeom prst="line">
            <a:avLst/>
          </a:prstGeom>
          <a:noFill/>
          <a:ln w="19050">
            <a:solidFill>
              <a:srgbClr val="7A7AA0"/>
            </a:solidFill>
            <a:prstDash val="solid"/>
          </a:ln>
        </p:spPr>
      </p:sp>
      <p:sp>
        <p:nvSpPr>
          <p:cNvPr id="16" name="Text 13"/>
          <p:cNvSpPr/>
          <p:nvPr/>
        </p:nvSpPr>
        <p:spPr>
          <a:xfrm>
            <a:off x="1234440" y="3739896"/>
            <a:ext cx="640080"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a:t>
            </a:r>
            <a:endParaRPr lang="en-US" sz="1100" dirty="0"/>
          </a:p>
        </p:txBody>
      </p:sp>
      <p:sp>
        <p:nvSpPr>
          <p:cNvPr id="17" name="Text 14"/>
          <p:cNvSpPr/>
          <p:nvPr/>
        </p:nvSpPr>
        <p:spPr>
          <a:xfrm>
            <a:off x="2834640" y="2816352"/>
            <a:ext cx="914400" cy="402336"/>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Switch</a:t>
            </a:r>
            <a:endParaRPr lang="en-US" sz="1200" dirty="0"/>
          </a:p>
        </p:txBody>
      </p:sp>
      <p:sp>
        <p:nvSpPr>
          <p:cNvPr id="18" name="Shape 15"/>
          <p:cNvSpPr/>
          <p:nvPr/>
        </p:nvSpPr>
        <p:spPr>
          <a:xfrm flipV="1">
            <a:off x="8915400" y="2103120"/>
            <a:ext cx="1417320" cy="914400"/>
          </a:xfrm>
          <a:prstGeom prst="line">
            <a:avLst/>
          </a:prstGeom>
          <a:noFill/>
          <a:ln w="19050">
            <a:solidFill>
              <a:srgbClr val="7A7AA0"/>
            </a:solidFill>
            <a:prstDash val="solid"/>
          </a:ln>
        </p:spPr>
      </p:sp>
      <p:sp>
        <p:nvSpPr>
          <p:cNvPr id="19" name="Text 16"/>
          <p:cNvSpPr/>
          <p:nvPr/>
        </p:nvSpPr>
        <p:spPr>
          <a:xfrm>
            <a:off x="10332720" y="1911096"/>
            <a:ext cx="640080"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a:t>
            </a:r>
            <a:endParaRPr lang="en-US" sz="1100" dirty="0"/>
          </a:p>
        </p:txBody>
      </p:sp>
      <p:sp>
        <p:nvSpPr>
          <p:cNvPr id="20" name="Shape 17"/>
          <p:cNvSpPr/>
          <p:nvPr/>
        </p:nvSpPr>
        <p:spPr>
          <a:xfrm>
            <a:off x="8915400" y="3017520"/>
            <a:ext cx="1417320" cy="914"/>
          </a:xfrm>
          <a:prstGeom prst="line">
            <a:avLst/>
          </a:prstGeom>
          <a:noFill/>
          <a:ln w="19050">
            <a:solidFill>
              <a:srgbClr val="7A7AA0"/>
            </a:solidFill>
            <a:prstDash val="solid"/>
          </a:ln>
        </p:spPr>
      </p:sp>
      <p:sp>
        <p:nvSpPr>
          <p:cNvPr id="21" name="Text 18"/>
          <p:cNvSpPr/>
          <p:nvPr/>
        </p:nvSpPr>
        <p:spPr>
          <a:xfrm>
            <a:off x="10332720" y="2825496"/>
            <a:ext cx="640080"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a:t>
            </a:r>
            <a:endParaRPr lang="en-US" sz="1100" dirty="0"/>
          </a:p>
        </p:txBody>
      </p:sp>
      <p:sp>
        <p:nvSpPr>
          <p:cNvPr id="22" name="Shape 19"/>
          <p:cNvSpPr/>
          <p:nvPr/>
        </p:nvSpPr>
        <p:spPr>
          <a:xfrm>
            <a:off x="8915400" y="3017520"/>
            <a:ext cx="1417320" cy="914400"/>
          </a:xfrm>
          <a:prstGeom prst="line">
            <a:avLst/>
          </a:prstGeom>
          <a:noFill/>
          <a:ln w="19050">
            <a:solidFill>
              <a:srgbClr val="7A7AA0"/>
            </a:solidFill>
            <a:prstDash val="solid"/>
          </a:ln>
        </p:spPr>
      </p:sp>
      <p:sp>
        <p:nvSpPr>
          <p:cNvPr id="23" name="Text 20"/>
          <p:cNvSpPr/>
          <p:nvPr/>
        </p:nvSpPr>
        <p:spPr>
          <a:xfrm>
            <a:off x="10332720" y="3739896"/>
            <a:ext cx="640080"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a:t>
            </a:r>
            <a:endParaRPr lang="en-US" sz="1100" dirty="0"/>
          </a:p>
        </p:txBody>
      </p:sp>
      <p:sp>
        <p:nvSpPr>
          <p:cNvPr id="24" name="Text 21"/>
          <p:cNvSpPr/>
          <p:nvPr/>
        </p:nvSpPr>
        <p:spPr>
          <a:xfrm>
            <a:off x="8458200" y="2816352"/>
            <a:ext cx="914400" cy="402336"/>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Switch</a:t>
            </a:r>
            <a:endParaRPr lang="en-US" sz="1200" dirty="0"/>
          </a:p>
        </p:txBody>
      </p:sp>
      <p:sp>
        <p:nvSpPr>
          <p:cNvPr id="25" name="Shape 22"/>
          <p:cNvSpPr/>
          <p:nvPr/>
        </p:nvSpPr>
        <p:spPr>
          <a:xfrm>
            <a:off x="3749040" y="3017520"/>
            <a:ext cx="4709160" cy="914"/>
          </a:xfrm>
          <a:prstGeom prst="line">
            <a:avLst/>
          </a:prstGeom>
          <a:noFill/>
          <a:ln w="31750">
            <a:solidFill>
              <a:srgbClr val="494985"/>
            </a:solidFill>
            <a:prstDash val="solid"/>
          </a:ln>
        </p:spPr>
      </p:sp>
      <p:sp>
        <p:nvSpPr>
          <p:cNvPr id="26" name="Text 23"/>
          <p:cNvSpPr/>
          <p:nvPr/>
        </p:nvSpPr>
        <p:spPr>
          <a:xfrm>
            <a:off x="5559552" y="2816352"/>
            <a:ext cx="1097280" cy="402336"/>
          </a:xfrm>
          <a:prstGeom prst="rect">
            <a:avLst/>
          </a:prstGeom>
          <a:solidFill>
            <a:srgbClr val="FFFFFF"/>
          </a:solidFill>
          <a:ln w="15875">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Bridge</a:t>
            </a:r>
            <a:endParaRPr lang="en-US" sz="1300" dirty="0"/>
          </a:p>
        </p:txBody>
      </p:sp>
      <p:sp>
        <p:nvSpPr>
          <p:cNvPr id="27" name="Text 24"/>
          <p:cNvSpPr txBox="1"/>
          <p:nvPr/>
        </p:nvSpPr>
        <p:spPr>
          <a:xfrm>
            <a:off x="4937760" y="3337560"/>
            <a:ext cx="2377440" cy="274320"/>
          </a:xfrm>
          <a:prstGeom prst="rect">
            <a:avLst/>
          </a:prstGeom>
          <a:noFill/>
          <a:ln/>
        </p:spPr>
        <p:txBody>
          <a:bodyPr wrap="square" lIns="0" tIns="0" rIns="0" bIns="0" rtlCol="0" anchor="ctr"/>
          <a:lstStyle/>
          <a:p>
            <a:pPr algn="ctr" indent="0" marL="0">
              <a:buNone/>
            </a:pPr>
            <a:r>
              <a:rPr lang="en-US" sz="1100" i="1" dirty="0">
                <a:solidFill>
                  <a:srgbClr val="666666"/>
                </a:solidFill>
                <a:latin typeface="Quicksand" pitchFamily="34" charset="0"/>
                <a:ea typeface="Quicksand" pitchFamily="34" charset="-122"/>
                <a:cs typeface="Quicksand" pitchFamily="34" charset="-120"/>
              </a:rPr>
              <a:t>same protocol both sides</a:t>
            </a:r>
            <a:endParaRPr lang="en-US" sz="1100" dirty="0"/>
          </a:p>
        </p:txBody>
      </p:sp>
      <p:sp>
        <p:nvSpPr>
          <p:cNvPr id="28" name="Shape 25"/>
          <p:cNvSpPr/>
          <p:nvPr/>
        </p:nvSpPr>
        <p:spPr>
          <a:xfrm>
            <a:off x="731520" y="4663440"/>
            <a:ext cx="5257800" cy="1325880"/>
          </a:xfrm>
          <a:prstGeom prst="rect">
            <a:avLst/>
          </a:prstGeom>
          <a:solidFill>
            <a:srgbClr val="F6F5FC"/>
          </a:solidFill>
          <a:ln w="12700">
            <a:solidFill>
              <a:srgbClr val="F6F5FC"/>
            </a:solidFill>
            <a:prstDash val="solid"/>
          </a:ln>
        </p:spPr>
      </p:sp>
      <p:sp>
        <p:nvSpPr>
          <p:cNvPr id="29" name="Shape 26"/>
          <p:cNvSpPr/>
          <p:nvPr/>
        </p:nvSpPr>
        <p:spPr>
          <a:xfrm>
            <a:off x="731520" y="4663440"/>
            <a:ext cx="73152" cy="1325880"/>
          </a:xfrm>
          <a:prstGeom prst="rect">
            <a:avLst/>
          </a:prstGeom>
          <a:solidFill>
            <a:srgbClr val="494985"/>
          </a:solidFill>
          <a:ln w="12700">
            <a:solidFill>
              <a:srgbClr val="494985"/>
            </a:solidFill>
            <a:prstDash val="solid"/>
          </a:ln>
        </p:spPr>
      </p:sp>
      <p:sp>
        <p:nvSpPr>
          <p:cNvPr id="30" name="Text 27"/>
          <p:cNvSpPr txBox="1"/>
          <p:nvPr/>
        </p:nvSpPr>
        <p:spPr>
          <a:xfrm>
            <a:off x="960120" y="4754880"/>
            <a:ext cx="489204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Purpose</a:t>
            </a:r>
            <a:endParaRPr lang="en-US" sz="1500" dirty="0"/>
          </a:p>
        </p:txBody>
      </p:sp>
      <p:sp>
        <p:nvSpPr>
          <p:cNvPr id="31" name="Text 28"/>
          <p:cNvSpPr txBox="1"/>
          <p:nvPr/>
        </p:nvSpPr>
        <p:spPr>
          <a:xfrm>
            <a:off x="960120" y="5166360"/>
            <a:ext cx="4892040" cy="731520"/>
          </a:xfrm>
          <a:prstGeom prst="rect">
            <a:avLst/>
          </a:prstGeom>
          <a:noFill/>
          <a:ln/>
        </p:spPr>
        <p:txBody>
          <a:bodyPr wrap="square" lIns="0" tIns="0" rIns="0" bIns="0" rtlCol="0" anchor="t"/>
          <a:lstStyle/>
          <a:p>
            <a:pPr indent="0" marL="0">
              <a:spcAft>
                <a:spcPts val="600"/>
              </a:spcAft>
              <a:buNone/>
            </a:pPr>
            <a:r>
              <a:rPr lang="en-US" sz="1300" dirty="0">
                <a:solidFill>
                  <a:srgbClr val="202124"/>
                </a:solidFill>
                <a:latin typeface="Quicksand" pitchFamily="34" charset="0"/>
                <a:ea typeface="Quicksand" pitchFamily="34" charset="-122"/>
                <a:cs typeface="Quicksand" pitchFamily="34" charset="-120"/>
              </a:rPr>
              <a:t>Connects two LANs (or two segments of one LAN) that use the SAME protocol, so they work as one network.</a:t>
            </a:r>
            <a:endParaRPr lang="en-US" sz="1300" dirty="0"/>
          </a:p>
        </p:txBody>
      </p:sp>
      <p:sp>
        <p:nvSpPr>
          <p:cNvPr id="32" name="Shape 29"/>
          <p:cNvSpPr/>
          <p:nvPr/>
        </p:nvSpPr>
        <p:spPr>
          <a:xfrm>
            <a:off x="6217920" y="4663440"/>
            <a:ext cx="5257800" cy="1325880"/>
          </a:xfrm>
          <a:prstGeom prst="rect">
            <a:avLst/>
          </a:prstGeom>
          <a:solidFill>
            <a:srgbClr val="F6F5FC"/>
          </a:solidFill>
          <a:ln w="12700">
            <a:solidFill>
              <a:srgbClr val="F6F5FC"/>
            </a:solidFill>
            <a:prstDash val="solid"/>
          </a:ln>
        </p:spPr>
      </p:sp>
      <p:sp>
        <p:nvSpPr>
          <p:cNvPr id="33" name="Shape 30"/>
          <p:cNvSpPr/>
          <p:nvPr/>
        </p:nvSpPr>
        <p:spPr>
          <a:xfrm>
            <a:off x="6217920" y="4663440"/>
            <a:ext cx="73152" cy="1325880"/>
          </a:xfrm>
          <a:prstGeom prst="rect">
            <a:avLst/>
          </a:prstGeom>
          <a:solidFill>
            <a:srgbClr val="FFD84D"/>
          </a:solidFill>
          <a:ln w="12700">
            <a:solidFill>
              <a:srgbClr val="FFD84D"/>
            </a:solidFill>
            <a:prstDash val="solid"/>
          </a:ln>
        </p:spPr>
      </p:sp>
      <p:sp>
        <p:nvSpPr>
          <p:cNvPr id="34" name="Text 31"/>
          <p:cNvSpPr txBox="1"/>
          <p:nvPr/>
        </p:nvSpPr>
        <p:spPr>
          <a:xfrm>
            <a:off x="6446520" y="4754880"/>
            <a:ext cx="489204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Bridge or router?</a:t>
            </a:r>
            <a:endParaRPr lang="en-US" sz="1500" dirty="0"/>
          </a:p>
        </p:txBody>
      </p:sp>
      <p:sp>
        <p:nvSpPr>
          <p:cNvPr id="35" name="Text 32"/>
          <p:cNvSpPr txBox="1"/>
          <p:nvPr/>
        </p:nvSpPr>
        <p:spPr>
          <a:xfrm>
            <a:off x="6446520" y="5166360"/>
            <a:ext cx="4892040" cy="731520"/>
          </a:xfrm>
          <a:prstGeom prst="rect">
            <a:avLst/>
          </a:prstGeom>
          <a:noFill/>
          <a:ln/>
        </p:spPr>
        <p:txBody>
          <a:bodyPr wrap="square" lIns="0" tIns="0" rIns="0" bIns="0" rtlCol="0" anchor="t"/>
          <a:lstStyle/>
          <a:p>
            <a:pPr indent="0" marL="0">
              <a:spcAft>
                <a:spcPts val="600"/>
              </a:spcAft>
              <a:buNone/>
            </a:pPr>
            <a:r>
              <a:rPr lang="en-US" sz="1300" dirty="0">
                <a:solidFill>
                  <a:srgbClr val="202124"/>
                </a:solidFill>
                <a:latin typeface="Quicksand" pitchFamily="34" charset="0"/>
                <a:ea typeface="Quicksand" pitchFamily="34" charset="-122"/>
                <a:cs typeface="Quicksand" pitchFamily="34" charset="-120"/>
              </a:rPr>
              <a:t>Same protocol, same organisation, acting as one LAN: bridge. Joining a LAN to a different network (e.g. the internet): router.</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Router: role and function</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6</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15</a:t>
            </a:r>
            <a:endParaRPr lang="en-US" sz="1350" dirty="0"/>
          </a:p>
        </p:txBody>
      </p:sp>
      <p:sp>
        <p:nvSpPr>
          <p:cNvPr id="7" name="Shape 4"/>
          <p:cNvSpPr/>
          <p:nvPr/>
        </p:nvSpPr>
        <p:spPr>
          <a:xfrm>
            <a:off x="694944" y="1243584"/>
            <a:ext cx="2999232" cy="299923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router.jpg">    </p:cNvPr>
          <p:cNvPicPr>
            <a:picLocks noChangeAspect="1"/>
          </p:cNvPicPr>
          <p:nvPr/>
        </p:nvPicPr>
        <p:blipFill>
          <a:blip r:embed="rId1"/>
          <a:stretch>
            <a:fillRect/>
          </a:stretch>
        </p:blipFill>
        <p:spPr>
          <a:xfrm>
            <a:off x="731520" y="1280160"/>
            <a:ext cx="2926080" cy="2926080"/>
          </a:xfrm>
          <a:prstGeom prst="rect">
            <a:avLst/>
          </a:prstGeom>
        </p:spPr>
      </p:pic>
      <p:sp>
        <p:nvSpPr>
          <p:cNvPr id="9" name="Text 5"/>
          <p:cNvSpPr txBox="1"/>
          <p:nvPr/>
        </p:nvSpPr>
        <p:spPr>
          <a:xfrm>
            <a:off x="548640" y="4270248"/>
            <a:ext cx="3291840" cy="237744"/>
          </a:xfrm>
          <a:prstGeom prst="rect">
            <a:avLst/>
          </a:prstGeom>
          <a:noFill/>
          <a:ln/>
        </p:spPr>
        <p:txBody>
          <a:bodyPr wrap="square" lIns="0" tIns="0" rIns="0" bIns="0" rtlCol="0" anchor="ctr"/>
          <a:lstStyle/>
          <a:p>
            <a:pPr algn="ctr" indent="0" marL="0">
              <a:buNone/>
            </a:pPr>
            <a:r>
              <a:rPr lang="en-US" sz="1050" b="1" i="1" dirty="0">
                <a:solidFill>
                  <a:srgbClr val="202124"/>
                </a:solidFill>
                <a:latin typeface="Quicksand" pitchFamily="34" charset="0"/>
                <a:ea typeface="Quicksand" pitchFamily="34" charset="-122"/>
                <a:cs typeface="Quicksand" pitchFamily="34" charset="-120"/>
              </a:rPr>
              <a:t>Wireless router   </a:t>
            </a:r>
            <a:pPr algn="ctr" indent="0" marL="0">
              <a:buNone/>
            </a:pPr>
            <a:r>
              <a:rPr lang="en-US" sz="800" i="1" dirty="0">
                <a:solidFill>
                  <a:srgbClr val="8A8A99"/>
                </a:solidFill>
                <a:latin typeface="Quicksand" pitchFamily="34" charset="0"/>
                <a:ea typeface="Quicksand" pitchFamily="34" charset="-122"/>
                <a:cs typeface="Quicksand" pitchFamily="34" charset="-120"/>
              </a:rPr>
              <a:t>Photo: Hayden Schiff, CC BY 4.0, Wikimedia Commons</a:t>
            </a:r>
            <a:endParaRPr lang="en-US" sz="1050" dirty="0"/>
          </a:p>
        </p:txBody>
      </p:sp>
      <p:sp>
        <p:nvSpPr>
          <p:cNvPr id="10" name="Shape 6"/>
          <p:cNvSpPr/>
          <p:nvPr/>
        </p:nvSpPr>
        <p:spPr>
          <a:xfrm>
            <a:off x="4023360" y="1280160"/>
            <a:ext cx="3657600" cy="1261872"/>
          </a:xfrm>
          <a:prstGeom prst="rect">
            <a:avLst/>
          </a:prstGeom>
          <a:solidFill>
            <a:srgbClr val="F6F5FC"/>
          </a:solidFill>
          <a:ln w="12700">
            <a:solidFill>
              <a:srgbClr val="F6F5FC"/>
            </a:solidFill>
            <a:prstDash val="solid"/>
          </a:ln>
        </p:spPr>
      </p:sp>
      <p:sp>
        <p:nvSpPr>
          <p:cNvPr id="11" name="Text 7"/>
          <p:cNvSpPr/>
          <p:nvPr/>
        </p:nvSpPr>
        <p:spPr>
          <a:xfrm>
            <a:off x="4160520" y="14173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2" name="Text 8"/>
          <p:cNvSpPr txBox="1"/>
          <p:nvPr/>
        </p:nvSpPr>
        <p:spPr>
          <a:xfrm>
            <a:off x="4681728" y="1389888"/>
            <a:ext cx="2880360" cy="411480"/>
          </a:xfrm>
          <a:prstGeom prst="rect">
            <a:avLst/>
          </a:prstGeom>
          <a:noFill/>
          <a:ln/>
        </p:spPr>
        <p:txBody>
          <a:bodyPr wrap="square" lIns="0" tIns="0" rIns="0" bIns="0" rtlCol="0" anchor="ctr"/>
          <a:lstStyle/>
          <a:p>
            <a:pPr indent="0" marL="0">
              <a:buNone/>
            </a:pPr>
            <a:r>
              <a:rPr lang="en-US" sz="1400" b="1" dirty="0">
                <a:solidFill>
                  <a:srgbClr val="202124"/>
                </a:solidFill>
                <a:latin typeface="Quicksand" pitchFamily="34" charset="0"/>
                <a:ea typeface="Quicksand" pitchFamily="34" charset="-122"/>
                <a:cs typeface="Quicksand" pitchFamily="34" charset="-120"/>
              </a:rPr>
              <a:t>Receives packets</a:t>
            </a:r>
            <a:endParaRPr lang="en-US" sz="1400" dirty="0"/>
          </a:p>
        </p:txBody>
      </p:sp>
      <p:sp>
        <p:nvSpPr>
          <p:cNvPr id="13" name="Text 9"/>
          <p:cNvSpPr txBox="1"/>
          <p:nvPr/>
        </p:nvSpPr>
        <p:spPr>
          <a:xfrm>
            <a:off x="4681728" y="1783080"/>
            <a:ext cx="2880360" cy="694944"/>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from devices on the LAN, or from the internet</a:t>
            </a:r>
            <a:endParaRPr lang="en-US" sz="1200" dirty="0"/>
          </a:p>
        </p:txBody>
      </p:sp>
      <p:sp>
        <p:nvSpPr>
          <p:cNvPr id="14" name="Shape 10"/>
          <p:cNvSpPr/>
          <p:nvPr/>
        </p:nvSpPr>
        <p:spPr>
          <a:xfrm>
            <a:off x="7818120" y="1280160"/>
            <a:ext cx="3657600" cy="1261872"/>
          </a:xfrm>
          <a:prstGeom prst="rect">
            <a:avLst/>
          </a:prstGeom>
          <a:solidFill>
            <a:srgbClr val="F6F5FC"/>
          </a:solidFill>
          <a:ln w="12700">
            <a:solidFill>
              <a:srgbClr val="F6F5FC"/>
            </a:solidFill>
            <a:prstDash val="solid"/>
          </a:ln>
        </p:spPr>
      </p:sp>
      <p:sp>
        <p:nvSpPr>
          <p:cNvPr id="15" name="Text 11"/>
          <p:cNvSpPr/>
          <p:nvPr/>
        </p:nvSpPr>
        <p:spPr>
          <a:xfrm>
            <a:off x="7955280" y="14173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6" name="Text 12"/>
          <p:cNvSpPr txBox="1"/>
          <p:nvPr/>
        </p:nvSpPr>
        <p:spPr>
          <a:xfrm>
            <a:off x="8476488" y="1389888"/>
            <a:ext cx="2880360" cy="411480"/>
          </a:xfrm>
          <a:prstGeom prst="rect">
            <a:avLst/>
          </a:prstGeom>
          <a:noFill/>
          <a:ln/>
        </p:spPr>
        <p:txBody>
          <a:bodyPr wrap="square" lIns="0" tIns="0" rIns="0" bIns="0" rtlCol="0" anchor="ctr"/>
          <a:lstStyle/>
          <a:p>
            <a:pPr indent="0" marL="0">
              <a:buNone/>
            </a:pPr>
            <a:r>
              <a:rPr lang="en-US" sz="1400" b="1" dirty="0">
                <a:solidFill>
                  <a:srgbClr val="202124"/>
                </a:solidFill>
                <a:latin typeface="Quicksand" pitchFamily="34" charset="0"/>
                <a:ea typeface="Quicksand" pitchFamily="34" charset="-122"/>
                <a:cs typeface="Quicksand" pitchFamily="34" charset="-120"/>
              </a:rPr>
              <a:t>Reads the destination IP</a:t>
            </a:r>
            <a:endParaRPr lang="en-US" sz="1400" dirty="0"/>
          </a:p>
        </p:txBody>
      </p:sp>
      <p:sp>
        <p:nvSpPr>
          <p:cNvPr id="17" name="Text 13"/>
          <p:cNvSpPr txBox="1"/>
          <p:nvPr/>
        </p:nvSpPr>
        <p:spPr>
          <a:xfrm>
            <a:off x="8476488" y="1783080"/>
            <a:ext cx="2880360" cy="694944"/>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address in each packet's header</a:t>
            </a:r>
            <a:endParaRPr lang="en-US" sz="1200" dirty="0"/>
          </a:p>
        </p:txBody>
      </p:sp>
      <p:sp>
        <p:nvSpPr>
          <p:cNvPr id="18" name="Shape 14"/>
          <p:cNvSpPr/>
          <p:nvPr/>
        </p:nvSpPr>
        <p:spPr>
          <a:xfrm>
            <a:off x="4023360" y="2651760"/>
            <a:ext cx="3657600" cy="1261872"/>
          </a:xfrm>
          <a:prstGeom prst="rect">
            <a:avLst/>
          </a:prstGeom>
          <a:solidFill>
            <a:srgbClr val="F6F5FC"/>
          </a:solidFill>
          <a:ln w="12700">
            <a:solidFill>
              <a:srgbClr val="F6F5FC"/>
            </a:solidFill>
            <a:prstDash val="solid"/>
          </a:ln>
        </p:spPr>
      </p:sp>
      <p:sp>
        <p:nvSpPr>
          <p:cNvPr id="19" name="Text 15"/>
          <p:cNvSpPr/>
          <p:nvPr/>
        </p:nvSpPr>
        <p:spPr>
          <a:xfrm>
            <a:off x="4160520" y="27889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20" name="Text 16"/>
          <p:cNvSpPr txBox="1"/>
          <p:nvPr/>
        </p:nvSpPr>
        <p:spPr>
          <a:xfrm>
            <a:off x="4681728" y="2761488"/>
            <a:ext cx="2880360" cy="411480"/>
          </a:xfrm>
          <a:prstGeom prst="rect">
            <a:avLst/>
          </a:prstGeom>
          <a:noFill/>
          <a:ln/>
        </p:spPr>
        <p:txBody>
          <a:bodyPr wrap="square" lIns="0" tIns="0" rIns="0" bIns="0" rtlCol="0" anchor="ctr"/>
          <a:lstStyle/>
          <a:p>
            <a:pPr indent="0" marL="0">
              <a:buNone/>
            </a:pPr>
            <a:r>
              <a:rPr lang="en-US" sz="1400" b="1" dirty="0">
                <a:solidFill>
                  <a:srgbClr val="202124"/>
                </a:solidFill>
                <a:latin typeface="Quicksand" pitchFamily="34" charset="0"/>
                <a:ea typeface="Quicksand" pitchFamily="34" charset="-122"/>
                <a:cs typeface="Quicksand" pitchFamily="34" charset="-120"/>
              </a:rPr>
              <a:t>Uses its routing table</a:t>
            </a:r>
            <a:endParaRPr lang="en-US" sz="1400" dirty="0"/>
          </a:p>
        </p:txBody>
      </p:sp>
      <p:sp>
        <p:nvSpPr>
          <p:cNvPr id="21" name="Text 17"/>
          <p:cNvSpPr txBox="1"/>
          <p:nvPr/>
        </p:nvSpPr>
        <p:spPr>
          <a:xfrm>
            <a:off x="4681728" y="3154680"/>
            <a:ext cx="2880360" cy="694944"/>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to find the most efficient route; keeps the table up to date</a:t>
            </a:r>
            <a:endParaRPr lang="en-US" sz="1200" dirty="0"/>
          </a:p>
        </p:txBody>
      </p:sp>
      <p:sp>
        <p:nvSpPr>
          <p:cNvPr id="22" name="Shape 18"/>
          <p:cNvSpPr/>
          <p:nvPr/>
        </p:nvSpPr>
        <p:spPr>
          <a:xfrm>
            <a:off x="7818120" y="2651760"/>
            <a:ext cx="3657600" cy="1261872"/>
          </a:xfrm>
          <a:prstGeom prst="rect">
            <a:avLst/>
          </a:prstGeom>
          <a:solidFill>
            <a:srgbClr val="F6F5FC"/>
          </a:solidFill>
          <a:ln w="12700">
            <a:solidFill>
              <a:srgbClr val="F6F5FC"/>
            </a:solidFill>
            <a:prstDash val="solid"/>
          </a:ln>
        </p:spPr>
      </p:sp>
      <p:sp>
        <p:nvSpPr>
          <p:cNvPr id="23" name="Text 19"/>
          <p:cNvSpPr/>
          <p:nvPr/>
        </p:nvSpPr>
        <p:spPr>
          <a:xfrm>
            <a:off x="7955280" y="27889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4</a:t>
            </a:r>
            <a:endParaRPr lang="en-US" sz="1400" dirty="0"/>
          </a:p>
        </p:txBody>
      </p:sp>
      <p:sp>
        <p:nvSpPr>
          <p:cNvPr id="24" name="Text 20"/>
          <p:cNvSpPr txBox="1"/>
          <p:nvPr/>
        </p:nvSpPr>
        <p:spPr>
          <a:xfrm>
            <a:off x="8476488" y="2761488"/>
            <a:ext cx="2880360" cy="411480"/>
          </a:xfrm>
          <a:prstGeom prst="rect">
            <a:avLst/>
          </a:prstGeom>
          <a:noFill/>
          <a:ln/>
        </p:spPr>
        <p:txBody>
          <a:bodyPr wrap="square" lIns="0" tIns="0" rIns="0" bIns="0" rtlCol="0" anchor="ctr"/>
          <a:lstStyle/>
          <a:p>
            <a:pPr indent="0" marL="0">
              <a:buNone/>
            </a:pPr>
            <a:r>
              <a:rPr lang="en-US" sz="1400" b="1" dirty="0">
                <a:solidFill>
                  <a:srgbClr val="202124"/>
                </a:solidFill>
                <a:latin typeface="Quicksand" pitchFamily="34" charset="0"/>
                <a:ea typeface="Quicksand" pitchFamily="34" charset="-122"/>
                <a:cs typeface="Quicksand" pitchFamily="34" charset="-120"/>
              </a:rPr>
              <a:t>Forwards the packet</a:t>
            </a:r>
            <a:endParaRPr lang="en-US" sz="1400" dirty="0"/>
          </a:p>
        </p:txBody>
      </p:sp>
      <p:sp>
        <p:nvSpPr>
          <p:cNvPr id="25" name="Text 21"/>
          <p:cNvSpPr txBox="1"/>
          <p:nvPr/>
        </p:nvSpPr>
        <p:spPr>
          <a:xfrm>
            <a:off x="8476488" y="3154680"/>
            <a:ext cx="2880360" cy="694944"/>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to the next router / network, or to the device on the LAN</a:t>
            </a:r>
            <a:endParaRPr lang="en-US" sz="1200" dirty="0"/>
          </a:p>
        </p:txBody>
      </p:sp>
      <p:sp>
        <p:nvSpPr>
          <p:cNvPr id="26" name="Shape 22"/>
          <p:cNvSpPr/>
          <p:nvPr/>
        </p:nvSpPr>
        <p:spPr>
          <a:xfrm>
            <a:off x="4023360" y="4023360"/>
            <a:ext cx="3657600" cy="1261872"/>
          </a:xfrm>
          <a:prstGeom prst="rect">
            <a:avLst/>
          </a:prstGeom>
          <a:solidFill>
            <a:srgbClr val="F6F5FC"/>
          </a:solidFill>
          <a:ln w="12700">
            <a:solidFill>
              <a:srgbClr val="F6F5FC"/>
            </a:solidFill>
            <a:prstDash val="solid"/>
          </a:ln>
        </p:spPr>
      </p:sp>
      <p:sp>
        <p:nvSpPr>
          <p:cNvPr id="27" name="Text 23"/>
          <p:cNvSpPr/>
          <p:nvPr/>
        </p:nvSpPr>
        <p:spPr>
          <a:xfrm>
            <a:off x="4160520" y="41605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5</a:t>
            </a:r>
            <a:endParaRPr lang="en-US" sz="1400" dirty="0"/>
          </a:p>
        </p:txBody>
      </p:sp>
      <p:sp>
        <p:nvSpPr>
          <p:cNvPr id="28" name="Text 24"/>
          <p:cNvSpPr txBox="1"/>
          <p:nvPr/>
        </p:nvSpPr>
        <p:spPr>
          <a:xfrm>
            <a:off x="4681728" y="4133088"/>
            <a:ext cx="2880360" cy="411480"/>
          </a:xfrm>
          <a:prstGeom prst="rect">
            <a:avLst/>
          </a:prstGeom>
          <a:noFill/>
          <a:ln/>
        </p:spPr>
        <p:txBody>
          <a:bodyPr wrap="square" lIns="0" tIns="0" rIns="0" bIns="0" rtlCol="0" anchor="ctr"/>
          <a:lstStyle/>
          <a:p>
            <a:pPr indent="0" marL="0">
              <a:buNone/>
            </a:pPr>
            <a:r>
              <a:rPr lang="en-US" sz="1400" b="1" dirty="0">
                <a:solidFill>
                  <a:srgbClr val="202124"/>
                </a:solidFill>
                <a:latin typeface="Quicksand" pitchFamily="34" charset="0"/>
                <a:ea typeface="Quicksand" pitchFamily="34" charset="-122"/>
                <a:cs typeface="Quicksand" pitchFamily="34" charset="-120"/>
              </a:rPr>
              <a:t>Assigns private IPs</a:t>
            </a:r>
            <a:endParaRPr lang="en-US" sz="1400" dirty="0"/>
          </a:p>
        </p:txBody>
      </p:sp>
      <p:sp>
        <p:nvSpPr>
          <p:cNvPr id="29" name="Text 25"/>
          <p:cNvSpPr txBox="1"/>
          <p:nvPr/>
        </p:nvSpPr>
        <p:spPr>
          <a:xfrm>
            <a:off x="4681728" y="4526280"/>
            <a:ext cx="2880360" cy="694944"/>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to LAN devices; has the public IP the internet sees (NAT)</a:t>
            </a:r>
            <a:endParaRPr lang="en-US" sz="1200" dirty="0"/>
          </a:p>
        </p:txBody>
      </p:sp>
      <p:sp>
        <p:nvSpPr>
          <p:cNvPr id="30" name="Shape 26"/>
          <p:cNvSpPr/>
          <p:nvPr/>
        </p:nvSpPr>
        <p:spPr>
          <a:xfrm>
            <a:off x="7818120" y="4023360"/>
            <a:ext cx="3657600" cy="1261872"/>
          </a:xfrm>
          <a:prstGeom prst="rect">
            <a:avLst/>
          </a:prstGeom>
          <a:solidFill>
            <a:srgbClr val="F6F5FC"/>
          </a:solidFill>
          <a:ln w="12700">
            <a:solidFill>
              <a:srgbClr val="F6F5FC"/>
            </a:solidFill>
            <a:prstDash val="solid"/>
          </a:ln>
        </p:spPr>
      </p:sp>
      <p:sp>
        <p:nvSpPr>
          <p:cNvPr id="31" name="Text 27"/>
          <p:cNvSpPr/>
          <p:nvPr/>
        </p:nvSpPr>
        <p:spPr>
          <a:xfrm>
            <a:off x="7955280" y="41605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6</a:t>
            </a:r>
            <a:endParaRPr lang="en-US" sz="1400" dirty="0"/>
          </a:p>
        </p:txBody>
      </p:sp>
      <p:sp>
        <p:nvSpPr>
          <p:cNvPr id="32" name="Text 28"/>
          <p:cNvSpPr txBox="1"/>
          <p:nvPr/>
        </p:nvSpPr>
        <p:spPr>
          <a:xfrm>
            <a:off x="8476488" y="4133088"/>
            <a:ext cx="2880360" cy="411480"/>
          </a:xfrm>
          <a:prstGeom prst="rect">
            <a:avLst/>
          </a:prstGeom>
          <a:noFill/>
          <a:ln/>
        </p:spPr>
        <p:txBody>
          <a:bodyPr wrap="square" lIns="0" tIns="0" rIns="0" bIns="0" rtlCol="0" anchor="ctr"/>
          <a:lstStyle/>
          <a:p>
            <a:pPr indent="0" marL="0">
              <a:buNone/>
            </a:pPr>
            <a:r>
              <a:rPr lang="en-US" sz="1400" b="1" dirty="0">
                <a:solidFill>
                  <a:srgbClr val="202124"/>
                </a:solidFill>
                <a:latin typeface="Quicksand" pitchFamily="34" charset="0"/>
                <a:ea typeface="Quicksand" pitchFamily="34" charset="-122"/>
                <a:cs typeface="Quicksand" pitchFamily="34" charset="-120"/>
              </a:rPr>
              <a:t>Protects and converts</a:t>
            </a:r>
            <a:endParaRPr lang="en-US" sz="1400" dirty="0"/>
          </a:p>
        </p:txBody>
      </p:sp>
      <p:sp>
        <p:nvSpPr>
          <p:cNvPr id="33" name="Text 29"/>
          <p:cNvSpPr txBox="1"/>
          <p:nvPr/>
        </p:nvSpPr>
        <p:spPr>
          <a:xfrm>
            <a:off x="8476488" y="4526280"/>
            <a:ext cx="2880360" cy="694944"/>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acts as a firewall and gateway; converts the packet format between networks</a:t>
            </a:r>
            <a:endParaRPr lang="en-US" sz="1200" dirty="0"/>
          </a:p>
        </p:txBody>
      </p:sp>
      <p:sp>
        <p:nvSpPr>
          <p:cNvPr id="34" name="Text 30"/>
          <p:cNvSpPr txBox="1"/>
          <p:nvPr/>
        </p:nvSpPr>
        <p:spPr>
          <a:xfrm>
            <a:off x="731520" y="5440680"/>
            <a:ext cx="10789920" cy="457200"/>
          </a:xfrm>
          <a:prstGeom prst="rect">
            <a:avLst/>
          </a:prstGeom>
          <a:noFill/>
          <a:ln/>
        </p:spPr>
        <p:txBody>
          <a:bodyPr wrap="square" lIns="0" tIns="0" rIns="0" bIns="0" rtlCol="0" anchor="t"/>
          <a:lstStyle/>
          <a:p>
            <a:pPr indent="0" marL="0">
              <a:buNone/>
            </a:pPr>
            <a:r>
              <a:rPr lang="en-US" sz="1450" b="1" dirty="0">
                <a:solidFill>
                  <a:srgbClr val="B3261E"/>
                </a:solidFill>
                <a:latin typeface="Quicksand" pitchFamily="34" charset="0"/>
                <a:ea typeface="Quicksand" pitchFamily="34" charset="-122"/>
                <a:cs typeface="Quicksand" pitchFamily="34" charset="-120"/>
              </a:rPr>
              <a:t>"It connects the LAN to the internet" = 0 marks. Talk about packets, IP addresses and the routing table.</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A packet leaves the LAN</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6</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16</a:t>
            </a:r>
            <a:endParaRPr lang="en-US" sz="1350" dirty="0"/>
          </a:p>
        </p:txBody>
      </p:sp>
      <p:sp>
        <p:nvSpPr>
          <p:cNvPr id="7" name="Text 4"/>
          <p:cNvSpPr/>
          <p:nvPr/>
        </p:nvSpPr>
        <p:spPr>
          <a:xfrm>
            <a:off x="868680" y="1911096"/>
            <a:ext cx="640080"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PC1</a:t>
            </a:r>
            <a:endParaRPr lang="en-US" sz="1100" dirty="0"/>
          </a:p>
        </p:txBody>
      </p:sp>
      <p:sp>
        <p:nvSpPr>
          <p:cNvPr id="8" name="Text 5"/>
          <p:cNvSpPr/>
          <p:nvPr/>
        </p:nvSpPr>
        <p:spPr>
          <a:xfrm>
            <a:off x="868680" y="3008376"/>
            <a:ext cx="640080"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PC2</a:t>
            </a:r>
            <a:endParaRPr lang="en-US" sz="1100" dirty="0"/>
          </a:p>
        </p:txBody>
      </p:sp>
      <p:sp>
        <p:nvSpPr>
          <p:cNvPr id="9" name="Shape 6"/>
          <p:cNvSpPr/>
          <p:nvPr/>
        </p:nvSpPr>
        <p:spPr>
          <a:xfrm>
            <a:off x="1508760" y="2103120"/>
            <a:ext cx="1234440" cy="548640"/>
          </a:xfrm>
          <a:prstGeom prst="line">
            <a:avLst/>
          </a:prstGeom>
          <a:noFill/>
          <a:ln w="31750">
            <a:solidFill>
              <a:srgbClr val="B3261E"/>
            </a:solidFill>
            <a:prstDash val="solid"/>
            <a:tailEnd type="triangle"/>
          </a:ln>
        </p:spPr>
      </p:sp>
      <p:sp>
        <p:nvSpPr>
          <p:cNvPr id="10" name="Shape 7"/>
          <p:cNvSpPr/>
          <p:nvPr/>
        </p:nvSpPr>
        <p:spPr>
          <a:xfrm flipV="1">
            <a:off x="1508760" y="2743200"/>
            <a:ext cx="1234440" cy="457200"/>
          </a:xfrm>
          <a:prstGeom prst="line">
            <a:avLst/>
          </a:prstGeom>
          <a:noFill/>
          <a:ln w="19050">
            <a:solidFill>
              <a:srgbClr val="7A7AA0"/>
            </a:solidFill>
            <a:prstDash val="solid"/>
          </a:ln>
        </p:spPr>
      </p:sp>
      <p:sp>
        <p:nvSpPr>
          <p:cNvPr id="11" name="Text 8"/>
          <p:cNvSpPr/>
          <p:nvPr/>
        </p:nvSpPr>
        <p:spPr>
          <a:xfrm>
            <a:off x="2788920" y="2496312"/>
            <a:ext cx="1005840" cy="402336"/>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Switch</a:t>
            </a:r>
            <a:endParaRPr lang="en-US" sz="1200" dirty="0"/>
          </a:p>
        </p:txBody>
      </p:sp>
      <p:sp>
        <p:nvSpPr>
          <p:cNvPr id="12" name="Shape 9"/>
          <p:cNvSpPr/>
          <p:nvPr/>
        </p:nvSpPr>
        <p:spPr>
          <a:xfrm>
            <a:off x="3794760" y="2697480"/>
            <a:ext cx="1143000" cy="914"/>
          </a:xfrm>
          <a:prstGeom prst="line">
            <a:avLst/>
          </a:prstGeom>
          <a:noFill/>
          <a:ln w="31750">
            <a:solidFill>
              <a:srgbClr val="B3261E"/>
            </a:solidFill>
            <a:prstDash val="solid"/>
            <a:tailEnd type="triangle"/>
          </a:ln>
        </p:spPr>
      </p:sp>
      <p:sp>
        <p:nvSpPr>
          <p:cNvPr id="13" name="Text 10"/>
          <p:cNvSpPr/>
          <p:nvPr/>
        </p:nvSpPr>
        <p:spPr>
          <a:xfrm>
            <a:off x="4983480" y="2496312"/>
            <a:ext cx="1005840" cy="402336"/>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Router</a:t>
            </a:r>
            <a:endParaRPr lang="en-US" sz="1200" dirty="0"/>
          </a:p>
        </p:txBody>
      </p:sp>
      <p:sp>
        <p:nvSpPr>
          <p:cNvPr id="14" name="Shape 11"/>
          <p:cNvSpPr/>
          <p:nvPr/>
        </p:nvSpPr>
        <p:spPr>
          <a:xfrm>
            <a:off x="5989320" y="2697480"/>
            <a:ext cx="960120" cy="914"/>
          </a:xfrm>
          <a:prstGeom prst="line">
            <a:avLst/>
          </a:prstGeom>
          <a:noFill/>
          <a:ln w="31750">
            <a:solidFill>
              <a:srgbClr val="B3261E"/>
            </a:solidFill>
            <a:prstDash val="solid"/>
            <a:tailEnd type="triangle"/>
          </a:ln>
        </p:spPr>
      </p:sp>
      <p:sp>
        <p:nvSpPr>
          <p:cNvPr id="15" name="Text 12"/>
          <p:cNvSpPr/>
          <p:nvPr/>
        </p:nvSpPr>
        <p:spPr>
          <a:xfrm>
            <a:off x="6949440" y="2057400"/>
            <a:ext cx="2377440" cy="1280160"/>
          </a:xfrm>
          <a:prstGeom prst="cloud">
            <a:avLst/>
          </a:prstGeom>
          <a:solidFill>
            <a:srgbClr val="EEF3FB"/>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Internet:</a:t>
            </a:r>
            <a:endParaRPr lang="en-US" sz="1200" dirty="0"/>
          </a:p>
          <a:p>
            <a:pPr algn="ctr" indent="0" marL="0">
              <a:buNone/>
            </a:pPr>
            <a:r>
              <a:rPr lang="en-US" sz="1200" b="1" dirty="0">
                <a:solidFill>
                  <a:srgbClr val="202124"/>
                </a:solidFill>
                <a:latin typeface="Quicksand" pitchFamily="34" charset="0"/>
                <a:ea typeface="Quicksand" pitchFamily="34" charset="-122"/>
                <a:cs typeface="Quicksand" pitchFamily="34" charset="-120"/>
              </a:rPr>
              <a:t>more routers</a:t>
            </a:r>
            <a:endParaRPr lang="en-US" sz="1200" dirty="0"/>
          </a:p>
        </p:txBody>
      </p:sp>
      <p:sp>
        <p:nvSpPr>
          <p:cNvPr id="16" name="Shape 13"/>
          <p:cNvSpPr/>
          <p:nvPr/>
        </p:nvSpPr>
        <p:spPr>
          <a:xfrm>
            <a:off x="9326880" y="2697480"/>
            <a:ext cx="731520" cy="914"/>
          </a:xfrm>
          <a:prstGeom prst="line">
            <a:avLst/>
          </a:prstGeom>
          <a:noFill/>
          <a:ln w="31750">
            <a:solidFill>
              <a:srgbClr val="B3261E"/>
            </a:solidFill>
            <a:prstDash val="solid"/>
            <a:tailEnd type="triangle"/>
          </a:ln>
        </p:spPr>
      </p:sp>
      <p:sp>
        <p:nvSpPr>
          <p:cNvPr id="17" name="Text 14"/>
          <p:cNvSpPr/>
          <p:nvPr/>
        </p:nvSpPr>
        <p:spPr>
          <a:xfrm>
            <a:off x="10081260" y="2496312"/>
            <a:ext cx="1325880" cy="402336"/>
          </a:xfrm>
          <a:prstGeom prst="rect">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Web server</a:t>
            </a:r>
            <a:endParaRPr lang="en-US" sz="1200" dirty="0"/>
          </a:p>
        </p:txBody>
      </p:sp>
      <p:sp>
        <p:nvSpPr>
          <p:cNvPr id="18" name="Text 15"/>
          <p:cNvSpPr/>
          <p:nvPr/>
        </p:nvSpPr>
        <p:spPr>
          <a:xfrm>
            <a:off x="1929384" y="179222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1</a:t>
            </a:r>
            <a:endParaRPr lang="en-US" sz="1200" dirty="0"/>
          </a:p>
        </p:txBody>
      </p:sp>
      <p:sp>
        <p:nvSpPr>
          <p:cNvPr id="19" name="Text 16"/>
          <p:cNvSpPr/>
          <p:nvPr/>
        </p:nvSpPr>
        <p:spPr>
          <a:xfrm>
            <a:off x="4169664" y="220370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2</a:t>
            </a:r>
            <a:endParaRPr lang="en-US" sz="1200" dirty="0"/>
          </a:p>
        </p:txBody>
      </p:sp>
      <p:sp>
        <p:nvSpPr>
          <p:cNvPr id="20" name="Text 17"/>
          <p:cNvSpPr/>
          <p:nvPr/>
        </p:nvSpPr>
        <p:spPr>
          <a:xfrm>
            <a:off x="6272784" y="220370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3</a:t>
            </a:r>
            <a:endParaRPr lang="en-US" sz="1200" dirty="0"/>
          </a:p>
        </p:txBody>
      </p:sp>
      <p:sp>
        <p:nvSpPr>
          <p:cNvPr id="21" name="Text 18"/>
          <p:cNvSpPr/>
          <p:nvPr/>
        </p:nvSpPr>
        <p:spPr>
          <a:xfrm>
            <a:off x="9518904" y="220370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4</a:t>
            </a:r>
            <a:endParaRPr lang="en-US" sz="1200" dirty="0"/>
          </a:p>
        </p:txBody>
      </p:sp>
      <p:sp>
        <p:nvSpPr>
          <p:cNvPr id="22" name="Text 19"/>
          <p:cNvSpPr txBox="1"/>
          <p:nvPr/>
        </p:nvSpPr>
        <p:spPr>
          <a:xfrm>
            <a:off x="731520" y="3657600"/>
            <a:ext cx="2651760" cy="274320"/>
          </a:xfrm>
          <a:prstGeom prst="rect">
            <a:avLst/>
          </a:prstGeom>
          <a:noFill/>
          <a:ln/>
        </p:spPr>
        <p:txBody>
          <a:bodyPr wrap="square" lIns="0" tIns="0" rIns="0" bIns="0" rtlCol="0" anchor="ctr"/>
          <a:lstStyle/>
          <a:p>
            <a:pPr algn="l" indent="0" marL="0">
              <a:buNone/>
            </a:pPr>
            <a:r>
              <a:rPr lang="en-US" sz="1150" i="1" dirty="0">
                <a:solidFill>
                  <a:srgbClr val="202124"/>
                </a:solidFill>
                <a:latin typeface="Quicksand" pitchFamily="34" charset="0"/>
                <a:ea typeface="Quicksand" pitchFamily="34" charset="-122"/>
                <a:cs typeface="Quicksand" pitchFamily="34" charset="-120"/>
              </a:rPr>
              <a:t>1 PC1 sends the packet to the switch</a:t>
            </a:r>
            <a:endParaRPr lang="en-US" sz="1150" dirty="0"/>
          </a:p>
        </p:txBody>
      </p:sp>
      <p:sp>
        <p:nvSpPr>
          <p:cNvPr id="23" name="Text 20"/>
          <p:cNvSpPr txBox="1"/>
          <p:nvPr/>
        </p:nvSpPr>
        <p:spPr>
          <a:xfrm>
            <a:off x="3429000" y="3657600"/>
            <a:ext cx="2651760" cy="548640"/>
          </a:xfrm>
          <a:prstGeom prst="rect">
            <a:avLst/>
          </a:prstGeom>
          <a:noFill/>
          <a:ln/>
        </p:spPr>
        <p:txBody>
          <a:bodyPr wrap="square" lIns="0" tIns="0" rIns="0" bIns="0" rtlCol="0" anchor="ctr"/>
          <a:lstStyle/>
          <a:p>
            <a:pPr algn="l" indent="0" marL="0">
              <a:buNone/>
            </a:pPr>
            <a:r>
              <a:rPr lang="en-US" sz="1150" i="1" dirty="0">
                <a:solidFill>
                  <a:srgbClr val="202124"/>
                </a:solidFill>
                <a:latin typeface="Quicksand" pitchFamily="34" charset="0"/>
                <a:ea typeface="Quicksand" pitchFamily="34" charset="-122"/>
                <a:cs typeface="Quicksand" pitchFamily="34" charset="-120"/>
              </a:rPr>
              <a:t>2 The switch forwards it to the router - the LAN's way out (default gateway)</a:t>
            </a:r>
            <a:endParaRPr lang="en-US" sz="1150" dirty="0"/>
          </a:p>
        </p:txBody>
      </p:sp>
      <p:sp>
        <p:nvSpPr>
          <p:cNvPr id="24" name="Text 21"/>
          <p:cNvSpPr txBox="1"/>
          <p:nvPr/>
        </p:nvSpPr>
        <p:spPr>
          <a:xfrm>
            <a:off x="6126480" y="3657600"/>
            <a:ext cx="2651760" cy="548640"/>
          </a:xfrm>
          <a:prstGeom prst="rect">
            <a:avLst/>
          </a:prstGeom>
          <a:noFill/>
          <a:ln/>
        </p:spPr>
        <p:txBody>
          <a:bodyPr wrap="square" lIns="0" tIns="0" rIns="0" bIns="0" rtlCol="0" anchor="ctr"/>
          <a:lstStyle/>
          <a:p>
            <a:pPr algn="l" indent="0" marL="0">
              <a:buNone/>
            </a:pPr>
            <a:r>
              <a:rPr lang="en-US" sz="1150" i="1" dirty="0">
                <a:solidFill>
                  <a:srgbClr val="202124"/>
                </a:solidFill>
                <a:latin typeface="Quicksand" pitchFamily="34" charset="0"/>
                <a:ea typeface="Quicksand" pitchFamily="34" charset="-122"/>
                <a:cs typeface="Quicksand" pitchFamily="34" charset="-120"/>
              </a:rPr>
              <a:t>3 Router reads the destination IP, checks its routing table, forwards it</a:t>
            </a:r>
            <a:endParaRPr lang="en-US" sz="1150" dirty="0"/>
          </a:p>
        </p:txBody>
      </p:sp>
      <p:sp>
        <p:nvSpPr>
          <p:cNvPr id="25" name="Text 22"/>
          <p:cNvSpPr txBox="1"/>
          <p:nvPr/>
        </p:nvSpPr>
        <p:spPr>
          <a:xfrm>
            <a:off x="8823960" y="3657600"/>
            <a:ext cx="2651760" cy="548640"/>
          </a:xfrm>
          <a:prstGeom prst="rect">
            <a:avLst/>
          </a:prstGeom>
          <a:noFill/>
          <a:ln/>
        </p:spPr>
        <p:txBody>
          <a:bodyPr wrap="square" lIns="0" tIns="0" rIns="0" bIns="0" rtlCol="0" anchor="ctr"/>
          <a:lstStyle/>
          <a:p>
            <a:pPr algn="l" indent="0" marL="0">
              <a:buNone/>
            </a:pPr>
            <a:r>
              <a:rPr lang="en-US" sz="1150" i="1" dirty="0">
                <a:solidFill>
                  <a:srgbClr val="202124"/>
                </a:solidFill>
                <a:latin typeface="Quicksand" pitchFamily="34" charset="0"/>
                <a:ea typeface="Quicksand" pitchFamily="34" charset="-122"/>
                <a:cs typeface="Quicksand" pitchFamily="34" charset="-120"/>
              </a:rPr>
              <a:t>4 Each router repeats this until the packet arrives</a:t>
            </a:r>
            <a:endParaRPr lang="en-US" sz="11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31520" y="4434840"/>
          <a:ext cx="10789920" cy="914400"/>
        </p:xfrm>
        <a:graphic>
          <a:graphicData uri="http://schemas.openxmlformats.org/drawingml/2006/table">
            <a:tbl>
              <a:tblPr/>
              <a:tblGrid>
                <a:gridCol w="2377440"/>
                <a:gridCol w="3291840"/>
                <a:gridCol w="5120640"/>
              </a:tblGrid>
              <a:tr h="411480">
                <a:tc>
                  <a:txBody>
                    <a:bodyPr/>
                    <a:lstStyle/>
                    <a:p>
                      <a:pPr indent="0" marL="0">
                        <a:buNone/>
                      </a:pP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Switch</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Router</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1148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Works within...</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one LAN</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between networks (LAN to WAN / internet)</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1148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Address it reads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MAC address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IP address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Decides using</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its MAC address table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its routing table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Modem - and the box you call a "router"</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6</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17</a:t>
            </a:r>
            <a:endParaRPr lang="en-US" sz="1350" dirty="0"/>
          </a:p>
        </p:txBody>
      </p:sp>
      <p:sp>
        <p:nvSpPr>
          <p:cNvPr id="7" name="Shape 4"/>
          <p:cNvSpPr/>
          <p:nvPr/>
        </p:nvSpPr>
        <p:spPr>
          <a:xfrm>
            <a:off x="842834" y="1243584"/>
            <a:ext cx="2794893" cy="2816352"/>
          </a:xfrm>
          <a:prstGeom prst="rect">
            <a:avLst/>
          </a:prstGeom>
          <a:solidFill>
            <a:srgbClr val="FFFFFF"/>
          </a:solidFill>
          <a:ln w="9525">
            <a:solidFill>
              <a:srgbClr val="D8D8E4"/>
            </a:solidFill>
            <a:prstDash val="solid"/>
          </a:ln>
          <a:effectLst>
            <a:outerShdw sx="100000" sy="100000" kx="0" ky="0" algn="bl" rotWithShape="0" blurRad="50800" dist="25400" dir="5400000">
              <a:srgbClr val="000000">
                <a:alpha val="12000"/>
              </a:srgbClr>
            </a:outerShdw>
          </a:effectLst>
        </p:spPr>
      </p:sp>
      <p:pic>
        <p:nvPicPr>
          <p:cNvPr id="8" name="Image 0" descr="figs/modem.jpg">    </p:cNvPr>
          <p:cNvPicPr>
            <a:picLocks noChangeAspect="1"/>
          </p:cNvPicPr>
          <p:nvPr/>
        </p:nvPicPr>
        <p:blipFill>
          <a:blip r:embed="rId1"/>
          <a:stretch>
            <a:fillRect/>
          </a:stretch>
        </p:blipFill>
        <p:spPr>
          <a:xfrm>
            <a:off x="879410" y="1280160"/>
            <a:ext cx="2721741" cy="2743200"/>
          </a:xfrm>
          <a:prstGeom prst="rect">
            <a:avLst/>
          </a:prstGeom>
        </p:spPr>
      </p:pic>
      <p:sp>
        <p:nvSpPr>
          <p:cNvPr id="9" name="Text 5"/>
          <p:cNvSpPr txBox="1"/>
          <p:nvPr/>
        </p:nvSpPr>
        <p:spPr>
          <a:xfrm>
            <a:off x="548640" y="4087368"/>
            <a:ext cx="3383280" cy="237744"/>
          </a:xfrm>
          <a:prstGeom prst="rect">
            <a:avLst/>
          </a:prstGeom>
          <a:noFill/>
          <a:ln/>
        </p:spPr>
        <p:txBody>
          <a:bodyPr wrap="square" lIns="0" tIns="0" rIns="0" bIns="0" rtlCol="0" anchor="ctr"/>
          <a:lstStyle/>
          <a:p>
            <a:pPr algn="ctr" indent="0" marL="0">
              <a:buNone/>
            </a:pPr>
            <a:r>
              <a:rPr lang="en-US" sz="1050" b="1" i="1" dirty="0">
                <a:solidFill>
                  <a:srgbClr val="202124"/>
                </a:solidFill>
                <a:latin typeface="Quicksand" pitchFamily="34" charset="0"/>
                <a:ea typeface="Quicksand" pitchFamily="34" charset="-122"/>
                <a:cs typeface="Quicksand" pitchFamily="34" charset="-120"/>
              </a:rPr>
              <a:t>DSL modem   </a:t>
            </a:r>
            <a:pPr algn="ctr" indent="0" marL="0">
              <a:buNone/>
            </a:pPr>
            <a:r>
              <a:rPr lang="en-US" sz="800" i="1" dirty="0">
                <a:solidFill>
                  <a:srgbClr val="8A8A99"/>
                </a:solidFill>
                <a:latin typeface="Quicksand" pitchFamily="34" charset="0"/>
                <a:ea typeface="Quicksand" pitchFamily="34" charset="-122"/>
                <a:cs typeface="Quicksand" pitchFamily="34" charset="-120"/>
              </a:rPr>
              <a:t>Photo: Heidas, CC BY-SA 3.0, Wikimedia Commons</a:t>
            </a:r>
            <a:endParaRPr lang="en-US" sz="1050" dirty="0"/>
          </a:p>
        </p:txBody>
      </p:sp>
      <p:sp>
        <p:nvSpPr>
          <p:cNvPr id="10" name="Shape 6"/>
          <p:cNvSpPr/>
          <p:nvPr/>
        </p:nvSpPr>
        <p:spPr>
          <a:xfrm>
            <a:off x="731520" y="4434840"/>
            <a:ext cx="3017520" cy="1508760"/>
          </a:xfrm>
          <a:prstGeom prst="rect">
            <a:avLst/>
          </a:prstGeom>
          <a:solidFill>
            <a:srgbClr val="F6F5FC"/>
          </a:solidFill>
          <a:ln w="12700">
            <a:solidFill>
              <a:srgbClr val="F6F5FC"/>
            </a:solidFill>
            <a:prstDash val="solid"/>
          </a:ln>
        </p:spPr>
      </p:sp>
      <p:sp>
        <p:nvSpPr>
          <p:cNvPr id="11" name="Shape 7"/>
          <p:cNvSpPr/>
          <p:nvPr/>
        </p:nvSpPr>
        <p:spPr>
          <a:xfrm>
            <a:off x="731520" y="4434840"/>
            <a:ext cx="73152" cy="1508760"/>
          </a:xfrm>
          <a:prstGeom prst="rect">
            <a:avLst/>
          </a:prstGeom>
          <a:solidFill>
            <a:srgbClr val="494985"/>
          </a:solidFill>
          <a:ln w="12700">
            <a:solidFill>
              <a:srgbClr val="494985"/>
            </a:solidFill>
            <a:prstDash val="solid"/>
          </a:ln>
        </p:spPr>
      </p:sp>
      <p:sp>
        <p:nvSpPr>
          <p:cNvPr id="12" name="Text 8"/>
          <p:cNvSpPr txBox="1"/>
          <p:nvPr/>
        </p:nvSpPr>
        <p:spPr>
          <a:xfrm>
            <a:off x="960120" y="4526280"/>
            <a:ext cx="265176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Modem</a:t>
            </a:r>
            <a:endParaRPr lang="en-US" sz="1500" dirty="0"/>
          </a:p>
        </p:txBody>
      </p:sp>
      <p:sp>
        <p:nvSpPr>
          <p:cNvPr id="13" name="Text 9"/>
          <p:cNvSpPr txBox="1"/>
          <p:nvPr/>
        </p:nvSpPr>
        <p:spPr>
          <a:xfrm>
            <a:off x="960120" y="4937760"/>
            <a:ext cx="2651760" cy="914400"/>
          </a:xfrm>
          <a:prstGeom prst="rect">
            <a:avLst/>
          </a:prstGeom>
          <a:noFill/>
          <a:ln/>
        </p:spPr>
        <p:txBody>
          <a:bodyPr wrap="square" lIns="0" tIns="0" rIns="0" bIns="0" rtlCol="0" anchor="t"/>
          <a:lstStyle/>
          <a:p>
            <a:pPr indent="0" marL="0">
              <a:spcAft>
                <a:spcPts val="600"/>
              </a:spcAft>
              <a:buNone/>
            </a:pPr>
            <a:r>
              <a:rPr lang="en-US" sz="1250" dirty="0">
                <a:solidFill>
                  <a:srgbClr val="202124"/>
                </a:solidFill>
                <a:latin typeface="Quicksand" pitchFamily="34" charset="0"/>
                <a:ea typeface="Quicksand" pitchFamily="34" charset="-122"/>
                <a:cs typeface="Quicksand" pitchFamily="34" charset="-120"/>
              </a:rPr>
              <a:t>Converts digital data to analogue signals to send down a phone line, and analogue back to digital.</a:t>
            </a:r>
            <a:endParaRPr lang="en-US" sz="1250" dirty="0"/>
          </a:p>
        </p:txBody>
      </p:sp>
      <p:sp>
        <p:nvSpPr>
          <p:cNvPr id="14" name="Shape 10"/>
          <p:cNvSpPr/>
          <p:nvPr/>
        </p:nvSpPr>
        <p:spPr>
          <a:xfrm>
            <a:off x="4206240" y="1280160"/>
            <a:ext cx="7315200" cy="3886200"/>
          </a:xfrm>
          <a:prstGeom prst="roundRect">
            <a:avLst>
              <a:gd name="adj" fmla="val 2353"/>
            </a:avLst>
          </a:prstGeom>
          <a:solidFill>
            <a:srgbClr val="FFFFFF"/>
          </a:solidFill>
          <a:ln w="25400">
            <a:solidFill>
              <a:srgbClr val="494985"/>
            </a:solidFill>
            <a:prstDash val="solid"/>
          </a:ln>
        </p:spPr>
      </p:sp>
      <p:sp>
        <p:nvSpPr>
          <p:cNvPr id="15" name="Text 11"/>
          <p:cNvSpPr/>
          <p:nvPr/>
        </p:nvSpPr>
        <p:spPr>
          <a:xfrm>
            <a:off x="4434840" y="1371600"/>
            <a:ext cx="6858000" cy="411480"/>
          </a:xfrm>
          <a:prstGeom prst="rect">
            <a:avLst/>
          </a:prstGeom>
          <a:noFill/>
          <a:ln/>
        </p:spPr>
        <p:txBody>
          <a:bodyPr wrap="square" lIns="0" tIns="0" rIns="0" bIns="0" rtlCol="0" anchor="ctr"/>
          <a:lstStyle/>
          <a:p>
            <a:pPr indent="0" marL="0">
              <a:buNone/>
            </a:pPr>
            <a:r>
              <a:rPr lang="en-US" sz="1600" b="1" dirty="0">
                <a:solidFill>
                  <a:srgbClr val="494985"/>
                </a:solidFill>
                <a:latin typeface="Quicksand" pitchFamily="34" charset="0"/>
                <a:ea typeface="Quicksand" pitchFamily="34" charset="-122"/>
                <a:cs typeface="Quicksand" pitchFamily="34" charset="-120"/>
              </a:rPr>
              <a:t>One home "router" box contains...</a:t>
            </a:r>
            <a:endParaRPr lang="en-US" sz="1600" dirty="0"/>
          </a:p>
        </p:txBody>
      </p:sp>
      <p:sp>
        <p:nvSpPr>
          <p:cNvPr id="16" name="Text 12"/>
          <p:cNvSpPr/>
          <p:nvPr/>
        </p:nvSpPr>
        <p:spPr>
          <a:xfrm>
            <a:off x="4434840" y="2011680"/>
            <a:ext cx="1097280" cy="402336"/>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Router</a:t>
            </a:r>
            <a:endParaRPr lang="en-US" sz="1200" dirty="0"/>
          </a:p>
        </p:txBody>
      </p:sp>
      <p:sp>
        <p:nvSpPr>
          <p:cNvPr id="17" name="Text 13"/>
          <p:cNvSpPr txBox="1"/>
          <p:nvPr/>
        </p:nvSpPr>
        <p:spPr>
          <a:xfrm>
            <a:off x="5669280" y="1965960"/>
            <a:ext cx="2194560" cy="822960"/>
          </a:xfrm>
          <a:prstGeom prst="rect">
            <a:avLst/>
          </a:prstGeom>
          <a:noFill/>
          <a:ln/>
        </p:spPr>
        <p:txBody>
          <a:bodyPr wrap="square" lIns="0" tIns="0" rIns="0" bIns="0" rtlCol="0" anchor="t"/>
          <a:lstStyle/>
          <a:p>
            <a:pPr indent="0" marL="0">
              <a:spcAft>
                <a:spcPts val="600"/>
              </a:spcAft>
              <a:buNone/>
            </a:pPr>
            <a:r>
              <a:rPr lang="en-US" sz="1150" dirty="0">
                <a:solidFill>
                  <a:srgbClr val="202124"/>
                </a:solidFill>
                <a:latin typeface="Quicksand" pitchFamily="34" charset="0"/>
                <a:ea typeface="Quicksand" pitchFamily="34" charset="-122"/>
                <a:cs typeface="Quicksand" pitchFamily="34" charset="-120"/>
              </a:rPr>
              <a:t>forwards packets between home LAN and ISP; assigns private IPs</a:t>
            </a:r>
            <a:endParaRPr lang="en-US" sz="1150" dirty="0"/>
          </a:p>
        </p:txBody>
      </p:sp>
      <p:sp>
        <p:nvSpPr>
          <p:cNvPr id="18" name="Text 14"/>
          <p:cNvSpPr/>
          <p:nvPr/>
        </p:nvSpPr>
        <p:spPr>
          <a:xfrm>
            <a:off x="7955280" y="2011680"/>
            <a:ext cx="1097280" cy="402336"/>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Switch</a:t>
            </a:r>
            <a:endParaRPr lang="en-US" sz="1200" dirty="0"/>
          </a:p>
        </p:txBody>
      </p:sp>
      <p:sp>
        <p:nvSpPr>
          <p:cNvPr id="19" name="Text 15"/>
          <p:cNvSpPr txBox="1"/>
          <p:nvPr/>
        </p:nvSpPr>
        <p:spPr>
          <a:xfrm>
            <a:off x="9189720" y="1965960"/>
            <a:ext cx="2194560" cy="822960"/>
          </a:xfrm>
          <a:prstGeom prst="rect">
            <a:avLst/>
          </a:prstGeom>
          <a:noFill/>
          <a:ln/>
        </p:spPr>
        <p:txBody>
          <a:bodyPr wrap="square" lIns="0" tIns="0" rIns="0" bIns="0" rtlCol="0" anchor="t"/>
          <a:lstStyle/>
          <a:p>
            <a:pPr indent="0" marL="0">
              <a:spcAft>
                <a:spcPts val="600"/>
              </a:spcAft>
              <a:buNone/>
            </a:pPr>
            <a:r>
              <a:rPr lang="en-US" sz="1150" dirty="0">
                <a:solidFill>
                  <a:srgbClr val="202124"/>
                </a:solidFill>
                <a:latin typeface="Quicksand" pitchFamily="34" charset="0"/>
                <a:ea typeface="Quicksand" pitchFamily="34" charset="-122"/>
                <a:cs typeface="Quicksand" pitchFamily="34" charset="-120"/>
              </a:rPr>
              <a:t>the LAN ports for wired devices</a:t>
            </a:r>
            <a:endParaRPr lang="en-US" sz="1150" dirty="0"/>
          </a:p>
        </p:txBody>
      </p:sp>
      <p:sp>
        <p:nvSpPr>
          <p:cNvPr id="20" name="Text 16"/>
          <p:cNvSpPr/>
          <p:nvPr/>
        </p:nvSpPr>
        <p:spPr>
          <a:xfrm>
            <a:off x="4434840" y="3063240"/>
            <a:ext cx="1097280" cy="402336"/>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WAP</a:t>
            </a:r>
            <a:endParaRPr lang="en-US" sz="1200" dirty="0"/>
          </a:p>
        </p:txBody>
      </p:sp>
      <p:sp>
        <p:nvSpPr>
          <p:cNvPr id="21" name="Text 17"/>
          <p:cNvSpPr txBox="1"/>
          <p:nvPr/>
        </p:nvSpPr>
        <p:spPr>
          <a:xfrm>
            <a:off x="5669280" y="3017520"/>
            <a:ext cx="2194560" cy="822960"/>
          </a:xfrm>
          <a:prstGeom prst="rect">
            <a:avLst/>
          </a:prstGeom>
          <a:noFill/>
          <a:ln/>
        </p:spPr>
        <p:txBody>
          <a:bodyPr wrap="square" lIns="0" tIns="0" rIns="0" bIns="0" rtlCol="0" anchor="t"/>
          <a:lstStyle/>
          <a:p>
            <a:pPr indent="0" marL="0">
              <a:spcAft>
                <a:spcPts val="600"/>
              </a:spcAft>
              <a:buNone/>
            </a:pPr>
            <a:r>
              <a:rPr lang="en-US" sz="1150" dirty="0">
                <a:solidFill>
                  <a:srgbClr val="202124"/>
                </a:solidFill>
                <a:latin typeface="Quicksand" pitchFamily="34" charset="0"/>
                <a:ea typeface="Quicksand" pitchFamily="34" charset="-122"/>
                <a:cs typeface="Quicksand" pitchFamily="34" charset="-120"/>
              </a:rPr>
              <a:t>Wi-Fi radio for wireless devices</a:t>
            </a:r>
            <a:endParaRPr lang="en-US" sz="1150" dirty="0"/>
          </a:p>
        </p:txBody>
      </p:sp>
      <p:sp>
        <p:nvSpPr>
          <p:cNvPr id="22" name="Text 18"/>
          <p:cNvSpPr/>
          <p:nvPr/>
        </p:nvSpPr>
        <p:spPr>
          <a:xfrm>
            <a:off x="7955280" y="3063240"/>
            <a:ext cx="1097280" cy="402336"/>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Modem</a:t>
            </a:r>
            <a:endParaRPr lang="en-US" sz="1200" dirty="0"/>
          </a:p>
        </p:txBody>
      </p:sp>
      <p:sp>
        <p:nvSpPr>
          <p:cNvPr id="23" name="Text 19"/>
          <p:cNvSpPr txBox="1"/>
          <p:nvPr/>
        </p:nvSpPr>
        <p:spPr>
          <a:xfrm>
            <a:off x="9189720" y="3017520"/>
            <a:ext cx="2194560" cy="822960"/>
          </a:xfrm>
          <a:prstGeom prst="rect">
            <a:avLst/>
          </a:prstGeom>
          <a:noFill/>
          <a:ln/>
        </p:spPr>
        <p:txBody>
          <a:bodyPr wrap="square" lIns="0" tIns="0" rIns="0" bIns="0" rtlCol="0" anchor="t"/>
          <a:lstStyle/>
          <a:p>
            <a:pPr indent="0" marL="0">
              <a:spcAft>
                <a:spcPts val="600"/>
              </a:spcAft>
              <a:buNone/>
            </a:pPr>
            <a:r>
              <a:rPr lang="en-US" sz="1150" dirty="0">
                <a:solidFill>
                  <a:srgbClr val="202124"/>
                </a:solidFill>
                <a:latin typeface="Quicksand" pitchFamily="34" charset="0"/>
                <a:ea typeface="Quicksand" pitchFamily="34" charset="-122"/>
                <a:cs typeface="Quicksand" pitchFamily="34" charset="-120"/>
              </a:rPr>
              <a:t>converts signals for the phone / cable line</a:t>
            </a:r>
            <a:endParaRPr lang="en-US" sz="1150" dirty="0"/>
          </a:p>
        </p:txBody>
      </p:sp>
      <p:sp>
        <p:nvSpPr>
          <p:cNvPr id="24" name="Text 20"/>
          <p:cNvSpPr/>
          <p:nvPr/>
        </p:nvSpPr>
        <p:spPr>
          <a:xfrm>
            <a:off x="4434840" y="4114800"/>
            <a:ext cx="1097280" cy="402336"/>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Firewall</a:t>
            </a:r>
            <a:endParaRPr lang="en-US" sz="1200" dirty="0"/>
          </a:p>
        </p:txBody>
      </p:sp>
      <p:sp>
        <p:nvSpPr>
          <p:cNvPr id="25" name="Text 21"/>
          <p:cNvSpPr txBox="1"/>
          <p:nvPr/>
        </p:nvSpPr>
        <p:spPr>
          <a:xfrm>
            <a:off x="5669280" y="4069080"/>
            <a:ext cx="2194560" cy="822960"/>
          </a:xfrm>
          <a:prstGeom prst="rect">
            <a:avLst/>
          </a:prstGeom>
          <a:noFill/>
          <a:ln/>
        </p:spPr>
        <p:txBody>
          <a:bodyPr wrap="square" lIns="0" tIns="0" rIns="0" bIns="0" rtlCol="0" anchor="t"/>
          <a:lstStyle/>
          <a:p>
            <a:pPr indent="0" marL="0">
              <a:spcAft>
                <a:spcPts val="600"/>
              </a:spcAft>
              <a:buNone/>
            </a:pPr>
            <a:r>
              <a:rPr lang="en-US" sz="1150" dirty="0">
                <a:solidFill>
                  <a:srgbClr val="202124"/>
                </a:solidFill>
                <a:latin typeface="Quicksand" pitchFamily="34" charset="0"/>
                <a:ea typeface="Quicksand" pitchFamily="34" charset="-122"/>
                <a:cs typeface="Quicksand" pitchFamily="34" charset="-120"/>
              </a:rPr>
              <a:t>filters traffic in and out</a:t>
            </a:r>
            <a:endParaRPr lang="en-US" sz="1150" dirty="0"/>
          </a:p>
        </p:txBody>
      </p:sp>
      <p:sp>
        <p:nvSpPr>
          <p:cNvPr id="26" name="Text 22"/>
          <p:cNvSpPr txBox="1"/>
          <p:nvPr/>
        </p:nvSpPr>
        <p:spPr>
          <a:xfrm>
            <a:off x="4206240" y="5349240"/>
            <a:ext cx="7315200" cy="548640"/>
          </a:xfrm>
          <a:prstGeom prst="rect">
            <a:avLst/>
          </a:prstGeom>
          <a:noFill/>
          <a:ln/>
        </p:spPr>
        <p:txBody>
          <a:bodyPr wrap="square" lIns="0" tIns="0" rIns="0" bIns="0" rtlCol="0" anchor="t"/>
          <a:lstStyle/>
          <a:p>
            <a:pPr indent="0" marL="0">
              <a:buNone/>
            </a:pPr>
            <a:r>
              <a:rPr lang="en-US" sz="1400" b="1" dirty="0">
                <a:solidFill>
                  <a:srgbClr val="494985"/>
                </a:solidFill>
                <a:latin typeface="Quicksand" pitchFamily="34" charset="0"/>
                <a:ea typeface="Quicksand" pitchFamily="34" charset="-122"/>
                <a:cs typeface="Quicksand" pitchFamily="34" charset="-120"/>
              </a:rPr>
              <a:t>In an exam, name the part that does the job: "the WAP in the router lets the phone connect".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Spot the hardware: answers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Check your answers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18</a:t>
            </a:r>
            <a:endParaRPr lang="en-US" sz="1350" dirty="0"/>
          </a:p>
        </p:txBody>
      </p:sp>
      <p:sp>
        <p:nvSpPr>
          <p:cNvPr id="7" name="Shape 4"/>
          <p:cNvSpPr/>
          <p:nvPr/>
        </p:nvSpPr>
        <p:spPr>
          <a:xfrm>
            <a:off x="548640" y="1234440"/>
            <a:ext cx="5943600" cy="4343400"/>
          </a:xfrm>
          <a:prstGeom prst="rect">
            <a:avLst/>
          </a:prstGeom>
          <a:solidFill>
            <a:srgbClr val="FBFBFE"/>
          </a:solidFill>
          <a:ln w="12700">
            <a:solidFill>
              <a:srgbClr val="C8C8DC"/>
            </a:solidFill>
            <a:prstDash val="dash"/>
          </a:ln>
        </p:spPr>
      </p:sp>
      <p:sp>
        <p:nvSpPr>
          <p:cNvPr id="8" name="Shape 5"/>
          <p:cNvSpPr/>
          <p:nvPr/>
        </p:nvSpPr>
        <p:spPr>
          <a:xfrm>
            <a:off x="8549640" y="1234440"/>
            <a:ext cx="3063240" cy="4343400"/>
          </a:xfrm>
          <a:prstGeom prst="rect">
            <a:avLst/>
          </a:prstGeom>
          <a:solidFill>
            <a:srgbClr val="FBFBFE"/>
          </a:solidFill>
          <a:ln w="12700">
            <a:solidFill>
              <a:srgbClr val="C8C8DC"/>
            </a:solidFill>
            <a:prstDash val="dash"/>
          </a:ln>
        </p:spPr>
      </p:sp>
      <p:sp>
        <p:nvSpPr>
          <p:cNvPr id="9" name="Text 6"/>
          <p:cNvSpPr txBox="1"/>
          <p:nvPr/>
        </p:nvSpPr>
        <p:spPr>
          <a:xfrm>
            <a:off x="640080" y="1280160"/>
            <a:ext cx="2743200" cy="274320"/>
          </a:xfrm>
          <a:prstGeom prst="rect">
            <a:avLst/>
          </a:prstGeom>
          <a:noFill/>
          <a:ln/>
        </p:spPr>
        <p:txBody>
          <a:bodyPr wrap="square" lIns="0" tIns="0" rIns="0" bIns="0" rtlCol="0" anchor="ctr"/>
          <a:lstStyle/>
          <a:p>
            <a:pPr algn="l" indent="0" marL="0">
              <a:buNone/>
            </a:pPr>
            <a:r>
              <a:rPr lang="en-US" sz="1050" i="1" dirty="0">
                <a:solidFill>
                  <a:srgbClr val="666666"/>
                </a:solidFill>
                <a:latin typeface="Quicksand" pitchFamily="34" charset="0"/>
                <a:ea typeface="Quicksand" pitchFamily="34" charset="-122"/>
                <a:cs typeface="Quicksand" pitchFamily="34" charset="-120"/>
              </a:rPr>
              <a:t>Main building (LAN segment 1)</a:t>
            </a:r>
            <a:endParaRPr lang="en-US" sz="1050" dirty="0"/>
          </a:p>
        </p:txBody>
      </p:sp>
      <p:sp>
        <p:nvSpPr>
          <p:cNvPr id="10" name="Text 7"/>
          <p:cNvSpPr txBox="1"/>
          <p:nvPr/>
        </p:nvSpPr>
        <p:spPr>
          <a:xfrm>
            <a:off x="8641080" y="1280160"/>
            <a:ext cx="2926080" cy="274320"/>
          </a:xfrm>
          <a:prstGeom prst="rect">
            <a:avLst/>
          </a:prstGeom>
          <a:noFill/>
          <a:ln/>
        </p:spPr>
        <p:txBody>
          <a:bodyPr wrap="square" lIns="0" tIns="0" rIns="0" bIns="0" rtlCol="0" anchor="ctr"/>
          <a:lstStyle/>
          <a:p>
            <a:pPr algn="l" indent="0" marL="0">
              <a:buNone/>
            </a:pPr>
            <a:r>
              <a:rPr lang="en-US" sz="1050" i="1" dirty="0">
                <a:solidFill>
                  <a:srgbClr val="666666"/>
                </a:solidFill>
                <a:latin typeface="Quicksand" pitchFamily="34" charset="0"/>
                <a:ea typeface="Quicksand" pitchFamily="34" charset="-122"/>
                <a:cs typeface="Quicksand" pitchFamily="34" charset="-120"/>
              </a:rPr>
              <a:t>Sports hall, 150 m away (segment 2)</a:t>
            </a:r>
            <a:endParaRPr lang="en-US" sz="1050" dirty="0"/>
          </a:p>
        </p:txBody>
      </p:sp>
      <p:sp>
        <p:nvSpPr>
          <p:cNvPr id="11" name="Shape 8"/>
          <p:cNvSpPr/>
          <p:nvPr/>
        </p:nvSpPr>
        <p:spPr>
          <a:xfrm>
            <a:off x="1828800" y="2194560"/>
            <a:ext cx="1463040" cy="1097280"/>
          </a:xfrm>
          <a:prstGeom prst="line">
            <a:avLst/>
          </a:prstGeom>
          <a:noFill/>
          <a:ln w="19050">
            <a:solidFill>
              <a:srgbClr val="7A7AA0"/>
            </a:solidFill>
            <a:prstDash val="solid"/>
          </a:ln>
        </p:spPr>
      </p:sp>
      <p:sp>
        <p:nvSpPr>
          <p:cNvPr id="12" name="Shape 9"/>
          <p:cNvSpPr/>
          <p:nvPr/>
        </p:nvSpPr>
        <p:spPr>
          <a:xfrm>
            <a:off x="1828800" y="3291840"/>
            <a:ext cx="1463040" cy="914"/>
          </a:xfrm>
          <a:prstGeom prst="line">
            <a:avLst/>
          </a:prstGeom>
          <a:noFill/>
          <a:ln w="19050">
            <a:solidFill>
              <a:srgbClr val="7A7AA0"/>
            </a:solidFill>
            <a:prstDash val="solid"/>
          </a:ln>
        </p:spPr>
      </p:sp>
      <p:sp>
        <p:nvSpPr>
          <p:cNvPr id="13" name="Shape 10"/>
          <p:cNvSpPr/>
          <p:nvPr/>
        </p:nvSpPr>
        <p:spPr>
          <a:xfrm flipV="1">
            <a:off x="1828800" y="3291840"/>
            <a:ext cx="1463040" cy="1097280"/>
          </a:xfrm>
          <a:prstGeom prst="line">
            <a:avLst/>
          </a:prstGeom>
          <a:noFill/>
          <a:ln w="19050">
            <a:solidFill>
              <a:srgbClr val="7A7AA0"/>
            </a:solidFill>
            <a:prstDash val="solid"/>
          </a:ln>
        </p:spPr>
      </p:sp>
      <p:sp>
        <p:nvSpPr>
          <p:cNvPr id="14" name="Text 11"/>
          <p:cNvSpPr/>
          <p:nvPr/>
        </p:nvSpPr>
        <p:spPr>
          <a:xfrm>
            <a:off x="1143000" y="2002536"/>
            <a:ext cx="640080"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a:t>
            </a:r>
            <a:endParaRPr lang="en-US" sz="1100" dirty="0"/>
          </a:p>
        </p:txBody>
      </p:sp>
      <p:sp>
        <p:nvSpPr>
          <p:cNvPr id="15" name="Text 12"/>
          <p:cNvSpPr/>
          <p:nvPr/>
        </p:nvSpPr>
        <p:spPr>
          <a:xfrm>
            <a:off x="1143000" y="3099816"/>
            <a:ext cx="640080"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a:t>
            </a:r>
            <a:endParaRPr lang="en-US" sz="1100" dirty="0"/>
          </a:p>
        </p:txBody>
      </p:sp>
      <p:sp>
        <p:nvSpPr>
          <p:cNvPr id="16" name="Text 13"/>
          <p:cNvSpPr/>
          <p:nvPr/>
        </p:nvSpPr>
        <p:spPr>
          <a:xfrm>
            <a:off x="1143000" y="4197096"/>
            <a:ext cx="640080"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a:t>
            </a:r>
            <a:endParaRPr lang="en-US" sz="1100" dirty="0"/>
          </a:p>
        </p:txBody>
      </p:sp>
      <p:sp>
        <p:nvSpPr>
          <p:cNvPr id="17" name="Text 14"/>
          <p:cNvSpPr/>
          <p:nvPr/>
        </p:nvSpPr>
        <p:spPr>
          <a:xfrm>
            <a:off x="786384" y="202082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E</a:t>
            </a:r>
            <a:endParaRPr lang="en-US" sz="1200" dirty="0"/>
          </a:p>
        </p:txBody>
      </p:sp>
      <p:sp>
        <p:nvSpPr>
          <p:cNvPr id="18" name="Shape 15"/>
          <p:cNvSpPr/>
          <p:nvPr/>
        </p:nvSpPr>
        <p:spPr>
          <a:xfrm flipV="1">
            <a:off x="3291840" y="2148840"/>
            <a:ext cx="914" cy="1143000"/>
          </a:xfrm>
          <a:prstGeom prst="line">
            <a:avLst/>
          </a:prstGeom>
          <a:noFill/>
          <a:ln w="19050">
            <a:solidFill>
              <a:srgbClr val="7A7AA0"/>
            </a:solidFill>
            <a:prstDash val="solid"/>
          </a:ln>
        </p:spPr>
      </p:sp>
      <p:sp>
        <p:nvSpPr>
          <p:cNvPr id="19" name="Text 16"/>
          <p:cNvSpPr/>
          <p:nvPr/>
        </p:nvSpPr>
        <p:spPr>
          <a:xfrm>
            <a:off x="2788920" y="1737360"/>
            <a:ext cx="1005840" cy="457200"/>
          </a:xfrm>
          <a:prstGeom prst="rect">
            <a:avLst/>
          </a:prstGeom>
          <a:solidFill>
            <a:srgbClr val="E9E8F5"/>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Server</a:t>
            </a:r>
            <a:endParaRPr lang="en-US" sz="1200" dirty="0"/>
          </a:p>
        </p:txBody>
      </p:sp>
      <p:sp>
        <p:nvSpPr>
          <p:cNvPr id="20" name="Text 17"/>
          <p:cNvSpPr/>
          <p:nvPr/>
        </p:nvSpPr>
        <p:spPr>
          <a:xfrm>
            <a:off x="2569464" y="160934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B</a:t>
            </a:r>
            <a:endParaRPr lang="en-US" sz="1200" dirty="0"/>
          </a:p>
        </p:txBody>
      </p:sp>
      <p:sp>
        <p:nvSpPr>
          <p:cNvPr id="21" name="Shape 18"/>
          <p:cNvSpPr/>
          <p:nvPr/>
        </p:nvSpPr>
        <p:spPr>
          <a:xfrm flipV="1">
            <a:off x="3291840" y="2240280"/>
            <a:ext cx="1828800" cy="1051560"/>
          </a:xfrm>
          <a:prstGeom prst="line">
            <a:avLst/>
          </a:prstGeom>
          <a:noFill/>
          <a:ln w="19050">
            <a:solidFill>
              <a:srgbClr val="7A7AA0"/>
            </a:solidFill>
            <a:prstDash val="solid"/>
          </a:ln>
        </p:spPr>
      </p:sp>
      <p:sp>
        <p:nvSpPr>
          <p:cNvPr id="22" name="Text 19"/>
          <p:cNvSpPr/>
          <p:nvPr/>
        </p:nvSpPr>
        <p:spPr>
          <a:xfrm>
            <a:off x="4709160" y="1911096"/>
            <a:ext cx="822960" cy="384048"/>
          </a:xfrm>
          <a:prstGeom prst="rect">
            <a:avLst/>
          </a:prstGeom>
          <a:solidFill>
            <a:srgbClr val="FFFFFF"/>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WAP</a:t>
            </a:r>
            <a:endParaRPr lang="en-US" sz="1200" dirty="0"/>
          </a:p>
        </p:txBody>
      </p:sp>
      <p:sp>
        <p:nvSpPr>
          <p:cNvPr id="23" name="Text 20"/>
          <p:cNvSpPr/>
          <p:nvPr/>
        </p:nvSpPr>
        <p:spPr>
          <a:xfrm>
            <a:off x="4443984" y="165506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C</a:t>
            </a:r>
            <a:endParaRPr lang="en-US" sz="1200" dirty="0"/>
          </a:p>
        </p:txBody>
      </p:sp>
      <p:sp>
        <p:nvSpPr>
          <p:cNvPr id="24" name="Shape 21"/>
          <p:cNvSpPr/>
          <p:nvPr/>
        </p:nvSpPr>
        <p:spPr>
          <a:xfrm>
            <a:off x="5257800" y="2194560"/>
            <a:ext cx="182880" cy="777240"/>
          </a:xfrm>
          <a:prstGeom prst="line">
            <a:avLst/>
          </a:prstGeom>
          <a:noFill/>
          <a:ln w="19050">
            <a:solidFill>
              <a:srgbClr val="4A90D9"/>
            </a:solidFill>
            <a:prstDash val="dash"/>
          </a:ln>
        </p:spPr>
      </p:sp>
      <p:sp>
        <p:nvSpPr>
          <p:cNvPr id="25" name="Text 22"/>
          <p:cNvSpPr/>
          <p:nvPr/>
        </p:nvSpPr>
        <p:spPr>
          <a:xfrm>
            <a:off x="5358384" y="2779776"/>
            <a:ext cx="749808"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000" b="1" dirty="0">
                <a:solidFill>
                  <a:srgbClr val="202124"/>
                </a:solidFill>
                <a:latin typeface="Quicksand" pitchFamily="34" charset="0"/>
                <a:ea typeface="Quicksand" pitchFamily="34" charset="-122"/>
                <a:cs typeface="Quicksand" pitchFamily="34" charset="-120"/>
              </a:rPr>
              <a:t>Laptop</a:t>
            </a:r>
            <a:endParaRPr lang="en-US" sz="1000" dirty="0"/>
          </a:p>
        </p:txBody>
      </p:sp>
      <p:sp>
        <p:nvSpPr>
          <p:cNvPr id="26" name="Shape 23"/>
          <p:cNvSpPr/>
          <p:nvPr/>
        </p:nvSpPr>
        <p:spPr>
          <a:xfrm flipV="1">
            <a:off x="5257800" y="1828800"/>
            <a:ext cx="594360" cy="365760"/>
          </a:xfrm>
          <a:prstGeom prst="line">
            <a:avLst/>
          </a:prstGeom>
          <a:noFill/>
          <a:ln w="19050">
            <a:solidFill>
              <a:srgbClr val="4A90D9"/>
            </a:solidFill>
            <a:prstDash val="dash"/>
          </a:ln>
        </p:spPr>
      </p:sp>
      <p:sp>
        <p:nvSpPr>
          <p:cNvPr id="27" name="Text 24"/>
          <p:cNvSpPr/>
          <p:nvPr/>
        </p:nvSpPr>
        <p:spPr>
          <a:xfrm>
            <a:off x="5769864" y="1636776"/>
            <a:ext cx="749808"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000" b="1" dirty="0">
                <a:solidFill>
                  <a:srgbClr val="202124"/>
                </a:solidFill>
                <a:latin typeface="Quicksand" pitchFamily="34" charset="0"/>
                <a:ea typeface="Quicksand" pitchFamily="34" charset="-122"/>
                <a:cs typeface="Quicksand" pitchFamily="34" charset="-120"/>
              </a:rPr>
              <a:t>Laptop</a:t>
            </a:r>
            <a:endParaRPr lang="en-US" sz="1000" dirty="0"/>
          </a:p>
        </p:txBody>
      </p:sp>
      <p:sp>
        <p:nvSpPr>
          <p:cNvPr id="28" name="Text 25"/>
          <p:cNvSpPr/>
          <p:nvPr/>
        </p:nvSpPr>
        <p:spPr>
          <a:xfrm>
            <a:off x="6227064" y="234086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D</a:t>
            </a:r>
            <a:endParaRPr lang="en-US" sz="1200" dirty="0"/>
          </a:p>
        </p:txBody>
      </p:sp>
      <p:sp>
        <p:nvSpPr>
          <p:cNvPr id="29" name="Text 26"/>
          <p:cNvSpPr/>
          <p:nvPr/>
        </p:nvSpPr>
        <p:spPr>
          <a:xfrm>
            <a:off x="2788920" y="3090672"/>
            <a:ext cx="1005840" cy="402336"/>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Switch</a:t>
            </a:r>
            <a:endParaRPr lang="en-US" sz="1200" dirty="0"/>
          </a:p>
        </p:txBody>
      </p:sp>
      <p:sp>
        <p:nvSpPr>
          <p:cNvPr id="30" name="Text 27"/>
          <p:cNvSpPr/>
          <p:nvPr/>
        </p:nvSpPr>
        <p:spPr>
          <a:xfrm>
            <a:off x="2523744" y="279806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A</a:t>
            </a:r>
            <a:endParaRPr lang="en-US" sz="1200" dirty="0"/>
          </a:p>
        </p:txBody>
      </p:sp>
      <p:sp>
        <p:nvSpPr>
          <p:cNvPr id="31" name="Shape 28"/>
          <p:cNvSpPr/>
          <p:nvPr/>
        </p:nvSpPr>
        <p:spPr>
          <a:xfrm>
            <a:off x="3291840" y="3520440"/>
            <a:ext cx="914" cy="1097280"/>
          </a:xfrm>
          <a:prstGeom prst="line">
            <a:avLst/>
          </a:prstGeom>
          <a:noFill/>
          <a:ln w="19050">
            <a:solidFill>
              <a:srgbClr val="7A7AA0"/>
            </a:solidFill>
            <a:prstDash val="solid"/>
          </a:ln>
        </p:spPr>
      </p:sp>
      <p:sp>
        <p:nvSpPr>
          <p:cNvPr id="32" name="Text 29"/>
          <p:cNvSpPr/>
          <p:nvPr/>
        </p:nvSpPr>
        <p:spPr>
          <a:xfrm>
            <a:off x="2788920" y="4645152"/>
            <a:ext cx="1005840" cy="402336"/>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Router</a:t>
            </a:r>
            <a:endParaRPr lang="en-US" sz="1200" dirty="0"/>
          </a:p>
        </p:txBody>
      </p:sp>
      <p:sp>
        <p:nvSpPr>
          <p:cNvPr id="33" name="Text 30"/>
          <p:cNvSpPr/>
          <p:nvPr/>
        </p:nvSpPr>
        <p:spPr>
          <a:xfrm>
            <a:off x="2523744" y="490118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H</a:t>
            </a:r>
            <a:endParaRPr lang="en-US" sz="1200" dirty="0"/>
          </a:p>
        </p:txBody>
      </p:sp>
      <p:sp>
        <p:nvSpPr>
          <p:cNvPr id="34" name="Shape 31"/>
          <p:cNvSpPr/>
          <p:nvPr/>
        </p:nvSpPr>
        <p:spPr>
          <a:xfrm>
            <a:off x="3794760" y="4846320"/>
            <a:ext cx="685800" cy="914"/>
          </a:xfrm>
          <a:prstGeom prst="line">
            <a:avLst/>
          </a:prstGeom>
          <a:noFill/>
          <a:ln w="19050">
            <a:solidFill>
              <a:srgbClr val="7A7AA0"/>
            </a:solidFill>
            <a:prstDash val="solid"/>
          </a:ln>
        </p:spPr>
      </p:sp>
      <p:sp>
        <p:nvSpPr>
          <p:cNvPr id="35" name="Text 32"/>
          <p:cNvSpPr/>
          <p:nvPr/>
        </p:nvSpPr>
        <p:spPr>
          <a:xfrm>
            <a:off x="4480560" y="4434840"/>
            <a:ext cx="1691640" cy="868680"/>
          </a:xfrm>
          <a:prstGeom prst="cloud">
            <a:avLst/>
          </a:prstGeom>
          <a:solidFill>
            <a:srgbClr val="EEF3FB"/>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Internet</a:t>
            </a:r>
            <a:endParaRPr lang="en-US" sz="1200" dirty="0"/>
          </a:p>
        </p:txBody>
      </p:sp>
      <p:sp>
        <p:nvSpPr>
          <p:cNvPr id="36" name="Shape 33"/>
          <p:cNvSpPr/>
          <p:nvPr/>
        </p:nvSpPr>
        <p:spPr>
          <a:xfrm>
            <a:off x="3794760" y="3291840"/>
            <a:ext cx="3017520" cy="914"/>
          </a:xfrm>
          <a:prstGeom prst="line">
            <a:avLst/>
          </a:prstGeom>
          <a:noFill/>
          <a:ln w="25400">
            <a:solidFill>
              <a:srgbClr val="494985"/>
            </a:solidFill>
            <a:prstDash val="solid"/>
          </a:ln>
        </p:spPr>
      </p:sp>
      <p:sp>
        <p:nvSpPr>
          <p:cNvPr id="37" name="Text 34"/>
          <p:cNvSpPr/>
          <p:nvPr/>
        </p:nvSpPr>
        <p:spPr>
          <a:xfrm>
            <a:off x="6789420" y="3090672"/>
            <a:ext cx="777240" cy="402336"/>
          </a:xfrm>
          <a:prstGeom prst="rect">
            <a:avLst/>
          </a:prstGeom>
          <a:solidFill>
            <a:srgbClr val="FFFFFF"/>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Bridge</a:t>
            </a:r>
            <a:endParaRPr lang="en-US" sz="1200" dirty="0"/>
          </a:p>
        </p:txBody>
      </p:sp>
      <p:sp>
        <p:nvSpPr>
          <p:cNvPr id="38" name="Text 35"/>
          <p:cNvSpPr/>
          <p:nvPr/>
        </p:nvSpPr>
        <p:spPr>
          <a:xfrm>
            <a:off x="7004304" y="261518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F</a:t>
            </a:r>
            <a:endParaRPr lang="en-US" sz="1200" dirty="0"/>
          </a:p>
        </p:txBody>
      </p:sp>
      <p:sp>
        <p:nvSpPr>
          <p:cNvPr id="39" name="Shape 36"/>
          <p:cNvSpPr/>
          <p:nvPr/>
        </p:nvSpPr>
        <p:spPr>
          <a:xfrm>
            <a:off x="7571232" y="3291840"/>
            <a:ext cx="2121408" cy="914"/>
          </a:xfrm>
          <a:prstGeom prst="line">
            <a:avLst/>
          </a:prstGeom>
          <a:noFill/>
          <a:ln w="25400">
            <a:solidFill>
              <a:srgbClr val="494985"/>
            </a:solidFill>
            <a:prstDash val="solid"/>
          </a:ln>
        </p:spPr>
      </p:sp>
      <p:sp>
        <p:nvSpPr>
          <p:cNvPr id="40" name="Text 37"/>
          <p:cNvSpPr/>
          <p:nvPr/>
        </p:nvSpPr>
        <p:spPr>
          <a:xfrm>
            <a:off x="7795260" y="3090672"/>
            <a:ext cx="868680" cy="402336"/>
          </a:xfrm>
          <a:prstGeom prst="rect">
            <a:avLst/>
          </a:prstGeom>
          <a:solidFill>
            <a:srgbClr val="FFFFFF"/>
          </a:solidFill>
          <a:ln w="15875">
            <a:solidFill>
              <a:srgbClr val="494985"/>
            </a:solidFill>
          </a:ln>
        </p:spPr>
        <p:txBody>
          <a:bodyPr wrap="square" lIns="0" tIns="0" rIns="0" bIns="0" rtlCol="0" anchor="ctr"/>
          <a:lstStyle/>
          <a:p>
            <a:pPr algn="ctr" indent="0" marL="0">
              <a:buNone/>
            </a:pPr>
            <a:r>
              <a:rPr lang="en-US" sz="1050" b="1" dirty="0">
                <a:solidFill>
                  <a:srgbClr val="202124"/>
                </a:solidFill>
                <a:latin typeface="Quicksand" pitchFamily="34" charset="0"/>
                <a:ea typeface="Quicksand" pitchFamily="34" charset="-122"/>
                <a:cs typeface="Quicksand" pitchFamily="34" charset="-120"/>
              </a:rPr>
              <a:t>Repeater</a:t>
            </a:r>
            <a:endParaRPr lang="en-US" sz="1050" dirty="0"/>
          </a:p>
        </p:txBody>
      </p:sp>
      <p:sp>
        <p:nvSpPr>
          <p:cNvPr id="41" name="Text 38"/>
          <p:cNvSpPr/>
          <p:nvPr/>
        </p:nvSpPr>
        <p:spPr>
          <a:xfrm>
            <a:off x="8055864" y="362102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G</a:t>
            </a:r>
            <a:endParaRPr lang="en-US" sz="1200" dirty="0"/>
          </a:p>
        </p:txBody>
      </p:sp>
      <p:sp>
        <p:nvSpPr>
          <p:cNvPr id="42" name="Text 39"/>
          <p:cNvSpPr txBox="1"/>
          <p:nvPr/>
        </p:nvSpPr>
        <p:spPr>
          <a:xfrm>
            <a:off x="6766560" y="3886200"/>
            <a:ext cx="1280160" cy="274320"/>
          </a:xfrm>
          <a:prstGeom prst="rect">
            <a:avLst/>
          </a:prstGeom>
          <a:noFill/>
          <a:ln/>
        </p:spPr>
        <p:txBody>
          <a:bodyPr wrap="square" lIns="0" tIns="0" rIns="0" bIns="0" rtlCol="0" anchor="ctr"/>
          <a:lstStyle/>
          <a:p>
            <a:pPr algn="ctr" indent="0" marL="0">
              <a:buNone/>
            </a:pPr>
            <a:r>
              <a:rPr lang="en-US" sz="1000" i="1" dirty="0">
                <a:solidFill>
                  <a:srgbClr val="666666"/>
                </a:solidFill>
                <a:latin typeface="Quicksand" pitchFamily="34" charset="0"/>
                <a:ea typeface="Quicksand" pitchFamily="34" charset="-122"/>
                <a:cs typeface="Quicksand" pitchFamily="34" charset="-120"/>
              </a:rPr>
              <a:t>150 m cable</a:t>
            </a:r>
            <a:endParaRPr lang="en-US" sz="1000" dirty="0"/>
          </a:p>
        </p:txBody>
      </p:sp>
      <p:sp>
        <p:nvSpPr>
          <p:cNvPr id="43" name="Text 40"/>
          <p:cNvSpPr/>
          <p:nvPr/>
        </p:nvSpPr>
        <p:spPr>
          <a:xfrm>
            <a:off x="9624060" y="3090672"/>
            <a:ext cx="868680" cy="402336"/>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200" b="1" dirty="0">
                <a:solidFill>
                  <a:srgbClr val="202124"/>
                </a:solidFill>
                <a:latin typeface="Quicksand" pitchFamily="34" charset="0"/>
                <a:ea typeface="Quicksand" pitchFamily="34" charset="-122"/>
                <a:cs typeface="Quicksand" pitchFamily="34" charset="-120"/>
              </a:rPr>
              <a:t>Switch</a:t>
            </a:r>
            <a:endParaRPr lang="en-US" sz="1200" dirty="0"/>
          </a:p>
        </p:txBody>
      </p:sp>
      <p:sp>
        <p:nvSpPr>
          <p:cNvPr id="44" name="Shape 41"/>
          <p:cNvSpPr/>
          <p:nvPr/>
        </p:nvSpPr>
        <p:spPr>
          <a:xfrm flipH="1">
            <a:off x="9418320" y="3493008"/>
            <a:ext cx="640080" cy="987552"/>
          </a:xfrm>
          <a:prstGeom prst="line">
            <a:avLst/>
          </a:prstGeom>
          <a:noFill/>
          <a:ln w="19050">
            <a:solidFill>
              <a:srgbClr val="7A7AA0"/>
            </a:solidFill>
            <a:prstDash val="solid"/>
          </a:ln>
        </p:spPr>
      </p:sp>
      <p:sp>
        <p:nvSpPr>
          <p:cNvPr id="45" name="Shape 42"/>
          <p:cNvSpPr/>
          <p:nvPr/>
        </p:nvSpPr>
        <p:spPr>
          <a:xfrm>
            <a:off x="10058400" y="3493008"/>
            <a:ext cx="640080" cy="987552"/>
          </a:xfrm>
          <a:prstGeom prst="line">
            <a:avLst/>
          </a:prstGeom>
          <a:noFill/>
          <a:ln w="19050">
            <a:solidFill>
              <a:srgbClr val="7A7AA0"/>
            </a:solidFill>
            <a:prstDash val="solid"/>
          </a:ln>
        </p:spPr>
      </p:sp>
      <p:sp>
        <p:nvSpPr>
          <p:cNvPr id="46" name="Shape 43"/>
          <p:cNvSpPr/>
          <p:nvPr/>
        </p:nvSpPr>
        <p:spPr>
          <a:xfrm flipV="1">
            <a:off x="10058400" y="2286000"/>
            <a:ext cx="914" cy="804672"/>
          </a:xfrm>
          <a:prstGeom prst="line">
            <a:avLst/>
          </a:prstGeom>
          <a:noFill/>
          <a:ln w="19050">
            <a:solidFill>
              <a:srgbClr val="7A7AA0"/>
            </a:solidFill>
            <a:prstDash val="solid"/>
          </a:ln>
        </p:spPr>
      </p:sp>
      <p:sp>
        <p:nvSpPr>
          <p:cNvPr id="47" name="Text 44"/>
          <p:cNvSpPr/>
          <p:nvPr/>
        </p:nvSpPr>
        <p:spPr>
          <a:xfrm>
            <a:off x="9098280" y="4471416"/>
            <a:ext cx="640080"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a:t>
            </a:r>
            <a:endParaRPr lang="en-US" sz="1100" dirty="0"/>
          </a:p>
        </p:txBody>
      </p:sp>
      <p:sp>
        <p:nvSpPr>
          <p:cNvPr id="48" name="Text 45"/>
          <p:cNvSpPr/>
          <p:nvPr/>
        </p:nvSpPr>
        <p:spPr>
          <a:xfrm>
            <a:off x="10378440" y="4471416"/>
            <a:ext cx="640080"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a:t>
            </a:r>
            <a:endParaRPr lang="en-US" sz="1100" dirty="0"/>
          </a:p>
        </p:txBody>
      </p:sp>
      <p:sp>
        <p:nvSpPr>
          <p:cNvPr id="49" name="Text 46"/>
          <p:cNvSpPr/>
          <p:nvPr/>
        </p:nvSpPr>
        <p:spPr>
          <a:xfrm>
            <a:off x="9738360" y="1911096"/>
            <a:ext cx="640080" cy="384048"/>
          </a:xfrm>
          <a:prstGeom prst="roundRect">
            <a:avLst>
              <a:gd name="adj" fmla="val 14286"/>
            </a:avLst>
          </a:prstGeom>
          <a:solidFill>
            <a:srgbClr val="E9E8F5"/>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PC</a:t>
            </a:r>
            <a:endParaRPr lang="en-US" sz="1100" dirty="0"/>
          </a:p>
        </p:txBody>
      </p:sp>
      <p:sp>
        <p:nvSpPr>
          <p:cNvPr id="50" name="Text 47"/>
          <p:cNvSpPr txBox="1"/>
          <p:nvPr/>
        </p:nvSpPr>
        <p:spPr>
          <a:xfrm>
            <a:off x="548640" y="5715000"/>
            <a:ext cx="11064240" cy="274320"/>
          </a:xfrm>
          <a:prstGeom prst="rect">
            <a:avLst/>
          </a:prstGeom>
          <a:noFill/>
          <a:ln/>
        </p:spPr>
        <p:txBody>
          <a:bodyPr wrap="square" lIns="0" tIns="0" rIns="0" bIns="0" rtlCol="0" anchor="ctr"/>
          <a:lstStyle/>
          <a:p>
            <a:pPr algn="ctr" indent="0" marL="0">
              <a:buNone/>
            </a:pPr>
            <a:r>
              <a:rPr lang="en-US" sz="1250" i="1" dirty="0">
                <a:solidFill>
                  <a:srgbClr val="494985"/>
                </a:solidFill>
                <a:latin typeface="Quicksand" pitchFamily="34" charset="0"/>
                <a:ea typeface="Quicksand" pitchFamily="34" charset="-122"/>
                <a:cs typeface="Quicksand" pitchFamily="34" charset="-120"/>
              </a:rPr>
              <a:t>D = WNIC inside each laptop.  E = NIC inside each PC.  G boosts the signal on the 150 m link.  F joins two segments of the same LAN.</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Exam focus: the router</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Exam focus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19</a:t>
            </a:r>
            <a:endParaRPr lang="en-US" sz="1350" dirty="0"/>
          </a:p>
        </p:txBody>
      </p:sp>
      <p:sp>
        <p:nvSpPr>
          <p:cNvPr id="7" name="Text 4"/>
          <p:cNvSpPr txBox="1"/>
          <p:nvPr/>
        </p:nvSpPr>
        <p:spPr>
          <a:xfrm>
            <a:off x="777240" y="1234440"/>
            <a:ext cx="10698480" cy="640080"/>
          </a:xfrm>
          <a:prstGeom prst="rect">
            <a:avLst/>
          </a:prstGeom>
          <a:noFill/>
          <a:ln/>
        </p:spPr>
        <p:txBody>
          <a:bodyPr wrap="square" lIns="0" tIns="0" rIns="0" bIns="0" rtlCol="0" anchor="t"/>
          <a:lstStyle/>
          <a:p>
            <a:pPr indent="0" marL="0">
              <a:spcAft>
                <a:spcPts val="600"/>
              </a:spcAft>
              <a:buNone/>
            </a:pPr>
            <a:r>
              <a:rPr lang="en-US" sz="1500" b="1" dirty="0">
                <a:solidFill>
                  <a:srgbClr val="494985"/>
                </a:solidFill>
                <a:latin typeface="Quicksand" pitchFamily="34" charset="0"/>
                <a:ea typeface="Quicksand" pitchFamily="34" charset="-122"/>
                <a:cs typeface="Quicksand" pitchFamily="34" charset="-120"/>
              </a:rPr>
              <a:t>9618/11 Oct/Nov 2023 Q2(a)   </a:t>
            </a:r>
            <a:pPr indent="0" marL="0">
              <a:spcAft>
                <a:spcPts val="600"/>
              </a:spcAft>
              <a:buNone/>
            </a:pPr>
            <a:r>
              <a:rPr lang="en-US" sz="1500" dirty="0">
                <a:solidFill>
                  <a:srgbClr val="202124"/>
                </a:solidFill>
                <a:latin typeface="Quicksand" pitchFamily="34" charset="0"/>
                <a:ea typeface="Quicksand" pitchFamily="34" charset="-122"/>
                <a:cs typeface="Quicksand" pitchFamily="34" charset="-120"/>
              </a:rPr>
              <a:t>A school has a LAN. The LAN connects to the internet using a router. Describe the function of a router in a network.  [3]</a:t>
            </a:r>
            <a:endParaRPr lang="en-US" sz="15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77240" y="1965960"/>
          <a:ext cx="10698480" cy="914400"/>
        </p:xfrm>
        <a:graphic>
          <a:graphicData uri="http://schemas.openxmlformats.org/drawingml/2006/table">
            <a:tbl>
              <a:tblPr/>
              <a:tblGrid>
                <a:gridCol w="5349240"/>
                <a:gridCol w="5349240"/>
              </a:tblGrid>
              <a:tr h="457200">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Official marking points (any 3)</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5720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Receives packets from the internet / external network</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Analyses the destination IP address of each packet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Forwards the packet towards its destination...</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 using the routing table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Maintains / updates the routing table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Finds the most efficient route to the destination</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Allocates private IP addresses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NAT: lets many devices share one public IP</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Implements a firewall</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Changes the packet format for the next network</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9" name="Shape 5"/>
          <p:cNvSpPr/>
          <p:nvPr/>
        </p:nvSpPr>
        <p:spPr>
          <a:xfrm>
            <a:off x="777240" y="4846320"/>
            <a:ext cx="5212080" cy="1097280"/>
          </a:xfrm>
          <a:prstGeom prst="rect">
            <a:avLst/>
          </a:prstGeom>
          <a:solidFill>
            <a:srgbClr val="F6F5FC"/>
          </a:solidFill>
          <a:ln w="12700">
            <a:solidFill>
              <a:srgbClr val="F6F5FC"/>
            </a:solidFill>
            <a:prstDash val="solid"/>
          </a:ln>
        </p:spPr>
      </p:sp>
      <p:sp>
        <p:nvSpPr>
          <p:cNvPr id="10" name="Shape 6"/>
          <p:cNvSpPr/>
          <p:nvPr/>
        </p:nvSpPr>
        <p:spPr>
          <a:xfrm>
            <a:off x="777240" y="4846320"/>
            <a:ext cx="73152" cy="1097280"/>
          </a:xfrm>
          <a:prstGeom prst="rect">
            <a:avLst/>
          </a:prstGeom>
          <a:solidFill>
            <a:srgbClr val="B3261E"/>
          </a:solidFill>
          <a:ln w="12700">
            <a:solidFill>
              <a:srgbClr val="B3261E"/>
            </a:solidFill>
            <a:prstDash val="solid"/>
          </a:ln>
        </p:spPr>
      </p:sp>
      <p:sp>
        <p:nvSpPr>
          <p:cNvPr id="11" name="Text 7"/>
          <p:cNvSpPr txBox="1"/>
          <p:nvPr/>
        </p:nvSpPr>
        <p:spPr>
          <a:xfrm>
            <a:off x="1005840" y="4937760"/>
            <a:ext cx="4846320" cy="347472"/>
          </a:xfrm>
          <a:prstGeom prst="rect">
            <a:avLst/>
          </a:prstGeom>
          <a:noFill/>
          <a:ln/>
        </p:spPr>
        <p:txBody>
          <a:bodyPr wrap="square" lIns="0" tIns="0" rIns="0" bIns="0" rtlCol="0" anchor="ctr"/>
          <a:lstStyle/>
          <a:p>
            <a:pPr indent="0" marL="0">
              <a:buNone/>
            </a:pPr>
            <a:r>
              <a:rPr lang="en-US" sz="1500" b="1" dirty="0">
                <a:solidFill>
                  <a:srgbClr val="B3261E"/>
                </a:solidFill>
                <a:latin typeface="Quicksand" pitchFamily="34" charset="0"/>
                <a:ea typeface="Quicksand" pitchFamily="34" charset="-122"/>
                <a:cs typeface="Quicksand" pitchFamily="34" charset="-120"/>
              </a:rPr>
              <a:t>No marks</a:t>
            </a:r>
            <a:endParaRPr lang="en-US" sz="1500" dirty="0"/>
          </a:p>
        </p:txBody>
      </p:sp>
      <p:sp>
        <p:nvSpPr>
          <p:cNvPr id="12" name="Text 8"/>
          <p:cNvSpPr txBox="1"/>
          <p:nvPr/>
        </p:nvSpPr>
        <p:spPr>
          <a:xfrm>
            <a:off x="1005840" y="5349240"/>
            <a:ext cx="4846320" cy="502920"/>
          </a:xfrm>
          <a:prstGeom prst="rect">
            <a:avLst/>
          </a:prstGeom>
          <a:noFill/>
          <a:ln/>
        </p:spPr>
        <p:txBody>
          <a:bodyPr wrap="square" lIns="0" tIns="0" rIns="0" bIns="0" rtlCol="0" anchor="t"/>
          <a:lstStyle/>
          <a:p>
            <a:pPr indent="0" marL="0">
              <a:spcAft>
                <a:spcPts val="600"/>
              </a:spcAft>
              <a:buNone/>
            </a:pPr>
            <a:r>
              <a:rPr lang="en-US" sz="1300" dirty="0">
                <a:solidFill>
                  <a:srgbClr val="202124"/>
                </a:solidFill>
                <a:latin typeface="Quicksand" pitchFamily="34" charset="0"/>
                <a:ea typeface="Quicksand" pitchFamily="34" charset="-122"/>
                <a:cs typeface="Quicksand" pitchFamily="34" charset="-120"/>
              </a:rPr>
              <a:t>"It connects the school to the internet" - this is already in the question.</a:t>
            </a:r>
            <a:endParaRPr lang="en-US" sz="1300" dirty="0"/>
          </a:p>
        </p:txBody>
      </p:sp>
      <p:sp>
        <p:nvSpPr>
          <p:cNvPr id="13" name="Shape 9"/>
          <p:cNvSpPr/>
          <p:nvPr/>
        </p:nvSpPr>
        <p:spPr>
          <a:xfrm>
            <a:off x="6263640" y="4846320"/>
            <a:ext cx="5212080" cy="1097280"/>
          </a:xfrm>
          <a:prstGeom prst="rect">
            <a:avLst/>
          </a:prstGeom>
          <a:solidFill>
            <a:srgbClr val="F6F5FC"/>
          </a:solidFill>
          <a:ln w="12700">
            <a:solidFill>
              <a:srgbClr val="F6F5FC"/>
            </a:solidFill>
            <a:prstDash val="solid"/>
          </a:ln>
        </p:spPr>
      </p:sp>
      <p:sp>
        <p:nvSpPr>
          <p:cNvPr id="14" name="Shape 10"/>
          <p:cNvSpPr/>
          <p:nvPr/>
        </p:nvSpPr>
        <p:spPr>
          <a:xfrm>
            <a:off x="6263640" y="4846320"/>
            <a:ext cx="73152" cy="1097280"/>
          </a:xfrm>
          <a:prstGeom prst="rect">
            <a:avLst/>
          </a:prstGeom>
          <a:solidFill>
            <a:srgbClr val="2E7D5B"/>
          </a:solidFill>
          <a:ln w="12700">
            <a:solidFill>
              <a:srgbClr val="2E7D5B"/>
            </a:solidFill>
            <a:prstDash val="solid"/>
          </a:ln>
        </p:spPr>
      </p:sp>
      <p:sp>
        <p:nvSpPr>
          <p:cNvPr id="15" name="Text 11"/>
          <p:cNvSpPr txBox="1"/>
          <p:nvPr/>
        </p:nvSpPr>
        <p:spPr>
          <a:xfrm>
            <a:off x="6492240" y="4937760"/>
            <a:ext cx="4846320" cy="347472"/>
          </a:xfrm>
          <a:prstGeom prst="rect">
            <a:avLst/>
          </a:prstGeom>
          <a:noFill/>
          <a:ln/>
        </p:spPr>
        <p:txBody>
          <a:bodyPr wrap="square" lIns="0" tIns="0" rIns="0" bIns="0" rtlCol="0" anchor="ctr"/>
          <a:lstStyle/>
          <a:p>
            <a:pPr indent="0" marL="0">
              <a:buNone/>
            </a:pPr>
            <a:r>
              <a:rPr lang="en-US" sz="1500" b="1" dirty="0">
                <a:solidFill>
                  <a:srgbClr val="2E7D5B"/>
                </a:solidFill>
                <a:latin typeface="Quicksand" pitchFamily="34" charset="0"/>
                <a:ea typeface="Quicksand" pitchFamily="34" charset="-122"/>
                <a:cs typeface="Quicksand" pitchFamily="34" charset="-120"/>
              </a:rPr>
              <a:t>Full marks</a:t>
            </a:r>
            <a:endParaRPr lang="en-US" sz="1500" dirty="0"/>
          </a:p>
        </p:txBody>
      </p:sp>
      <p:sp>
        <p:nvSpPr>
          <p:cNvPr id="16" name="Text 12"/>
          <p:cNvSpPr txBox="1"/>
          <p:nvPr/>
        </p:nvSpPr>
        <p:spPr>
          <a:xfrm>
            <a:off x="6492240" y="5349240"/>
            <a:ext cx="4846320" cy="502920"/>
          </a:xfrm>
          <a:prstGeom prst="rect">
            <a:avLst/>
          </a:prstGeom>
          <a:noFill/>
          <a:ln/>
        </p:spPr>
        <p:txBody>
          <a:bodyPr wrap="square" lIns="0" tIns="0" rIns="0" bIns="0" rtlCol="0" anchor="t"/>
          <a:lstStyle/>
          <a:p>
            <a:pPr indent="0" marL="0">
              <a:spcAft>
                <a:spcPts val="600"/>
              </a:spcAft>
              <a:buNone/>
            </a:pPr>
            <a:r>
              <a:rPr lang="en-US" sz="1300" dirty="0">
                <a:solidFill>
                  <a:srgbClr val="202124"/>
                </a:solidFill>
                <a:latin typeface="Quicksand" pitchFamily="34" charset="0"/>
                <a:ea typeface="Quicksand" pitchFamily="34" charset="-122"/>
                <a:cs typeface="Quicksand" pitchFamily="34" charset="-120"/>
              </a:rPr>
              <a:t>"It receives packets, reads each destination IP address and forwards them using its routing table."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Exam focus: describing a device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Exam focus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20</a:t>
            </a:r>
            <a:endParaRPr lang="en-US" sz="13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77240" y="1280160"/>
          <a:ext cx="10698480" cy="914400"/>
        </p:xfrm>
        <a:graphic>
          <a:graphicData uri="http://schemas.openxmlformats.org/drawingml/2006/table">
            <a:tbl>
              <a:tblPr/>
              <a:tblGrid>
                <a:gridCol w="1554480"/>
                <a:gridCol w="9144000"/>
              </a:tblGrid>
              <a:tr h="512064">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Device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Credited purpose (official wording, shortened)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12064">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Switch</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Receives transmissions and forwards them to their destination // connects devices so they can communicate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12064">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WAP</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Allows wireless-enabled devices to connect to a wired network using radio signals / Wi-Fi</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12064">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Bridge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Connects two LANs / segments that use the same protocol</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12064">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Repeater</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Restores the digital signal so it can be transmitted over greater distances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12064">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WNIC</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Allows a device to connect to a wireless network // provides a MAC address to identify it on the network</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8" name="Shape 4"/>
          <p:cNvSpPr/>
          <p:nvPr/>
        </p:nvSpPr>
        <p:spPr>
          <a:xfrm>
            <a:off x="777240" y="4572000"/>
            <a:ext cx="3474720" cy="1280160"/>
          </a:xfrm>
          <a:prstGeom prst="rect">
            <a:avLst/>
          </a:prstGeom>
          <a:solidFill>
            <a:srgbClr val="F6F5FC"/>
          </a:solidFill>
          <a:ln w="12700">
            <a:solidFill>
              <a:srgbClr val="F6F5FC"/>
            </a:solidFill>
            <a:prstDash val="solid"/>
          </a:ln>
        </p:spPr>
      </p:sp>
      <p:sp>
        <p:nvSpPr>
          <p:cNvPr id="9" name="Text 5"/>
          <p:cNvSpPr/>
          <p:nvPr/>
        </p:nvSpPr>
        <p:spPr>
          <a:xfrm>
            <a:off x="914400" y="47091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0" name="Text 6"/>
          <p:cNvSpPr txBox="1"/>
          <p:nvPr/>
        </p:nvSpPr>
        <p:spPr>
          <a:xfrm>
            <a:off x="1435608" y="4681728"/>
            <a:ext cx="2697480" cy="411480"/>
          </a:xfrm>
          <a:prstGeom prst="rect">
            <a:avLst/>
          </a:prstGeom>
          <a:noFill/>
          <a:ln/>
        </p:spPr>
        <p:txBody>
          <a:bodyPr wrap="square" lIns="0" tIns="0" rIns="0" bIns="0" rtlCol="0" anchor="ctr"/>
          <a:lstStyle/>
          <a:p>
            <a:pPr indent="0" marL="0">
              <a:buNone/>
            </a:pPr>
            <a:r>
              <a:rPr lang="en-US" sz="1400" b="1" dirty="0">
                <a:solidFill>
                  <a:srgbClr val="202124"/>
                </a:solidFill>
                <a:latin typeface="Quicksand" pitchFamily="34" charset="0"/>
                <a:ea typeface="Quicksand" pitchFamily="34" charset="-122"/>
                <a:cs typeface="Quicksand" pitchFamily="34" charset="-120"/>
              </a:rPr>
              <a:t>Don't expand the acronym</a:t>
            </a:r>
            <a:endParaRPr lang="en-US" sz="1400" dirty="0"/>
          </a:p>
        </p:txBody>
      </p:sp>
      <p:sp>
        <p:nvSpPr>
          <p:cNvPr id="11" name="Text 7"/>
          <p:cNvSpPr txBox="1"/>
          <p:nvPr/>
        </p:nvSpPr>
        <p:spPr>
          <a:xfrm>
            <a:off x="1435608" y="5074920"/>
            <a:ext cx="2697480" cy="71323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Say what the device DOES and how</a:t>
            </a:r>
            <a:endParaRPr lang="en-US" sz="1250" dirty="0"/>
          </a:p>
        </p:txBody>
      </p:sp>
      <p:sp>
        <p:nvSpPr>
          <p:cNvPr id="12" name="Shape 8"/>
          <p:cNvSpPr/>
          <p:nvPr/>
        </p:nvSpPr>
        <p:spPr>
          <a:xfrm>
            <a:off x="4389120" y="4572000"/>
            <a:ext cx="3474720" cy="1280160"/>
          </a:xfrm>
          <a:prstGeom prst="rect">
            <a:avLst/>
          </a:prstGeom>
          <a:solidFill>
            <a:srgbClr val="F6F5FC"/>
          </a:solidFill>
          <a:ln w="12700">
            <a:solidFill>
              <a:srgbClr val="F6F5FC"/>
            </a:solidFill>
            <a:prstDash val="solid"/>
          </a:ln>
        </p:spPr>
      </p:sp>
      <p:sp>
        <p:nvSpPr>
          <p:cNvPr id="13" name="Text 9"/>
          <p:cNvSpPr/>
          <p:nvPr/>
        </p:nvSpPr>
        <p:spPr>
          <a:xfrm>
            <a:off x="4526280" y="47091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4" name="Text 10"/>
          <p:cNvSpPr txBox="1"/>
          <p:nvPr/>
        </p:nvSpPr>
        <p:spPr>
          <a:xfrm>
            <a:off x="5047488" y="4681728"/>
            <a:ext cx="2697480" cy="411480"/>
          </a:xfrm>
          <a:prstGeom prst="rect">
            <a:avLst/>
          </a:prstGeom>
          <a:noFill/>
          <a:ln/>
        </p:spPr>
        <p:txBody>
          <a:bodyPr wrap="square" lIns="0" tIns="0" rIns="0" bIns="0" rtlCol="0" anchor="ctr"/>
          <a:lstStyle/>
          <a:p>
            <a:pPr indent="0" marL="0">
              <a:buNone/>
            </a:pPr>
            <a:r>
              <a:rPr lang="en-US" sz="1400" b="1" dirty="0">
                <a:solidFill>
                  <a:srgbClr val="202124"/>
                </a:solidFill>
                <a:latin typeface="Quicksand" pitchFamily="34" charset="0"/>
                <a:ea typeface="Quicksand" pitchFamily="34" charset="-122"/>
                <a:cs typeface="Quicksand" pitchFamily="34" charset="-120"/>
              </a:rPr>
              <a:t>Use the key nouns</a:t>
            </a:r>
            <a:endParaRPr lang="en-US" sz="1400" dirty="0"/>
          </a:p>
        </p:txBody>
      </p:sp>
      <p:sp>
        <p:nvSpPr>
          <p:cNvPr id="15" name="Text 11"/>
          <p:cNvSpPr txBox="1"/>
          <p:nvPr/>
        </p:nvSpPr>
        <p:spPr>
          <a:xfrm>
            <a:off x="5047488" y="5074920"/>
            <a:ext cx="2697480" cy="71323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packets, MAC / IP address, protocol, radio waves</a:t>
            </a:r>
            <a:endParaRPr lang="en-US" sz="1250" dirty="0"/>
          </a:p>
        </p:txBody>
      </p:sp>
      <p:sp>
        <p:nvSpPr>
          <p:cNvPr id="16" name="Shape 12"/>
          <p:cNvSpPr/>
          <p:nvPr/>
        </p:nvSpPr>
        <p:spPr>
          <a:xfrm>
            <a:off x="8001000" y="4572000"/>
            <a:ext cx="3474720" cy="1280160"/>
          </a:xfrm>
          <a:prstGeom prst="rect">
            <a:avLst/>
          </a:prstGeom>
          <a:solidFill>
            <a:srgbClr val="F6F5FC"/>
          </a:solidFill>
          <a:ln w="12700">
            <a:solidFill>
              <a:srgbClr val="F6F5FC"/>
            </a:solidFill>
            <a:prstDash val="solid"/>
          </a:ln>
        </p:spPr>
      </p:sp>
      <p:sp>
        <p:nvSpPr>
          <p:cNvPr id="17" name="Text 13"/>
          <p:cNvSpPr/>
          <p:nvPr/>
        </p:nvSpPr>
        <p:spPr>
          <a:xfrm>
            <a:off x="8138160" y="47091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8" name="Text 14"/>
          <p:cNvSpPr txBox="1"/>
          <p:nvPr/>
        </p:nvSpPr>
        <p:spPr>
          <a:xfrm>
            <a:off x="8659368" y="4681728"/>
            <a:ext cx="2697480" cy="411480"/>
          </a:xfrm>
          <a:prstGeom prst="rect">
            <a:avLst/>
          </a:prstGeom>
          <a:noFill/>
          <a:ln/>
        </p:spPr>
        <p:txBody>
          <a:bodyPr wrap="square" lIns="0" tIns="0" rIns="0" bIns="0" rtlCol="0" anchor="ctr"/>
          <a:lstStyle/>
          <a:p>
            <a:pPr indent="0" marL="0">
              <a:buNone/>
            </a:pPr>
            <a:r>
              <a:rPr lang="en-US" sz="1400" b="1" dirty="0">
                <a:solidFill>
                  <a:srgbClr val="202124"/>
                </a:solidFill>
                <a:latin typeface="Quicksand" pitchFamily="34" charset="0"/>
                <a:ea typeface="Quicksand" pitchFamily="34" charset="-122"/>
                <a:cs typeface="Quicksand" pitchFamily="34" charset="-120"/>
              </a:rPr>
              <a:t>Don't repeat the stem</a:t>
            </a:r>
            <a:endParaRPr lang="en-US" sz="1400" dirty="0"/>
          </a:p>
        </p:txBody>
      </p:sp>
      <p:sp>
        <p:nvSpPr>
          <p:cNvPr id="19" name="Text 15"/>
          <p:cNvSpPr txBox="1"/>
          <p:nvPr/>
        </p:nvSpPr>
        <p:spPr>
          <a:xfrm>
            <a:off x="8659368" y="5074920"/>
            <a:ext cx="2697480" cy="71323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If the question says it connects to the internet, that earns nothing</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Guided practice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7</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21</a:t>
            </a:r>
            <a:endParaRPr lang="en-US" sz="13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77240" y="1280160"/>
          <a:ext cx="10698480" cy="914400"/>
        </p:xfrm>
        <a:graphic>
          <a:graphicData uri="http://schemas.openxmlformats.org/drawingml/2006/table">
            <a:tbl>
              <a:tblPr/>
              <a:tblGrid>
                <a:gridCol w="3108960"/>
                <a:gridCol w="6583680"/>
                <a:gridCol w="1005840"/>
              </a:tblGrid>
              <a:tr h="530352">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Task</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What you do</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Marks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30352">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  Recall test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Wired and wireless - closed book</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10</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30352">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2  Identify</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Name devices A-H on the school LAN; match devices to descriptions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12</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30352">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3  Apply</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Router tick table; trace a packet through a hub and a switch; MAC or IP?</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10</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30352">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4  Exam questions: router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Real 9618 Paper 1 questions on the router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7</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30352">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5  Exam questions: LAN devices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Real 9618 Paper 1 questions on switch, WAP, bridge, WNIC</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12</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30352">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6  Extension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Draw a star network (9618/12 June 2025) and design a school network</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10</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777240" y="5257800"/>
            <a:ext cx="10698480" cy="45720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Check your work against the answer key when your teacher shares it.</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Common misconceptions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Plenary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22</a:t>
            </a:r>
            <a:endParaRPr lang="en-US" sz="13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77240" y="1234440"/>
          <a:ext cx="10698480" cy="914400"/>
        </p:xfrm>
        <a:graphic>
          <a:graphicData uri="http://schemas.openxmlformats.org/drawingml/2006/table">
            <a:tbl>
              <a:tblPr/>
              <a:tblGrid>
                <a:gridCol w="3840480"/>
                <a:gridCol w="6858000"/>
              </a:tblGrid>
              <a:tr h="548640">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Misconception</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Why it is wrong</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4864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 router connects devices to the internet" is enough</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Too vague - describe receiving packets, reading the destination IP and forwarding using a routing table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 switch sends data to every device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That is a hub. A switch reads the MAC address and sends only to the intended device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 WNIC gives a device its IP address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The NIC / WNIC holds the MAC address. The router (or ISP) gives the IP address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 WAP "provides wireless access"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Says nothing new. It connects wireless devices to the wired LAN using radio waves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 server connects the network together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 server provides services to clients. Switches connect devices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 bridge and a router do the same job</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 bridge joins LANs using the same protocol; a router joins different networks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 repeater speeds up the network</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It only restores a weakened signal so it can travel further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Exit question</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Plenary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23</a:t>
            </a:r>
            <a:endParaRPr lang="en-US" sz="1350" dirty="0"/>
          </a:p>
        </p:txBody>
      </p:sp>
      <p:sp>
        <p:nvSpPr>
          <p:cNvPr id="7" name="Text 4"/>
          <p:cNvSpPr txBox="1"/>
          <p:nvPr/>
        </p:nvSpPr>
        <p:spPr>
          <a:xfrm>
            <a:off x="777240" y="1325880"/>
            <a:ext cx="10698480" cy="457200"/>
          </a:xfrm>
          <a:prstGeom prst="rect">
            <a:avLst/>
          </a:prstGeom>
          <a:noFill/>
          <a:ln/>
        </p:spPr>
        <p:txBody>
          <a:bodyPr wrap="square" lIns="0" tIns="0" rIns="0" bIns="0" rtlCol="0" anchor="t"/>
          <a:lstStyle/>
          <a:p>
            <a:pPr indent="0" marL="0">
              <a:spcAft>
                <a:spcPts val="600"/>
              </a:spcAft>
              <a:buNone/>
            </a:pPr>
            <a:r>
              <a:rPr lang="en-US" sz="1800" b="1" dirty="0">
                <a:solidFill>
                  <a:srgbClr val="494985"/>
                </a:solidFill>
                <a:latin typeface="Quicksand" pitchFamily="34" charset="0"/>
                <a:ea typeface="Quicksand" pitchFamily="34" charset="-122"/>
                <a:cs typeface="Quicksand" pitchFamily="34" charset="-120"/>
              </a:rPr>
              <a:t>On a sticky note or mini-whiteboard:</a:t>
            </a:r>
            <a:endParaRPr lang="en-US" sz="1800" dirty="0"/>
          </a:p>
        </p:txBody>
      </p:sp>
      <p:sp>
        <p:nvSpPr>
          <p:cNvPr id="8" name="Shape 5"/>
          <p:cNvSpPr/>
          <p:nvPr/>
        </p:nvSpPr>
        <p:spPr>
          <a:xfrm>
            <a:off x="777240" y="1965960"/>
            <a:ext cx="10698480" cy="1188720"/>
          </a:xfrm>
          <a:prstGeom prst="rect">
            <a:avLst/>
          </a:prstGeom>
          <a:solidFill>
            <a:srgbClr val="F6F5FC"/>
          </a:solidFill>
          <a:ln w="12700">
            <a:solidFill>
              <a:srgbClr val="F6F5FC"/>
            </a:solidFill>
            <a:prstDash val="solid"/>
          </a:ln>
        </p:spPr>
      </p:sp>
      <p:sp>
        <p:nvSpPr>
          <p:cNvPr id="9" name="Text 6"/>
          <p:cNvSpPr/>
          <p:nvPr/>
        </p:nvSpPr>
        <p:spPr>
          <a:xfrm>
            <a:off x="914400" y="21031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a</a:t>
            </a:r>
            <a:endParaRPr lang="en-US" sz="1400" dirty="0"/>
          </a:p>
        </p:txBody>
      </p:sp>
      <p:sp>
        <p:nvSpPr>
          <p:cNvPr id="10" name="Text 7"/>
          <p:cNvSpPr txBox="1"/>
          <p:nvPr/>
        </p:nvSpPr>
        <p:spPr>
          <a:xfrm>
            <a:off x="1435608" y="2075688"/>
            <a:ext cx="9921240" cy="411480"/>
          </a:xfrm>
          <a:prstGeom prst="rect">
            <a:avLst/>
          </a:prstGeom>
          <a:noFill/>
          <a:ln/>
        </p:spPr>
        <p:txBody>
          <a:bodyPr wrap="square" lIns="0" tIns="0" rIns="0" bIns="0" rtlCol="0" anchor="ctr"/>
          <a:lstStyle/>
          <a:p>
            <a:pPr indent="0" marL="0">
              <a:buNone/>
            </a:pPr>
            <a:r>
              <a:rPr lang="en-US" sz="1700" b="1" dirty="0">
                <a:solidFill>
                  <a:srgbClr val="202124"/>
                </a:solidFill>
                <a:latin typeface="Quicksand" pitchFamily="34" charset="0"/>
                <a:ea typeface="Quicksand" pitchFamily="34" charset="-122"/>
                <a:cs typeface="Quicksand" pitchFamily="34" charset="-120"/>
              </a:rPr>
              <a:t>Switch vs hub</a:t>
            </a:r>
            <a:endParaRPr lang="en-US" sz="1700" dirty="0"/>
          </a:p>
        </p:txBody>
      </p:sp>
      <p:sp>
        <p:nvSpPr>
          <p:cNvPr id="11" name="Text 8"/>
          <p:cNvSpPr txBox="1"/>
          <p:nvPr/>
        </p:nvSpPr>
        <p:spPr>
          <a:xfrm>
            <a:off x="1435608" y="2468880"/>
            <a:ext cx="9921240" cy="621792"/>
          </a:xfrm>
          <a:prstGeom prst="rect">
            <a:avLst/>
          </a:prstGeom>
          <a:noFill/>
          <a:ln/>
        </p:spPr>
        <p:txBody>
          <a:bodyPr wrap="square" lIns="0" tIns="0" rIns="0" bIns="0" rtlCol="0" anchor="t"/>
          <a:lstStyle/>
          <a:p>
            <a:pPr indent="0" marL="0">
              <a:buNone/>
            </a:pPr>
            <a:r>
              <a:rPr lang="en-US" sz="1500" dirty="0">
                <a:solidFill>
                  <a:srgbClr val="202124"/>
                </a:solidFill>
                <a:latin typeface="Quicksand" pitchFamily="34" charset="0"/>
                <a:ea typeface="Quicksand" pitchFamily="34" charset="-122"/>
                <a:cs typeface="Quicksand" pitchFamily="34" charset="-120"/>
              </a:rPr>
              <a:t>Explain why a school uses a switch rather than a hub to connect 30 computers.  [2]</a:t>
            </a:r>
            <a:endParaRPr lang="en-US" sz="1500" dirty="0"/>
          </a:p>
        </p:txBody>
      </p:sp>
      <p:sp>
        <p:nvSpPr>
          <p:cNvPr id="12" name="Shape 9"/>
          <p:cNvSpPr/>
          <p:nvPr/>
        </p:nvSpPr>
        <p:spPr>
          <a:xfrm>
            <a:off x="777240" y="3383280"/>
            <a:ext cx="10698480" cy="1188720"/>
          </a:xfrm>
          <a:prstGeom prst="rect">
            <a:avLst/>
          </a:prstGeom>
          <a:solidFill>
            <a:srgbClr val="F6F5FC"/>
          </a:solidFill>
          <a:ln w="12700">
            <a:solidFill>
              <a:srgbClr val="F6F5FC"/>
            </a:solidFill>
            <a:prstDash val="solid"/>
          </a:ln>
        </p:spPr>
      </p:sp>
      <p:sp>
        <p:nvSpPr>
          <p:cNvPr id="13" name="Text 10"/>
          <p:cNvSpPr/>
          <p:nvPr/>
        </p:nvSpPr>
        <p:spPr>
          <a:xfrm>
            <a:off x="914400" y="35204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b</a:t>
            </a:r>
            <a:endParaRPr lang="en-US" sz="1400" dirty="0"/>
          </a:p>
        </p:txBody>
      </p:sp>
      <p:sp>
        <p:nvSpPr>
          <p:cNvPr id="14" name="Text 11"/>
          <p:cNvSpPr txBox="1"/>
          <p:nvPr/>
        </p:nvSpPr>
        <p:spPr>
          <a:xfrm>
            <a:off x="1435608" y="3493008"/>
            <a:ext cx="9921240" cy="411480"/>
          </a:xfrm>
          <a:prstGeom prst="rect">
            <a:avLst/>
          </a:prstGeom>
          <a:noFill/>
          <a:ln/>
        </p:spPr>
        <p:txBody>
          <a:bodyPr wrap="square" lIns="0" tIns="0" rIns="0" bIns="0" rtlCol="0" anchor="ctr"/>
          <a:lstStyle/>
          <a:p>
            <a:pPr indent="0" marL="0">
              <a:buNone/>
            </a:pPr>
            <a:r>
              <a:rPr lang="en-US" sz="1700" b="1" dirty="0">
                <a:solidFill>
                  <a:srgbClr val="202124"/>
                </a:solidFill>
                <a:latin typeface="Quicksand" pitchFamily="34" charset="0"/>
                <a:ea typeface="Quicksand" pitchFamily="34" charset="-122"/>
                <a:cs typeface="Quicksand" pitchFamily="34" charset="-120"/>
              </a:rPr>
              <a:t>Bridge vs router</a:t>
            </a:r>
            <a:endParaRPr lang="en-US" sz="1700" dirty="0"/>
          </a:p>
        </p:txBody>
      </p:sp>
      <p:sp>
        <p:nvSpPr>
          <p:cNvPr id="15" name="Text 12"/>
          <p:cNvSpPr txBox="1"/>
          <p:nvPr/>
        </p:nvSpPr>
        <p:spPr>
          <a:xfrm>
            <a:off x="1435608" y="3886200"/>
            <a:ext cx="9921240" cy="621792"/>
          </a:xfrm>
          <a:prstGeom prst="rect">
            <a:avLst/>
          </a:prstGeom>
          <a:noFill/>
          <a:ln/>
        </p:spPr>
        <p:txBody>
          <a:bodyPr wrap="square" lIns="0" tIns="0" rIns="0" bIns="0" rtlCol="0" anchor="t"/>
          <a:lstStyle/>
          <a:p>
            <a:pPr indent="0" marL="0">
              <a:buNone/>
            </a:pPr>
            <a:r>
              <a:rPr lang="en-US" sz="1500" dirty="0">
                <a:solidFill>
                  <a:srgbClr val="202124"/>
                </a:solidFill>
                <a:latin typeface="Quicksand" pitchFamily="34" charset="0"/>
                <a:ea typeface="Quicksand" pitchFamily="34" charset="-122"/>
                <a:cs typeface="Quicksand" pitchFamily="34" charset="-120"/>
              </a:rPr>
              <a:t>State one difference between a bridge and a router.  [2]</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 this lesson, you</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Summary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24</a:t>
            </a:r>
            <a:endParaRPr lang="en-US" sz="1350" dirty="0"/>
          </a:p>
        </p:txBody>
      </p:sp>
      <p:sp>
        <p:nvSpPr>
          <p:cNvPr id="7" name="Text 4"/>
          <p:cNvSpPr txBox="1"/>
          <p:nvPr/>
        </p:nvSpPr>
        <p:spPr>
          <a:xfrm>
            <a:off x="841248" y="1371600"/>
            <a:ext cx="10241280" cy="3566160"/>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Identified the hardware that supports a LAN: switch, server, NIC, WNIC, WAP, cables, bridge, repeater</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Saw how a switch uses MAC addresses to send data only to the intended device - unlike a hub</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Described the role and function of a router: packets, IP addresses, routing table, private IPs, firewall</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Separated MAC addresses (physical, fixed) from IP addresses (logical, can change)</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Practised full-mark device descriptions from real 9618 Paper 1 questions</a:t>
            </a:r>
            <a:endParaRPr lang="en-US" sz="1700" dirty="0"/>
          </a:p>
        </p:txBody>
      </p:sp>
      <p:sp>
        <p:nvSpPr>
          <p:cNvPr id="8" name="Text 5"/>
          <p:cNvSpPr txBox="1"/>
          <p:nvPr/>
        </p:nvSpPr>
        <p:spPr>
          <a:xfrm>
            <a:off x="841248" y="5120640"/>
            <a:ext cx="10241280" cy="54864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Next lesson: Ethernet and CSMA/CD - what happens when two devices transmit at the same time?</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Photo credits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Credits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25</a:t>
            </a:r>
            <a:endParaRPr lang="en-US" sz="13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77240" y="1188720"/>
          <a:ext cx="10698480" cy="914400"/>
        </p:xfrm>
        <a:graphic>
          <a:graphicData uri="http://schemas.openxmlformats.org/drawingml/2006/table">
            <a:tbl>
              <a:tblPr/>
              <a:tblGrid>
                <a:gridCol w="5760720"/>
                <a:gridCol w="2743200"/>
                <a:gridCol w="2194560"/>
              </a:tblGrid>
              <a:tr h="310896">
                <a:tc>
                  <a:txBody>
                    <a:bodyPr/>
                    <a:lstStyle/>
                    <a:p>
                      <a:pPr indent="0" marL="0">
                        <a:buNone/>
                      </a:pPr>
                      <a:r>
                        <a:rPr lang="en-US" sz="1150" b="1" dirty="0">
                          <a:solidFill>
                            <a:srgbClr val="FFFFFF"/>
                          </a:solidFill>
                          <a:latin typeface="Quicksand" pitchFamily="34" charset="0"/>
                          <a:ea typeface="Quicksand" pitchFamily="34" charset="-122"/>
                          <a:cs typeface="Quicksand" pitchFamily="34" charset="-120"/>
                        </a:rPr>
                        <a:t>Photo</a:t>
                      </a:r>
                      <a:endParaRPr lang="en-US" sz="11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150" b="1" dirty="0">
                          <a:solidFill>
                            <a:srgbClr val="FFFFFF"/>
                          </a:solidFill>
                          <a:latin typeface="Quicksand" pitchFamily="34" charset="0"/>
                          <a:ea typeface="Quicksand" pitchFamily="34" charset="-122"/>
                          <a:cs typeface="Quicksand" pitchFamily="34" charset="-120"/>
                        </a:rPr>
                        <a:t>Author</a:t>
                      </a:r>
                      <a:endParaRPr lang="en-US" sz="11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150" b="1" dirty="0">
                          <a:solidFill>
                            <a:srgbClr val="FFFFFF"/>
                          </a:solidFill>
                          <a:latin typeface="Quicksand" pitchFamily="34" charset="0"/>
                          <a:ea typeface="Quicksand" pitchFamily="34" charset="-122"/>
                          <a:cs typeface="Quicksand" pitchFamily="34" charset="-120"/>
                        </a:rPr>
                        <a:t>Licence</a:t>
                      </a:r>
                      <a:endParaRPr lang="en-US" sz="11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310896">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Netgear Gigabit Switch 5-port</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Simon A. Eugster</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CC BY-SA 3.0</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10896">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Edimax Ethernet Hub</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George Shuklin</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Public domain</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TP-Link TL-WR740N router</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Hayden Schiff</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CC BY 4.0</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10896">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Access Point UniFi</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Sabbo91</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CC BY-SA 4.0</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Intel PRO-1000 GT PCI NIC</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ktims</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Public domain</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10896">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Planet WL-8310</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unknown</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Public domain</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Tamio UB4 WiFi/Bluetooth USB adapter</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OnionBulb</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CC BY-SA 4.0</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10896">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Rack of Worldwide LHC Computing Grid</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Marián Hubinský</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CC BY-SA 4.0</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Ethernet RJ45 connector</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David Monniaux</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CC BY-SA 3.0</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10896">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Fibre-optic cable in a Telstra pit</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Bidgee</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CC BY-SA 2.5 AU</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Fritz WLAN repeater an der Steckdose</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Blingooo</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CC BY-SA 4.0</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310896">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T-DSL Modem</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Heidas</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CC BY-SA 3.0</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777240" y="5989320"/>
            <a:ext cx="10698480" cy="274320"/>
          </a:xfrm>
          <a:prstGeom prst="rect">
            <a:avLst/>
          </a:prstGeom>
          <a:noFill/>
          <a:ln/>
        </p:spPr>
        <p:txBody>
          <a:bodyPr wrap="square" lIns="0" tIns="0" rIns="0" bIns="0" rtlCol="0" anchor="ctr"/>
          <a:lstStyle/>
          <a:p>
            <a:pPr algn="ctr" indent="0" marL="0">
              <a:buNone/>
            </a:pPr>
            <a:r>
              <a:rPr lang="en-US" sz="1050" i="1" dirty="0">
                <a:solidFill>
                  <a:srgbClr val="666666"/>
                </a:solidFill>
                <a:latin typeface="Quicksand" pitchFamily="34" charset="0"/>
                <a:ea typeface="Quicksand" pitchFamily="34" charset="-122"/>
                <a:cs typeface="Quicksand" pitchFamily="34" charset="-120"/>
              </a:rPr>
              <a:t>All photos from Wikimedia Commons (commons.wikimedia.org), used under the licences shown. Cropped for layout.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hardware</dc:title>
  <dc:subject>PptxGenJS Presentation</dc:subject>
  <dc:creator>PptxGenJS</dc:creator>
  <cp:lastModifiedBy>PptxGenJS</cp:lastModifiedBy>
  <cp:revision>1</cp:revision>
  <dcterms:created xsi:type="dcterms:W3CDTF">2026-10-09T01:42:36Z</dcterms:created>
  <dcterms:modified xsi:type="dcterms:W3CDTF">2026-10-09T01:42:36Z</dcterms:modified>
</cp:coreProperties>
</file>