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Follows the programming recall lesson. Covers one-dimensional arrays (8.2), and the standard methods from topic 7: totalling, counting, maximum/minimum/average and linear search. Pseudocode first, then VB.NET. Students have NOT done 2D arrays, files or procedures/functions, so every VB.NET task is a single Sub Main. Worksheet Tasks 5-9 come with starter .vb files (Arrays_VB_Starter_Files.zip).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FALSE - every element of an array has the same data type. 2 TRUE - exam questions use ARRAY[1:n], so the first element is index 1. 3 FALSE - Dim Marks(30) As Integer creates 31 elements, indexes 0 to 30. 4 FALSE - a well-written linear search stops as soon as the item is found (unless you are counting occurrences). 5 TRUE - examiners regularly report totals and counters that are never initialised (0478/22 June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is a data structure: one identifier, many elements, all the same data type, each picked out by an index. Ask: how would you total 30 scores with 30 separate variables? With an array, one FOR loop does it because the index can be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source of VB.NET bugs in this topic: exam pseudocode arrays start at 1 (ARRAY[1:5]) but VB.NET arrays start at 0, and the number in Dim is the LAST index, not the size. Dim Scores(4) has 5 elements, 0 to 4. Initialiser lists such as {12, 7, 15} are how the starter files give you data - the exam itself says the arrays are "already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counter is used as the index. In VB.NET the loop runs 0 To 4 for five elements; students who write 1 To 5 skip element 0 and crash on element 5 (IndexOutOfRangeException). The prompt shows Index + 1 so the user still sees 1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standard methods as last lesson, but the loop visits array elements instead of input values. The classic exam error (0478/22 June 2023 Q7(b) line 07 and 0478/21 Nov 2024 Q6) is adding the loop counter instead of the element: Total ← Total + Index. Average needs ROUND when the question asks for decimal places (0478/21 June 2023 examiner report: many forgot to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run of slide 7. One row per pass of the loop; write only what changes. A useful habit is a column for the element being looked at (Scores[Index]), even if the question does not ask for it - it makes the IF easy to check. Average 67 / 6 = 11.166... rounds to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Max and Min at the FIRST element (or at an impossible extreme value), then loop from the second element. The 0478/21 June 2025 examiner report: many candidates stored and output only one name when several competitors tied for the highest score - the fix is a second loop that outputs every element equal to the maximum. Errors in 0478/22 June 2024 Q7: &lt; instead of &gt; for the maximum, wrong variable name, ENDWHILE instead of ENDIF.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linear search checks each element in order from the first until the item is found or there are no elements left. Two stopping conditions, joined with AND (keep going while not at the end AND not found). 0478/21 June 2023 examiner report: few candidates spotted that a search with no end check either loops forever or causes an index error when the item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of slide 10. Searching for A19 takes four comparisons and stops - elements 5 and 6 are never looked at. Searching for Z99 looks at all six elements, Index ends at 7, the WHILE stops because Index &lt;= 6 is FALSE, and "Not found" is output. Without the Index &lt;= 6 check the algorithm would try Codes[7], which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 questions rarely say "write a linear search" - they describe a task. Decide first: do I stop at the first match, or must I check every element? Counting occurrences and listing all matches need every element (a FOR loop). Finding one item should stop (WHILE/REPEAT with a flag). 0478/23 June 2025 Q8: candidates had to store every matching title in a Results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not met 2D arrays yet, so related data is kept in two (or more) 1D arrays that share an index: Names[2] goes with Scores[2]. Search the first array, then use the index you found to read the second. The 15-mark questions regularly use parallel 1D arrays (0478/21 Nov 2024 Q11: MemberName[] and MemberTime[]).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visible during the VB.NET tasks. Points students trip on: Next needs no variable name in VB.NET (optional); REPEAT...UNTIL becomes Do ... Loop Until; text is joined with &amp;; DIV is \ and MOD is Mod; Console.ReadLine() always returns text, so store it in an Integer or Double variable to get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15-mark question (AO2 max 9, AO3 max 6) says which arrays exist and that they already contain the data. Examiner reports (0478/22 and /23 Nov 2023, 0478/23 June 2025): candidates wasted time declaring arrays the scenario said were already declared, re-input data that was already stored, and did not use the given arrays as described. Our starter files copy this set-up: the data is there, you write the rest inside Sub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from Cambridge 0478 Paper 2 principal examiner reports. Ask students to tick the ones they have made. Every one of these appears again in the worksheet (Tasks 3, 4,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run-time and logic errors students hit at the computer. Math.Round in VB.NET rounds a value exactly halfway to the even digit (Math.Round(2.5) = 2), unlike pseudocode ROUND; it rarely matters in exam answers but explains surprising test results. AndAlso stops checking as soon as the first condition is False, so Scores(Position) is never read when Position is already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0478/21 Oct/Nov 2024 Q6 mark scheme. Show this AFTER worksheet Task 3(a). Part (a) answers: line 06 T ← 0; line 08 IF A[C] = 0; line 14 NEXT C. Note that the official answer to (c) wants meaningful names for ALL of A, T, C and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on purpose (132 marks). Suggested: Tasks 1-4 (pseudocode) in this lesson, Tasks 5-7 at the computer next lesson, Task 8 as a timed 20-minute exam question, Task 9 for homework or as a stretch. Starter files are in Arrays_VB_Starter_Files.zip.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outputs 1, 3, 5 (the positions of 3) then 3 (the count). It checks every element, so it is a FOR loop - stopping at the first 3 would give the wrong count. VB.NET: Dim Nums() As Integer = {3, 8, 3, 1, 3} ... For i = 0 To 4 ... If Nums(i) = 3 Then Count = Count + 1 : Console.WriteLine(i + 1). Positions shown as i + 1 to match the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the next-lesson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Arrays &amp; searching</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Y11 - Cambridge IGCSE 0478  |  Paper 2  |  8.2 Arrays</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True or false?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Write TRUE or FALSE for each statement in Task 1. Correct the false ones.</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874520"/>
          <a:ext cx="10424160" cy="914400"/>
        </p:xfrm>
        <a:graphic>
          <a:graphicData uri="http://schemas.openxmlformats.org/drawingml/2006/table">
            <a:tbl>
              <a:tblPr/>
              <a:tblGrid>
                <a:gridCol w="548640"/>
                <a:gridCol w="7863840"/>
                <a:gridCol w="2011680"/>
              </a:tblGrid>
              <a:tr h="566928">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Statement</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True or false?</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1</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One array can store a mixture of integers and strings.</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2</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After DECLARE Marks : ARRAY[1:30] OF INTEGER, the first element is Marks[1].</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3</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In VB.NET, Dim Marks(30) As Integer creates exactly 30 elements.</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4</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A linear search always checks every element, even after the item is found.</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5</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When totalling the values in an array, the total must be set to 0 before the loop.</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17320"/>
            <a:ext cx="10424160" cy="43891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Declare and use one-dimensional arrays in pseudocode and in VB.NET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a loop to input, output, total and count the values in an array</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Find the maximum, minimum and average, including when there is a tie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and trace a linear search that stops when the item is found</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Translate pseudocode into VB.NET and complete exam-style program skeletons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Avoid the mistakes that examiners report every year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Why use an array?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Arrays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96112" y="128016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B3261E"/>
                </a:solidFill>
                <a:latin typeface="Quicksand" pitchFamily="34" charset="0"/>
                <a:ea typeface="Quicksand" pitchFamily="34" charset="-122"/>
                <a:cs typeface="Quicksand" pitchFamily="34" charset="-120"/>
              </a:rPr>
              <a:t>Five separate variables</a:t>
            </a:r>
            <a:endParaRPr lang="en-US" sz="1500" dirty="0"/>
          </a:p>
        </p:txBody>
      </p:sp>
      <p:sp>
        <p:nvSpPr>
          <p:cNvPr id="8" name="Text 5"/>
          <p:cNvSpPr/>
          <p:nvPr/>
        </p:nvSpPr>
        <p:spPr>
          <a:xfrm>
            <a:off x="896112" y="1737360"/>
            <a:ext cx="1371600" cy="411480"/>
          </a:xfrm>
          <a:prstGeom prst="rect">
            <a:avLst/>
          </a:prstGeom>
          <a:noFill/>
          <a:ln/>
        </p:spPr>
        <p:txBody>
          <a:bodyPr wrap="square" lIns="0" tIns="0" rIns="0" bIns="0" rtlCol="0" anchor="ctr"/>
          <a:lstStyle/>
          <a:p>
            <a:pPr indent="0" marL="0">
              <a:buNone/>
            </a:pPr>
            <a:r>
              <a:rPr lang="en-US" sz="1200" dirty="0">
                <a:solidFill>
                  <a:srgbClr val="202124"/>
                </a:solidFill>
                <a:latin typeface="Roboto Mono" pitchFamily="34" charset="0"/>
                <a:ea typeface="Roboto Mono" pitchFamily="34" charset="-122"/>
                <a:cs typeface="Roboto Mono" pitchFamily="34" charset="-120"/>
              </a:rPr>
              <a:t>Score1</a:t>
            </a:r>
            <a:endParaRPr lang="en-US" sz="1200" dirty="0"/>
          </a:p>
        </p:txBody>
      </p:sp>
      <p:sp>
        <p:nvSpPr>
          <p:cNvPr id="9" name="Text 6"/>
          <p:cNvSpPr/>
          <p:nvPr/>
        </p:nvSpPr>
        <p:spPr>
          <a:xfrm>
            <a:off x="2286000" y="1737360"/>
            <a:ext cx="777240" cy="411480"/>
          </a:xfrm>
          <a:prstGeom prst="rect">
            <a:avLst/>
          </a:prstGeom>
          <a:solidFill>
            <a:srgbClr val="F6F5FC"/>
          </a:solidFill>
          <a:ln w="12700">
            <a:solidFill>
              <a:srgbClr val="666666"/>
            </a:solidFill>
          </a:ln>
        </p:spPr>
        <p:txBody>
          <a:bodyPr wrap="square" lIns="0" tIns="0" rIns="0" bIns="0" rtlCol="0" anchor="ctr"/>
          <a:lstStyle/>
          <a:p>
            <a:pPr algn="ctr" indent="0" marL="0">
              <a:buNone/>
            </a:pPr>
            <a:r>
              <a:rPr lang="en-US" sz="1300" dirty="0">
                <a:solidFill>
                  <a:srgbClr val="000000"/>
                </a:solidFill>
                <a:latin typeface="Roboto Mono" pitchFamily="34" charset="0"/>
                <a:ea typeface="Roboto Mono" pitchFamily="34" charset="-122"/>
                <a:cs typeface="Roboto Mono" pitchFamily="34" charset="-120"/>
              </a:rPr>
              <a:t>12</a:t>
            </a:r>
            <a:endParaRPr lang="en-US" sz="1300" dirty="0"/>
          </a:p>
        </p:txBody>
      </p:sp>
      <p:sp>
        <p:nvSpPr>
          <p:cNvPr id="10" name="Text 7"/>
          <p:cNvSpPr/>
          <p:nvPr/>
        </p:nvSpPr>
        <p:spPr>
          <a:xfrm>
            <a:off x="896112" y="2304288"/>
            <a:ext cx="1371600" cy="411480"/>
          </a:xfrm>
          <a:prstGeom prst="rect">
            <a:avLst/>
          </a:prstGeom>
          <a:noFill/>
          <a:ln/>
        </p:spPr>
        <p:txBody>
          <a:bodyPr wrap="square" lIns="0" tIns="0" rIns="0" bIns="0" rtlCol="0" anchor="ctr"/>
          <a:lstStyle/>
          <a:p>
            <a:pPr indent="0" marL="0">
              <a:buNone/>
            </a:pPr>
            <a:r>
              <a:rPr lang="en-US" sz="1200" dirty="0">
                <a:solidFill>
                  <a:srgbClr val="202124"/>
                </a:solidFill>
                <a:latin typeface="Roboto Mono" pitchFamily="34" charset="0"/>
                <a:ea typeface="Roboto Mono" pitchFamily="34" charset="-122"/>
                <a:cs typeface="Roboto Mono" pitchFamily="34" charset="-120"/>
              </a:rPr>
              <a:t>Score2</a:t>
            </a:r>
            <a:endParaRPr lang="en-US" sz="1200" dirty="0"/>
          </a:p>
        </p:txBody>
      </p:sp>
      <p:sp>
        <p:nvSpPr>
          <p:cNvPr id="11" name="Text 8"/>
          <p:cNvSpPr/>
          <p:nvPr/>
        </p:nvSpPr>
        <p:spPr>
          <a:xfrm>
            <a:off x="2286000" y="2304288"/>
            <a:ext cx="777240" cy="411480"/>
          </a:xfrm>
          <a:prstGeom prst="rect">
            <a:avLst/>
          </a:prstGeom>
          <a:solidFill>
            <a:srgbClr val="F6F5FC"/>
          </a:solidFill>
          <a:ln w="12700">
            <a:solidFill>
              <a:srgbClr val="666666"/>
            </a:solidFill>
          </a:ln>
        </p:spPr>
        <p:txBody>
          <a:bodyPr wrap="square" lIns="0" tIns="0" rIns="0" bIns="0" rtlCol="0" anchor="ctr"/>
          <a:lstStyle/>
          <a:p>
            <a:pPr algn="ctr" indent="0" marL="0">
              <a:buNone/>
            </a:pPr>
            <a:r>
              <a:rPr lang="en-US" sz="1300" dirty="0">
                <a:solidFill>
                  <a:srgbClr val="000000"/>
                </a:solidFill>
                <a:latin typeface="Roboto Mono" pitchFamily="34" charset="0"/>
                <a:ea typeface="Roboto Mono" pitchFamily="34" charset="-122"/>
                <a:cs typeface="Roboto Mono" pitchFamily="34" charset="-120"/>
              </a:rPr>
              <a:t>7</a:t>
            </a:r>
            <a:endParaRPr lang="en-US" sz="1300" dirty="0"/>
          </a:p>
        </p:txBody>
      </p:sp>
      <p:sp>
        <p:nvSpPr>
          <p:cNvPr id="12" name="Text 9"/>
          <p:cNvSpPr/>
          <p:nvPr/>
        </p:nvSpPr>
        <p:spPr>
          <a:xfrm>
            <a:off x="896112" y="2871216"/>
            <a:ext cx="1371600" cy="411480"/>
          </a:xfrm>
          <a:prstGeom prst="rect">
            <a:avLst/>
          </a:prstGeom>
          <a:noFill/>
          <a:ln/>
        </p:spPr>
        <p:txBody>
          <a:bodyPr wrap="square" lIns="0" tIns="0" rIns="0" bIns="0" rtlCol="0" anchor="ctr"/>
          <a:lstStyle/>
          <a:p>
            <a:pPr indent="0" marL="0">
              <a:buNone/>
            </a:pPr>
            <a:r>
              <a:rPr lang="en-US" sz="1200" dirty="0">
                <a:solidFill>
                  <a:srgbClr val="202124"/>
                </a:solidFill>
                <a:latin typeface="Roboto Mono" pitchFamily="34" charset="0"/>
                <a:ea typeface="Roboto Mono" pitchFamily="34" charset="-122"/>
                <a:cs typeface="Roboto Mono" pitchFamily="34" charset="-120"/>
              </a:rPr>
              <a:t>Score3</a:t>
            </a:r>
            <a:endParaRPr lang="en-US" sz="1200" dirty="0"/>
          </a:p>
        </p:txBody>
      </p:sp>
      <p:sp>
        <p:nvSpPr>
          <p:cNvPr id="13" name="Text 10"/>
          <p:cNvSpPr/>
          <p:nvPr/>
        </p:nvSpPr>
        <p:spPr>
          <a:xfrm>
            <a:off x="2286000" y="2871216"/>
            <a:ext cx="777240" cy="411480"/>
          </a:xfrm>
          <a:prstGeom prst="rect">
            <a:avLst/>
          </a:prstGeom>
          <a:solidFill>
            <a:srgbClr val="F6F5FC"/>
          </a:solidFill>
          <a:ln w="12700">
            <a:solidFill>
              <a:srgbClr val="666666"/>
            </a:solidFill>
          </a:ln>
        </p:spPr>
        <p:txBody>
          <a:bodyPr wrap="square" lIns="0" tIns="0" rIns="0" bIns="0" rtlCol="0" anchor="ctr"/>
          <a:lstStyle/>
          <a:p>
            <a:pPr algn="ctr" indent="0" marL="0">
              <a:buNone/>
            </a:pPr>
            <a:r>
              <a:rPr lang="en-US" sz="1300" dirty="0">
                <a:solidFill>
                  <a:srgbClr val="000000"/>
                </a:solidFill>
                <a:latin typeface="Roboto Mono" pitchFamily="34" charset="0"/>
                <a:ea typeface="Roboto Mono" pitchFamily="34" charset="-122"/>
                <a:cs typeface="Roboto Mono" pitchFamily="34" charset="-120"/>
              </a:rPr>
              <a:t>15</a:t>
            </a:r>
            <a:endParaRPr lang="en-US" sz="1300" dirty="0"/>
          </a:p>
        </p:txBody>
      </p:sp>
      <p:sp>
        <p:nvSpPr>
          <p:cNvPr id="14" name="Text 11"/>
          <p:cNvSpPr/>
          <p:nvPr/>
        </p:nvSpPr>
        <p:spPr>
          <a:xfrm>
            <a:off x="896112" y="3438144"/>
            <a:ext cx="1371600" cy="411480"/>
          </a:xfrm>
          <a:prstGeom prst="rect">
            <a:avLst/>
          </a:prstGeom>
          <a:noFill/>
          <a:ln/>
        </p:spPr>
        <p:txBody>
          <a:bodyPr wrap="square" lIns="0" tIns="0" rIns="0" bIns="0" rtlCol="0" anchor="ctr"/>
          <a:lstStyle/>
          <a:p>
            <a:pPr indent="0" marL="0">
              <a:buNone/>
            </a:pPr>
            <a:r>
              <a:rPr lang="en-US" sz="1200" dirty="0">
                <a:solidFill>
                  <a:srgbClr val="202124"/>
                </a:solidFill>
                <a:latin typeface="Roboto Mono" pitchFamily="34" charset="0"/>
                <a:ea typeface="Roboto Mono" pitchFamily="34" charset="-122"/>
                <a:cs typeface="Roboto Mono" pitchFamily="34" charset="-120"/>
              </a:rPr>
              <a:t>Score4</a:t>
            </a:r>
            <a:endParaRPr lang="en-US" sz="1200" dirty="0"/>
          </a:p>
        </p:txBody>
      </p:sp>
      <p:sp>
        <p:nvSpPr>
          <p:cNvPr id="15" name="Text 12"/>
          <p:cNvSpPr/>
          <p:nvPr/>
        </p:nvSpPr>
        <p:spPr>
          <a:xfrm>
            <a:off x="2286000" y="3438144"/>
            <a:ext cx="777240" cy="411480"/>
          </a:xfrm>
          <a:prstGeom prst="rect">
            <a:avLst/>
          </a:prstGeom>
          <a:solidFill>
            <a:srgbClr val="F6F5FC"/>
          </a:solidFill>
          <a:ln w="12700">
            <a:solidFill>
              <a:srgbClr val="666666"/>
            </a:solidFill>
          </a:ln>
        </p:spPr>
        <p:txBody>
          <a:bodyPr wrap="square" lIns="0" tIns="0" rIns="0" bIns="0" rtlCol="0" anchor="ctr"/>
          <a:lstStyle/>
          <a:p>
            <a:pPr algn="ctr" indent="0" marL="0">
              <a:buNone/>
            </a:pPr>
            <a:r>
              <a:rPr lang="en-US" sz="1300" dirty="0">
                <a:solidFill>
                  <a:srgbClr val="000000"/>
                </a:solidFill>
                <a:latin typeface="Roboto Mono" pitchFamily="34" charset="0"/>
                <a:ea typeface="Roboto Mono" pitchFamily="34" charset="-122"/>
                <a:cs typeface="Roboto Mono" pitchFamily="34" charset="-120"/>
              </a:rPr>
              <a:t>9</a:t>
            </a:r>
            <a:endParaRPr lang="en-US" sz="1300" dirty="0"/>
          </a:p>
        </p:txBody>
      </p:sp>
      <p:sp>
        <p:nvSpPr>
          <p:cNvPr id="16" name="Text 13"/>
          <p:cNvSpPr/>
          <p:nvPr/>
        </p:nvSpPr>
        <p:spPr>
          <a:xfrm>
            <a:off x="896112" y="4005072"/>
            <a:ext cx="1371600" cy="411480"/>
          </a:xfrm>
          <a:prstGeom prst="rect">
            <a:avLst/>
          </a:prstGeom>
          <a:noFill/>
          <a:ln/>
        </p:spPr>
        <p:txBody>
          <a:bodyPr wrap="square" lIns="0" tIns="0" rIns="0" bIns="0" rtlCol="0" anchor="ctr"/>
          <a:lstStyle/>
          <a:p>
            <a:pPr indent="0" marL="0">
              <a:buNone/>
            </a:pPr>
            <a:r>
              <a:rPr lang="en-US" sz="1200" dirty="0">
                <a:solidFill>
                  <a:srgbClr val="202124"/>
                </a:solidFill>
                <a:latin typeface="Roboto Mono" pitchFamily="34" charset="0"/>
                <a:ea typeface="Roboto Mono" pitchFamily="34" charset="-122"/>
                <a:cs typeface="Roboto Mono" pitchFamily="34" charset="-120"/>
              </a:rPr>
              <a:t>Score5</a:t>
            </a:r>
            <a:endParaRPr lang="en-US" sz="1200" dirty="0"/>
          </a:p>
        </p:txBody>
      </p:sp>
      <p:sp>
        <p:nvSpPr>
          <p:cNvPr id="17" name="Text 14"/>
          <p:cNvSpPr/>
          <p:nvPr/>
        </p:nvSpPr>
        <p:spPr>
          <a:xfrm>
            <a:off x="2286000" y="4005072"/>
            <a:ext cx="777240" cy="411480"/>
          </a:xfrm>
          <a:prstGeom prst="rect">
            <a:avLst/>
          </a:prstGeom>
          <a:solidFill>
            <a:srgbClr val="F6F5FC"/>
          </a:solidFill>
          <a:ln w="12700">
            <a:solidFill>
              <a:srgbClr val="666666"/>
            </a:solidFill>
          </a:ln>
        </p:spPr>
        <p:txBody>
          <a:bodyPr wrap="square" lIns="0" tIns="0" rIns="0" bIns="0" rtlCol="0" anchor="ctr"/>
          <a:lstStyle/>
          <a:p>
            <a:pPr algn="ctr" indent="0" marL="0">
              <a:buNone/>
            </a:pPr>
            <a:r>
              <a:rPr lang="en-US" sz="1300" dirty="0">
                <a:solidFill>
                  <a:srgbClr val="000000"/>
                </a:solidFill>
                <a:latin typeface="Roboto Mono" pitchFamily="34" charset="0"/>
                <a:ea typeface="Roboto Mono" pitchFamily="34" charset="-122"/>
                <a:cs typeface="Roboto Mono" pitchFamily="34" charset="-120"/>
              </a:rPr>
              <a:t>20</a:t>
            </a:r>
            <a:endParaRPr lang="en-US" sz="1300" dirty="0"/>
          </a:p>
        </p:txBody>
      </p:sp>
      <p:sp>
        <p:nvSpPr>
          <p:cNvPr id="18" name="Text 15"/>
          <p:cNvSpPr txBox="1"/>
          <p:nvPr/>
        </p:nvSpPr>
        <p:spPr>
          <a:xfrm>
            <a:off x="4754880" y="128016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2E7D5B"/>
                </a:solidFill>
                <a:latin typeface="Quicksand" pitchFamily="34" charset="0"/>
                <a:ea typeface="Quicksand" pitchFamily="34" charset="-122"/>
                <a:cs typeface="Quicksand" pitchFamily="34" charset="-120"/>
              </a:rPr>
              <a:t>One array</a:t>
            </a:r>
            <a:endParaRPr lang="en-US" sz="1500" dirty="0"/>
          </a:p>
        </p:txBody>
      </p:sp>
      <p:sp>
        <p:nvSpPr>
          <p:cNvPr id="19" name="Text 16"/>
          <p:cNvSpPr/>
          <p:nvPr/>
        </p:nvSpPr>
        <p:spPr>
          <a:xfrm>
            <a:off x="4663440" y="2679192"/>
            <a:ext cx="40690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Scores</a:t>
            </a:r>
            <a:endParaRPr lang="en-US" sz="1200" dirty="0"/>
          </a:p>
        </p:txBody>
      </p:sp>
      <p:sp>
        <p:nvSpPr>
          <p:cNvPr id="20" name="Text 17"/>
          <p:cNvSpPr/>
          <p:nvPr/>
        </p:nvSpPr>
        <p:spPr>
          <a:xfrm>
            <a:off x="4754880" y="2103120"/>
            <a:ext cx="77724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12</a:t>
            </a:r>
            <a:endParaRPr lang="en-US" sz="1300" dirty="0"/>
          </a:p>
        </p:txBody>
      </p:sp>
      <p:sp>
        <p:nvSpPr>
          <p:cNvPr id="21" name="Text 18"/>
          <p:cNvSpPr/>
          <p:nvPr/>
        </p:nvSpPr>
        <p:spPr>
          <a:xfrm>
            <a:off x="4754880" y="1810512"/>
            <a:ext cx="77724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22" name="Text 19"/>
          <p:cNvSpPr/>
          <p:nvPr/>
        </p:nvSpPr>
        <p:spPr>
          <a:xfrm>
            <a:off x="5532120" y="2103120"/>
            <a:ext cx="77724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7</a:t>
            </a:r>
            <a:endParaRPr lang="en-US" sz="1300" dirty="0"/>
          </a:p>
        </p:txBody>
      </p:sp>
      <p:sp>
        <p:nvSpPr>
          <p:cNvPr id="23" name="Text 20"/>
          <p:cNvSpPr/>
          <p:nvPr/>
        </p:nvSpPr>
        <p:spPr>
          <a:xfrm>
            <a:off x="5532120" y="1810512"/>
            <a:ext cx="77724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24" name="Text 21"/>
          <p:cNvSpPr/>
          <p:nvPr/>
        </p:nvSpPr>
        <p:spPr>
          <a:xfrm>
            <a:off x="6309360" y="2103120"/>
            <a:ext cx="77724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15</a:t>
            </a:r>
            <a:endParaRPr lang="en-US" sz="1300" dirty="0"/>
          </a:p>
        </p:txBody>
      </p:sp>
      <p:sp>
        <p:nvSpPr>
          <p:cNvPr id="25" name="Text 22"/>
          <p:cNvSpPr/>
          <p:nvPr/>
        </p:nvSpPr>
        <p:spPr>
          <a:xfrm>
            <a:off x="6309360" y="1810512"/>
            <a:ext cx="77724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26" name="Text 23"/>
          <p:cNvSpPr/>
          <p:nvPr/>
        </p:nvSpPr>
        <p:spPr>
          <a:xfrm>
            <a:off x="7086600" y="2103120"/>
            <a:ext cx="77724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9</a:t>
            </a:r>
            <a:endParaRPr lang="en-US" sz="1300" dirty="0"/>
          </a:p>
        </p:txBody>
      </p:sp>
      <p:sp>
        <p:nvSpPr>
          <p:cNvPr id="27" name="Text 24"/>
          <p:cNvSpPr/>
          <p:nvPr/>
        </p:nvSpPr>
        <p:spPr>
          <a:xfrm>
            <a:off x="7086600" y="1810512"/>
            <a:ext cx="77724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28" name="Text 25"/>
          <p:cNvSpPr/>
          <p:nvPr/>
        </p:nvSpPr>
        <p:spPr>
          <a:xfrm>
            <a:off x="7863840" y="2103120"/>
            <a:ext cx="77724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20</a:t>
            </a:r>
            <a:endParaRPr lang="en-US" sz="1300" dirty="0"/>
          </a:p>
        </p:txBody>
      </p:sp>
      <p:sp>
        <p:nvSpPr>
          <p:cNvPr id="29" name="Text 26"/>
          <p:cNvSpPr/>
          <p:nvPr/>
        </p:nvSpPr>
        <p:spPr>
          <a:xfrm>
            <a:off x="7863840" y="1810512"/>
            <a:ext cx="77724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30" name="Text 27"/>
          <p:cNvSpPr txBox="1"/>
          <p:nvPr/>
        </p:nvSpPr>
        <p:spPr>
          <a:xfrm>
            <a:off x="8778240" y="1810512"/>
            <a:ext cx="1097280" cy="274320"/>
          </a:xfrm>
          <a:prstGeom prst="rect">
            <a:avLst/>
          </a:prstGeom>
          <a:noFill/>
          <a:ln/>
        </p:spPr>
        <p:txBody>
          <a:bodyPr wrap="square" lIns="0" tIns="0" rIns="0" bIns="0" rtlCol="0" anchor="t"/>
          <a:lstStyle/>
          <a:p>
            <a:pPr indent="0" marL="0">
              <a:spcAft>
                <a:spcPts val="600"/>
              </a:spcAft>
              <a:buNone/>
            </a:pPr>
            <a:r>
              <a:rPr lang="en-US" sz="1200" i="1" dirty="0">
                <a:solidFill>
                  <a:srgbClr val="666666"/>
                </a:solidFill>
                <a:latin typeface="Quicksand" pitchFamily="34" charset="0"/>
                <a:ea typeface="Quicksand" pitchFamily="34" charset="-122"/>
                <a:cs typeface="Quicksand" pitchFamily="34" charset="-120"/>
              </a:rPr>
              <a:t>index</a:t>
            </a:r>
            <a:endParaRPr lang="en-US" sz="1200" dirty="0"/>
          </a:p>
        </p:txBody>
      </p:sp>
      <p:sp>
        <p:nvSpPr>
          <p:cNvPr id="31" name="Shape 28"/>
          <p:cNvSpPr/>
          <p:nvPr/>
        </p:nvSpPr>
        <p:spPr>
          <a:xfrm>
            <a:off x="4754880" y="3291840"/>
            <a:ext cx="3886200" cy="7772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32" name="Text 29"/>
          <p:cNvSpPr txBox="1"/>
          <p:nvPr/>
        </p:nvSpPr>
        <p:spPr>
          <a:xfrm>
            <a:off x="4892040" y="3383280"/>
            <a:ext cx="3611880" cy="594360"/>
          </a:xfrm>
          <a:prstGeom prst="rect">
            <a:avLst/>
          </a:prstGeom>
          <a:noFill/>
          <a:ln/>
        </p:spPr>
        <p:txBody>
          <a:bodyPr wrap="square" lIns="0" tIns="0" rIns="0" bIns="0" rtlCol="0" anchor="t"/>
          <a:lstStyle/>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OUTPUT Scores[3]</a:t>
            </a:r>
            <a:endParaRPr lang="en-US" sz="1300" dirty="0"/>
          </a:p>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outputs 15</a:t>
            </a:r>
            <a:endParaRPr lang="en-US" sz="1300" dirty="0"/>
          </a:p>
        </p:txBody>
      </p:sp>
      <p:sp>
        <p:nvSpPr>
          <p:cNvPr id="33" name="Shape 30"/>
          <p:cNvSpPr/>
          <p:nvPr/>
        </p:nvSpPr>
        <p:spPr>
          <a:xfrm>
            <a:off x="4754880" y="4297680"/>
            <a:ext cx="3291840" cy="1097280"/>
          </a:xfrm>
          <a:prstGeom prst="rect">
            <a:avLst/>
          </a:prstGeom>
          <a:solidFill>
            <a:srgbClr val="F6F5FC"/>
          </a:solidFill>
          <a:ln w="12700">
            <a:solidFill>
              <a:srgbClr val="F6F5FC"/>
            </a:solidFill>
            <a:prstDash val="solid"/>
          </a:ln>
        </p:spPr>
      </p:sp>
      <p:sp>
        <p:nvSpPr>
          <p:cNvPr id="34" name="Text 31"/>
          <p:cNvSpPr/>
          <p:nvPr/>
        </p:nvSpPr>
        <p:spPr>
          <a:xfrm>
            <a:off x="4892040" y="4434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35" name="Text 32"/>
          <p:cNvSpPr txBox="1"/>
          <p:nvPr/>
        </p:nvSpPr>
        <p:spPr>
          <a:xfrm>
            <a:off x="5413248" y="440740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One identifier</a:t>
            </a:r>
            <a:endParaRPr lang="en-US" sz="1500" dirty="0"/>
          </a:p>
        </p:txBody>
      </p:sp>
      <p:sp>
        <p:nvSpPr>
          <p:cNvPr id="36" name="Text 33"/>
          <p:cNvSpPr txBox="1"/>
          <p:nvPr/>
        </p:nvSpPr>
        <p:spPr>
          <a:xfrm>
            <a:off x="5413248" y="4800600"/>
            <a:ext cx="251460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Scores holds all five values.</a:t>
            </a:r>
            <a:endParaRPr lang="en-US" sz="1250" dirty="0"/>
          </a:p>
        </p:txBody>
      </p:sp>
      <p:sp>
        <p:nvSpPr>
          <p:cNvPr id="37" name="Shape 34"/>
          <p:cNvSpPr/>
          <p:nvPr/>
        </p:nvSpPr>
        <p:spPr>
          <a:xfrm>
            <a:off x="8183880" y="4297680"/>
            <a:ext cx="3291840" cy="1097280"/>
          </a:xfrm>
          <a:prstGeom prst="rect">
            <a:avLst/>
          </a:prstGeom>
          <a:solidFill>
            <a:srgbClr val="F6F5FC"/>
          </a:solidFill>
          <a:ln w="12700">
            <a:solidFill>
              <a:srgbClr val="F6F5FC"/>
            </a:solidFill>
            <a:prstDash val="solid"/>
          </a:ln>
        </p:spPr>
      </p:sp>
      <p:sp>
        <p:nvSpPr>
          <p:cNvPr id="38" name="Text 35"/>
          <p:cNvSpPr/>
          <p:nvPr/>
        </p:nvSpPr>
        <p:spPr>
          <a:xfrm>
            <a:off x="8321040" y="4434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39" name="Text 36"/>
          <p:cNvSpPr txBox="1"/>
          <p:nvPr/>
        </p:nvSpPr>
        <p:spPr>
          <a:xfrm>
            <a:off x="8842248" y="440740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Same data type</a:t>
            </a:r>
            <a:endParaRPr lang="en-US" sz="1500" dirty="0"/>
          </a:p>
        </p:txBody>
      </p:sp>
      <p:sp>
        <p:nvSpPr>
          <p:cNvPr id="40" name="Text 37"/>
          <p:cNvSpPr txBox="1"/>
          <p:nvPr/>
        </p:nvSpPr>
        <p:spPr>
          <a:xfrm>
            <a:off x="8842248" y="4800600"/>
            <a:ext cx="251460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Every element is an INTEGER.</a:t>
            </a:r>
            <a:endParaRPr lang="en-US" sz="1250" dirty="0"/>
          </a:p>
        </p:txBody>
      </p:sp>
      <p:sp>
        <p:nvSpPr>
          <p:cNvPr id="41" name="Text 38"/>
          <p:cNvSpPr txBox="1"/>
          <p:nvPr/>
        </p:nvSpPr>
        <p:spPr>
          <a:xfrm>
            <a:off x="896112" y="5623560"/>
            <a:ext cx="1042416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The index can be a variable, so a loop can visit every element.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Declaring arrays: pseudocode and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Arrays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Text 4"/>
          <p:cNvSpPr txBox="1"/>
          <p:nvPr/>
        </p:nvSpPr>
        <p:spPr>
          <a:xfrm>
            <a:off x="896112" y="1234440"/>
            <a:ext cx="5029200" cy="32004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Pseudocode (as in the exam)</a:t>
            </a:r>
            <a:endParaRPr lang="en-US" sz="1500" dirty="0"/>
          </a:p>
        </p:txBody>
      </p:sp>
      <p:sp>
        <p:nvSpPr>
          <p:cNvPr id="8" name="Shape 5"/>
          <p:cNvSpPr/>
          <p:nvPr/>
        </p:nvSpPr>
        <p:spPr>
          <a:xfrm>
            <a:off x="896112" y="1600200"/>
            <a:ext cx="5120640" cy="13716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1033272" y="1691640"/>
            <a:ext cx="4846320" cy="1188720"/>
          </a:xfrm>
          <a:prstGeom prst="rect">
            <a:avLst/>
          </a:prstGeom>
          <a:noFill/>
          <a:ln/>
        </p:spPr>
        <p:txBody>
          <a:bodyPr wrap="square" lIns="0" tIns="0" rIns="0" bIns="0" rtlCol="0" anchor="t"/>
          <a:lstStyle/>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DECLARE Scores : ARRAY[1:5] OF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Scores[1] ← 12</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Scores[3] ← 15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OUTPUT Scores[1] + Scores[3]</a:t>
            </a:r>
            <a:endParaRPr lang="en-US" sz="1250" dirty="0"/>
          </a:p>
        </p:txBody>
      </p:sp>
      <p:sp>
        <p:nvSpPr>
          <p:cNvPr id="10" name="Text 7"/>
          <p:cNvSpPr txBox="1"/>
          <p:nvPr/>
        </p:nvSpPr>
        <p:spPr>
          <a:xfrm>
            <a:off x="6309360" y="1234440"/>
            <a:ext cx="5029200" cy="32004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VB.NET</a:t>
            </a:r>
            <a:endParaRPr lang="en-US" sz="1500" dirty="0"/>
          </a:p>
        </p:txBody>
      </p:sp>
      <p:sp>
        <p:nvSpPr>
          <p:cNvPr id="11" name="Shape 8"/>
          <p:cNvSpPr/>
          <p:nvPr/>
        </p:nvSpPr>
        <p:spPr>
          <a:xfrm>
            <a:off x="6309360" y="1600200"/>
            <a:ext cx="5212080" cy="18288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2" name="Text 9"/>
          <p:cNvSpPr txBox="1"/>
          <p:nvPr/>
        </p:nvSpPr>
        <p:spPr>
          <a:xfrm>
            <a:off x="6446520" y="1691640"/>
            <a:ext cx="4937760" cy="1645920"/>
          </a:xfrm>
          <a:prstGeom prst="rect">
            <a:avLst/>
          </a:prstGeom>
          <a:noFill/>
          <a:ln/>
        </p:spPr>
        <p:txBody>
          <a:bodyPr wrap="square" lIns="0" tIns="0" rIns="0" bIns="0" rtlCol="0" anchor="t"/>
          <a:lstStyle/>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Dim Scores(4)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Scores(0) = 12</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Scores(2) = 15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Console.WriteLine(Scores(0) + Scores(2))</a:t>
            </a:r>
            <a:endParaRPr lang="en-US" sz="1250" dirty="0"/>
          </a:p>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or set all the values at once: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Days() As String = {"Mon", "Tue", "Wed"}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96112" y="3703320"/>
          <a:ext cx="10607040" cy="914400"/>
        </p:xfrm>
        <a:graphic>
          <a:graphicData uri="http://schemas.openxmlformats.org/drawingml/2006/table">
            <a:tbl>
              <a:tblPr/>
              <a:tblGrid>
                <a:gridCol w="2560320"/>
                <a:gridCol w="3657600"/>
                <a:gridCol w="4389120"/>
              </a:tblGrid>
              <a:tr h="457200">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Pseudocode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VB.NET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Brackets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Scores[3]</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Scores(3)</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First index</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(as declared: ARRAY[1:5])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 (always)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Number in the declaration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first and last index</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last index: Dim Scores(4) = 5 elements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Assignment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Scores[1] ← 12</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Scores(0) = 12</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Filling and outputting an array with a loop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Arrays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896112" y="1325880"/>
            <a:ext cx="5120640" cy="28346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4846320" cy="26517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DECLARE Names : ARRAY[1:5] OF STRING</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FOR Index ← 1 TO 5</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OUTPUT "Enter name ", Index</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INPUT Names[Index]</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NEXT Index</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FOR Index ← 1 TO 5</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OUTPUT Names[Index]</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NEXT Index</a:t>
            </a:r>
            <a:endParaRPr lang="en-US" sz="1300" dirty="0"/>
          </a:p>
        </p:txBody>
      </p:sp>
      <p:sp>
        <p:nvSpPr>
          <p:cNvPr id="9" name="Shape 6"/>
          <p:cNvSpPr/>
          <p:nvPr/>
        </p:nvSpPr>
        <p:spPr>
          <a:xfrm>
            <a:off x="6309360" y="1325880"/>
            <a:ext cx="5212080" cy="28346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6446520" y="1417320"/>
            <a:ext cx="4937760" cy="265176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Names(4) As String</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For Index = 0 To 4</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Console.Write("Enter name " &amp; (Index + 1) &amp; ":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Names(Index) = Console.ReadLine()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For Index = 0 To 4</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Console.WriteLine(Names(Index))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a:t>
            </a:r>
            <a:endParaRPr lang="en-US" sz="1250" dirty="0"/>
          </a:p>
        </p:txBody>
      </p:sp>
      <p:sp>
        <p:nvSpPr>
          <p:cNvPr id="11" name="Shape 8"/>
          <p:cNvSpPr/>
          <p:nvPr/>
        </p:nvSpPr>
        <p:spPr>
          <a:xfrm>
            <a:off x="896112" y="4434840"/>
            <a:ext cx="3337560" cy="1188720"/>
          </a:xfrm>
          <a:prstGeom prst="rect">
            <a:avLst/>
          </a:prstGeom>
          <a:solidFill>
            <a:srgbClr val="F6F5FC"/>
          </a:solidFill>
          <a:ln w="12700">
            <a:solidFill>
              <a:srgbClr val="F6F5FC"/>
            </a:solidFill>
            <a:prstDash val="solid"/>
          </a:ln>
        </p:spPr>
      </p:sp>
      <p:sp>
        <p:nvSpPr>
          <p:cNvPr id="12" name="Text 9"/>
          <p:cNvSpPr/>
          <p:nvPr/>
        </p:nvSpPr>
        <p:spPr>
          <a:xfrm>
            <a:off x="1033272" y="4572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10"/>
          <p:cNvSpPr txBox="1"/>
          <p:nvPr/>
        </p:nvSpPr>
        <p:spPr>
          <a:xfrm>
            <a:off x="1554480" y="4544568"/>
            <a:ext cx="25603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The counter is the index</a:t>
            </a:r>
            <a:endParaRPr lang="en-US" sz="1500" dirty="0"/>
          </a:p>
        </p:txBody>
      </p:sp>
      <p:sp>
        <p:nvSpPr>
          <p:cNvPr id="14" name="Text 11"/>
          <p:cNvSpPr txBox="1"/>
          <p:nvPr/>
        </p:nvSpPr>
        <p:spPr>
          <a:xfrm>
            <a:off x="1554480" y="4937760"/>
            <a:ext cx="256032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Each time round the loop, Index picks the next element.</a:t>
            </a:r>
            <a:endParaRPr lang="en-US" sz="1250" dirty="0"/>
          </a:p>
        </p:txBody>
      </p:sp>
      <p:sp>
        <p:nvSpPr>
          <p:cNvPr id="15" name="Shape 12"/>
          <p:cNvSpPr/>
          <p:nvPr/>
        </p:nvSpPr>
        <p:spPr>
          <a:xfrm>
            <a:off x="4434840" y="4434840"/>
            <a:ext cx="3337560" cy="1188720"/>
          </a:xfrm>
          <a:prstGeom prst="rect">
            <a:avLst/>
          </a:prstGeom>
          <a:solidFill>
            <a:srgbClr val="F6F5FC"/>
          </a:solidFill>
          <a:ln w="12700">
            <a:solidFill>
              <a:srgbClr val="F6F5FC"/>
            </a:solidFill>
            <a:prstDash val="solid"/>
          </a:ln>
        </p:spPr>
      </p:sp>
      <p:sp>
        <p:nvSpPr>
          <p:cNvPr id="16" name="Text 13"/>
          <p:cNvSpPr/>
          <p:nvPr/>
        </p:nvSpPr>
        <p:spPr>
          <a:xfrm>
            <a:off x="4572000" y="4572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4"/>
          <p:cNvSpPr txBox="1"/>
          <p:nvPr/>
        </p:nvSpPr>
        <p:spPr>
          <a:xfrm>
            <a:off x="5093208" y="4544568"/>
            <a:ext cx="25603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Match the bounds</a:t>
            </a:r>
            <a:endParaRPr lang="en-US" sz="1500" dirty="0"/>
          </a:p>
        </p:txBody>
      </p:sp>
      <p:sp>
        <p:nvSpPr>
          <p:cNvPr id="18" name="Text 15"/>
          <p:cNvSpPr txBox="1"/>
          <p:nvPr/>
        </p:nvSpPr>
        <p:spPr>
          <a:xfrm>
            <a:off x="5093208" y="4937760"/>
            <a:ext cx="256032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Pseudocode 1 TO 5 becomes VB.NET 0 To 4.</a:t>
            </a:r>
            <a:endParaRPr lang="en-US" sz="1250" dirty="0"/>
          </a:p>
        </p:txBody>
      </p:sp>
      <p:sp>
        <p:nvSpPr>
          <p:cNvPr id="19" name="Shape 16"/>
          <p:cNvSpPr/>
          <p:nvPr/>
        </p:nvSpPr>
        <p:spPr>
          <a:xfrm>
            <a:off x="7973568" y="4434840"/>
            <a:ext cx="3520440" cy="1188720"/>
          </a:xfrm>
          <a:prstGeom prst="rect">
            <a:avLst/>
          </a:prstGeom>
          <a:solidFill>
            <a:srgbClr val="F6F5FC"/>
          </a:solidFill>
          <a:ln w="12700">
            <a:solidFill>
              <a:srgbClr val="F6F5FC"/>
            </a:solidFill>
            <a:prstDash val="solid"/>
          </a:ln>
        </p:spPr>
      </p:sp>
      <p:sp>
        <p:nvSpPr>
          <p:cNvPr id="20" name="Text 17"/>
          <p:cNvSpPr/>
          <p:nvPr/>
        </p:nvSpPr>
        <p:spPr>
          <a:xfrm>
            <a:off x="8110728" y="4572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1" name="Text 18"/>
          <p:cNvSpPr txBox="1"/>
          <p:nvPr/>
        </p:nvSpPr>
        <p:spPr>
          <a:xfrm>
            <a:off x="8631936" y="4544568"/>
            <a:ext cx="27432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Output after input</a:t>
            </a:r>
            <a:endParaRPr lang="en-US" sz="1500" dirty="0"/>
          </a:p>
        </p:txBody>
      </p:sp>
      <p:sp>
        <p:nvSpPr>
          <p:cNvPr id="22" name="Text 19"/>
          <p:cNvSpPr txBox="1"/>
          <p:nvPr/>
        </p:nvSpPr>
        <p:spPr>
          <a:xfrm>
            <a:off x="8631936" y="4937760"/>
            <a:ext cx="274320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second loop outputs every element.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Totalling and counting with an array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Totalling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Text 4"/>
          <p:cNvSpPr/>
          <p:nvPr/>
        </p:nvSpPr>
        <p:spPr>
          <a:xfrm>
            <a:off x="804672" y="2176272"/>
            <a:ext cx="512064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Scores</a:t>
            </a:r>
            <a:endParaRPr lang="en-US" sz="1200" dirty="0"/>
          </a:p>
        </p:txBody>
      </p:sp>
      <p:sp>
        <p:nvSpPr>
          <p:cNvPr id="8" name="Text 5"/>
          <p:cNvSpPr/>
          <p:nvPr/>
        </p:nvSpPr>
        <p:spPr>
          <a:xfrm>
            <a:off x="8961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12</a:t>
            </a:r>
            <a:endParaRPr lang="en-US" sz="1300" dirty="0"/>
          </a:p>
        </p:txBody>
      </p:sp>
      <p:sp>
        <p:nvSpPr>
          <p:cNvPr id="9" name="Text 6"/>
          <p:cNvSpPr/>
          <p:nvPr/>
        </p:nvSpPr>
        <p:spPr>
          <a:xfrm>
            <a:off x="8961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71907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7</a:t>
            </a:r>
            <a:endParaRPr lang="en-US" sz="1300" dirty="0"/>
          </a:p>
        </p:txBody>
      </p:sp>
      <p:sp>
        <p:nvSpPr>
          <p:cNvPr id="11" name="Text 8"/>
          <p:cNvSpPr/>
          <p:nvPr/>
        </p:nvSpPr>
        <p:spPr>
          <a:xfrm>
            <a:off x="171907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54203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15</a:t>
            </a:r>
            <a:endParaRPr lang="en-US" sz="1300" dirty="0"/>
          </a:p>
        </p:txBody>
      </p:sp>
      <p:sp>
        <p:nvSpPr>
          <p:cNvPr id="13" name="Text 10"/>
          <p:cNvSpPr/>
          <p:nvPr/>
        </p:nvSpPr>
        <p:spPr>
          <a:xfrm>
            <a:off x="254203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36499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9</a:t>
            </a:r>
            <a:endParaRPr lang="en-US" sz="1300" dirty="0"/>
          </a:p>
        </p:txBody>
      </p:sp>
      <p:sp>
        <p:nvSpPr>
          <p:cNvPr id="15" name="Text 12"/>
          <p:cNvSpPr/>
          <p:nvPr/>
        </p:nvSpPr>
        <p:spPr>
          <a:xfrm>
            <a:off x="336499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18795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20</a:t>
            </a:r>
            <a:endParaRPr lang="en-US" sz="1300" dirty="0"/>
          </a:p>
        </p:txBody>
      </p:sp>
      <p:sp>
        <p:nvSpPr>
          <p:cNvPr id="17" name="Text 14"/>
          <p:cNvSpPr/>
          <p:nvPr/>
        </p:nvSpPr>
        <p:spPr>
          <a:xfrm>
            <a:off x="418795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Text 15"/>
          <p:cNvSpPr/>
          <p:nvPr/>
        </p:nvSpPr>
        <p:spPr>
          <a:xfrm>
            <a:off x="50109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4</a:t>
            </a:r>
            <a:endParaRPr lang="en-US" sz="1300" dirty="0"/>
          </a:p>
        </p:txBody>
      </p:sp>
      <p:sp>
        <p:nvSpPr>
          <p:cNvPr id="19" name="Text 16"/>
          <p:cNvSpPr/>
          <p:nvPr/>
        </p:nvSpPr>
        <p:spPr>
          <a:xfrm>
            <a:off x="50109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6</a:t>
            </a:r>
            <a:endParaRPr lang="en-US" sz="1100" dirty="0"/>
          </a:p>
        </p:txBody>
      </p:sp>
      <p:sp>
        <p:nvSpPr>
          <p:cNvPr id="20" name="Shape 17"/>
          <p:cNvSpPr/>
          <p:nvPr/>
        </p:nvSpPr>
        <p:spPr>
          <a:xfrm>
            <a:off x="896112" y="2560320"/>
            <a:ext cx="5120640" cy="32918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21" name="Text 18"/>
          <p:cNvSpPr txBox="1"/>
          <p:nvPr/>
        </p:nvSpPr>
        <p:spPr>
          <a:xfrm>
            <a:off x="1033272" y="2651760"/>
            <a:ext cx="4846320" cy="3108960"/>
          </a:xfrm>
          <a:prstGeom prst="rect">
            <a:avLst/>
          </a:prstGeom>
          <a:noFill/>
          <a:ln/>
        </p:spPr>
        <p:txBody>
          <a:bodyPr wrap="square" lIns="0" tIns="0" rIns="0" bIns="0" rtlCol="0" anchor="t"/>
          <a:lstStyle/>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Total ← 0</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Count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FOR Index ← 1 TO 6</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Total ← Total + Scores[Index]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IF Scores[Index] &gt; 10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THEN</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Count ← Count + 1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 Index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OUTPUT "Average: ", ROUND(Total / 6, 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OUTPUT "Over 10: ", Count</a:t>
            </a:r>
            <a:endParaRPr lang="en-US" sz="1250" dirty="0"/>
          </a:p>
        </p:txBody>
      </p:sp>
      <p:sp>
        <p:nvSpPr>
          <p:cNvPr id="22" name="Shape 19"/>
          <p:cNvSpPr/>
          <p:nvPr/>
        </p:nvSpPr>
        <p:spPr>
          <a:xfrm>
            <a:off x="6309360" y="1325880"/>
            <a:ext cx="5212080" cy="31089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23" name="Text 20"/>
          <p:cNvSpPr txBox="1"/>
          <p:nvPr/>
        </p:nvSpPr>
        <p:spPr>
          <a:xfrm>
            <a:off x="6446520" y="1417320"/>
            <a:ext cx="4937760" cy="292608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Total =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Count =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For Index = 0 To 5</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Total = Total + Scores(Index)</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Scores(Index) &gt; 10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Count = Count + 1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Next</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Console.WriteLine("Average: " &amp; Math.Round(Total / 6,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Console.WriteLine("Over 10: " &amp; Count)</a:t>
            </a:r>
            <a:endParaRPr lang="en-US" sz="1100" dirty="0"/>
          </a:p>
        </p:txBody>
      </p:sp>
      <p:sp>
        <p:nvSpPr>
          <p:cNvPr id="24" name="Text 21"/>
          <p:cNvSpPr txBox="1"/>
          <p:nvPr/>
        </p:nvSpPr>
        <p:spPr>
          <a:xfrm>
            <a:off x="6309360" y="4709160"/>
            <a:ext cx="52120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Add the ELEMENT, Scores[Index] - not the index.</a:t>
            </a:r>
            <a:endParaRPr lang="en-US" sz="1500" dirty="0"/>
          </a:p>
        </p:txBody>
      </p:sp>
      <p:sp>
        <p:nvSpPr>
          <p:cNvPr id="25" name="Text 22"/>
          <p:cNvSpPr txBox="1"/>
          <p:nvPr/>
        </p:nvSpPr>
        <p:spPr>
          <a:xfrm>
            <a:off x="6309360" y="5257800"/>
            <a:ext cx="5212080" cy="365760"/>
          </a:xfrm>
          <a:prstGeom prst="rect">
            <a:avLst/>
          </a:prstGeom>
          <a:noFill/>
          <a:ln/>
        </p:spPr>
        <p:txBody>
          <a:bodyPr wrap="square" lIns="0" tIns="0" rIns="0" bIns="0" rtlCol="0" anchor="t"/>
          <a:lstStyle/>
          <a:p>
            <a:pPr indent="0" marL="0">
              <a:spcAft>
                <a:spcPts val="600"/>
              </a:spcAft>
              <a:buNone/>
            </a:pPr>
            <a:r>
              <a:rPr lang="en-US" sz="1400" dirty="0">
                <a:solidFill>
                  <a:srgbClr val="666666"/>
                </a:solidFill>
                <a:latin typeface="Quicksand" pitchFamily="34" charset="0"/>
                <a:ea typeface="Quicksand" pitchFamily="34" charset="-122"/>
                <a:cs typeface="Quicksand" pitchFamily="34" charset="-120"/>
              </a:rPr>
              <a:t>Predict: what is output? (Answer on the next slide.)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Worked example: tracing an array loop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Totalling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Text 4"/>
          <p:cNvSpPr/>
          <p:nvPr/>
        </p:nvSpPr>
        <p:spPr>
          <a:xfrm>
            <a:off x="804672" y="2176272"/>
            <a:ext cx="512064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Scores</a:t>
            </a:r>
            <a:endParaRPr lang="en-US" sz="1200" dirty="0"/>
          </a:p>
        </p:txBody>
      </p:sp>
      <p:sp>
        <p:nvSpPr>
          <p:cNvPr id="8" name="Text 5"/>
          <p:cNvSpPr/>
          <p:nvPr/>
        </p:nvSpPr>
        <p:spPr>
          <a:xfrm>
            <a:off x="8961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12</a:t>
            </a:r>
            <a:endParaRPr lang="en-US" sz="1300" dirty="0"/>
          </a:p>
        </p:txBody>
      </p:sp>
      <p:sp>
        <p:nvSpPr>
          <p:cNvPr id="9" name="Text 6"/>
          <p:cNvSpPr/>
          <p:nvPr/>
        </p:nvSpPr>
        <p:spPr>
          <a:xfrm>
            <a:off x="8961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71907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7</a:t>
            </a:r>
            <a:endParaRPr lang="en-US" sz="1300" dirty="0"/>
          </a:p>
        </p:txBody>
      </p:sp>
      <p:sp>
        <p:nvSpPr>
          <p:cNvPr id="11" name="Text 8"/>
          <p:cNvSpPr/>
          <p:nvPr/>
        </p:nvSpPr>
        <p:spPr>
          <a:xfrm>
            <a:off x="171907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54203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15</a:t>
            </a:r>
            <a:endParaRPr lang="en-US" sz="1300" dirty="0"/>
          </a:p>
        </p:txBody>
      </p:sp>
      <p:sp>
        <p:nvSpPr>
          <p:cNvPr id="13" name="Text 10"/>
          <p:cNvSpPr/>
          <p:nvPr/>
        </p:nvSpPr>
        <p:spPr>
          <a:xfrm>
            <a:off x="254203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36499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9</a:t>
            </a:r>
            <a:endParaRPr lang="en-US" sz="1300" dirty="0"/>
          </a:p>
        </p:txBody>
      </p:sp>
      <p:sp>
        <p:nvSpPr>
          <p:cNvPr id="15" name="Text 12"/>
          <p:cNvSpPr/>
          <p:nvPr/>
        </p:nvSpPr>
        <p:spPr>
          <a:xfrm>
            <a:off x="336499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18795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20</a:t>
            </a:r>
            <a:endParaRPr lang="en-US" sz="1300" dirty="0"/>
          </a:p>
        </p:txBody>
      </p:sp>
      <p:sp>
        <p:nvSpPr>
          <p:cNvPr id="17" name="Text 14"/>
          <p:cNvSpPr/>
          <p:nvPr/>
        </p:nvSpPr>
        <p:spPr>
          <a:xfrm>
            <a:off x="418795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Text 15"/>
          <p:cNvSpPr/>
          <p:nvPr/>
        </p:nvSpPr>
        <p:spPr>
          <a:xfrm>
            <a:off x="50109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4</a:t>
            </a:r>
            <a:endParaRPr lang="en-US" sz="1300" dirty="0"/>
          </a:p>
        </p:txBody>
      </p:sp>
      <p:sp>
        <p:nvSpPr>
          <p:cNvPr id="19" name="Text 16"/>
          <p:cNvSpPr/>
          <p:nvPr/>
        </p:nvSpPr>
        <p:spPr>
          <a:xfrm>
            <a:off x="50109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6</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96112" y="2514600"/>
          <a:ext cx="6949440" cy="914400"/>
        </p:xfrm>
        <a:graphic>
          <a:graphicData uri="http://schemas.openxmlformats.org/drawingml/2006/table">
            <a:tbl>
              <a:tblPr/>
              <a:tblGrid>
                <a:gridCol w="914400"/>
                <a:gridCol w="1554480"/>
                <a:gridCol w="1005840"/>
                <a:gridCol w="1005840"/>
                <a:gridCol w="2468880"/>
              </a:tblGrid>
              <a:tr h="36576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Scores[Index]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Total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Count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OUTPUT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7</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19</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15</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34</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4</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9</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43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5</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20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63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6</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4</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67</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Average: 11.2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Over 10: 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21" name="Shape 17"/>
          <p:cNvSpPr/>
          <p:nvPr/>
        </p:nvSpPr>
        <p:spPr>
          <a:xfrm>
            <a:off x="8138160" y="2514600"/>
            <a:ext cx="3383280" cy="1097280"/>
          </a:xfrm>
          <a:prstGeom prst="rect">
            <a:avLst/>
          </a:prstGeom>
          <a:solidFill>
            <a:srgbClr val="F6F5FC"/>
          </a:solidFill>
          <a:ln w="12700">
            <a:solidFill>
              <a:srgbClr val="F6F5FC"/>
            </a:solidFill>
            <a:prstDash val="solid"/>
          </a:ln>
        </p:spPr>
      </p:sp>
      <p:sp>
        <p:nvSpPr>
          <p:cNvPr id="22" name="Text 18"/>
          <p:cNvSpPr/>
          <p:nvPr/>
        </p:nvSpPr>
        <p:spPr>
          <a:xfrm>
            <a:off x="8275320" y="2651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3" name="Text 19"/>
          <p:cNvSpPr txBox="1"/>
          <p:nvPr/>
        </p:nvSpPr>
        <p:spPr>
          <a:xfrm>
            <a:off x="8796528" y="262432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Look up the element</a:t>
            </a:r>
            <a:endParaRPr lang="en-US" sz="1500" dirty="0"/>
          </a:p>
        </p:txBody>
      </p:sp>
      <p:sp>
        <p:nvSpPr>
          <p:cNvPr id="24" name="Text 20"/>
          <p:cNvSpPr txBox="1"/>
          <p:nvPr/>
        </p:nvSpPr>
        <p:spPr>
          <a:xfrm>
            <a:off x="8796528" y="3017520"/>
            <a:ext cx="26060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Index 3 means Scores[3], which is 15.</a:t>
            </a:r>
            <a:endParaRPr lang="en-US" sz="1250" dirty="0"/>
          </a:p>
        </p:txBody>
      </p:sp>
      <p:sp>
        <p:nvSpPr>
          <p:cNvPr id="25" name="Shape 21"/>
          <p:cNvSpPr/>
          <p:nvPr/>
        </p:nvSpPr>
        <p:spPr>
          <a:xfrm>
            <a:off x="8138160" y="3703320"/>
            <a:ext cx="3383280" cy="1097280"/>
          </a:xfrm>
          <a:prstGeom prst="rect">
            <a:avLst/>
          </a:prstGeom>
          <a:solidFill>
            <a:srgbClr val="F6F5FC"/>
          </a:solidFill>
          <a:ln w="12700">
            <a:solidFill>
              <a:srgbClr val="F6F5FC"/>
            </a:solidFill>
            <a:prstDash val="solid"/>
          </a:ln>
        </p:spPr>
      </p:sp>
      <p:sp>
        <p:nvSpPr>
          <p:cNvPr id="26" name="Text 22"/>
          <p:cNvSpPr/>
          <p:nvPr/>
        </p:nvSpPr>
        <p:spPr>
          <a:xfrm>
            <a:off x="8275320" y="3840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7" name="Text 23"/>
          <p:cNvSpPr txBox="1"/>
          <p:nvPr/>
        </p:nvSpPr>
        <p:spPr>
          <a:xfrm>
            <a:off x="8796528" y="381304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Check the condition</a:t>
            </a:r>
            <a:endParaRPr lang="en-US" sz="1500" dirty="0"/>
          </a:p>
        </p:txBody>
      </p:sp>
      <p:sp>
        <p:nvSpPr>
          <p:cNvPr id="28" name="Text 24"/>
          <p:cNvSpPr txBox="1"/>
          <p:nvPr/>
        </p:nvSpPr>
        <p:spPr>
          <a:xfrm>
            <a:off x="8796528" y="4206240"/>
            <a:ext cx="26060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15 &gt; 10 is TRUE, so Count goes up.</a:t>
            </a:r>
            <a:endParaRPr lang="en-US" sz="1250" dirty="0"/>
          </a:p>
        </p:txBody>
      </p:sp>
      <p:sp>
        <p:nvSpPr>
          <p:cNvPr id="29" name="Shape 25"/>
          <p:cNvSpPr/>
          <p:nvPr/>
        </p:nvSpPr>
        <p:spPr>
          <a:xfrm>
            <a:off x="8138160" y="4892040"/>
            <a:ext cx="3383280" cy="1097280"/>
          </a:xfrm>
          <a:prstGeom prst="rect">
            <a:avLst/>
          </a:prstGeom>
          <a:solidFill>
            <a:srgbClr val="F6F5FC"/>
          </a:solidFill>
          <a:ln w="12700">
            <a:solidFill>
              <a:srgbClr val="F6F5FC"/>
            </a:solidFill>
            <a:prstDash val="solid"/>
          </a:ln>
        </p:spPr>
      </p:sp>
      <p:sp>
        <p:nvSpPr>
          <p:cNvPr id="30" name="Text 26"/>
          <p:cNvSpPr/>
          <p:nvPr/>
        </p:nvSpPr>
        <p:spPr>
          <a:xfrm>
            <a:off x="8275320"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31" name="Text 27"/>
          <p:cNvSpPr txBox="1"/>
          <p:nvPr/>
        </p:nvSpPr>
        <p:spPr>
          <a:xfrm>
            <a:off x="8796528" y="500176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Output after the loop</a:t>
            </a:r>
            <a:endParaRPr lang="en-US" sz="1500" dirty="0"/>
          </a:p>
        </p:txBody>
      </p:sp>
      <p:sp>
        <p:nvSpPr>
          <p:cNvPr id="32" name="Text 28"/>
          <p:cNvSpPr txBox="1"/>
          <p:nvPr/>
        </p:nvSpPr>
        <p:spPr>
          <a:xfrm>
            <a:off x="8796528" y="5394960"/>
            <a:ext cx="26060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Not inside it: outputs belong after NEXT.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Maximum, minimum and ties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Totalling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Text 4"/>
          <p:cNvSpPr/>
          <p:nvPr/>
        </p:nvSpPr>
        <p:spPr>
          <a:xfrm>
            <a:off x="804672" y="2176272"/>
            <a:ext cx="42976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Points</a:t>
            </a:r>
            <a:endParaRPr lang="en-US" sz="1200" dirty="0"/>
          </a:p>
        </p:txBody>
      </p:sp>
      <p:sp>
        <p:nvSpPr>
          <p:cNvPr id="8" name="Text 5"/>
          <p:cNvSpPr/>
          <p:nvPr/>
        </p:nvSpPr>
        <p:spPr>
          <a:xfrm>
            <a:off x="8961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34</a:t>
            </a:r>
            <a:endParaRPr lang="en-US" sz="1300" dirty="0"/>
          </a:p>
        </p:txBody>
      </p:sp>
      <p:sp>
        <p:nvSpPr>
          <p:cNvPr id="9" name="Text 6"/>
          <p:cNvSpPr/>
          <p:nvPr/>
        </p:nvSpPr>
        <p:spPr>
          <a:xfrm>
            <a:off x="8961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719072" y="1600200"/>
            <a:ext cx="82296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51</a:t>
            </a:r>
            <a:endParaRPr lang="en-US" sz="1300" dirty="0"/>
          </a:p>
        </p:txBody>
      </p:sp>
      <p:sp>
        <p:nvSpPr>
          <p:cNvPr id="11" name="Text 8"/>
          <p:cNvSpPr/>
          <p:nvPr/>
        </p:nvSpPr>
        <p:spPr>
          <a:xfrm>
            <a:off x="171907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54203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28</a:t>
            </a:r>
            <a:endParaRPr lang="en-US" sz="1300" dirty="0"/>
          </a:p>
        </p:txBody>
      </p:sp>
      <p:sp>
        <p:nvSpPr>
          <p:cNvPr id="13" name="Text 10"/>
          <p:cNvSpPr/>
          <p:nvPr/>
        </p:nvSpPr>
        <p:spPr>
          <a:xfrm>
            <a:off x="254203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364992" y="1600200"/>
            <a:ext cx="82296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51</a:t>
            </a:r>
            <a:endParaRPr lang="en-US" sz="1300" dirty="0"/>
          </a:p>
        </p:txBody>
      </p:sp>
      <p:sp>
        <p:nvSpPr>
          <p:cNvPr id="15" name="Text 12"/>
          <p:cNvSpPr/>
          <p:nvPr/>
        </p:nvSpPr>
        <p:spPr>
          <a:xfrm>
            <a:off x="336499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18795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40</a:t>
            </a:r>
            <a:endParaRPr lang="en-US" sz="1300" dirty="0"/>
          </a:p>
        </p:txBody>
      </p:sp>
      <p:sp>
        <p:nvSpPr>
          <p:cNvPr id="17" name="Text 14"/>
          <p:cNvSpPr/>
          <p:nvPr/>
        </p:nvSpPr>
        <p:spPr>
          <a:xfrm>
            <a:off x="418795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Text 15"/>
          <p:cNvSpPr/>
          <p:nvPr/>
        </p:nvSpPr>
        <p:spPr>
          <a:xfrm>
            <a:off x="804672" y="3319272"/>
            <a:ext cx="42976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Names</a:t>
            </a:r>
            <a:endParaRPr lang="en-US" sz="1200" dirty="0"/>
          </a:p>
        </p:txBody>
      </p:sp>
      <p:sp>
        <p:nvSpPr>
          <p:cNvPr id="19" name="Text 16"/>
          <p:cNvSpPr/>
          <p:nvPr/>
        </p:nvSpPr>
        <p:spPr>
          <a:xfrm>
            <a:off x="896112" y="2743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100" dirty="0">
                <a:solidFill>
                  <a:srgbClr val="202124"/>
                </a:solidFill>
                <a:latin typeface="Roboto Mono" pitchFamily="34" charset="0"/>
                <a:ea typeface="Roboto Mono" pitchFamily="34" charset="-122"/>
                <a:cs typeface="Roboto Mono" pitchFamily="34" charset="-120"/>
              </a:rPr>
              <a:t>Asha</a:t>
            </a:r>
            <a:endParaRPr lang="en-US" sz="1100" dirty="0"/>
          </a:p>
        </p:txBody>
      </p:sp>
      <p:sp>
        <p:nvSpPr>
          <p:cNvPr id="20" name="Text 17"/>
          <p:cNvSpPr/>
          <p:nvPr/>
        </p:nvSpPr>
        <p:spPr>
          <a:xfrm>
            <a:off x="896112" y="2450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21" name="Text 18"/>
          <p:cNvSpPr/>
          <p:nvPr/>
        </p:nvSpPr>
        <p:spPr>
          <a:xfrm>
            <a:off x="1719072" y="2743200"/>
            <a:ext cx="82296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100" dirty="0">
                <a:solidFill>
                  <a:srgbClr val="202124"/>
                </a:solidFill>
                <a:latin typeface="Roboto Mono" pitchFamily="34" charset="0"/>
                <a:ea typeface="Roboto Mono" pitchFamily="34" charset="-122"/>
                <a:cs typeface="Roboto Mono" pitchFamily="34" charset="-120"/>
              </a:rPr>
              <a:t>Ben</a:t>
            </a:r>
            <a:endParaRPr lang="en-US" sz="1100" dirty="0"/>
          </a:p>
        </p:txBody>
      </p:sp>
      <p:sp>
        <p:nvSpPr>
          <p:cNvPr id="22" name="Text 19"/>
          <p:cNvSpPr/>
          <p:nvPr/>
        </p:nvSpPr>
        <p:spPr>
          <a:xfrm>
            <a:off x="1719072" y="2450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23" name="Text 20"/>
          <p:cNvSpPr/>
          <p:nvPr/>
        </p:nvSpPr>
        <p:spPr>
          <a:xfrm>
            <a:off x="2542032" y="2743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100" dirty="0">
                <a:solidFill>
                  <a:srgbClr val="202124"/>
                </a:solidFill>
                <a:latin typeface="Roboto Mono" pitchFamily="34" charset="0"/>
                <a:ea typeface="Roboto Mono" pitchFamily="34" charset="-122"/>
                <a:cs typeface="Roboto Mono" pitchFamily="34" charset="-120"/>
              </a:rPr>
              <a:t>Chloe</a:t>
            </a:r>
            <a:endParaRPr lang="en-US" sz="1100" dirty="0"/>
          </a:p>
        </p:txBody>
      </p:sp>
      <p:sp>
        <p:nvSpPr>
          <p:cNvPr id="24" name="Text 21"/>
          <p:cNvSpPr/>
          <p:nvPr/>
        </p:nvSpPr>
        <p:spPr>
          <a:xfrm>
            <a:off x="2542032" y="2450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25" name="Text 22"/>
          <p:cNvSpPr/>
          <p:nvPr/>
        </p:nvSpPr>
        <p:spPr>
          <a:xfrm>
            <a:off x="3364992" y="2743200"/>
            <a:ext cx="82296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100" dirty="0">
                <a:solidFill>
                  <a:srgbClr val="202124"/>
                </a:solidFill>
                <a:latin typeface="Roboto Mono" pitchFamily="34" charset="0"/>
                <a:ea typeface="Roboto Mono" pitchFamily="34" charset="-122"/>
                <a:cs typeface="Roboto Mono" pitchFamily="34" charset="-120"/>
              </a:rPr>
              <a:t>Dev</a:t>
            </a:r>
            <a:endParaRPr lang="en-US" sz="1100" dirty="0"/>
          </a:p>
        </p:txBody>
      </p:sp>
      <p:sp>
        <p:nvSpPr>
          <p:cNvPr id="26" name="Text 23"/>
          <p:cNvSpPr/>
          <p:nvPr/>
        </p:nvSpPr>
        <p:spPr>
          <a:xfrm>
            <a:off x="3364992" y="2450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27" name="Text 24"/>
          <p:cNvSpPr/>
          <p:nvPr/>
        </p:nvSpPr>
        <p:spPr>
          <a:xfrm>
            <a:off x="4187952" y="2743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100" dirty="0">
                <a:solidFill>
                  <a:srgbClr val="202124"/>
                </a:solidFill>
                <a:latin typeface="Roboto Mono" pitchFamily="34" charset="0"/>
                <a:ea typeface="Roboto Mono" pitchFamily="34" charset="-122"/>
                <a:cs typeface="Roboto Mono" pitchFamily="34" charset="-120"/>
              </a:rPr>
              <a:t>Emi</a:t>
            </a:r>
            <a:endParaRPr lang="en-US" sz="1100" dirty="0"/>
          </a:p>
        </p:txBody>
      </p:sp>
      <p:sp>
        <p:nvSpPr>
          <p:cNvPr id="28" name="Text 25"/>
          <p:cNvSpPr/>
          <p:nvPr/>
        </p:nvSpPr>
        <p:spPr>
          <a:xfrm>
            <a:off x="4187952" y="2450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29" name="Shape 26"/>
          <p:cNvSpPr/>
          <p:nvPr/>
        </p:nvSpPr>
        <p:spPr>
          <a:xfrm>
            <a:off x="5486400" y="1325880"/>
            <a:ext cx="6035040" cy="42062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30" name="Text 27"/>
          <p:cNvSpPr txBox="1"/>
          <p:nvPr/>
        </p:nvSpPr>
        <p:spPr>
          <a:xfrm>
            <a:off x="5623560" y="1417320"/>
            <a:ext cx="5760720" cy="4023360"/>
          </a:xfrm>
          <a:prstGeom prst="rect">
            <a:avLst/>
          </a:prstGeom>
          <a:noFill/>
          <a:ln/>
        </p:spPr>
        <p:txBody>
          <a:bodyPr wrap="square" lIns="0" tIns="0" rIns="0" bIns="0" rtlCol="0" anchor="t"/>
          <a:lstStyle/>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Max ← Points[1]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FOR Index ← 2 TO 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IF Points[Index] &gt; Max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Max ← Points[Index]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 Index</a:t>
            </a:r>
            <a:endParaRPr lang="en-US" sz="1250" dirty="0"/>
          </a:p>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second loop: output EVERY name with Max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FOR Index ← 1 TO 5</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IF Points[Index] = Max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OUTPUT Names[Index]</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 Index</a:t>
            </a:r>
            <a:endParaRPr lang="en-US" sz="1250" dirty="0"/>
          </a:p>
        </p:txBody>
      </p:sp>
      <p:sp>
        <p:nvSpPr>
          <p:cNvPr id="31" name="Text 28"/>
          <p:cNvSpPr txBox="1"/>
          <p:nvPr/>
        </p:nvSpPr>
        <p:spPr>
          <a:xfrm>
            <a:off x="896112" y="3840480"/>
            <a:ext cx="4206240" cy="8229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Ben AND Dev both scored 51. Output both - examiners check for ties.</a:t>
            </a:r>
            <a:endParaRPr lang="en-US" sz="1500" dirty="0"/>
          </a:p>
        </p:txBody>
      </p:sp>
      <p:sp>
        <p:nvSpPr>
          <p:cNvPr id="32" name="Text 29"/>
          <p:cNvSpPr txBox="1"/>
          <p:nvPr/>
        </p:nvSpPr>
        <p:spPr>
          <a:xfrm>
            <a:off x="896112" y="4846320"/>
            <a:ext cx="4206240" cy="731520"/>
          </a:xfrm>
          <a:prstGeom prst="rect">
            <a:avLst/>
          </a:prstGeom>
          <a:noFill/>
          <a:ln/>
        </p:spPr>
        <p:txBody>
          <a:bodyPr wrap="square" lIns="0" tIns="0" rIns="0" bIns="0" rtlCol="0" anchor="t"/>
          <a:lstStyle/>
          <a:p>
            <a:pPr indent="0" marL="0">
              <a:spcAft>
                <a:spcPts val="600"/>
              </a:spcAft>
              <a:buNone/>
            </a:pPr>
            <a:r>
              <a:rPr lang="en-US" sz="1400" dirty="0">
                <a:solidFill>
                  <a:srgbClr val="666666"/>
                </a:solidFill>
                <a:latin typeface="Quicksand" pitchFamily="34" charset="0"/>
                <a:ea typeface="Quicksand" pitchFamily="34" charset="-122"/>
                <a:cs typeface="Quicksand" pitchFamily="34" charset="-120"/>
              </a:rPr>
              <a:t>Minimum: the same with &lt;.  Average: Total / number of elements.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Linear search</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Linear search</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896112" y="1325880"/>
            <a:ext cx="4206240" cy="960120"/>
          </a:xfrm>
          <a:prstGeom prst="rect">
            <a:avLst/>
          </a:prstGeom>
          <a:solidFill>
            <a:srgbClr val="F6F5FC"/>
          </a:solidFill>
          <a:ln w="12700">
            <a:solidFill>
              <a:srgbClr val="F6F5FC"/>
            </a:solidFill>
            <a:prstDash val="solid"/>
          </a:ln>
        </p:spPr>
      </p:sp>
      <p:sp>
        <p:nvSpPr>
          <p:cNvPr id="8" name="Text 5"/>
          <p:cNvSpPr/>
          <p:nvPr/>
        </p:nvSpPr>
        <p:spPr>
          <a:xfrm>
            <a:off x="103327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54480" y="143560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Start at the first element</a:t>
            </a:r>
            <a:endParaRPr lang="en-US" sz="1500" dirty="0"/>
          </a:p>
        </p:txBody>
      </p:sp>
      <p:sp>
        <p:nvSpPr>
          <p:cNvPr id="10" name="Text 7"/>
          <p:cNvSpPr txBox="1"/>
          <p:nvPr/>
        </p:nvSpPr>
        <p:spPr>
          <a:xfrm>
            <a:off x="1554480" y="1828800"/>
            <a:ext cx="34290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Index ← 1 and Found ← FALSE.</a:t>
            </a:r>
            <a:endParaRPr lang="en-US" sz="1250" dirty="0"/>
          </a:p>
        </p:txBody>
      </p:sp>
      <p:sp>
        <p:nvSpPr>
          <p:cNvPr id="11" name="Shape 8"/>
          <p:cNvSpPr/>
          <p:nvPr/>
        </p:nvSpPr>
        <p:spPr>
          <a:xfrm>
            <a:off x="896112" y="2377440"/>
            <a:ext cx="4206240" cy="960120"/>
          </a:xfrm>
          <a:prstGeom prst="rect">
            <a:avLst/>
          </a:prstGeom>
          <a:solidFill>
            <a:srgbClr val="F6F5FC"/>
          </a:solidFill>
          <a:ln w="12700">
            <a:solidFill>
              <a:srgbClr val="F6F5FC"/>
            </a:solidFill>
            <a:prstDash val="solid"/>
          </a:ln>
        </p:spPr>
      </p:sp>
      <p:sp>
        <p:nvSpPr>
          <p:cNvPr id="12" name="Text 9"/>
          <p:cNvSpPr/>
          <p:nvPr/>
        </p:nvSpPr>
        <p:spPr>
          <a:xfrm>
            <a:off x="1033272" y="2514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554480" y="248716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Compare</a:t>
            </a:r>
            <a:endParaRPr lang="en-US" sz="1500" dirty="0"/>
          </a:p>
        </p:txBody>
      </p:sp>
      <p:sp>
        <p:nvSpPr>
          <p:cNvPr id="14" name="Text 11"/>
          <p:cNvSpPr txBox="1"/>
          <p:nvPr/>
        </p:nvSpPr>
        <p:spPr>
          <a:xfrm>
            <a:off x="1554480" y="2880360"/>
            <a:ext cx="34290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Is this element the one we want?</a:t>
            </a:r>
            <a:endParaRPr lang="en-US" sz="1250" dirty="0"/>
          </a:p>
        </p:txBody>
      </p:sp>
      <p:sp>
        <p:nvSpPr>
          <p:cNvPr id="15" name="Shape 12"/>
          <p:cNvSpPr/>
          <p:nvPr/>
        </p:nvSpPr>
        <p:spPr>
          <a:xfrm>
            <a:off x="896112" y="3429000"/>
            <a:ext cx="4206240" cy="960120"/>
          </a:xfrm>
          <a:prstGeom prst="rect">
            <a:avLst/>
          </a:prstGeom>
          <a:solidFill>
            <a:srgbClr val="F6F5FC"/>
          </a:solidFill>
          <a:ln w="12700">
            <a:solidFill>
              <a:srgbClr val="F6F5FC"/>
            </a:solidFill>
            <a:prstDash val="solid"/>
          </a:ln>
        </p:spPr>
      </p:sp>
      <p:sp>
        <p:nvSpPr>
          <p:cNvPr id="16" name="Text 13"/>
          <p:cNvSpPr/>
          <p:nvPr/>
        </p:nvSpPr>
        <p:spPr>
          <a:xfrm>
            <a:off x="1033272" y="3566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554480" y="353872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Move on or stop</a:t>
            </a:r>
            <a:endParaRPr lang="en-US" sz="1500" dirty="0"/>
          </a:p>
        </p:txBody>
      </p:sp>
      <p:sp>
        <p:nvSpPr>
          <p:cNvPr id="18" name="Text 15"/>
          <p:cNvSpPr txBox="1"/>
          <p:nvPr/>
        </p:nvSpPr>
        <p:spPr>
          <a:xfrm>
            <a:off x="1554480" y="3931920"/>
            <a:ext cx="34290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Found: stop. Not found: next index.</a:t>
            </a:r>
            <a:endParaRPr lang="en-US" sz="1250" dirty="0"/>
          </a:p>
        </p:txBody>
      </p:sp>
      <p:sp>
        <p:nvSpPr>
          <p:cNvPr id="19" name="Shape 16"/>
          <p:cNvSpPr/>
          <p:nvPr/>
        </p:nvSpPr>
        <p:spPr>
          <a:xfrm>
            <a:off x="896112" y="4480560"/>
            <a:ext cx="4206240" cy="1143000"/>
          </a:xfrm>
          <a:prstGeom prst="rect">
            <a:avLst/>
          </a:prstGeom>
          <a:solidFill>
            <a:srgbClr val="F6F5FC"/>
          </a:solidFill>
          <a:ln w="12700">
            <a:solidFill>
              <a:srgbClr val="F6F5FC"/>
            </a:solidFill>
            <a:prstDash val="solid"/>
          </a:ln>
        </p:spPr>
      </p:sp>
      <p:sp>
        <p:nvSpPr>
          <p:cNvPr id="20" name="Text 17"/>
          <p:cNvSpPr/>
          <p:nvPr/>
        </p:nvSpPr>
        <p:spPr>
          <a:xfrm>
            <a:off x="1033272" y="46177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1554480" y="459028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Stop at the end too</a:t>
            </a:r>
            <a:endParaRPr lang="en-US" sz="1500" dirty="0"/>
          </a:p>
        </p:txBody>
      </p:sp>
      <p:sp>
        <p:nvSpPr>
          <p:cNvPr id="22" name="Text 19"/>
          <p:cNvSpPr txBox="1"/>
          <p:nvPr/>
        </p:nvSpPr>
        <p:spPr>
          <a:xfrm>
            <a:off x="1554480" y="498348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the index passes the last element, the item is not there.</a:t>
            </a:r>
            <a:endParaRPr lang="en-US" sz="1250" dirty="0"/>
          </a:p>
        </p:txBody>
      </p:sp>
      <p:sp>
        <p:nvSpPr>
          <p:cNvPr id="23" name="Shape 20"/>
          <p:cNvSpPr/>
          <p:nvPr/>
        </p:nvSpPr>
        <p:spPr>
          <a:xfrm>
            <a:off x="5394960" y="1325880"/>
            <a:ext cx="6126480" cy="4480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24" name="Text 21"/>
          <p:cNvSpPr txBox="1"/>
          <p:nvPr/>
        </p:nvSpPr>
        <p:spPr>
          <a:xfrm>
            <a:off x="5532120" y="1417320"/>
            <a:ext cx="5852160" cy="4297680"/>
          </a:xfrm>
          <a:prstGeom prst="rect">
            <a:avLst/>
          </a:prstGeom>
          <a:noFill/>
          <a:ln/>
        </p:spPr>
        <p:txBody>
          <a:bodyPr wrap="square" lIns="0" tIns="0" rIns="0" bIns="0" rtlCol="0" anchor="t"/>
          <a:lstStyle/>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INPUT Wanted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Index ← 1</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Found ← FALSE</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WHILE Index &lt;= 6 AND NOT Found DO</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IF Codes[Index] = Wanted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THEN</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Found ← TRUE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ELSE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Index ← Index + 1</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ENDIF</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ENDWHILE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IF Found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THEN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OUTPUT "Found at position ", Index</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ELSE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OUTPUT "Not found"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ENDIF</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Tracing a linear search</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Linear search</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p:nvPr/>
        </p:nvSpPr>
        <p:spPr>
          <a:xfrm>
            <a:off x="804672" y="2176272"/>
            <a:ext cx="539496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Codes</a:t>
            </a:r>
            <a:endParaRPr lang="en-US" sz="1200" dirty="0"/>
          </a:p>
        </p:txBody>
      </p:sp>
      <p:sp>
        <p:nvSpPr>
          <p:cNvPr id="8" name="Text 5"/>
          <p:cNvSpPr/>
          <p:nvPr/>
        </p:nvSpPr>
        <p:spPr>
          <a:xfrm>
            <a:off x="896112" y="1600200"/>
            <a:ext cx="86868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K12</a:t>
            </a:r>
            <a:endParaRPr lang="en-US" sz="1300" dirty="0"/>
          </a:p>
        </p:txBody>
      </p:sp>
      <p:sp>
        <p:nvSpPr>
          <p:cNvPr id="9" name="Text 6"/>
          <p:cNvSpPr/>
          <p:nvPr/>
        </p:nvSpPr>
        <p:spPr>
          <a:xfrm>
            <a:off x="89611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764792" y="1600200"/>
            <a:ext cx="86868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B07</a:t>
            </a:r>
            <a:endParaRPr lang="en-US" sz="1300" dirty="0"/>
          </a:p>
        </p:txBody>
      </p:sp>
      <p:sp>
        <p:nvSpPr>
          <p:cNvPr id="11" name="Text 8"/>
          <p:cNvSpPr/>
          <p:nvPr/>
        </p:nvSpPr>
        <p:spPr>
          <a:xfrm>
            <a:off x="176479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633472" y="1600200"/>
            <a:ext cx="86868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M33</a:t>
            </a:r>
            <a:endParaRPr lang="en-US" sz="1300" dirty="0"/>
          </a:p>
        </p:txBody>
      </p:sp>
      <p:sp>
        <p:nvSpPr>
          <p:cNvPr id="13" name="Text 10"/>
          <p:cNvSpPr/>
          <p:nvPr/>
        </p:nvSpPr>
        <p:spPr>
          <a:xfrm>
            <a:off x="263347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502152" y="1600200"/>
            <a:ext cx="86868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A19</a:t>
            </a:r>
            <a:endParaRPr lang="en-US" sz="1300" dirty="0"/>
          </a:p>
        </p:txBody>
      </p:sp>
      <p:sp>
        <p:nvSpPr>
          <p:cNvPr id="15" name="Text 12"/>
          <p:cNvSpPr/>
          <p:nvPr/>
        </p:nvSpPr>
        <p:spPr>
          <a:xfrm>
            <a:off x="350215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370832" y="1600200"/>
            <a:ext cx="86868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C02</a:t>
            </a:r>
            <a:endParaRPr lang="en-US" sz="1300" dirty="0"/>
          </a:p>
        </p:txBody>
      </p:sp>
      <p:sp>
        <p:nvSpPr>
          <p:cNvPr id="17" name="Text 14"/>
          <p:cNvSpPr/>
          <p:nvPr/>
        </p:nvSpPr>
        <p:spPr>
          <a:xfrm>
            <a:off x="437083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Text 15"/>
          <p:cNvSpPr/>
          <p:nvPr/>
        </p:nvSpPr>
        <p:spPr>
          <a:xfrm>
            <a:off x="5239512" y="1600200"/>
            <a:ext cx="86868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F44</a:t>
            </a:r>
            <a:endParaRPr lang="en-US" sz="1300" dirty="0"/>
          </a:p>
        </p:txBody>
      </p:sp>
      <p:sp>
        <p:nvSpPr>
          <p:cNvPr id="19" name="Text 16"/>
          <p:cNvSpPr/>
          <p:nvPr/>
        </p:nvSpPr>
        <p:spPr>
          <a:xfrm>
            <a:off x="5239512" y="1307592"/>
            <a:ext cx="86868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6</a:t>
            </a:r>
            <a:endParaRPr lang="en-US" sz="1100" dirty="0"/>
          </a:p>
        </p:txBody>
      </p:sp>
      <p:sp>
        <p:nvSpPr>
          <p:cNvPr id="20" name="Text 17"/>
          <p:cNvSpPr txBox="1"/>
          <p:nvPr/>
        </p:nvSpPr>
        <p:spPr>
          <a:xfrm>
            <a:off x="896112" y="260604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Search for A19</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96112" y="2971800"/>
          <a:ext cx="4754880" cy="914400"/>
        </p:xfrm>
        <a:graphic>
          <a:graphicData uri="http://schemas.openxmlformats.org/drawingml/2006/table">
            <a:tbl>
              <a:tblPr/>
              <a:tblGrid>
                <a:gridCol w="1188720"/>
                <a:gridCol w="2011680"/>
                <a:gridCol w="1554480"/>
              </a:tblGrid>
              <a:tr h="38404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Codes[Index]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Found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K12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FALSE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2</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B07</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FALSE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M33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FALSE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4</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A19</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TRUE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2" name="Text 18"/>
          <p:cNvSpPr txBox="1"/>
          <p:nvPr/>
        </p:nvSpPr>
        <p:spPr>
          <a:xfrm>
            <a:off x="6309360" y="260604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Search for Z99</a:t>
            </a:r>
            <a:endParaRPr lang="en-US" sz="15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2971800"/>
          <a:ext cx="5212080" cy="914400"/>
        </p:xfrm>
        <a:graphic>
          <a:graphicData uri="http://schemas.openxmlformats.org/drawingml/2006/table">
            <a:tbl>
              <a:tblPr/>
              <a:tblGrid>
                <a:gridCol w="1371600"/>
                <a:gridCol w="2194560"/>
                <a:gridCol w="1645920"/>
              </a:tblGrid>
              <a:tr h="38404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Codes[Index]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Found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1 ... 6</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no match</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FALSE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7</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(loop stops)</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FALSE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4" name="Text 19"/>
          <p:cNvSpPr txBox="1"/>
          <p:nvPr/>
        </p:nvSpPr>
        <p:spPr>
          <a:xfrm>
            <a:off x="896112" y="4983480"/>
            <a:ext cx="4754880" cy="365760"/>
          </a:xfrm>
          <a:prstGeom prst="rect">
            <a:avLst/>
          </a:prstGeom>
          <a:noFill/>
          <a:ln/>
        </p:spPr>
        <p:txBody>
          <a:bodyPr wrap="square" lIns="0" tIns="0" rIns="0" bIns="0" rtlCol="0" anchor="t"/>
          <a:lstStyle/>
          <a:p>
            <a:pPr indent="0" marL="0">
              <a:spcAft>
                <a:spcPts val="600"/>
              </a:spcAft>
              <a:buNone/>
            </a:pPr>
            <a:r>
              <a:rPr lang="en-US" sz="1400" b="1" dirty="0">
                <a:solidFill>
                  <a:srgbClr val="202124"/>
                </a:solidFill>
                <a:latin typeface="Roboto Mono" pitchFamily="34" charset="0"/>
                <a:ea typeface="Roboto Mono" pitchFamily="34" charset="-122"/>
                <a:cs typeface="Roboto Mono" pitchFamily="34" charset="-120"/>
              </a:rPr>
              <a:t>OUTPUT:  Found at position 4</a:t>
            </a:r>
            <a:endParaRPr lang="en-US" sz="1400" dirty="0"/>
          </a:p>
        </p:txBody>
      </p:sp>
      <p:sp>
        <p:nvSpPr>
          <p:cNvPr id="25" name="Text 20"/>
          <p:cNvSpPr txBox="1"/>
          <p:nvPr/>
        </p:nvSpPr>
        <p:spPr>
          <a:xfrm>
            <a:off x="6309360" y="4206240"/>
            <a:ext cx="5212080" cy="365760"/>
          </a:xfrm>
          <a:prstGeom prst="rect">
            <a:avLst/>
          </a:prstGeom>
          <a:noFill/>
          <a:ln/>
        </p:spPr>
        <p:txBody>
          <a:bodyPr wrap="square" lIns="0" tIns="0" rIns="0" bIns="0" rtlCol="0" anchor="t"/>
          <a:lstStyle/>
          <a:p>
            <a:pPr indent="0" marL="0">
              <a:spcAft>
                <a:spcPts val="600"/>
              </a:spcAft>
              <a:buNone/>
            </a:pPr>
            <a:r>
              <a:rPr lang="en-US" sz="1400" b="1" dirty="0">
                <a:solidFill>
                  <a:srgbClr val="202124"/>
                </a:solidFill>
                <a:latin typeface="Roboto Mono" pitchFamily="34" charset="0"/>
                <a:ea typeface="Roboto Mono" pitchFamily="34" charset="-122"/>
                <a:cs typeface="Roboto Mono" pitchFamily="34" charset="-120"/>
              </a:rPr>
              <a:t>OUTPUT:  Not found</a:t>
            </a:r>
            <a:endParaRPr lang="en-US" sz="1400" dirty="0"/>
          </a:p>
        </p:txBody>
      </p:sp>
      <p:sp>
        <p:nvSpPr>
          <p:cNvPr id="26" name="Text 21"/>
          <p:cNvSpPr txBox="1"/>
          <p:nvPr/>
        </p:nvSpPr>
        <p:spPr>
          <a:xfrm>
            <a:off x="6309360" y="4800600"/>
            <a:ext cx="521208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Found: stops early.  Not found: checks every element, then stops at the end.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Linear search: what changes for each task?</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Linear search</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607040" cy="914400"/>
        </p:xfrm>
        <a:graphic>
          <a:graphicData uri="http://schemas.openxmlformats.org/drawingml/2006/table">
            <a:tbl>
              <a:tblPr/>
              <a:tblGrid>
                <a:gridCol w="3657600"/>
                <a:gridCol w="2377440"/>
                <a:gridCol w="2011680"/>
                <a:gridCol w="2560320"/>
              </a:tblGrid>
              <a:tr h="54864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Task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Loop</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Stop early?</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What you keep</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Is X in the array? Where?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WHILE / REPEAT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 when found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Found flag, Index</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How many times does X appear?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FOR (every element)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Count ← Count + 1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Output every position of X</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FOR (every element)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OUTPUT Index inside the IF</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Look up a matching value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WHILE / REPEAT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 when found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Use Index in a second array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Check a new value is not already used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WHILE / REPEAT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 when found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Found tells you to reject 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96112" y="4892040"/>
            <a:ext cx="7498080" cy="1234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5"/>
          <p:cNvSpPr txBox="1"/>
          <p:nvPr/>
        </p:nvSpPr>
        <p:spPr>
          <a:xfrm>
            <a:off x="1033272" y="4983480"/>
            <a:ext cx="7223760" cy="1051560"/>
          </a:xfrm>
          <a:prstGeom prst="rect">
            <a:avLst/>
          </a:prstGeom>
          <a:noFill/>
          <a:ln/>
        </p:spPr>
        <p:txBody>
          <a:bodyPr wrap="square" lIns="0" tIns="0" rIns="0" bIns="0" rtlCol="0" anchor="t"/>
          <a:lstStyle/>
          <a:p>
            <a:pPr indent="0" marL="0">
              <a:lnSpc>
                <a:spcPct val="105000"/>
              </a:lnSpc>
              <a:buNone/>
            </a:pPr>
            <a:r>
              <a:rPr lang="en-US" sz="1200" dirty="0">
                <a:solidFill>
                  <a:srgbClr val="666666"/>
                </a:solidFill>
                <a:latin typeface="Roboto Mono" pitchFamily="34" charset="0"/>
                <a:ea typeface="Roboto Mono" pitchFamily="34" charset="-122"/>
                <a:cs typeface="Roboto Mono" pitchFamily="34" charset="-120"/>
              </a:rPr>
              <a:t>// counting occurrences: check every element</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Count ← 0</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FOR Index ← 1 TO 100</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IF Rolls[Index] = Wanted THEN Count ← Count + 1 ENDIF</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NEXT Index</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Parallel arrays: two lists, one index</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Linear search</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Text 4"/>
          <p:cNvSpPr/>
          <p:nvPr/>
        </p:nvSpPr>
        <p:spPr>
          <a:xfrm>
            <a:off x="804672" y="2313432"/>
            <a:ext cx="49834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Names</a:t>
            </a:r>
            <a:endParaRPr lang="en-US" sz="1200" dirty="0"/>
          </a:p>
        </p:txBody>
      </p:sp>
      <p:sp>
        <p:nvSpPr>
          <p:cNvPr id="8" name="Text 5"/>
          <p:cNvSpPr/>
          <p:nvPr/>
        </p:nvSpPr>
        <p:spPr>
          <a:xfrm>
            <a:off x="896112" y="1737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Ana</a:t>
            </a:r>
            <a:endParaRPr lang="en-US" sz="1200" dirty="0"/>
          </a:p>
        </p:txBody>
      </p:sp>
      <p:sp>
        <p:nvSpPr>
          <p:cNvPr id="9" name="Text 6"/>
          <p:cNvSpPr/>
          <p:nvPr/>
        </p:nvSpPr>
        <p:spPr>
          <a:xfrm>
            <a:off x="896112" y="1444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856232" y="1737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Ben</a:t>
            </a:r>
            <a:endParaRPr lang="en-US" sz="1200" dirty="0"/>
          </a:p>
        </p:txBody>
      </p:sp>
      <p:sp>
        <p:nvSpPr>
          <p:cNvPr id="11" name="Text 8"/>
          <p:cNvSpPr/>
          <p:nvPr/>
        </p:nvSpPr>
        <p:spPr>
          <a:xfrm>
            <a:off x="1856232" y="1444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816352" y="1737360"/>
            <a:ext cx="96012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Chen</a:t>
            </a:r>
            <a:endParaRPr lang="en-US" sz="1200" dirty="0"/>
          </a:p>
        </p:txBody>
      </p:sp>
      <p:sp>
        <p:nvSpPr>
          <p:cNvPr id="13" name="Text 10"/>
          <p:cNvSpPr/>
          <p:nvPr/>
        </p:nvSpPr>
        <p:spPr>
          <a:xfrm>
            <a:off x="2816352" y="1444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776472" y="1737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Dara</a:t>
            </a:r>
            <a:endParaRPr lang="en-US" sz="1200" dirty="0"/>
          </a:p>
        </p:txBody>
      </p:sp>
      <p:sp>
        <p:nvSpPr>
          <p:cNvPr id="15" name="Text 12"/>
          <p:cNvSpPr/>
          <p:nvPr/>
        </p:nvSpPr>
        <p:spPr>
          <a:xfrm>
            <a:off x="3776472" y="1444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736592" y="1737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Eli</a:t>
            </a:r>
            <a:endParaRPr lang="en-US" sz="1200" dirty="0"/>
          </a:p>
        </p:txBody>
      </p:sp>
      <p:sp>
        <p:nvSpPr>
          <p:cNvPr id="17" name="Text 14"/>
          <p:cNvSpPr/>
          <p:nvPr/>
        </p:nvSpPr>
        <p:spPr>
          <a:xfrm>
            <a:off x="4736592" y="1444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Text 15"/>
          <p:cNvSpPr/>
          <p:nvPr/>
        </p:nvSpPr>
        <p:spPr>
          <a:xfrm>
            <a:off x="804672" y="3456432"/>
            <a:ext cx="49834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Distance</a:t>
            </a:r>
            <a:endParaRPr lang="en-US" sz="1200" dirty="0"/>
          </a:p>
        </p:txBody>
      </p:sp>
      <p:sp>
        <p:nvSpPr>
          <p:cNvPr id="19" name="Text 16"/>
          <p:cNvSpPr/>
          <p:nvPr/>
        </p:nvSpPr>
        <p:spPr>
          <a:xfrm>
            <a:off x="896112" y="2880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12.5</a:t>
            </a:r>
            <a:endParaRPr lang="en-US" sz="1200" dirty="0"/>
          </a:p>
        </p:txBody>
      </p:sp>
      <p:sp>
        <p:nvSpPr>
          <p:cNvPr id="20" name="Text 17"/>
          <p:cNvSpPr/>
          <p:nvPr/>
        </p:nvSpPr>
        <p:spPr>
          <a:xfrm>
            <a:off x="896112" y="2587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21" name="Text 18"/>
          <p:cNvSpPr/>
          <p:nvPr/>
        </p:nvSpPr>
        <p:spPr>
          <a:xfrm>
            <a:off x="1856232" y="2880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8</a:t>
            </a:r>
            <a:endParaRPr lang="en-US" sz="1200" dirty="0"/>
          </a:p>
        </p:txBody>
      </p:sp>
      <p:sp>
        <p:nvSpPr>
          <p:cNvPr id="22" name="Text 19"/>
          <p:cNvSpPr/>
          <p:nvPr/>
        </p:nvSpPr>
        <p:spPr>
          <a:xfrm>
            <a:off x="1856232" y="2587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23" name="Text 20"/>
          <p:cNvSpPr/>
          <p:nvPr/>
        </p:nvSpPr>
        <p:spPr>
          <a:xfrm>
            <a:off x="2816352" y="2880360"/>
            <a:ext cx="960120" cy="502920"/>
          </a:xfrm>
          <a:prstGeom prst="rect">
            <a:avLst/>
          </a:prstGeom>
          <a:solidFill>
            <a:srgbClr val="FFF4C7"/>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15</a:t>
            </a:r>
            <a:endParaRPr lang="en-US" sz="1200" dirty="0"/>
          </a:p>
        </p:txBody>
      </p:sp>
      <p:sp>
        <p:nvSpPr>
          <p:cNvPr id="24" name="Text 21"/>
          <p:cNvSpPr/>
          <p:nvPr/>
        </p:nvSpPr>
        <p:spPr>
          <a:xfrm>
            <a:off x="2816352" y="2587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25" name="Text 22"/>
          <p:cNvSpPr/>
          <p:nvPr/>
        </p:nvSpPr>
        <p:spPr>
          <a:xfrm>
            <a:off x="3776472" y="2880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5.5</a:t>
            </a:r>
            <a:endParaRPr lang="en-US" sz="1200" dirty="0"/>
          </a:p>
        </p:txBody>
      </p:sp>
      <p:sp>
        <p:nvSpPr>
          <p:cNvPr id="26" name="Text 23"/>
          <p:cNvSpPr/>
          <p:nvPr/>
        </p:nvSpPr>
        <p:spPr>
          <a:xfrm>
            <a:off x="3776472" y="2587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27" name="Text 24"/>
          <p:cNvSpPr/>
          <p:nvPr/>
        </p:nvSpPr>
        <p:spPr>
          <a:xfrm>
            <a:off x="4736592" y="2880360"/>
            <a:ext cx="96012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200" dirty="0">
                <a:solidFill>
                  <a:srgbClr val="202124"/>
                </a:solidFill>
                <a:latin typeface="Roboto Mono" pitchFamily="34" charset="0"/>
                <a:ea typeface="Roboto Mono" pitchFamily="34" charset="-122"/>
                <a:cs typeface="Roboto Mono" pitchFamily="34" charset="-120"/>
              </a:rPr>
              <a:t>10</a:t>
            </a:r>
            <a:endParaRPr lang="en-US" sz="1200" dirty="0"/>
          </a:p>
        </p:txBody>
      </p:sp>
      <p:sp>
        <p:nvSpPr>
          <p:cNvPr id="28" name="Text 25"/>
          <p:cNvSpPr/>
          <p:nvPr/>
        </p:nvSpPr>
        <p:spPr>
          <a:xfrm>
            <a:off x="4736592" y="2587752"/>
            <a:ext cx="96012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29" name="Shape 26"/>
          <p:cNvSpPr/>
          <p:nvPr/>
        </p:nvSpPr>
        <p:spPr>
          <a:xfrm>
            <a:off x="6217920" y="1325880"/>
            <a:ext cx="5303520" cy="38404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30" name="Text 27"/>
          <p:cNvSpPr txBox="1"/>
          <p:nvPr/>
        </p:nvSpPr>
        <p:spPr>
          <a:xfrm>
            <a:off x="6355080" y="1417320"/>
            <a:ext cx="5029200" cy="3657600"/>
          </a:xfrm>
          <a:prstGeom prst="rect">
            <a:avLst/>
          </a:prstGeom>
          <a:noFill/>
          <a:ln/>
        </p:spPr>
        <p:txBody>
          <a:bodyPr wrap="square" lIns="0" tIns="0" rIns="0" bIns="0" rtlCol="0" anchor="t"/>
          <a:lstStyle/>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INPUT Wanted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Index ← 1</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Found ← FALSE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WHILE Index &lt;= 5 AND NOT Found DO</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IF Names[Index] = Wanted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THEN Found ← TRUE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ELSE Index ← Index + 1</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ENDIF</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ENDWHILE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IF Found</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THEN OUTPUT Wanted, " walked ", Distance[Index]</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ELSE OUTPUT "Not found"</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ENDIF</a:t>
            </a:r>
            <a:endParaRPr lang="en-US" sz="1200" dirty="0"/>
          </a:p>
        </p:txBody>
      </p:sp>
      <p:sp>
        <p:nvSpPr>
          <p:cNvPr id="31" name="Text 28"/>
          <p:cNvSpPr txBox="1"/>
          <p:nvPr/>
        </p:nvSpPr>
        <p:spPr>
          <a:xfrm>
            <a:off x="896112" y="4023360"/>
            <a:ext cx="4937760" cy="8229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Same index = same person. Search Names, then read Distance at that index.</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From pseudocode to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VB.NET</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607040" cy="914400"/>
        </p:xfrm>
        <a:graphic>
          <a:graphicData uri="http://schemas.openxmlformats.org/drawingml/2006/table">
            <a:tbl>
              <a:tblPr/>
              <a:tblGrid>
                <a:gridCol w="4754880"/>
                <a:gridCol w="5852160"/>
              </a:tblGrid>
              <a:tr h="42976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Pseudocode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VB.NET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DECLARE Total : INTEGER</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Dim Total As Integer</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DECLARE A : ARRAY[1:10] OF REAL</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Dim A(9) As Double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Total ← Total + A[i]</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Total = Total + A(i)</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INPUT Name   /   OUTPUT "Hi ", Name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Name = Console.ReadLine()  /  Console.WriteLine("Hi " &amp; Name)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IF ... THEN ... ELSE ... ENDIF</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If ... Then ... Else ... End If</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FOR i ← 1 TO 10 ... NEXT i</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For i = 0 To 9 ... Next</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WHILE x &lt; 10 DO ... ENDWHILE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While x &lt; 10 ... End While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REPEAT ... UNTIL x = 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Do ... Loop Until x = 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MOD(a, b)   DIV(a, b)   ROUND(x, 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a Mod b   a \ b   Math.Round(x, 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AND  OR  NOT  &lt;&gt;</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And (AndAlso)  Or  Not  &lt;&gt;</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the Paper 2 programming question is set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VB.NET</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896112" y="1325880"/>
            <a:ext cx="6035040" cy="3794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5760720" cy="3611880"/>
          </a:xfrm>
          <a:prstGeom prst="rect">
            <a:avLst/>
          </a:prstGeom>
          <a:noFill/>
          <a:ln/>
        </p:spPr>
        <p:txBody>
          <a:bodyPr wrap="square" lIns="0" tIns="0" rIns="0" bIns="0" rtlCol="0" anchor="t"/>
          <a:lstStyle/>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Module Module1</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Sub Main()</a:t>
            </a:r>
            <a:endParaRPr lang="en-US" sz="1200" dirty="0"/>
          </a:p>
          <a:p>
            <a:pPr indent="0" marL="0">
              <a:lnSpc>
                <a:spcPct val="105000"/>
              </a:lnSpc>
              <a:buNone/>
            </a:pPr>
            <a:r>
              <a:rPr lang="en-US" sz="1200" dirty="0">
                <a:solidFill>
                  <a:srgbClr val="666666"/>
                </a:solidFill>
                <a:latin typeface="Roboto Mono" pitchFamily="34" charset="0"/>
                <a:ea typeface="Roboto Mono" pitchFamily="34" charset="-122"/>
                <a:cs typeface="Roboto Mono" pitchFamily="34" charset="-120"/>
              </a:rPr>
              <a:t>        ' The arrays already contain the data.</a:t>
            </a:r>
            <a:endParaRPr lang="en-US" sz="1200" dirty="0"/>
          </a:p>
          <a:p>
            <a:pPr indent="0" marL="0">
              <a:lnSpc>
                <a:spcPct val="105000"/>
              </a:lnSpc>
              <a:buNone/>
            </a:pPr>
            <a:r>
              <a:rPr lang="en-US" sz="1200" dirty="0">
                <a:solidFill>
                  <a:srgbClr val="666666"/>
                </a:solidFill>
                <a:latin typeface="Roboto Mono" pitchFamily="34" charset="0"/>
                <a:ea typeface="Roboto Mono" pitchFamily="34" charset="-122"/>
                <a:cs typeface="Roboto Mono" pitchFamily="34" charset="-120"/>
              </a:rPr>
              <a:t>        ' Do NOT declare or fill these arrays again.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Dim CompetitorName() As String = {"Asha", "Ben", ...}</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Dim Points() As Integer = {34, 51, ...}</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a:t>
            </a:r>
            <a:endParaRPr lang="en-US" sz="1200" dirty="0"/>
          </a:p>
          <a:p>
            <a:pPr indent="0" marL="0">
              <a:lnSpc>
                <a:spcPct val="105000"/>
              </a:lnSpc>
              <a:buNone/>
            </a:pPr>
            <a:r>
              <a:rPr lang="en-US" sz="1200" dirty="0">
                <a:solidFill>
                  <a:srgbClr val="666666"/>
                </a:solidFill>
                <a:latin typeface="Roboto Mono" pitchFamily="34" charset="0"/>
                <a:ea typeface="Roboto Mono" pitchFamily="34" charset="-122"/>
                <a:cs typeface="Roboto Mono" pitchFamily="34" charset="-120"/>
              </a:rPr>
              <a:t>        ' Declare any other variables you need here</a:t>
            </a:r>
            <a:endParaRPr lang="en-US" sz="1200" dirty="0"/>
          </a:p>
          <a:p>
            <a:pPr indent="0" marL="0">
              <a:lnSpc>
                <a:spcPct val="105000"/>
              </a:lnSpc>
              <a:buNone/>
            </a:pPr>
            <a:r>
              <a:rPr lang="en-US" sz="1200" dirty="0">
                <a:solidFill>
                  <a:srgbClr val="666666"/>
                </a:solidFill>
                <a:latin typeface="Roboto Mono" pitchFamily="34" charset="0"/>
                <a:ea typeface="Roboto Mono" pitchFamily="34" charset="-122"/>
                <a:cs typeface="Roboto Mono" pitchFamily="34" charset="-120"/>
              </a:rPr>
              <a:t>        ' Write your program here, with comments</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Sub</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 Module</a:t>
            </a:r>
            <a:endParaRPr lang="en-US" sz="1200" dirty="0"/>
          </a:p>
        </p:txBody>
      </p:sp>
      <p:sp>
        <p:nvSpPr>
          <p:cNvPr id="9" name="Shape 6"/>
          <p:cNvSpPr/>
          <p:nvPr/>
        </p:nvSpPr>
        <p:spPr>
          <a:xfrm>
            <a:off x="7223760" y="1325880"/>
            <a:ext cx="4297680" cy="1097280"/>
          </a:xfrm>
          <a:prstGeom prst="rect">
            <a:avLst/>
          </a:prstGeom>
          <a:solidFill>
            <a:srgbClr val="F6F5FC"/>
          </a:solidFill>
          <a:ln w="12700">
            <a:solidFill>
              <a:srgbClr val="F6F5FC"/>
            </a:solidFill>
            <a:prstDash val="solid"/>
          </a:ln>
        </p:spPr>
      </p:sp>
      <p:sp>
        <p:nvSpPr>
          <p:cNvPr id="10" name="Text 7"/>
          <p:cNvSpPr/>
          <p:nvPr/>
        </p:nvSpPr>
        <p:spPr>
          <a:xfrm>
            <a:off x="736092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7882128" y="143560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Use the arrays you are given</a:t>
            </a:r>
            <a:endParaRPr lang="en-US" sz="1500" dirty="0"/>
          </a:p>
        </p:txBody>
      </p:sp>
      <p:sp>
        <p:nvSpPr>
          <p:cNvPr id="12" name="Text 9"/>
          <p:cNvSpPr txBox="1"/>
          <p:nvPr/>
        </p:nvSpPr>
        <p:spPr>
          <a:xfrm>
            <a:off x="7882128" y="1828800"/>
            <a:ext cx="35204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Same names, same meaning. Do not re-declare or re-input them.</a:t>
            </a:r>
            <a:endParaRPr lang="en-US" sz="1250" dirty="0"/>
          </a:p>
        </p:txBody>
      </p:sp>
      <p:sp>
        <p:nvSpPr>
          <p:cNvPr id="13" name="Shape 10"/>
          <p:cNvSpPr/>
          <p:nvPr/>
        </p:nvSpPr>
        <p:spPr>
          <a:xfrm>
            <a:off x="7223760" y="2560320"/>
            <a:ext cx="4297680" cy="1097280"/>
          </a:xfrm>
          <a:prstGeom prst="rect">
            <a:avLst/>
          </a:prstGeom>
          <a:solidFill>
            <a:srgbClr val="F6F5FC"/>
          </a:solidFill>
          <a:ln w="12700">
            <a:solidFill>
              <a:srgbClr val="F6F5FC"/>
            </a:solidFill>
            <a:prstDash val="solid"/>
          </a:ln>
        </p:spPr>
      </p:sp>
      <p:sp>
        <p:nvSpPr>
          <p:cNvPr id="14" name="Text 11"/>
          <p:cNvSpPr/>
          <p:nvPr/>
        </p:nvSpPr>
        <p:spPr>
          <a:xfrm>
            <a:off x="7360920" y="2697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7882128" y="267004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Cover every requirement</a:t>
            </a:r>
            <a:endParaRPr lang="en-US" sz="1500" dirty="0"/>
          </a:p>
        </p:txBody>
      </p:sp>
      <p:sp>
        <p:nvSpPr>
          <p:cNvPr id="16" name="Text 13"/>
          <p:cNvSpPr txBox="1"/>
          <p:nvPr/>
        </p:nvSpPr>
        <p:spPr>
          <a:xfrm>
            <a:off x="7882128" y="3063240"/>
            <a:ext cx="35204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Tick off R1, R2, R3 - marks are given per requirement.</a:t>
            </a:r>
            <a:endParaRPr lang="en-US" sz="1250" dirty="0"/>
          </a:p>
        </p:txBody>
      </p:sp>
      <p:sp>
        <p:nvSpPr>
          <p:cNvPr id="17" name="Shape 14"/>
          <p:cNvSpPr/>
          <p:nvPr/>
        </p:nvSpPr>
        <p:spPr>
          <a:xfrm>
            <a:off x="7223760" y="3794760"/>
            <a:ext cx="4297680" cy="1325880"/>
          </a:xfrm>
          <a:prstGeom prst="rect">
            <a:avLst/>
          </a:prstGeom>
          <a:solidFill>
            <a:srgbClr val="F6F5FC"/>
          </a:solidFill>
          <a:ln w="12700">
            <a:solidFill>
              <a:srgbClr val="F6F5FC"/>
            </a:solidFill>
            <a:prstDash val="solid"/>
          </a:ln>
        </p:spPr>
      </p:sp>
      <p:sp>
        <p:nvSpPr>
          <p:cNvPr id="18" name="Text 15"/>
          <p:cNvSpPr/>
          <p:nvPr/>
        </p:nvSpPr>
        <p:spPr>
          <a:xfrm>
            <a:off x="7360920" y="3931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7882128" y="390448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Comments and messages</a:t>
            </a:r>
            <a:endParaRPr lang="en-US" sz="1500" dirty="0"/>
          </a:p>
        </p:txBody>
      </p:sp>
      <p:sp>
        <p:nvSpPr>
          <p:cNvPr id="20" name="Text 17"/>
          <p:cNvSpPr txBox="1"/>
          <p:nvPr/>
        </p:nvSpPr>
        <p:spPr>
          <a:xfrm>
            <a:off x="7882128" y="4297680"/>
            <a:ext cx="352044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Comment each section; every INPUT has a prompt, every OUTPUT a message.</a:t>
            </a:r>
            <a:endParaRPr lang="en-US" sz="1250" dirty="0"/>
          </a:p>
        </p:txBody>
      </p:sp>
      <p:sp>
        <p:nvSpPr>
          <p:cNvPr id="21" name="Text 18"/>
          <p:cNvSpPr txBox="1"/>
          <p:nvPr/>
        </p:nvSpPr>
        <p:spPr>
          <a:xfrm>
            <a:off x="896112" y="5394960"/>
            <a:ext cx="1060704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In the exam you may answer in pseudocode or in your programming language.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Mistakes examiners keep reporting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Examiner reports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607040" cy="914400"/>
        </p:xfrm>
        <a:graphic>
          <a:graphicData uri="http://schemas.openxmlformats.org/drawingml/2006/table">
            <a:tbl>
              <a:tblPr/>
              <a:tblGrid>
                <a:gridCol w="3931920"/>
                <a:gridCol w="3749040"/>
                <a:gridCol w="2926080"/>
              </a:tblGrid>
              <a:tr h="493776">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Mistake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Fix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Reported in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Total or counter never set to 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Initialise before the loop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0478/22 June 2023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Validation with IF: only one re-entry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Use a WHILE or REPEAT loop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0478/21 June 2023, June 2025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Search runs past the end of the array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Check Index &lt;= last index</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0478/21 June 2023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Only one name output when there is a tie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Second loop: output every match</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0478/21 June 2025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Arrays re-declared, data input again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Use the arrays as given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 Nov 2023, June 2025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Output inside the loop instead of after it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Decide: once per element or once at the end?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0478/23 Nov 2023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Average not rounded as asked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ROUND(..., 1) inside the OUTPUT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0478/21 June 2023, /22 June 2025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9377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Trace: quotes around outputs, rows after the loop stops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Write outputs exactly; stop when the loop does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0478/21 June 2025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VB.NET traps with arrays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Examiner reports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607040" cy="914400"/>
        </p:xfrm>
        <a:graphic>
          <a:graphicData uri="http://schemas.openxmlformats.org/drawingml/2006/table">
            <a:tbl>
              <a:tblPr/>
              <a:tblGrid>
                <a:gridCol w="3383280"/>
                <a:gridCol w="3383280"/>
                <a:gridCol w="3840480"/>
              </a:tblGrid>
              <a:tr h="56692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Trap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What happens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Do this instead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Dim Scores(10) As Integer</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11 elements, 0 to 10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Dim Scores(9) for 10 values</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For i = 1 To 10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Skips element 0, crashes at 10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For i = 0 To 9</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Total \ 10</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Integer division: 27.9 becomes 27</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Math.Round(Total / 10, 1)</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While Scores(P) &lt;&gt; X</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Crashes when X is missing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While P &lt; 10 AndAlso Scores(P) &lt;&gt; X</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If Score &lt; 0 Then (re-input)</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second wrong value gets through</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While Score &lt; 0 ... End While</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Total = Total + i</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Adds the index, not the value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Total = Total + Scores(i)</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96112" y="5486400"/>
            <a:ext cx="1060704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IndexOutOfRangeException = you used an index the array does not have.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arrays in pseudocode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Shape 4"/>
          <p:cNvSpPr/>
          <p:nvPr/>
        </p:nvSpPr>
        <p:spPr>
          <a:xfrm>
            <a:off x="896112" y="1325880"/>
            <a:ext cx="4206240" cy="42976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3931920" cy="411480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01 DECLARE A[1:50]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02 DECLARE C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03 DECLARE I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04 DECLARE T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05 I ← 0</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06 T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07 FOR C ← 1 TO 50</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08   IF A[C]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09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10       T ← T + 1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11     ELSE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12       I ← I + A[C]</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13   ENDIF</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14 NEXT C</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394960" y="1325880"/>
          <a:ext cx="6126480" cy="914400"/>
        </p:xfrm>
        <a:graphic>
          <a:graphicData uri="http://schemas.openxmlformats.org/drawingml/2006/table">
            <a:tbl>
              <a:tblPr/>
              <a:tblGrid>
                <a:gridCol w="1005840"/>
                <a:gridCol w="5120640"/>
              </a:tblGrid>
              <a:tr h="82296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Part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Official marking points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82296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Line 06 T ← 0;  line 08 IF A[C] = 0;  line 14 NEXT C</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82296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(b) [3]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 mark for outputting T, 1 for outputting I, 1 for suitable messages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 [3]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 mark for a meaningful array name (e.g. MyArray); 2 marks for meaningful names for T, C and I (1 mark for two), e.g. Counter, Index, Total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0" name="Text 6"/>
          <p:cNvSpPr txBox="1"/>
          <p:nvPr/>
        </p:nvSpPr>
        <p:spPr>
          <a:xfrm>
            <a:off x="5394960" y="4846320"/>
            <a:ext cx="612648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Every gap is one mark: initialise, compare the ELEMENT, close the loop.</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Your worksheet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Practice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607040" cy="914400"/>
        </p:xfrm>
        <a:graphic>
          <a:graphicData uri="http://schemas.openxmlformats.org/drawingml/2006/table">
            <a:tbl>
              <a:tblPr/>
              <a:tblGrid>
                <a:gridCol w="3291840"/>
                <a:gridCol w="6400800"/>
                <a:gridCol w="914400"/>
              </a:tblGrid>
              <a:tr h="45720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Task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Covers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Marks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  Retrieval check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The starter statements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  Arrays in pseudocode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Declaring, indexing, input and output loops (June 2025 Q3)</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16</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  Totalling and counting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Nov 2024 Q6, June 2024 Q7, a rainfall trace, above-average count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27</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4  Linear search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June 2023 Q7 trace, Nov 2023 Q5 errors, writing searches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  VB.NET: complete the code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Sponsored walk skeleton - fill six gaps, predict, run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9</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6  VB.NET: fix the bugs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Five bugs from the examiner reports - run, observe, fix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7  VB.NET: sports day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Given arrays: output, average, ties, search until END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8  VB.NET: library scenario</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full 15-mark-style question using two given arrays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9  Stretch: weather station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Your own array, validation, max with ties, counting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sp>
        <p:nvSpPr>
          <p:cNvPr id="7" name="Text 4"/>
          <p:cNvSpPr/>
          <p:nvPr/>
        </p:nvSpPr>
        <p:spPr>
          <a:xfrm>
            <a:off x="804672" y="2176272"/>
            <a:ext cx="4297680" cy="274320"/>
          </a:xfrm>
          <a:prstGeom prst="rect">
            <a:avLst/>
          </a:prstGeom>
          <a:noFill/>
          <a:ln/>
        </p:spPr>
        <p:txBody>
          <a:bodyPr wrap="square" lIns="0" tIns="0" rIns="0" bIns="0" rtlCol="0" anchor="ctr"/>
          <a:lstStyle/>
          <a:p>
            <a:pPr algn="ctr" indent="0" marL="0">
              <a:buNone/>
            </a:pPr>
            <a:r>
              <a:rPr lang="en-US" sz="1200" b="1" dirty="0">
                <a:solidFill>
                  <a:srgbClr val="494985"/>
                </a:solidFill>
                <a:latin typeface="Roboto Mono" pitchFamily="34" charset="0"/>
                <a:ea typeface="Roboto Mono" pitchFamily="34" charset="-122"/>
                <a:cs typeface="Roboto Mono" pitchFamily="34" charset="-120"/>
              </a:rPr>
              <a:t>Nums</a:t>
            </a:r>
            <a:endParaRPr lang="en-US" sz="1200" dirty="0"/>
          </a:p>
        </p:txBody>
      </p:sp>
      <p:sp>
        <p:nvSpPr>
          <p:cNvPr id="8" name="Text 5"/>
          <p:cNvSpPr/>
          <p:nvPr/>
        </p:nvSpPr>
        <p:spPr>
          <a:xfrm>
            <a:off x="89611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3</a:t>
            </a:r>
            <a:endParaRPr lang="en-US" sz="1300" dirty="0"/>
          </a:p>
        </p:txBody>
      </p:sp>
      <p:sp>
        <p:nvSpPr>
          <p:cNvPr id="9" name="Text 6"/>
          <p:cNvSpPr/>
          <p:nvPr/>
        </p:nvSpPr>
        <p:spPr>
          <a:xfrm>
            <a:off x="89611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1</a:t>
            </a:r>
            <a:endParaRPr lang="en-US" sz="1100" dirty="0"/>
          </a:p>
        </p:txBody>
      </p:sp>
      <p:sp>
        <p:nvSpPr>
          <p:cNvPr id="10" name="Text 7"/>
          <p:cNvSpPr/>
          <p:nvPr/>
        </p:nvSpPr>
        <p:spPr>
          <a:xfrm>
            <a:off x="171907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8</a:t>
            </a:r>
            <a:endParaRPr lang="en-US" sz="1300" dirty="0"/>
          </a:p>
        </p:txBody>
      </p:sp>
      <p:sp>
        <p:nvSpPr>
          <p:cNvPr id="11" name="Text 8"/>
          <p:cNvSpPr/>
          <p:nvPr/>
        </p:nvSpPr>
        <p:spPr>
          <a:xfrm>
            <a:off x="171907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2</a:t>
            </a:r>
            <a:endParaRPr lang="en-US" sz="1100" dirty="0"/>
          </a:p>
        </p:txBody>
      </p:sp>
      <p:sp>
        <p:nvSpPr>
          <p:cNvPr id="12" name="Text 9"/>
          <p:cNvSpPr/>
          <p:nvPr/>
        </p:nvSpPr>
        <p:spPr>
          <a:xfrm>
            <a:off x="254203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3</a:t>
            </a:r>
            <a:endParaRPr lang="en-US" sz="1300" dirty="0"/>
          </a:p>
        </p:txBody>
      </p:sp>
      <p:sp>
        <p:nvSpPr>
          <p:cNvPr id="13" name="Text 10"/>
          <p:cNvSpPr/>
          <p:nvPr/>
        </p:nvSpPr>
        <p:spPr>
          <a:xfrm>
            <a:off x="254203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3</a:t>
            </a:r>
            <a:endParaRPr lang="en-US" sz="1100" dirty="0"/>
          </a:p>
        </p:txBody>
      </p:sp>
      <p:sp>
        <p:nvSpPr>
          <p:cNvPr id="14" name="Text 11"/>
          <p:cNvSpPr/>
          <p:nvPr/>
        </p:nvSpPr>
        <p:spPr>
          <a:xfrm>
            <a:off x="336499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1</a:t>
            </a:r>
            <a:endParaRPr lang="en-US" sz="1300" dirty="0"/>
          </a:p>
        </p:txBody>
      </p:sp>
      <p:sp>
        <p:nvSpPr>
          <p:cNvPr id="15" name="Text 12"/>
          <p:cNvSpPr/>
          <p:nvPr/>
        </p:nvSpPr>
        <p:spPr>
          <a:xfrm>
            <a:off x="336499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4</a:t>
            </a:r>
            <a:endParaRPr lang="en-US" sz="1100" dirty="0"/>
          </a:p>
        </p:txBody>
      </p:sp>
      <p:sp>
        <p:nvSpPr>
          <p:cNvPr id="16" name="Text 13"/>
          <p:cNvSpPr/>
          <p:nvPr/>
        </p:nvSpPr>
        <p:spPr>
          <a:xfrm>
            <a:off x="4187952" y="1600200"/>
            <a:ext cx="822960" cy="502920"/>
          </a:xfrm>
          <a:prstGeom prst="rect">
            <a:avLst/>
          </a:prstGeom>
          <a:solidFill>
            <a:srgbClr val="F6F5FC"/>
          </a:solidFill>
          <a:ln w="15875">
            <a:solidFill>
              <a:srgbClr val="494985"/>
            </a:solidFill>
          </a:ln>
        </p:spPr>
        <p:txBody>
          <a:bodyPr wrap="square" lIns="0" tIns="0" rIns="0" bIns="0" rtlCol="0" anchor="ctr"/>
          <a:lstStyle/>
          <a:p>
            <a:pPr algn="ctr" indent="0" marL="0">
              <a:buNone/>
            </a:pPr>
            <a:r>
              <a:rPr lang="en-US" sz="1300" dirty="0">
                <a:solidFill>
                  <a:srgbClr val="202124"/>
                </a:solidFill>
                <a:latin typeface="Roboto Mono" pitchFamily="34" charset="0"/>
                <a:ea typeface="Roboto Mono" pitchFamily="34" charset="-122"/>
                <a:cs typeface="Roboto Mono" pitchFamily="34" charset="-120"/>
              </a:rPr>
              <a:t>3</a:t>
            </a:r>
            <a:endParaRPr lang="en-US" sz="1300" dirty="0"/>
          </a:p>
        </p:txBody>
      </p:sp>
      <p:sp>
        <p:nvSpPr>
          <p:cNvPr id="17" name="Text 14"/>
          <p:cNvSpPr/>
          <p:nvPr/>
        </p:nvSpPr>
        <p:spPr>
          <a:xfrm>
            <a:off x="4187952" y="1307592"/>
            <a:ext cx="822960" cy="256032"/>
          </a:xfrm>
          <a:prstGeom prst="rect">
            <a:avLst/>
          </a:prstGeom>
          <a:noFill/>
          <a:ln/>
        </p:spPr>
        <p:txBody>
          <a:bodyPr wrap="square" lIns="0" tIns="0" rIns="0" bIns="0" rtlCol="0" anchor="ctr"/>
          <a:lstStyle/>
          <a:p>
            <a:pPr algn="ctr" indent="0" marL="0">
              <a:buNone/>
            </a:pPr>
            <a:r>
              <a:rPr lang="en-US" sz="1100" dirty="0">
                <a:solidFill>
                  <a:srgbClr val="666666"/>
                </a:solidFill>
                <a:latin typeface="Roboto Mono" pitchFamily="34" charset="0"/>
                <a:ea typeface="Roboto Mono" pitchFamily="34" charset="-122"/>
                <a:cs typeface="Roboto Mono" pitchFamily="34" charset="-120"/>
              </a:rPr>
              <a:t>5</a:t>
            </a:r>
            <a:endParaRPr lang="en-US" sz="1100" dirty="0"/>
          </a:p>
        </p:txBody>
      </p:sp>
      <p:sp>
        <p:nvSpPr>
          <p:cNvPr id="18" name="Shape 15"/>
          <p:cNvSpPr/>
          <p:nvPr/>
        </p:nvSpPr>
        <p:spPr>
          <a:xfrm>
            <a:off x="896112" y="2514600"/>
            <a:ext cx="4206240" cy="30175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9" name="Text 16"/>
          <p:cNvSpPr txBox="1"/>
          <p:nvPr/>
        </p:nvSpPr>
        <p:spPr>
          <a:xfrm>
            <a:off x="1033272" y="2606040"/>
            <a:ext cx="3931920" cy="2834640"/>
          </a:xfrm>
          <a:prstGeom prst="rect">
            <a:avLst/>
          </a:prstGeom>
          <a:noFill/>
          <a:ln/>
        </p:spPr>
        <p:txBody>
          <a:bodyPr wrap="square" lIns="0" tIns="0" rIns="0" bIns="0" rtlCol="0" anchor="t"/>
          <a:lstStyle/>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Count ← 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FOR i ← 1 TO 5</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IF Nums[i] = 3</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THEN</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Count ← Count + 1</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OUTPUT i</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ENDIF</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NEXT i</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OUTPUT Count</a:t>
            </a:r>
            <a:endParaRPr lang="en-US" sz="1350" dirty="0"/>
          </a:p>
        </p:txBody>
      </p:sp>
      <p:sp>
        <p:nvSpPr>
          <p:cNvPr id="20" name="Text 17"/>
          <p:cNvSpPr txBox="1"/>
          <p:nvPr/>
        </p:nvSpPr>
        <p:spPr>
          <a:xfrm>
            <a:off x="5486400" y="1417320"/>
            <a:ext cx="6035040" cy="274320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What is output?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Why is a FOR loop right here, and not a search that stops at the first match?</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the same algorithm in VB.NET. Remember the array starts at 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841248" y="1417320"/>
            <a:ext cx="10424160" cy="34747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Declared and indexed 1D arrays in pseudocode (from 1) and VB.NET (from 0)</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loops to total, count, average and find the maximum, including ties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Wrote and traced linear searches that stop when found and at the end of the array</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parallel arrays to look up related data</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Completed, debugged and wrote VB.NET programs in the style of the 15-mark question</a:t>
            </a:r>
            <a:endParaRPr lang="en-US" sz="1800" dirty="0"/>
          </a:p>
        </p:txBody>
      </p:sp>
      <p:sp>
        <p:nvSpPr>
          <p:cNvPr id="8" name="Text 5"/>
          <p:cNvSpPr txBox="1"/>
          <p:nvPr/>
        </p:nvSpPr>
        <p:spPr>
          <a:xfrm>
            <a:off x="841248" y="5212080"/>
            <a:ext cx="10424160" cy="41148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______________________________</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and linear search - IGCSE 0478 Paper 2</dc:title>
  <dc:subject>PptxGenJS Presentation</dc:subject>
  <dc:creator>PptxGenJS</dc:creator>
  <cp:lastModifiedBy>PptxGenJS</cp:lastModifiedBy>
  <cp:revision>1</cp:revision>
  <dcterms:created xsi:type="dcterms:W3CDTF">2026-10-27T04:26:26Z</dcterms:created>
  <dcterms:modified xsi:type="dcterms:W3CDTF">2026-10-27T04:26:26Z</dcterms:modified>
</cp:coreProperties>
</file>