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lesson covering the Year 10 programming unit (L1-L13): IDE and I/O, data types, IF/RANDOM/ROUND, CASE and maintainable code, WHILE and trace tables, REPEAT...UNTIL and pseudocode, FOR loops and finding errors, counting and totalling, PDLC, flowcharts, trace tables. Everything is in Cambridge 0478 pseudocode. Plan: starter (5 min), quick recap slides 4-16 (20-25 min), worksheet. The worksheet is long on purpose: set Tasks 1-5 in class and the rest for homework or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TRUE (post-condition loop, condition checked at the end). 2 FALSE - WHILE checks its condition before the body, so it can run zero times. 3 FALSE - a phone number is a STRING: it can start with 0, may contain spaces/+ and is never used in arithmetic. 4 TRUE (17 = 3 x 5 + 2). 5 FALSE - RANDOM() returns 0 to 1, so RANDOM() * 6 is 0 to 6 and ROUND gives 0, 1, ... 6 (seven values). Correct: ROUND(RANDOM() * 5, 0) + 1. Students write their answers in worksheet Task 1 and correct the false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map for the recap. Ask students which lessons they feel least sure about and spend longest there. The adventure game project (L5) used IF, CASE, RANDOM and maintainable-code ideas together, so it is folded into those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Key exam phrases: INTEGER = whole number; REAL = number with a fractional (decimal) part. A variable can change while the program runs; a constant cannot. Strings use double quotes, characters use single quotes. Ask: what type for a phone number? (STRING - leading zero, never used for maths). What type for a price?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Cambridge 0478 names: arithmetic operators do calculations; logical operators compare values (this is the term used in 0478/22 June 2024 Q5, where "logical" = comparisons such as IF B &gt; C, and "Boolean" = AND, OR, NOT). Common slip: = compares, ← assigns.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Quick check answer: ROUND(RANDOM() * 49, 0) + 1 gives a whole number from 1 to 50. Pattern: ROUND(RANDOM() * (n - 1), 0) + 1 gives 1 to n. This is the form used in the official mark schemes (0478/21 June 2024 Q4 line 06, 0478/21 June 2025 Q6 line 02). ROUND rounds 5 and above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Lessons 3-5. Both programs set the price of a coffee. Point out: THEN and ELSE on their own lines, every IF closes with ENDIF, nested IF needs two ENDIFs. CASE OF compares ONE variable against a list of values; OTHERWISE catches everything else (the IF version gives 3.50 for any size that is not S or M - ask students why that might be a bug). Examiners credit a CASE answer for: CASE OF ... ENDCASE structure, correct branches, OTHERWISE (0478/21 June 2024 Q5).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Lessons 6-9. All three programs output 1 to 5. Big misconception: WHILE keeps going while the condition is TRUE, but REPEAT...UNTIL stops when its condition becomes TRUE - so the conditions are opposites (Count &lt;= 5 vs Count &gt; 5). Exam wording: count-controlled, pre-condition, post-condition. Use FOR when you know how many times; WHILE when it might not need to run at all (e.g. a rogue value); REPEAT for validation (input at least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10. The three standard patterns: initialise before the loop, update inside, output after. Rogue value -1 stops the loop (it must not be added to the total - that is why INPUT is the last line inside the loop). Average = Total / Count (watch for Count = 0). Max/min: start with the first value, compare each new value. Official marking points for this kind of question (0478/22 June 2024 Q6): total set to zero before the loop; adds the value to the total; loop with a terminal condition; output after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Lessons 6 and 13. Dry run of slide 10 with the data 8, 15, 4, 20, -1. One row per value processed; only write a value when it changes (the mark scheme gives one mark per correct column). The rogue value -1 is input but never added. Ask: what would happen if INPUT Num were at the top of the loop instead? (-1 would be added, Total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12. Examiners give marks for correct symbols and for labelled flow lines (yes/no on every decision). The example counts how many of five ages are 18 or over: a count-controlled loop drawn with a decision box. Ask: which pseudocode loop matches this flowchart? (REPEAT ... UNTIL Counter = 5, or FOR Counter ← 1 TO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9. This algorithm should count how many adults (18 or over) are entered, stopping when 0 is input. Errors: line 03 missing DO (WHILE Age &lt;&gt; 0 DO); line 04 &gt; should be &gt;= ("18 or over"); line 07 ENDWHILE should be ENDIF; line 10 INPUT should be OUTPUT. Exam answers need the line number, the error and the corrected line - one mark per error (e.g. 0478/21 Nov 2024 Q9(a)). Let students find them in pairs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Official mark schemes (0478/21 June 2023 Q6, 0478/22 June 2023 Q6, 0478/21 June 2025 Q6(b)) credit: meaningful identifiers (with an example such as Total), comments (with an example), and procedures/functions. Always give the feature AND a reason or example. Both programs here do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(examined on Paper 1, syllabus 4.2, but the programming lessons used it daily). Students often confuse auto-completion (suggests the rest of a keyword or identifier) with auto-correction (fixes a typing mistake). Prettyprint = colour-coding and indentation. Ask students to name the IDE they used in Year 10 and point to each feature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11. 0478 uses four stages only: analysis, design, coding, testing. Official matching (0478/21 June 2023 Q1(a)): analysis = identify the problem and its requirements; design = develop an algorithm with structure diagrams, flowcharts or pseudocode; coding = write and implement the instructions; testing = detect and fix errors. Decomposition: inputs, processes, outputs, storage (June 2023 Q1(b)). Test data example here is for a mark from 0 to 100 - the worksheet uses a different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0478/22 June 2024 Q6(a) and (b) mark scheme, and 0478/21 June 2025 Q3. Show this AFTER students have attempted worksheet Task 4 (c) and (d), then let them self-mark. Note that the marks are for separate ideas: you can lose the initialise mark even if the loop is perfect.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Patterns from 0478 mark schemes 2023-2025: trace tables - one mark per correct column (Nov 2024 Q9(c), June 2025 Q10(a)); error questions - one mark per error, identified AND corrected (June 2024 Q4(a), Nov 2024 Q9(a), June 2025 Q6(a)); flowcharts - marks for symbols, flow lines, and each part of the logic (Nov 2024 Q8(a)).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worksheet is deliberately long (189 marks, about 2-3 hours). Suggested: Tasks 1-5 in class, Tasks 6-8 for homework or next lesson. Almost every question is a real 0478 Paper 2 question (2018-2025) or closely based on one, cited under each part. Students check against the answer key when you share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which of these they fell for in the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X takes the values 7, 4, 1, -2. The loop body runs three times (REPEAT always runs at least once and stops when X &lt; 0). OUTPUT -2. Then: as a WHILE loop: WHILE X &gt;= 0 DO  X ← X - 3  ENDWHILE (same result here because X starts at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lesson: edit the line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900416" y="0"/>
            <a:ext cx="4288536" cy="6858000"/>
          </a:xfrm>
          <a:prstGeom prst="rect">
            <a:avLst/>
          </a:prstGeom>
          <a:solidFill>
            <a:srgbClr val="FFD84D"/>
          </a:solidFill>
          <a:ln w="12700">
            <a:solidFill>
              <a:srgbClr val="FFD84D"/>
            </a:solidFill>
            <a:prstDash val="solid"/>
          </a:ln>
        </p:spPr>
      </p:sp>
      <p:sp>
        <p:nvSpPr>
          <p:cNvPr id="3" name="Text 1"/>
          <p:cNvSpPr txBox="1"/>
          <p:nvPr/>
        </p:nvSpPr>
        <p:spPr>
          <a:xfrm>
            <a:off x="667512" y="2560320"/>
            <a:ext cx="7004304" cy="914400"/>
          </a:xfrm>
          <a:prstGeom prst="rect">
            <a:avLst/>
          </a:prstGeom>
          <a:noFill/>
          <a:ln/>
        </p:spPr>
        <p:txBody>
          <a:bodyPr wrap="square" lIns="0" tIns="0" rIns="0" bIns="0" rtlCol="0" anchor="b"/>
          <a:lstStyle/>
          <a:p>
            <a:pPr indent="0" marL="0">
              <a:buNone/>
            </a:pPr>
            <a:r>
              <a:rPr lang="en-US" sz="5400" b="1" dirty="0">
                <a:solidFill>
                  <a:srgbClr val="202124"/>
                </a:solidFill>
                <a:latin typeface="Quicksand" pitchFamily="34" charset="0"/>
                <a:ea typeface="Quicksand" pitchFamily="34" charset="-122"/>
                <a:cs typeface="Quicksand" pitchFamily="34" charset="-120"/>
              </a:rPr>
              <a:t>Programming recall</a:t>
            </a:r>
            <a:endParaRPr lang="en-US" sz="5400" dirty="0"/>
          </a:p>
        </p:txBody>
      </p:sp>
      <p:sp>
        <p:nvSpPr>
          <p:cNvPr id="4" name="Text 2"/>
          <p:cNvSpPr txBox="1"/>
          <p:nvPr/>
        </p:nvSpPr>
        <p:spPr>
          <a:xfrm>
            <a:off x="667512" y="3547872"/>
            <a:ext cx="7004304" cy="411480"/>
          </a:xfrm>
          <a:prstGeom prst="rect">
            <a:avLst/>
          </a:prstGeom>
          <a:noFill/>
          <a:ln/>
        </p:spPr>
        <p:txBody>
          <a:bodyPr wrap="square" lIns="0" tIns="0" rIns="0" bIns="0" rtlCol="0" anchor="ctr"/>
          <a:lstStyle/>
          <a:p>
            <a:pPr indent="0" marL="0">
              <a:buNone/>
            </a:pPr>
            <a:r>
              <a:rPr lang="en-US" sz="2000" dirty="0">
                <a:solidFill>
                  <a:srgbClr val="666666"/>
                </a:solidFill>
                <a:latin typeface="Quicksand" pitchFamily="34" charset="0"/>
                <a:ea typeface="Quicksand" pitchFamily="34" charset="-122"/>
                <a:cs typeface="Quicksand" pitchFamily="34" charset="-120"/>
              </a:rPr>
              <a:t>Y11 - Cambridge IGCSE 0478  |  Paper 2 recap of Year 10</a:t>
            </a:r>
            <a:endParaRPr lang="en-US" sz="2000" dirty="0"/>
          </a:p>
        </p:txBody>
      </p:sp>
      <p:sp>
        <p:nvSpPr>
          <p:cNvPr id="5" name="Shape 3"/>
          <p:cNvSpPr/>
          <p:nvPr/>
        </p:nvSpPr>
        <p:spPr>
          <a:xfrm>
            <a:off x="667512" y="4050792"/>
            <a:ext cx="1719072" cy="54864"/>
          </a:xfrm>
          <a:prstGeom prst="rect">
            <a:avLst/>
          </a:prstGeom>
          <a:solidFill>
            <a:srgbClr val="494985"/>
          </a:solidFill>
          <a:ln w="12700">
            <a:solidFill>
              <a:srgbClr val="494985"/>
            </a:solidFill>
            <a:prstDash val="solid"/>
          </a:ln>
        </p:spPr>
      </p:sp>
      <p:sp>
        <p:nvSpPr>
          <p:cNvPr id="6" name="Text 4"/>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True or false?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Starter activity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a:t>
            </a:r>
            <a:endParaRPr lang="en-US" sz="1350" dirty="0"/>
          </a:p>
        </p:txBody>
      </p:sp>
      <p:sp>
        <p:nvSpPr>
          <p:cNvPr id="7" name="Text 4"/>
          <p:cNvSpPr txBox="1"/>
          <p:nvPr/>
        </p:nvSpPr>
        <p:spPr>
          <a:xfrm>
            <a:off x="877824" y="1234440"/>
            <a:ext cx="10332720" cy="457200"/>
          </a:xfrm>
          <a:prstGeom prst="rect">
            <a:avLst/>
          </a:prstGeom>
          <a:noFill/>
          <a:ln/>
        </p:spPr>
        <p:txBody>
          <a:bodyPr wrap="square" lIns="0" tIns="0" rIns="0" bIns="0" rtlCol="0" anchor="t"/>
          <a:lstStyle/>
          <a:p>
            <a:pPr indent="0" marL="0">
              <a:buNone/>
            </a:pPr>
            <a:r>
              <a:rPr lang="en-US" sz="1700" b="1" dirty="0">
                <a:solidFill>
                  <a:srgbClr val="202124"/>
                </a:solidFill>
                <a:latin typeface="Quicksand" pitchFamily="34" charset="0"/>
                <a:ea typeface="Quicksand" pitchFamily="34" charset="-122"/>
                <a:cs typeface="Quicksand" pitchFamily="34" charset="-120"/>
              </a:rPr>
              <a:t>Write TRUE or FALSE for each statement in Task 1 of your worksheet. If it is false, correct it.</a:t>
            </a:r>
            <a:endParaRPr lang="en-US" sz="17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96112" y="1874520"/>
          <a:ext cx="10424160" cy="914400"/>
        </p:xfrm>
        <a:graphic>
          <a:graphicData uri="http://schemas.openxmlformats.org/drawingml/2006/table">
            <a:tbl>
              <a:tblPr/>
              <a:tblGrid>
                <a:gridCol w="548640"/>
                <a:gridCol w="7863840"/>
                <a:gridCol w="2011680"/>
              </a:tblGrid>
              <a:tr h="566928">
                <a:tc>
                  <a:txBody>
                    <a:bodyPr/>
                    <a:lstStyle/>
                    <a:p>
                      <a:pPr indent="0" marL="0">
                        <a:buNone/>
                      </a:pPr>
                      <a:r>
                        <a:rPr lang="en-US" sz="1650" b="1" dirty="0">
                          <a:solidFill>
                            <a:srgbClr val="FFFFFF"/>
                          </a:solidFill>
                          <a:latin typeface="Quicksand" pitchFamily="34" charset="0"/>
                          <a:ea typeface="Quicksand" pitchFamily="34" charset="-122"/>
                          <a:cs typeface="Quicksand" pitchFamily="34" charset="-120"/>
                        </a:rPr>
                        <a:t>#</a:t>
                      </a:r>
                      <a:endParaRPr lang="en-US" sz="16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650" b="1" dirty="0">
                          <a:solidFill>
                            <a:srgbClr val="FFFFFF"/>
                          </a:solidFill>
                          <a:latin typeface="Quicksand" pitchFamily="34" charset="0"/>
                          <a:ea typeface="Quicksand" pitchFamily="34" charset="-122"/>
                          <a:cs typeface="Quicksand" pitchFamily="34" charset="-120"/>
                        </a:rPr>
                        <a:t>Statement</a:t>
                      </a:r>
                      <a:endParaRPr lang="en-US" sz="16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650" b="1" dirty="0">
                          <a:solidFill>
                            <a:srgbClr val="FFFFFF"/>
                          </a:solidFill>
                          <a:latin typeface="Quicksand" pitchFamily="34" charset="0"/>
                          <a:ea typeface="Quicksand" pitchFamily="34" charset="-122"/>
                          <a:cs typeface="Quicksand" pitchFamily="34" charset="-120"/>
                        </a:rPr>
                        <a:t>True or false?</a:t>
                      </a:r>
                      <a:endParaRPr lang="en-US" sz="16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1</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A REPEAT ... UNTIL loop always runs at least once.</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2</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A WHILE ... DO loop checks its condition after the loop body has run.</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3</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A telephone number such as 07812 345678 should be stored as an INTEGER.</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4</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DIV(17, 5) returns 3 and MOD(17, 5) returns 2.</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5</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600" dirty="0">
                          <a:solidFill>
                            <a:srgbClr val="202124"/>
                          </a:solidFill>
                          <a:latin typeface="Quicksand" pitchFamily="34" charset="0"/>
                          <a:ea typeface="Quicksand" pitchFamily="34" charset="-122"/>
                          <a:cs typeface="Quicksand" pitchFamily="34" charset="-120"/>
                        </a:rPr>
                        <a:t>ROUND(RANDOM() * 6, 0) generates a whole number from 1 to 6.</a:t>
                      </a: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6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9" name="Text 5"/>
          <p:cNvSpPr txBox="1"/>
          <p:nvPr/>
        </p:nvSpPr>
        <p:spPr>
          <a:xfrm>
            <a:off x="896112" y="5623560"/>
            <a:ext cx="10332720" cy="36576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Two minutes, from memory. Be honest: this tells us what to revisit.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 will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Objectives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3</a:t>
            </a:r>
            <a:endParaRPr lang="en-US" sz="1350" dirty="0"/>
          </a:p>
        </p:txBody>
      </p:sp>
      <p:sp>
        <p:nvSpPr>
          <p:cNvPr id="6" name="Text 4"/>
          <p:cNvSpPr txBox="1"/>
          <p:nvPr/>
        </p:nvSpPr>
        <p:spPr>
          <a:xfrm>
            <a:off x="841248" y="1417320"/>
            <a:ext cx="10424160" cy="438912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Recall data types, variables, constants and the library routines MOD, DIV, ROUND and RANDOM</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Write selection (IF and CASE) and all three types of loop in Cambridge pseudocode</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Use counting and totalling to solve problems, and dry run algorithms with trace tables</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Read and complete flowcharts, and find and correct errors in algorithms</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Describe the program development life cycle, test data and how to write maintainable programs</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Answer real 0478 Paper 2 questions the way examiners mark them</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Year 10 in one slide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Recap map</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4</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96112" y="1325880"/>
          <a:ext cx="10424160" cy="914400"/>
        </p:xfrm>
        <a:graphic>
          <a:graphicData uri="http://schemas.openxmlformats.org/drawingml/2006/table">
            <a:tbl>
              <a:tblPr/>
              <a:tblGrid>
                <a:gridCol w="3291840"/>
                <a:gridCol w="5852160"/>
                <a:gridCol w="1280160"/>
              </a:tblGrid>
              <a:tr h="548640">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Big idea</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Year 10 lessons</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Worksheet</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Data, variables and operators</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L1 IDE, input/output  ·  L2 data types, declare, assign</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Task 2</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Selection and library routines</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L3 IF, RANDOM, ROUND  ·  L4 CASE  ·  L5 adventure game</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Task 3</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Iteration</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L6 WHILE  ·  L7-8 REPEAT...UNTIL  ·  L9 FOR loops</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Task 4</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Counting and totalling</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L10 counting, totalling, coding challenges</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Task 4</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Trace tables and flowcharts</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L6 and L13 trace tables  ·  L12 flowcharts</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Task 5</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Finding errors</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L9 finding errors</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Task 6</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Developing programs</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L4 maintainable programs  ·  L11 PDLC</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Task 7</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Variables, constants and data types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Recap: data</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5</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96112" y="1325880"/>
          <a:ext cx="6309360" cy="914400"/>
        </p:xfrm>
        <a:graphic>
          <a:graphicData uri="http://schemas.openxmlformats.org/drawingml/2006/table">
            <a:tbl>
              <a:tblPr/>
              <a:tblGrid>
                <a:gridCol w="1325880"/>
                <a:gridCol w="1600200"/>
                <a:gridCol w="3383280"/>
              </a:tblGrid>
              <a:tr h="566928">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Type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Example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Use it for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250" b="1" dirty="0">
                          <a:solidFill>
                            <a:srgbClr val="202124"/>
                          </a:solidFill>
                          <a:latin typeface="Roboto Mono" pitchFamily="34" charset="0"/>
                          <a:ea typeface="Roboto Mono" pitchFamily="34" charset="-122"/>
                          <a:cs typeface="Roboto Mono" pitchFamily="34" charset="-120"/>
                        </a:rPr>
                        <a:t>INTEGER</a:t>
                      </a:r>
                      <a:endParaRPr lang="en-US" sz="125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Roboto Mono" pitchFamily="34" charset="0"/>
                          <a:ea typeface="Roboto Mono" pitchFamily="34" charset="-122"/>
                          <a:cs typeface="Roboto Mono" pitchFamily="34" charset="-120"/>
                        </a:rPr>
                        <a:t>42   -7</a:t>
                      </a:r>
                      <a:endParaRPr lang="en-US" sz="125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Whole numbers: counts, ages, scores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250" b="1" dirty="0">
                          <a:solidFill>
                            <a:srgbClr val="202124"/>
                          </a:solidFill>
                          <a:latin typeface="Roboto Mono" pitchFamily="34" charset="0"/>
                          <a:ea typeface="Roboto Mono" pitchFamily="34" charset="-122"/>
                          <a:cs typeface="Roboto Mono" pitchFamily="34" charset="-120"/>
                        </a:rPr>
                        <a:t>REAL</a:t>
                      </a:r>
                      <a:endParaRPr lang="en-US" sz="125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Roboto Mono" pitchFamily="34" charset="0"/>
                          <a:ea typeface="Roboto Mono" pitchFamily="34" charset="-122"/>
                          <a:cs typeface="Roboto Mono" pitchFamily="34" charset="-120"/>
                        </a:rPr>
                        <a:t>3.75   -0.5</a:t>
                      </a:r>
                      <a:endParaRPr lang="en-US" sz="125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Numbers with a fractional part: prices, averages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202124"/>
                          </a:solidFill>
                          <a:latin typeface="Roboto Mono" pitchFamily="34" charset="0"/>
                          <a:ea typeface="Roboto Mono" pitchFamily="34" charset="-122"/>
                          <a:cs typeface="Roboto Mono" pitchFamily="34" charset="-120"/>
                        </a:rPr>
                        <a:t>CHAR</a:t>
                      </a:r>
                      <a:endParaRPr lang="en-US" sz="125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Roboto Mono" pitchFamily="34" charset="0"/>
                          <a:ea typeface="Roboto Mono" pitchFamily="34" charset="-122"/>
                          <a:cs typeface="Roboto Mono" pitchFamily="34" charset="-120"/>
                        </a:rPr>
                        <a:t>'Y'</a:t>
                      </a:r>
                      <a:endParaRPr lang="en-US" sz="125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One character, in single quotes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250" b="1" dirty="0">
                          <a:solidFill>
                            <a:srgbClr val="202124"/>
                          </a:solidFill>
                          <a:latin typeface="Roboto Mono" pitchFamily="34" charset="0"/>
                          <a:ea typeface="Roboto Mono" pitchFamily="34" charset="-122"/>
                          <a:cs typeface="Roboto Mono" pitchFamily="34" charset="-120"/>
                        </a:rPr>
                        <a:t>STRING</a:t>
                      </a:r>
                      <a:endParaRPr lang="en-US" sz="125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Roboto Mono" pitchFamily="34" charset="0"/>
                          <a:ea typeface="Roboto Mono" pitchFamily="34" charset="-122"/>
                          <a:cs typeface="Roboto Mono" pitchFamily="34" charset="-120"/>
                        </a:rPr>
                        <a:t>"Bangkok"</a:t>
                      </a:r>
                      <a:endParaRPr lang="en-US" sz="125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Text, codes and phone numbers, in double quotes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202124"/>
                          </a:solidFill>
                          <a:latin typeface="Roboto Mono" pitchFamily="34" charset="0"/>
                          <a:ea typeface="Roboto Mono" pitchFamily="34" charset="-122"/>
                          <a:cs typeface="Roboto Mono" pitchFamily="34" charset="-120"/>
                        </a:rPr>
                        <a:t>BOOLEAN</a:t>
                      </a:r>
                      <a:endParaRPr lang="en-US" sz="125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Roboto Mono" pitchFamily="34" charset="0"/>
                          <a:ea typeface="Roboto Mono" pitchFamily="34" charset="-122"/>
                          <a:cs typeface="Roboto Mono" pitchFamily="34" charset="-120"/>
                        </a:rPr>
                        <a:t>TRUE  FALSE</a:t>
                      </a:r>
                      <a:endParaRPr lang="en-US" sz="125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Only two possible values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Shape 4"/>
          <p:cNvSpPr/>
          <p:nvPr/>
        </p:nvSpPr>
        <p:spPr>
          <a:xfrm>
            <a:off x="7498080" y="1325880"/>
            <a:ext cx="4069080" cy="35661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9" name="Text 5"/>
          <p:cNvSpPr txBox="1"/>
          <p:nvPr/>
        </p:nvSpPr>
        <p:spPr>
          <a:xfrm>
            <a:off x="7635240" y="1417320"/>
            <a:ext cx="3794760" cy="3383280"/>
          </a:xfrm>
          <a:prstGeom prst="rect">
            <a:avLst/>
          </a:prstGeom>
          <a:noFill/>
          <a:ln/>
        </p:spPr>
        <p:txBody>
          <a:bodyPr wrap="square" lIns="0" tIns="0" rIns="0" bIns="0" rtlCol="0" anchor="t"/>
          <a:lstStyle/>
          <a:p>
            <a:pPr indent="0" marL="0">
              <a:lnSpc>
                <a:spcPct val="105000"/>
              </a:lnSpc>
              <a:buNone/>
            </a:pPr>
            <a:r>
              <a:rPr lang="en-US" sz="1250" dirty="0">
                <a:solidFill>
                  <a:srgbClr val="666666"/>
                </a:solidFill>
                <a:latin typeface="Roboto Mono" pitchFamily="34" charset="0"/>
                <a:ea typeface="Roboto Mono" pitchFamily="34" charset="-122"/>
                <a:cs typeface="Roboto Mono" pitchFamily="34" charset="-120"/>
              </a:rPr>
              <a:t>// declare, then assign</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DECLARE Age :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DECLARE Price : REAL</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DECLARE Name : STRING</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CONSTANT Discount ← 0.1</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Age ← 15</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Name ← "Mali"</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INPUT Price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Price ← Price - Price * Discount</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OUTPUT Name, " pays ", Price</a:t>
            </a:r>
            <a:endParaRPr lang="en-US" sz="1250" dirty="0"/>
          </a:p>
        </p:txBody>
      </p:sp>
      <p:sp>
        <p:nvSpPr>
          <p:cNvPr id="10" name="Text 6"/>
          <p:cNvSpPr txBox="1"/>
          <p:nvPr/>
        </p:nvSpPr>
        <p:spPr>
          <a:xfrm>
            <a:off x="896112" y="5120640"/>
            <a:ext cx="1060704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A variable can change while the program runs. A constant is set once and cannot change.</a:t>
            </a:r>
            <a:endParaRPr lang="en-US" sz="1500" dirty="0"/>
          </a:p>
        </p:txBody>
      </p:sp>
      <p:sp>
        <p:nvSpPr>
          <p:cNvPr id="11" name="Text 7"/>
          <p:cNvSpPr txBox="1"/>
          <p:nvPr/>
        </p:nvSpPr>
        <p:spPr>
          <a:xfrm>
            <a:off x="896112" y="5623560"/>
            <a:ext cx="10607040" cy="365760"/>
          </a:xfrm>
          <a:prstGeom prst="rect">
            <a:avLst/>
          </a:prstGeom>
          <a:noFill/>
          <a:ln/>
        </p:spPr>
        <p:txBody>
          <a:bodyPr wrap="square" lIns="0" tIns="0" rIns="0" bIns="0" rtlCol="0" anchor="t"/>
          <a:lstStyle/>
          <a:p>
            <a:pPr indent="0" marL="0">
              <a:spcAft>
                <a:spcPts val="600"/>
              </a:spcAft>
              <a:buNone/>
            </a:pPr>
            <a:r>
              <a:rPr lang="en-US" sz="1400" dirty="0">
                <a:solidFill>
                  <a:srgbClr val="666666"/>
                </a:solidFill>
                <a:latin typeface="Quicksand" pitchFamily="34" charset="0"/>
                <a:ea typeface="Quicksand" pitchFamily="34" charset="-122"/>
                <a:cs typeface="Quicksand" pitchFamily="34" charset="-120"/>
              </a:rPr>
              <a:t>OUTPUT can join several items with commas.  ← means "is assigned the value of".</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Operators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Recap: data</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6</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96112" y="1325880"/>
          <a:ext cx="10424160" cy="914400"/>
        </p:xfrm>
        <a:graphic>
          <a:graphicData uri="http://schemas.openxmlformats.org/drawingml/2006/table">
            <a:tbl>
              <a:tblPr/>
              <a:tblGrid>
                <a:gridCol w="2377440"/>
                <a:gridCol w="3474720"/>
                <a:gridCol w="4572000"/>
              </a:tblGrid>
              <a:tr h="640080">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Type</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Operators</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Example</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640080">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Arithmetic</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  -  *  /  ^  MOD  DIV</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Area ← Length * Width</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40080">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Logical (comparison)</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  &lt;&gt;  &lt;  &lt;=  &gt;  &gt;=</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IF Age &gt;= 18</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Boolean</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AND  OR  NOT</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IF Age &gt;= 13 AND Age &lt;= 19</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Shape 4"/>
          <p:cNvSpPr/>
          <p:nvPr/>
        </p:nvSpPr>
        <p:spPr>
          <a:xfrm>
            <a:off x="896112" y="4160520"/>
            <a:ext cx="3291840" cy="1371600"/>
          </a:xfrm>
          <a:prstGeom prst="rect">
            <a:avLst/>
          </a:prstGeom>
          <a:solidFill>
            <a:srgbClr val="F6F5FC"/>
          </a:solidFill>
          <a:ln w="12700">
            <a:solidFill>
              <a:srgbClr val="F6F5FC"/>
            </a:solidFill>
            <a:prstDash val="solid"/>
          </a:ln>
        </p:spPr>
      </p:sp>
      <p:sp>
        <p:nvSpPr>
          <p:cNvPr id="9" name="Text 5"/>
          <p:cNvSpPr/>
          <p:nvPr/>
        </p:nvSpPr>
        <p:spPr>
          <a:xfrm>
            <a:off x="1033272" y="42976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0" name="Text 6"/>
          <p:cNvSpPr txBox="1"/>
          <p:nvPr/>
        </p:nvSpPr>
        <p:spPr>
          <a:xfrm>
            <a:off x="1554480" y="4270248"/>
            <a:ext cx="2514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 compares, ← assigns</a:t>
            </a:r>
            <a:endParaRPr lang="en-US" sz="1500" dirty="0"/>
          </a:p>
        </p:txBody>
      </p:sp>
      <p:sp>
        <p:nvSpPr>
          <p:cNvPr id="11" name="Text 7"/>
          <p:cNvSpPr txBox="1"/>
          <p:nvPr/>
        </p:nvSpPr>
        <p:spPr>
          <a:xfrm>
            <a:off x="1554480" y="4663440"/>
            <a:ext cx="2514600" cy="8046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IF Score = 10 asks a question. Score ← 10 stores a value.</a:t>
            </a:r>
            <a:endParaRPr lang="en-US" sz="1250" dirty="0"/>
          </a:p>
        </p:txBody>
      </p:sp>
      <p:sp>
        <p:nvSpPr>
          <p:cNvPr id="12" name="Shape 8"/>
          <p:cNvSpPr/>
          <p:nvPr/>
        </p:nvSpPr>
        <p:spPr>
          <a:xfrm>
            <a:off x="4462272" y="4160520"/>
            <a:ext cx="3291840" cy="1371600"/>
          </a:xfrm>
          <a:prstGeom prst="rect">
            <a:avLst/>
          </a:prstGeom>
          <a:solidFill>
            <a:srgbClr val="F6F5FC"/>
          </a:solidFill>
          <a:ln w="12700">
            <a:solidFill>
              <a:srgbClr val="F6F5FC"/>
            </a:solidFill>
            <a:prstDash val="solid"/>
          </a:ln>
        </p:spPr>
      </p:sp>
      <p:sp>
        <p:nvSpPr>
          <p:cNvPr id="13" name="Text 9"/>
          <p:cNvSpPr/>
          <p:nvPr/>
        </p:nvSpPr>
        <p:spPr>
          <a:xfrm>
            <a:off x="4599432" y="42976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4" name="Text 10"/>
          <p:cNvSpPr txBox="1"/>
          <p:nvPr/>
        </p:nvSpPr>
        <p:spPr>
          <a:xfrm>
            <a:off x="5120640" y="4270248"/>
            <a:ext cx="2514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&lt;&gt; means "not equal to"</a:t>
            </a:r>
            <a:endParaRPr lang="en-US" sz="1500" dirty="0"/>
          </a:p>
        </p:txBody>
      </p:sp>
      <p:sp>
        <p:nvSpPr>
          <p:cNvPr id="15" name="Text 11"/>
          <p:cNvSpPr txBox="1"/>
          <p:nvPr/>
        </p:nvSpPr>
        <p:spPr>
          <a:xfrm>
            <a:off x="5120640" y="4663440"/>
            <a:ext cx="2514600" cy="8046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WHILE Answer &lt;&gt; "N" keeps going until the user types N.</a:t>
            </a:r>
            <a:endParaRPr lang="en-US" sz="1250" dirty="0"/>
          </a:p>
        </p:txBody>
      </p:sp>
      <p:sp>
        <p:nvSpPr>
          <p:cNvPr id="16" name="Shape 12"/>
          <p:cNvSpPr/>
          <p:nvPr/>
        </p:nvSpPr>
        <p:spPr>
          <a:xfrm>
            <a:off x="8028432" y="4160520"/>
            <a:ext cx="3291840" cy="1371600"/>
          </a:xfrm>
          <a:prstGeom prst="rect">
            <a:avLst/>
          </a:prstGeom>
          <a:solidFill>
            <a:srgbClr val="F6F5FC"/>
          </a:solidFill>
          <a:ln w="12700">
            <a:solidFill>
              <a:srgbClr val="F6F5FC"/>
            </a:solidFill>
            <a:prstDash val="solid"/>
          </a:ln>
        </p:spPr>
      </p:sp>
      <p:sp>
        <p:nvSpPr>
          <p:cNvPr id="17" name="Text 13"/>
          <p:cNvSpPr/>
          <p:nvPr/>
        </p:nvSpPr>
        <p:spPr>
          <a:xfrm>
            <a:off x="8165592" y="42976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8" name="Text 14"/>
          <p:cNvSpPr txBox="1"/>
          <p:nvPr/>
        </p:nvSpPr>
        <p:spPr>
          <a:xfrm>
            <a:off x="8686800" y="4270248"/>
            <a:ext cx="2514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AND vs OR</a:t>
            </a:r>
            <a:endParaRPr lang="en-US" sz="1500" dirty="0"/>
          </a:p>
        </p:txBody>
      </p:sp>
      <p:sp>
        <p:nvSpPr>
          <p:cNvPr id="19" name="Text 15"/>
          <p:cNvSpPr txBox="1"/>
          <p:nvPr/>
        </p:nvSpPr>
        <p:spPr>
          <a:xfrm>
            <a:off x="8686800" y="4663440"/>
            <a:ext cx="2514600" cy="8046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AND: both must be TRUE.  OR: at least one must be TRUE. Ranges use AND.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Library routines: MOD, DIV, ROUND, RANDOM</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Recap: selection</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7</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96112" y="1325880"/>
          <a:ext cx="10424160" cy="914400"/>
        </p:xfrm>
        <a:graphic>
          <a:graphicData uri="http://schemas.openxmlformats.org/drawingml/2006/table">
            <a:tbl>
              <a:tblPr/>
              <a:tblGrid>
                <a:gridCol w="1463040"/>
                <a:gridCol w="4023360"/>
                <a:gridCol w="3108960"/>
                <a:gridCol w="1828800"/>
              </a:tblGrid>
              <a:tr h="548640">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Routine</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What it does</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Example</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Result</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400" b="1" dirty="0">
                          <a:solidFill>
                            <a:srgbClr val="202124"/>
                          </a:solidFill>
                          <a:latin typeface="Roboto Mono" pitchFamily="34" charset="0"/>
                          <a:ea typeface="Roboto Mono" pitchFamily="34" charset="-122"/>
                          <a:cs typeface="Roboto Mono" pitchFamily="34" charset="-120"/>
                        </a:rPr>
                        <a:t>MOD</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Remainder after division</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MOD(14, 3)</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2</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400" b="1" dirty="0">
                          <a:solidFill>
                            <a:srgbClr val="202124"/>
                          </a:solidFill>
                          <a:latin typeface="Roboto Mono" pitchFamily="34" charset="0"/>
                          <a:ea typeface="Roboto Mono" pitchFamily="34" charset="-122"/>
                          <a:cs typeface="Roboto Mono" pitchFamily="34" charset="-120"/>
                        </a:rPr>
                        <a:t>DIV</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Whole-number part of a division</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DIV(14, 3)</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4</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202124"/>
                          </a:solidFill>
                          <a:latin typeface="Roboto Mono" pitchFamily="34" charset="0"/>
                          <a:ea typeface="Roboto Mono" pitchFamily="34" charset="-122"/>
                          <a:cs typeface="Roboto Mono" pitchFamily="34" charset="-120"/>
                        </a:rPr>
                        <a:t>ROUND</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Rounds to a number of decimal places</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ROUND(2.718, 1)</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2.7</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400" b="1" dirty="0">
                          <a:solidFill>
                            <a:srgbClr val="202124"/>
                          </a:solidFill>
                          <a:latin typeface="Roboto Mono" pitchFamily="34" charset="0"/>
                          <a:ea typeface="Roboto Mono" pitchFamily="34" charset="-122"/>
                          <a:cs typeface="Roboto Mono" pitchFamily="34" charset="-120"/>
                        </a:rPr>
                        <a:t>RANDOM</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Random real number from 0 to 1</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RANDOM()</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e.g. 0.6214</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Shape 4"/>
          <p:cNvSpPr/>
          <p:nvPr/>
        </p:nvSpPr>
        <p:spPr>
          <a:xfrm>
            <a:off x="896112" y="4343400"/>
            <a:ext cx="6035040" cy="86868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9" name="Text 5"/>
          <p:cNvSpPr txBox="1"/>
          <p:nvPr/>
        </p:nvSpPr>
        <p:spPr>
          <a:xfrm>
            <a:off x="1033272" y="4434840"/>
            <a:ext cx="5760720" cy="685800"/>
          </a:xfrm>
          <a:prstGeom prst="rect">
            <a:avLst/>
          </a:prstGeom>
          <a:noFill/>
          <a:ln/>
        </p:spPr>
        <p:txBody>
          <a:bodyPr wrap="square" lIns="0" tIns="0" rIns="0" bIns="0" rtlCol="0" anchor="t"/>
          <a:lstStyle/>
          <a:p>
            <a:pPr indent="0" marL="0">
              <a:lnSpc>
                <a:spcPct val="105000"/>
              </a:lnSpc>
              <a:buNone/>
            </a:pPr>
            <a:r>
              <a:rPr lang="en-US" sz="1400" dirty="0">
                <a:solidFill>
                  <a:srgbClr val="666666"/>
                </a:solidFill>
                <a:latin typeface="Roboto Mono" pitchFamily="34" charset="0"/>
                <a:ea typeface="Roboto Mono" pitchFamily="34" charset="-122"/>
                <a:cs typeface="Roboto Mono" pitchFamily="34" charset="-120"/>
              </a:rPr>
              <a:t>// random whole number from 1 to 10</a:t>
            </a:r>
            <a:endParaRPr lang="en-US" sz="1400" dirty="0"/>
          </a:p>
          <a:p>
            <a:pPr indent="0" marL="0">
              <a:lnSpc>
                <a:spcPct val="105000"/>
              </a:lnSpc>
              <a:buNone/>
            </a:pPr>
            <a:r>
              <a:rPr lang="en-US" sz="1400" b="1" dirty="0">
                <a:solidFill>
                  <a:srgbClr val="494985"/>
                </a:solidFill>
                <a:latin typeface="Roboto Mono" pitchFamily="34" charset="0"/>
                <a:ea typeface="Roboto Mono" pitchFamily="34" charset="-122"/>
                <a:cs typeface="Roboto Mono" pitchFamily="34" charset="-120"/>
              </a:rPr>
              <a:t>Number ← ROUND(RANDOM() * 9, 0) + 1</a:t>
            </a:r>
            <a:endParaRPr lang="en-US" sz="1400" dirty="0"/>
          </a:p>
        </p:txBody>
      </p:sp>
      <p:sp>
        <p:nvSpPr>
          <p:cNvPr id="10" name="Shape 6"/>
          <p:cNvSpPr/>
          <p:nvPr/>
        </p:nvSpPr>
        <p:spPr>
          <a:xfrm>
            <a:off x="7269480" y="4206240"/>
            <a:ext cx="4050792" cy="1371600"/>
          </a:xfrm>
          <a:prstGeom prst="rect">
            <a:avLst/>
          </a:prstGeom>
          <a:solidFill>
            <a:srgbClr val="F6F5FC"/>
          </a:solidFill>
          <a:ln w="12700">
            <a:solidFill>
              <a:srgbClr val="F6F5FC"/>
            </a:solidFill>
            <a:prstDash val="solid"/>
          </a:ln>
        </p:spPr>
      </p:sp>
      <p:sp>
        <p:nvSpPr>
          <p:cNvPr id="11" name="Text 7"/>
          <p:cNvSpPr/>
          <p:nvPr/>
        </p:nvSpPr>
        <p:spPr>
          <a:xfrm>
            <a:off x="7406640" y="43434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a:t>
            </a:r>
            <a:endParaRPr lang="en-US" sz="1400" dirty="0"/>
          </a:p>
        </p:txBody>
      </p:sp>
      <p:sp>
        <p:nvSpPr>
          <p:cNvPr id="12" name="Text 8"/>
          <p:cNvSpPr txBox="1"/>
          <p:nvPr/>
        </p:nvSpPr>
        <p:spPr>
          <a:xfrm>
            <a:off x="7927848" y="4315968"/>
            <a:ext cx="3273552"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Quick check</a:t>
            </a:r>
            <a:endParaRPr lang="en-US" sz="1500" dirty="0"/>
          </a:p>
        </p:txBody>
      </p:sp>
      <p:sp>
        <p:nvSpPr>
          <p:cNvPr id="13" name="Text 9"/>
          <p:cNvSpPr txBox="1"/>
          <p:nvPr/>
        </p:nvSpPr>
        <p:spPr>
          <a:xfrm>
            <a:off x="7927848" y="4709160"/>
            <a:ext cx="3273552" cy="8046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What range of numbers does ROUND(RANDOM() * 49, 0) + 1 give?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Selection: IF and CASE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Recap: selection</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8</a:t>
            </a:r>
            <a:endParaRPr lang="en-US" sz="1350" dirty="0"/>
          </a:p>
        </p:txBody>
      </p:sp>
      <p:sp>
        <p:nvSpPr>
          <p:cNvPr id="7" name="Shape 4"/>
          <p:cNvSpPr/>
          <p:nvPr/>
        </p:nvSpPr>
        <p:spPr>
          <a:xfrm>
            <a:off x="896112" y="1325880"/>
            <a:ext cx="4206240" cy="37947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1033272" y="1417320"/>
            <a:ext cx="3931920" cy="361188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INPUT Size</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IF Size = 'S'</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THEN</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Price ← 2.50</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ELSE</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IF Size = 'M'</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THEN</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Price ← 3.00</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ELSE</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Price ← 3.50</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ENDIF</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ENDIF</a:t>
            </a:r>
            <a:endParaRPr lang="en-US" sz="1300" dirty="0"/>
          </a:p>
        </p:txBody>
      </p:sp>
      <p:sp>
        <p:nvSpPr>
          <p:cNvPr id="9" name="Shape 6"/>
          <p:cNvSpPr/>
          <p:nvPr/>
        </p:nvSpPr>
        <p:spPr>
          <a:xfrm>
            <a:off x="5349240" y="1325880"/>
            <a:ext cx="4206240" cy="23774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0" name="Text 7"/>
          <p:cNvSpPr txBox="1"/>
          <p:nvPr/>
        </p:nvSpPr>
        <p:spPr>
          <a:xfrm>
            <a:off x="5486400" y="1417320"/>
            <a:ext cx="3931920" cy="219456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INPUT Size</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CASE OF Size</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'S' : Price ← 2.50</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'M' : Price ← 3.00</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'L' : Price ← 3.50</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OTHERWISE OUTPUT "Invalid size"</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ENDCASE</a:t>
            </a:r>
            <a:endParaRPr lang="en-US" sz="1300" dirty="0"/>
          </a:p>
        </p:txBody>
      </p:sp>
      <p:sp>
        <p:nvSpPr>
          <p:cNvPr id="11" name="Shape 8"/>
          <p:cNvSpPr/>
          <p:nvPr/>
        </p:nvSpPr>
        <p:spPr>
          <a:xfrm>
            <a:off x="9784080" y="1325880"/>
            <a:ext cx="1783080" cy="1828800"/>
          </a:xfrm>
          <a:prstGeom prst="rect">
            <a:avLst/>
          </a:prstGeom>
          <a:solidFill>
            <a:srgbClr val="F6F5FC"/>
          </a:solidFill>
          <a:ln w="12700">
            <a:solidFill>
              <a:srgbClr val="F6F5FC"/>
            </a:solidFill>
            <a:prstDash val="solid"/>
          </a:ln>
        </p:spPr>
      </p:sp>
      <p:sp>
        <p:nvSpPr>
          <p:cNvPr id="12" name="Text 9"/>
          <p:cNvSpPr/>
          <p:nvPr/>
        </p:nvSpPr>
        <p:spPr>
          <a:xfrm>
            <a:off x="9921240" y="1463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3" name="Text 10"/>
          <p:cNvSpPr txBox="1"/>
          <p:nvPr/>
        </p:nvSpPr>
        <p:spPr>
          <a:xfrm>
            <a:off x="10442448" y="1435608"/>
            <a:ext cx="100584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IF</a:t>
            </a:r>
            <a:endParaRPr lang="en-US" sz="1400" dirty="0"/>
          </a:p>
        </p:txBody>
      </p:sp>
      <p:sp>
        <p:nvSpPr>
          <p:cNvPr id="14" name="Text 11"/>
          <p:cNvSpPr txBox="1"/>
          <p:nvPr/>
        </p:nvSpPr>
        <p:spPr>
          <a:xfrm>
            <a:off x="10442448" y="1828800"/>
            <a:ext cx="1005840" cy="126187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Any conditions: ranges, AND/OR, different variables.</a:t>
            </a:r>
            <a:endParaRPr lang="en-US" sz="1200" dirty="0"/>
          </a:p>
        </p:txBody>
      </p:sp>
      <p:sp>
        <p:nvSpPr>
          <p:cNvPr id="15" name="Shape 12"/>
          <p:cNvSpPr/>
          <p:nvPr/>
        </p:nvSpPr>
        <p:spPr>
          <a:xfrm>
            <a:off x="9784080" y="3291840"/>
            <a:ext cx="1783080" cy="1828800"/>
          </a:xfrm>
          <a:prstGeom prst="rect">
            <a:avLst/>
          </a:prstGeom>
          <a:solidFill>
            <a:srgbClr val="F6F5FC"/>
          </a:solidFill>
          <a:ln w="12700">
            <a:solidFill>
              <a:srgbClr val="F6F5FC"/>
            </a:solidFill>
            <a:prstDash val="solid"/>
          </a:ln>
        </p:spPr>
      </p:sp>
      <p:sp>
        <p:nvSpPr>
          <p:cNvPr id="16" name="Text 13"/>
          <p:cNvSpPr/>
          <p:nvPr/>
        </p:nvSpPr>
        <p:spPr>
          <a:xfrm>
            <a:off x="9921240" y="34290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7" name="Text 14"/>
          <p:cNvSpPr txBox="1"/>
          <p:nvPr/>
        </p:nvSpPr>
        <p:spPr>
          <a:xfrm>
            <a:off x="10442448" y="3401568"/>
            <a:ext cx="100584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CASE</a:t>
            </a:r>
            <a:endParaRPr lang="en-US" sz="1400" dirty="0"/>
          </a:p>
        </p:txBody>
      </p:sp>
      <p:sp>
        <p:nvSpPr>
          <p:cNvPr id="18" name="Text 15"/>
          <p:cNvSpPr txBox="1"/>
          <p:nvPr/>
        </p:nvSpPr>
        <p:spPr>
          <a:xfrm>
            <a:off x="10442448" y="3794760"/>
            <a:ext cx="1005840" cy="126187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One variable compared with a list of values.</a:t>
            </a:r>
            <a:endParaRPr lang="en-US" sz="1200" dirty="0"/>
          </a:p>
        </p:txBody>
      </p:sp>
      <p:sp>
        <p:nvSpPr>
          <p:cNvPr id="19" name="Text 16"/>
          <p:cNvSpPr txBox="1"/>
          <p:nvPr/>
        </p:nvSpPr>
        <p:spPr>
          <a:xfrm>
            <a:off x="5349240" y="3977640"/>
            <a:ext cx="4206240" cy="82296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Every IF needs ENDIF. Every CASE OF needs ENDCASE.</a:t>
            </a:r>
            <a:endParaRPr lang="en-US" sz="1500" dirty="0"/>
          </a:p>
        </p:txBody>
      </p:sp>
      <p:sp>
        <p:nvSpPr>
          <p:cNvPr id="20" name="Text 17"/>
          <p:cNvSpPr txBox="1"/>
          <p:nvPr/>
        </p:nvSpPr>
        <p:spPr>
          <a:xfrm>
            <a:off x="896112" y="5440680"/>
            <a:ext cx="10607040" cy="411480"/>
          </a:xfrm>
          <a:prstGeom prst="rect">
            <a:avLst/>
          </a:prstGeom>
          <a:noFill/>
          <a:ln/>
        </p:spPr>
        <p:txBody>
          <a:bodyPr wrap="square" lIns="0" tIns="0" rIns="0" bIns="0" rtlCol="0" anchor="t"/>
          <a:lstStyle/>
          <a:p>
            <a:pPr indent="0" marL="0">
              <a:spcAft>
                <a:spcPts val="600"/>
              </a:spcAft>
              <a:buNone/>
            </a:pPr>
            <a:r>
              <a:rPr lang="en-US" sz="1400" dirty="0">
                <a:solidFill>
                  <a:srgbClr val="666666"/>
                </a:solidFill>
                <a:latin typeface="Quicksand" pitchFamily="34" charset="0"/>
                <a:ea typeface="Quicksand" pitchFamily="34" charset="-122"/>
                <a:cs typeface="Quicksand" pitchFamily="34" charset="-120"/>
              </a:rPr>
              <a:t>Nested IF: one IF inside another.  OTHERWISE: what happens if no value matches.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Iteration: three types of loop</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Recap: iteration</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9</a:t>
            </a:r>
            <a:endParaRPr lang="en-US" sz="1350" dirty="0"/>
          </a:p>
        </p:txBody>
      </p:sp>
      <p:sp>
        <p:nvSpPr>
          <p:cNvPr id="7" name="Shape 4"/>
          <p:cNvSpPr/>
          <p:nvPr/>
        </p:nvSpPr>
        <p:spPr>
          <a:xfrm>
            <a:off x="896112" y="1325880"/>
            <a:ext cx="3291840" cy="160020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1033272" y="1417320"/>
            <a:ext cx="3017520" cy="1417320"/>
          </a:xfrm>
          <a:prstGeom prst="rect">
            <a:avLst/>
          </a:prstGeom>
          <a:noFill/>
          <a:ln/>
        </p:spPr>
        <p:txBody>
          <a:bodyPr wrap="square" lIns="0" tIns="0" rIns="0" bIns="0" rtlCol="0" anchor="t"/>
          <a:lstStyle/>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FOR Count ← 1 TO 5</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OUTPUT Count</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NEXT Count</a:t>
            </a:r>
            <a:endParaRPr lang="en-US" sz="1300" dirty="0"/>
          </a:p>
        </p:txBody>
      </p:sp>
      <p:sp>
        <p:nvSpPr>
          <p:cNvPr id="9" name="Shape 6"/>
          <p:cNvSpPr/>
          <p:nvPr/>
        </p:nvSpPr>
        <p:spPr>
          <a:xfrm>
            <a:off x="4462272" y="1325880"/>
            <a:ext cx="3291840" cy="160020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0" name="Text 7"/>
          <p:cNvSpPr txBox="1"/>
          <p:nvPr/>
        </p:nvSpPr>
        <p:spPr>
          <a:xfrm>
            <a:off x="4599432" y="1417320"/>
            <a:ext cx="3017520" cy="141732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Count ← 1</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WHILE Count &lt;= 5 DO</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OUTPUT Count</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Count ← Count + 1</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ENDWHILE</a:t>
            </a:r>
            <a:endParaRPr lang="en-US" sz="1300" dirty="0"/>
          </a:p>
        </p:txBody>
      </p:sp>
      <p:sp>
        <p:nvSpPr>
          <p:cNvPr id="11" name="Shape 8"/>
          <p:cNvSpPr/>
          <p:nvPr/>
        </p:nvSpPr>
        <p:spPr>
          <a:xfrm>
            <a:off x="8028432" y="1325880"/>
            <a:ext cx="3291840" cy="160020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2" name="Text 9"/>
          <p:cNvSpPr txBox="1"/>
          <p:nvPr/>
        </p:nvSpPr>
        <p:spPr>
          <a:xfrm>
            <a:off x="8165592" y="1417320"/>
            <a:ext cx="3017520" cy="141732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Count ← 1</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REPEAT</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OUTPUT Count</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Count ← Count + 1</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UNTIL Count &gt; 5</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96112" y="3200400"/>
          <a:ext cx="10424160" cy="914400"/>
        </p:xfrm>
        <a:graphic>
          <a:graphicData uri="http://schemas.openxmlformats.org/drawingml/2006/table">
            <a:tbl>
              <a:tblPr/>
              <a:tblGrid>
                <a:gridCol w="2011680"/>
                <a:gridCol w="3291840"/>
                <a:gridCol w="2926080"/>
                <a:gridCol w="2194560"/>
              </a:tblGrid>
              <a:tr h="530352">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Loop</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Keywords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Condition checked</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Runs at least once?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Count-controlled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Roboto Mono" pitchFamily="34" charset="0"/>
                          <a:ea typeface="Roboto Mono" pitchFamily="34" charset="-122"/>
                          <a:cs typeface="Roboto Mono" pitchFamily="34" charset="-120"/>
                        </a:rPr>
                        <a:t>FOR ... TO ... NEXT</a:t>
                      </a:r>
                      <a:endParaRPr lang="en-US" sz="13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Runs a set number of times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Yes (if start &lt;= end)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Pre-condition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Roboto Mono" pitchFamily="34" charset="0"/>
                          <a:ea typeface="Roboto Mono" pitchFamily="34" charset="-122"/>
                          <a:cs typeface="Roboto Mono" pitchFamily="34" charset="-120"/>
                        </a:rPr>
                        <a:t>WHILE ... DO ... ENDWHILE</a:t>
                      </a:r>
                      <a:endParaRPr lang="en-US" sz="13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At the start; loops while TRUE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No - may run 0 times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Post-condition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Roboto Mono" pitchFamily="34" charset="0"/>
                          <a:ea typeface="Roboto Mono" pitchFamily="34" charset="-122"/>
                          <a:cs typeface="Roboto Mono" pitchFamily="34" charset="-120"/>
                        </a:rPr>
                        <a:t>REPEAT ... UNTIL</a:t>
                      </a:r>
                      <a:endParaRPr lang="en-US" sz="13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At the end; stops when TRUE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Yes - always once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14" name="Text 10"/>
          <p:cNvSpPr txBox="1"/>
          <p:nvPr/>
        </p:nvSpPr>
        <p:spPr>
          <a:xfrm>
            <a:off x="896112" y="5440680"/>
            <a:ext cx="10424160" cy="4114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WHILE Count &lt;= 5 and UNTIL Count &gt; 5 are opposite conditions for the same loop.</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Counting and totalling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Recap: iteration</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10</a:t>
            </a:r>
            <a:endParaRPr lang="en-US" sz="1350" dirty="0"/>
          </a:p>
        </p:txBody>
      </p:sp>
      <p:sp>
        <p:nvSpPr>
          <p:cNvPr id="7" name="Shape 4"/>
          <p:cNvSpPr/>
          <p:nvPr/>
        </p:nvSpPr>
        <p:spPr>
          <a:xfrm>
            <a:off x="896112" y="1325880"/>
            <a:ext cx="4754880" cy="434340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1033272" y="1417320"/>
            <a:ext cx="4480560" cy="4160520"/>
          </a:xfrm>
          <a:prstGeom prst="rect">
            <a:avLst/>
          </a:prstGeom>
          <a:noFill/>
          <a:ln/>
        </p:spPr>
        <p:txBody>
          <a:bodyPr wrap="square" lIns="0" tIns="0" rIns="0" bIns="0" rtlCol="0" anchor="t"/>
          <a:lstStyle/>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Total ← 0</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Count ← 0</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Big ← 0</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INPUT Num</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WHILE Num &lt;&gt; -1 DO</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Total ← Total + Num</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Count ← Count + 1</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IF Num &gt; 10</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THEN</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Big ← Big + 1</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ENDIF</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INPUT Num</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ENDWHILE</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OUTPUT Total, Count, Big</a:t>
            </a:r>
            <a:endParaRPr lang="en-US" sz="1300" dirty="0"/>
          </a:p>
        </p:txBody>
      </p:sp>
      <p:sp>
        <p:nvSpPr>
          <p:cNvPr id="9" name="Shape 6"/>
          <p:cNvSpPr/>
          <p:nvPr/>
        </p:nvSpPr>
        <p:spPr>
          <a:xfrm>
            <a:off x="5943600" y="1325880"/>
            <a:ext cx="5577840" cy="960120"/>
          </a:xfrm>
          <a:prstGeom prst="rect">
            <a:avLst/>
          </a:prstGeom>
          <a:solidFill>
            <a:srgbClr val="F6F5FC"/>
          </a:solidFill>
          <a:ln w="12700">
            <a:solidFill>
              <a:srgbClr val="F6F5FC"/>
            </a:solidFill>
            <a:prstDash val="solid"/>
          </a:ln>
        </p:spPr>
      </p:sp>
      <p:sp>
        <p:nvSpPr>
          <p:cNvPr id="10" name="Text 7"/>
          <p:cNvSpPr/>
          <p:nvPr/>
        </p:nvSpPr>
        <p:spPr>
          <a:xfrm>
            <a:off x="6080760" y="1463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8"/>
          <p:cNvSpPr txBox="1"/>
          <p:nvPr/>
        </p:nvSpPr>
        <p:spPr>
          <a:xfrm>
            <a:off x="6601968" y="1435608"/>
            <a:ext cx="4800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Initialise before the loop</a:t>
            </a:r>
            <a:endParaRPr lang="en-US" sz="1500" dirty="0"/>
          </a:p>
        </p:txBody>
      </p:sp>
      <p:sp>
        <p:nvSpPr>
          <p:cNvPr id="12" name="Text 9"/>
          <p:cNvSpPr txBox="1"/>
          <p:nvPr/>
        </p:nvSpPr>
        <p:spPr>
          <a:xfrm>
            <a:off x="6601968" y="1828800"/>
            <a:ext cx="480060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Set totals and counters to 0, or the result is wrong.</a:t>
            </a:r>
            <a:endParaRPr lang="en-US" sz="1250" dirty="0"/>
          </a:p>
        </p:txBody>
      </p:sp>
      <p:sp>
        <p:nvSpPr>
          <p:cNvPr id="13" name="Shape 10"/>
          <p:cNvSpPr/>
          <p:nvPr/>
        </p:nvSpPr>
        <p:spPr>
          <a:xfrm>
            <a:off x="5943600" y="2377440"/>
            <a:ext cx="5577840" cy="960120"/>
          </a:xfrm>
          <a:prstGeom prst="rect">
            <a:avLst/>
          </a:prstGeom>
          <a:solidFill>
            <a:srgbClr val="F6F5FC"/>
          </a:solidFill>
          <a:ln w="12700">
            <a:solidFill>
              <a:srgbClr val="F6F5FC"/>
            </a:solidFill>
            <a:prstDash val="solid"/>
          </a:ln>
        </p:spPr>
      </p:sp>
      <p:sp>
        <p:nvSpPr>
          <p:cNvPr id="14" name="Text 11"/>
          <p:cNvSpPr/>
          <p:nvPr/>
        </p:nvSpPr>
        <p:spPr>
          <a:xfrm>
            <a:off x="6080760" y="25146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5" name="Text 12"/>
          <p:cNvSpPr txBox="1"/>
          <p:nvPr/>
        </p:nvSpPr>
        <p:spPr>
          <a:xfrm>
            <a:off x="6601968" y="2487168"/>
            <a:ext cx="4800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Totalling</a:t>
            </a:r>
            <a:endParaRPr lang="en-US" sz="1500" dirty="0"/>
          </a:p>
        </p:txBody>
      </p:sp>
      <p:sp>
        <p:nvSpPr>
          <p:cNvPr id="16" name="Text 13"/>
          <p:cNvSpPr txBox="1"/>
          <p:nvPr/>
        </p:nvSpPr>
        <p:spPr>
          <a:xfrm>
            <a:off x="6601968" y="2880360"/>
            <a:ext cx="480060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Total ← Total + Num adds each value to a running total.</a:t>
            </a:r>
            <a:endParaRPr lang="en-US" sz="1250" dirty="0"/>
          </a:p>
        </p:txBody>
      </p:sp>
      <p:sp>
        <p:nvSpPr>
          <p:cNvPr id="17" name="Shape 14"/>
          <p:cNvSpPr/>
          <p:nvPr/>
        </p:nvSpPr>
        <p:spPr>
          <a:xfrm>
            <a:off x="5943600" y="3429000"/>
            <a:ext cx="5577840" cy="960120"/>
          </a:xfrm>
          <a:prstGeom prst="rect">
            <a:avLst/>
          </a:prstGeom>
          <a:solidFill>
            <a:srgbClr val="F6F5FC"/>
          </a:solidFill>
          <a:ln w="12700">
            <a:solidFill>
              <a:srgbClr val="F6F5FC"/>
            </a:solidFill>
            <a:prstDash val="solid"/>
          </a:ln>
        </p:spPr>
      </p:sp>
      <p:sp>
        <p:nvSpPr>
          <p:cNvPr id="18" name="Text 15"/>
          <p:cNvSpPr/>
          <p:nvPr/>
        </p:nvSpPr>
        <p:spPr>
          <a:xfrm>
            <a:off x="6080760" y="35661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9" name="Text 16"/>
          <p:cNvSpPr txBox="1"/>
          <p:nvPr/>
        </p:nvSpPr>
        <p:spPr>
          <a:xfrm>
            <a:off x="6601968" y="3538728"/>
            <a:ext cx="4800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Counting</a:t>
            </a:r>
            <a:endParaRPr lang="en-US" sz="1500" dirty="0"/>
          </a:p>
        </p:txBody>
      </p:sp>
      <p:sp>
        <p:nvSpPr>
          <p:cNvPr id="20" name="Text 17"/>
          <p:cNvSpPr txBox="1"/>
          <p:nvPr/>
        </p:nvSpPr>
        <p:spPr>
          <a:xfrm>
            <a:off x="6601968" y="3931920"/>
            <a:ext cx="480060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Count ← Count + 1 adds one each time. Inside an IF it counts only some values.</a:t>
            </a:r>
            <a:endParaRPr lang="en-US" sz="1250" dirty="0"/>
          </a:p>
        </p:txBody>
      </p:sp>
      <p:sp>
        <p:nvSpPr>
          <p:cNvPr id="21" name="Shape 18"/>
          <p:cNvSpPr/>
          <p:nvPr/>
        </p:nvSpPr>
        <p:spPr>
          <a:xfrm>
            <a:off x="5943600" y="4480560"/>
            <a:ext cx="5577840" cy="1188720"/>
          </a:xfrm>
          <a:prstGeom prst="rect">
            <a:avLst/>
          </a:prstGeom>
          <a:solidFill>
            <a:srgbClr val="F6F5FC"/>
          </a:solidFill>
          <a:ln w="12700">
            <a:solidFill>
              <a:srgbClr val="F6F5FC"/>
            </a:solidFill>
            <a:prstDash val="solid"/>
          </a:ln>
        </p:spPr>
      </p:sp>
      <p:sp>
        <p:nvSpPr>
          <p:cNvPr id="22" name="Text 19"/>
          <p:cNvSpPr/>
          <p:nvPr/>
        </p:nvSpPr>
        <p:spPr>
          <a:xfrm>
            <a:off x="6080760" y="46177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3" name="Text 20"/>
          <p:cNvSpPr txBox="1"/>
          <p:nvPr/>
        </p:nvSpPr>
        <p:spPr>
          <a:xfrm>
            <a:off x="6601968" y="4590288"/>
            <a:ext cx="4800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Average, maximum, minimum</a:t>
            </a:r>
            <a:endParaRPr lang="en-US" sz="1500" dirty="0"/>
          </a:p>
        </p:txBody>
      </p:sp>
      <p:sp>
        <p:nvSpPr>
          <p:cNvPr id="24" name="Text 21"/>
          <p:cNvSpPr txBox="1"/>
          <p:nvPr/>
        </p:nvSpPr>
        <p:spPr>
          <a:xfrm>
            <a:off x="6601968" y="4983480"/>
            <a:ext cx="4800600" cy="6217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Average ← Total / Count.  Max/min: start with the first value, then compare each new one.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Worked example: a trace table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Recap: trace tables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11</a:t>
            </a:r>
            <a:endParaRPr lang="en-US" sz="1350" dirty="0"/>
          </a:p>
        </p:txBody>
      </p:sp>
      <p:sp>
        <p:nvSpPr>
          <p:cNvPr id="7" name="Text 4"/>
          <p:cNvSpPr txBox="1"/>
          <p:nvPr/>
        </p:nvSpPr>
        <p:spPr>
          <a:xfrm>
            <a:off x="896112" y="1234440"/>
            <a:ext cx="5486400" cy="365760"/>
          </a:xfrm>
          <a:prstGeom prst="rect">
            <a:avLst/>
          </a:prstGeom>
          <a:noFill/>
          <a:ln/>
        </p:spPr>
        <p:txBody>
          <a:bodyPr wrap="square" lIns="0" tIns="0" rIns="0" bIns="0" rtlCol="0" anchor="t"/>
          <a:lstStyle/>
          <a:p>
            <a:pPr indent="0" marL="0">
              <a:buNone/>
            </a:pPr>
            <a:r>
              <a:rPr lang="en-US" sz="1600" b="1" dirty="0">
                <a:solidFill>
                  <a:srgbClr val="202124"/>
                </a:solidFill>
                <a:latin typeface="Quicksand" pitchFamily="34" charset="0"/>
                <a:ea typeface="Quicksand" pitchFamily="34" charset="-122"/>
                <a:cs typeface="Quicksand" pitchFamily="34" charset="-120"/>
              </a:rPr>
              <a:t>Input data:  8,  15,  4,  20,  -1</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96112" y="1783080"/>
          <a:ext cx="6035040" cy="914400"/>
        </p:xfrm>
        <a:graphic>
          <a:graphicData uri="http://schemas.openxmlformats.org/drawingml/2006/table">
            <a:tbl>
              <a:tblPr/>
              <a:tblGrid>
                <a:gridCol w="1005840"/>
                <a:gridCol w="1097280"/>
                <a:gridCol w="1097280"/>
                <a:gridCol w="1005840"/>
                <a:gridCol w="1828800"/>
              </a:tblGrid>
              <a:tr h="475488">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Num</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Total</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Count</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Big</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OUTPUT</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75488">
                <a:tc>
                  <a:txBody>
                    <a:bodyPr/>
                    <a:lstStyle/>
                    <a:p>
                      <a:pPr indent="0" marL="0">
                        <a:buNone/>
                      </a:pP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0</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0</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0</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75488">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8</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8</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1</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15</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23</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2</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1</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75488">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4</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27</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3</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20</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47</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4</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2</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75488">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-1</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Roboto Mono" pitchFamily="34" charset="0"/>
                          <a:ea typeface="Roboto Mono" pitchFamily="34" charset="-122"/>
                          <a:cs typeface="Roboto Mono" pitchFamily="34" charset="-120"/>
                        </a:rPr>
                        <a:t>47, 4, 2</a:t>
                      </a:r>
                      <a:endParaRPr lang="en-US" sz="14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9" name="Shape 5"/>
          <p:cNvSpPr/>
          <p:nvPr/>
        </p:nvSpPr>
        <p:spPr>
          <a:xfrm>
            <a:off x="7315200" y="1783080"/>
            <a:ext cx="4206240" cy="1143000"/>
          </a:xfrm>
          <a:prstGeom prst="rect">
            <a:avLst/>
          </a:prstGeom>
          <a:solidFill>
            <a:srgbClr val="F6F5FC"/>
          </a:solidFill>
          <a:ln w="12700">
            <a:solidFill>
              <a:srgbClr val="F6F5FC"/>
            </a:solidFill>
            <a:prstDash val="solid"/>
          </a:ln>
        </p:spPr>
      </p:sp>
      <p:sp>
        <p:nvSpPr>
          <p:cNvPr id="10" name="Text 6"/>
          <p:cNvSpPr/>
          <p:nvPr/>
        </p:nvSpPr>
        <p:spPr>
          <a:xfrm>
            <a:off x="7452360" y="19202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7"/>
          <p:cNvSpPr txBox="1"/>
          <p:nvPr/>
        </p:nvSpPr>
        <p:spPr>
          <a:xfrm>
            <a:off x="7973568" y="1892808"/>
            <a:ext cx="34290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One column per variable</a:t>
            </a:r>
            <a:endParaRPr lang="en-US" sz="1500" dirty="0"/>
          </a:p>
        </p:txBody>
      </p:sp>
      <p:sp>
        <p:nvSpPr>
          <p:cNvPr id="12" name="Text 8"/>
          <p:cNvSpPr txBox="1"/>
          <p:nvPr/>
        </p:nvSpPr>
        <p:spPr>
          <a:xfrm>
            <a:off x="7973568" y="2286000"/>
            <a:ext cx="3429000" cy="5760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Plus a column for OUTPUT. Inputs go in their variable column.</a:t>
            </a:r>
            <a:endParaRPr lang="en-US" sz="1250" dirty="0"/>
          </a:p>
        </p:txBody>
      </p:sp>
      <p:sp>
        <p:nvSpPr>
          <p:cNvPr id="13" name="Shape 9"/>
          <p:cNvSpPr/>
          <p:nvPr/>
        </p:nvSpPr>
        <p:spPr>
          <a:xfrm>
            <a:off x="7315200" y="3063240"/>
            <a:ext cx="4206240" cy="1143000"/>
          </a:xfrm>
          <a:prstGeom prst="rect">
            <a:avLst/>
          </a:prstGeom>
          <a:solidFill>
            <a:srgbClr val="F6F5FC"/>
          </a:solidFill>
          <a:ln w="12700">
            <a:solidFill>
              <a:srgbClr val="F6F5FC"/>
            </a:solidFill>
            <a:prstDash val="solid"/>
          </a:ln>
        </p:spPr>
      </p:sp>
      <p:sp>
        <p:nvSpPr>
          <p:cNvPr id="14" name="Text 10"/>
          <p:cNvSpPr/>
          <p:nvPr/>
        </p:nvSpPr>
        <p:spPr>
          <a:xfrm>
            <a:off x="7452360" y="32004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5" name="Text 11"/>
          <p:cNvSpPr txBox="1"/>
          <p:nvPr/>
        </p:nvSpPr>
        <p:spPr>
          <a:xfrm>
            <a:off x="7973568" y="3172968"/>
            <a:ext cx="34290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Follow the code line by line</a:t>
            </a:r>
            <a:endParaRPr lang="en-US" sz="1500" dirty="0"/>
          </a:p>
        </p:txBody>
      </p:sp>
      <p:sp>
        <p:nvSpPr>
          <p:cNvPr id="16" name="Text 12"/>
          <p:cNvSpPr txBox="1"/>
          <p:nvPr/>
        </p:nvSpPr>
        <p:spPr>
          <a:xfrm>
            <a:off x="7973568" y="3566160"/>
            <a:ext cx="3429000" cy="5760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Only write a value when it changes. Do not skip steps.</a:t>
            </a:r>
            <a:endParaRPr lang="en-US" sz="1250" dirty="0"/>
          </a:p>
        </p:txBody>
      </p:sp>
      <p:sp>
        <p:nvSpPr>
          <p:cNvPr id="17" name="Shape 13"/>
          <p:cNvSpPr/>
          <p:nvPr/>
        </p:nvSpPr>
        <p:spPr>
          <a:xfrm>
            <a:off x="7315200" y="4343400"/>
            <a:ext cx="4206240" cy="1143000"/>
          </a:xfrm>
          <a:prstGeom prst="rect">
            <a:avLst/>
          </a:prstGeom>
          <a:solidFill>
            <a:srgbClr val="F6F5FC"/>
          </a:solidFill>
          <a:ln w="12700">
            <a:solidFill>
              <a:srgbClr val="F6F5FC"/>
            </a:solidFill>
            <a:prstDash val="solid"/>
          </a:ln>
        </p:spPr>
      </p:sp>
      <p:sp>
        <p:nvSpPr>
          <p:cNvPr id="18" name="Text 14"/>
          <p:cNvSpPr/>
          <p:nvPr/>
        </p:nvSpPr>
        <p:spPr>
          <a:xfrm>
            <a:off x="7452360" y="44805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9" name="Text 15"/>
          <p:cNvSpPr txBox="1"/>
          <p:nvPr/>
        </p:nvSpPr>
        <p:spPr>
          <a:xfrm>
            <a:off x="7973568" y="4453128"/>
            <a:ext cx="34290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Check the loop exit</a:t>
            </a:r>
            <a:endParaRPr lang="en-US" sz="1500" dirty="0"/>
          </a:p>
        </p:txBody>
      </p:sp>
      <p:sp>
        <p:nvSpPr>
          <p:cNvPr id="20" name="Text 16"/>
          <p:cNvSpPr txBox="1"/>
          <p:nvPr/>
        </p:nvSpPr>
        <p:spPr>
          <a:xfrm>
            <a:off x="7973568" y="4846320"/>
            <a:ext cx="3429000" cy="5760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When does it stop? Is the last value used or not?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Flowcharts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Recap: flowcharts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12</a:t>
            </a:r>
            <a:endParaRPr lang="en-US" sz="1350" dirty="0"/>
          </a:p>
        </p:txBody>
      </p:sp>
      <p:sp>
        <p:nvSpPr>
          <p:cNvPr id="7" name="Shape 4"/>
          <p:cNvSpPr/>
          <p:nvPr/>
        </p:nvSpPr>
        <p:spPr>
          <a:xfrm>
            <a:off x="896112" y="1325880"/>
            <a:ext cx="1645920" cy="685800"/>
          </a:xfrm>
          <a:prstGeom prst="roundRect">
            <a:avLst>
              <a:gd name="adj" fmla="val 46667"/>
            </a:avLst>
          </a:prstGeom>
          <a:solidFill>
            <a:srgbClr val="FFF4C7"/>
          </a:solidFill>
          <a:ln w="19050">
            <a:solidFill>
              <a:srgbClr val="494985"/>
            </a:solidFill>
            <a:prstDash val="solid"/>
          </a:ln>
        </p:spPr>
      </p:sp>
      <p:sp>
        <p:nvSpPr>
          <p:cNvPr id="8" name="Text 5"/>
          <p:cNvSpPr/>
          <p:nvPr/>
        </p:nvSpPr>
        <p:spPr>
          <a:xfrm>
            <a:off x="2743200" y="1325880"/>
            <a:ext cx="3017520" cy="68580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Terminator</a:t>
            </a:r>
            <a:endParaRPr lang="en-US" sz="1500" dirty="0"/>
          </a:p>
          <a:p>
            <a:pPr indent="0" marL="0">
              <a:buNone/>
            </a:pPr>
            <a:r>
              <a:rPr lang="en-US" sz="1300" dirty="0">
                <a:solidFill>
                  <a:srgbClr val="666666"/>
                </a:solidFill>
                <a:latin typeface="Quicksand" pitchFamily="34" charset="0"/>
                <a:ea typeface="Quicksand" pitchFamily="34" charset="-122"/>
                <a:cs typeface="Quicksand" pitchFamily="34" charset="-120"/>
              </a:rPr>
              <a:t>START / STOP</a:t>
            </a:r>
            <a:endParaRPr lang="en-US" sz="1500" dirty="0"/>
          </a:p>
        </p:txBody>
      </p:sp>
      <p:sp>
        <p:nvSpPr>
          <p:cNvPr id="9" name="Shape 6"/>
          <p:cNvSpPr/>
          <p:nvPr/>
        </p:nvSpPr>
        <p:spPr>
          <a:xfrm>
            <a:off x="896112" y="2350008"/>
            <a:ext cx="1645920" cy="685800"/>
          </a:xfrm>
          <a:prstGeom prst="parallelogram">
            <a:avLst/>
          </a:prstGeom>
          <a:solidFill>
            <a:srgbClr val="F6F5FC"/>
          </a:solidFill>
          <a:ln w="19050">
            <a:solidFill>
              <a:srgbClr val="494985"/>
            </a:solidFill>
            <a:prstDash val="solid"/>
          </a:ln>
        </p:spPr>
      </p:sp>
      <p:sp>
        <p:nvSpPr>
          <p:cNvPr id="10" name="Text 7"/>
          <p:cNvSpPr/>
          <p:nvPr/>
        </p:nvSpPr>
        <p:spPr>
          <a:xfrm>
            <a:off x="2743200" y="2350008"/>
            <a:ext cx="3017520" cy="68580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Input / output</a:t>
            </a:r>
            <a:endParaRPr lang="en-US" sz="1500" dirty="0"/>
          </a:p>
          <a:p>
            <a:pPr indent="0" marL="0">
              <a:buNone/>
            </a:pPr>
            <a:r>
              <a:rPr lang="en-US" sz="1300" dirty="0">
                <a:solidFill>
                  <a:srgbClr val="666666"/>
                </a:solidFill>
                <a:latin typeface="Quicksand" pitchFamily="34" charset="0"/>
                <a:ea typeface="Quicksand" pitchFamily="34" charset="-122"/>
                <a:cs typeface="Quicksand" pitchFamily="34" charset="-120"/>
              </a:rPr>
              <a:t>INPUT, OUTPUT</a:t>
            </a:r>
            <a:endParaRPr lang="en-US" sz="1500" dirty="0"/>
          </a:p>
        </p:txBody>
      </p:sp>
      <p:sp>
        <p:nvSpPr>
          <p:cNvPr id="11" name="Shape 8"/>
          <p:cNvSpPr/>
          <p:nvPr/>
        </p:nvSpPr>
        <p:spPr>
          <a:xfrm>
            <a:off x="896112" y="3374136"/>
            <a:ext cx="1645920" cy="685800"/>
          </a:xfrm>
          <a:prstGeom prst="rect">
            <a:avLst/>
          </a:prstGeom>
          <a:solidFill>
            <a:srgbClr val="F6F5FC"/>
          </a:solidFill>
          <a:ln w="19050">
            <a:solidFill>
              <a:srgbClr val="494985"/>
            </a:solidFill>
            <a:prstDash val="solid"/>
          </a:ln>
        </p:spPr>
      </p:sp>
      <p:sp>
        <p:nvSpPr>
          <p:cNvPr id="12" name="Text 9"/>
          <p:cNvSpPr/>
          <p:nvPr/>
        </p:nvSpPr>
        <p:spPr>
          <a:xfrm>
            <a:off x="2743200" y="3374136"/>
            <a:ext cx="3017520" cy="68580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Process</a:t>
            </a:r>
            <a:endParaRPr lang="en-US" sz="1500" dirty="0"/>
          </a:p>
          <a:p>
            <a:pPr indent="0" marL="0">
              <a:buNone/>
            </a:pPr>
            <a:r>
              <a:rPr lang="en-US" sz="1300" dirty="0">
                <a:solidFill>
                  <a:srgbClr val="666666"/>
                </a:solidFill>
                <a:latin typeface="Quicksand" pitchFamily="34" charset="0"/>
                <a:ea typeface="Quicksand" pitchFamily="34" charset="-122"/>
                <a:cs typeface="Quicksand" pitchFamily="34" charset="-120"/>
              </a:rPr>
              <a:t>calculations, ←</a:t>
            </a:r>
            <a:endParaRPr lang="en-US" sz="1500" dirty="0"/>
          </a:p>
        </p:txBody>
      </p:sp>
      <p:sp>
        <p:nvSpPr>
          <p:cNvPr id="13" name="Shape 10"/>
          <p:cNvSpPr/>
          <p:nvPr/>
        </p:nvSpPr>
        <p:spPr>
          <a:xfrm>
            <a:off x="1078992" y="4306824"/>
            <a:ext cx="1280160" cy="868680"/>
          </a:xfrm>
          <a:prstGeom prst="diamond">
            <a:avLst/>
          </a:prstGeom>
          <a:solidFill>
            <a:srgbClr val="F6F5FC"/>
          </a:solidFill>
          <a:ln w="19050">
            <a:solidFill>
              <a:srgbClr val="494985"/>
            </a:solidFill>
            <a:prstDash val="solid"/>
          </a:ln>
        </p:spPr>
      </p:sp>
      <p:sp>
        <p:nvSpPr>
          <p:cNvPr id="14" name="Text 11"/>
          <p:cNvSpPr/>
          <p:nvPr/>
        </p:nvSpPr>
        <p:spPr>
          <a:xfrm>
            <a:off x="2743200" y="4398264"/>
            <a:ext cx="3017520" cy="68580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Decision</a:t>
            </a:r>
            <a:endParaRPr lang="en-US" sz="1500" dirty="0"/>
          </a:p>
          <a:p>
            <a:pPr indent="0" marL="0">
              <a:buNone/>
            </a:pPr>
            <a:r>
              <a:rPr lang="en-US" sz="1300" dirty="0">
                <a:solidFill>
                  <a:srgbClr val="666666"/>
                </a:solidFill>
                <a:latin typeface="Quicksand" pitchFamily="34" charset="0"/>
                <a:ea typeface="Quicksand" pitchFamily="34" charset="-122"/>
                <a:cs typeface="Quicksand" pitchFamily="34" charset="-120"/>
              </a:rPr>
              <a:t>a yes/no question</a:t>
            </a:r>
            <a:endParaRPr lang="en-US" sz="1500" dirty="0"/>
          </a:p>
        </p:txBody>
      </p:sp>
      <p:sp>
        <p:nvSpPr>
          <p:cNvPr id="15" name="Text 12"/>
          <p:cNvSpPr txBox="1"/>
          <p:nvPr/>
        </p:nvSpPr>
        <p:spPr>
          <a:xfrm>
            <a:off x="896112" y="5440680"/>
            <a:ext cx="4846320" cy="64008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Flow lines show the order. Label every decision exit yes / no.</a:t>
            </a:r>
            <a:endParaRPr lang="en-US" sz="1400" dirty="0"/>
          </a:p>
        </p:txBody>
      </p:sp>
      <p:pic>
        <p:nvPicPr>
          <p:cNvPr id="16" name="Image 0" descr="/home/claude/recall/img/adults.png">    </p:cNvPr>
          <p:cNvPicPr>
            <a:picLocks noChangeAspect="1"/>
          </p:cNvPicPr>
          <p:nvPr/>
        </p:nvPicPr>
        <p:blipFill>
          <a:blip r:embed="rId1"/>
          <a:stretch>
            <a:fillRect/>
          </a:stretch>
        </p:blipFill>
        <p:spPr>
          <a:xfrm>
            <a:off x="7299186" y="1188720"/>
            <a:ext cx="2958108" cy="49834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Finding and correcting errors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Recap: errors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13</a:t>
            </a:r>
            <a:endParaRPr lang="en-US" sz="1350" dirty="0"/>
          </a:p>
        </p:txBody>
      </p:sp>
      <p:sp>
        <p:nvSpPr>
          <p:cNvPr id="7" name="Shape 4"/>
          <p:cNvSpPr/>
          <p:nvPr/>
        </p:nvSpPr>
        <p:spPr>
          <a:xfrm>
            <a:off x="896112" y="1325880"/>
            <a:ext cx="4480560" cy="32918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1033272" y="1417320"/>
            <a:ext cx="4206240" cy="3108960"/>
          </a:xfrm>
          <a:prstGeom prst="rect">
            <a:avLst/>
          </a:prstGeom>
          <a:noFill/>
          <a:ln/>
        </p:spPr>
        <p:txBody>
          <a:bodyPr wrap="square" lIns="0" tIns="0" rIns="0" bIns="0" rtlCol="0" anchor="t"/>
          <a:lstStyle/>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01 Count ← 0</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02 INPUT Age</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03 WHILE Age &lt;&gt; 0</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04   IF Age &gt; 18</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05     THEN</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06       Count ← Count + 1</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07   ENDWHILE</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08   INPUT Age</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09 ENDWHILE</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10 INPUT "Adults: ", Count</a:t>
            </a:r>
            <a:endParaRPr lang="en-US" sz="1350" dirty="0"/>
          </a:p>
        </p:txBody>
      </p:sp>
      <p:sp>
        <p:nvSpPr>
          <p:cNvPr id="9" name="Text 6"/>
          <p:cNvSpPr txBox="1"/>
          <p:nvPr/>
        </p:nvSpPr>
        <p:spPr>
          <a:xfrm>
            <a:off x="896112" y="4800600"/>
            <a:ext cx="4480560" cy="73152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Should count the adults (18 or over) until 0 is entered. Find four errors.</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0" y="1325880"/>
          <a:ext cx="5852160" cy="914400"/>
        </p:xfrm>
        <a:graphic>
          <a:graphicData uri="http://schemas.openxmlformats.org/drawingml/2006/table">
            <a:tbl>
              <a:tblPr/>
              <a:tblGrid>
                <a:gridCol w="2103120"/>
                <a:gridCol w="3749040"/>
              </a:tblGrid>
              <a:tr h="566928">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Errors examiners love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Look for...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Wrong keyword</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ENDIF / ENDWHILE / NEXT mixed up, missing DO or THEN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Wrong operator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&lt; vs &gt;, &gt; vs &gt;=, = vs &lt;&gt;, AND vs OR, * vs +</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Wrong variable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name that is never declared or input (Temp vs Temperature)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INPUT vs OUTPUT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Showing a message needs OUTPUT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Missing initialisation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Total or Count not set to 0 before the loop</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Wrong place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line inside the loop that should be outside (or the reverse)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Writing maintainable programs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Recap: developing</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14</a:t>
            </a:r>
            <a:endParaRPr lang="en-US" sz="1350" dirty="0"/>
          </a:p>
        </p:txBody>
      </p:sp>
      <p:sp>
        <p:nvSpPr>
          <p:cNvPr id="7" name="Text 4"/>
          <p:cNvSpPr txBox="1"/>
          <p:nvPr/>
        </p:nvSpPr>
        <p:spPr>
          <a:xfrm>
            <a:off x="896112" y="1280160"/>
            <a:ext cx="4572000" cy="320040"/>
          </a:xfrm>
          <a:prstGeom prst="rect">
            <a:avLst/>
          </a:prstGeom>
          <a:noFill/>
          <a:ln/>
        </p:spPr>
        <p:txBody>
          <a:bodyPr wrap="square" lIns="0" tIns="0" rIns="0" bIns="0" rtlCol="0" anchor="t"/>
          <a:lstStyle/>
          <a:p>
            <a:pPr indent="0" marL="0">
              <a:spcAft>
                <a:spcPts val="600"/>
              </a:spcAft>
              <a:buNone/>
            </a:pPr>
            <a:r>
              <a:rPr lang="en-US" sz="1500" b="1" dirty="0">
                <a:solidFill>
                  <a:srgbClr val="B3261E"/>
                </a:solidFill>
                <a:latin typeface="Quicksand" pitchFamily="34" charset="0"/>
                <a:ea typeface="Quicksand" pitchFamily="34" charset="-122"/>
                <a:cs typeface="Quicksand" pitchFamily="34" charset="-120"/>
              </a:rPr>
              <a:t>Hard to maintain</a:t>
            </a:r>
            <a:endParaRPr lang="en-US" sz="1500" dirty="0"/>
          </a:p>
        </p:txBody>
      </p:sp>
      <p:sp>
        <p:nvSpPr>
          <p:cNvPr id="8" name="Shape 5"/>
          <p:cNvSpPr/>
          <p:nvPr/>
        </p:nvSpPr>
        <p:spPr>
          <a:xfrm>
            <a:off x="896112" y="1645920"/>
            <a:ext cx="4572000" cy="132588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9" name="Text 6"/>
          <p:cNvSpPr txBox="1"/>
          <p:nvPr/>
        </p:nvSpPr>
        <p:spPr>
          <a:xfrm>
            <a:off x="1033272" y="1737360"/>
            <a:ext cx="4297680" cy="1143000"/>
          </a:xfrm>
          <a:prstGeom prst="rect">
            <a:avLst/>
          </a:prstGeom>
          <a:noFill/>
          <a:ln/>
        </p:spPr>
        <p:txBody>
          <a:bodyPr wrap="square" lIns="0" tIns="0" rIns="0" bIns="0" rtlCol="0" anchor="t"/>
          <a:lstStyle/>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INPUT a</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INPUT b</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c ← a * b / 2</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OUTPUT c</a:t>
            </a:r>
            <a:endParaRPr lang="en-US" sz="1350" dirty="0"/>
          </a:p>
        </p:txBody>
      </p:sp>
      <p:sp>
        <p:nvSpPr>
          <p:cNvPr id="10" name="Text 7"/>
          <p:cNvSpPr txBox="1"/>
          <p:nvPr/>
        </p:nvSpPr>
        <p:spPr>
          <a:xfrm>
            <a:off x="896112" y="3154680"/>
            <a:ext cx="4572000" cy="320040"/>
          </a:xfrm>
          <a:prstGeom prst="rect">
            <a:avLst/>
          </a:prstGeom>
          <a:noFill/>
          <a:ln/>
        </p:spPr>
        <p:txBody>
          <a:bodyPr wrap="square" lIns="0" tIns="0" rIns="0" bIns="0" rtlCol="0" anchor="t"/>
          <a:lstStyle/>
          <a:p>
            <a:pPr indent="0" marL="0">
              <a:spcAft>
                <a:spcPts val="600"/>
              </a:spcAft>
              <a:buNone/>
            </a:pPr>
            <a:r>
              <a:rPr lang="en-US" sz="1500" b="1" dirty="0">
                <a:solidFill>
                  <a:srgbClr val="2E7D5B"/>
                </a:solidFill>
                <a:latin typeface="Quicksand" pitchFamily="34" charset="0"/>
                <a:ea typeface="Quicksand" pitchFamily="34" charset="-122"/>
                <a:cs typeface="Quicksand" pitchFamily="34" charset="-120"/>
              </a:rPr>
              <a:t>Easy to maintain</a:t>
            </a:r>
            <a:endParaRPr lang="en-US" sz="1500" dirty="0"/>
          </a:p>
        </p:txBody>
      </p:sp>
      <p:sp>
        <p:nvSpPr>
          <p:cNvPr id="11" name="Shape 8"/>
          <p:cNvSpPr/>
          <p:nvPr/>
        </p:nvSpPr>
        <p:spPr>
          <a:xfrm>
            <a:off x="896112" y="3520440"/>
            <a:ext cx="4572000" cy="160020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2" name="Text 9"/>
          <p:cNvSpPr txBox="1"/>
          <p:nvPr/>
        </p:nvSpPr>
        <p:spPr>
          <a:xfrm>
            <a:off x="1033272" y="3611880"/>
            <a:ext cx="4297680" cy="1417320"/>
          </a:xfrm>
          <a:prstGeom prst="rect">
            <a:avLst/>
          </a:prstGeom>
          <a:noFill/>
          <a:ln/>
        </p:spPr>
        <p:txBody>
          <a:bodyPr wrap="square" lIns="0" tIns="0" rIns="0" bIns="0" rtlCol="0" anchor="t"/>
          <a:lstStyle/>
          <a:p>
            <a:pPr indent="0" marL="0">
              <a:lnSpc>
                <a:spcPct val="105000"/>
              </a:lnSpc>
              <a:buNone/>
            </a:pPr>
            <a:r>
              <a:rPr lang="en-US" sz="1250" dirty="0">
                <a:solidFill>
                  <a:srgbClr val="666666"/>
                </a:solidFill>
                <a:latin typeface="Roboto Mono" pitchFamily="34" charset="0"/>
                <a:ea typeface="Roboto Mono" pitchFamily="34" charset="-122"/>
                <a:cs typeface="Roboto Mono" pitchFamily="34" charset="-120"/>
              </a:rPr>
              <a:t>// area of a triangle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INPUT TriangleBase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INPUT TriangleHeight</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Area ← TriangleBase * TriangleHeight / 2</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OUTPUT "Area is ", Area</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806440" y="1325880"/>
          <a:ext cx="5715000" cy="914400"/>
        </p:xfrm>
        <a:graphic>
          <a:graphicData uri="http://schemas.openxmlformats.org/drawingml/2006/table">
            <a:tbl>
              <a:tblPr/>
              <a:tblGrid>
                <a:gridCol w="2148840"/>
                <a:gridCol w="3566160"/>
              </a:tblGrid>
              <a:tr h="603504">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Feature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Why it helps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60350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Meaningful identifiers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You can see what each variable stores, e.g. Total, not 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0350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Comments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Explain what a section of code does, for other programmers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0350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Procedures and functions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Split the program into small parts that can be reused and tested</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0350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Constants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value such as a tax rate is changed in one place only</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0350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Indentation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Shows which lines are inside a loop or IF</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The IDE: where you write code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Recap: developing</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15</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96112" y="1325880"/>
          <a:ext cx="10424160" cy="914400"/>
        </p:xfrm>
        <a:graphic>
          <a:graphicData uri="http://schemas.openxmlformats.org/drawingml/2006/table">
            <a:tbl>
              <a:tblPr/>
              <a:tblGrid>
                <a:gridCol w="2926080"/>
                <a:gridCol w="7498080"/>
              </a:tblGrid>
              <a:tr h="512064">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IDE feature</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550" b="1" dirty="0">
                          <a:solidFill>
                            <a:srgbClr val="FFFFFF"/>
                          </a:solidFill>
                          <a:latin typeface="Quicksand" pitchFamily="34" charset="0"/>
                          <a:ea typeface="Quicksand" pitchFamily="34" charset="-122"/>
                          <a:cs typeface="Quicksand" pitchFamily="34" charset="-120"/>
                        </a:rPr>
                        <a:t>What it does for the programmer</a:t>
                      </a:r>
                      <a:endParaRPr lang="en-US" sz="1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12064">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Code editor</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Where you type and edit the program code</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Run-time environment</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Runs the program so you can see its output and test it</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Translator</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A compiler or interpreter that turns the code into machine code</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Error diagnostics</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Highlights errors and shows messages with line numbers</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Auto-completion</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Suggests the rest of a keyword or identifier as you type</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Auto-correction</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Fixes common typing mistakes automatically</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Prettyprint</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500" dirty="0">
                          <a:solidFill>
                            <a:srgbClr val="202124"/>
                          </a:solidFill>
                          <a:latin typeface="Quicksand" pitchFamily="34" charset="0"/>
                          <a:ea typeface="Quicksand" pitchFamily="34" charset="-122"/>
                          <a:cs typeface="Quicksand" pitchFamily="34" charset="-120"/>
                        </a:rPr>
                        <a:t>Colours keywords and indents the code so it is easy to read</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Text 4"/>
          <p:cNvSpPr txBox="1"/>
          <p:nvPr/>
        </p:nvSpPr>
        <p:spPr>
          <a:xfrm>
            <a:off x="896112" y="5623560"/>
            <a:ext cx="10424160" cy="36576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Exam tip: name the feature AND say how it helps the programmer.</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Program development life cycle and test data</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Recap: developing</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16</a:t>
            </a:r>
            <a:endParaRPr lang="en-US" sz="1350" dirty="0"/>
          </a:p>
        </p:txBody>
      </p:sp>
      <p:sp>
        <p:nvSpPr>
          <p:cNvPr id="7" name="Shape 4"/>
          <p:cNvSpPr/>
          <p:nvPr/>
        </p:nvSpPr>
        <p:spPr>
          <a:xfrm>
            <a:off x="896112" y="1325880"/>
            <a:ext cx="2468880" cy="1463040"/>
          </a:xfrm>
          <a:prstGeom prst="rect">
            <a:avLst/>
          </a:prstGeom>
          <a:solidFill>
            <a:srgbClr val="F6F5FC"/>
          </a:solidFill>
          <a:ln w="12700">
            <a:solidFill>
              <a:srgbClr val="F6F5FC"/>
            </a:solidFill>
            <a:prstDash val="solid"/>
          </a:ln>
        </p:spPr>
      </p:sp>
      <p:sp>
        <p:nvSpPr>
          <p:cNvPr id="8" name="Text 5"/>
          <p:cNvSpPr/>
          <p:nvPr/>
        </p:nvSpPr>
        <p:spPr>
          <a:xfrm>
            <a:off x="1033272" y="1463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9" name="Text 6"/>
          <p:cNvSpPr txBox="1"/>
          <p:nvPr/>
        </p:nvSpPr>
        <p:spPr>
          <a:xfrm>
            <a:off x="1554480" y="1435608"/>
            <a:ext cx="1691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Analysis</a:t>
            </a:r>
            <a:endParaRPr lang="en-US" sz="1500" dirty="0"/>
          </a:p>
        </p:txBody>
      </p:sp>
      <p:sp>
        <p:nvSpPr>
          <p:cNvPr id="10" name="Text 7"/>
          <p:cNvSpPr txBox="1"/>
          <p:nvPr/>
        </p:nvSpPr>
        <p:spPr>
          <a:xfrm>
            <a:off x="1554480" y="1828800"/>
            <a:ext cx="1691640" cy="89611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Abstraction, decomposition, identify the problem and requirements</a:t>
            </a:r>
            <a:endParaRPr lang="en-US" sz="1200" dirty="0"/>
          </a:p>
        </p:txBody>
      </p:sp>
      <p:sp>
        <p:nvSpPr>
          <p:cNvPr id="11" name="Shape 8"/>
          <p:cNvSpPr/>
          <p:nvPr/>
        </p:nvSpPr>
        <p:spPr>
          <a:xfrm>
            <a:off x="3383280" y="2057400"/>
            <a:ext cx="146304" cy="914"/>
          </a:xfrm>
          <a:prstGeom prst="line">
            <a:avLst/>
          </a:prstGeom>
          <a:noFill/>
          <a:ln w="25400">
            <a:solidFill>
              <a:srgbClr val="494985"/>
            </a:solidFill>
            <a:prstDash val="solid"/>
            <a:tailEnd type="triangle"/>
          </a:ln>
        </p:spPr>
      </p:sp>
      <p:sp>
        <p:nvSpPr>
          <p:cNvPr id="12" name="Shape 9"/>
          <p:cNvSpPr/>
          <p:nvPr/>
        </p:nvSpPr>
        <p:spPr>
          <a:xfrm>
            <a:off x="3547872" y="1325880"/>
            <a:ext cx="2468880" cy="1463040"/>
          </a:xfrm>
          <a:prstGeom prst="rect">
            <a:avLst/>
          </a:prstGeom>
          <a:solidFill>
            <a:srgbClr val="F6F5FC"/>
          </a:solidFill>
          <a:ln w="12700">
            <a:solidFill>
              <a:srgbClr val="F6F5FC"/>
            </a:solidFill>
            <a:prstDash val="solid"/>
          </a:ln>
        </p:spPr>
      </p:sp>
      <p:sp>
        <p:nvSpPr>
          <p:cNvPr id="13" name="Text 10"/>
          <p:cNvSpPr/>
          <p:nvPr/>
        </p:nvSpPr>
        <p:spPr>
          <a:xfrm>
            <a:off x="3685032" y="1463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4" name="Text 11"/>
          <p:cNvSpPr txBox="1"/>
          <p:nvPr/>
        </p:nvSpPr>
        <p:spPr>
          <a:xfrm>
            <a:off x="4206240" y="1435608"/>
            <a:ext cx="1691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Design</a:t>
            </a:r>
            <a:endParaRPr lang="en-US" sz="1500" dirty="0"/>
          </a:p>
        </p:txBody>
      </p:sp>
      <p:sp>
        <p:nvSpPr>
          <p:cNvPr id="15" name="Text 12"/>
          <p:cNvSpPr txBox="1"/>
          <p:nvPr/>
        </p:nvSpPr>
        <p:spPr>
          <a:xfrm>
            <a:off x="4206240" y="1828800"/>
            <a:ext cx="1691640" cy="89611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Structure diagrams, flowcharts, pseudocode</a:t>
            </a:r>
            <a:endParaRPr lang="en-US" sz="1200" dirty="0"/>
          </a:p>
        </p:txBody>
      </p:sp>
      <p:sp>
        <p:nvSpPr>
          <p:cNvPr id="16" name="Shape 13"/>
          <p:cNvSpPr/>
          <p:nvPr/>
        </p:nvSpPr>
        <p:spPr>
          <a:xfrm>
            <a:off x="6035040" y="2057400"/>
            <a:ext cx="146304" cy="914"/>
          </a:xfrm>
          <a:prstGeom prst="line">
            <a:avLst/>
          </a:prstGeom>
          <a:noFill/>
          <a:ln w="25400">
            <a:solidFill>
              <a:srgbClr val="494985"/>
            </a:solidFill>
            <a:prstDash val="solid"/>
            <a:tailEnd type="triangle"/>
          </a:ln>
        </p:spPr>
      </p:sp>
      <p:sp>
        <p:nvSpPr>
          <p:cNvPr id="17" name="Shape 14"/>
          <p:cNvSpPr/>
          <p:nvPr/>
        </p:nvSpPr>
        <p:spPr>
          <a:xfrm>
            <a:off x="6199632" y="1325880"/>
            <a:ext cx="2468880" cy="1463040"/>
          </a:xfrm>
          <a:prstGeom prst="rect">
            <a:avLst/>
          </a:prstGeom>
          <a:solidFill>
            <a:srgbClr val="F6F5FC"/>
          </a:solidFill>
          <a:ln w="12700">
            <a:solidFill>
              <a:srgbClr val="F6F5FC"/>
            </a:solidFill>
            <a:prstDash val="solid"/>
          </a:ln>
        </p:spPr>
      </p:sp>
      <p:sp>
        <p:nvSpPr>
          <p:cNvPr id="18" name="Text 15"/>
          <p:cNvSpPr/>
          <p:nvPr/>
        </p:nvSpPr>
        <p:spPr>
          <a:xfrm>
            <a:off x="6336792" y="1463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9" name="Text 16"/>
          <p:cNvSpPr txBox="1"/>
          <p:nvPr/>
        </p:nvSpPr>
        <p:spPr>
          <a:xfrm>
            <a:off x="6858000" y="1435608"/>
            <a:ext cx="1691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Coding</a:t>
            </a:r>
            <a:endParaRPr lang="en-US" sz="1500" dirty="0"/>
          </a:p>
        </p:txBody>
      </p:sp>
      <p:sp>
        <p:nvSpPr>
          <p:cNvPr id="20" name="Text 17"/>
          <p:cNvSpPr txBox="1"/>
          <p:nvPr/>
        </p:nvSpPr>
        <p:spPr>
          <a:xfrm>
            <a:off x="6858000" y="1828800"/>
            <a:ext cx="1691640" cy="89611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Write the program; iterative testing as you go</a:t>
            </a:r>
            <a:endParaRPr lang="en-US" sz="1200" dirty="0"/>
          </a:p>
        </p:txBody>
      </p:sp>
      <p:sp>
        <p:nvSpPr>
          <p:cNvPr id="21" name="Shape 18"/>
          <p:cNvSpPr/>
          <p:nvPr/>
        </p:nvSpPr>
        <p:spPr>
          <a:xfrm>
            <a:off x="8686800" y="2057400"/>
            <a:ext cx="146304" cy="914"/>
          </a:xfrm>
          <a:prstGeom prst="line">
            <a:avLst/>
          </a:prstGeom>
          <a:noFill/>
          <a:ln w="25400">
            <a:solidFill>
              <a:srgbClr val="494985"/>
            </a:solidFill>
            <a:prstDash val="solid"/>
            <a:tailEnd type="triangle"/>
          </a:ln>
        </p:spPr>
      </p:sp>
      <p:sp>
        <p:nvSpPr>
          <p:cNvPr id="22" name="Shape 19"/>
          <p:cNvSpPr/>
          <p:nvPr/>
        </p:nvSpPr>
        <p:spPr>
          <a:xfrm>
            <a:off x="8851392" y="1325880"/>
            <a:ext cx="2468880" cy="1463040"/>
          </a:xfrm>
          <a:prstGeom prst="rect">
            <a:avLst/>
          </a:prstGeom>
          <a:solidFill>
            <a:srgbClr val="F6F5FC"/>
          </a:solidFill>
          <a:ln w="12700">
            <a:solidFill>
              <a:srgbClr val="F6F5FC"/>
            </a:solidFill>
            <a:prstDash val="solid"/>
          </a:ln>
        </p:spPr>
      </p:sp>
      <p:sp>
        <p:nvSpPr>
          <p:cNvPr id="23" name="Text 20"/>
          <p:cNvSpPr/>
          <p:nvPr/>
        </p:nvSpPr>
        <p:spPr>
          <a:xfrm>
            <a:off x="8988552" y="1463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4" name="Text 21"/>
          <p:cNvSpPr txBox="1"/>
          <p:nvPr/>
        </p:nvSpPr>
        <p:spPr>
          <a:xfrm>
            <a:off x="9509760" y="1435608"/>
            <a:ext cx="1691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Testing</a:t>
            </a:r>
            <a:endParaRPr lang="en-US" sz="1500" dirty="0"/>
          </a:p>
        </p:txBody>
      </p:sp>
      <p:sp>
        <p:nvSpPr>
          <p:cNvPr id="25" name="Text 22"/>
          <p:cNvSpPr txBox="1"/>
          <p:nvPr/>
        </p:nvSpPr>
        <p:spPr>
          <a:xfrm>
            <a:off x="9509760" y="1828800"/>
            <a:ext cx="1691640" cy="89611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Run with test data to find and fix errors</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96112" y="3063240"/>
          <a:ext cx="10424160" cy="914400"/>
        </p:xfrm>
        <a:graphic>
          <a:graphicData uri="http://schemas.openxmlformats.org/drawingml/2006/table">
            <a:tbl>
              <a:tblPr/>
              <a:tblGrid>
                <a:gridCol w="2377440"/>
                <a:gridCol w="3657600"/>
                <a:gridCol w="4389120"/>
              </a:tblGrid>
              <a:tr h="512064">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Test data</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Meaning</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Example: a mark from 0 to 100</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1206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Normal</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Valid data that should be accepted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57  (accepted)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Abnormal (erroneous)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Invalid data that should be rejected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-5,  150,  "ten"  (rejected)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Extreme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largest and smallest valid values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0 and 100  (accepted)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Boundary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values either side of each limit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 rejected, 0 accepted;  100 accepted, 101 rejected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27" name="Text 23"/>
          <p:cNvSpPr txBox="1"/>
          <p:nvPr/>
        </p:nvSpPr>
        <p:spPr>
          <a:xfrm>
            <a:off x="896112" y="5760720"/>
            <a:ext cx="10424160" cy="36576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Decomposition splits a problem into inputs, processes, outputs and storage.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How examiners mark: writing a loop</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 focus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17</a:t>
            </a:r>
            <a:endParaRPr lang="en-US" sz="1350" dirty="0"/>
          </a:p>
        </p:txBody>
      </p:sp>
      <p:sp>
        <p:nvSpPr>
          <p:cNvPr id="7" name="Text 4"/>
          <p:cNvSpPr txBox="1"/>
          <p:nvPr/>
        </p:nvSpPr>
        <p:spPr>
          <a:xfrm>
            <a:off x="896112" y="1234440"/>
            <a:ext cx="10424160" cy="457200"/>
          </a:xfrm>
          <a:prstGeom prst="rect">
            <a:avLst/>
          </a:prstGeom>
          <a:noFill/>
          <a:ln/>
        </p:spPr>
        <p:txBody>
          <a:bodyPr wrap="square" lIns="0" tIns="0" rIns="0" bIns="0" rtlCol="0" anchor="t"/>
          <a:lstStyle/>
          <a:p>
            <a:pPr indent="0" marL="0">
              <a:buNone/>
            </a:pPr>
            <a:r>
              <a:rPr lang="en-US" sz="1500" b="1" dirty="0">
                <a:solidFill>
                  <a:srgbClr val="202124"/>
                </a:solidFill>
                <a:latin typeface="Quicksand" pitchFamily="34" charset="0"/>
                <a:ea typeface="Quicksand" pitchFamily="34" charset="-122"/>
                <a:cs typeface="Quicksand" pitchFamily="34" charset="-120"/>
              </a:rPr>
              <a:t>Q: Write an algorithm to input numbers until 9999.9 is entered, then output the total.  [4]</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96112" y="1874520"/>
          <a:ext cx="5852160" cy="914400"/>
        </p:xfrm>
        <a:graphic>
          <a:graphicData uri="http://schemas.openxmlformats.org/drawingml/2006/table">
            <a:tbl>
              <a:tblPr/>
              <a:tblGrid>
                <a:gridCol w="822960"/>
                <a:gridCol w="5029200"/>
              </a:tblGrid>
              <a:tr h="50292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Mark</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Official marking point (max 4)</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Total is set to zero before the loop</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Input is taken for more than one number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Adds the current value to the total</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Loop is correct, with a terminal condition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Total is output after the loop</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9" name="Shape 5"/>
          <p:cNvSpPr/>
          <p:nvPr/>
        </p:nvSpPr>
        <p:spPr>
          <a:xfrm>
            <a:off x="7040880" y="1874520"/>
            <a:ext cx="4480560" cy="23774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0" name="Text 6"/>
          <p:cNvSpPr txBox="1"/>
          <p:nvPr/>
        </p:nvSpPr>
        <p:spPr>
          <a:xfrm>
            <a:off x="7178040" y="1965960"/>
            <a:ext cx="4206240" cy="2194560"/>
          </a:xfrm>
          <a:prstGeom prst="rect">
            <a:avLst/>
          </a:prstGeom>
          <a:noFill/>
          <a:ln/>
        </p:spPr>
        <p:txBody>
          <a:bodyPr wrap="square" lIns="0" tIns="0" rIns="0" bIns="0" rtlCol="0" anchor="t"/>
          <a:lstStyle/>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Total ← 0</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INPUT Value</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WHILE Value &lt;&gt; 9999.9 DO</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  Total ← Total + Value</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  INPUT Value</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ENDWHILE</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OUTPUT Total</a:t>
            </a:r>
            <a:endParaRPr lang="en-US" sz="1350" dirty="0"/>
          </a:p>
        </p:txBody>
      </p:sp>
      <p:sp>
        <p:nvSpPr>
          <p:cNvPr id="11" name="Text 7"/>
          <p:cNvSpPr txBox="1"/>
          <p:nvPr/>
        </p:nvSpPr>
        <p:spPr>
          <a:xfrm>
            <a:off x="896112" y="5074920"/>
            <a:ext cx="10424160" cy="731520"/>
          </a:xfrm>
          <a:prstGeom prst="rect">
            <a:avLst/>
          </a:prstGeom>
          <a:noFill/>
          <a:ln/>
        </p:spPr>
        <p:txBody>
          <a:bodyPr wrap="square" lIns="0" tIns="0" rIns="0" bIns="0" rtlCol="0" anchor="t"/>
          <a:lstStyle/>
          <a:p>
            <a:pPr indent="0" marL="0">
              <a:spcAft>
                <a:spcPts val="600"/>
              </a:spcAft>
              <a:buNone/>
            </a:pPr>
            <a:r>
              <a:rPr lang="en-US" sz="1400" dirty="0">
                <a:solidFill>
                  <a:srgbClr val="666666"/>
                </a:solidFill>
                <a:latin typeface="Quicksand" pitchFamily="34" charset="0"/>
                <a:ea typeface="Quicksand" pitchFamily="34" charset="-122"/>
                <a:cs typeface="Quicksand" pitchFamily="34" charset="-120"/>
              </a:rPr>
              <a:t>0478/22 June 2024 Q6(a). Counting values over 100 in part (b) adds: counter set to 0, Counter ← Counter + 1 inside an IF, output the counter after the loop.</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How examiners mark: traces and errors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 focus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18</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96112" y="1325880"/>
          <a:ext cx="10424160" cy="914400"/>
        </p:xfrm>
        <a:graphic>
          <a:graphicData uri="http://schemas.openxmlformats.org/drawingml/2006/table">
            <a:tbl>
              <a:tblPr/>
              <a:tblGrid>
                <a:gridCol w="2743200"/>
                <a:gridCol w="3291840"/>
                <a:gridCol w="4389120"/>
              </a:tblGrid>
              <a:tr h="64008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Question type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How it is marked</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Do this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64008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Complete the trace table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 mark per correct column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Fill every column; copy OUTPUT text exactly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4008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Identify and correct errors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 mark per error: line + correction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Write the whole corrected line, e.g. 04  IF Age &gt;= 18</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Write pseudocode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 mark per marking point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Initialise, loop, condition, output - each is a mark</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4008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Draw a flowchart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Symbols, flow lines and logic</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Correct shapes; label yes / no on every decision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Describe / explain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Point + example or reason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Give a code example, e.g. Total ← Total + Value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Text 4"/>
          <p:cNvSpPr txBox="1"/>
          <p:nvPr/>
        </p:nvSpPr>
        <p:spPr>
          <a:xfrm>
            <a:off x="896112" y="5486400"/>
            <a:ext cx="10424160" cy="36576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Rule of thumb: count the marks. 4 marks means 4 separate things to write.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Your worksheet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Practice</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19</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96112" y="1325880"/>
          <a:ext cx="10424160" cy="914400"/>
        </p:xfrm>
        <a:graphic>
          <a:graphicData uri="http://schemas.openxmlformats.org/drawingml/2006/table">
            <a:tbl>
              <a:tblPr/>
              <a:tblGrid>
                <a:gridCol w="3474720"/>
                <a:gridCol w="6035040"/>
                <a:gridCol w="914400"/>
              </a:tblGrid>
              <a:tr h="502920">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Task</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Covers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Marks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0292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  Retrieval check</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The five starter statements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5</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2  Data, operators and routines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Data types, declarations, operators, MOD, DIV, ROUND, RANDOM, IDE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31</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3  Selection</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CASE, nested IF, the calculator question (June 2018)</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17</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4  Iteration, counting and totalling</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Loop types, rewriting loops, totals, counts, validation (2023-2025)</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26</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5  Trace tables and flowcharts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Symbols, parcel flowchart, grade flowchart, MOD/DIV trace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25</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6  Find and correct errors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Four algorithms with errors (three from 2024-2025 papers)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33</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7  Developing programs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PDLC, design methods, test data, maintainable code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28</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8  Extension</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Car park program: predict, write it, draw part as a flowchart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24</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Common misconceptions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20</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96112" y="1325880"/>
          <a:ext cx="10424160" cy="914400"/>
        </p:xfrm>
        <a:graphic>
          <a:graphicData uri="http://schemas.openxmlformats.org/drawingml/2006/table">
            <a:tbl>
              <a:tblPr/>
              <a:tblGrid>
                <a:gridCol w="4572000"/>
                <a:gridCol w="5852160"/>
              </a:tblGrid>
              <a:tr h="64008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Misconception</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Why it is wrong</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64008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"REPEAT ... UNTIL keeps going while the condition is true"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It stops when the condition becomes TRUE - the opposite of WHILE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4008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"Phone numbers and IDs are INTEGERs"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They are STRINGs: leading zeros, spaces and + signs, and no arithmetic</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"ROUND(RANDOM() * 6, 0) gives 1 to 6"</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It gives 0 to 6. Use ROUND(RANDOM() * 5, 0) + 1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4008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 total can start with any value"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Totals and counters must be set to 0 before the loop</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rogue value is part of the data"</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 stopping value such as -1 must not be added or counted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4008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"Testing means checking it works once"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Use normal, abnormal, extreme and boundary data</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Exit question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21</a:t>
            </a:r>
            <a:endParaRPr lang="en-US" sz="1350" dirty="0"/>
          </a:p>
        </p:txBody>
      </p:sp>
      <p:sp>
        <p:nvSpPr>
          <p:cNvPr id="7" name="Shape 4"/>
          <p:cNvSpPr/>
          <p:nvPr/>
        </p:nvSpPr>
        <p:spPr>
          <a:xfrm>
            <a:off x="896112" y="1371600"/>
            <a:ext cx="3840480" cy="182880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1033272" y="1463040"/>
            <a:ext cx="3566160" cy="1645920"/>
          </a:xfrm>
          <a:prstGeom prst="rect">
            <a:avLst/>
          </a:prstGeom>
          <a:noFill/>
          <a:ln/>
        </p:spPr>
        <p:txBody>
          <a:bodyPr wrap="square" lIns="0" tIns="0" rIns="0" bIns="0" rtlCol="0" anchor="t"/>
          <a:lstStyle/>
          <a:p>
            <a:pPr indent="0" marL="0">
              <a:lnSpc>
                <a:spcPct val="105000"/>
              </a:lnSpc>
              <a:buNone/>
            </a:pPr>
            <a:r>
              <a:rPr lang="en-US" sz="1500" dirty="0">
                <a:solidFill>
                  <a:srgbClr val="1D1D1D"/>
                </a:solidFill>
                <a:latin typeface="Roboto Mono" pitchFamily="34" charset="0"/>
                <a:ea typeface="Roboto Mono" pitchFamily="34" charset="-122"/>
                <a:cs typeface="Roboto Mono" pitchFamily="34" charset="-120"/>
              </a:rPr>
              <a:t>X ← 7</a:t>
            </a:r>
            <a:endParaRPr lang="en-US" sz="1500" dirty="0"/>
          </a:p>
          <a:p>
            <a:pPr indent="0" marL="0">
              <a:lnSpc>
                <a:spcPct val="105000"/>
              </a:lnSpc>
              <a:buNone/>
            </a:pPr>
            <a:r>
              <a:rPr lang="en-US" sz="1500" dirty="0">
                <a:solidFill>
                  <a:srgbClr val="1D1D1D"/>
                </a:solidFill>
                <a:latin typeface="Roboto Mono" pitchFamily="34" charset="0"/>
                <a:ea typeface="Roboto Mono" pitchFamily="34" charset="-122"/>
                <a:cs typeface="Roboto Mono" pitchFamily="34" charset="-120"/>
              </a:rPr>
              <a:t>REPEAT</a:t>
            </a:r>
            <a:endParaRPr lang="en-US" sz="1500" dirty="0"/>
          </a:p>
          <a:p>
            <a:pPr indent="0" marL="0">
              <a:lnSpc>
                <a:spcPct val="105000"/>
              </a:lnSpc>
              <a:buNone/>
            </a:pPr>
            <a:r>
              <a:rPr lang="en-US" sz="1500" dirty="0">
                <a:solidFill>
                  <a:srgbClr val="1D1D1D"/>
                </a:solidFill>
                <a:latin typeface="Roboto Mono" pitchFamily="34" charset="0"/>
                <a:ea typeface="Roboto Mono" pitchFamily="34" charset="-122"/>
                <a:cs typeface="Roboto Mono" pitchFamily="34" charset="-120"/>
              </a:rPr>
              <a:t>  X ← X - 3</a:t>
            </a:r>
            <a:endParaRPr lang="en-US" sz="1500" dirty="0"/>
          </a:p>
          <a:p>
            <a:pPr indent="0" marL="0">
              <a:lnSpc>
                <a:spcPct val="105000"/>
              </a:lnSpc>
              <a:buNone/>
            </a:pPr>
            <a:r>
              <a:rPr lang="en-US" sz="1500" dirty="0">
                <a:solidFill>
                  <a:srgbClr val="1D1D1D"/>
                </a:solidFill>
                <a:latin typeface="Roboto Mono" pitchFamily="34" charset="0"/>
                <a:ea typeface="Roboto Mono" pitchFamily="34" charset="-122"/>
                <a:cs typeface="Roboto Mono" pitchFamily="34" charset="-120"/>
              </a:rPr>
              <a:t>UNTIL X &lt; 0</a:t>
            </a:r>
            <a:endParaRPr lang="en-US" sz="1500" dirty="0"/>
          </a:p>
          <a:p>
            <a:pPr indent="0" marL="0">
              <a:lnSpc>
                <a:spcPct val="105000"/>
              </a:lnSpc>
              <a:buNone/>
            </a:pPr>
            <a:r>
              <a:rPr lang="en-US" sz="1500" dirty="0">
                <a:solidFill>
                  <a:srgbClr val="1D1D1D"/>
                </a:solidFill>
                <a:latin typeface="Roboto Mono" pitchFamily="34" charset="0"/>
                <a:ea typeface="Roboto Mono" pitchFamily="34" charset="-122"/>
                <a:cs typeface="Roboto Mono" pitchFamily="34" charset="-120"/>
              </a:rPr>
              <a:t>OUTPUT X</a:t>
            </a:r>
            <a:endParaRPr lang="en-US" sz="1500" dirty="0"/>
          </a:p>
        </p:txBody>
      </p:sp>
      <p:sp>
        <p:nvSpPr>
          <p:cNvPr id="9" name="Text 6"/>
          <p:cNvSpPr txBox="1"/>
          <p:nvPr/>
        </p:nvSpPr>
        <p:spPr>
          <a:xfrm>
            <a:off x="5120640" y="1417320"/>
            <a:ext cx="6400800" cy="219456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Complete a trace table for X. What is output?</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How many times does the loop body run?</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Rewrite the loop as a WHILE ... DO loop that gives the same output.</a:t>
            </a:r>
            <a:endParaRPr lang="en-US" sz="1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96112" y="3520440"/>
          <a:ext cx="3840480" cy="914400"/>
        </p:xfrm>
        <a:graphic>
          <a:graphicData uri="http://schemas.openxmlformats.org/drawingml/2006/table">
            <a:tbl>
              <a:tblPr/>
              <a:tblGrid>
                <a:gridCol w="1920240"/>
                <a:gridCol w="1920240"/>
              </a:tblGrid>
              <a:tr h="384048">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X</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OUTPUT</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84048">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84048">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84048">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Summary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22</a:t>
            </a:r>
            <a:endParaRPr lang="en-US" sz="1350" dirty="0"/>
          </a:p>
        </p:txBody>
      </p:sp>
      <p:sp>
        <p:nvSpPr>
          <p:cNvPr id="7" name="Text 4"/>
          <p:cNvSpPr txBox="1"/>
          <p:nvPr/>
        </p:nvSpPr>
        <p:spPr>
          <a:xfrm>
            <a:off x="841248" y="1417320"/>
            <a:ext cx="10424160" cy="347472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Recalled data types, constants and the routines MOD, DIV, ROUND and RANDOM</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Used IF, CASE and all three loop types in Cambridge pseudocode</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Wrote counting and totalling algorithms and dry ran them with trace tables</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Read flowcharts and found and corrected errors in real exam algorithms</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Described the PDLC, test data and how to keep programs maintainable</a:t>
            </a:r>
            <a:endParaRPr lang="en-US" sz="1800" dirty="0"/>
          </a:p>
        </p:txBody>
      </p:sp>
      <p:sp>
        <p:nvSpPr>
          <p:cNvPr id="8" name="Text 5"/>
          <p:cNvSpPr txBox="1"/>
          <p:nvPr/>
        </p:nvSpPr>
        <p:spPr>
          <a:xfrm>
            <a:off x="841248" y="5212080"/>
            <a:ext cx="10424160" cy="41148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Next lesson: ______________________________</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recall - IGCSE 0478 Paper 2</dc:title>
  <dc:subject>PptxGenJS Presentation</dc:subject>
  <dc:creator>PptxGenJS</dc:creator>
  <cp:lastModifiedBy>PptxGenJS</cp:lastModifiedBy>
  <cp:revision>1</cp:revision>
  <dcterms:created xsi:type="dcterms:W3CDTF">2026-10-27T03:05:46Z</dcterms:created>
  <dcterms:modified xsi:type="dcterms:W3CDTF">2026-10-27T03:05:46Z</dcterms:modified>
</cp:coreProperties>
</file>