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lesson on object-oriented programming (syllabus 20.1). Builds on lesson 1 (class, object, attributes, methods, encapsulation, constructor, getters and setters). This lesson: getters and setters in more depth, inheritance (base / derived class, Inherits, MyBase.New), polymorphism (Overridable / Overrides), overloading, containment (aggregation) and a binary tree written with classes - the way Paper 4 asks for it (9618/42 June 2024 Q2).
Suggested 60-minute pacing (also on slide 18):
0-5 starter (Task 1)
5-15 getters/setters, inheritance, polymorphism (slides 4-8)
15-20 overloading, containment, choosing the feature (slides 9-11) + Task 2
20-30 Task 3 (read and trace)
30-37 Task 4 (complete the code)
37-52 binary tree with classes (slides 12-14) + Task 5
52-57 how examiners mark inheritance (slide 16)
57-60 exit question.
Task 6 (real exam questions) is homework / next lesson at the computer. Slide 15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Worksheet Task 1, 5 minutes - retrieval from lesson 1. Four errors, all of them mistakes examiners report every year:
1. Public Title - attributes should be Private (data hiding).
2. GetPrice(P As Decimal) - a getter takes no parameter.
3. SetPrice() reads input - a setter takes the new value as a parameter.
4. Dim B As Book("Dune") - New is missing, so no object is created: Dim B As New Book("Dune").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and extend. A getter is a Function with no parameter that RETURNS the attribute (examiner reports: parameters on getters and outputting instead of returning lose marks). A setter takes the new value as a parameter and assigns it; it may validate first and can be a Function returning a Boolean to report success. If an attribute must never change after the constructor (e.g. an ID), give it a getter but no setter - it becomes read-only to the rest of the program. Me refers to the current object: Me.Lives is useful when a parameter has the same name as the attribute.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Inheritance: a derived (child, sub-) class takes the attributes and methods of a base (parent, super-) class, and can add its own or change (override) them. Test: "A Wizard IS A Player". Saves writing the same code twice. Single inheritance is one parent per class; VB.NET, Java and C# allow only single inheritance of classes; Python allows multiple inheritance. Exam wording (9618/31 N22 mark scheme): "the capability of defining a new class of objects that has all the attributes and methods from a parent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Inherits must be the first line inside the class. The derived constructor calls MyBase.New(...) as its FIRST statement to run the parent constructor, passing on the values the parent needs, then sets its own attributes. Name and Score are Private in Player, so Wizard cannot use them directly - it calls the inherited public methods (GetName, AddPoints). Protected would allow derived classes direct access, but Paper 4 questions say "all attributes must be private", so mark schemes use the getters and setters (e.g. Me.GetCurrentSpeed() in 9618/41 June 2023). Examiner report June 2023: some candidates "created a new class and redefined the attributes instead of using the parent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Polymorphism: a method in a derived class with the same name (and parameters) as one in the base class redefines it, so the same call behaves differently depending on the class of the object. In VB.NET the base method must be marked Overridable and the derived one Overrides. MyBase.AddPoints(...) calls the parent version, so the code is not repeated (the June 2023 examiner report credits stronger answers for calling the parent method). Official definitions: "allows the same method to take on different behaviours depending on which class is instantiated // methods can be redefined for derived classes" (9618/31 N22); "methods with the same name are redefined / behave differently in derived classes" (9618/32 J25).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array of type Player can hold Player objects and Wizard objects (a Wizard is a Player). The loop makes the same call on every object; each object runs its own version of AddPoints. Ask students to predict the output before revealing it: Ava 10, Zed 20. Then: what would print if Wizard did not override AddPoints? (Zed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Overloading: two or more methods in the same class with the same name but different parameter lists (different number or types). The compiler picks the version that matches the call. In VB.NET the Overloads keyword can be written on methods (it is optional within one class); constructors (Sub New) are overloaded without it. Python has no true overloading - it uses default parameter values instead (the textbook shows name = None). Compare with overriding: overriding keeps the same parameters and replaces the method in a derived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Containment / aggregation: one class has attributes that are objects of another class - "a Team HAS Players". The contained class is used, not inherited. Paper 4 example: 9618/41 Oct/Nov 2022 Q2 - class Hand has the attribute Cards : ARRAY[0:9] OF Card. A binary tree class containing Node objects is the same idea (slide 12). In a class diagram, containment is shown by a line joining the classes (the textbook draws plain lines; UML uses a diamond at the container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comparisons students mix up. Inheritance vs containment: ask "is a" or "has a" (textbook: a circle is a shape - inheritance; an aeroplane has wings - containment). Overriding vs overloading: both reuse a method name; overriding replaces a method in a derived class with the same parameters (polymorphism), overloading gives the same class several versions with different parameters. Worksheet Task 2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used in 9618/42 May/June 2024 Q2 (the full question is the Task 6 extension). Each Node object stores a left pointer, data and a right pointer; the pointers are array indexes, -1 means null. TreeClass contains an array of 20 Node objects (containment), FirstNode (index of the root, -1 when empty) and NumberNodes. Nodes are added at index NumberNodes - the next free space - and the parent node's pointer is updated. Recap the binary tree rules from Chapter 19: smaller to the left, larger (or equal) to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algorithm. 1) Store the new node in the next free element. 2) If the tree was empty it becomes the root. 3) Otherwise start at the root and follow left / right pointers, remembering the previous node and the direction taken, until a -1 pointer is reached. 4) Set the parent's left or right pointer to the new node's index. 5) Increase NumberNodes. Note the use of the Node getters and setters - the attributes are private. This is the structure of the official answer to 9618/42 June 2024 Q2(b)(ii) (6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do it live, one insertion at a time. 15 goes in index 0 and becomes the root (FirstNode 0). 8 &lt; 15: 15's left pointer is -1, so it becomes 1. 19 &gt; 15: right pointer of 0 becomes 2. 3: left of 15 to node 1 (8), left of 8 is -1, so node 1 left = 3. 10: 10 &lt; 15 go to 1; 10 &gt; 8, right of 8 is -1, so node 1 right = 4. FirstNode = 0, NumberNodes = 5. Then students do Task 5 with different data. (Checked by running an equivalent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The textbook (Hodder 9618, 20.1) builds the tree from object references instead of an array: each Node contains two Node attributes, Left and Right (Nothing = no node). Insert is recursive - each node passes the value on to its child. No array and no size limit. Caution: the textbook's VB version contains errors (it mixes the names current and CurrentNode, calls Node(item) without New, writes Else If and returns Nothing from an Integer function). This corrected version keeps the attributes Public to stay short, as the textbook does; in Paper 4 make them Private and use getters. So far Paper 4 questions on trees with classes (9618/42 J24, 9618/41 J25) have used the array design on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9618/42 May/June 2023 Q3(b). Class Employee: HourlyPay, EmployeeNumber, JobTitle, PayYear2022 (52 weekly pays); SetPay(WeekNumber, Hours) stores HourlyPay * Hours. Child class Manager adds BonusValue (a percentage) and overrides SetPay: increases the hours by the bonus, then calls the parent SetPay. Model code typed here from the published mark scheme structure; the parent constructor's parameter order must match however Employee was written in part (a). The mark scheme also accepted Overloads as an alternative to Overrides in VB.NET. Remind students: for Overrides to compile, the parent SetPay must be Overridable - go back and add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mark-scheme wording. Use after Task 6 Part A to check answers. Inheritance and polymorphism are 2-mark "describe" questions in 2025: one mark for the idea, one for saying it involves a parent / base class and derived classes. Overloading and containment have not yet been asked as definitions on Paper 3 (2021-2025); the definitions given are the textbook's.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60-minute plan. Tasks 1-5 are in the lesson; Task 6 (real Paper 3 and Paper 4 questions) is homework or the next lesson at the computer. If time is short: skip slide 15 (optional) and set Task 4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which they believed at the start. Sources: 9618 Paper 4 examiner report June 2023 (redefining parent attributes, not calling the parent method, not limiting values) and common VB.NET compile errors (Overrides without Overridable, MyBase.New not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(a) Overriding: a derived class redefines a method from its base class with the same name and parameters (1). Overloading: the same method name is used more than once in a class with different parameters (1).
(b) Containment - a car HAS an engine; it is not a type of engine (1).
(c) MyBase.New(DName, 4) (1) - must be the first line of the Dog constructor.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Paper 4 practice at the computer - Task 6 Part B (9618/41 June 2023 Q2, Vehicle and Helicopter) is a full inheritance question. Further OOP practice: 9618/41 Oct/Nov 2023 Q3 (BikeCharacter), 9618/42 Oct/Nov 2023 Q3 (MagicCharacter), 9618/42 May/June 2025 Q2 (Animal, Parrot, Wolf), 9618/41 Oct/Nov 2022 Q2 (Card and Hand - containment), 9618/41 May/June 2025 (Node and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00416" y="0"/>
            <a:ext cx="4288536" cy="6858000"/>
          </a:xfrm>
          <a:prstGeom prst="rect">
            <a:avLst/>
          </a:prstGeom>
          <a:solidFill>
            <a:srgbClr val="FFD84D"/>
          </a:solidFill>
          <a:ln w="12700">
            <a:solidFill>
              <a:srgbClr val="FFD84D"/>
            </a:solidFill>
            <a:prstDash val="solid"/>
          </a:ln>
        </p:spPr>
      </p:sp>
      <p:sp>
        <p:nvSpPr>
          <p:cNvPr id="3" name="Text 1"/>
          <p:cNvSpPr txBox="1"/>
          <p:nvPr/>
        </p:nvSpPr>
        <p:spPr>
          <a:xfrm>
            <a:off x="667512" y="2560320"/>
            <a:ext cx="7004304" cy="914400"/>
          </a:xfrm>
          <a:prstGeom prst="rect">
            <a:avLst/>
          </a:prstGeom>
          <a:noFill/>
          <a:ln/>
        </p:spPr>
        <p:txBody>
          <a:bodyPr wrap="square" lIns="0" tIns="0" rIns="0" bIns="0" rtlCol="0" anchor="b"/>
          <a:lstStyle/>
          <a:p>
            <a:pPr indent="0" marL="0">
              <a:buNone/>
            </a:pPr>
            <a:r>
              <a:rPr lang="en-US" sz="5400" b="1" dirty="0">
                <a:solidFill>
                  <a:srgbClr val="202124"/>
                </a:solidFill>
                <a:latin typeface="Quicksand" pitchFamily="34" charset="0"/>
                <a:ea typeface="Quicksand" pitchFamily="34" charset="-122"/>
                <a:cs typeface="Quicksand" pitchFamily="34" charset="-120"/>
              </a:rPr>
              <a:t>Classes 2</a:t>
            </a:r>
            <a:endParaRPr lang="en-US" sz="5400" dirty="0"/>
          </a:p>
        </p:txBody>
      </p:sp>
      <p:sp>
        <p:nvSpPr>
          <p:cNvPr id="4" name="Text 2"/>
          <p:cNvSpPr txBox="1"/>
          <p:nvPr/>
        </p:nvSpPr>
        <p:spPr>
          <a:xfrm>
            <a:off x="667512" y="3547872"/>
            <a:ext cx="7004304" cy="411480"/>
          </a:xfrm>
          <a:prstGeom prst="rect">
            <a:avLst/>
          </a:prstGeom>
          <a:noFill/>
          <a:ln/>
        </p:spPr>
        <p:txBody>
          <a:bodyPr wrap="square" lIns="0" tIns="0" rIns="0" bIns="0" rtlCol="0" anchor="ctr"/>
          <a:lstStyle/>
          <a:p>
            <a:pPr indent="0" marL="0">
              <a:buNone/>
            </a:pPr>
            <a:r>
              <a:rPr lang="en-US" sz="2000" dirty="0">
                <a:solidFill>
                  <a:srgbClr val="666666"/>
                </a:solidFill>
                <a:latin typeface="Quicksand" pitchFamily="34" charset="0"/>
                <a:ea typeface="Quicksand" pitchFamily="34" charset="-122"/>
                <a:cs typeface="Quicksand" pitchFamily="34" charset="-120"/>
              </a:rPr>
              <a:t>Y13 - Cambridge International 9618  |  20.1</a:t>
            </a:r>
            <a:endParaRPr lang="en-US" sz="2000" dirty="0"/>
          </a:p>
        </p:txBody>
      </p:sp>
      <p:sp>
        <p:nvSpPr>
          <p:cNvPr id="5" name="Shape 3"/>
          <p:cNvSpPr/>
          <p:nvPr/>
        </p:nvSpPr>
        <p:spPr>
          <a:xfrm>
            <a:off x="667512" y="4050792"/>
            <a:ext cx="1719072" cy="54864"/>
          </a:xfrm>
          <a:prstGeom prst="rect">
            <a:avLst/>
          </a:prstGeom>
          <a:solidFill>
            <a:srgbClr val="494985"/>
          </a:solidFill>
          <a:ln w="12700">
            <a:solidFill>
              <a:srgbClr val="494985"/>
            </a:solidFill>
            <a:prstDash val="solid"/>
          </a:ln>
        </p:spPr>
      </p:sp>
      <p:sp>
        <p:nvSpPr>
          <p:cNvPr id="6" name="Text 4"/>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a:t>
            </a:r>
            <a:endParaRPr lang="en-US" sz="1350" dirty="0"/>
          </a:p>
        </p:txBody>
      </p:sp>
      <p:sp>
        <p:nvSpPr>
          <p:cNvPr id="8" name="Shape 5"/>
          <p:cNvSpPr/>
          <p:nvPr/>
        </p:nvSpPr>
        <p:spPr>
          <a:xfrm>
            <a:off x="8275320" y="2011680"/>
            <a:ext cx="3566160" cy="26517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9" name="Text 6"/>
          <p:cNvSpPr txBox="1"/>
          <p:nvPr/>
        </p:nvSpPr>
        <p:spPr>
          <a:xfrm>
            <a:off x="8412480" y="2103120"/>
            <a:ext cx="3291840" cy="2468880"/>
          </a:xfrm>
          <a:prstGeom prst="rect">
            <a:avLst/>
          </a:prstGeom>
          <a:noFill/>
          <a:ln/>
        </p:spPr>
        <p:txBody>
          <a:bodyPr wrap="square" lIns="0" tIns="0" rIns="0" bIns="0" rtlCol="0" anchor="t"/>
          <a:lstStyle/>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Class Wizard</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Inherits Player</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Public Overrides Sub</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AddPoints(P As Integer)</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MyBase.AddPoints(P * 2)</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Sub</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End Class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Starter: spot the errors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Starter activity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a:t>
            </a:r>
            <a:endParaRPr lang="en-US" sz="1350" dirty="0"/>
          </a:p>
        </p:txBody>
      </p:sp>
      <p:sp>
        <p:nvSpPr>
          <p:cNvPr id="7" name="Shape 4"/>
          <p:cNvSpPr/>
          <p:nvPr/>
        </p:nvSpPr>
        <p:spPr>
          <a:xfrm>
            <a:off x="777240" y="1234440"/>
            <a:ext cx="6766560" cy="47091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25880"/>
            <a:ext cx="6492240" cy="4526280"/>
          </a:xfrm>
          <a:prstGeom prst="rect">
            <a:avLst/>
          </a:prstGeom>
          <a:noFill/>
          <a:ln/>
        </p:spPr>
        <p:txBody>
          <a:bodyPr wrap="square" lIns="0" tIns="0" rIns="0" bIns="0" rtlCol="0" anchor="t"/>
          <a:lstStyle/>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 1  Class Book</a:t>
            </a:r>
            <a:endParaRPr lang="en-US" sz="1450" dirty="0"/>
          </a:p>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 2      Public Title As String</a:t>
            </a:r>
            <a:endParaRPr lang="en-US" sz="1450" dirty="0"/>
          </a:p>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 3      Private Price As Decimal</a:t>
            </a:r>
            <a:endParaRPr lang="en-US" sz="1450" dirty="0"/>
          </a:p>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 4      Public Sub New(T As String)</a:t>
            </a:r>
            <a:endParaRPr lang="en-US" sz="1450" dirty="0"/>
          </a:p>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 5          Title = T</a:t>
            </a:r>
            <a:endParaRPr lang="en-US" sz="1450" dirty="0"/>
          </a:p>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 6          Price = 0</a:t>
            </a:r>
            <a:endParaRPr lang="en-US" sz="1450" dirty="0"/>
          </a:p>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 7      End Sub</a:t>
            </a:r>
            <a:endParaRPr lang="en-US" sz="1450" dirty="0"/>
          </a:p>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 8      Public Function GetPrice(P As Decimal) As Decimal</a:t>
            </a:r>
            <a:endParaRPr lang="en-US" sz="1450" dirty="0"/>
          </a:p>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 9          Return Price</a:t>
            </a:r>
            <a:endParaRPr lang="en-US" sz="1450" dirty="0"/>
          </a:p>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10      End Function</a:t>
            </a:r>
            <a:endParaRPr lang="en-US" sz="1450" dirty="0"/>
          </a:p>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11      Public Sub SetPrice()</a:t>
            </a:r>
            <a:endParaRPr lang="en-US" sz="1450" dirty="0"/>
          </a:p>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12          Price = Console.ReadLine()</a:t>
            </a:r>
            <a:endParaRPr lang="en-US" sz="1450" dirty="0"/>
          </a:p>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13      End Sub</a:t>
            </a:r>
            <a:endParaRPr lang="en-US" sz="1450" dirty="0"/>
          </a:p>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14  End Class</a:t>
            </a:r>
            <a:endParaRPr lang="en-US" sz="1450" dirty="0"/>
          </a:p>
          <a:p>
            <a:pPr indent="0" marL="0">
              <a:lnSpc>
                <a:spcPct val="105000"/>
              </a:lnSpc>
              <a:buNone/>
            </a:pPr>
            <a:r>
              <a:rPr lang="en-US" sz="1450" dirty="0">
                <a:solidFill>
                  <a:srgbClr val="1D1D1D"/>
                </a:solidFill>
                <a:latin typeface="Roboto Mono" pitchFamily="34" charset="0"/>
                <a:ea typeface="Roboto Mono" pitchFamily="34" charset="-122"/>
                <a:cs typeface="Roboto Mono" pitchFamily="34" charset="-120"/>
              </a:rPr>
              <a:t>15  Dim B As Book("Dune")</a:t>
            </a:r>
            <a:endParaRPr lang="en-US" sz="1450" dirty="0"/>
          </a:p>
        </p:txBody>
      </p:sp>
      <p:sp>
        <p:nvSpPr>
          <p:cNvPr id="9" name="Shape 6"/>
          <p:cNvSpPr/>
          <p:nvPr/>
        </p:nvSpPr>
        <p:spPr>
          <a:xfrm>
            <a:off x="7863840" y="1234440"/>
            <a:ext cx="3657600" cy="4709160"/>
          </a:xfrm>
          <a:prstGeom prst="rect">
            <a:avLst/>
          </a:prstGeom>
          <a:solidFill>
            <a:srgbClr val="F6F5FC"/>
          </a:solidFill>
          <a:ln w="12700">
            <a:solidFill>
              <a:srgbClr val="F6F5FC"/>
            </a:solidFill>
            <a:prstDash val="solid"/>
          </a:ln>
        </p:spPr>
      </p:sp>
      <p:sp>
        <p:nvSpPr>
          <p:cNvPr id="10" name="Shape 7"/>
          <p:cNvSpPr/>
          <p:nvPr/>
        </p:nvSpPr>
        <p:spPr>
          <a:xfrm>
            <a:off x="7863840" y="1234440"/>
            <a:ext cx="73152" cy="4709160"/>
          </a:xfrm>
          <a:prstGeom prst="rect">
            <a:avLst/>
          </a:prstGeom>
          <a:solidFill>
            <a:srgbClr val="494985"/>
          </a:solidFill>
          <a:ln w="12700">
            <a:solidFill>
              <a:srgbClr val="494985"/>
            </a:solidFill>
            <a:prstDash val="solid"/>
          </a:ln>
        </p:spPr>
      </p:sp>
      <p:sp>
        <p:nvSpPr>
          <p:cNvPr id="11" name="Text 8"/>
          <p:cNvSpPr txBox="1"/>
          <p:nvPr/>
        </p:nvSpPr>
        <p:spPr>
          <a:xfrm>
            <a:off x="8092440" y="1325880"/>
            <a:ext cx="329184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Find four errors</a:t>
            </a:r>
            <a:endParaRPr lang="en-US" sz="1500" dirty="0"/>
          </a:p>
        </p:txBody>
      </p:sp>
      <p:sp>
        <p:nvSpPr>
          <p:cNvPr id="12" name="Text 9"/>
          <p:cNvSpPr txBox="1"/>
          <p:nvPr/>
        </p:nvSpPr>
        <p:spPr>
          <a:xfrm>
            <a:off x="8092440" y="1737360"/>
            <a:ext cx="3291840" cy="4114800"/>
          </a:xfrm>
          <a:prstGeom prst="rect">
            <a:avLst/>
          </a:prstGeom>
          <a:noFill/>
          <a:ln/>
        </p:spPr>
        <p:txBody>
          <a:bodyPr wrap="square" lIns="0" tIns="0" rIns="0" bIns="0" rtlCol="0" anchor="t"/>
          <a:lstStyle/>
          <a:p>
            <a:pPr marL="228600" indent="-228600">
              <a:spcAft>
                <a:spcPts val="500"/>
              </a:spcAft>
              <a:buSzPct val="100000"/>
              <a:buChar char="•"/>
            </a:pPr>
            <a:r>
              <a:rPr lang="en-US" sz="1400" dirty="0">
                <a:solidFill>
                  <a:srgbClr val="202124"/>
                </a:solidFill>
                <a:latin typeface="Quicksand" pitchFamily="34" charset="0"/>
                <a:ea typeface="Quicksand" pitchFamily="34" charset="-122"/>
                <a:cs typeface="Quicksand" pitchFamily="34" charset="-120"/>
              </a:rPr>
              <a:t>Write the line number and the correction</a:t>
            </a:r>
            <a:endParaRPr lang="en-US" sz="1400" dirty="0"/>
          </a:p>
          <a:p>
            <a:pPr marL="228600" indent="-228600">
              <a:spcAft>
                <a:spcPts val="500"/>
              </a:spcAft>
              <a:buSzPct val="100000"/>
              <a:buChar char="•"/>
            </a:pPr>
            <a:r>
              <a:rPr lang="en-US" sz="1400" dirty="0">
                <a:solidFill>
                  <a:srgbClr val="202124"/>
                </a:solidFill>
                <a:latin typeface="Quicksand" pitchFamily="34" charset="0"/>
                <a:ea typeface="Quicksand" pitchFamily="34" charset="-122"/>
                <a:cs typeface="Quicksand" pitchFamily="34" charset="-120"/>
              </a:rPr>
              <a:t>Think about: data hiding, getters, setters, creating an object</a:t>
            </a:r>
            <a:endParaRPr lang="en-US" sz="1400" dirty="0"/>
          </a:p>
          <a:p>
            <a:pPr marL="228600" indent="-228600">
              <a:spcAft>
                <a:spcPts val="500"/>
              </a:spcAft>
              <a:buSzPct val="100000"/>
              <a:buChar char="•"/>
            </a:pPr>
            <a:r>
              <a:rPr lang="en-US" sz="1400" dirty="0">
                <a:solidFill>
                  <a:srgbClr val="202124"/>
                </a:solidFill>
                <a:latin typeface="Quicksand" pitchFamily="34" charset="0"/>
                <a:ea typeface="Quicksand" pitchFamily="34" charset="-122"/>
                <a:cs typeface="Quicksand" pitchFamily="34" charset="-120"/>
              </a:rPr>
              <a:t>All four are mistakes examiners see every year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 will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Objectives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3</a:t>
            </a:r>
            <a:endParaRPr lang="en-US" sz="1350" dirty="0"/>
          </a:p>
        </p:txBody>
      </p:sp>
      <p:sp>
        <p:nvSpPr>
          <p:cNvPr id="6" name="Text 4"/>
          <p:cNvSpPr txBox="1"/>
          <p:nvPr/>
        </p:nvSpPr>
        <p:spPr>
          <a:xfrm>
            <a:off x="841248" y="1463040"/>
            <a:ext cx="10241280" cy="402336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Write getters and setters that protect an object's data</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Use inheritance to make a derived class from a base class (Inherits, MyBase.New)</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Explain and use polymorphism (Overridable, Overrides) and overloading</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Decide between inheritance (is a) and containment (has a)</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Trace a binary tree that is built from Node objects inside a tree class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Getters and setters: a closer look</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4</a:t>
            </a:r>
            <a:endParaRPr lang="en-US" sz="1350" dirty="0"/>
          </a:p>
        </p:txBody>
      </p:sp>
      <p:sp>
        <p:nvSpPr>
          <p:cNvPr id="7" name="Shape 4"/>
          <p:cNvSpPr/>
          <p:nvPr/>
        </p:nvSpPr>
        <p:spPr>
          <a:xfrm>
            <a:off x="777240" y="1234440"/>
            <a:ext cx="6400800" cy="480060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25880"/>
            <a:ext cx="6126480" cy="461772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Class Player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Private Name As String</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Private Lives As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    Public Function GetLives() As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Return Lives</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 Function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    Public Function SetLives(NewLives As Integer) As Boolean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If NewLives &gt;= 0 And NewLives &lt;= 5 Then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Lives = NewLives</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Return True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 If</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Return False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 Function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End Class</a:t>
            </a:r>
            <a:endParaRPr lang="en-US" sz="1250" dirty="0"/>
          </a:p>
        </p:txBody>
      </p:sp>
      <p:sp>
        <p:nvSpPr>
          <p:cNvPr id="9" name="Shape 6"/>
          <p:cNvSpPr/>
          <p:nvPr/>
        </p:nvSpPr>
        <p:spPr>
          <a:xfrm>
            <a:off x="7452360" y="1234440"/>
            <a:ext cx="4069080" cy="1051560"/>
          </a:xfrm>
          <a:prstGeom prst="rect">
            <a:avLst/>
          </a:prstGeom>
          <a:solidFill>
            <a:srgbClr val="F6F5FC"/>
          </a:solidFill>
          <a:ln w="12700">
            <a:solidFill>
              <a:srgbClr val="F6F5FC"/>
            </a:solidFill>
            <a:prstDash val="solid"/>
          </a:ln>
        </p:spPr>
      </p:sp>
      <p:sp>
        <p:nvSpPr>
          <p:cNvPr id="10" name="Text 7"/>
          <p:cNvSpPr/>
          <p:nvPr/>
        </p:nvSpPr>
        <p:spPr>
          <a:xfrm>
            <a:off x="7589520" y="13716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8"/>
          <p:cNvSpPr txBox="1"/>
          <p:nvPr/>
        </p:nvSpPr>
        <p:spPr>
          <a:xfrm>
            <a:off x="8110728" y="1344168"/>
            <a:ext cx="32918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Getter</a:t>
            </a:r>
            <a:endParaRPr lang="en-US" sz="1500" dirty="0"/>
          </a:p>
        </p:txBody>
      </p:sp>
      <p:sp>
        <p:nvSpPr>
          <p:cNvPr id="12" name="Text 9"/>
          <p:cNvSpPr txBox="1"/>
          <p:nvPr/>
        </p:nvSpPr>
        <p:spPr>
          <a:xfrm>
            <a:off x="8110728" y="1737360"/>
            <a:ext cx="3291840" cy="48463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A Function with no parameter that Returns the attribute. Never output it.</a:t>
            </a:r>
            <a:endParaRPr lang="en-US" sz="1300" dirty="0"/>
          </a:p>
        </p:txBody>
      </p:sp>
      <p:sp>
        <p:nvSpPr>
          <p:cNvPr id="13" name="Shape 10"/>
          <p:cNvSpPr/>
          <p:nvPr/>
        </p:nvSpPr>
        <p:spPr>
          <a:xfrm>
            <a:off x="7452360" y="2468880"/>
            <a:ext cx="4069080" cy="1051560"/>
          </a:xfrm>
          <a:prstGeom prst="rect">
            <a:avLst/>
          </a:prstGeom>
          <a:solidFill>
            <a:srgbClr val="F6F5FC"/>
          </a:solidFill>
          <a:ln w="12700">
            <a:solidFill>
              <a:srgbClr val="F6F5FC"/>
            </a:solidFill>
            <a:prstDash val="solid"/>
          </a:ln>
        </p:spPr>
      </p:sp>
      <p:sp>
        <p:nvSpPr>
          <p:cNvPr id="14" name="Text 11"/>
          <p:cNvSpPr/>
          <p:nvPr/>
        </p:nvSpPr>
        <p:spPr>
          <a:xfrm>
            <a:off x="7589520" y="2606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2"/>
          <p:cNvSpPr txBox="1"/>
          <p:nvPr/>
        </p:nvSpPr>
        <p:spPr>
          <a:xfrm>
            <a:off x="8110728" y="2578608"/>
            <a:ext cx="32918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Setter</a:t>
            </a:r>
            <a:endParaRPr lang="en-US" sz="1500" dirty="0"/>
          </a:p>
        </p:txBody>
      </p:sp>
      <p:sp>
        <p:nvSpPr>
          <p:cNvPr id="16" name="Text 13"/>
          <p:cNvSpPr txBox="1"/>
          <p:nvPr/>
        </p:nvSpPr>
        <p:spPr>
          <a:xfrm>
            <a:off x="8110728" y="2971800"/>
            <a:ext cx="3291840" cy="48463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Takes the new value as a parameter. No input inside the method.</a:t>
            </a:r>
            <a:endParaRPr lang="en-US" sz="1300" dirty="0"/>
          </a:p>
        </p:txBody>
      </p:sp>
      <p:sp>
        <p:nvSpPr>
          <p:cNvPr id="17" name="Shape 14"/>
          <p:cNvSpPr/>
          <p:nvPr/>
        </p:nvSpPr>
        <p:spPr>
          <a:xfrm>
            <a:off x="7452360" y="3703320"/>
            <a:ext cx="4069080" cy="1051560"/>
          </a:xfrm>
          <a:prstGeom prst="rect">
            <a:avLst/>
          </a:prstGeom>
          <a:solidFill>
            <a:srgbClr val="F6F5FC"/>
          </a:solidFill>
          <a:ln w="12700">
            <a:solidFill>
              <a:srgbClr val="F6F5FC"/>
            </a:solidFill>
            <a:prstDash val="solid"/>
          </a:ln>
        </p:spPr>
      </p:sp>
      <p:sp>
        <p:nvSpPr>
          <p:cNvPr id="18" name="Text 15"/>
          <p:cNvSpPr/>
          <p:nvPr/>
        </p:nvSpPr>
        <p:spPr>
          <a:xfrm>
            <a:off x="7589520" y="38404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9" name="Text 16"/>
          <p:cNvSpPr txBox="1"/>
          <p:nvPr/>
        </p:nvSpPr>
        <p:spPr>
          <a:xfrm>
            <a:off x="8110728" y="3813048"/>
            <a:ext cx="32918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Validation</a:t>
            </a:r>
            <a:endParaRPr lang="en-US" sz="1500" dirty="0"/>
          </a:p>
        </p:txBody>
      </p:sp>
      <p:sp>
        <p:nvSpPr>
          <p:cNvPr id="20" name="Text 17"/>
          <p:cNvSpPr txBox="1"/>
          <p:nvPr/>
        </p:nvSpPr>
        <p:spPr>
          <a:xfrm>
            <a:off x="8110728" y="4206240"/>
            <a:ext cx="3291840" cy="48463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A setter can check the value first. This is why attributes are Private.</a:t>
            </a:r>
            <a:endParaRPr lang="en-US" sz="1300" dirty="0"/>
          </a:p>
        </p:txBody>
      </p:sp>
      <p:sp>
        <p:nvSpPr>
          <p:cNvPr id="21" name="Shape 18"/>
          <p:cNvSpPr/>
          <p:nvPr/>
        </p:nvSpPr>
        <p:spPr>
          <a:xfrm>
            <a:off x="7452360" y="4937760"/>
            <a:ext cx="4069080" cy="1097280"/>
          </a:xfrm>
          <a:prstGeom prst="rect">
            <a:avLst/>
          </a:prstGeom>
          <a:solidFill>
            <a:srgbClr val="F6F5FC"/>
          </a:solidFill>
          <a:ln w="12700">
            <a:solidFill>
              <a:srgbClr val="F6F5FC"/>
            </a:solidFill>
            <a:prstDash val="solid"/>
          </a:ln>
        </p:spPr>
      </p:sp>
      <p:sp>
        <p:nvSpPr>
          <p:cNvPr id="22" name="Text 19"/>
          <p:cNvSpPr/>
          <p:nvPr/>
        </p:nvSpPr>
        <p:spPr>
          <a:xfrm>
            <a:off x="7589520" y="50749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3" name="Text 20"/>
          <p:cNvSpPr txBox="1"/>
          <p:nvPr/>
        </p:nvSpPr>
        <p:spPr>
          <a:xfrm>
            <a:off x="8110728" y="5047488"/>
            <a:ext cx="32918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Read-only</a:t>
            </a:r>
            <a:endParaRPr lang="en-US" sz="1500" dirty="0"/>
          </a:p>
        </p:txBody>
      </p:sp>
      <p:sp>
        <p:nvSpPr>
          <p:cNvPr id="24" name="Text 21"/>
          <p:cNvSpPr txBox="1"/>
          <p:nvPr/>
        </p:nvSpPr>
        <p:spPr>
          <a:xfrm>
            <a:off x="8110728" y="5440680"/>
            <a:ext cx="3291840" cy="53035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No setter for data that must not change, like an ID.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Inheritance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5</a:t>
            </a:r>
            <a:endParaRPr lang="en-US" sz="1350" dirty="0"/>
          </a:p>
        </p:txBody>
      </p:sp>
      <p:sp>
        <p:nvSpPr>
          <p:cNvPr id="7" name="Text 4"/>
          <p:cNvSpPr/>
          <p:nvPr/>
        </p:nvSpPr>
        <p:spPr>
          <a:xfrm>
            <a:off x="2286000" y="1463040"/>
            <a:ext cx="3291840" cy="137160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Player</a:t>
            </a:r>
            <a:endParaRPr lang="en-US" sz="1300" dirty="0"/>
          </a:p>
          <a:p>
            <a:pPr algn="ctr" indent="0" marL="0">
              <a:buNone/>
            </a:pPr>
            <a:r>
              <a:rPr lang="en-US" sz="1300" b="1" dirty="0">
                <a:solidFill>
                  <a:srgbClr val="202124"/>
                </a:solidFill>
                <a:latin typeface="Quicksand" pitchFamily="34" charset="0"/>
                <a:ea typeface="Quicksand" pitchFamily="34" charset="-122"/>
                <a:cs typeface="Quicksand" pitchFamily="34" charset="-120"/>
              </a:rPr>
              <a:t>- Name : STRING</a:t>
            </a:r>
            <a:endParaRPr lang="en-US" sz="1300" dirty="0"/>
          </a:p>
          <a:p>
            <a:pPr algn="ctr" indent="0" marL="0">
              <a:buNone/>
            </a:pPr>
            <a:r>
              <a:rPr lang="en-US" sz="1300" b="1" dirty="0">
                <a:solidFill>
                  <a:srgbClr val="202124"/>
                </a:solidFill>
                <a:latin typeface="Quicksand" pitchFamily="34" charset="0"/>
                <a:ea typeface="Quicksand" pitchFamily="34" charset="-122"/>
                <a:cs typeface="Quicksand" pitchFamily="34" charset="-120"/>
              </a:rPr>
              <a:t>- Score : INTEGER</a:t>
            </a:r>
            <a:endParaRPr lang="en-US" sz="1300" dirty="0"/>
          </a:p>
          <a:p>
            <a:pPr algn="ctr" indent="0" marL="0">
              <a:buNone/>
            </a:pPr>
            <a:r>
              <a:rPr lang="en-US" sz="1300" b="1" dirty="0">
                <a:solidFill>
                  <a:srgbClr val="202124"/>
                </a:solidFill>
                <a:latin typeface="Quicksand" pitchFamily="34" charset="0"/>
                <a:ea typeface="Quicksand" pitchFamily="34" charset="-122"/>
                <a:cs typeface="Quicksand" pitchFamily="34" charset="-120"/>
              </a:rPr>
              <a:t>+ AddPoints()</a:t>
            </a:r>
            <a:endParaRPr lang="en-US" sz="1300" dirty="0"/>
          </a:p>
        </p:txBody>
      </p:sp>
      <p:sp>
        <p:nvSpPr>
          <p:cNvPr id="8" name="Text 5"/>
          <p:cNvSpPr/>
          <p:nvPr/>
        </p:nvSpPr>
        <p:spPr>
          <a:xfrm>
            <a:off x="457200" y="4137660"/>
            <a:ext cx="3108960" cy="114300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Wizard</a:t>
            </a:r>
            <a:endParaRPr lang="en-US" sz="1300" dirty="0"/>
          </a:p>
          <a:p>
            <a:pPr algn="ctr" indent="0" marL="0">
              <a:buNone/>
            </a:pPr>
            <a:r>
              <a:rPr lang="en-US" sz="1300" b="1" dirty="0">
                <a:solidFill>
                  <a:srgbClr val="202124"/>
                </a:solidFill>
                <a:latin typeface="Quicksand" pitchFamily="34" charset="0"/>
                <a:ea typeface="Quicksand" pitchFamily="34" charset="-122"/>
                <a:cs typeface="Quicksand" pitchFamily="34" charset="-120"/>
              </a:rPr>
              <a:t>- Mana : INTEGER</a:t>
            </a:r>
            <a:endParaRPr lang="en-US" sz="1300" dirty="0"/>
          </a:p>
          <a:p>
            <a:pPr algn="ctr" indent="0" marL="0">
              <a:buNone/>
            </a:pPr>
            <a:r>
              <a:rPr lang="en-US" sz="1300" b="1" dirty="0">
                <a:solidFill>
                  <a:srgbClr val="202124"/>
                </a:solidFill>
                <a:latin typeface="Quicksand" pitchFamily="34" charset="0"/>
                <a:ea typeface="Quicksand" pitchFamily="34" charset="-122"/>
                <a:cs typeface="Quicksand" pitchFamily="34" charset="-120"/>
              </a:rPr>
              <a:t>+ CastSpell()</a:t>
            </a:r>
            <a:endParaRPr lang="en-US" sz="1300" dirty="0"/>
          </a:p>
        </p:txBody>
      </p:sp>
      <p:sp>
        <p:nvSpPr>
          <p:cNvPr id="9" name="Text 6"/>
          <p:cNvSpPr/>
          <p:nvPr/>
        </p:nvSpPr>
        <p:spPr>
          <a:xfrm>
            <a:off x="4297680" y="4137660"/>
            <a:ext cx="3108960" cy="114300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Archer</a:t>
            </a:r>
            <a:endParaRPr lang="en-US" sz="1300" dirty="0"/>
          </a:p>
          <a:p>
            <a:pPr algn="ctr" indent="0" marL="0">
              <a:buNone/>
            </a:pPr>
            <a:r>
              <a:rPr lang="en-US" sz="1300" b="1" dirty="0">
                <a:solidFill>
                  <a:srgbClr val="202124"/>
                </a:solidFill>
                <a:latin typeface="Quicksand" pitchFamily="34" charset="0"/>
                <a:ea typeface="Quicksand" pitchFamily="34" charset="-122"/>
                <a:cs typeface="Quicksand" pitchFamily="34" charset="-120"/>
              </a:rPr>
              <a:t>- Arrows : INTEGER</a:t>
            </a:r>
            <a:endParaRPr lang="en-US" sz="1300" dirty="0"/>
          </a:p>
          <a:p>
            <a:pPr algn="ctr" indent="0" marL="0">
              <a:buNone/>
            </a:pPr>
            <a:r>
              <a:rPr lang="en-US" sz="1300" b="1" dirty="0">
                <a:solidFill>
                  <a:srgbClr val="202124"/>
                </a:solidFill>
                <a:latin typeface="Quicksand" pitchFamily="34" charset="0"/>
                <a:ea typeface="Quicksand" pitchFamily="34" charset="-122"/>
                <a:cs typeface="Quicksand" pitchFamily="34" charset="-120"/>
              </a:rPr>
              <a:t>+ Shoot()</a:t>
            </a:r>
            <a:endParaRPr lang="en-US" sz="1300" dirty="0"/>
          </a:p>
        </p:txBody>
      </p:sp>
      <p:sp>
        <p:nvSpPr>
          <p:cNvPr id="10" name="Shape 7"/>
          <p:cNvSpPr/>
          <p:nvPr/>
        </p:nvSpPr>
        <p:spPr>
          <a:xfrm flipV="1">
            <a:off x="2011680" y="2834640"/>
            <a:ext cx="1280160" cy="1298448"/>
          </a:xfrm>
          <a:prstGeom prst="line">
            <a:avLst/>
          </a:prstGeom>
          <a:noFill/>
          <a:ln w="22225">
            <a:solidFill>
              <a:srgbClr val="494985"/>
            </a:solidFill>
            <a:prstDash val="solid"/>
            <a:tailEnd type="triangle"/>
          </a:ln>
        </p:spPr>
      </p:sp>
      <p:sp>
        <p:nvSpPr>
          <p:cNvPr id="11" name="Shape 8"/>
          <p:cNvSpPr/>
          <p:nvPr/>
        </p:nvSpPr>
        <p:spPr>
          <a:xfrm flipH="1" flipV="1">
            <a:off x="4572000" y="2834640"/>
            <a:ext cx="1280160" cy="1298448"/>
          </a:xfrm>
          <a:prstGeom prst="line">
            <a:avLst/>
          </a:prstGeom>
          <a:noFill/>
          <a:ln w="22225">
            <a:solidFill>
              <a:srgbClr val="494985"/>
            </a:solidFill>
            <a:prstDash val="solid"/>
            <a:tailEnd type="triangle"/>
          </a:ln>
        </p:spPr>
      </p:sp>
      <p:sp>
        <p:nvSpPr>
          <p:cNvPr id="12" name="Text 9"/>
          <p:cNvSpPr txBox="1"/>
          <p:nvPr/>
        </p:nvSpPr>
        <p:spPr>
          <a:xfrm>
            <a:off x="1645920" y="1234440"/>
            <a:ext cx="4572000" cy="274320"/>
          </a:xfrm>
          <a:prstGeom prst="rect">
            <a:avLst/>
          </a:prstGeom>
          <a:noFill/>
          <a:ln/>
        </p:spPr>
        <p:txBody>
          <a:bodyPr wrap="square" lIns="0" tIns="0" rIns="0" bIns="0" rtlCol="0" anchor="ctr"/>
          <a:lstStyle/>
          <a:p>
            <a:pPr algn="ctr" indent="0" marL="0">
              <a:buNone/>
            </a:pPr>
            <a:r>
              <a:rPr lang="en-US" sz="1300" i="1" dirty="0">
                <a:solidFill>
                  <a:srgbClr val="B3261E"/>
                </a:solidFill>
                <a:latin typeface="Quicksand" pitchFamily="34" charset="0"/>
                <a:ea typeface="Quicksand" pitchFamily="34" charset="-122"/>
                <a:cs typeface="Quicksand" pitchFamily="34" charset="-120"/>
              </a:rPr>
              <a:t>base class (parent / superclass)</a:t>
            </a:r>
            <a:endParaRPr lang="en-US" sz="1300" dirty="0"/>
          </a:p>
        </p:txBody>
      </p:sp>
      <p:sp>
        <p:nvSpPr>
          <p:cNvPr id="13" name="Text 10"/>
          <p:cNvSpPr txBox="1"/>
          <p:nvPr/>
        </p:nvSpPr>
        <p:spPr>
          <a:xfrm>
            <a:off x="1645920" y="5486400"/>
            <a:ext cx="4572000" cy="274320"/>
          </a:xfrm>
          <a:prstGeom prst="rect">
            <a:avLst/>
          </a:prstGeom>
          <a:noFill/>
          <a:ln/>
        </p:spPr>
        <p:txBody>
          <a:bodyPr wrap="square" lIns="0" tIns="0" rIns="0" bIns="0" rtlCol="0" anchor="ctr"/>
          <a:lstStyle/>
          <a:p>
            <a:pPr algn="ctr" indent="0" marL="0">
              <a:buNone/>
            </a:pPr>
            <a:r>
              <a:rPr lang="en-US" sz="1300" i="1" dirty="0">
                <a:solidFill>
                  <a:srgbClr val="B3261E"/>
                </a:solidFill>
                <a:latin typeface="Quicksand" pitchFamily="34" charset="0"/>
                <a:ea typeface="Quicksand" pitchFamily="34" charset="-122"/>
                <a:cs typeface="Quicksand" pitchFamily="34" charset="-120"/>
              </a:rPr>
              <a:t>derived classes (child / subclass)</a:t>
            </a:r>
            <a:endParaRPr lang="en-US" sz="1300" dirty="0"/>
          </a:p>
        </p:txBody>
      </p:sp>
      <p:sp>
        <p:nvSpPr>
          <p:cNvPr id="14" name="Shape 11"/>
          <p:cNvSpPr/>
          <p:nvPr/>
        </p:nvSpPr>
        <p:spPr>
          <a:xfrm>
            <a:off x="7863840" y="1234440"/>
            <a:ext cx="3657600" cy="4754880"/>
          </a:xfrm>
          <a:prstGeom prst="rect">
            <a:avLst/>
          </a:prstGeom>
          <a:solidFill>
            <a:srgbClr val="F6F5FC"/>
          </a:solidFill>
          <a:ln w="12700">
            <a:solidFill>
              <a:srgbClr val="F6F5FC"/>
            </a:solidFill>
            <a:prstDash val="solid"/>
          </a:ln>
        </p:spPr>
      </p:sp>
      <p:sp>
        <p:nvSpPr>
          <p:cNvPr id="15" name="Shape 12"/>
          <p:cNvSpPr/>
          <p:nvPr/>
        </p:nvSpPr>
        <p:spPr>
          <a:xfrm>
            <a:off x="7863840" y="1234440"/>
            <a:ext cx="73152" cy="4754880"/>
          </a:xfrm>
          <a:prstGeom prst="rect">
            <a:avLst/>
          </a:prstGeom>
          <a:solidFill>
            <a:srgbClr val="494985"/>
          </a:solidFill>
          <a:ln w="12700">
            <a:solidFill>
              <a:srgbClr val="494985"/>
            </a:solidFill>
            <a:prstDash val="solid"/>
          </a:ln>
        </p:spPr>
      </p:sp>
      <p:sp>
        <p:nvSpPr>
          <p:cNvPr id="16" name="Text 13"/>
          <p:cNvSpPr txBox="1"/>
          <p:nvPr/>
        </p:nvSpPr>
        <p:spPr>
          <a:xfrm>
            <a:off x="8092440" y="1325880"/>
            <a:ext cx="329184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Key ideas</a:t>
            </a:r>
            <a:endParaRPr lang="en-US" sz="1500" dirty="0"/>
          </a:p>
        </p:txBody>
      </p:sp>
      <p:sp>
        <p:nvSpPr>
          <p:cNvPr id="17" name="Text 14"/>
          <p:cNvSpPr txBox="1"/>
          <p:nvPr/>
        </p:nvSpPr>
        <p:spPr>
          <a:xfrm>
            <a:off x="8092440" y="1737360"/>
            <a:ext cx="3291840" cy="4160520"/>
          </a:xfrm>
          <a:prstGeom prst="rect">
            <a:avLst/>
          </a:prstGeom>
          <a:noFill/>
          <a:ln/>
        </p:spPr>
        <p:txBody>
          <a:bodyPr wrap="square" lIns="0" tIns="0" rIns="0" bIns="0" rtlCol="0" anchor="t"/>
          <a:lstStyle/>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A derived class gets all the attributes and methods of its base class</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It can add its own attributes and methods</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It can redefine (override) a method</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Test: a Wizard IS A Player</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Arrows point from the child to the parent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Inheritance in VB.NET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6</a:t>
            </a:r>
            <a:endParaRPr lang="en-US" sz="1350" dirty="0"/>
          </a:p>
        </p:txBody>
      </p:sp>
      <p:sp>
        <p:nvSpPr>
          <p:cNvPr id="7" name="Shape 4"/>
          <p:cNvSpPr/>
          <p:nvPr/>
        </p:nvSpPr>
        <p:spPr>
          <a:xfrm>
            <a:off x="777240" y="1234440"/>
            <a:ext cx="5029200" cy="39776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25880"/>
            <a:ext cx="4754880" cy="379476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Class Player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Private Name As String</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Private Score As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Public Sub New(PName As String)</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Name = PName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Score = 0</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 Sub</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Public Function GetName() As String</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Return Name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 Function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End Class</a:t>
            </a:r>
            <a:endParaRPr lang="en-US" sz="1250" dirty="0"/>
          </a:p>
        </p:txBody>
      </p:sp>
      <p:sp>
        <p:nvSpPr>
          <p:cNvPr id="9" name="Shape 6"/>
          <p:cNvSpPr/>
          <p:nvPr/>
        </p:nvSpPr>
        <p:spPr>
          <a:xfrm>
            <a:off x="6035040" y="1234440"/>
            <a:ext cx="5486400" cy="39776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0" name="Text 7"/>
          <p:cNvSpPr txBox="1"/>
          <p:nvPr/>
        </p:nvSpPr>
        <p:spPr>
          <a:xfrm>
            <a:off x="6172200" y="1325880"/>
            <a:ext cx="5212080" cy="379476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Class Wizard</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    Inherits Player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Private Mana As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Public Sub New(PName As String,</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PMana As Integer)</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        MyBase.New(PName)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Mana = PMana</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 Sub</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End Class</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Dim W As New Wizard("Zed", 10)</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Console.WriteLine(W.GetName())</a:t>
            </a:r>
            <a:endParaRPr lang="en-US" sz="1250" dirty="0"/>
          </a:p>
        </p:txBody>
      </p:sp>
      <p:sp>
        <p:nvSpPr>
          <p:cNvPr id="11" name="Text 8"/>
          <p:cNvSpPr txBox="1"/>
          <p:nvPr/>
        </p:nvSpPr>
        <p:spPr>
          <a:xfrm>
            <a:off x="777240" y="5394960"/>
            <a:ext cx="10744200" cy="36576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Inherits: Wizard gets everything in Player.   MyBase.New: run the parent's constructor first.</a:t>
            </a:r>
            <a:endParaRPr lang="en-US" sz="1500" dirty="0"/>
          </a:p>
        </p:txBody>
      </p:sp>
      <p:sp>
        <p:nvSpPr>
          <p:cNvPr id="12" name="Text 9"/>
          <p:cNvSpPr txBox="1"/>
          <p:nvPr/>
        </p:nvSpPr>
        <p:spPr>
          <a:xfrm>
            <a:off x="777240" y="5806440"/>
            <a:ext cx="10744200" cy="274320"/>
          </a:xfrm>
          <a:prstGeom prst="rect">
            <a:avLst/>
          </a:prstGeom>
          <a:noFill/>
          <a:ln/>
        </p:spPr>
        <p:txBody>
          <a:bodyPr wrap="square" lIns="0" tIns="0" rIns="0" bIns="0" rtlCol="0" anchor="ctr"/>
          <a:lstStyle/>
          <a:p>
            <a:pPr algn="l" indent="0" marL="0">
              <a:buNone/>
            </a:pPr>
            <a:r>
              <a:rPr lang="en-US" sz="1300" i="1" dirty="0">
                <a:solidFill>
                  <a:srgbClr val="202124"/>
                </a:solidFill>
                <a:latin typeface="Quicksand" pitchFamily="34" charset="0"/>
                <a:ea typeface="Quicksand" pitchFamily="34" charset="-122"/>
                <a:cs typeface="Quicksand" pitchFamily="34" charset="-120"/>
              </a:rPr>
              <a:t>W.GetName() works: Wizard inherited it. But inside Wizard, Name cannot be used directly - it is Private to Player.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Polymorphism: overriding a method</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7</a:t>
            </a:r>
            <a:endParaRPr lang="en-US" sz="1350" dirty="0"/>
          </a:p>
        </p:txBody>
      </p:sp>
      <p:sp>
        <p:nvSpPr>
          <p:cNvPr id="7" name="Shape 4"/>
          <p:cNvSpPr/>
          <p:nvPr/>
        </p:nvSpPr>
        <p:spPr>
          <a:xfrm>
            <a:off x="777240" y="1234440"/>
            <a:ext cx="6035040" cy="141732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25880"/>
            <a:ext cx="5760720" cy="1234440"/>
          </a:xfrm>
          <a:prstGeom prst="rect">
            <a:avLst/>
          </a:prstGeom>
          <a:noFill/>
          <a:ln/>
        </p:spPr>
        <p:txBody>
          <a:bodyPr wrap="square" lIns="0" tIns="0" rIns="0" bIns="0" rtlCol="0" anchor="t"/>
          <a:lstStyle/>
          <a:p>
            <a:pPr indent="0" marL="0">
              <a:lnSpc>
                <a:spcPct val="105000"/>
              </a:lnSpc>
              <a:buNone/>
            </a:pPr>
            <a:r>
              <a:rPr lang="en-US" sz="1300" dirty="0">
                <a:solidFill>
                  <a:srgbClr val="666666"/>
                </a:solidFill>
                <a:latin typeface="Roboto Mono" pitchFamily="34" charset="0"/>
                <a:ea typeface="Roboto Mono" pitchFamily="34" charset="-122"/>
                <a:cs typeface="Roboto Mono" pitchFamily="34" charset="-120"/>
              </a:rPr>
              <a:t>' in Player</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Public Overridable Sub AddPoints(P As Integer)</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Score = Score + P</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End Sub</a:t>
            </a:r>
            <a:endParaRPr lang="en-US" sz="1300" dirty="0"/>
          </a:p>
        </p:txBody>
      </p:sp>
      <p:sp>
        <p:nvSpPr>
          <p:cNvPr id="9" name="Shape 6"/>
          <p:cNvSpPr/>
          <p:nvPr/>
        </p:nvSpPr>
        <p:spPr>
          <a:xfrm>
            <a:off x="777240" y="2834640"/>
            <a:ext cx="6035040" cy="141732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0" name="Text 7"/>
          <p:cNvSpPr txBox="1"/>
          <p:nvPr/>
        </p:nvSpPr>
        <p:spPr>
          <a:xfrm>
            <a:off x="914400" y="2926080"/>
            <a:ext cx="5760720" cy="1234440"/>
          </a:xfrm>
          <a:prstGeom prst="rect">
            <a:avLst/>
          </a:prstGeom>
          <a:noFill/>
          <a:ln/>
        </p:spPr>
        <p:txBody>
          <a:bodyPr wrap="square" lIns="0" tIns="0" rIns="0" bIns="0" rtlCol="0" anchor="t"/>
          <a:lstStyle/>
          <a:p>
            <a:pPr indent="0" marL="0">
              <a:lnSpc>
                <a:spcPct val="105000"/>
              </a:lnSpc>
              <a:buNone/>
            </a:pPr>
            <a:r>
              <a:rPr lang="en-US" sz="1300" dirty="0">
                <a:solidFill>
                  <a:srgbClr val="666666"/>
                </a:solidFill>
                <a:latin typeface="Roboto Mono" pitchFamily="34" charset="0"/>
                <a:ea typeface="Roboto Mono" pitchFamily="34" charset="-122"/>
                <a:cs typeface="Roboto Mono" pitchFamily="34" charset="-120"/>
              </a:rPr>
              <a:t>' in Wizard - wizards score double</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Public Overrides Sub AddPoints(P As Integer)</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MyBase.AddPoints(P * 2)</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End Sub</a:t>
            </a:r>
            <a:endParaRPr lang="en-US" sz="1300" dirty="0"/>
          </a:p>
        </p:txBody>
      </p:sp>
      <p:sp>
        <p:nvSpPr>
          <p:cNvPr id="11" name="Shape 8"/>
          <p:cNvSpPr/>
          <p:nvPr/>
        </p:nvSpPr>
        <p:spPr>
          <a:xfrm>
            <a:off x="7086600" y="1234440"/>
            <a:ext cx="4434840" cy="960120"/>
          </a:xfrm>
          <a:prstGeom prst="rect">
            <a:avLst/>
          </a:prstGeom>
          <a:solidFill>
            <a:srgbClr val="F6F5FC"/>
          </a:solidFill>
          <a:ln w="12700">
            <a:solidFill>
              <a:srgbClr val="F6F5FC"/>
            </a:solidFill>
            <a:prstDash val="solid"/>
          </a:ln>
        </p:spPr>
      </p:sp>
      <p:sp>
        <p:nvSpPr>
          <p:cNvPr id="12" name="Text 9"/>
          <p:cNvSpPr/>
          <p:nvPr/>
        </p:nvSpPr>
        <p:spPr>
          <a:xfrm>
            <a:off x="7223760" y="13716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3" name="Text 10"/>
          <p:cNvSpPr txBox="1"/>
          <p:nvPr/>
        </p:nvSpPr>
        <p:spPr>
          <a:xfrm>
            <a:off x="7744968" y="1344168"/>
            <a:ext cx="3657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Overridable</a:t>
            </a:r>
            <a:endParaRPr lang="en-US" sz="1500" dirty="0"/>
          </a:p>
        </p:txBody>
      </p:sp>
      <p:sp>
        <p:nvSpPr>
          <p:cNvPr id="14" name="Text 11"/>
          <p:cNvSpPr txBox="1"/>
          <p:nvPr/>
        </p:nvSpPr>
        <p:spPr>
          <a:xfrm>
            <a:off x="7744968" y="1737360"/>
            <a:ext cx="3657600" cy="39319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Goes on the base class method: it may be redefined</a:t>
            </a:r>
            <a:endParaRPr lang="en-US" sz="1300" dirty="0"/>
          </a:p>
        </p:txBody>
      </p:sp>
      <p:sp>
        <p:nvSpPr>
          <p:cNvPr id="15" name="Shape 12"/>
          <p:cNvSpPr/>
          <p:nvPr/>
        </p:nvSpPr>
        <p:spPr>
          <a:xfrm>
            <a:off x="7086600" y="2331720"/>
            <a:ext cx="4434840" cy="960120"/>
          </a:xfrm>
          <a:prstGeom prst="rect">
            <a:avLst/>
          </a:prstGeom>
          <a:solidFill>
            <a:srgbClr val="F6F5FC"/>
          </a:solidFill>
          <a:ln w="12700">
            <a:solidFill>
              <a:srgbClr val="F6F5FC"/>
            </a:solidFill>
            <a:prstDash val="solid"/>
          </a:ln>
        </p:spPr>
      </p:sp>
      <p:sp>
        <p:nvSpPr>
          <p:cNvPr id="16" name="Text 13"/>
          <p:cNvSpPr/>
          <p:nvPr/>
        </p:nvSpPr>
        <p:spPr>
          <a:xfrm>
            <a:off x="7223760" y="24688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7" name="Text 14"/>
          <p:cNvSpPr txBox="1"/>
          <p:nvPr/>
        </p:nvSpPr>
        <p:spPr>
          <a:xfrm>
            <a:off x="7744968" y="2441448"/>
            <a:ext cx="3657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Overrides</a:t>
            </a:r>
            <a:endParaRPr lang="en-US" sz="1500" dirty="0"/>
          </a:p>
        </p:txBody>
      </p:sp>
      <p:sp>
        <p:nvSpPr>
          <p:cNvPr id="18" name="Text 15"/>
          <p:cNvSpPr txBox="1"/>
          <p:nvPr/>
        </p:nvSpPr>
        <p:spPr>
          <a:xfrm>
            <a:off x="7744968" y="2834640"/>
            <a:ext cx="3657600" cy="39319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Goes on the derived class method: same name, same parameters</a:t>
            </a:r>
            <a:endParaRPr lang="en-US" sz="1300" dirty="0"/>
          </a:p>
        </p:txBody>
      </p:sp>
      <p:sp>
        <p:nvSpPr>
          <p:cNvPr id="19" name="Shape 16"/>
          <p:cNvSpPr/>
          <p:nvPr/>
        </p:nvSpPr>
        <p:spPr>
          <a:xfrm>
            <a:off x="7086600" y="3429000"/>
            <a:ext cx="4434840" cy="960120"/>
          </a:xfrm>
          <a:prstGeom prst="rect">
            <a:avLst/>
          </a:prstGeom>
          <a:solidFill>
            <a:srgbClr val="F6F5FC"/>
          </a:solidFill>
          <a:ln w="12700">
            <a:solidFill>
              <a:srgbClr val="F6F5FC"/>
            </a:solidFill>
            <a:prstDash val="solid"/>
          </a:ln>
        </p:spPr>
      </p:sp>
      <p:sp>
        <p:nvSpPr>
          <p:cNvPr id="20" name="Text 17"/>
          <p:cNvSpPr/>
          <p:nvPr/>
        </p:nvSpPr>
        <p:spPr>
          <a:xfrm>
            <a:off x="7223760" y="35661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1" name="Text 18"/>
          <p:cNvSpPr txBox="1"/>
          <p:nvPr/>
        </p:nvSpPr>
        <p:spPr>
          <a:xfrm>
            <a:off x="7744968" y="3538728"/>
            <a:ext cx="3657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MyBase.AddPoints</a:t>
            </a:r>
            <a:endParaRPr lang="en-US" sz="1500" dirty="0"/>
          </a:p>
        </p:txBody>
      </p:sp>
      <p:sp>
        <p:nvSpPr>
          <p:cNvPr id="22" name="Text 19"/>
          <p:cNvSpPr txBox="1"/>
          <p:nvPr/>
        </p:nvSpPr>
        <p:spPr>
          <a:xfrm>
            <a:off x="7744968" y="3931920"/>
            <a:ext cx="3657600" cy="39319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Calls the parent's version - no repeated code</a:t>
            </a:r>
            <a:endParaRPr lang="en-US" sz="1300" dirty="0"/>
          </a:p>
        </p:txBody>
      </p:sp>
      <p:sp>
        <p:nvSpPr>
          <p:cNvPr id="23" name="Shape 20"/>
          <p:cNvSpPr/>
          <p:nvPr/>
        </p:nvSpPr>
        <p:spPr>
          <a:xfrm>
            <a:off x="777240" y="4526280"/>
            <a:ext cx="10744200" cy="1463040"/>
          </a:xfrm>
          <a:prstGeom prst="rect">
            <a:avLst/>
          </a:prstGeom>
          <a:solidFill>
            <a:srgbClr val="F6F5FC"/>
          </a:solidFill>
          <a:ln w="12700">
            <a:solidFill>
              <a:srgbClr val="F6F5FC"/>
            </a:solidFill>
            <a:prstDash val="solid"/>
          </a:ln>
        </p:spPr>
      </p:sp>
      <p:sp>
        <p:nvSpPr>
          <p:cNvPr id="24" name="Shape 21"/>
          <p:cNvSpPr/>
          <p:nvPr/>
        </p:nvSpPr>
        <p:spPr>
          <a:xfrm>
            <a:off x="777240" y="4526280"/>
            <a:ext cx="73152" cy="1463040"/>
          </a:xfrm>
          <a:prstGeom prst="rect">
            <a:avLst/>
          </a:prstGeom>
          <a:solidFill>
            <a:srgbClr val="2E7D5B"/>
          </a:solidFill>
          <a:ln w="12700">
            <a:solidFill>
              <a:srgbClr val="2E7D5B"/>
            </a:solidFill>
            <a:prstDash val="solid"/>
          </a:ln>
        </p:spPr>
      </p:sp>
      <p:sp>
        <p:nvSpPr>
          <p:cNvPr id="25" name="Text 22"/>
          <p:cNvSpPr txBox="1"/>
          <p:nvPr/>
        </p:nvSpPr>
        <p:spPr>
          <a:xfrm>
            <a:off x="1005840" y="4617720"/>
            <a:ext cx="10378440" cy="347472"/>
          </a:xfrm>
          <a:prstGeom prst="rect">
            <a:avLst/>
          </a:prstGeom>
          <a:noFill/>
          <a:ln/>
        </p:spPr>
        <p:txBody>
          <a:bodyPr wrap="square" lIns="0" tIns="0" rIns="0" bIns="0" rtlCol="0" anchor="ctr"/>
          <a:lstStyle/>
          <a:p>
            <a:pPr indent="0" marL="0">
              <a:buNone/>
            </a:pPr>
            <a:r>
              <a:rPr lang="en-US" sz="1500" b="1" dirty="0">
                <a:solidFill>
                  <a:srgbClr val="2E7D5B"/>
                </a:solidFill>
                <a:latin typeface="Quicksand" pitchFamily="34" charset="0"/>
                <a:ea typeface="Quicksand" pitchFamily="34" charset="-122"/>
                <a:cs typeface="Quicksand" pitchFamily="34" charset="-120"/>
              </a:rPr>
              <a:t>Polymorphism</a:t>
            </a:r>
            <a:endParaRPr lang="en-US" sz="1500" dirty="0"/>
          </a:p>
        </p:txBody>
      </p:sp>
      <p:sp>
        <p:nvSpPr>
          <p:cNvPr id="26" name="Text 23"/>
          <p:cNvSpPr txBox="1"/>
          <p:nvPr/>
        </p:nvSpPr>
        <p:spPr>
          <a:xfrm>
            <a:off x="1005840" y="5029200"/>
            <a:ext cx="10378440" cy="868680"/>
          </a:xfrm>
          <a:prstGeom prst="rect">
            <a:avLst/>
          </a:prstGeom>
          <a:noFill/>
          <a:ln/>
        </p:spPr>
        <p:txBody>
          <a:bodyPr wrap="square" lIns="0" tIns="0" rIns="0" bIns="0" rtlCol="0" anchor="t"/>
          <a:lstStyle/>
          <a:p>
            <a:pPr indent="0" marL="0">
              <a:spcAft>
                <a:spcPts val="600"/>
              </a:spcAft>
              <a:buNone/>
            </a:pPr>
            <a:r>
              <a:rPr lang="en-US" sz="1500" dirty="0">
                <a:solidFill>
                  <a:srgbClr val="202124"/>
                </a:solidFill>
                <a:latin typeface="Quicksand" pitchFamily="34" charset="0"/>
                <a:ea typeface="Quicksand" pitchFamily="34" charset="-122"/>
                <a:cs typeface="Quicksand" pitchFamily="34" charset="-120"/>
              </a:rPr>
              <a:t>The same method call behaves differently depending on the class of the object: methods can be redefined in derived classes.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Polymorphism in action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8</a:t>
            </a:r>
            <a:endParaRPr lang="en-US" sz="1350" dirty="0"/>
          </a:p>
        </p:txBody>
      </p:sp>
      <p:sp>
        <p:nvSpPr>
          <p:cNvPr id="7" name="Shape 4"/>
          <p:cNvSpPr/>
          <p:nvPr/>
        </p:nvSpPr>
        <p:spPr>
          <a:xfrm>
            <a:off x="777240" y="1234440"/>
            <a:ext cx="6583680" cy="32918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25880"/>
            <a:ext cx="6309360" cy="3108960"/>
          </a:xfrm>
          <a:prstGeom prst="rect">
            <a:avLst/>
          </a:prstGeom>
          <a:noFill/>
          <a:ln/>
        </p:spPr>
        <p:txBody>
          <a:bodyPr wrap="square" lIns="0" tIns="0" rIns="0" bIns="0" rtlCol="0" anchor="t"/>
          <a:lstStyle/>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Dim Team(1) As Player</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Team(0) = New Player("Ava")</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Team(1) = New Wizard("Zed", 10)</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 </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For i = 0 To 1</a:t>
            </a:r>
            <a:endParaRPr lang="en-US" sz="1350" dirty="0"/>
          </a:p>
          <a:p>
            <a:pPr indent="0" marL="0">
              <a:lnSpc>
                <a:spcPct val="105000"/>
              </a:lnSpc>
              <a:buNone/>
            </a:pPr>
            <a:r>
              <a:rPr lang="en-US" sz="1350" b="1" dirty="0">
                <a:solidFill>
                  <a:srgbClr val="494985"/>
                </a:solidFill>
                <a:latin typeface="Roboto Mono" pitchFamily="34" charset="0"/>
                <a:ea typeface="Roboto Mono" pitchFamily="34" charset="-122"/>
                <a:cs typeface="Roboto Mono" pitchFamily="34" charset="-120"/>
              </a:rPr>
              <a:t>    Team(i).AddPoints(10)</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    Console.WriteLine(Team(i).GetName() &amp; " " &amp;</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                      Team(i).GetScore())</a:t>
            </a:r>
            <a:endParaRPr lang="en-US" sz="1350" dirty="0"/>
          </a:p>
          <a:p>
            <a:pPr indent="0" marL="0">
              <a:lnSpc>
                <a:spcPct val="105000"/>
              </a:lnSpc>
              <a:buNone/>
            </a:pPr>
            <a:r>
              <a:rPr lang="en-US" sz="1350" dirty="0">
                <a:solidFill>
                  <a:srgbClr val="1D1D1D"/>
                </a:solidFill>
                <a:latin typeface="Roboto Mono" pitchFamily="34" charset="0"/>
                <a:ea typeface="Roboto Mono" pitchFamily="34" charset="-122"/>
                <a:cs typeface="Roboto Mono" pitchFamily="34" charset="-120"/>
              </a:rPr>
              <a:t>Next i</a:t>
            </a:r>
            <a:endParaRPr lang="en-US" sz="1350" dirty="0"/>
          </a:p>
        </p:txBody>
      </p:sp>
      <p:sp>
        <p:nvSpPr>
          <p:cNvPr id="9" name="Text 6"/>
          <p:cNvSpPr/>
          <p:nvPr/>
        </p:nvSpPr>
        <p:spPr>
          <a:xfrm>
            <a:off x="7680960" y="1234440"/>
            <a:ext cx="3840480" cy="1463040"/>
          </a:xfrm>
          <a:prstGeom prst="rect">
            <a:avLst/>
          </a:prstGeom>
          <a:solidFill>
            <a:srgbClr val="F6F5FC"/>
          </a:solidFill>
          <a:ln w="12700">
            <a:solidFill>
              <a:srgbClr val="494985"/>
            </a:solidFill>
          </a:ln>
        </p:spPr>
        <p:txBody>
          <a:bodyPr wrap="square" lIns="127000" tIns="127000" rIns="127000" bIns="12700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Output</a:t>
            </a:r>
            <a:endParaRPr lang="en-US" sz="1700" dirty="0"/>
          </a:p>
          <a:p>
            <a:pPr indent="0" marL="0">
              <a:buNone/>
            </a:pPr>
            <a:r>
              <a:rPr lang="en-US" sz="1700" dirty="0">
                <a:solidFill>
                  <a:srgbClr val="202124"/>
                </a:solidFill>
                <a:latin typeface="Roboto Mono" pitchFamily="34" charset="0"/>
                <a:ea typeface="Roboto Mono" pitchFamily="34" charset="-122"/>
                <a:cs typeface="Roboto Mono" pitchFamily="34" charset="-120"/>
              </a:rPr>
              <a:t>Ava 10</a:t>
            </a:r>
            <a:endParaRPr lang="en-US" sz="1700" dirty="0"/>
          </a:p>
          <a:p>
            <a:pPr indent="0" marL="0">
              <a:buNone/>
            </a:pPr>
            <a:r>
              <a:rPr lang="en-US" sz="1700" dirty="0">
                <a:solidFill>
                  <a:srgbClr val="202124"/>
                </a:solidFill>
                <a:latin typeface="Roboto Mono" pitchFamily="34" charset="0"/>
                <a:ea typeface="Roboto Mono" pitchFamily="34" charset="-122"/>
                <a:cs typeface="Roboto Mono" pitchFamily="34" charset="-120"/>
              </a:rPr>
              <a:t>Zed 20</a:t>
            </a:r>
            <a:endParaRPr lang="en-US" sz="1700" dirty="0"/>
          </a:p>
        </p:txBody>
      </p:sp>
      <p:sp>
        <p:nvSpPr>
          <p:cNvPr id="10" name="Text 7"/>
          <p:cNvSpPr txBox="1"/>
          <p:nvPr/>
        </p:nvSpPr>
        <p:spPr>
          <a:xfrm>
            <a:off x="7680960" y="2834640"/>
            <a:ext cx="3840480" cy="274320"/>
          </a:xfrm>
          <a:prstGeom prst="rect">
            <a:avLst/>
          </a:prstGeom>
          <a:noFill/>
          <a:ln/>
        </p:spPr>
        <p:txBody>
          <a:bodyPr wrap="square" lIns="0" tIns="0" rIns="0" bIns="0" rtlCol="0" anchor="ctr"/>
          <a:lstStyle/>
          <a:p>
            <a:pPr algn="ctr" indent="0" marL="0">
              <a:buNone/>
            </a:pPr>
            <a:r>
              <a:rPr lang="en-US" sz="1300" i="1" dirty="0">
                <a:solidFill>
                  <a:srgbClr val="666666"/>
                </a:solidFill>
                <a:latin typeface="Quicksand" pitchFamily="34" charset="0"/>
                <a:ea typeface="Quicksand" pitchFamily="34" charset="-122"/>
                <a:cs typeface="Quicksand" pitchFamily="34" charset="-120"/>
              </a:rPr>
              <a:t>Predict first, then reveal</a:t>
            </a:r>
            <a:endParaRPr lang="en-US" sz="1300" dirty="0"/>
          </a:p>
        </p:txBody>
      </p:sp>
      <p:sp>
        <p:nvSpPr>
          <p:cNvPr id="11" name="Shape 8"/>
          <p:cNvSpPr/>
          <p:nvPr/>
        </p:nvSpPr>
        <p:spPr>
          <a:xfrm>
            <a:off x="777240" y="4709160"/>
            <a:ext cx="10744200" cy="1280160"/>
          </a:xfrm>
          <a:prstGeom prst="rect">
            <a:avLst/>
          </a:prstGeom>
          <a:solidFill>
            <a:srgbClr val="F6F5FC"/>
          </a:solidFill>
          <a:ln w="12700">
            <a:solidFill>
              <a:srgbClr val="F6F5FC"/>
            </a:solidFill>
            <a:prstDash val="solid"/>
          </a:ln>
        </p:spPr>
      </p:sp>
      <p:sp>
        <p:nvSpPr>
          <p:cNvPr id="12" name="Shape 9"/>
          <p:cNvSpPr/>
          <p:nvPr/>
        </p:nvSpPr>
        <p:spPr>
          <a:xfrm>
            <a:off x="777240" y="4709160"/>
            <a:ext cx="73152" cy="1280160"/>
          </a:xfrm>
          <a:prstGeom prst="rect">
            <a:avLst/>
          </a:prstGeom>
          <a:solidFill>
            <a:srgbClr val="2E7D5B"/>
          </a:solidFill>
          <a:ln w="12700">
            <a:solidFill>
              <a:srgbClr val="2E7D5B"/>
            </a:solidFill>
            <a:prstDash val="solid"/>
          </a:ln>
        </p:spPr>
      </p:sp>
      <p:sp>
        <p:nvSpPr>
          <p:cNvPr id="13" name="Text 10"/>
          <p:cNvSpPr txBox="1"/>
          <p:nvPr/>
        </p:nvSpPr>
        <p:spPr>
          <a:xfrm>
            <a:off x="1005840" y="4800600"/>
            <a:ext cx="10378440" cy="347472"/>
          </a:xfrm>
          <a:prstGeom prst="rect">
            <a:avLst/>
          </a:prstGeom>
          <a:noFill/>
          <a:ln/>
        </p:spPr>
        <p:txBody>
          <a:bodyPr wrap="square" lIns="0" tIns="0" rIns="0" bIns="0" rtlCol="0" anchor="ctr"/>
          <a:lstStyle/>
          <a:p>
            <a:pPr indent="0" marL="0">
              <a:buNone/>
            </a:pPr>
            <a:r>
              <a:rPr lang="en-US" sz="1500" b="1" dirty="0">
                <a:solidFill>
                  <a:srgbClr val="2E7D5B"/>
                </a:solidFill>
                <a:latin typeface="Quicksand" pitchFamily="34" charset="0"/>
                <a:ea typeface="Quicksand" pitchFamily="34" charset="-122"/>
                <a:cs typeface="Quicksand" pitchFamily="34" charset="-120"/>
              </a:rPr>
              <a:t>Same call, different behaviour</a:t>
            </a:r>
            <a:endParaRPr lang="en-US" sz="1500" dirty="0"/>
          </a:p>
        </p:txBody>
      </p:sp>
      <p:sp>
        <p:nvSpPr>
          <p:cNvPr id="14" name="Text 11"/>
          <p:cNvSpPr txBox="1"/>
          <p:nvPr/>
        </p:nvSpPr>
        <p:spPr>
          <a:xfrm>
            <a:off x="1005840" y="5212080"/>
            <a:ext cx="10378440" cy="685800"/>
          </a:xfrm>
          <a:prstGeom prst="rect">
            <a:avLst/>
          </a:prstGeom>
          <a:noFill/>
          <a:ln/>
        </p:spPr>
        <p:txBody>
          <a:bodyPr wrap="square" lIns="0" tIns="0" rIns="0" bIns="0" rtlCol="0" anchor="t"/>
          <a:lstStyle/>
          <a:p>
            <a:pPr indent="0" marL="0">
              <a:spcAft>
                <a:spcPts val="600"/>
              </a:spcAft>
              <a:buNone/>
            </a:pPr>
            <a:r>
              <a:rPr lang="en-US" sz="1400" dirty="0">
                <a:solidFill>
                  <a:srgbClr val="202124"/>
                </a:solidFill>
                <a:latin typeface="Quicksand" pitchFamily="34" charset="0"/>
                <a:ea typeface="Quicksand" pitchFamily="34" charset="-122"/>
                <a:cs typeface="Quicksand" pitchFamily="34" charset="-120"/>
              </a:rPr>
              <a:t>Team(i).AddPoints(10) is the same line for both objects. Ava runs Player's version; Zed runs Wizard's version, which doubles the points.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Overloading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9</a:t>
            </a:r>
            <a:endParaRPr lang="en-US" sz="1350" dirty="0"/>
          </a:p>
        </p:txBody>
      </p:sp>
      <p:sp>
        <p:nvSpPr>
          <p:cNvPr id="7" name="Shape 4"/>
          <p:cNvSpPr/>
          <p:nvPr/>
        </p:nvSpPr>
        <p:spPr>
          <a:xfrm>
            <a:off x="777240" y="1234440"/>
            <a:ext cx="6400800" cy="384048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25880"/>
            <a:ext cx="6126480" cy="3657600"/>
          </a:xfrm>
          <a:prstGeom prst="rect">
            <a:avLst/>
          </a:prstGeom>
          <a:noFill/>
          <a:ln/>
        </p:spPr>
        <p:txBody>
          <a:bodyPr wrap="square" lIns="0" tIns="0" rIns="0" bIns="0" rtlCol="0" anchor="t"/>
          <a:lstStyle/>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Public Overloads Sub Heal()</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Lives = Lives + 1</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End Sub</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Public Overloads Sub Heal(Amount As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Lives = Lives + Amount</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End Sub</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666666"/>
                </a:solidFill>
                <a:latin typeface="Roboto Mono" pitchFamily="34" charset="0"/>
                <a:ea typeface="Roboto Mono" pitchFamily="34" charset="-122"/>
                <a:cs typeface="Roboto Mono" pitchFamily="34" charset="-120"/>
              </a:rPr>
              <a:t>' two constructors - no Overloads keyword</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Public Sub New(PName As String)</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Public Sub New(PName As String, PLives As Integer)</a:t>
            </a:r>
            <a:endParaRPr lang="en-US" sz="1250" dirty="0"/>
          </a:p>
        </p:txBody>
      </p:sp>
      <p:sp>
        <p:nvSpPr>
          <p:cNvPr id="9" name="Shape 6"/>
          <p:cNvSpPr/>
          <p:nvPr/>
        </p:nvSpPr>
        <p:spPr>
          <a:xfrm>
            <a:off x="7452360" y="1234440"/>
            <a:ext cx="4069080" cy="91440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0" name="Text 7"/>
          <p:cNvSpPr txBox="1"/>
          <p:nvPr/>
        </p:nvSpPr>
        <p:spPr>
          <a:xfrm>
            <a:off x="7589520" y="1325880"/>
            <a:ext cx="3794760" cy="73152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P1.Heal()        ' adds 1</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P1.Heal(3)       ' adds 3</a:t>
            </a:r>
            <a:endParaRPr lang="en-US" sz="1300" dirty="0"/>
          </a:p>
        </p:txBody>
      </p:sp>
      <p:sp>
        <p:nvSpPr>
          <p:cNvPr id="11" name="Shape 8"/>
          <p:cNvSpPr/>
          <p:nvPr/>
        </p:nvSpPr>
        <p:spPr>
          <a:xfrm>
            <a:off x="7452360" y="2377440"/>
            <a:ext cx="4069080" cy="2697480"/>
          </a:xfrm>
          <a:prstGeom prst="rect">
            <a:avLst/>
          </a:prstGeom>
          <a:solidFill>
            <a:srgbClr val="F6F5FC"/>
          </a:solidFill>
          <a:ln w="12700">
            <a:solidFill>
              <a:srgbClr val="F6F5FC"/>
            </a:solidFill>
            <a:prstDash val="solid"/>
          </a:ln>
        </p:spPr>
      </p:sp>
      <p:sp>
        <p:nvSpPr>
          <p:cNvPr id="12" name="Shape 9"/>
          <p:cNvSpPr/>
          <p:nvPr/>
        </p:nvSpPr>
        <p:spPr>
          <a:xfrm>
            <a:off x="7452360" y="2377440"/>
            <a:ext cx="73152" cy="2697480"/>
          </a:xfrm>
          <a:prstGeom prst="rect">
            <a:avLst/>
          </a:prstGeom>
          <a:solidFill>
            <a:srgbClr val="494985"/>
          </a:solidFill>
          <a:ln w="12700">
            <a:solidFill>
              <a:srgbClr val="494985"/>
            </a:solidFill>
            <a:prstDash val="solid"/>
          </a:ln>
        </p:spPr>
      </p:sp>
      <p:sp>
        <p:nvSpPr>
          <p:cNvPr id="13" name="Text 10"/>
          <p:cNvSpPr txBox="1"/>
          <p:nvPr/>
        </p:nvSpPr>
        <p:spPr>
          <a:xfrm>
            <a:off x="7680960" y="2468880"/>
            <a:ext cx="37033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Overloading</a:t>
            </a:r>
            <a:endParaRPr lang="en-US" sz="1500" dirty="0"/>
          </a:p>
        </p:txBody>
      </p:sp>
      <p:sp>
        <p:nvSpPr>
          <p:cNvPr id="14" name="Text 11"/>
          <p:cNvSpPr txBox="1"/>
          <p:nvPr/>
        </p:nvSpPr>
        <p:spPr>
          <a:xfrm>
            <a:off x="7680960" y="2880360"/>
            <a:ext cx="3703320" cy="2103120"/>
          </a:xfrm>
          <a:prstGeom prst="rect">
            <a:avLst/>
          </a:prstGeom>
          <a:noFill/>
          <a:ln/>
        </p:spPr>
        <p:txBody>
          <a:bodyPr wrap="square" lIns="0" tIns="0" rIns="0" bIns="0" rtlCol="0" anchor="t"/>
          <a:lstStyle/>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Same method name, different parameters</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In the same class</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The call's parameters decide which version runs</a:t>
            </a:r>
            <a:endParaRPr lang="en-US" sz="1350" dirty="0"/>
          </a:p>
        </p:txBody>
      </p:sp>
      <p:sp>
        <p:nvSpPr>
          <p:cNvPr id="15" name="Text 12"/>
          <p:cNvSpPr txBox="1"/>
          <p:nvPr/>
        </p:nvSpPr>
        <p:spPr>
          <a:xfrm>
            <a:off x="777240" y="5349240"/>
            <a:ext cx="10744200" cy="54864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Overloading: same name, different parameters.  Overriding: same name, same parameters, in a derived class.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Containment (aggregation)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10</a:t>
            </a:r>
            <a:endParaRPr lang="en-US" sz="1350" dirty="0"/>
          </a:p>
        </p:txBody>
      </p:sp>
      <p:sp>
        <p:nvSpPr>
          <p:cNvPr id="7" name="Shape 4"/>
          <p:cNvSpPr/>
          <p:nvPr/>
        </p:nvSpPr>
        <p:spPr>
          <a:xfrm>
            <a:off x="777240" y="1234440"/>
            <a:ext cx="6309360" cy="475488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25880"/>
            <a:ext cx="6035040" cy="457200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Class Team</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Private TeamName As String</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    Private Members(4) As Player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Private NumberMembers As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Public Sub New(TName As String)</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TeamName = TName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NumberMembers = 0</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 Sub</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Public Sub AddMember(NewPlayer As Player)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Members(NumberMembers) = NewPlayer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NumberMembers = NumberMembers + 1</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 Sub</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End Class</a:t>
            </a:r>
            <a:endParaRPr lang="en-US" sz="1250" dirty="0"/>
          </a:p>
        </p:txBody>
      </p:sp>
      <p:sp>
        <p:nvSpPr>
          <p:cNvPr id="9" name="Text 6"/>
          <p:cNvSpPr/>
          <p:nvPr/>
        </p:nvSpPr>
        <p:spPr>
          <a:xfrm>
            <a:off x="7726680" y="1394460"/>
            <a:ext cx="3291840" cy="86868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Team</a:t>
            </a:r>
            <a:endParaRPr lang="en-US" sz="1300" dirty="0"/>
          </a:p>
          <a:p>
            <a:pPr algn="ctr" indent="0" marL="0">
              <a:buNone/>
            </a:pPr>
            <a:r>
              <a:rPr lang="en-US" sz="1300" b="1" dirty="0">
                <a:solidFill>
                  <a:srgbClr val="202124"/>
                </a:solidFill>
                <a:latin typeface="Quicksand" pitchFamily="34" charset="0"/>
                <a:ea typeface="Quicksand" pitchFamily="34" charset="-122"/>
                <a:cs typeface="Quicksand" pitchFamily="34" charset="-120"/>
              </a:rPr>
              <a:t>- Members(0:4) : Player</a:t>
            </a:r>
            <a:endParaRPr lang="en-US" sz="1300" dirty="0"/>
          </a:p>
        </p:txBody>
      </p:sp>
      <p:sp>
        <p:nvSpPr>
          <p:cNvPr id="10" name="Text 7"/>
          <p:cNvSpPr/>
          <p:nvPr/>
        </p:nvSpPr>
        <p:spPr>
          <a:xfrm>
            <a:off x="7726680" y="3177540"/>
            <a:ext cx="3291840" cy="105156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Player</a:t>
            </a:r>
            <a:endParaRPr lang="en-US" sz="1300" dirty="0"/>
          </a:p>
          <a:p>
            <a:pPr algn="ctr" indent="0" marL="0">
              <a:buNone/>
            </a:pPr>
            <a:r>
              <a:rPr lang="en-US" sz="1300" b="1" dirty="0">
                <a:solidFill>
                  <a:srgbClr val="202124"/>
                </a:solidFill>
                <a:latin typeface="Quicksand" pitchFamily="34" charset="0"/>
                <a:ea typeface="Quicksand" pitchFamily="34" charset="-122"/>
                <a:cs typeface="Quicksand" pitchFamily="34" charset="-120"/>
              </a:rPr>
              <a:t>- Name : STRING</a:t>
            </a:r>
            <a:endParaRPr lang="en-US" sz="1300" dirty="0"/>
          </a:p>
          <a:p>
            <a:pPr algn="ctr" indent="0" marL="0">
              <a:buNone/>
            </a:pPr>
            <a:r>
              <a:rPr lang="en-US" sz="1300" b="1" dirty="0">
                <a:solidFill>
                  <a:srgbClr val="202124"/>
                </a:solidFill>
                <a:latin typeface="Quicksand" pitchFamily="34" charset="0"/>
                <a:ea typeface="Quicksand" pitchFamily="34" charset="-122"/>
                <a:cs typeface="Quicksand" pitchFamily="34" charset="-120"/>
              </a:rPr>
              <a:t>- Score : INTEGER</a:t>
            </a:r>
            <a:endParaRPr lang="en-US" sz="1300" dirty="0"/>
          </a:p>
        </p:txBody>
      </p:sp>
      <p:sp>
        <p:nvSpPr>
          <p:cNvPr id="11" name="Shape 8"/>
          <p:cNvSpPr/>
          <p:nvPr/>
        </p:nvSpPr>
        <p:spPr>
          <a:xfrm>
            <a:off x="9372600" y="2267712"/>
            <a:ext cx="914" cy="905256"/>
          </a:xfrm>
          <a:prstGeom prst="line">
            <a:avLst/>
          </a:prstGeom>
          <a:noFill/>
          <a:ln w="22225">
            <a:solidFill>
              <a:srgbClr val="494985"/>
            </a:solidFill>
            <a:prstDash val="solid"/>
          </a:ln>
        </p:spPr>
      </p:sp>
      <p:sp>
        <p:nvSpPr>
          <p:cNvPr id="12" name="Shape 9"/>
          <p:cNvSpPr/>
          <p:nvPr/>
        </p:nvSpPr>
        <p:spPr>
          <a:xfrm>
            <a:off x="9235440" y="2267712"/>
            <a:ext cx="274320" cy="274320"/>
          </a:xfrm>
          <a:prstGeom prst="diamond">
            <a:avLst/>
          </a:prstGeom>
          <a:solidFill>
            <a:srgbClr val="494985"/>
          </a:solidFill>
          <a:ln w="12700">
            <a:solidFill>
              <a:srgbClr val="494985"/>
            </a:solidFill>
            <a:prstDash val="solid"/>
          </a:ln>
        </p:spPr>
      </p:sp>
      <p:sp>
        <p:nvSpPr>
          <p:cNvPr id="13" name="Text 10"/>
          <p:cNvSpPr txBox="1"/>
          <p:nvPr/>
        </p:nvSpPr>
        <p:spPr>
          <a:xfrm>
            <a:off x="9555480" y="2606040"/>
            <a:ext cx="2103120" cy="274320"/>
          </a:xfrm>
          <a:prstGeom prst="rect">
            <a:avLst/>
          </a:prstGeom>
          <a:noFill/>
          <a:ln/>
        </p:spPr>
        <p:txBody>
          <a:bodyPr wrap="square" lIns="0" tIns="0" rIns="0" bIns="0" rtlCol="0" anchor="ctr"/>
          <a:lstStyle/>
          <a:p>
            <a:pPr algn="l" indent="0" marL="0">
              <a:buNone/>
            </a:pPr>
            <a:r>
              <a:rPr lang="en-US" sz="1200" i="1" dirty="0">
                <a:solidFill>
                  <a:srgbClr val="666666"/>
                </a:solidFill>
                <a:latin typeface="Quicksand" pitchFamily="34" charset="0"/>
                <a:ea typeface="Quicksand" pitchFamily="34" charset="-122"/>
                <a:cs typeface="Quicksand" pitchFamily="34" charset="-120"/>
              </a:rPr>
              <a:t>has 0 to 5</a:t>
            </a:r>
            <a:endParaRPr lang="en-US" sz="1200" dirty="0"/>
          </a:p>
        </p:txBody>
      </p:sp>
      <p:sp>
        <p:nvSpPr>
          <p:cNvPr id="14" name="Shape 11"/>
          <p:cNvSpPr/>
          <p:nvPr/>
        </p:nvSpPr>
        <p:spPr>
          <a:xfrm>
            <a:off x="7452360" y="4480560"/>
            <a:ext cx="4069080" cy="1508760"/>
          </a:xfrm>
          <a:prstGeom prst="rect">
            <a:avLst/>
          </a:prstGeom>
          <a:solidFill>
            <a:srgbClr val="F6F5FC"/>
          </a:solidFill>
          <a:ln w="12700">
            <a:solidFill>
              <a:srgbClr val="F6F5FC"/>
            </a:solidFill>
            <a:prstDash val="solid"/>
          </a:ln>
        </p:spPr>
      </p:sp>
      <p:sp>
        <p:nvSpPr>
          <p:cNvPr id="15" name="Shape 12"/>
          <p:cNvSpPr/>
          <p:nvPr/>
        </p:nvSpPr>
        <p:spPr>
          <a:xfrm>
            <a:off x="7452360" y="4480560"/>
            <a:ext cx="73152" cy="1508760"/>
          </a:xfrm>
          <a:prstGeom prst="rect">
            <a:avLst/>
          </a:prstGeom>
          <a:solidFill>
            <a:srgbClr val="2E7D5B"/>
          </a:solidFill>
          <a:ln w="12700">
            <a:solidFill>
              <a:srgbClr val="2E7D5B"/>
            </a:solidFill>
            <a:prstDash val="solid"/>
          </a:ln>
        </p:spPr>
      </p:sp>
      <p:sp>
        <p:nvSpPr>
          <p:cNvPr id="16" name="Text 13"/>
          <p:cNvSpPr txBox="1"/>
          <p:nvPr/>
        </p:nvSpPr>
        <p:spPr>
          <a:xfrm>
            <a:off x="7680960" y="4572000"/>
            <a:ext cx="3703320" cy="347472"/>
          </a:xfrm>
          <a:prstGeom prst="rect">
            <a:avLst/>
          </a:prstGeom>
          <a:noFill/>
          <a:ln/>
        </p:spPr>
        <p:txBody>
          <a:bodyPr wrap="square" lIns="0" tIns="0" rIns="0" bIns="0" rtlCol="0" anchor="ctr"/>
          <a:lstStyle/>
          <a:p>
            <a:pPr indent="0" marL="0">
              <a:buNone/>
            </a:pPr>
            <a:r>
              <a:rPr lang="en-US" sz="1500" b="1" dirty="0">
                <a:solidFill>
                  <a:srgbClr val="2E7D5B"/>
                </a:solidFill>
                <a:latin typeface="Quicksand" pitchFamily="34" charset="0"/>
                <a:ea typeface="Quicksand" pitchFamily="34" charset="-122"/>
                <a:cs typeface="Quicksand" pitchFamily="34" charset="-120"/>
              </a:rPr>
              <a:t>A Team HAS Players</a:t>
            </a:r>
            <a:endParaRPr lang="en-US" sz="1500" dirty="0"/>
          </a:p>
        </p:txBody>
      </p:sp>
      <p:sp>
        <p:nvSpPr>
          <p:cNvPr id="17" name="Text 14"/>
          <p:cNvSpPr txBox="1"/>
          <p:nvPr/>
        </p:nvSpPr>
        <p:spPr>
          <a:xfrm>
            <a:off x="7680960" y="4983480"/>
            <a:ext cx="3703320" cy="914400"/>
          </a:xfrm>
          <a:prstGeom prst="rect">
            <a:avLst/>
          </a:prstGeom>
          <a:noFill/>
          <a:ln/>
        </p:spPr>
        <p:txBody>
          <a:bodyPr wrap="square" lIns="0" tIns="0" rIns="0" bIns="0" rtlCol="0" anchor="t"/>
          <a:lstStyle/>
          <a:p>
            <a:pPr indent="0" marL="0">
              <a:spcAft>
                <a:spcPts val="600"/>
              </a:spcAft>
              <a:buNone/>
            </a:pPr>
            <a:r>
              <a:rPr lang="en-US" sz="1350" dirty="0">
                <a:solidFill>
                  <a:srgbClr val="202124"/>
                </a:solidFill>
                <a:latin typeface="Quicksand" pitchFamily="34" charset="0"/>
                <a:ea typeface="Quicksand" pitchFamily="34" charset="-122"/>
                <a:cs typeface="Quicksand" pitchFamily="34" charset="-120"/>
              </a:rPr>
              <a:t>One class contains objects of another class as attributes.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Choosing the right feature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11</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1234440"/>
          <a:ext cx="10744200" cy="914400"/>
        </p:xfrm>
        <a:graphic>
          <a:graphicData uri="http://schemas.openxmlformats.org/drawingml/2006/table">
            <a:tbl>
              <a:tblPr/>
              <a:tblGrid>
                <a:gridCol w="2148840"/>
                <a:gridCol w="4297680"/>
                <a:gridCol w="4297680"/>
              </a:tblGrid>
              <a:tr h="457200">
                <a:tc>
                  <a:txBody>
                    <a:bodyPr/>
                    <a:lstStyle/>
                    <a:p>
                      <a:pPr indent="0" marL="0">
                        <a:buNone/>
                      </a:pP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Inheritance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Containment</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Relationship</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IS A  (a Wizard is a Player)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HAS A  (a Team has Players)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In VB.NET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Inherits Player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Private Members(4) As Player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Example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Circle and Shape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Aeroplane and Wing</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777240" y="3520440"/>
          <a:ext cx="10744200" cy="914400"/>
        </p:xfrm>
        <a:graphic>
          <a:graphicData uri="http://schemas.openxmlformats.org/drawingml/2006/table">
            <a:tbl>
              <a:tblPr/>
              <a:tblGrid>
                <a:gridCol w="2148840"/>
                <a:gridCol w="4297680"/>
                <a:gridCol w="4297680"/>
              </a:tblGrid>
              <a:tr h="457200">
                <a:tc>
                  <a:txBody>
                    <a:bodyPr/>
                    <a:lstStyle/>
                    <a:p>
                      <a:pPr indent="0" marL="0">
                        <a:buNone/>
                      </a:pP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Overriding (polymorphism)</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Overloading</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Where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Derived class redefines a base class method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Several versions in the same class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Parameters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Same name, same parameters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Same name, different parameters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VB.NET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Overridable ... Overrides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Overloads (optional)</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A binary tree with classes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12</a:t>
            </a:r>
            <a:endParaRPr lang="en-US" sz="1350" dirty="0"/>
          </a:p>
        </p:txBody>
      </p:sp>
      <p:sp>
        <p:nvSpPr>
          <p:cNvPr id="7" name="Text 4"/>
          <p:cNvSpPr/>
          <p:nvPr/>
        </p:nvSpPr>
        <p:spPr>
          <a:xfrm>
            <a:off x="822960" y="1325880"/>
            <a:ext cx="3749040" cy="182880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250" b="1" dirty="0">
                <a:solidFill>
                  <a:srgbClr val="202124"/>
                </a:solidFill>
                <a:latin typeface="Quicksand" pitchFamily="34" charset="0"/>
                <a:ea typeface="Quicksand" pitchFamily="34" charset="-122"/>
                <a:cs typeface="Quicksand" pitchFamily="34" charset="-120"/>
              </a:rPr>
              <a:t>Node</a:t>
            </a:r>
            <a:endParaRPr lang="en-US" sz="1250" dirty="0"/>
          </a:p>
          <a:p>
            <a:pPr algn="ctr" indent="0" marL="0">
              <a:buNone/>
            </a:pPr>
            <a:r>
              <a:rPr lang="en-US" sz="1250" b="1" dirty="0">
                <a:solidFill>
                  <a:srgbClr val="202124"/>
                </a:solidFill>
                <a:latin typeface="Quicksand" pitchFamily="34" charset="0"/>
                <a:ea typeface="Quicksand" pitchFamily="34" charset="-122"/>
                <a:cs typeface="Quicksand" pitchFamily="34" charset="-120"/>
              </a:rPr>
              <a:t>- LeftPointer : INTEGER</a:t>
            </a:r>
            <a:endParaRPr lang="en-US" sz="1250" dirty="0"/>
          </a:p>
          <a:p>
            <a:pPr algn="ctr" indent="0" marL="0">
              <a:buNone/>
            </a:pPr>
            <a:r>
              <a:rPr lang="en-US" sz="1250" b="1" dirty="0">
                <a:solidFill>
                  <a:srgbClr val="202124"/>
                </a:solidFill>
                <a:latin typeface="Quicksand" pitchFamily="34" charset="0"/>
                <a:ea typeface="Quicksand" pitchFamily="34" charset="-122"/>
                <a:cs typeface="Quicksand" pitchFamily="34" charset="-120"/>
              </a:rPr>
              <a:t>- Data : INTEGER</a:t>
            </a:r>
            <a:endParaRPr lang="en-US" sz="1250" dirty="0"/>
          </a:p>
          <a:p>
            <a:pPr algn="ctr" indent="0" marL="0">
              <a:buNone/>
            </a:pPr>
            <a:r>
              <a:rPr lang="en-US" sz="1250" b="1" dirty="0">
                <a:solidFill>
                  <a:srgbClr val="202124"/>
                </a:solidFill>
                <a:latin typeface="Quicksand" pitchFamily="34" charset="0"/>
                <a:ea typeface="Quicksand" pitchFamily="34" charset="-122"/>
                <a:cs typeface="Quicksand" pitchFamily="34" charset="-120"/>
              </a:rPr>
              <a:t>- RightPointer : INTEGER</a:t>
            </a:r>
            <a:endParaRPr lang="en-US" sz="1250" dirty="0"/>
          </a:p>
          <a:p>
            <a:pPr algn="ctr" indent="0" marL="0">
              <a:buNone/>
            </a:pPr>
            <a:r>
              <a:rPr lang="en-US" sz="1250" b="1" dirty="0">
                <a:solidFill>
                  <a:srgbClr val="202124"/>
                </a:solidFill>
                <a:latin typeface="Quicksand" pitchFamily="34" charset="0"/>
                <a:ea typeface="Quicksand" pitchFamily="34" charset="-122"/>
                <a:cs typeface="Quicksand" pitchFamily="34" charset="-120"/>
              </a:rPr>
              <a:t>+ GetLeft()  GetRight()  GetData()</a:t>
            </a:r>
            <a:endParaRPr lang="en-US" sz="1250" dirty="0"/>
          </a:p>
          <a:p>
            <a:pPr algn="ctr" indent="0" marL="0">
              <a:buNone/>
            </a:pPr>
            <a:r>
              <a:rPr lang="en-US" sz="1250" b="1" dirty="0">
                <a:solidFill>
                  <a:srgbClr val="202124"/>
                </a:solidFill>
                <a:latin typeface="Quicksand" pitchFamily="34" charset="0"/>
                <a:ea typeface="Quicksand" pitchFamily="34" charset="-122"/>
                <a:cs typeface="Quicksand" pitchFamily="34" charset="-120"/>
              </a:rPr>
              <a:t>+ SetLeft()  SetRight()  SetData()</a:t>
            </a:r>
            <a:endParaRPr lang="en-US" sz="1250" dirty="0"/>
          </a:p>
        </p:txBody>
      </p:sp>
      <p:sp>
        <p:nvSpPr>
          <p:cNvPr id="8" name="Text 5"/>
          <p:cNvSpPr/>
          <p:nvPr/>
        </p:nvSpPr>
        <p:spPr>
          <a:xfrm>
            <a:off x="822960" y="4023360"/>
            <a:ext cx="3749040" cy="173736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50" b="1" dirty="0">
                <a:solidFill>
                  <a:srgbClr val="202124"/>
                </a:solidFill>
                <a:latin typeface="Quicksand" pitchFamily="34" charset="0"/>
                <a:ea typeface="Quicksand" pitchFamily="34" charset="-122"/>
                <a:cs typeface="Quicksand" pitchFamily="34" charset="-120"/>
              </a:rPr>
              <a:t>TreeClass</a:t>
            </a:r>
            <a:endParaRPr lang="en-US" sz="1250" dirty="0"/>
          </a:p>
          <a:p>
            <a:pPr algn="ctr" indent="0" marL="0">
              <a:buNone/>
            </a:pPr>
            <a:r>
              <a:rPr lang="en-US" sz="1250" b="1" dirty="0">
                <a:solidFill>
                  <a:srgbClr val="202124"/>
                </a:solidFill>
                <a:latin typeface="Quicksand" pitchFamily="34" charset="0"/>
                <a:ea typeface="Quicksand" pitchFamily="34" charset="-122"/>
                <a:cs typeface="Quicksand" pitchFamily="34" charset="-120"/>
              </a:rPr>
              <a:t>- Tree(0:19) : Node</a:t>
            </a:r>
            <a:endParaRPr lang="en-US" sz="1250" dirty="0"/>
          </a:p>
          <a:p>
            <a:pPr algn="ctr" indent="0" marL="0">
              <a:buNone/>
            </a:pPr>
            <a:r>
              <a:rPr lang="en-US" sz="1250" b="1" dirty="0">
                <a:solidFill>
                  <a:srgbClr val="202124"/>
                </a:solidFill>
                <a:latin typeface="Quicksand" pitchFamily="34" charset="0"/>
                <a:ea typeface="Quicksand" pitchFamily="34" charset="-122"/>
                <a:cs typeface="Quicksand" pitchFamily="34" charset="-120"/>
              </a:rPr>
              <a:t>- FirstNode : INTEGER</a:t>
            </a:r>
            <a:endParaRPr lang="en-US" sz="1250" dirty="0"/>
          </a:p>
          <a:p>
            <a:pPr algn="ctr" indent="0" marL="0">
              <a:buNone/>
            </a:pPr>
            <a:r>
              <a:rPr lang="en-US" sz="1250" b="1" dirty="0">
                <a:solidFill>
                  <a:srgbClr val="202124"/>
                </a:solidFill>
                <a:latin typeface="Quicksand" pitchFamily="34" charset="0"/>
                <a:ea typeface="Quicksand" pitchFamily="34" charset="-122"/>
                <a:cs typeface="Quicksand" pitchFamily="34" charset="-120"/>
              </a:rPr>
              <a:t>- NumberNodes : INTEGER</a:t>
            </a:r>
            <a:endParaRPr lang="en-US" sz="1250" dirty="0"/>
          </a:p>
          <a:p>
            <a:pPr algn="ctr" indent="0" marL="0">
              <a:buNone/>
            </a:pPr>
            <a:r>
              <a:rPr lang="en-US" sz="1250" b="1" dirty="0">
                <a:solidFill>
                  <a:srgbClr val="202124"/>
                </a:solidFill>
                <a:latin typeface="Quicksand" pitchFamily="34" charset="0"/>
                <a:ea typeface="Quicksand" pitchFamily="34" charset="-122"/>
                <a:cs typeface="Quicksand" pitchFamily="34" charset="-120"/>
              </a:rPr>
              <a:t>+ InsertNode(NewNode)</a:t>
            </a:r>
            <a:endParaRPr lang="en-US" sz="1250" dirty="0"/>
          </a:p>
          <a:p>
            <a:pPr algn="ctr" indent="0" marL="0">
              <a:buNone/>
            </a:pPr>
            <a:r>
              <a:rPr lang="en-US" sz="1250" b="1" dirty="0">
                <a:solidFill>
                  <a:srgbClr val="202124"/>
                </a:solidFill>
                <a:latin typeface="Quicksand" pitchFamily="34" charset="0"/>
                <a:ea typeface="Quicksand" pitchFamily="34" charset="-122"/>
                <a:cs typeface="Quicksand" pitchFamily="34" charset="-120"/>
              </a:rPr>
              <a:t>+ OutputTree()</a:t>
            </a:r>
            <a:endParaRPr lang="en-US" sz="1250" dirty="0"/>
          </a:p>
        </p:txBody>
      </p:sp>
      <p:sp>
        <p:nvSpPr>
          <p:cNvPr id="9" name="Shape 6"/>
          <p:cNvSpPr/>
          <p:nvPr/>
        </p:nvSpPr>
        <p:spPr>
          <a:xfrm flipV="1">
            <a:off x="2697480" y="3154680"/>
            <a:ext cx="914" cy="868680"/>
          </a:xfrm>
          <a:prstGeom prst="line">
            <a:avLst/>
          </a:prstGeom>
          <a:noFill/>
          <a:ln w="22225">
            <a:solidFill>
              <a:srgbClr val="494985"/>
            </a:solidFill>
            <a:prstDash val="solid"/>
          </a:ln>
        </p:spPr>
      </p:sp>
      <p:sp>
        <p:nvSpPr>
          <p:cNvPr id="10" name="Shape 7"/>
          <p:cNvSpPr/>
          <p:nvPr/>
        </p:nvSpPr>
        <p:spPr>
          <a:xfrm>
            <a:off x="2560320" y="3767328"/>
            <a:ext cx="274320" cy="274320"/>
          </a:xfrm>
          <a:prstGeom prst="diamond">
            <a:avLst/>
          </a:prstGeom>
          <a:solidFill>
            <a:srgbClr val="494985"/>
          </a:solidFill>
          <a:ln w="12700">
            <a:solidFill>
              <a:srgbClr val="494985"/>
            </a:solidFill>
            <a:prstDash val="solid"/>
          </a:ln>
        </p:spPr>
      </p:sp>
      <p:sp>
        <p:nvSpPr>
          <p:cNvPr id="11" name="Text 8"/>
          <p:cNvSpPr txBox="1"/>
          <p:nvPr/>
        </p:nvSpPr>
        <p:spPr>
          <a:xfrm>
            <a:off x="2880360" y="3429000"/>
            <a:ext cx="1828800" cy="274320"/>
          </a:xfrm>
          <a:prstGeom prst="rect">
            <a:avLst/>
          </a:prstGeom>
          <a:noFill/>
          <a:ln/>
        </p:spPr>
        <p:txBody>
          <a:bodyPr wrap="square" lIns="0" tIns="0" rIns="0" bIns="0" rtlCol="0" anchor="ctr"/>
          <a:lstStyle/>
          <a:p>
            <a:pPr algn="l" indent="0" marL="0">
              <a:buNone/>
            </a:pPr>
            <a:r>
              <a:rPr lang="en-US" sz="1200" i="1" dirty="0">
                <a:solidFill>
                  <a:srgbClr val="666666"/>
                </a:solidFill>
                <a:latin typeface="Quicksand" pitchFamily="34" charset="0"/>
                <a:ea typeface="Quicksand" pitchFamily="34" charset="-122"/>
                <a:cs typeface="Quicksand" pitchFamily="34" charset="-120"/>
              </a:rPr>
              <a:t>contains 20</a:t>
            </a:r>
            <a:endParaRPr lang="en-US" sz="1200" dirty="0"/>
          </a:p>
        </p:txBody>
      </p:sp>
      <p:sp>
        <p:nvSpPr>
          <p:cNvPr id="12" name="Shape 9"/>
          <p:cNvSpPr/>
          <p:nvPr/>
        </p:nvSpPr>
        <p:spPr>
          <a:xfrm>
            <a:off x="5029200" y="1325880"/>
            <a:ext cx="6492240" cy="2194560"/>
          </a:xfrm>
          <a:prstGeom prst="rect">
            <a:avLst/>
          </a:prstGeom>
          <a:solidFill>
            <a:srgbClr val="F6F5FC"/>
          </a:solidFill>
          <a:ln w="12700">
            <a:solidFill>
              <a:srgbClr val="F6F5FC"/>
            </a:solidFill>
            <a:prstDash val="solid"/>
          </a:ln>
        </p:spPr>
      </p:sp>
      <p:sp>
        <p:nvSpPr>
          <p:cNvPr id="13" name="Shape 10"/>
          <p:cNvSpPr/>
          <p:nvPr/>
        </p:nvSpPr>
        <p:spPr>
          <a:xfrm>
            <a:off x="5029200" y="1325880"/>
            <a:ext cx="73152" cy="2194560"/>
          </a:xfrm>
          <a:prstGeom prst="rect">
            <a:avLst/>
          </a:prstGeom>
          <a:solidFill>
            <a:srgbClr val="494985"/>
          </a:solidFill>
          <a:ln w="12700">
            <a:solidFill>
              <a:srgbClr val="494985"/>
            </a:solidFill>
            <a:prstDash val="solid"/>
          </a:ln>
        </p:spPr>
      </p:sp>
      <p:sp>
        <p:nvSpPr>
          <p:cNvPr id="14" name="Text 11"/>
          <p:cNvSpPr txBox="1"/>
          <p:nvPr/>
        </p:nvSpPr>
        <p:spPr>
          <a:xfrm>
            <a:off x="5257800" y="1417320"/>
            <a:ext cx="612648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Each Node object</a:t>
            </a:r>
            <a:endParaRPr lang="en-US" sz="1500" dirty="0"/>
          </a:p>
        </p:txBody>
      </p:sp>
      <p:sp>
        <p:nvSpPr>
          <p:cNvPr id="15" name="Text 12"/>
          <p:cNvSpPr txBox="1"/>
          <p:nvPr/>
        </p:nvSpPr>
        <p:spPr>
          <a:xfrm>
            <a:off x="5257800" y="1828800"/>
            <a:ext cx="6126480" cy="1600200"/>
          </a:xfrm>
          <a:prstGeom prst="rect">
            <a:avLst/>
          </a:prstGeom>
          <a:noFill/>
          <a:ln/>
        </p:spPr>
        <p:txBody>
          <a:bodyPr wrap="square" lIns="0" tIns="0" rIns="0" bIns="0" rtlCol="0" anchor="t"/>
          <a:lstStyle/>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Data: the value stored</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LeftPointer, RightPointer: the array index of the next node, or -1 for none</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Constructor: Data from the parameter, both pointers -1</a:t>
            </a:r>
            <a:endParaRPr lang="en-US" sz="1350" dirty="0"/>
          </a:p>
        </p:txBody>
      </p:sp>
      <p:sp>
        <p:nvSpPr>
          <p:cNvPr id="16" name="Shape 13"/>
          <p:cNvSpPr/>
          <p:nvPr/>
        </p:nvSpPr>
        <p:spPr>
          <a:xfrm>
            <a:off x="5029200" y="3703320"/>
            <a:ext cx="6492240" cy="2286000"/>
          </a:xfrm>
          <a:prstGeom prst="rect">
            <a:avLst/>
          </a:prstGeom>
          <a:solidFill>
            <a:srgbClr val="F6F5FC"/>
          </a:solidFill>
          <a:ln w="12700">
            <a:solidFill>
              <a:srgbClr val="F6F5FC"/>
            </a:solidFill>
            <a:prstDash val="solid"/>
          </a:ln>
        </p:spPr>
      </p:sp>
      <p:sp>
        <p:nvSpPr>
          <p:cNvPr id="17" name="Shape 14"/>
          <p:cNvSpPr/>
          <p:nvPr/>
        </p:nvSpPr>
        <p:spPr>
          <a:xfrm>
            <a:off x="5029200" y="3703320"/>
            <a:ext cx="73152" cy="2286000"/>
          </a:xfrm>
          <a:prstGeom prst="rect">
            <a:avLst/>
          </a:prstGeom>
          <a:solidFill>
            <a:srgbClr val="2E7D5B"/>
          </a:solidFill>
          <a:ln w="12700">
            <a:solidFill>
              <a:srgbClr val="2E7D5B"/>
            </a:solidFill>
            <a:prstDash val="solid"/>
          </a:ln>
        </p:spPr>
      </p:sp>
      <p:sp>
        <p:nvSpPr>
          <p:cNvPr id="18" name="Text 15"/>
          <p:cNvSpPr txBox="1"/>
          <p:nvPr/>
        </p:nvSpPr>
        <p:spPr>
          <a:xfrm>
            <a:off x="5257800" y="3794760"/>
            <a:ext cx="6126480" cy="347472"/>
          </a:xfrm>
          <a:prstGeom prst="rect">
            <a:avLst/>
          </a:prstGeom>
          <a:noFill/>
          <a:ln/>
        </p:spPr>
        <p:txBody>
          <a:bodyPr wrap="square" lIns="0" tIns="0" rIns="0" bIns="0" rtlCol="0" anchor="ctr"/>
          <a:lstStyle/>
          <a:p>
            <a:pPr indent="0" marL="0">
              <a:buNone/>
            </a:pPr>
            <a:r>
              <a:rPr lang="en-US" sz="1500" b="1" dirty="0">
                <a:solidFill>
                  <a:srgbClr val="2E7D5B"/>
                </a:solidFill>
                <a:latin typeface="Quicksand" pitchFamily="34" charset="0"/>
                <a:ea typeface="Quicksand" pitchFamily="34" charset="-122"/>
                <a:cs typeface="Quicksand" pitchFamily="34" charset="-120"/>
              </a:rPr>
              <a:t>The TreeClass object</a:t>
            </a:r>
            <a:endParaRPr lang="en-US" sz="1500" dirty="0"/>
          </a:p>
        </p:txBody>
      </p:sp>
      <p:sp>
        <p:nvSpPr>
          <p:cNvPr id="19" name="Text 16"/>
          <p:cNvSpPr txBox="1"/>
          <p:nvPr/>
        </p:nvSpPr>
        <p:spPr>
          <a:xfrm>
            <a:off x="5257800" y="4206240"/>
            <a:ext cx="6126480" cy="1691640"/>
          </a:xfrm>
          <a:prstGeom prst="rect">
            <a:avLst/>
          </a:prstGeom>
          <a:noFill/>
          <a:ln/>
        </p:spPr>
        <p:txBody>
          <a:bodyPr wrap="square" lIns="0" tIns="0" rIns="0" bIns="0" rtlCol="0" anchor="t"/>
          <a:lstStyle/>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Contains an array of Node objects - containment</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FirstNode: index of the root (-1 when empty)</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NumberNodes: how many nodes; also the next free index</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InsertNode() stores the node, then links its parent to it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InsertNode()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13</a:t>
            </a:r>
            <a:endParaRPr lang="en-US" sz="1350" dirty="0"/>
          </a:p>
        </p:txBody>
      </p:sp>
      <p:sp>
        <p:nvSpPr>
          <p:cNvPr id="7" name="Shape 4"/>
          <p:cNvSpPr/>
          <p:nvPr/>
        </p:nvSpPr>
        <p:spPr>
          <a:xfrm>
            <a:off x="777240" y="1188720"/>
            <a:ext cx="6949440" cy="49377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280160"/>
            <a:ext cx="6675120" cy="4754880"/>
          </a:xfrm>
          <a:prstGeom prst="rect">
            <a:avLst/>
          </a:prstGeom>
          <a:noFill/>
          <a:ln/>
        </p:spPr>
        <p:txBody>
          <a:bodyPr wrap="square" lIns="0" tIns="0" rIns="0" bIns="0" rtlCol="0" anchor="t"/>
          <a:lstStyle/>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Public Sub InsertNode(NewNode As Node)</a:t>
            </a:r>
            <a:endParaRPr lang="en-US" sz="1050" dirty="0"/>
          </a:p>
          <a:p>
            <a:pPr indent="0" marL="0">
              <a:lnSpc>
                <a:spcPct val="105000"/>
              </a:lnSpc>
              <a:buNone/>
            </a:pPr>
            <a:r>
              <a:rPr lang="en-US" sz="1050" b="1" dirty="0">
                <a:solidFill>
                  <a:srgbClr val="494985"/>
                </a:solidFill>
                <a:latin typeface="Roboto Mono" pitchFamily="34" charset="0"/>
                <a:ea typeface="Roboto Mono" pitchFamily="34" charset="-122"/>
                <a:cs typeface="Roboto Mono" pitchFamily="34" charset="-120"/>
              </a:rPr>
              <a:t>    Tree(NumberNodes) = NewNode</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If FirstNode = -1 Then</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FirstNode = 0</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Else</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Dim Current As Integer = FirstNode</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Dim Previous As Integer = -1</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Dim GoLeft As Boolean = False</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While Current &lt;&gt; -1</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Previous = Current</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GoLeft = NewNode.GetData() &lt; Tree(Current).GetData()</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If GoLeft Then</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Current = Tree(Current).GetLeft()</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Else</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Current = Tree(Current).GetRight()</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End If</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End While</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If GoLeft Then</a:t>
            </a:r>
            <a:endParaRPr lang="en-US" sz="1050" dirty="0"/>
          </a:p>
          <a:p>
            <a:pPr indent="0" marL="0">
              <a:lnSpc>
                <a:spcPct val="105000"/>
              </a:lnSpc>
              <a:buNone/>
            </a:pPr>
            <a:r>
              <a:rPr lang="en-US" sz="1050" b="1" dirty="0">
                <a:solidFill>
                  <a:srgbClr val="494985"/>
                </a:solidFill>
                <a:latin typeface="Roboto Mono" pitchFamily="34" charset="0"/>
                <a:ea typeface="Roboto Mono" pitchFamily="34" charset="-122"/>
                <a:cs typeface="Roboto Mono" pitchFamily="34" charset="-120"/>
              </a:rPr>
              <a:t>            Tree(Previous).SetLeft(NumberNodes)</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Else</a:t>
            </a:r>
            <a:endParaRPr lang="en-US" sz="1050" dirty="0"/>
          </a:p>
          <a:p>
            <a:pPr indent="0" marL="0">
              <a:lnSpc>
                <a:spcPct val="105000"/>
              </a:lnSpc>
              <a:buNone/>
            </a:pPr>
            <a:r>
              <a:rPr lang="en-US" sz="1050" b="1" dirty="0">
                <a:solidFill>
                  <a:srgbClr val="494985"/>
                </a:solidFill>
                <a:latin typeface="Roboto Mono" pitchFamily="34" charset="0"/>
                <a:ea typeface="Roboto Mono" pitchFamily="34" charset="-122"/>
                <a:cs typeface="Roboto Mono" pitchFamily="34" charset="-120"/>
              </a:rPr>
              <a:t>            Tree(Previous).SetRight(NumberNodes)</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End If</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End If</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    NumberNodes = NumberNodes + 1</a:t>
            </a:r>
            <a:endParaRPr lang="en-US" sz="1050" dirty="0"/>
          </a:p>
          <a:p>
            <a:pPr indent="0" marL="0">
              <a:lnSpc>
                <a:spcPct val="105000"/>
              </a:lnSpc>
              <a:buNone/>
            </a:pPr>
            <a:r>
              <a:rPr lang="en-US" sz="1050" dirty="0">
                <a:solidFill>
                  <a:srgbClr val="1D1D1D"/>
                </a:solidFill>
                <a:latin typeface="Roboto Mono" pitchFamily="34" charset="0"/>
                <a:ea typeface="Roboto Mono" pitchFamily="34" charset="-122"/>
                <a:cs typeface="Roboto Mono" pitchFamily="34" charset="-120"/>
              </a:rPr>
              <a:t>End Sub</a:t>
            </a:r>
            <a:endParaRPr lang="en-US" sz="1050" dirty="0"/>
          </a:p>
        </p:txBody>
      </p:sp>
      <p:sp>
        <p:nvSpPr>
          <p:cNvPr id="9" name="Shape 6"/>
          <p:cNvSpPr/>
          <p:nvPr/>
        </p:nvSpPr>
        <p:spPr>
          <a:xfrm>
            <a:off x="8001000" y="1188720"/>
            <a:ext cx="3520440" cy="868680"/>
          </a:xfrm>
          <a:prstGeom prst="rect">
            <a:avLst/>
          </a:prstGeom>
          <a:solidFill>
            <a:srgbClr val="F6F5FC"/>
          </a:solidFill>
          <a:ln w="12700">
            <a:solidFill>
              <a:srgbClr val="F6F5FC"/>
            </a:solidFill>
            <a:prstDash val="solid"/>
          </a:ln>
        </p:spPr>
      </p:sp>
      <p:sp>
        <p:nvSpPr>
          <p:cNvPr id="10" name="Text 7"/>
          <p:cNvSpPr/>
          <p:nvPr/>
        </p:nvSpPr>
        <p:spPr>
          <a:xfrm>
            <a:off x="8138160" y="13258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8"/>
          <p:cNvSpPr txBox="1"/>
          <p:nvPr/>
        </p:nvSpPr>
        <p:spPr>
          <a:xfrm>
            <a:off x="8659368" y="1298448"/>
            <a:ext cx="274320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Store</a:t>
            </a:r>
            <a:endParaRPr lang="en-US" sz="1400" dirty="0"/>
          </a:p>
        </p:txBody>
      </p:sp>
      <p:sp>
        <p:nvSpPr>
          <p:cNvPr id="12" name="Text 9"/>
          <p:cNvSpPr txBox="1"/>
          <p:nvPr/>
        </p:nvSpPr>
        <p:spPr>
          <a:xfrm>
            <a:off x="8659368" y="1691640"/>
            <a:ext cx="2743200" cy="3017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Put the node in the next free element</a:t>
            </a:r>
            <a:endParaRPr lang="en-US" sz="1250" dirty="0"/>
          </a:p>
        </p:txBody>
      </p:sp>
      <p:sp>
        <p:nvSpPr>
          <p:cNvPr id="13" name="Shape 10"/>
          <p:cNvSpPr/>
          <p:nvPr/>
        </p:nvSpPr>
        <p:spPr>
          <a:xfrm>
            <a:off x="8001000" y="2148840"/>
            <a:ext cx="3520440" cy="868680"/>
          </a:xfrm>
          <a:prstGeom prst="rect">
            <a:avLst/>
          </a:prstGeom>
          <a:solidFill>
            <a:srgbClr val="F6F5FC"/>
          </a:solidFill>
          <a:ln w="12700">
            <a:solidFill>
              <a:srgbClr val="F6F5FC"/>
            </a:solidFill>
            <a:prstDash val="solid"/>
          </a:ln>
        </p:spPr>
      </p:sp>
      <p:sp>
        <p:nvSpPr>
          <p:cNvPr id="14" name="Text 11"/>
          <p:cNvSpPr/>
          <p:nvPr/>
        </p:nvSpPr>
        <p:spPr>
          <a:xfrm>
            <a:off x="8138160" y="22860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2"/>
          <p:cNvSpPr txBox="1"/>
          <p:nvPr/>
        </p:nvSpPr>
        <p:spPr>
          <a:xfrm>
            <a:off x="8659368" y="2258568"/>
            <a:ext cx="274320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Empty tree?</a:t>
            </a:r>
            <a:endParaRPr lang="en-US" sz="1400" dirty="0"/>
          </a:p>
        </p:txBody>
      </p:sp>
      <p:sp>
        <p:nvSpPr>
          <p:cNvPr id="16" name="Text 13"/>
          <p:cNvSpPr txBox="1"/>
          <p:nvPr/>
        </p:nvSpPr>
        <p:spPr>
          <a:xfrm>
            <a:off x="8659368" y="2651760"/>
            <a:ext cx="2743200" cy="3017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The new node becomes the root</a:t>
            </a:r>
            <a:endParaRPr lang="en-US" sz="1250" dirty="0"/>
          </a:p>
        </p:txBody>
      </p:sp>
      <p:sp>
        <p:nvSpPr>
          <p:cNvPr id="17" name="Shape 14"/>
          <p:cNvSpPr/>
          <p:nvPr/>
        </p:nvSpPr>
        <p:spPr>
          <a:xfrm>
            <a:off x="8001000" y="3108960"/>
            <a:ext cx="3520440" cy="868680"/>
          </a:xfrm>
          <a:prstGeom prst="rect">
            <a:avLst/>
          </a:prstGeom>
          <a:solidFill>
            <a:srgbClr val="F6F5FC"/>
          </a:solidFill>
          <a:ln w="12700">
            <a:solidFill>
              <a:srgbClr val="F6F5FC"/>
            </a:solidFill>
            <a:prstDash val="solid"/>
          </a:ln>
        </p:spPr>
      </p:sp>
      <p:sp>
        <p:nvSpPr>
          <p:cNvPr id="18" name="Text 15"/>
          <p:cNvSpPr/>
          <p:nvPr/>
        </p:nvSpPr>
        <p:spPr>
          <a:xfrm>
            <a:off x="8138160" y="32461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9" name="Text 16"/>
          <p:cNvSpPr txBox="1"/>
          <p:nvPr/>
        </p:nvSpPr>
        <p:spPr>
          <a:xfrm>
            <a:off x="8659368" y="3218688"/>
            <a:ext cx="274320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Follow pointers</a:t>
            </a:r>
            <a:endParaRPr lang="en-US" sz="1400" dirty="0"/>
          </a:p>
        </p:txBody>
      </p:sp>
      <p:sp>
        <p:nvSpPr>
          <p:cNvPr id="20" name="Text 17"/>
          <p:cNvSpPr txBox="1"/>
          <p:nvPr/>
        </p:nvSpPr>
        <p:spPr>
          <a:xfrm>
            <a:off x="8659368" y="3611880"/>
            <a:ext cx="2743200" cy="3017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Left if smaller, right if not, until -1</a:t>
            </a:r>
            <a:endParaRPr lang="en-US" sz="1250" dirty="0"/>
          </a:p>
        </p:txBody>
      </p:sp>
      <p:sp>
        <p:nvSpPr>
          <p:cNvPr id="21" name="Shape 18"/>
          <p:cNvSpPr/>
          <p:nvPr/>
        </p:nvSpPr>
        <p:spPr>
          <a:xfrm>
            <a:off x="8001000" y="4069080"/>
            <a:ext cx="3520440" cy="868680"/>
          </a:xfrm>
          <a:prstGeom prst="rect">
            <a:avLst/>
          </a:prstGeom>
          <a:solidFill>
            <a:srgbClr val="F6F5FC"/>
          </a:solidFill>
          <a:ln w="12700">
            <a:solidFill>
              <a:srgbClr val="F6F5FC"/>
            </a:solidFill>
            <a:prstDash val="solid"/>
          </a:ln>
        </p:spPr>
      </p:sp>
      <p:sp>
        <p:nvSpPr>
          <p:cNvPr id="22" name="Text 19"/>
          <p:cNvSpPr/>
          <p:nvPr/>
        </p:nvSpPr>
        <p:spPr>
          <a:xfrm>
            <a:off x="8138160" y="42062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3" name="Text 20"/>
          <p:cNvSpPr txBox="1"/>
          <p:nvPr/>
        </p:nvSpPr>
        <p:spPr>
          <a:xfrm>
            <a:off x="8659368" y="4178808"/>
            <a:ext cx="274320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Link the parent</a:t>
            </a:r>
            <a:endParaRPr lang="en-US" sz="1400" dirty="0"/>
          </a:p>
        </p:txBody>
      </p:sp>
      <p:sp>
        <p:nvSpPr>
          <p:cNvPr id="24" name="Text 21"/>
          <p:cNvSpPr txBox="1"/>
          <p:nvPr/>
        </p:nvSpPr>
        <p:spPr>
          <a:xfrm>
            <a:off x="8659368" y="4572000"/>
            <a:ext cx="2743200" cy="3017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Set its left or right pointer</a:t>
            </a:r>
            <a:endParaRPr lang="en-US" sz="1250" dirty="0"/>
          </a:p>
        </p:txBody>
      </p:sp>
      <p:sp>
        <p:nvSpPr>
          <p:cNvPr id="25" name="Shape 22"/>
          <p:cNvSpPr/>
          <p:nvPr/>
        </p:nvSpPr>
        <p:spPr>
          <a:xfrm>
            <a:off x="8001000" y="5029200"/>
            <a:ext cx="3520440" cy="868680"/>
          </a:xfrm>
          <a:prstGeom prst="rect">
            <a:avLst/>
          </a:prstGeom>
          <a:solidFill>
            <a:srgbClr val="F6F5FC"/>
          </a:solidFill>
          <a:ln w="12700">
            <a:solidFill>
              <a:srgbClr val="F6F5FC"/>
            </a:solidFill>
            <a:prstDash val="solid"/>
          </a:ln>
        </p:spPr>
      </p:sp>
      <p:sp>
        <p:nvSpPr>
          <p:cNvPr id="26" name="Text 23"/>
          <p:cNvSpPr/>
          <p:nvPr/>
        </p:nvSpPr>
        <p:spPr>
          <a:xfrm>
            <a:off x="8138160" y="51663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5</a:t>
            </a:r>
            <a:endParaRPr lang="en-US" sz="1400" dirty="0"/>
          </a:p>
        </p:txBody>
      </p:sp>
      <p:sp>
        <p:nvSpPr>
          <p:cNvPr id="27" name="Text 24"/>
          <p:cNvSpPr txBox="1"/>
          <p:nvPr/>
        </p:nvSpPr>
        <p:spPr>
          <a:xfrm>
            <a:off x="8659368" y="5138928"/>
            <a:ext cx="274320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Count it</a:t>
            </a:r>
            <a:endParaRPr lang="en-US" sz="1400" dirty="0"/>
          </a:p>
        </p:txBody>
      </p:sp>
      <p:sp>
        <p:nvSpPr>
          <p:cNvPr id="28" name="Text 25"/>
          <p:cNvSpPr txBox="1"/>
          <p:nvPr/>
        </p:nvSpPr>
        <p:spPr>
          <a:xfrm>
            <a:off x="8659368" y="5532120"/>
            <a:ext cx="2743200" cy="3017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NumberNodes + 1</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Trace: inserting 15, 8, 19, 3, 10</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14</a:t>
            </a:r>
            <a:endParaRPr lang="en-US" sz="1350" dirty="0"/>
          </a:p>
        </p:txBody>
      </p:sp>
      <p:sp>
        <p:nvSpPr>
          <p:cNvPr id="7" name="Shape 4"/>
          <p:cNvSpPr/>
          <p:nvPr/>
        </p:nvSpPr>
        <p:spPr>
          <a:xfrm>
            <a:off x="777240" y="1234440"/>
            <a:ext cx="4937760" cy="19659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25880"/>
            <a:ext cx="4663440" cy="178308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Dim TheTree As New TreeClass()</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TheTree.InsertNode(New Node(15))</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TheTree.InsertNode(New Node(8))</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TheTree.InsertNode(New Node(19))</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TheTree.InsertNode(New Node(3))</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TheTree.InsertNode(New Node(10))</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77240" y="3383280"/>
          <a:ext cx="4937760" cy="914400"/>
        </p:xfrm>
        <a:graphic>
          <a:graphicData uri="http://schemas.openxmlformats.org/drawingml/2006/table">
            <a:tbl>
              <a:tblPr/>
              <a:tblGrid>
                <a:gridCol w="1005840"/>
                <a:gridCol w="1463040"/>
                <a:gridCol w="1005840"/>
                <a:gridCol w="1463040"/>
              </a:tblGrid>
              <a:tr h="384048">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Index</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LeftPointer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Data</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RightPointer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8404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15</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2</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8404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8</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4</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2</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19</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8404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4</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10" name="Text 6"/>
          <p:cNvSpPr txBox="1"/>
          <p:nvPr/>
        </p:nvSpPr>
        <p:spPr>
          <a:xfrm>
            <a:off x="777240" y="5760720"/>
            <a:ext cx="4937760" cy="274320"/>
          </a:xfrm>
          <a:prstGeom prst="rect">
            <a:avLst/>
          </a:prstGeom>
          <a:noFill/>
          <a:ln/>
        </p:spPr>
        <p:txBody>
          <a:bodyPr wrap="square" lIns="0" tIns="0" rIns="0" bIns="0" rtlCol="0" anchor="ctr"/>
          <a:lstStyle/>
          <a:p>
            <a:pPr algn="l" indent="0" marL="0">
              <a:buNone/>
            </a:pPr>
            <a:r>
              <a:rPr lang="en-US" sz="1400" i="1" dirty="0">
                <a:solidFill>
                  <a:srgbClr val="202124"/>
                </a:solidFill>
                <a:latin typeface="Quicksand" pitchFamily="34" charset="0"/>
                <a:ea typeface="Quicksand" pitchFamily="34" charset="-122"/>
                <a:cs typeface="Quicksand" pitchFamily="34" charset="-120"/>
              </a:rPr>
              <a:t>FirstNode = 0     NumberNodes = 5</a:t>
            </a:r>
            <a:endParaRPr lang="en-US" sz="1400" dirty="0"/>
          </a:p>
        </p:txBody>
      </p:sp>
      <p:sp>
        <p:nvSpPr>
          <p:cNvPr id="11" name="Shape 7"/>
          <p:cNvSpPr/>
          <p:nvPr/>
        </p:nvSpPr>
        <p:spPr>
          <a:xfrm flipH="1">
            <a:off x="7315200" y="2011680"/>
            <a:ext cx="1280160" cy="1280160"/>
          </a:xfrm>
          <a:prstGeom prst="line">
            <a:avLst/>
          </a:prstGeom>
          <a:noFill/>
          <a:ln w="22225">
            <a:solidFill>
              <a:srgbClr val="494985"/>
            </a:solidFill>
            <a:prstDash val="solid"/>
          </a:ln>
        </p:spPr>
      </p:sp>
      <p:sp>
        <p:nvSpPr>
          <p:cNvPr id="12" name="Shape 8"/>
          <p:cNvSpPr/>
          <p:nvPr/>
        </p:nvSpPr>
        <p:spPr>
          <a:xfrm>
            <a:off x="8595360" y="2011680"/>
            <a:ext cx="1280160" cy="1280160"/>
          </a:xfrm>
          <a:prstGeom prst="line">
            <a:avLst/>
          </a:prstGeom>
          <a:noFill/>
          <a:ln w="22225">
            <a:solidFill>
              <a:srgbClr val="494985"/>
            </a:solidFill>
            <a:prstDash val="solid"/>
          </a:ln>
        </p:spPr>
      </p:sp>
      <p:sp>
        <p:nvSpPr>
          <p:cNvPr id="13" name="Shape 9"/>
          <p:cNvSpPr/>
          <p:nvPr/>
        </p:nvSpPr>
        <p:spPr>
          <a:xfrm flipH="1">
            <a:off x="6492240" y="3291840"/>
            <a:ext cx="822960" cy="1280160"/>
          </a:xfrm>
          <a:prstGeom prst="line">
            <a:avLst/>
          </a:prstGeom>
          <a:noFill/>
          <a:ln w="22225">
            <a:solidFill>
              <a:srgbClr val="494985"/>
            </a:solidFill>
            <a:prstDash val="solid"/>
          </a:ln>
        </p:spPr>
      </p:sp>
      <p:sp>
        <p:nvSpPr>
          <p:cNvPr id="14" name="Shape 10"/>
          <p:cNvSpPr/>
          <p:nvPr/>
        </p:nvSpPr>
        <p:spPr>
          <a:xfrm>
            <a:off x="7315200" y="3291840"/>
            <a:ext cx="822960" cy="1280160"/>
          </a:xfrm>
          <a:prstGeom prst="line">
            <a:avLst/>
          </a:prstGeom>
          <a:noFill/>
          <a:ln w="22225">
            <a:solidFill>
              <a:srgbClr val="494985"/>
            </a:solidFill>
            <a:prstDash val="solid"/>
          </a:ln>
        </p:spPr>
      </p:sp>
      <p:sp>
        <p:nvSpPr>
          <p:cNvPr id="15" name="Text 11"/>
          <p:cNvSpPr/>
          <p:nvPr/>
        </p:nvSpPr>
        <p:spPr>
          <a:xfrm>
            <a:off x="8229600" y="1645920"/>
            <a:ext cx="731520" cy="731520"/>
          </a:xfrm>
          <a:prstGeom prst="ellipse">
            <a:avLst/>
          </a:prstGeom>
          <a:solidFill>
            <a:srgbClr val="FFD84D"/>
          </a:solidFill>
          <a:ln w="19050">
            <a:solidFill>
              <a:srgbClr val="494985"/>
            </a:solidFill>
          </a:ln>
        </p:spPr>
        <p:txBody>
          <a:bodyPr wrap="square" lIns="0" tIns="0" rIns="0" bIns="0" rtlCol="0" anchor="ctr"/>
          <a:lstStyle/>
          <a:p>
            <a:pPr algn="ctr" indent="0" marL="0">
              <a:buNone/>
            </a:pPr>
            <a:r>
              <a:rPr lang="en-US" sz="1700" b="1" dirty="0">
                <a:solidFill>
                  <a:srgbClr val="202124"/>
                </a:solidFill>
                <a:latin typeface="Quicksand" pitchFamily="34" charset="0"/>
                <a:ea typeface="Quicksand" pitchFamily="34" charset="-122"/>
                <a:cs typeface="Quicksand" pitchFamily="34" charset="-120"/>
              </a:rPr>
              <a:t>15</a:t>
            </a:r>
            <a:endParaRPr lang="en-US" sz="1700" dirty="0"/>
          </a:p>
        </p:txBody>
      </p:sp>
      <p:sp>
        <p:nvSpPr>
          <p:cNvPr id="16" name="Text 12"/>
          <p:cNvSpPr/>
          <p:nvPr/>
        </p:nvSpPr>
        <p:spPr>
          <a:xfrm>
            <a:off x="6949440" y="2926080"/>
            <a:ext cx="731520" cy="731520"/>
          </a:xfrm>
          <a:prstGeom prst="ellipse">
            <a:avLst/>
          </a:prstGeom>
          <a:solidFill>
            <a:srgbClr val="FFD84D"/>
          </a:solidFill>
          <a:ln w="19050">
            <a:solidFill>
              <a:srgbClr val="494985"/>
            </a:solidFill>
          </a:ln>
        </p:spPr>
        <p:txBody>
          <a:bodyPr wrap="square" lIns="0" tIns="0" rIns="0" bIns="0" rtlCol="0" anchor="ctr"/>
          <a:lstStyle/>
          <a:p>
            <a:pPr algn="ctr" indent="0" marL="0">
              <a:buNone/>
            </a:pPr>
            <a:r>
              <a:rPr lang="en-US" sz="1700" b="1" dirty="0">
                <a:solidFill>
                  <a:srgbClr val="202124"/>
                </a:solidFill>
                <a:latin typeface="Quicksand" pitchFamily="34" charset="0"/>
                <a:ea typeface="Quicksand" pitchFamily="34" charset="-122"/>
                <a:cs typeface="Quicksand" pitchFamily="34" charset="-120"/>
              </a:rPr>
              <a:t>8</a:t>
            </a:r>
            <a:endParaRPr lang="en-US" sz="1700" dirty="0"/>
          </a:p>
        </p:txBody>
      </p:sp>
      <p:sp>
        <p:nvSpPr>
          <p:cNvPr id="17" name="Text 13"/>
          <p:cNvSpPr/>
          <p:nvPr/>
        </p:nvSpPr>
        <p:spPr>
          <a:xfrm>
            <a:off x="9509760" y="2926080"/>
            <a:ext cx="731520" cy="731520"/>
          </a:xfrm>
          <a:prstGeom prst="ellipse">
            <a:avLst/>
          </a:prstGeom>
          <a:solidFill>
            <a:srgbClr val="FFD84D"/>
          </a:solidFill>
          <a:ln w="19050">
            <a:solidFill>
              <a:srgbClr val="494985"/>
            </a:solidFill>
          </a:ln>
        </p:spPr>
        <p:txBody>
          <a:bodyPr wrap="square" lIns="0" tIns="0" rIns="0" bIns="0" rtlCol="0" anchor="ctr"/>
          <a:lstStyle/>
          <a:p>
            <a:pPr algn="ctr" indent="0" marL="0">
              <a:buNone/>
            </a:pPr>
            <a:r>
              <a:rPr lang="en-US" sz="1700" b="1" dirty="0">
                <a:solidFill>
                  <a:srgbClr val="202124"/>
                </a:solidFill>
                <a:latin typeface="Quicksand" pitchFamily="34" charset="0"/>
                <a:ea typeface="Quicksand" pitchFamily="34" charset="-122"/>
                <a:cs typeface="Quicksand" pitchFamily="34" charset="-120"/>
              </a:rPr>
              <a:t>19</a:t>
            </a:r>
            <a:endParaRPr lang="en-US" sz="1700" dirty="0"/>
          </a:p>
        </p:txBody>
      </p:sp>
      <p:sp>
        <p:nvSpPr>
          <p:cNvPr id="18" name="Text 14"/>
          <p:cNvSpPr/>
          <p:nvPr/>
        </p:nvSpPr>
        <p:spPr>
          <a:xfrm>
            <a:off x="6126480" y="4206240"/>
            <a:ext cx="731520" cy="731520"/>
          </a:xfrm>
          <a:prstGeom prst="ellipse">
            <a:avLst/>
          </a:prstGeom>
          <a:solidFill>
            <a:srgbClr val="FFD84D"/>
          </a:solidFill>
          <a:ln w="19050">
            <a:solidFill>
              <a:srgbClr val="494985"/>
            </a:solidFill>
          </a:ln>
        </p:spPr>
        <p:txBody>
          <a:bodyPr wrap="square" lIns="0" tIns="0" rIns="0" bIns="0" rtlCol="0" anchor="ctr"/>
          <a:lstStyle/>
          <a:p>
            <a:pPr algn="ctr" indent="0" marL="0">
              <a:buNone/>
            </a:pPr>
            <a:r>
              <a:rPr lang="en-US" sz="1700" b="1" dirty="0">
                <a:solidFill>
                  <a:srgbClr val="202124"/>
                </a:solidFill>
                <a:latin typeface="Quicksand" pitchFamily="34" charset="0"/>
                <a:ea typeface="Quicksand" pitchFamily="34" charset="-122"/>
                <a:cs typeface="Quicksand" pitchFamily="34" charset="-120"/>
              </a:rPr>
              <a:t>3</a:t>
            </a:r>
            <a:endParaRPr lang="en-US" sz="1700" dirty="0"/>
          </a:p>
        </p:txBody>
      </p:sp>
      <p:sp>
        <p:nvSpPr>
          <p:cNvPr id="19" name="Text 15"/>
          <p:cNvSpPr/>
          <p:nvPr/>
        </p:nvSpPr>
        <p:spPr>
          <a:xfrm>
            <a:off x="7772400" y="4206240"/>
            <a:ext cx="731520" cy="731520"/>
          </a:xfrm>
          <a:prstGeom prst="ellipse">
            <a:avLst/>
          </a:prstGeom>
          <a:solidFill>
            <a:srgbClr val="FFD84D"/>
          </a:solidFill>
          <a:ln w="19050">
            <a:solidFill>
              <a:srgbClr val="494985"/>
            </a:solidFill>
          </a:ln>
        </p:spPr>
        <p:txBody>
          <a:bodyPr wrap="square" lIns="0" tIns="0" rIns="0" bIns="0" rtlCol="0" anchor="ctr"/>
          <a:lstStyle/>
          <a:p>
            <a:pPr algn="ctr" indent="0" marL="0">
              <a:buNone/>
            </a:pPr>
            <a:r>
              <a:rPr lang="en-US" sz="1700" b="1" dirty="0">
                <a:solidFill>
                  <a:srgbClr val="202124"/>
                </a:solidFill>
                <a:latin typeface="Quicksand" pitchFamily="34" charset="0"/>
                <a:ea typeface="Quicksand" pitchFamily="34" charset="-122"/>
                <a:cs typeface="Quicksand" pitchFamily="34" charset="-120"/>
              </a:rPr>
              <a:t>10</a:t>
            </a:r>
            <a:endParaRPr lang="en-US" sz="1700" dirty="0"/>
          </a:p>
        </p:txBody>
      </p:sp>
      <p:sp>
        <p:nvSpPr>
          <p:cNvPr id="20" name="Text 16"/>
          <p:cNvSpPr txBox="1"/>
          <p:nvPr/>
        </p:nvSpPr>
        <p:spPr>
          <a:xfrm>
            <a:off x="8979408" y="1627632"/>
            <a:ext cx="640080" cy="274320"/>
          </a:xfrm>
          <a:prstGeom prst="rect">
            <a:avLst/>
          </a:prstGeom>
          <a:noFill/>
          <a:ln/>
        </p:spPr>
        <p:txBody>
          <a:bodyPr wrap="square" lIns="0" tIns="0" rIns="0" bIns="0" rtlCol="0" anchor="ctr"/>
          <a:lstStyle/>
          <a:p>
            <a:pPr algn="l" indent="0" marL="0">
              <a:buNone/>
            </a:pPr>
            <a:r>
              <a:rPr lang="en-US" sz="1200" i="1" dirty="0">
                <a:solidFill>
                  <a:srgbClr val="B3261E"/>
                </a:solidFill>
                <a:latin typeface="Quicksand" pitchFamily="34" charset="0"/>
                <a:ea typeface="Quicksand" pitchFamily="34" charset="-122"/>
                <a:cs typeface="Quicksand" pitchFamily="34" charset="-120"/>
              </a:rPr>
              <a:t>[0]</a:t>
            </a:r>
            <a:endParaRPr lang="en-US" sz="1200" dirty="0"/>
          </a:p>
        </p:txBody>
      </p:sp>
      <p:sp>
        <p:nvSpPr>
          <p:cNvPr id="21" name="Text 17"/>
          <p:cNvSpPr txBox="1"/>
          <p:nvPr/>
        </p:nvSpPr>
        <p:spPr>
          <a:xfrm>
            <a:off x="7699248" y="2907792"/>
            <a:ext cx="640080" cy="274320"/>
          </a:xfrm>
          <a:prstGeom prst="rect">
            <a:avLst/>
          </a:prstGeom>
          <a:noFill/>
          <a:ln/>
        </p:spPr>
        <p:txBody>
          <a:bodyPr wrap="square" lIns="0" tIns="0" rIns="0" bIns="0" rtlCol="0" anchor="ctr"/>
          <a:lstStyle/>
          <a:p>
            <a:pPr algn="l" indent="0" marL="0">
              <a:buNone/>
            </a:pPr>
            <a:r>
              <a:rPr lang="en-US" sz="1200" i="1" dirty="0">
                <a:solidFill>
                  <a:srgbClr val="B3261E"/>
                </a:solidFill>
                <a:latin typeface="Quicksand" pitchFamily="34" charset="0"/>
                <a:ea typeface="Quicksand" pitchFamily="34" charset="-122"/>
                <a:cs typeface="Quicksand" pitchFamily="34" charset="-120"/>
              </a:rPr>
              <a:t>[1]</a:t>
            </a:r>
            <a:endParaRPr lang="en-US" sz="1200" dirty="0"/>
          </a:p>
        </p:txBody>
      </p:sp>
      <p:sp>
        <p:nvSpPr>
          <p:cNvPr id="22" name="Text 18"/>
          <p:cNvSpPr txBox="1"/>
          <p:nvPr/>
        </p:nvSpPr>
        <p:spPr>
          <a:xfrm>
            <a:off x="10259568" y="2907792"/>
            <a:ext cx="640080" cy="274320"/>
          </a:xfrm>
          <a:prstGeom prst="rect">
            <a:avLst/>
          </a:prstGeom>
          <a:noFill/>
          <a:ln/>
        </p:spPr>
        <p:txBody>
          <a:bodyPr wrap="square" lIns="0" tIns="0" rIns="0" bIns="0" rtlCol="0" anchor="ctr"/>
          <a:lstStyle/>
          <a:p>
            <a:pPr algn="l" indent="0" marL="0">
              <a:buNone/>
            </a:pPr>
            <a:r>
              <a:rPr lang="en-US" sz="1200" i="1" dirty="0">
                <a:solidFill>
                  <a:srgbClr val="B3261E"/>
                </a:solidFill>
                <a:latin typeface="Quicksand" pitchFamily="34" charset="0"/>
                <a:ea typeface="Quicksand" pitchFamily="34" charset="-122"/>
                <a:cs typeface="Quicksand" pitchFamily="34" charset="-120"/>
              </a:rPr>
              <a:t>[2]</a:t>
            </a:r>
            <a:endParaRPr lang="en-US" sz="1200" dirty="0"/>
          </a:p>
        </p:txBody>
      </p:sp>
      <p:sp>
        <p:nvSpPr>
          <p:cNvPr id="23" name="Text 19"/>
          <p:cNvSpPr txBox="1"/>
          <p:nvPr/>
        </p:nvSpPr>
        <p:spPr>
          <a:xfrm>
            <a:off x="6876288" y="4187952"/>
            <a:ext cx="640080" cy="274320"/>
          </a:xfrm>
          <a:prstGeom prst="rect">
            <a:avLst/>
          </a:prstGeom>
          <a:noFill/>
          <a:ln/>
        </p:spPr>
        <p:txBody>
          <a:bodyPr wrap="square" lIns="0" tIns="0" rIns="0" bIns="0" rtlCol="0" anchor="ctr"/>
          <a:lstStyle/>
          <a:p>
            <a:pPr algn="l" indent="0" marL="0">
              <a:buNone/>
            </a:pPr>
            <a:r>
              <a:rPr lang="en-US" sz="1200" i="1" dirty="0">
                <a:solidFill>
                  <a:srgbClr val="B3261E"/>
                </a:solidFill>
                <a:latin typeface="Quicksand" pitchFamily="34" charset="0"/>
                <a:ea typeface="Quicksand" pitchFamily="34" charset="-122"/>
                <a:cs typeface="Quicksand" pitchFamily="34" charset="-120"/>
              </a:rPr>
              <a:t>[3]</a:t>
            </a:r>
            <a:endParaRPr lang="en-US" sz="1200" dirty="0"/>
          </a:p>
        </p:txBody>
      </p:sp>
      <p:sp>
        <p:nvSpPr>
          <p:cNvPr id="24" name="Text 20"/>
          <p:cNvSpPr txBox="1"/>
          <p:nvPr/>
        </p:nvSpPr>
        <p:spPr>
          <a:xfrm>
            <a:off x="8522208" y="4187952"/>
            <a:ext cx="640080" cy="274320"/>
          </a:xfrm>
          <a:prstGeom prst="rect">
            <a:avLst/>
          </a:prstGeom>
          <a:noFill/>
          <a:ln/>
        </p:spPr>
        <p:txBody>
          <a:bodyPr wrap="square" lIns="0" tIns="0" rIns="0" bIns="0" rtlCol="0" anchor="ctr"/>
          <a:lstStyle/>
          <a:p>
            <a:pPr algn="l" indent="0" marL="0">
              <a:buNone/>
            </a:pPr>
            <a:r>
              <a:rPr lang="en-US" sz="1200" i="1" dirty="0">
                <a:solidFill>
                  <a:srgbClr val="B3261E"/>
                </a:solidFill>
                <a:latin typeface="Quicksand" pitchFamily="34" charset="0"/>
                <a:ea typeface="Quicksand" pitchFamily="34" charset="-122"/>
                <a:cs typeface="Quicksand" pitchFamily="34" charset="-120"/>
              </a:rPr>
              <a:t>[4]</a:t>
            </a:r>
            <a:endParaRPr lang="en-US" sz="1200" dirty="0"/>
          </a:p>
        </p:txBody>
      </p:sp>
      <p:sp>
        <p:nvSpPr>
          <p:cNvPr id="25" name="Text 21"/>
          <p:cNvSpPr txBox="1"/>
          <p:nvPr/>
        </p:nvSpPr>
        <p:spPr>
          <a:xfrm>
            <a:off x="6035040" y="5486400"/>
            <a:ext cx="5486400" cy="274320"/>
          </a:xfrm>
          <a:prstGeom prst="rect">
            <a:avLst/>
          </a:prstGeom>
          <a:noFill/>
          <a:ln/>
        </p:spPr>
        <p:txBody>
          <a:bodyPr wrap="square" lIns="0" tIns="0" rIns="0" bIns="0" rtlCol="0" anchor="ctr"/>
          <a:lstStyle/>
          <a:p>
            <a:pPr algn="ctr" indent="0" marL="0">
              <a:buNone/>
            </a:pPr>
            <a:r>
              <a:rPr lang="en-US" sz="1300" i="1" dirty="0">
                <a:solidFill>
                  <a:srgbClr val="666666"/>
                </a:solidFill>
                <a:latin typeface="Quicksand" pitchFamily="34" charset="0"/>
                <a:ea typeface="Quicksand" pitchFamily="34" charset="-122"/>
                <a:cs typeface="Quicksand" pitchFamily="34" charset="-120"/>
              </a:rPr>
              <a:t>Red numbers are the array indexes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Another way: nodes that point to nodes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Optional</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15</a:t>
            </a:r>
            <a:endParaRPr lang="en-US" sz="1350" dirty="0"/>
          </a:p>
        </p:txBody>
      </p:sp>
      <p:sp>
        <p:nvSpPr>
          <p:cNvPr id="7" name="Shape 4"/>
          <p:cNvSpPr/>
          <p:nvPr/>
        </p:nvSpPr>
        <p:spPr>
          <a:xfrm>
            <a:off x="777240" y="1188720"/>
            <a:ext cx="6035040" cy="49377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280160"/>
            <a:ext cx="5760720" cy="4754880"/>
          </a:xfrm>
          <a:prstGeom prst="rect">
            <a:avLst/>
          </a:prstGeom>
          <a:noFill/>
          <a:ln/>
        </p:spPr>
        <p:txBody>
          <a:bodyPr wrap="square" lIns="0" tIns="0" rIns="0" bIns="0" rtlCol="0" anchor="t"/>
          <a:lstStyle/>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Class Node</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Public Item As Integer</a:t>
            </a:r>
            <a:endParaRPr lang="en-US" sz="1100" dirty="0"/>
          </a:p>
          <a:p>
            <a:pPr indent="0" marL="0">
              <a:lnSpc>
                <a:spcPct val="105000"/>
              </a:lnSpc>
              <a:buNone/>
            </a:pPr>
            <a:r>
              <a:rPr lang="en-US" sz="1100" b="1" dirty="0">
                <a:solidFill>
                  <a:srgbClr val="494985"/>
                </a:solidFill>
                <a:latin typeface="Roboto Mono" pitchFamily="34" charset="0"/>
                <a:ea typeface="Roboto Mono" pitchFamily="34" charset="-122"/>
                <a:cs typeface="Roboto Mono" pitchFamily="34" charset="-120"/>
              </a:rPr>
              <a:t>    Public Left As Node</a:t>
            </a:r>
            <a:endParaRPr lang="en-US" sz="1100" dirty="0"/>
          </a:p>
          <a:p>
            <a:pPr indent="0" marL="0">
              <a:lnSpc>
                <a:spcPct val="105000"/>
              </a:lnSpc>
              <a:buNone/>
            </a:pPr>
            <a:r>
              <a:rPr lang="en-US" sz="1100" b="1" dirty="0">
                <a:solidFill>
                  <a:srgbClr val="494985"/>
                </a:solidFill>
                <a:latin typeface="Roboto Mono" pitchFamily="34" charset="0"/>
                <a:ea typeface="Roboto Mono" pitchFamily="34" charset="-122"/>
                <a:cs typeface="Roboto Mono" pitchFamily="34" charset="-120"/>
              </a:rPr>
              <a:t>    Public Right As Node</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Public Sub New(NewItem As Integer)</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Item = NewItem</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Sub</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Public Sub Insert(NewItem As Integer)</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If NewItem &lt; Item Then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If Left Is Nothing Then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Left = New Node(NewItem)</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Else</a:t>
            </a:r>
            <a:endParaRPr lang="en-US" sz="1100" dirty="0"/>
          </a:p>
          <a:p>
            <a:pPr indent="0" marL="0">
              <a:lnSpc>
                <a:spcPct val="105000"/>
              </a:lnSpc>
              <a:buNone/>
            </a:pPr>
            <a:r>
              <a:rPr lang="en-US" sz="1100" b="1" dirty="0">
                <a:solidFill>
                  <a:srgbClr val="494985"/>
                </a:solidFill>
                <a:latin typeface="Roboto Mono" pitchFamily="34" charset="0"/>
                <a:ea typeface="Roboto Mono" pitchFamily="34" charset="-122"/>
                <a:cs typeface="Roboto Mono" pitchFamily="34" charset="-120"/>
              </a:rPr>
              <a:t>                Left.Insert(NewItem)</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If</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ElseIf NewItem &gt; Item Then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If Right Is Nothing Then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Right = New Node(NewItem)</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Else</a:t>
            </a:r>
            <a:endParaRPr lang="en-US" sz="1100" dirty="0"/>
          </a:p>
          <a:p>
            <a:pPr indent="0" marL="0">
              <a:lnSpc>
                <a:spcPct val="105000"/>
              </a:lnSpc>
              <a:buNone/>
            </a:pPr>
            <a:r>
              <a:rPr lang="en-US" sz="1100" b="1" dirty="0">
                <a:solidFill>
                  <a:srgbClr val="494985"/>
                </a:solidFill>
                <a:latin typeface="Roboto Mono" pitchFamily="34" charset="0"/>
                <a:ea typeface="Roboto Mono" pitchFamily="34" charset="-122"/>
                <a:cs typeface="Roboto Mono" pitchFamily="34" charset="-120"/>
              </a:rPr>
              <a:t>                Right.Insert(NewItem)</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If</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If</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Sub</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End Class</a:t>
            </a:r>
            <a:endParaRPr lang="en-US" sz="1100" dirty="0"/>
          </a:p>
        </p:txBody>
      </p:sp>
      <p:sp>
        <p:nvSpPr>
          <p:cNvPr id="9" name="Shape 6"/>
          <p:cNvSpPr/>
          <p:nvPr/>
        </p:nvSpPr>
        <p:spPr>
          <a:xfrm>
            <a:off x="7086600" y="1188720"/>
            <a:ext cx="4434840" cy="2788920"/>
          </a:xfrm>
          <a:prstGeom prst="rect">
            <a:avLst/>
          </a:prstGeom>
          <a:solidFill>
            <a:srgbClr val="F6F5FC"/>
          </a:solidFill>
          <a:ln w="12700">
            <a:solidFill>
              <a:srgbClr val="F6F5FC"/>
            </a:solidFill>
            <a:prstDash val="solid"/>
          </a:ln>
        </p:spPr>
      </p:sp>
      <p:sp>
        <p:nvSpPr>
          <p:cNvPr id="10" name="Shape 7"/>
          <p:cNvSpPr/>
          <p:nvPr/>
        </p:nvSpPr>
        <p:spPr>
          <a:xfrm>
            <a:off x="7086600" y="1188720"/>
            <a:ext cx="73152" cy="2788920"/>
          </a:xfrm>
          <a:prstGeom prst="rect">
            <a:avLst/>
          </a:prstGeom>
          <a:solidFill>
            <a:srgbClr val="494985"/>
          </a:solidFill>
          <a:ln w="12700">
            <a:solidFill>
              <a:srgbClr val="494985"/>
            </a:solidFill>
            <a:prstDash val="solid"/>
          </a:ln>
        </p:spPr>
      </p:sp>
      <p:sp>
        <p:nvSpPr>
          <p:cNvPr id="11" name="Text 8"/>
          <p:cNvSpPr txBox="1"/>
          <p:nvPr/>
        </p:nvSpPr>
        <p:spPr>
          <a:xfrm>
            <a:off x="7315200" y="1280160"/>
            <a:ext cx="406908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How it works</a:t>
            </a:r>
            <a:endParaRPr lang="en-US" sz="1500" dirty="0"/>
          </a:p>
        </p:txBody>
      </p:sp>
      <p:sp>
        <p:nvSpPr>
          <p:cNvPr id="12" name="Text 9"/>
          <p:cNvSpPr txBox="1"/>
          <p:nvPr/>
        </p:nvSpPr>
        <p:spPr>
          <a:xfrm>
            <a:off x="7315200" y="1691640"/>
            <a:ext cx="4069080" cy="2194560"/>
          </a:xfrm>
          <a:prstGeom prst="rect">
            <a:avLst/>
          </a:prstGeom>
          <a:noFill/>
          <a:ln/>
        </p:spPr>
        <p:txBody>
          <a:bodyPr wrap="square" lIns="0" tIns="0" rIns="0" bIns="0" rtlCol="0" anchor="t"/>
          <a:lstStyle/>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A Node contains two more Nodes: containment</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Nothing means no child</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Insert is recursive: each node passes the value down</a:t>
            </a:r>
            <a:endParaRPr lang="en-US" sz="1350" dirty="0"/>
          </a:p>
          <a:p>
            <a:pPr marL="228600" indent="-228600">
              <a:spcAft>
                <a:spcPts val="500"/>
              </a:spcAft>
              <a:buSzPct val="100000"/>
              <a:buChar char="•"/>
            </a:pPr>
            <a:r>
              <a:rPr lang="en-US" sz="1350" dirty="0">
                <a:solidFill>
                  <a:srgbClr val="202124"/>
                </a:solidFill>
                <a:latin typeface="Quicksand" pitchFamily="34" charset="0"/>
                <a:ea typeface="Quicksand" pitchFamily="34" charset="-122"/>
                <a:cs typeface="Quicksand" pitchFamily="34" charset="-120"/>
              </a:rPr>
              <a:t>No array, no fixed size</a:t>
            </a:r>
            <a:endParaRPr lang="en-US" sz="1350" dirty="0"/>
          </a:p>
        </p:txBody>
      </p:sp>
      <p:sp>
        <p:nvSpPr>
          <p:cNvPr id="13" name="Shape 10"/>
          <p:cNvSpPr/>
          <p:nvPr/>
        </p:nvSpPr>
        <p:spPr>
          <a:xfrm>
            <a:off x="7086600" y="4160520"/>
            <a:ext cx="4434840" cy="1965960"/>
          </a:xfrm>
          <a:prstGeom prst="rect">
            <a:avLst/>
          </a:prstGeom>
          <a:solidFill>
            <a:srgbClr val="F6F5FC"/>
          </a:solidFill>
          <a:ln w="12700">
            <a:solidFill>
              <a:srgbClr val="F6F5FC"/>
            </a:solidFill>
            <a:prstDash val="solid"/>
          </a:ln>
        </p:spPr>
      </p:sp>
      <p:sp>
        <p:nvSpPr>
          <p:cNvPr id="14" name="Shape 11"/>
          <p:cNvSpPr/>
          <p:nvPr/>
        </p:nvSpPr>
        <p:spPr>
          <a:xfrm>
            <a:off x="7086600" y="4160520"/>
            <a:ext cx="73152" cy="1965960"/>
          </a:xfrm>
          <a:prstGeom prst="rect">
            <a:avLst/>
          </a:prstGeom>
          <a:solidFill>
            <a:srgbClr val="B3261E"/>
          </a:solidFill>
          <a:ln w="12700">
            <a:solidFill>
              <a:srgbClr val="B3261E"/>
            </a:solidFill>
            <a:prstDash val="solid"/>
          </a:ln>
        </p:spPr>
      </p:sp>
      <p:sp>
        <p:nvSpPr>
          <p:cNvPr id="15" name="Text 12"/>
          <p:cNvSpPr txBox="1"/>
          <p:nvPr/>
        </p:nvSpPr>
        <p:spPr>
          <a:xfrm>
            <a:off x="7315200" y="4251960"/>
            <a:ext cx="4069080" cy="347472"/>
          </a:xfrm>
          <a:prstGeom prst="rect">
            <a:avLst/>
          </a:prstGeom>
          <a:noFill/>
          <a:ln/>
        </p:spPr>
        <p:txBody>
          <a:bodyPr wrap="square" lIns="0" tIns="0" rIns="0" bIns="0" rtlCol="0" anchor="ctr"/>
          <a:lstStyle/>
          <a:p>
            <a:pPr indent="0" marL="0">
              <a:buNone/>
            </a:pPr>
            <a:r>
              <a:rPr lang="en-US" sz="1500" b="1" dirty="0">
                <a:solidFill>
                  <a:srgbClr val="B3261E"/>
                </a:solidFill>
                <a:latin typeface="Quicksand" pitchFamily="34" charset="0"/>
                <a:ea typeface="Quicksand" pitchFamily="34" charset="-122"/>
                <a:cs typeface="Quicksand" pitchFamily="34" charset="-120"/>
              </a:rPr>
              <a:t>Textbook warning</a:t>
            </a:r>
            <a:endParaRPr lang="en-US" sz="1500" dirty="0"/>
          </a:p>
        </p:txBody>
      </p:sp>
      <p:sp>
        <p:nvSpPr>
          <p:cNvPr id="16" name="Text 13"/>
          <p:cNvSpPr txBox="1"/>
          <p:nvPr/>
        </p:nvSpPr>
        <p:spPr>
          <a:xfrm>
            <a:off x="7315200" y="4663440"/>
            <a:ext cx="4069080" cy="1371600"/>
          </a:xfrm>
          <a:prstGeom prst="rect">
            <a:avLst/>
          </a:prstGeom>
          <a:noFill/>
          <a:ln/>
        </p:spPr>
        <p:txBody>
          <a:bodyPr wrap="square" lIns="0" tIns="0" rIns="0" bIns="0" rtlCol="0" anchor="t"/>
          <a:lstStyle/>
          <a:p>
            <a:pPr indent="0" marL="0">
              <a:spcAft>
                <a:spcPts val="600"/>
              </a:spcAft>
              <a:buNone/>
            </a:pPr>
            <a:r>
              <a:rPr lang="en-US" sz="1350" dirty="0">
                <a:solidFill>
                  <a:srgbClr val="202124"/>
                </a:solidFill>
                <a:latin typeface="Quicksand" pitchFamily="34" charset="0"/>
                <a:ea typeface="Quicksand" pitchFamily="34" charset="-122"/>
                <a:cs typeface="Quicksand" pitchFamily="34" charset="-120"/>
              </a:rPr>
              <a:t>The VB tree code in the textbook has errors and will not compile. Use this version.</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How examiners mark inheritance (Paper 4)</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focus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16</a:t>
            </a:r>
            <a:endParaRPr lang="en-US" sz="1350" dirty="0"/>
          </a:p>
        </p:txBody>
      </p:sp>
      <p:sp>
        <p:nvSpPr>
          <p:cNvPr id="7" name="Shape 4"/>
          <p:cNvSpPr/>
          <p:nvPr/>
        </p:nvSpPr>
        <p:spPr>
          <a:xfrm>
            <a:off x="777240" y="1188720"/>
            <a:ext cx="5943600" cy="49377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280160"/>
            <a:ext cx="5669280" cy="475488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Class Manager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Inherits Employee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Private BonusValue As Double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Public Sub New(BonusP As Double, PayP As Double,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EmpNumP As String, JobP As String)</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MyBase.New(PayP, EmpNumP, JobP)</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BonusValue = BonusP</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 Sub</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Public Overrides Sub SetPay(WeekNumber As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Hours As Double)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Hours = Hours + Hours * BonusValue / 100</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MyBase.SetPay(WeekNumber, Hours)</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 Sub</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End Class</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949440" y="1188720"/>
          <a:ext cx="4572000" cy="914400"/>
        </p:xfrm>
        <a:graphic>
          <a:graphicData uri="http://schemas.openxmlformats.org/drawingml/2006/table">
            <a:tbl>
              <a:tblPr/>
              <a:tblGrid>
                <a:gridCol w="1051560"/>
                <a:gridCol w="3520440"/>
              </a:tblGrid>
              <a:tr h="411480">
                <a:tc>
                  <a:txBody>
                    <a:bodyPr/>
                    <a:lstStyle/>
                    <a:p>
                      <a:pPr indent="0" marL="0">
                        <a:buNone/>
                      </a:pPr>
                      <a:r>
                        <a:rPr lang="en-US" sz="1200" b="1" dirty="0">
                          <a:solidFill>
                            <a:srgbClr val="FFFFFF"/>
                          </a:solidFill>
                          <a:latin typeface="Quicksand" pitchFamily="34" charset="0"/>
                          <a:ea typeface="Quicksand" pitchFamily="34" charset="-122"/>
                          <a:cs typeface="Quicksand" pitchFamily="34" charset="-120"/>
                        </a:rPr>
                        <a:t>Part</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200" b="1" dirty="0">
                          <a:solidFill>
                            <a:srgbClr val="FFFFFF"/>
                          </a:solidFill>
                          <a:latin typeface="Quicksand" pitchFamily="34" charset="0"/>
                          <a:ea typeface="Quicksand" pitchFamily="34" charset="-122"/>
                          <a:cs typeface="Quicksand" pitchFamily="34" charset="-120"/>
                        </a:rPr>
                        <a:t>Official marking points</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11480">
                <a:tc>
                  <a:txBody>
                    <a:bodyPr/>
                    <a:lstStyle/>
                    <a:p>
                      <a:pPr indent="0" marL="0">
                        <a:buNone/>
                      </a:pPr>
                      <a:r>
                        <a:rPr lang="en-US" sz="1150" dirty="0">
                          <a:solidFill>
                            <a:srgbClr val="202124"/>
                          </a:solidFill>
                          <a:latin typeface="Quicksand" pitchFamily="34" charset="0"/>
                          <a:ea typeface="Quicksand" pitchFamily="34" charset="-122"/>
                          <a:cs typeface="Quicksand" pitchFamily="34" charset="-120"/>
                        </a:rPr>
                        <a:t>(b)(i) [4]</a:t>
                      </a:r>
                      <a:endParaRPr lang="en-US" sz="11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50" dirty="0">
                          <a:solidFill>
                            <a:srgbClr val="202124"/>
                          </a:solidFill>
                          <a:latin typeface="Quicksand" pitchFamily="34" charset="0"/>
                          <a:ea typeface="Quicksand" pitchFamily="34" charset="-122"/>
                          <a:cs typeface="Quicksand" pitchFamily="34" charset="-120"/>
                        </a:rPr>
                        <a:t>Class header inheriting Employee;  constructor taking 4 parameters ...  ... calling the parent class constructor with 3 values from the parameters;  declaring BonusValue (private) and assigning the parameter to it</a:t>
                      </a:r>
                      <a:endParaRPr lang="en-US" sz="11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11480">
                <a:tc>
                  <a:txBody>
                    <a:bodyPr/>
                    <a:lstStyle/>
                    <a:p>
                      <a:pPr indent="0" marL="0">
                        <a:buNone/>
                      </a:pPr>
                      <a:r>
                        <a:rPr lang="en-US" sz="1150" dirty="0">
                          <a:solidFill>
                            <a:srgbClr val="202124"/>
                          </a:solidFill>
                          <a:latin typeface="Quicksand" pitchFamily="34" charset="0"/>
                          <a:ea typeface="Quicksand" pitchFamily="34" charset="-122"/>
                          <a:cs typeface="Quicksand" pitchFamily="34" charset="-120"/>
                        </a:rPr>
                        <a:t>(b)(ii) [3]</a:t>
                      </a:r>
                      <a:endParaRPr lang="en-US" sz="11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02124"/>
                          </a:solidFill>
                          <a:latin typeface="Quicksand" pitchFamily="34" charset="0"/>
                          <a:ea typeface="Quicksand" pitchFamily="34" charset="-122"/>
                          <a:cs typeface="Quicksand" pitchFamily="34" charset="-120"/>
                        </a:rPr>
                        <a:t>Method header taking 2 parameters;  calculating hours (from the parameter) with the bonus;  overriding / calling the parent SetPay with the week number and the updated hours</a:t>
                      </a:r>
                      <a:endParaRPr lang="en-US" sz="11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10" name="Text 6"/>
          <p:cNvSpPr txBox="1"/>
          <p:nvPr/>
        </p:nvSpPr>
        <p:spPr>
          <a:xfrm>
            <a:off x="6949440" y="5257800"/>
            <a:ext cx="4572000" cy="822960"/>
          </a:xfrm>
          <a:prstGeom prst="rect">
            <a:avLst/>
          </a:prstGeom>
          <a:noFill/>
          <a:ln/>
        </p:spPr>
        <p:txBody>
          <a:bodyPr wrap="square" lIns="0" tIns="0" rIns="0" bIns="0" rtlCol="0" anchor="t"/>
          <a:lstStyle/>
          <a:p>
            <a:pPr indent="0" marL="0">
              <a:spcAft>
                <a:spcPts val="600"/>
              </a:spcAft>
              <a:buNone/>
            </a:pPr>
            <a:r>
              <a:rPr lang="en-US" sz="1400" b="1" dirty="0">
                <a:solidFill>
                  <a:srgbClr val="B3261E"/>
                </a:solidFill>
                <a:latin typeface="Quicksand" pitchFamily="34" charset="0"/>
                <a:ea typeface="Quicksand" pitchFamily="34" charset="-122"/>
                <a:cs typeface="Quicksand" pitchFamily="34" charset="-120"/>
              </a:rPr>
              <a:t>Parent method must be Overridable.</a:t>
            </a:r>
            <a:endParaRPr lang="en-US" sz="1400" dirty="0"/>
          </a:p>
          <a:p>
            <a:pPr indent="0" marL="0">
              <a:spcAft>
                <a:spcPts val="600"/>
              </a:spcAft>
              <a:buNone/>
            </a:pPr>
            <a:r>
              <a:rPr lang="en-US" sz="1400" b="1" dirty="0">
                <a:solidFill>
                  <a:srgbClr val="B3261E"/>
                </a:solidFill>
                <a:latin typeface="Quicksand" pitchFamily="34" charset="0"/>
                <a:ea typeface="Quicksand" pitchFamily="34" charset="-122"/>
                <a:cs typeface="Quicksand" pitchFamily="34" charset="-120"/>
              </a:rPr>
              <a:t>Do not re-declare the parent's attributes.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Exam focus: defining OOP terms (Paper 3)</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focus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17</a:t>
            </a:r>
            <a:endParaRPr lang="en-US" sz="13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34440"/>
          <a:ext cx="10744200" cy="914400"/>
        </p:xfrm>
        <a:graphic>
          <a:graphicData uri="http://schemas.openxmlformats.org/drawingml/2006/table">
            <a:tbl>
              <a:tblPr/>
              <a:tblGrid>
                <a:gridCol w="2103120"/>
                <a:gridCol w="8641080"/>
              </a:tblGrid>
              <a:tr h="566928">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Term</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Wording that earns the marks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Instance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An occurrence of an object // a specific object based on the class  (9618/31 N22)</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Inheritance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derived class takes the attributes / methods ... of a parent / base class; they can be extended or overridden  (9618/31 J25)</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Polymorphism</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Methods with the same name are redefined / behave differently ... in derived classes  (9618/32 J25)</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Overloading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method defined more than once in a class, with different parameters  (textbook)</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Containment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One class contains other classes (objects) as attributes  (textbook)</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Text 4"/>
          <p:cNvSpPr txBox="1"/>
          <p:nvPr/>
        </p:nvSpPr>
        <p:spPr>
          <a:xfrm>
            <a:off x="777240" y="5532120"/>
            <a:ext cx="10744200" cy="4114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2-mark describe: the idea + the classes involved (parent / base and derived).</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Guided practice and pacing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18</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77240" y="1234440"/>
          <a:ext cx="10744200" cy="914400"/>
        </p:xfrm>
        <a:graphic>
          <a:graphicData uri="http://schemas.openxmlformats.org/drawingml/2006/table">
            <a:tbl>
              <a:tblPr/>
              <a:tblGrid>
                <a:gridCol w="1645920"/>
                <a:gridCol w="1371600"/>
                <a:gridCol w="7726680"/>
              </a:tblGrid>
              <a:tr h="475488">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Time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Slides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Worksheet</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0-5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2</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1  Starter: spot the errors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5-15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4-8</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Getters and setters, inheritance, polymorphism</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15-20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9-11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Overloading, containment;  Task 2  Key words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20-30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3  Read and trace inheritance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30-37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4  Complete the code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37-52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12-14</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Binary tree with classes;  Task 5  Trace InsertNode()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52-60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16, 20</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How examiners mark inheritance;  exit question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Homework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17</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6  Real exam questions (Paper 3 and Paper 4)</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777240" y="5669280"/>
            <a:ext cx="10744200" cy="4114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Check your work against the answer key when your teacher shares it.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Common misconceptions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19</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188720"/>
          <a:ext cx="10744200" cy="914400"/>
        </p:xfrm>
        <a:graphic>
          <a:graphicData uri="http://schemas.openxmlformats.org/drawingml/2006/table">
            <a:tbl>
              <a:tblPr/>
              <a:tblGrid>
                <a:gridCol w="4206240"/>
                <a:gridCol w="6537960"/>
              </a:tblGrid>
              <a:tr h="548640">
                <a:tc>
                  <a:txBody>
                    <a:bodyPr/>
                    <a:lstStyle/>
                    <a:p>
                      <a:pPr indent="0" marL="0">
                        <a:buNone/>
                      </a:pPr>
                      <a:r>
                        <a:rPr lang="en-US" sz="1250" b="1" dirty="0">
                          <a:solidFill>
                            <a:srgbClr val="FFFFFF"/>
                          </a:solidFill>
                          <a:latin typeface="Quicksand" pitchFamily="34" charset="0"/>
                          <a:ea typeface="Quicksand" pitchFamily="34" charset="-122"/>
                          <a:cs typeface="Quicksand" pitchFamily="34" charset="-120"/>
                        </a:rPr>
                        <a:t>Misconception</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250" b="1" dirty="0">
                          <a:solidFill>
                            <a:srgbClr val="FFFFFF"/>
                          </a:solidFill>
                          <a:latin typeface="Quicksand" pitchFamily="34" charset="0"/>
                          <a:ea typeface="Quicksand" pitchFamily="34" charset="-122"/>
                          <a:cs typeface="Quicksand" pitchFamily="34" charset="-120"/>
                        </a:rPr>
                        <a:t>Why it is wrong</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Inheritance copies the parent's private attributes so the child can use them directly</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The child has them, but Private means only the parent's code can use them. The child uses the parent's getters and setters (or Protected)</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A derived class must declare all the parent's attributes again</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It inherits them. Re-declaring them makes new, separate attributes - examiners saw this often</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Overrides works on any parent method</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In VB.NET the parent method must be Overridable, or the child method will not compile</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Overriding and overloading are the same thing</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Overriding: same name and parameters, redefined in a derived class. Overloading: same name, different parameters</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The child constructor sets up the parent's attributes itself</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It calls MyBase.New(...) as its first line, passing the values on</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A has-a link is inheritance</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A car has an engine: containment. A car is a vehicle: inheritance</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A setter should always accept the new value</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A setter can check (validate) the value first - that is why attributes are private</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Polymorphism is just having many classes</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It is the same method call giving different behaviour depending on the object's class</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Exit question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20</a:t>
            </a:r>
            <a:endParaRPr lang="en-US" sz="1350" dirty="0"/>
          </a:p>
        </p:txBody>
      </p:sp>
      <p:sp>
        <p:nvSpPr>
          <p:cNvPr id="7" name="Text 4"/>
          <p:cNvSpPr txBox="1"/>
          <p:nvPr/>
        </p:nvSpPr>
        <p:spPr>
          <a:xfrm>
            <a:off x="777240" y="1325880"/>
            <a:ext cx="10698480" cy="457200"/>
          </a:xfrm>
          <a:prstGeom prst="rect">
            <a:avLst/>
          </a:prstGeom>
          <a:noFill/>
          <a:ln/>
        </p:spPr>
        <p:txBody>
          <a:bodyPr wrap="square" lIns="0" tIns="0" rIns="0" bIns="0" rtlCol="0" anchor="t"/>
          <a:lstStyle/>
          <a:p>
            <a:pPr indent="0" marL="0">
              <a:spcAft>
                <a:spcPts val="600"/>
              </a:spcAft>
              <a:buNone/>
            </a:pPr>
            <a:r>
              <a:rPr lang="en-US" sz="1800" b="1" dirty="0">
                <a:solidFill>
                  <a:srgbClr val="494985"/>
                </a:solidFill>
                <a:latin typeface="Quicksand" pitchFamily="34" charset="0"/>
                <a:ea typeface="Quicksand" pitchFamily="34" charset="-122"/>
                <a:cs typeface="Quicksand" pitchFamily="34" charset="-120"/>
              </a:rPr>
              <a:t>On a sticky note or mini-whiteboard:</a:t>
            </a:r>
            <a:endParaRPr lang="en-US" sz="1800" dirty="0"/>
          </a:p>
        </p:txBody>
      </p:sp>
      <p:sp>
        <p:nvSpPr>
          <p:cNvPr id="8" name="Shape 5"/>
          <p:cNvSpPr/>
          <p:nvPr/>
        </p:nvSpPr>
        <p:spPr>
          <a:xfrm>
            <a:off x="777240" y="1965960"/>
            <a:ext cx="10744200" cy="1097280"/>
          </a:xfrm>
          <a:prstGeom prst="rect">
            <a:avLst/>
          </a:prstGeom>
          <a:solidFill>
            <a:srgbClr val="F6F5FC"/>
          </a:solidFill>
          <a:ln w="12700">
            <a:solidFill>
              <a:srgbClr val="F6F5FC"/>
            </a:solidFill>
            <a:prstDash val="solid"/>
          </a:ln>
        </p:spPr>
      </p:sp>
      <p:sp>
        <p:nvSpPr>
          <p:cNvPr id="9" name="Text 6"/>
          <p:cNvSpPr/>
          <p:nvPr/>
        </p:nvSpPr>
        <p:spPr>
          <a:xfrm>
            <a:off x="914400" y="21031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a</a:t>
            </a:r>
            <a:endParaRPr lang="en-US" sz="1400" dirty="0"/>
          </a:p>
        </p:txBody>
      </p:sp>
      <p:sp>
        <p:nvSpPr>
          <p:cNvPr id="10" name="Text 7"/>
          <p:cNvSpPr txBox="1"/>
          <p:nvPr/>
        </p:nvSpPr>
        <p:spPr>
          <a:xfrm>
            <a:off x="1435608" y="2075688"/>
            <a:ext cx="996696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Overriding vs overloading</a:t>
            </a:r>
            <a:endParaRPr lang="en-US" sz="1700" dirty="0"/>
          </a:p>
        </p:txBody>
      </p:sp>
      <p:sp>
        <p:nvSpPr>
          <p:cNvPr id="11" name="Text 8"/>
          <p:cNvSpPr txBox="1"/>
          <p:nvPr/>
        </p:nvSpPr>
        <p:spPr>
          <a:xfrm>
            <a:off x="1435608" y="2468880"/>
            <a:ext cx="9966960" cy="53035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Explain the difference between overriding and overloading a method.  [2]</a:t>
            </a:r>
            <a:endParaRPr lang="en-US" sz="1500" dirty="0"/>
          </a:p>
        </p:txBody>
      </p:sp>
      <p:sp>
        <p:nvSpPr>
          <p:cNvPr id="12" name="Shape 9"/>
          <p:cNvSpPr/>
          <p:nvPr/>
        </p:nvSpPr>
        <p:spPr>
          <a:xfrm>
            <a:off x="777240" y="3246120"/>
            <a:ext cx="10744200" cy="1097280"/>
          </a:xfrm>
          <a:prstGeom prst="rect">
            <a:avLst/>
          </a:prstGeom>
          <a:solidFill>
            <a:srgbClr val="F6F5FC"/>
          </a:solidFill>
          <a:ln w="12700">
            <a:solidFill>
              <a:srgbClr val="F6F5FC"/>
            </a:solidFill>
            <a:prstDash val="solid"/>
          </a:ln>
        </p:spPr>
      </p:sp>
      <p:sp>
        <p:nvSpPr>
          <p:cNvPr id="13" name="Text 10"/>
          <p:cNvSpPr/>
          <p:nvPr/>
        </p:nvSpPr>
        <p:spPr>
          <a:xfrm>
            <a:off x="914400" y="33832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b</a:t>
            </a:r>
            <a:endParaRPr lang="en-US" sz="1400" dirty="0"/>
          </a:p>
        </p:txBody>
      </p:sp>
      <p:sp>
        <p:nvSpPr>
          <p:cNvPr id="14" name="Text 11"/>
          <p:cNvSpPr txBox="1"/>
          <p:nvPr/>
        </p:nvSpPr>
        <p:spPr>
          <a:xfrm>
            <a:off x="1435608" y="3355848"/>
            <a:ext cx="996696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Is a or has a?</a:t>
            </a:r>
            <a:endParaRPr lang="en-US" sz="1700" dirty="0"/>
          </a:p>
        </p:txBody>
      </p:sp>
      <p:sp>
        <p:nvSpPr>
          <p:cNvPr id="15" name="Text 12"/>
          <p:cNvSpPr txBox="1"/>
          <p:nvPr/>
        </p:nvSpPr>
        <p:spPr>
          <a:xfrm>
            <a:off x="1435608" y="3749040"/>
            <a:ext cx="9966960" cy="53035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Class Car and class Engine: inheritance or containment? Give a reason.  [1]</a:t>
            </a:r>
            <a:endParaRPr lang="en-US" sz="1500" dirty="0"/>
          </a:p>
        </p:txBody>
      </p:sp>
      <p:sp>
        <p:nvSpPr>
          <p:cNvPr id="16" name="Shape 13"/>
          <p:cNvSpPr/>
          <p:nvPr/>
        </p:nvSpPr>
        <p:spPr>
          <a:xfrm>
            <a:off x="777240" y="4526280"/>
            <a:ext cx="10744200" cy="1097280"/>
          </a:xfrm>
          <a:prstGeom prst="rect">
            <a:avLst/>
          </a:prstGeom>
          <a:solidFill>
            <a:srgbClr val="F6F5FC"/>
          </a:solidFill>
          <a:ln w="12700">
            <a:solidFill>
              <a:srgbClr val="F6F5FC"/>
            </a:solidFill>
            <a:prstDash val="solid"/>
          </a:ln>
        </p:spPr>
      </p:sp>
      <p:sp>
        <p:nvSpPr>
          <p:cNvPr id="17" name="Text 14"/>
          <p:cNvSpPr/>
          <p:nvPr/>
        </p:nvSpPr>
        <p:spPr>
          <a:xfrm>
            <a:off x="914400" y="46634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c</a:t>
            </a:r>
            <a:endParaRPr lang="en-US" sz="1400" dirty="0"/>
          </a:p>
        </p:txBody>
      </p:sp>
      <p:sp>
        <p:nvSpPr>
          <p:cNvPr id="18" name="Text 15"/>
          <p:cNvSpPr txBox="1"/>
          <p:nvPr/>
        </p:nvSpPr>
        <p:spPr>
          <a:xfrm>
            <a:off x="1435608" y="4636008"/>
            <a:ext cx="996696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Call the parent</a:t>
            </a:r>
            <a:endParaRPr lang="en-US" sz="1700" dirty="0"/>
          </a:p>
        </p:txBody>
      </p:sp>
      <p:sp>
        <p:nvSpPr>
          <p:cNvPr id="19" name="Text 16"/>
          <p:cNvSpPr txBox="1"/>
          <p:nvPr/>
        </p:nvSpPr>
        <p:spPr>
          <a:xfrm>
            <a:off x="1435608" y="5029200"/>
            <a:ext cx="9966960" cy="53035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Dog inherits Animal, whose constructor is New(AName As String, ALegs As Integer). Write the first line of the Dog constructor New(DName As String).  [1]</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Summary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21</a:t>
            </a:r>
            <a:endParaRPr lang="en-US" sz="1350" dirty="0"/>
          </a:p>
        </p:txBody>
      </p:sp>
      <p:sp>
        <p:nvSpPr>
          <p:cNvPr id="7" name="Text 4"/>
          <p:cNvSpPr txBox="1"/>
          <p:nvPr/>
        </p:nvSpPr>
        <p:spPr>
          <a:xfrm>
            <a:off x="841248" y="1371600"/>
            <a:ext cx="10241280" cy="356616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Wrote getters and setters that protect and validate an object's data</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Used Inherits and MyBase.New to build a derived class from a base class</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Redefined methods with Overridable / Overrides (polymorphism) and used overloading</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Chose between inheritance (is a) and containment (has a)</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Traced a binary tree built from Node objects inside a TreeClass object</a:t>
            </a:r>
            <a:endParaRPr lang="en-US" sz="1700" dirty="0"/>
          </a:p>
        </p:txBody>
      </p:sp>
      <p:sp>
        <p:nvSpPr>
          <p:cNvPr id="8" name="Text 5"/>
          <p:cNvSpPr txBox="1"/>
          <p:nvPr/>
        </p:nvSpPr>
        <p:spPr>
          <a:xfrm>
            <a:off x="841248" y="5120640"/>
            <a:ext cx="10241280" cy="54864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Next: full Paper 4 OOP questions at the computer (Task 6 Part B).</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Classes 2: inheritance, polymorphism and containment</dc:title>
  <dc:subject>PptxGenJS Presentation</dc:subject>
  <dc:creator>PptxGenJS</dc:creator>
  <cp:lastModifiedBy>PptxGenJS</cp:lastModifiedBy>
  <cp:revision>1</cp:revision>
  <dcterms:created xsi:type="dcterms:W3CDTF">2026-10-28T01:41:46Z</dcterms:created>
  <dcterms:modified xsi:type="dcterms:W3CDTF">2026-10-28T01:41:46Z</dcterms:modified>
</cp:coreProperties>
</file>