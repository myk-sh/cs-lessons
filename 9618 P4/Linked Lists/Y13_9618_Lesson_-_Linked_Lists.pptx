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structure as the queues and stacks lessons. Uses both representations Cambridge has examined: an array of records (June 2021) and a 2D array (Nov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False - order is decided by the pointers, not the array positions. 2 True. 3 True (in Cambridge questions). 4 False - only pointers change. 5 True - the free/empty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vocabulary: node, data, pointer, start pointer, null pointer. The nodes do not have to be next to each other in memory - the arrows define the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trade-off: cheap insert/delete, but no direct access. Keep this table for the think-pair-share.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answers: a playlist or to-do list where items are inserted/removed often (linked list wins). Looking up the item at a known position many times, e.g. seat number N, or a lookup table (array wins).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Cambridge accepts a Structure (record) in VB.NET. The same array holds TWO linked lists: the data list and the list of free nodes. Every node is always in exactly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students to trace with a finger or mini-whiteboards before revealing the right-hand side. Common error: reading down the Data column in index order (1, 5, 6, 7, 2, 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2021 Q1(c)(i), 6 marks. This loop is the core of every linked list algorithm - search, add at end and remove are all this loop with extra lines. Structures in an array: passing ByVal is fine here because we only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this together, revealing one row at a time. The worksheet Task 2 uses the same trace table layout with a different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in step 2: save EmptyList into NewNode, then move EmptyList on BEFORE you overwrite the new node's NextNode. Otherwise the rest of the free list is lost (this is one of the Task 5 bugs).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2021 Q1(d)(i), 7 marks. Note the traversal loop tests LinkedList(Current).NextNode &lt;&gt; -1 (stop ON the last node), not Current &lt;&gt; -1 (which would run off the end).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 2024 Q3 stored the list in a 2D array of 20 nodes: column 0 = data, column 1 = pointer, all data initialised to -1. Inserting at the front needs no traversal at all - compare with AddNode.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to remove B we need to know the node BEFORE it (A), so the traversal must remember Previous. Special case: if the node is the first one there is no Previous, so FirstNode changes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 2024 Q3(d), 5 marks. The question said to assume the item is in the list, so there is no "not found" check. Extension question for strong students: what would happen if it were not in the list? (Current becomes -1 and LinkedList(-1, 0) crashes.)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AddNode() was worth 7 marks in 9618 Paper 4, June 2021 (Q1d). These are the typical marking points for that style of question, written for VB.NET.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1-5 on paper, Task 6 at the computer. Task 6 uses the real Nov 2024 test data so students can check their output against the expected output in the mark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output Ant, Cat, Dog. To remove Cat (index 0): node 1 (Ant) must now point to 2, so LinkedList(1).NextNode changes from 0 to 2. Node 0 then joins the empty list: its NextNode = the old EmptyList, and EmptyList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16" y="0"/>
            <a:ext cx="4288536" cy="68580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" y="2560320"/>
            <a:ext cx="7004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Linked lists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3547872"/>
            <a:ext cx="7004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Y13 - Cambridge International 9618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" y="4050792"/>
            <a:ext cx="1719072" cy="54864"/>
          </a:xfrm>
          <a:prstGeom prst="rect">
            <a:avLst/>
          </a:prstGeom>
          <a:solidFill>
            <a:srgbClr val="494985"/>
          </a:solidFill>
          <a:ln w="12700">
            <a:solidFill>
              <a:srgbClr val="4949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True or False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Starter activity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Choose whether each statement is True or False.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691640"/>
          <a:ext cx="10287000" cy="914400"/>
        </p:xfrm>
        <a:graphic>
          <a:graphicData uri="http://schemas.openxmlformats.org/drawingml/2006/table">
            <a:tbl>
              <a:tblPr/>
              <a:tblGrid>
                <a:gridCol w="809244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Statement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True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False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items in a linked list must be stored in consecutive array positions, in order.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Each node stores a data item and a pointer to the next node.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pointer value of -1 shows the end of the list.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When a node is removed, the array elements after it are shuffled up to fill the gap.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linked list stored in an array also needs a list of the free (empty) nodes.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 will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4630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Explain what a linked list is, and compare it with an array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Describe how a linked list and its free list are stored in an array of records or a 2D array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 a linked list by following the pointers from the start pointer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Write and trace VB.NET code to output, add and remove nodes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Apply Cambridge 9618 mark scheme points to your own linked list code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What is a linked list?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linked list is a dynamic data structure made of nodes. Each node holds a data item and a pointer to the next node. The order comes from the pointers, not from where the nodes are stored.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StartPointer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3154680"/>
            <a:ext cx="50292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834640" y="2880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49040" y="2880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23360" y="3154680"/>
            <a:ext cx="77724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846320" y="2880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760720" y="2880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3154680"/>
            <a:ext cx="77724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858000" y="2880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Cai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0" y="2880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46720" y="3154680"/>
            <a:ext cx="77724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8869680" y="2880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784080" y="2880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last node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pointer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55548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null pointer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" y="4160520"/>
            <a:ext cx="329184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4984" y="4297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536192" y="4270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 pointer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36192" y="4663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Holds the index of the first node. -1 means the list is empty.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389120" y="4160520"/>
            <a:ext cx="329184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297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047488" y="4270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Pointer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047488" y="4663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Each node stores the index of the node that comes next.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900416" y="4160520"/>
            <a:ext cx="329184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37576" y="4297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558784" y="42702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Null pointer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558784" y="46634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last node points to -1: there is nothing after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Array or linked list?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52728"/>
            <a:ext cx="1029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Suppose we must keep a list of names in alphabetical order.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828800"/>
          <a:ext cx="1038758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07822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Operation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Sorted array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Linked list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Insert a name in the middle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Shuffle every later item along one place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Change two pointers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Delete a name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Shuffle every later item back one place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Change one pointer (and return the node to the free list)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Find the 5th name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Jump straight to index 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Follow the pointers from the start, one node at a time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Storage used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 only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 plus one pointer per node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96112" y="4892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Linked lists make inserting and deleting cheap, but finding an item slower.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Think, pair, share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6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399032"/>
            <a:ext cx="10003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linked list makes inserting and deleting cheap, but you can only reach an item by following pointers from the start.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560320"/>
            <a:ext cx="10003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With a partner: describe one program where a linked list is the better choice, and one where an ordinary array is better. Justify each choice using the words "pointer" and "index".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Storing a linked list in an array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7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5486400" cy="274320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Structure Node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Data As Integer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NextNode As Integer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Structure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LinkedList(9) As Node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StartPointer As Integer = 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EmptyList As Integer = 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92240" y="1252728"/>
            <a:ext cx="502920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38988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1362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record for each node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50608" y="175564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Each array element is a Node with two fields: Data and NextNode.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92240" y="2487168"/>
            <a:ext cx="502920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62432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150608" y="259689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StartPointer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50608" y="299008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Index of the first node in the data list (-1 if the list is empty).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92240" y="3721608"/>
            <a:ext cx="502920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385876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150608" y="383133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EmptyList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150608" y="422452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Index of the first FREE node. The free nodes are linked together too (-1 = no free nodes).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One array, two linked lists: the data list and the empty (free) list. Every node is in exactly one of them.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Follow the pointers (June 2021)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8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88720"/>
          <a:ext cx="4389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Index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NextNode</a:t>
                      </a:r>
                      <a:endParaRPr lang="en-US" sz="13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6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0A0A8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6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6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0A0A8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8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56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8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0A0A8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9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9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0A0A8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3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188720"/>
            <a:ext cx="585216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06440" y="13258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327648" y="129844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StartPointer = 0: follow the data list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27648" y="169164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Index 0 -&gt; 1 -&gt; 4 -&gt; 2 -&gt; 7 -&gt; 3 -&gt; 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Output: 1, 5, 2, 6, 56, 7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0" y="2788920"/>
            <a:ext cx="585216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06440" y="29260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27648" y="289864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EmptyList = 5: follow the free list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27648" y="329184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Index 5 -&gt; 6 -&gt; 8 -&gt; 9 -&gt; 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Four free nodes are available for new data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4480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output order is NOT the order of the Data column. 56 is output before 7 because node 7 points to node 3.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Traversing: OutputNodes()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9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6675120" cy="384048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 OutputNodes(ByVal LinkedList() As Node, 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ByVal StartPointer As Integer)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Current As Integer = StartPointer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While Current &lt;&gt; -1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Console.WriteLine(LinkedList(Current).Data)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Current = LinkedList(Current).NextNode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While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Sub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1252728"/>
            <a:ext cx="384048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38988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39328" y="136245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 at the start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39328" y="17556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Current begins at StartPointer, not at index 0.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80960" y="2487168"/>
            <a:ext cx="384048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62432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25968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Stop at the null pointer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39328" y="299008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Loop until Current = -1. An empty list (-1) outputs nothing.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0" y="3721608"/>
            <a:ext cx="3840480" cy="109728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85876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38313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Follow the pointer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422452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Current becomes the NextNode of the node you are on.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Remember this loop. Searching, adding at the end and removing are all built on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Tracing OutputNodes()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10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52728"/>
            <a:ext cx="1029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Using the June 2021 list from slide 8 (StartPointer = 0):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6696" y="178308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3657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Current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Output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LinkedList(Current).NextNode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6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56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loop stops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955280" y="1783080"/>
            <a:ext cx="3566160" cy="13716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92440" y="192024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13648" y="18928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Each row = one pass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13648" y="228600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Output the data at Current, then move Current to its NextNode.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3291840"/>
            <a:ext cx="3566160" cy="13716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92440" y="342900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613648" y="34015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Last row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613648" y="379476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Current = -1, so the While condition is False and the loop ends.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Adding a node at the 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11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77824" y="1280160"/>
            <a:ext cx="502920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4984" y="14173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36192" y="13898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Is there a free node?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36192" y="1783080"/>
            <a:ext cx="4251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EmptyList = -1 the array is full: return False.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280160"/>
            <a:ext cx="530352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76288" y="138988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Take the first free node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876288" y="1783080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NewNode = EmptyList, then EmptyList = LinkedList(NewNode).NextNode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77824" y="2880360"/>
            <a:ext cx="502920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14984" y="30175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536192" y="2990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Fill it in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36192" y="3383280"/>
            <a:ext cx="4251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Store the data. Set its NextNode to -1, because it will be the last node.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2880360"/>
            <a:ext cx="5303520" cy="14173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30175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76288" y="299008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Link it 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876288" y="3383280"/>
            <a:ext cx="4526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the list was empty, StartPointer = NewNode. Otherwise traverse to the last node and set its NextNode to NewNode.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" y="46177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June 2021 list: adding 5 uses free node 5. EmptyList becomes 6, node 3 (data 7) now points to 5, and node 5 points to -1.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Writing AddNode() in VB.NET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12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188720"/>
            <a:ext cx="10789920" cy="489204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280160"/>
            <a:ext cx="105156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 AddNode(ByRef LinkedList() As Node, ByRef StartPointer As Integer, _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 ByRef EmptyList As Integer) As Boolean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Console.Write("Enter the data to add: 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DataToAdd As Integer = Integer.Parse(Console.ReadLine())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EmptyList = -1 Then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False                              ' no free nodes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NewNode As Integer = EmptyList            ' take the first free node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EmptyList = LinkedList(NewNode).NextNode      ' free list moves 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LinkedList(NewNode).Data = DataToAdd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LinkedList(NewNode).NextNode = -1             ' it will be the last node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StartPointer = -1 Then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StartPointer = NewNode                    ' the list was empty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Else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Dim Current As Integer = StartPointer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While LinkedList(Current).NextNode &lt;&gt; -1  ' find the last node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Current = LinkedList(Current).NextNode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End While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LinkedList(Current).NextNode = NewNode    ' link it 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True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Function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Inserting at the front (2D array)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13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4754880" cy="374904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LinkedList(19, 1) As Integer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FirstNode As Integer = -1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FirstEmpty As Integer = 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 In Main: build the empty list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 Index As Integer = 0 To 19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LinkedList(Index, 0) = -1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LinkedList(Index, 1) = Index + 1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LinkedList(19, 1) = -1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0" y="1252728"/>
            <a:ext cx="5852160" cy="374904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806440" y="1344168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 InsertAtFront(ByVal DataToAdd As Integer)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FirstEmpty = -1 Then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Console.WriteLine("List full")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Exit Sub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NewNode As Integer = FirstEmpty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FirstEmpty = LinkedList(NewNode, 1)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LinkedList(NewNode, 0) = DataToAdd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LinkedList(NewNode, 1) = FirstNode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FirstNode = NewNode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Sub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5212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Column 0 holds the data, column 1 holds the pointer. Inserting at the front: the new node points at the old first node, then FirstNode points at the new node.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Removing a node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14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37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1680" y="1737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2011680"/>
            <a:ext cx="68580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291840" y="1737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06240" y="1737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011680"/>
            <a:ext cx="68580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486400" y="173736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After removing 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20040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011680" y="320040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560320" y="3474720"/>
            <a:ext cx="288036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5486400" y="3200400"/>
            <a:ext cx="914400" cy="548640"/>
          </a:xfrm>
          <a:prstGeom prst="rect">
            <a:avLst/>
          </a:prstGeom>
          <a:solidFill>
            <a:srgbClr val="E9E8F5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4297680"/>
            <a:ext cx="914400" cy="548640"/>
          </a:xfrm>
          <a:prstGeom prst="rect">
            <a:avLst/>
          </a:prstGeom>
          <a:solidFill>
            <a:srgbClr val="EEEEEE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06240" y="4297680"/>
            <a:ext cx="548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4572000"/>
            <a:ext cx="685800" cy="914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548640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EmptyList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834640" y="4892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 joins the front of the empty list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06640" y="1280160"/>
            <a:ext cx="4114800" cy="12344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3800" y="14173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65008" y="13898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Find it, remembering Previous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065008" y="1783080"/>
            <a:ext cx="3337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Traverse until the data matches. Keep the index of the node before it.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406640" y="2651760"/>
            <a:ext cx="4114800" cy="13716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278892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065008" y="2761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Skip over it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065008" y="3154680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Previous now points where the removed node pointed. If there is no Previous, change FirstNode.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406640" y="4160520"/>
            <a:ext cx="4114800" cy="123444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43800" y="4297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065008" y="42702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Recycle the node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065008" y="4663440"/>
            <a:ext cx="3337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Its pointer = FirstEmpty, then FirstEmpty = its index.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Writing RemoveData() in VB.NET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15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10789920" cy="411480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 RemoveData(ByVal DataToRemove As Integer)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Current As Integer = FirstNode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Previous As Integer = -1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While LinkedList(Current, 0) &lt;&gt; DataToRemove   ' find the node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Previous = Current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Current = LinkedList(Current, 1)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While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Previous = -1 Then                          ' it was the first node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FirstNode = LinkedList(Current, 1)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Else                                           ' skip over it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LinkedList(Previous, 1) = LinkedList(Current, 1)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LinkedList(Current, 1) = FirstEmpty            ' recycle the node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FirstEmpty = Current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Sub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Test both cases: removing the FIRST node (Previous stays -1) and removing a node further along the list.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Cambridge examiners mark this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16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AddNode() was worth 7 marks in June 2021. Typical marking points: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691640"/>
          <a:ext cx="1038758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473184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What the examiner is looking for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Function header with the list and both pointers as parameters, returns Boolean; inputs the data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Checks if the list is full (EmptyList = -1) and returns False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Stores the data in the node at EmptyList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Updates EmptyList to the next free node (before that node's pointer is overwritten)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Sets the new node's NextNode to -1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Traverses the list to find the last node (the node whose NextNode = -1)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Sets the last node's NextNode to the new node, and returns True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Guided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17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98448"/>
            <a:ext cx="1029614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Turn to the worksheet - tasks get progressively harder, just like Cambridge exam questions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2: follow the pointers, trace OutputNodes(), then trace an add and a remove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3: complete the missing lines of RemoveData()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4: write a FindNode() search function from a specification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5: find and fix two bugs in a broken AddNode()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6 (at the computer): build and test a complete linked list program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 your work against the answer key when your teacher shares it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Common misconceptions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18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280160"/>
          <a:ext cx="1078992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309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Misconception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Why it is wrong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"The list order is the array order."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order comes from following the pointers from the start pointer.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"The last node is at the highest index."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last node is whichever node has a pointer of -1.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"Removing a node shuffles the array."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Only pointers change. The node is moved onto the empty list for reuse.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"Removing works the same for every node."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Removing the first node changes the start pointer, not another node's pointer.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"Just loop While Current &lt;&gt; -1 to find the last node."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That runs past the last node. Loop while the NEXT pointer is not -1.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Exit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19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StartPointer = 1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7824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Index</a:t>
                      </a:r>
                      <a:endParaRPr lang="en-US" sz="16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Data</a:t>
                      </a:r>
                      <a:endParaRPr lang="en-US" sz="16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NextNode</a:t>
                      </a:r>
                      <a:endParaRPr lang="en-US" sz="16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Cat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Ant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Dog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6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035040" y="1783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1. In what order will OutputNodes() output the data?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697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2. "Cat" is removed. Which node's pointer must change, and what is its new value?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3794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3. What happens to the node that stored "Cat"?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Summary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417320"/>
            <a:ext cx="10296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Defined a linked list as nodes joined by pointers, and compared it with an array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Stored a linked list and its free list in an array of records and in a 2D array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Traced a linked list by following pointers from the start pointer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Wrote VB.NET code to output, add (at the front and end) and remove nodes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Applied real Cambridge 9618 mark scheme criteria to your own code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493776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Next lesson: binary trees - nodes with two pointers.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lists</dc:title>
  <dc:subject>PptxGenJS Presentation</dc:subject>
  <dc:creator>PptxGenJS</dc:creator>
  <cp:lastModifiedBy>PptxGenJS</cp:lastModifiedBy>
  <cp:revision>1</cp:revision>
  <dcterms:created xsi:type="dcterms:W3CDTF">2026-09-30T01:57:43Z</dcterms:created>
  <dcterms:modified xsi:type="dcterms:W3CDTF">2026-09-30T01:57:43Z</dcterms:modified>
</cp:coreProperties>
</file>