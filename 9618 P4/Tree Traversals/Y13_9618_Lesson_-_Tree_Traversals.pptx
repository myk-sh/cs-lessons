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Follow-up to the binary trees lesson. Students found recursion hard, so this lesson slows down: draw the tree, walk around it by hand, act out the recursion, then trace it with a call stack and an exam-style trace table before writing code. Built around 9618/41 Nov 2021 Q3 (InOrder, 7 marks) and the Paper 3 tree and recursion questions from 2021-2025.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True. 2 False - IN-order gives ascending order on an ordered tree; pre-order starts with the root. 3 True. 4 True - in our traversals the base case is a -1 pointer: no call is made. 5 False - it carries on from the line AFTER the call. The call stack remembers where each call was up to. This is the key idea for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asked this. Key message: a tree keeps data in order AND lets you halve the search at every step - a balanced tree of 1 million items needs about 20 comparisons to find any one. Real libraries use self-balancing trees (red-black trees) so the tree never turns into a "stick" - remember the sorted-input think-pair-share from last lesson. Databases use B-trees: a wider cousin where each node holds many keys, because reading from disk is slow. Expression trees are on slide 17 and link to RPN in Paper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 whiteboards BEFORE revealing. Last lesson's exit question was 50, 30, 70, 20, 40, 60 - now add 80 and 35. 35: smaller than 50 (left), bigger than 30 (right), smaller than 40 (left). Then fill in the array: index = insertion order. Paper 3 asks for exactly this in both directions (9618/32 Nov 2024 Q11, 9618/31 June 2025 Q4).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traversal visits every node exactly once. The three Cambridge traversals differ only in WHEN the root is output. Left always comes before right. Point at the colours - they stay the same all lesson: teal pre, orange in, purple post.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live. Put three dots on every node: left side, underneath, right side. Then draw ONE line around the outside of the whole tree, starting above the root and going down the left side first, hugging every branch, and finishing back at the top. Each node gets passed three times - once on each dot. Write a node down when your line passes the dot for the traversal you want. This works on any tree, every time, and is the fastest way to check a Paper 4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walk every time - only the dot changes. The numbers show the order the nodes are written. Ask: what do you notice about the first value of pre-order and the last value of post-order? (Both are the root.) And in-order? (Sorted.)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quick checks catch most traversal mistakes. They do not prove an answer is right, but they spot most wrong ones. Count check: 8 nodes in, 8 values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 whiteboards, 3 minutes. Tree from 9618/32 Nov 2024 Q11. Answers - pre: 25 4 1 16 9 36 64 49. In: 1 4 9 16 25 36 49 64. Post: 1 9 16 4 49 64 36 25. Common slip: 36 has no left child, so in in-order 36 comes straight after 25; in post-order 49 comes before 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it out. Give 8 students a card each (50, 30, 70, 20, 40, 60, 80, 35) and stand them in the tree shape. Every student follows the SAME four jobs. You call the root: "50, do your jobs". Each student who is waiting stays standing with a hand on the shoulder of the student they called - that chain of hands IS the call stack. When someone sits down they have returned, and the student who called them carries on from job 2 (not from job 1). Run it once for in-order, then ask the class how to change the jobs for pre-order (say your number first) and post-order (say it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procedure as last lesson. Map each block to a job from the previous slide. The parameter Root is the INDEX of a node, not its data - InOrder(1) looks at row 1, which holds 30. The base case is not a separate IF: when a pointer is -1, no call is made, so the recursion stops. Called with InOrder(RootPointer).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InOrder on the subtree under 30 (30, 20, 40, 35). Each box is one call of InOrder that has not finished yet; the top box is the one running. A call pushes a box; End Sub pops it, and the box underneath carries on from the line after its call. This is why Paper 3 asks why a stack is used for recursion: last call in, first call out (LIFO). Boxes show node data for readability; the real parameter is the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shape Paper 3 uses for recursion traces (9618/31 June 2023 Q12(b), a recursive Fibonacci, 5 marks: call number, call, winding down to the base case, unwinding back up, return values). Notice call 1 appears three times: it is the same call carrying on each time a call it made returns. Index in the Call column, data in the Node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procedures are identical except for WHERE the output line goes. This is exactly the "correct order" mark in the Paper 4 mark schemes: every other line can be right, but the output in the wrong place loses that mark. Ask students to point to the line that 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Teal badge (left) = the order the calls START. Purple badge (right) = the order the calls FINISH. Pre-order prints as soon as a call starts, so it lists nodes in call-start order: 50 30 20 40 35 70 60 80. Post-order prints just before End Sub, so it lists nodes in finish order: 20 35 40 30 60 80 70 50. A node can only finish after both of its children have finished - so the root always finishes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Leaves are numbers; every other node is an operator applied to its two subtrees. Post-order gives Reverse Polish Notation - this is the exact RPN from 9618/31 June 2024 Q5(a), where students had to turn it back into infix: ((5 + 2) / (9 - 3)) * 3 (3 marks). In-order gives the infix order but loses the brackets, which is why compilers convert to RPN and evaluate it with a stack. Answer: 7 / 6 * 3 = 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every 9618 Paper 3 and Paper 4 between June 2021 and November 2025 that we could get (a few June 2022 papers were not available). Listing a traversal is never a whole question on its own, but it is needed for the "correct order" mark and to check the screenshot. Paper 4 tree questions usually also have AddNode and a print-the-array part (Nov 2021 Q3 had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9618/41 Nov 2021 Q3(e)(i), 7 marks, 1 per point - this is Task 4(b) on the worksheet. The last mark is ONLY for the order. June 2025 (9618/41) Q3(d) OutputInOrder was the same idea with Node objects: header taking a node; left null check + recursive call; output data; right null check + recursive call; correct order (5 marks). Then 1 mark for a screenshot with the exact test data (the Nov 2021 answer is 4 5 6 8 9 10 11 12 15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these word for word - they come up almost every series. Features: 9618/31 Nov 2025 Q9(b) and Nov 2021 Q10(a), 3 marks. Why a stack: 9618/32 Nov 2025 Q12(b), max 3 from 4 points; Nov 2021 Q10(b) was the same. Describe recursion: 9618/31 June 2025 Q4(b), 2 marks: a subroutine that calls itself... until the base case is reached, when no further calls are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Tasks 1-3 are on paper and are the core of the lesson - do not rush them. Task 4 onwards can run into the next lesson or be set for homework. Task 6 is the full Nov 2021 Paper 4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tree 40 (20 (10, 30 (25, -)), 60). Post-order: 10 25 30 20 60 40. When 25 is output the calls waiting are, bottom to top: 40, 20, 30, with 25 running on top (4 boxes). Pre-order and post-order alone would NOT be enough to rebuild an unordered tree, but this tree is ordered, so the in-order is just the sorted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lesson line is a suggestion - edit it to match the scheme of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900416" y="0"/>
            <a:ext cx="4288536" cy="6858000"/>
          </a:xfrm>
          <a:prstGeom prst="rect">
            <a:avLst/>
          </a:prstGeom>
          <a:solidFill>
            <a:srgbClr val="FFD84D"/>
          </a:solidFill>
          <a:ln w="12700">
            <a:solidFill>
              <a:srgbClr val="FFD84D"/>
            </a:solidFill>
            <a:prstDash val="solid"/>
          </a:ln>
        </p:spPr>
      </p:sp>
      <p:sp>
        <p:nvSpPr>
          <p:cNvPr id="3" name="Text 1"/>
          <p:cNvSpPr txBox="1"/>
          <p:nvPr/>
        </p:nvSpPr>
        <p:spPr>
          <a:xfrm>
            <a:off x="667512" y="2560320"/>
            <a:ext cx="7004304" cy="914400"/>
          </a:xfrm>
          <a:prstGeom prst="rect">
            <a:avLst/>
          </a:prstGeom>
          <a:noFill/>
          <a:ln/>
        </p:spPr>
        <p:txBody>
          <a:bodyPr wrap="square" lIns="0" tIns="0" rIns="0" bIns="0" rtlCol="0" anchor="b"/>
          <a:lstStyle/>
          <a:p>
            <a:pPr indent="0" marL="0">
              <a:buNone/>
            </a:pPr>
            <a:r>
              <a:rPr lang="en-US" sz="5400" b="1" dirty="0">
                <a:solidFill>
                  <a:srgbClr val="202124"/>
                </a:solidFill>
                <a:latin typeface="Quicksand" pitchFamily="34" charset="0"/>
                <a:ea typeface="Quicksand" pitchFamily="34" charset="-122"/>
                <a:cs typeface="Quicksand" pitchFamily="34" charset="-120"/>
              </a:rPr>
              <a:t>Tree traversals</a:t>
            </a:r>
            <a:endParaRPr lang="en-US" sz="5400" dirty="0"/>
          </a:p>
        </p:txBody>
      </p:sp>
      <p:sp>
        <p:nvSpPr>
          <p:cNvPr id="4" name="Text 2"/>
          <p:cNvSpPr txBox="1"/>
          <p:nvPr/>
        </p:nvSpPr>
        <p:spPr>
          <a:xfrm>
            <a:off x="667512" y="3547872"/>
            <a:ext cx="7004304" cy="411480"/>
          </a:xfrm>
          <a:prstGeom prst="rect">
            <a:avLst/>
          </a:prstGeom>
          <a:noFill/>
          <a:ln/>
        </p:spPr>
        <p:txBody>
          <a:bodyPr wrap="square" lIns="0" tIns="0" rIns="0" bIns="0" rtlCol="0" anchor="ctr"/>
          <a:lstStyle/>
          <a:p>
            <a:pPr indent="0" marL="0">
              <a:buNone/>
            </a:pPr>
            <a:r>
              <a:rPr lang="en-US" sz="2000" dirty="0">
                <a:solidFill>
                  <a:srgbClr val="666666"/>
                </a:solidFill>
                <a:latin typeface="Quicksand" pitchFamily="34" charset="0"/>
                <a:ea typeface="Quicksand" pitchFamily="34" charset="-122"/>
                <a:cs typeface="Quicksand" pitchFamily="34" charset="-120"/>
              </a:rPr>
              <a:t>Y13 - Cambridge International 9618</a:t>
            </a:r>
            <a:endParaRPr lang="en-US" sz="2000" dirty="0"/>
          </a:p>
        </p:txBody>
      </p:sp>
      <p:sp>
        <p:nvSpPr>
          <p:cNvPr id="5" name="Shape 3"/>
          <p:cNvSpPr/>
          <p:nvPr/>
        </p:nvSpPr>
        <p:spPr>
          <a:xfrm>
            <a:off x="667512" y="4050792"/>
            <a:ext cx="1719072" cy="54864"/>
          </a:xfrm>
          <a:prstGeom prst="rect">
            <a:avLst/>
          </a:prstGeom>
          <a:solidFill>
            <a:srgbClr val="494985"/>
          </a:solidFill>
          <a:ln w="12700">
            <a:solidFill>
              <a:srgbClr val="494985"/>
            </a:solidFill>
            <a:prstDash val="solid"/>
          </a:ln>
        </p:spPr>
      </p:sp>
      <p:sp>
        <p:nvSpPr>
          <p:cNvPr id="6" name="Text 4"/>
          <p:cNvSpPr txBox="1"/>
          <p:nvPr/>
        </p:nvSpPr>
        <p:spPr>
          <a:xfrm>
            <a:off x="11247120" y="6400800"/>
            <a:ext cx="548640" cy="274320"/>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True or False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Starter activity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a:t>
            </a:r>
            <a:endParaRPr lang="en-US" sz="1350" dirty="0"/>
          </a:p>
        </p:txBody>
      </p:sp>
      <p:sp>
        <p:nvSpPr>
          <p:cNvPr id="7" name="Text 4"/>
          <p:cNvSpPr txBox="1"/>
          <p:nvPr/>
        </p:nvSpPr>
        <p:spPr>
          <a:xfrm>
            <a:off x="841248" y="1188720"/>
            <a:ext cx="9144000" cy="365760"/>
          </a:xfrm>
          <a:prstGeom prst="rect">
            <a:avLst/>
          </a:prstGeom>
          <a:noFill/>
          <a:ln/>
        </p:spPr>
        <p:txBody>
          <a:bodyPr wrap="square" lIns="0" tIns="0" rIns="0" bIns="0" rtlCol="0" anchor="t"/>
          <a:lstStyle/>
          <a:p>
            <a:pPr indent="0" marL="0">
              <a:spcAft>
                <a:spcPts val="600"/>
              </a:spcAft>
              <a:buNone/>
            </a:pPr>
            <a:r>
              <a:rPr lang="en-US" sz="1600" dirty="0">
                <a:solidFill>
                  <a:srgbClr val="202124"/>
                </a:solidFill>
                <a:latin typeface="Quicksand" pitchFamily="34" charset="0"/>
                <a:ea typeface="Quicksand" pitchFamily="34" charset="-122"/>
                <a:cs typeface="Quicksand" pitchFamily="34" charset="-120"/>
              </a:rPr>
              <a:t>Choose whether each statement is True or False.</a:t>
            </a:r>
            <a:endParaRPr lang="en-US" sz="1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950976" y="1691640"/>
          <a:ext cx="10287000" cy="914400"/>
        </p:xfrm>
        <a:graphic>
          <a:graphicData uri="http://schemas.openxmlformats.org/drawingml/2006/table">
            <a:tbl>
              <a:tblPr/>
              <a:tblGrid>
                <a:gridCol w="8092440"/>
                <a:gridCol w="1097280"/>
                <a:gridCol w="1097280"/>
              </a:tblGrid>
              <a:tr h="566928">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Statement</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True</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False</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6692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A traversal visits every node in the tree exactly once.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A pre-order traversal of an ordered binary tree outputs the data in ascending order.</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In a post-order traversal, the root is always the last value output.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A recursive procedure needs a base case, where it stops calling itself.</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When a recursive call finishes, the calling procedure starts again from its first line.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In this lesson, you will</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Objectives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3</a:t>
            </a:r>
            <a:endParaRPr lang="en-US" sz="1350" dirty="0"/>
          </a:p>
        </p:txBody>
      </p:sp>
      <p:sp>
        <p:nvSpPr>
          <p:cNvPr id="6" name="Text 4"/>
          <p:cNvSpPr txBox="1"/>
          <p:nvPr/>
        </p:nvSpPr>
        <p:spPr>
          <a:xfrm>
            <a:off x="841248" y="1463040"/>
            <a:ext cx="10241280" cy="3840480"/>
          </a:xfrm>
          <a:prstGeom prst="rect">
            <a:avLst/>
          </a:prstGeom>
          <a:noFill/>
          <a:ln/>
        </p:spPr>
        <p:txBody>
          <a:bodyPr wrap="square" lIns="0" tIns="0" rIns="0" bIns="0" rtlCol="0" anchor="t"/>
          <a:lstStyle/>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See where binary trees are used in real software</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Draw a binary tree from data and from a 2D array, and fill in the array from a tree</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Write the pre-order, in-order and post-order traversals of any tree using the walk-around method</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Trace a recursive traversal with a call stack and an exam-style trace table</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Write a recursive traversal in VB.NET and know how Paper 3 and Paper 4 mark it</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Where are binary trees used?</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1</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4</a:t>
            </a:r>
            <a:endParaRPr lang="en-US" sz="1350" dirty="0"/>
          </a:p>
        </p:txBody>
      </p:sp>
      <p:sp>
        <p:nvSpPr>
          <p:cNvPr id="7" name="Shape 4"/>
          <p:cNvSpPr/>
          <p:nvPr/>
        </p:nvSpPr>
        <p:spPr>
          <a:xfrm>
            <a:off x="704088" y="1280160"/>
            <a:ext cx="3474720" cy="2057400"/>
          </a:xfrm>
          <a:prstGeom prst="rect">
            <a:avLst/>
          </a:prstGeom>
          <a:solidFill>
            <a:srgbClr val="F6F5FC"/>
          </a:solidFill>
          <a:ln w="12700">
            <a:solidFill>
              <a:srgbClr val="F6F5FC"/>
            </a:solidFill>
            <a:prstDash val="solid"/>
          </a:ln>
        </p:spPr>
      </p:sp>
      <p:sp>
        <p:nvSpPr>
          <p:cNvPr id="8" name="Shape 5"/>
          <p:cNvSpPr/>
          <p:nvPr/>
        </p:nvSpPr>
        <p:spPr>
          <a:xfrm>
            <a:off x="704088" y="1280160"/>
            <a:ext cx="82296" cy="2057400"/>
          </a:xfrm>
          <a:prstGeom prst="rect">
            <a:avLst/>
          </a:prstGeom>
          <a:solidFill>
            <a:srgbClr val="1F8A8A"/>
          </a:solidFill>
          <a:ln/>
        </p:spPr>
      </p:sp>
      <p:sp>
        <p:nvSpPr>
          <p:cNvPr id="9" name="Text 6"/>
          <p:cNvSpPr txBox="1"/>
          <p:nvPr/>
        </p:nvSpPr>
        <p:spPr>
          <a:xfrm>
            <a:off x="932688" y="1417320"/>
            <a:ext cx="3154680" cy="411480"/>
          </a:xfrm>
          <a:prstGeom prst="rect">
            <a:avLst/>
          </a:prstGeom>
          <a:noFill/>
          <a:ln/>
        </p:spPr>
        <p:txBody>
          <a:bodyPr wrap="square" lIns="0" tIns="0" rIns="0" bIns="0" rtlCol="0" anchor="ctr"/>
          <a:lstStyle/>
          <a:p>
            <a:pPr indent="0" marL="0">
              <a:buNone/>
            </a:pPr>
            <a:r>
              <a:rPr lang="en-US" sz="1600" b="1" dirty="0">
                <a:solidFill>
                  <a:srgbClr val="202124"/>
                </a:solidFill>
                <a:latin typeface="Quicksand" pitchFamily="34" charset="0"/>
                <a:ea typeface="Quicksand" pitchFamily="34" charset="-122"/>
                <a:cs typeface="Quicksand" pitchFamily="34" charset="-120"/>
              </a:rPr>
              <a:t>Compilers and calculators</a:t>
            </a:r>
            <a:endParaRPr lang="en-US" sz="1600" dirty="0"/>
          </a:p>
        </p:txBody>
      </p:sp>
      <p:sp>
        <p:nvSpPr>
          <p:cNvPr id="10" name="Text 7"/>
          <p:cNvSpPr txBox="1"/>
          <p:nvPr/>
        </p:nvSpPr>
        <p:spPr>
          <a:xfrm>
            <a:off x="932688" y="1874520"/>
            <a:ext cx="3154680" cy="1371600"/>
          </a:xfrm>
          <a:prstGeom prst="rect">
            <a:avLst/>
          </a:prstGeom>
          <a:noFill/>
          <a:ln/>
        </p:spPr>
        <p:txBody>
          <a:bodyPr wrap="square" lIns="0" tIns="0" rIns="0" bIns="0" rtlCol="0" anchor="t"/>
          <a:lstStyle/>
          <a:p>
            <a:pPr indent="0" marL="0">
              <a:buNone/>
            </a:pPr>
            <a:r>
              <a:rPr lang="en-US" sz="1300" dirty="0">
                <a:solidFill>
                  <a:srgbClr val="202124"/>
                </a:solidFill>
                <a:latin typeface="Quicksand" pitchFamily="34" charset="0"/>
                <a:ea typeface="Quicksand" pitchFamily="34" charset="-122"/>
                <a:cs typeface="Quicksand" pitchFamily="34" charset="-120"/>
              </a:rPr>
              <a:t>An expression like (5 + 2) / (9 - 3) * 3 is stored as a tree. A post-order traversal turns it into Reverse Polish Notation.</a:t>
            </a:r>
            <a:endParaRPr lang="en-US" sz="1300" dirty="0"/>
          </a:p>
        </p:txBody>
      </p:sp>
      <p:sp>
        <p:nvSpPr>
          <p:cNvPr id="11" name="Shape 8"/>
          <p:cNvSpPr/>
          <p:nvPr/>
        </p:nvSpPr>
        <p:spPr>
          <a:xfrm>
            <a:off x="4361688" y="1280160"/>
            <a:ext cx="3474720" cy="2057400"/>
          </a:xfrm>
          <a:prstGeom prst="rect">
            <a:avLst/>
          </a:prstGeom>
          <a:solidFill>
            <a:srgbClr val="F6F5FC"/>
          </a:solidFill>
          <a:ln w="12700">
            <a:solidFill>
              <a:srgbClr val="F6F5FC"/>
            </a:solidFill>
            <a:prstDash val="solid"/>
          </a:ln>
        </p:spPr>
      </p:sp>
      <p:sp>
        <p:nvSpPr>
          <p:cNvPr id="12" name="Shape 9"/>
          <p:cNvSpPr/>
          <p:nvPr/>
        </p:nvSpPr>
        <p:spPr>
          <a:xfrm>
            <a:off x="4361688" y="1280160"/>
            <a:ext cx="82296" cy="2057400"/>
          </a:xfrm>
          <a:prstGeom prst="rect">
            <a:avLst/>
          </a:prstGeom>
          <a:solidFill>
            <a:srgbClr val="D9822B"/>
          </a:solidFill>
          <a:ln/>
        </p:spPr>
      </p:sp>
      <p:sp>
        <p:nvSpPr>
          <p:cNvPr id="13" name="Text 10"/>
          <p:cNvSpPr txBox="1"/>
          <p:nvPr/>
        </p:nvSpPr>
        <p:spPr>
          <a:xfrm>
            <a:off x="4590288" y="1417320"/>
            <a:ext cx="3154680" cy="411480"/>
          </a:xfrm>
          <a:prstGeom prst="rect">
            <a:avLst/>
          </a:prstGeom>
          <a:noFill/>
          <a:ln/>
        </p:spPr>
        <p:txBody>
          <a:bodyPr wrap="square" lIns="0" tIns="0" rIns="0" bIns="0" rtlCol="0" anchor="ctr"/>
          <a:lstStyle/>
          <a:p>
            <a:pPr indent="0" marL="0">
              <a:buNone/>
            </a:pPr>
            <a:r>
              <a:rPr lang="en-US" sz="1600" b="1" dirty="0">
                <a:solidFill>
                  <a:srgbClr val="202124"/>
                </a:solidFill>
                <a:latin typeface="Quicksand" pitchFamily="34" charset="0"/>
                <a:ea typeface="Quicksand" pitchFamily="34" charset="-122"/>
                <a:cs typeface="Quicksand" pitchFamily="34" charset="-120"/>
              </a:rPr>
              <a:t>Sorted collections</a:t>
            </a:r>
            <a:endParaRPr lang="en-US" sz="1600" dirty="0"/>
          </a:p>
        </p:txBody>
      </p:sp>
      <p:sp>
        <p:nvSpPr>
          <p:cNvPr id="14" name="Text 11"/>
          <p:cNvSpPr txBox="1"/>
          <p:nvPr/>
        </p:nvSpPr>
        <p:spPr>
          <a:xfrm>
            <a:off x="4590288" y="1874520"/>
            <a:ext cx="3154680" cy="1371600"/>
          </a:xfrm>
          <a:prstGeom prst="rect">
            <a:avLst/>
          </a:prstGeom>
          <a:noFill/>
          <a:ln/>
        </p:spPr>
        <p:txBody>
          <a:bodyPr wrap="square" lIns="0" tIns="0" rIns="0" bIns="0" rtlCol="0" anchor="t"/>
          <a:lstStyle/>
          <a:p>
            <a:pPr indent="0" marL="0">
              <a:buNone/>
            </a:pPr>
            <a:r>
              <a:rPr lang="en-US" sz="1300" dirty="0">
                <a:solidFill>
                  <a:srgbClr val="202124"/>
                </a:solidFill>
                <a:latin typeface="Quicksand" pitchFamily="34" charset="0"/>
                <a:ea typeface="Quicksand" pitchFamily="34" charset="-122"/>
                <a:cs typeface="Quicksand" pitchFamily="34" charset="-120"/>
              </a:rPr>
              <a:t>Java's TreeMap and C++'s std::map are binary search trees that balance themselves, so adding and finding stay fast.</a:t>
            </a:r>
            <a:endParaRPr lang="en-US" sz="1300" dirty="0"/>
          </a:p>
        </p:txBody>
      </p:sp>
      <p:sp>
        <p:nvSpPr>
          <p:cNvPr id="15" name="Shape 12"/>
          <p:cNvSpPr/>
          <p:nvPr/>
        </p:nvSpPr>
        <p:spPr>
          <a:xfrm>
            <a:off x="8019288" y="1280160"/>
            <a:ext cx="3474720" cy="2057400"/>
          </a:xfrm>
          <a:prstGeom prst="rect">
            <a:avLst/>
          </a:prstGeom>
          <a:solidFill>
            <a:srgbClr val="F6F5FC"/>
          </a:solidFill>
          <a:ln w="12700">
            <a:solidFill>
              <a:srgbClr val="F6F5FC"/>
            </a:solidFill>
            <a:prstDash val="solid"/>
          </a:ln>
        </p:spPr>
      </p:sp>
      <p:sp>
        <p:nvSpPr>
          <p:cNvPr id="16" name="Shape 13"/>
          <p:cNvSpPr/>
          <p:nvPr/>
        </p:nvSpPr>
        <p:spPr>
          <a:xfrm>
            <a:off x="8019288" y="1280160"/>
            <a:ext cx="82296" cy="2057400"/>
          </a:xfrm>
          <a:prstGeom prst="rect">
            <a:avLst/>
          </a:prstGeom>
          <a:solidFill>
            <a:srgbClr val="8E4FB8"/>
          </a:solidFill>
          <a:ln/>
        </p:spPr>
      </p:sp>
      <p:sp>
        <p:nvSpPr>
          <p:cNvPr id="17" name="Text 14"/>
          <p:cNvSpPr txBox="1"/>
          <p:nvPr/>
        </p:nvSpPr>
        <p:spPr>
          <a:xfrm>
            <a:off x="8247888" y="1417320"/>
            <a:ext cx="3154680" cy="411480"/>
          </a:xfrm>
          <a:prstGeom prst="rect">
            <a:avLst/>
          </a:prstGeom>
          <a:noFill/>
          <a:ln/>
        </p:spPr>
        <p:txBody>
          <a:bodyPr wrap="square" lIns="0" tIns="0" rIns="0" bIns="0" rtlCol="0" anchor="ctr"/>
          <a:lstStyle/>
          <a:p>
            <a:pPr indent="0" marL="0">
              <a:buNone/>
            </a:pPr>
            <a:r>
              <a:rPr lang="en-US" sz="1600" b="1" dirty="0">
                <a:solidFill>
                  <a:srgbClr val="202124"/>
                </a:solidFill>
                <a:latin typeface="Quicksand" pitchFamily="34" charset="0"/>
                <a:ea typeface="Quicksand" pitchFamily="34" charset="-122"/>
                <a:cs typeface="Quicksand" pitchFamily="34" charset="-120"/>
              </a:rPr>
              <a:t>Databases and file systems</a:t>
            </a:r>
            <a:endParaRPr lang="en-US" sz="1600" dirty="0"/>
          </a:p>
        </p:txBody>
      </p:sp>
      <p:sp>
        <p:nvSpPr>
          <p:cNvPr id="18" name="Text 15"/>
          <p:cNvSpPr txBox="1"/>
          <p:nvPr/>
        </p:nvSpPr>
        <p:spPr>
          <a:xfrm>
            <a:off x="8247888" y="1874520"/>
            <a:ext cx="3154680" cy="1371600"/>
          </a:xfrm>
          <a:prstGeom prst="rect">
            <a:avLst/>
          </a:prstGeom>
          <a:noFill/>
          <a:ln/>
        </p:spPr>
        <p:txBody>
          <a:bodyPr wrap="square" lIns="0" tIns="0" rIns="0" bIns="0" rtlCol="0" anchor="t"/>
          <a:lstStyle/>
          <a:p>
            <a:pPr indent="0" marL="0">
              <a:buNone/>
            </a:pPr>
            <a:r>
              <a:rPr lang="en-US" sz="1300" dirty="0">
                <a:solidFill>
                  <a:srgbClr val="202124"/>
                </a:solidFill>
                <a:latin typeface="Quicksand" pitchFamily="34" charset="0"/>
                <a:ea typeface="Quicksand" pitchFamily="34" charset="-122"/>
                <a:cs typeface="Quicksand" pitchFamily="34" charset="-120"/>
              </a:rPr>
              <a:t>Indexes use B-trees: a wider cousin of the binary tree. Each node holds many keys, so fewer slow disk reads are needed.</a:t>
            </a:r>
            <a:endParaRPr lang="en-US" sz="1300" dirty="0"/>
          </a:p>
        </p:txBody>
      </p:sp>
      <p:sp>
        <p:nvSpPr>
          <p:cNvPr id="19" name="Shape 16"/>
          <p:cNvSpPr/>
          <p:nvPr/>
        </p:nvSpPr>
        <p:spPr>
          <a:xfrm>
            <a:off x="704088" y="3520440"/>
            <a:ext cx="3474720" cy="2057400"/>
          </a:xfrm>
          <a:prstGeom prst="rect">
            <a:avLst/>
          </a:prstGeom>
          <a:solidFill>
            <a:srgbClr val="F6F5FC"/>
          </a:solidFill>
          <a:ln w="12700">
            <a:solidFill>
              <a:srgbClr val="F6F5FC"/>
            </a:solidFill>
            <a:prstDash val="solid"/>
          </a:ln>
        </p:spPr>
      </p:sp>
      <p:sp>
        <p:nvSpPr>
          <p:cNvPr id="20" name="Shape 17"/>
          <p:cNvSpPr/>
          <p:nvPr/>
        </p:nvSpPr>
        <p:spPr>
          <a:xfrm>
            <a:off x="704088" y="3520440"/>
            <a:ext cx="82296" cy="2057400"/>
          </a:xfrm>
          <a:prstGeom prst="rect">
            <a:avLst/>
          </a:prstGeom>
          <a:solidFill>
            <a:srgbClr val="1F8A8A"/>
          </a:solidFill>
          <a:ln/>
        </p:spPr>
      </p:sp>
      <p:sp>
        <p:nvSpPr>
          <p:cNvPr id="21" name="Text 18"/>
          <p:cNvSpPr txBox="1"/>
          <p:nvPr/>
        </p:nvSpPr>
        <p:spPr>
          <a:xfrm>
            <a:off x="932688" y="3657600"/>
            <a:ext cx="3154680" cy="411480"/>
          </a:xfrm>
          <a:prstGeom prst="rect">
            <a:avLst/>
          </a:prstGeom>
          <a:noFill/>
          <a:ln/>
        </p:spPr>
        <p:txBody>
          <a:bodyPr wrap="square" lIns="0" tIns="0" rIns="0" bIns="0" rtlCol="0" anchor="ctr"/>
          <a:lstStyle/>
          <a:p>
            <a:pPr indent="0" marL="0">
              <a:buNone/>
            </a:pPr>
            <a:r>
              <a:rPr lang="en-US" sz="1600" b="1" dirty="0">
                <a:solidFill>
                  <a:srgbClr val="202124"/>
                </a:solidFill>
                <a:latin typeface="Quicksand" pitchFamily="34" charset="0"/>
                <a:ea typeface="Quicksand" pitchFamily="34" charset="-122"/>
                <a:cs typeface="Quicksand" pitchFamily="34" charset="-120"/>
              </a:rPr>
              <a:t>Compression</a:t>
            </a:r>
            <a:endParaRPr lang="en-US" sz="1600" dirty="0"/>
          </a:p>
        </p:txBody>
      </p:sp>
      <p:sp>
        <p:nvSpPr>
          <p:cNvPr id="22" name="Text 19"/>
          <p:cNvSpPr txBox="1"/>
          <p:nvPr/>
        </p:nvSpPr>
        <p:spPr>
          <a:xfrm>
            <a:off x="932688" y="4114800"/>
            <a:ext cx="3154680" cy="1371600"/>
          </a:xfrm>
          <a:prstGeom prst="rect">
            <a:avLst/>
          </a:prstGeom>
          <a:noFill/>
          <a:ln/>
        </p:spPr>
        <p:txBody>
          <a:bodyPr wrap="square" lIns="0" tIns="0" rIns="0" bIns="0" rtlCol="0" anchor="t"/>
          <a:lstStyle/>
          <a:p>
            <a:pPr indent="0" marL="0">
              <a:buNone/>
            </a:pPr>
            <a:r>
              <a:rPr lang="en-US" sz="1300" dirty="0">
                <a:solidFill>
                  <a:srgbClr val="202124"/>
                </a:solidFill>
                <a:latin typeface="Quicksand" pitchFamily="34" charset="0"/>
                <a:ea typeface="Quicksand" pitchFamily="34" charset="-122"/>
                <a:cs typeface="Quicksand" pitchFamily="34" charset="-120"/>
              </a:rPr>
              <a:t>Huffman coding builds a binary tree: left = 0, right = 1 gives each character its code. Used in ZIP, JPEG and MP3.</a:t>
            </a:r>
            <a:endParaRPr lang="en-US" sz="1300" dirty="0"/>
          </a:p>
        </p:txBody>
      </p:sp>
      <p:sp>
        <p:nvSpPr>
          <p:cNvPr id="23" name="Shape 20"/>
          <p:cNvSpPr/>
          <p:nvPr/>
        </p:nvSpPr>
        <p:spPr>
          <a:xfrm>
            <a:off x="4361688" y="3520440"/>
            <a:ext cx="3474720" cy="2057400"/>
          </a:xfrm>
          <a:prstGeom prst="rect">
            <a:avLst/>
          </a:prstGeom>
          <a:solidFill>
            <a:srgbClr val="F6F5FC"/>
          </a:solidFill>
          <a:ln w="12700">
            <a:solidFill>
              <a:srgbClr val="F6F5FC"/>
            </a:solidFill>
            <a:prstDash val="solid"/>
          </a:ln>
        </p:spPr>
      </p:sp>
      <p:sp>
        <p:nvSpPr>
          <p:cNvPr id="24" name="Shape 21"/>
          <p:cNvSpPr/>
          <p:nvPr/>
        </p:nvSpPr>
        <p:spPr>
          <a:xfrm>
            <a:off x="4361688" y="3520440"/>
            <a:ext cx="82296" cy="2057400"/>
          </a:xfrm>
          <a:prstGeom prst="rect">
            <a:avLst/>
          </a:prstGeom>
          <a:solidFill>
            <a:srgbClr val="D9822B"/>
          </a:solidFill>
          <a:ln/>
        </p:spPr>
      </p:sp>
      <p:sp>
        <p:nvSpPr>
          <p:cNvPr id="25" name="Text 22"/>
          <p:cNvSpPr txBox="1"/>
          <p:nvPr/>
        </p:nvSpPr>
        <p:spPr>
          <a:xfrm>
            <a:off x="4590288" y="3657600"/>
            <a:ext cx="3154680" cy="411480"/>
          </a:xfrm>
          <a:prstGeom prst="rect">
            <a:avLst/>
          </a:prstGeom>
          <a:noFill/>
          <a:ln/>
        </p:spPr>
        <p:txBody>
          <a:bodyPr wrap="square" lIns="0" tIns="0" rIns="0" bIns="0" rtlCol="0" anchor="ctr"/>
          <a:lstStyle/>
          <a:p>
            <a:pPr indent="0" marL="0">
              <a:buNone/>
            </a:pPr>
            <a:r>
              <a:rPr lang="en-US" sz="1600" b="1" dirty="0">
                <a:solidFill>
                  <a:srgbClr val="202124"/>
                </a:solidFill>
                <a:latin typeface="Quicksand" pitchFamily="34" charset="0"/>
                <a:ea typeface="Quicksand" pitchFamily="34" charset="-122"/>
                <a:cs typeface="Quicksand" pitchFamily="34" charset="-120"/>
              </a:rPr>
              <a:t>Games and 3D graphics</a:t>
            </a:r>
            <a:endParaRPr lang="en-US" sz="1600" dirty="0"/>
          </a:p>
        </p:txBody>
      </p:sp>
      <p:sp>
        <p:nvSpPr>
          <p:cNvPr id="26" name="Text 23"/>
          <p:cNvSpPr txBox="1"/>
          <p:nvPr/>
        </p:nvSpPr>
        <p:spPr>
          <a:xfrm>
            <a:off x="4590288" y="4114800"/>
            <a:ext cx="3154680" cy="1371600"/>
          </a:xfrm>
          <a:prstGeom prst="rect">
            <a:avLst/>
          </a:prstGeom>
          <a:noFill/>
          <a:ln/>
        </p:spPr>
        <p:txBody>
          <a:bodyPr wrap="square" lIns="0" tIns="0" rIns="0" bIns="0" rtlCol="0" anchor="t"/>
          <a:lstStyle/>
          <a:p>
            <a:pPr indent="0" marL="0">
              <a:buNone/>
            </a:pPr>
            <a:r>
              <a:rPr lang="en-US" sz="1300" dirty="0">
                <a:solidFill>
                  <a:srgbClr val="202124"/>
                </a:solidFill>
                <a:latin typeface="Quicksand" pitchFamily="34" charset="0"/>
                <a:ea typeface="Quicksand" pitchFamily="34" charset="-122"/>
                <a:cs typeface="Quicksand" pitchFamily="34" charset="-120"/>
              </a:rPr>
              <a:t>Binary space partitioning trees split a level into halves, so the game only draws what the player can see (first used in Doom, 1993).</a:t>
            </a:r>
            <a:endParaRPr lang="en-US" sz="1300" dirty="0"/>
          </a:p>
        </p:txBody>
      </p:sp>
      <p:sp>
        <p:nvSpPr>
          <p:cNvPr id="27" name="Shape 24"/>
          <p:cNvSpPr/>
          <p:nvPr/>
        </p:nvSpPr>
        <p:spPr>
          <a:xfrm>
            <a:off x="8019288" y="3520440"/>
            <a:ext cx="3474720" cy="2057400"/>
          </a:xfrm>
          <a:prstGeom prst="rect">
            <a:avLst/>
          </a:prstGeom>
          <a:solidFill>
            <a:srgbClr val="F6F5FC"/>
          </a:solidFill>
          <a:ln w="12700">
            <a:solidFill>
              <a:srgbClr val="F6F5FC"/>
            </a:solidFill>
            <a:prstDash val="solid"/>
          </a:ln>
        </p:spPr>
      </p:sp>
      <p:sp>
        <p:nvSpPr>
          <p:cNvPr id="28" name="Shape 25"/>
          <p:cNvSpPr/>
          <p:nvPr/>
        </p:nvSpPr>
        <p:spPr>
          <a:xfrm>
            <a:off x="8019288" y="3520440"/>
            <a:ext cx="82296" cy="2057400"/>
          </a:xfrm>
          <a:prstGeom prst="rect">
            <a:avLst/>
          </a:prstGeom>
          <a:solidFill>
            <a:srgbClr val="8E4FB8"/>
          </a:solidFill>
          <a:ln/>
        </p:spPr>
      </p:sp>
      <p:sp>
        <p:nvSpPr>
          <p:cNvPr id="29" name="Text 26"/>
          <p:cNvSpPr txBox="1"/>
          <p:nvPr/>
        </p:nvSpPr>
        <p:spPr>
          <a:xfrm>
            <a:off x="8247888" y="3657600"/>
            <a:ext cx="3154680" cy="411480"/>
          </a:xfrm>
          <a:prstGeom prst="rect">
            <a:avLst/>
          </a:prstGeom>
          <a:noFill/>
          <a:ln/>
        </p:spPr>
        <p:txBody>
          <a:bodyPr wrap="square" lIns="0" tIns="0" rIns="0" bIns="0" rtlCol="0" anchor="ctr"/>
          <a:lstStyle/>
          <a:p>
            <a:pPr indent="0" marL="0">
              <a:buNone/>
            </a:pPr>
            <a:r>
              <a:rPr lang="en-US" sz="1600" b="1" dirty="0">
                <a:solidFill>
                  <a:srgbClr val="202124"/>
                </a:solidFill>
                <a:latin typeface="Quicksand" pitchFamily="34" charset="0"/>
                <a:ea typeface="Quicksand" pitchFamily="34" charset="-122"/>
                <a:cs typeface="Quicksand" pitchFamily="34" charset="-120"/>
              </a:rPr>
              <a:t>Decision making in AI</a:t>
            </a:r>
            <a:endParaRPr lang="en-US" sz="1600" dirty="0"/>
          </a:p>
        </p:txBody>
      </p:sp>
      <p:sp>
        <p:nvSpPr>
          <p:cNvPr id="30" name="Text 27"/>
          <p:cNvSpPr txBox="1"/>
          <p:nvPr/>
        </p:nvSpPr>
        <p:spPr>
          <a:xfrm>
            <a:off x="8247888" y="4114800"/>
            <a:ext cx="3154680" cy="1371600"/>
          </a:xfrm>
          <a:prstGeom prst="rect">
            <a:avLst/>
          </a:prstGeom>
          <a:noFill/>
          <a:ln/>
        </p:spPr>
        <p:txBody>
          <a:bodyPr wrap="square" lIns="0" tIns="0" rIns="0" bIns="0" rtlCol="0" anchor="t"/>
          <a:lstStyle/>
          <a:p>
            <a:pPr indent="0" marL="0">
              <a:buNone/>
            </a:pPr>
            <a:r>
              <a:rPr lang="en-US" sz="1300" dirty="0">
                <a:solidFill>
                  <a:srgbClr val="202124"/>
                </a:solidFill>
                <a:latin typeface="Quicksand" pitchFamily="34" charset="0"/>
                <a:ea typeface="Quicksand" pitchFamily="34" charset="-122"/>
                <a:cs typeface="Quicksand" pitchFamily="34" charset="-120"/>
              </a:rPr>
              <a:t>A decision tree asks one yes/no question at each node. Machine learning builds them to sort emails, photos or loan applications.</a:t>
            </a:r>
            <a:endParaRPr lang="en-US" sz="1300" dirty="0"/>
          </a:p>
        </p:txBody>
      </p:sp>
      <p:sp>
        <p:nvSpPr>
          <p:cNvPr id="31" name="Text 28"/>
          <p:cNvSpPr txBox="1"/>
          <p:nvPr/>
        </p:nvSpPr>
        <p:spPr>
          <a:xfrm>
            <a:off x="704088" y="5833872"/>
            <a:ext cx="10058400" cy="36576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Why? A tree keeps data in order, and each comparison skips half of what is left.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Warm-up: build the tree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1</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5</a:t>
            </a:r>
            <a:endParaRPr lang="en-US" sz="1350" dirty="0"/>
          </a:p>
        </p:txBody>
      </p:sp>
      <p:sp>
        <p:nvSpPr>
          <p:cNvPr id="7" name="Text 4"/>
          <p:cNvSpPr txBox="1"/>
          <p:nvPr/>
        </p:nvSpPr>
        <p:spPr>
          <a:xfrm>
            <a:off x="822960" y="1207008"/>
            <a:ext cx="6400800" cy="365760"/>
          </a:xfrm>
          <a:prstGeom prst="rect">
            <a:avLst/>
          </a:prstGeom>
          <a:noFill/>
          <a:ln/>
        </p:spPr>
        <p:txBody>
          <a:bodyPr wrap="square" lIns="0" tIns="0" rIns="0" bIns="0" rtlCol="0" anchor="t"/>
          <a:lstStyle/>
          <a:p>
            <a:pPr indent="0" marL="0">
              <a:spcAft>
                <a:spcPts val="600"/>
              </a:spcAft>
              <a:buNone/>
            </a:pPr>
            <a:r>
              <a:rPr lang="en-US" sz="1700" b="1" dirty="0">
                <a:solidFill>
                  <a:srgbClr val="202124"/>
                </a:solidFill>
                <a:latin typeface="Quicksand" pitchFamily="34" charset="0"/>
                <a:ea typeface="Quicksand" pitchFamily="34" charset="-122"/>
                <a:cs typeface="Quicksand" pitchFamily="34" charset="-120"/>
              </a:rPr>
              <a:t>Insert in this order: </a:t>
            </a:r>
            <a:r>
              <a:rPr lang="en-US" sz="1700" dirty="0">
                <a:solidFill>
                  <a:srgbClr val="202124"/>
                </a:solidFill>
                <a:latin typeface="Quicksand" pitchFamily="34" charset="0"/>
                <a:ea typeface="Quicksand" pitchFamily="34" charset="-122"/>
                <a:cs typeface="Quicksand" pitchFamily="34" charset="-120"/>
              </a:rPr>
              <a:t>50, 30, 70, 20, 40, 60, 80, 35</a:t>
            </a:r>
            <a:endParaRPr lang="en-US" sz="1700" dirty="0"/>
          </a:p>
        </p:txBody>
      </p:sp>
      <p:sp>
        <p:nvSpPr>
          <p:cNvPr id="8" name="Shape 5"/>
          <p:cNvSpPr/>
          <p:nvPr/>
        </p:nvSpPr>
        <p:spPr>
          <a:xfrm flipH="1">
            <a:off x="2212848" y="2354580"/>
            <a:ext cx="1344168" cy="548640"/>
          </a:xfrm>
          <a:prstGeom prst="line">
            <a:avLst/>
          </a:prstGeom>
          <a:noFill/>
          <a:ln w="19050">
            <a:solidFill>
              <a:srgbClr val="9A9AB5"/>
            </a:solidFill>
            <a:prstDash val="solid"/>
          </a:ln>
        </p:spPr>
      </p:sp>
      <p:sp>
        <p:nvSpPr>
          <p:cNvPr id="9" name="Shape 6"/>
          <p:cNvSpPr/>
          <p:nvPr/>
        </p:nvSpPr>
        <p:spPr>
          <a:xfrm>
            <a:off x="3557016" y="2354580"/>
            <a:ext cx="1344168" cy="548640"/>
          </a:xfrm>
          <a:prstGeom prst="line">
            <a:avLst/>
          </a:prstGeom>
          <a:noFill/>
          <a:ln w="19050">
            <a:solidFill>
              <a:srgbClr val="9A9AB5"/>
            </a:solidFill>
            <a:prstDash val="solid"/>
          </a:ln>
        </p:spPr>
      </p:sp>
      <p:sp>
        <p:nvSpPr>
          <p:cNvPr id="10" name="Shape 7"/>
          <p:cNvSpPr/>
          <p:nvPr/>
        </p:nvSpPr>
        <p:spPr>
          <a:xfrm flipH="1">
            <a:off x="1540764" y="3314700"/>
            <a:ext cx="672084" cy="548640"/>
          </a:xfrm>
          <a:prstGeom prst="line">
            <a:avLst/>
          </a:prstGeom>
          <a:noFill/>
          <a:ln w="19050">
            <a:solidFill>
              <a:srgbClr val="9A9AB5"/>
            </a:solidFill>
            <a:prstDash val="solid"/>
          </a:ln>
        </p:spPr>
      </p:sp>
      <p:sp>
        <p:nvSpPr>
          <p:cNvPr id="11" name="Shape 8"/>
          <p:cNvSpPr/>
          <p:nvPr/>
        </p:nvSpPr>
        <p:spPr>
          <a:xfrm>
            <a:off x="2212848" y="3314700"/>
            <a:ext cx="672084" cy="548640"/>
          </a:xfrm>
          <a:prstGeom prst="line">
            <a:avLst/>
          </a:prstGeom>
          <a:noFill/>
          <a:ln w="19050">
            <a:solidFill>
              <a:srgbClr val="9A9AB5"/>
            </a:solidFill>
            <a:prstDash val="solid"/>
          </a:ln>
        </p:spPr>
      </p:sp>
      <p:sp>
        <p:nvSpPr>
          <p:cNvPr id="12" name="Shape 9"/>
          <p:cNvSpPr/>
          <p:nvPr/>
        </p:nvSpPr>
        <p:spPr>
          <a:xfrm flipH="1">
            <a:off x="4229100" y="3314700"/>
            <a:ext cx="672084" cy="548640"/>
          </a:xfrm>
          <a:prstGeom prst="line">
            <a:avLst/>
          </a:prstGeom>
          <a:noFill/>
          <a:ln w="19050">
            <a:solidFill>
              <a:srgbClr val="9A9AB5"/>
            </a:solidFill>
            <a:prstDash val="solid"/>
          </a:ln>
        </p:spPr>
      </p:sp>
      <p:sp>
        <p:nvSpPr>
          <p:cNvPr id="13" name="Shape 10"/>
          <p:cNvSpPr/>
          <p:nvPr/>
        </p:nvSpPr>
        <p:spPr>
          <a:xfrm>
            <a:off x="4901184" y="3314700"/>
            <a:ext cx="672084" cy="548640"/>
          </a:xfrm>
          <a:prstGeom prst="line">
            <a:avLst/>
          </a:prstGeom>
          <a:noFill/>
          <a:ln w="19050">
            <a:solidFill>
              <a:srgbClr val="9A9AB5"/>
            </a:solidFill>
            <a:prstDash val="solid"/>
          </a:ln>
        </p:spPr>
      </p:sp>
      <p:sp>
        <p:nvSpPr>
          <p:cNvPr id="14" name="Shape 11"/>
          <p:cNvSpPr/>
          <p:nvPr/>
        </p:nvSpPr>
        <p:spPr>
          <a:xfrm flipH="1">
            <a:off x="2436876" y="4274820"/>
            <a:ext cx="448056" cy="548640"/>
          </a:xfrm>
          <a:prstGeom prst="line">
            <a:avLst/>
          </a:prstGeom>
          <a:noFill/>
          <a:ln w="19050">
            <a:solidFill>
              <a:srgbClr val="9A9AB5"/>
            </a:solidFill>
            <a:prstDash val="solid"/>
          </a:ln>
        </p:spPr>
      </p:sp>
      <p:sp>
        <p:nvSpPr>
          <p:cNvPr id="15" name="Text 12"/>
          <p:cNvSpPr/>
          <p:nvPr/>
        </p:nvSpPr>
        <p:spPr>
          <a:xfrm>
            <a:off x="3214116" y="1943100"/>
            <a:ext cx="68580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50</a:t>
            </a:r>
            <a:endParaRPr lang="en-US" sz="1500" dirty="0"/>
          </a:p>
        </p:txBody>
      </p:sp>
      <p:sp>
        <p:nvSpPr>
          <p:cNvPr id="16" name="Text 13"/>
          <p:cNvSpPr/>
          <p:nvPr/>
        </p:nvSpPr>
        <p:spPr>
          <a:xfrm>
            <a:off x="1869948" y="2903220"/>
            <a:ext cx="68580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30</a:t>
            </a:r>
            <a:endParaRPr lang="en-US" sz="1500" dirty="0"/>
          </a:p>
        </p:txBody>
      </p:sp>
      <p:sp>
        <p:nvSpPr>
          <p:cNvPr id="17" name="Text 14"/>
          <p:cNvSpPr/>
          <p:nvPr/>
        </p:nvSpPr>
        <p:spPr>
          <a:xfrm>
            <a:off x="4558284" y="2903220"/>
            <a:ext cx="68580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70</a:t>
            </a:r>
            <a:endParaRPr lang="en-US" sz="1500" dirty="0"/>
          </a:p>
        </p:txBody>
      </p:sp>
      <p:sp>
        <p:nvSpPr>
          <p:cNvPr id="18" name="Text 15"/>
          <p:cNvSpPr/>
          <p:nvPr/>
        </p:nvSpPr>
        <p:spPr>
          <a:xfrm>
            <a:off x="1197864" y="3863340"/>
            <a:ext cx="68580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20</a:t>
            </a:r>
            <a:endParaRPr lang="en-US" sz="1500" dirty="0"/>
          </a:p>
        </p:txBody>
      </p:sp>
      <p:sp>
        <p:nvSpPr>
          <p:cNvPr id="19" name="Text 16"/>
          <p:cNvSpPr/>
          <p:nvPr/>
        </p:nvSpPr>
        <p:spPr>
          <a:xfrm>
            <a:off x="2542032" y="3863340"/>
            <a:ext cx="68580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40</a:t>
            </a:r>
            <a:endParaRPr lang="en-US" sz="1500" dirty="0"/>
          </a:p>
        </p:txBody>
      </p:sp>
      <p:sp>
        <p:nvSpPr>
          <p:cNvPr id="20" name="Text 17"/>
          <p:cNvSpPr/>
          <p:nvPr/>
        </p:nvSpPr>
        <p:spPr>
          <a:xfrm>
            <a:off x="3886200" y="3863340"/>
            <a:ext cx="68580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60</a:t>
            </a:r>
            <a:endParaRPr lang="en-US" sz="1500" dirty="0"/>
          </a:p>
        </p:txBody>
      </p:sp>
      <p:sp>
        <p:nvSpPr>
          <p:cNvPr id="21" name="Text 18"/>
          <p:cNvSpPr/>
          <p:nvPr/>
        </p:nvSpPr>
        <p:spPr>
          <a:xfrm>
            <a:off x="5230368" y="3863340"/>
            <a:ext cx="68580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80</a:t>
            </a:r>
            <a:endParaRPr lang="en-US" sz="1500" dirty="0"/>
          </a:p>
        </p:txBody>
      </p:sp>
      <p:sp>
        <p:nvSpPr>
          <p:cNvPr id="22" name="Text 19"/>
          <p:cNvSpPr/>
          <p:nvPr/>
        </p:nvSpPr>
        <p:spPr>
          <a:xfrm>
            <a:off x="2093976" y="4823460"/>
            <a:ext cx="68580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35</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903720" y="1691640"/>
          <a:ext cx="4572000" cy="914400"/>
        </p:xfrm>
        <a:graphic>
          <a:graphicData uri="http://schemas.openxmlformats.org/drawingml/2006/table">
            <a:tbl>
              <a:tblPr/>
              <a:tblGrid>
                <a:gridCol w="1005840"/>
                <a:gridCol w="1188720"/>
                <a:gridCol w="1188720"/>
                <a:gridCol w="1188720"/>
              </a:tblGrid>
              <a:tr h="402336">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Index</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Left (0)</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Data (1)</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Right (2)</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402336">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0</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b="1" dirty="0">
                          <a:solidFill>
                            <a:srgbClr val="202124"/>
                          </a:solidFill>
                          <a:latin typeface="Quicksand" pitchFamily="34" charset="0"/>
                          <a:ea typeface="Quicksand" pitchFamily="34" charset="-122"/>
                          <a:cs typeface="Quicksand" pitchFamily="34" charset="-120"/>
                        </a:rPr>
                        <a:t>50</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2</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02336">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3</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b="1" dirty="0">
                          <a:solidFill>
                            <a:srgbClr val="202124"/>
                          </a:solidFill>
                          <a:latin typeface="Quicksand" pitchFamily="34" charset="0"/>
                          <a:ea typeface="Quicksand" pitchFamily="34" charset="-122"/>
                          <a:cs typeface="Quicksand" pitchFamily="34" charset="-120"/>
                        </a:rPr>
                        <a:t>30</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4</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2</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5</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b="1" dirty="0">
                          <a:solidFill>
                            <a:srgbClr val="202124"/>
                          </a:solidFill>
                          <a:latin typeface="Quicksand" pitchFamily="34" charset="0"/>
                          <a:ea typeface="Quicksand" pitchFamily="34" charset="-122"/>
                          <a:cs typeface="Quicksand" pitchFamily="34" charset="-120"/>
                        </a:rPr>
                        <a:t>70</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6</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02336">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3</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b="1" dirty="0">
                          <a:solidFill>
                            <a:srgbClr val="202124"/>
                          </a:solidFill>
                          <a:latin typeface="Quicksand" pitchFamily="34" charset="0"/>
                          <a:ea typeface="Quicksand" pitchFamily="34" charset="-122"/>
                          <a:cs typeface="Quicksand" pitchFamily="34" charset="-120"/>
                        </a:rPr>
                        <a:t>20</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4</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7</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b="1" dirty="0">
                          <a:solidFill>
                            <a:srgbClr val="202124"/>
                          </a:solidFill>
                          <a:latin typeface="Quicksand" pitchFamily="34" charset="0"/>
                          <a:ea typeface="Quicksand" pitchFamily="34" charset="-122"/>
                          <a:cs typeface="Quicksand" pitchFamily="34" charset="-120"/>
                        </a:rPr>
                        <a:t>40</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02336">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5</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b="1" dirty="0">
                          <a:solidFill>
                            <a:srgbClr val="202124"/>
                          </a:solidFill>
                          <a:latin typeface="Quicksand" pitchFamily="34" charset="0"/>
                          <a:ea typeface="Quicksand" pitchFamily="34" charset="-122"/>
                          <a:cs typeface="Quicksand" pitchFamily="34" charset="-120"/>
                        </a:rPr>
                        <a:t>60</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6</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b="1" dirty="0">
                          <a:solidFill>
                            <a:srgbClr val="202124"/>
                          </a:solidFill>
                          <a:latin typeface="Quicksand" pitchFamily="34" charset="0"/>
                          <a:ea typeface="Quicksand" pitchFamily="34" charset="-122"/>
                          <a:cs typeface="Quicksand" pitchFamily="34" charset="-120"/>
                        </a:rPr>
                        <a:t>80</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02336">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7</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b="1" dirty="0">
                          <a:solidFill>
                            <a:srgbClr val="202124"/>
                          </a:solidFill>
                          <a:latin typeface="Quicksand" pitchFamily="34" charset="0"/>
                          <a:ea typeface="Quicksand" pitchFamily="34" charset="-122"/>
                          <a:cs typeface="Quicksand" pitchFamily="34" charset="-120"/>
                        </a:rPr>
                        <a:t>35</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24" name="Text 20"/>
          <p:cNvSpPr txBox="1"/>
          <p:nvPr/>
        </p:nvSpPr>
        <p:spPr>
          <a:xfrm>
            <a:off x="6903720" y="5440680"/>
            <a:ext cx="4572000" cy="320040"/>
          </a:xfrm>
          <a:prstGeom prst="rect">
            <a:avLst/>
          </a:prstGeom>
          <a:noFill/>
          <a:ln/>
        </p:spPr>
        <p:txBody>
          <a:bodyPr wrap="square" lIns="0" tIns="0" rIns="0" bIns="0" rtlCol="0" anchor="t"/>
          <a:lstStyle/>
          <a:p>
            <a:pPr indent="0" marL="0">
              <a:spcAft>
                <a:spcPts val="600"/>
              </a:spcAft>
              <a:buNone/>
            </a:pPr>
            <a:r>
              <a:rPr lang="en-US" sz="1400" b="1" dirty="0">
                <a:solidFill>
                  <a:srgbClr val="494985"/>
                </a:solidFill>
                <a:latin typeface="Quicksand" pitchFamily="34" charset="0"/>
                <a:ea typeface="Quicksand" pitchFamily="34" charset="-122"/>
                <a:cs typeface="Quicksand" pitchFamily="34" charset="-120"/>
              </a:rPr>
              <a:t>RootPointer = 0     FreeNode = 8</a:t>
            </a:r>
            <a:endParaRPr lang="en-US" sz="1400" dirty="0"/>
          </a:p>
        </p:txBody>
      </p:sp>
      <p:sp>
        <p:nvSpPr>
          <p:cNvPr id="25" name="Text 21"/>
          <p:cNvSpPr txBox="1"/>
          <p:nvPr/>
        </p:nvSpPr>
        <p:spPr>
          <a:xfrm>
            <a:off x="822960" y="5760720"/>
            <a:ext cx="5852160" cy="457200"/>
          </a:xfrm>
          <a:prstGeom prst="rect">
            <a:avLst/>
          </a:prstGeom>
          <a:noFill/>
          <a:ln/>
        </p:spPr>
        <p:txBody>
          <a:bodyPr wrap="square" lIns="0" tIns="0" rIns="0" bIns="0" rtlCol="0" anchor="t"/>
          <a:lstStyle/>
          <a:p>
            <a:pPr indent="0" marL="0">
              <a:buNone/>
            </a:pPr>
            <a:r>
              <a:rPr lang="en-US" sz="1400" b="1" dirty="0">
                <a:solidFill>
                  <a:srgbClr val="494985"/>
                </a:solidFill>
                <a:latin typeface="Quicksand" pitchFamily="34" charset="0"/>
                <a:ea typeface="Quicksand" pitchFamily="34" charset="-122"/>
                <a:cs typeface="Quicksand" pitchFamily="34" charset="-120"/>
              </a:rPr>
              <a:t>Smaller - go left. Greater or equal - go right. A new value is always a new leaf.</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What is a traversal?</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6</a:t>
            </a:r>
            <a:endParaRPr lang="en-US" sz="1350" dirty="0"/>
          </a:p>
        </p:txBody>
      </p:sp>
      <p:sp>
        <p:nvSpPr>
          <p:cNvPr id="7" name="Text 4"/>
          <p:cNvSpPr txBox="1"/>
          <p:nvPr/>
        </p:nvSpPr>
        <p:spPr>
          <a:xfrm>
            <a:off x="822960" y="1207008"/>
            <a:ext cx="10515600" cy="457200"/>
          </a:xfrm>
          <a:prstGeom prst="rect">
            <a:avLst/>
          </a:prstGeom>
          <a:noFill/>
          <a:ln/>
        </p:spPr>
        <p:txBody>
          <a:bodyPr wrap="square" lIns="0" tIns="0" rIns="0" bIns="0" rtlCol="0" anchor="t"/>
          <a:lstStyle/>
          <a:p>
            <a:pPr indent="0" marL="0">
              <a:buNone/>
            </a:pPr>
            <a:r>
              <a:rPr lang="en-US" sz="1600" b="1" dirty="0">
                <a:solidFill>
                  <a:srgbClr val="202124"/>
                </a:solidFill>
                <a:latin typeface="Quicksand" pitchFamily="34" charset="0"/>
                <a:ea typeface="Quicksand" pitchFamily="34" charset="-122"/>
                <a:cs typeface="Quicksand" pitchFamily="34" charset="-120"/>
              </a:rPr>
              <a:t>A traversal visits every node exactly once. The name tells you when the ROOT is output.</a:t>
            </a:r>
            <a:endParaRPr lang="en-US" sz="1600" dirty="0"/>
          </a:p>
        </p:txBody>
      </p:sp>
      <p:sp>
        <p:nvSpPr>
          <p:cNvPr id="8" name="Shape 5"/>
          <p:cNvSpPr/>
          <p:nvPr/>
        </p:nvSpPr>
        <p:spPr>
          <a:xfrm>
            <a:off x="822960" y="1920240"/>
            <a:ext cx="5760720" cy="1051560"/>
          </a:xfrm>
          <a:prstGeom prst="rect">
            <a:avLst/>
          </a:prstGeom>
          <a:solidFill>
            <a:srgbClr val="F6F5FC"/>
          </a:solidFill>
          <a:ln w="12700">
            <a:solidFill>
              <a:srgbClr val="F6F5FC"/>
            </a:solidFill>
            <a:prstDash val="solid"/>
          </a:ln>
        </p:spPr>
      </p:sp>
      <p:sp>
        <p:nvSpPr>
          <p:cNvPr id="9" name="Shape 6"/>
          <p:cNvSpPr/>
          <p:nvPr/>
        </p:nvSpPr>
        <p:spPr>
          <a:xfrm>
            <a:off x="822960" y="1920240"/>
            <a:ext cx="91440" cy="1051560"/>
          </a:xfrm>
          <a:prstGeom prst="rect">
            <a:avLst/>
          </a:prstGeom>
          <a:solidFill>
            <a:srgbClr val="1F8A8A"/>
          </a:solidFill>
          <a:ln/>
        </p:spPr>
      </p:sp>
      <p:sp>
        <p:nvSpPr>
          <p:cNvPr id="10" name="Text 7"/>
          <p:cNvSpPr txBox="1"/>
          <p:nvPr/>
        </p:nvSpPr>
        <p:spPr>
          <a:xfrm>
            <a:off x="1097280" y="2029968"/>
            <a:ext cx="2194560" cy="365760"/>
          </a:xfrm>
          <a:prstGeom prst="rect">
            <a:avLst/>
          </a:prstGeom>
          <a:noFill/>
          <a:ln/>
        </p:spPr>
        <p:txBody>
          <a:bodyPr wrap="square" lIns="0" tIns="0" rIns="0" bIns="0" rtlCol="0" anchor="ctr"/>
          <a:lstStyle/>
          <a:p>
            <a:pPr indent="0" marL="0">
              <a:buNone/>
            </a:pPr>
            <a:r>
              <a:rPr lang="en-US" sz="1800" b="1" dirty="0">
                <a:solidFill>
                  <a:srgbClr val="1F8A8A"/>
                </a:solidFill>
                <a:latin typeface="Quicksand" pitchFamily="34" charset="0"/>
                <a:ea typeface="Quicksand" pitchFamily="34" charset="-122"/>
                <a:cs typeface="Quicksand" pitchFamily="34" charset="-120"/>
              </a:rPr>
              <a:t>Pre-order</a:t>
            </a:r>
            <a:endParaRPr lang="en-US" sz="1800" dirty="0"/>
          </a:p>
        </p:txBody>
      </p:sp>
      <p:sp>
        <p:nvSpPr>
          <p:cNvPr id="11" name="Text 8"/>
          <p:cNvSpPr txBox="1"/>
          <p:nvPr/>
        </p:nvSpPr>
        <p:spPr>
          <a:xfrm>
            <a:off x="3291840" y="2029968"/>
            <a:ext cx="3108960" cy="36576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Root FIRST</a:t>
            </a:r>
            <a:endParaRPr lang="en-US" sz="1500" dirty="0"/>
          </a:p>
        </p:txBody>
      </p:sp>
      <p:sp>
        <p:nvSpPr>
          <p:cNvPr id="12" name="Text 9"/>
          <p:cNvSpPr txBox="1"/>
          <p:nvPr/>
        </p:nvSpPr>
        <p:spPr>
          <a:xfrm>
            <a:off x="1097280" y="2450592"/>
            <a:ext cx="5303520" cy="365760"/>
          </a:xfrm>
          <a:prstGeom prst="rect">
            <a:avLst/>
          </a:prstGeom>
          <a:noFill/>
          <a:ln/>
        </p:spPr>
        <p:txBody>
          <a:bodyPr wrap="square" lIns="0" tIns="0" rIns="0" bIns="0" rtlCol="0" anchor="ctr"/>
          <a:lstStyle/>
          <a:p>
            <a:pPr indent="0" marL="0">
              <a:buNone/>
            </a:pPr>
            <a:r>
              <a:rPr lang="en-US" sz="1500" dirty="0">
                <a:solidFill>
                  <a:srgbClr val="202124"/>
                </a:solidFill>
                <a:latin typeface="Quicksand" pitchFamily="34" charset="0"/>
                <a:ea typeface="Quicksand" pitchFamily="34" charset="-122"/>
                <a:cs typeface="Quicksand" pitchFamily="34" charset="-120"/>
              </a:rPr>
              <a:t>root, left, right</a:t>
            </a:r>
            <a:endParaRPr lang="en-US" sz="1500" dirty="0"/>
          </a:p>
        </p:txBody>
      </p:sp>
      <p:sp>
        <p:nvSpPr>
          <p:cNvPr id="13" name="Shape 10"/>
          <p:cNvSpPr/>
          <p:nvPr/>
        </p:nvSpPr>
        <p:spPr>
          <a:xfrm>
            <a:off x="822960" y="3154680"/>
            <a:ext cx="5760720" cy="1051560"/>
          </a:xfrm>
          <a:prstGeom prst="rect">
            <a:avLst/>
          </a:prstGeom>
          <a:solidFill>
            <a:srgbClr val="F6F5FC"/>
          </a:solidFill>
          <a:ln w="12700">
            <a:solidFill>
              <a:srgbClr val="F6F5FC"/>
            </a:solidFill>
            <a:prstDash val="solid"/>
          </a:ln>
        </p:spPr>
      </p:sp>
      <p:sp>
        <p:nvSpPr>
          <p:cNvPr id="14" name="Shape 11"/>
          <p:cNvSpPr/>
          <p:nvPr/>
        </p:nvSpPr>
        <p:spPr>
          <a:xfrm>
            <a:off x="822960" y="3154680"/>
            <a:ext cx="91440" cy="1051560"/>
          </a:xfrm>
          <a:prstGeom prst="rect">
            <a:avLst/>
          </a:prstGeom>
          <a:solidFill>
            <a:srgbClr val="D9822B"/>
          </a:solidFill>
          <a:ln/>
        </p:spPr>
      </p:sp>
      <p:sp>
        <p:nvSpPr>
          <p:cNvPr id="15" name="Text 12"/>
          <p:cNvSpPr txBox="1"/>
          <p:nvPr/>
        </p:nvSpPr>
        <p:spPr>
          <a:xfrm>
            <a:off x="1097280" y="3264408"/>
            <a:ext cx="2194560" cy="365760"/>
          </a:xfrm>
          <a:prstGeom prst="rect">
            <a:avLst/>
          </a:prstGeom>
          <a:noFill/>
          <a:ln/>
        </p:spPr>
        <p:txBody>
          <a:bodyPr wrap="square" lIns="0" tIns="0" rIns="0" bIns="0" rtlCol="0" anchor="ctr"/>
          <a:lstStyle/>
          <a:p>
            <a:pPr indent="0" marL="0">
              <a:buNone/>
            </a:pPr>
            <a:r>
              <a:rPr lang="en-US" sz="1800" b="1" dirty="0">
                <a:solidFill>
                  <a:srgbClr val="D9822B"/>
                </a:solidFill>
                <a:latin typeface="Quicksand" pitchFamily="34" charset="0"/>
                <a:ea typeface="Quicksand" pitchFamily="34" charset="-122"/>
                <a:cs typeface="Quicksand" pitchFamily="34" charset="-120"/>
              </a:rPr>
              <a:t>In-order</a:t>
            </a:r>
            <a:endParaRPr lang="en-US" sz="1800" dirty="0"/>
          </a:p>
        </p:txBody>
      </p:sp>
      <p:sp>
        <p:nvSpPr>
          <p:cNvPr id="16" name="Text 13"/>
          <p:cNvSpPr txBox="1"/>
          <p:nvPr/>
        </p:nvSpPr>
        <p:spPr>
          <a:xfrm>
            <a:off x="3291840" y="3264408"/>
            <a:ext cx="3108960" cy="36576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Root in the MIDDLE</a:t>
            </a:r>
            <a:endParaRPr lang="en-US" sz="1500" dirty="0"/>
          </a:p>
        </p:txBody>
      </p:sp>
      <p:sp>
        <p:nvSpPr>
          <p:cNvPr id="17" name="Text 14"/>
          <p:cNvSpPr txBox="1"/>
          <p:nvPr/>
        </p:nvSpPr>
        <p:spPr>
          <a:xfrm>
            <a:off x="1097280" y="3685032"/>
            <a:ext cx="5303520" cy="365760"/>
          </a:xfrm>
          <a:prstGeom prst="rect">
            <a:avLst/>
          </a:prstGeom>
          <a:noFill/>
          <a:ln/>
        </p:spPr>
        <p:txBody>
          <a:bodyPr wrap="square" lIns="0" tIns="0" rIns="0" bIns="0" rtlCol="0" anchor="ctr"/>
          <a:lstStyle/>
          <a:p>
            <a:pPr indent="0" marL="0">
              <a:buNone/>
            </a:pPr>
            <a:r>
              <a:rPr lang="en-US" sz="1500" dirty="0">
                <a:solidFill>
                  <a:srgbClr val="202124"/>
                </a:solidFill>
                <a:latin typeface="Quicksand" pitchFamily="34" charset="0"/>
                <a:ea typeface="Quicksand" pitchFamily="34" charset="-122"/>
                <a:cs typeface="Quicksand" pitchFamily="34" charset="-120"/>
              </a:rPr>
              <a:t>left, root, right</a:t>
            </a:r>
            <a:endParaRPr lang="en-US" sz="1500" dirty="0"/>
          </a:p>
        </p:txBody>
      </p:sp>
      <p:sp>
        <p:nvSpPr>
          <p:cNvPr id="18" name="Shape 15"/>
          <p:cNvSpPr/>
          <p:nvPr/>
        </p:nvSpPr>
        <p:spPr>
          <a:xfrm>
            <a:off x="822960" y="4389120"/>
            <a:ext cx="5760720" cy="1051560"/>
          </a:xfrm>
          <a:prstGeom prst="rect">
            <a:avLst/>
          </a:prstGeom>
          <a:solidFill>
            <a:srgbClr val="F6F5FC"/>
          </a:solidFill>
          <a:ln w="12700">
            <a:solidFill>
              <a:srgbClr val="F6F5FC"/>
            </a:solidFill>
            <a:prstDash val="solid"/>
          </a:ln>
        </p:spPr>
      </p:sp>
      <p:sp>
        <p:nvSpPr>
          <p:cNvPr id="19" name="Shape 16"/>
          <p:cNvSpPr/>
          <p:nvPr/>
        </p:nvSpPr>
        <p:spPr>
          <a:xfrm>
            <a:off x="822960" y="4389120"/>
            <a:ext cx="91440" cy="1051560"/>
          </a:xfrm>
          <a:prstGeom prst="rect">
            <a:avLst/>
          </a:prstGeom>
          <a:solidFill>
            <a:srgbClr val="8E4FB8"/>
          </a:solidFill>
          <a:ln/>
        </p:spPr>
      </p:sp>
      <p:sp>
        <p:nvSpPr>
          <p:cNvPr id="20" name="Text 17"/>
          <p:cNvSpPr txBox="1"/>
          <p:nvPr/>
        </p:nvSpPr>
        <p:spPr>
          <a:xfrm>
            <a:off x="1097280" y="4498848"/>
            <a:ext cx="2194560" cy="365760"/>
          </a:xfrm>
          <a:prstGeom prst="rect">
            <a:avLst/>
          </a:prstGeom>
          <a:noFill/>
          <a:ln/>
        </p:spPr>
        <p:txBody>
          <a:bodyPr wrap="square" lIns="0" tIns="0" rIns="0" bIns="0" rtlCol="0" anchor="ctr"/>
          <a:lstStyle/>
          <a:p>
            <a:pPr indent="0" marL="0">
              <a:buNone/>
            </a:pPr>
            <a:r>
              <a:rPr lang="en-US" sz="1800" b="1" dirty="0">
                <a:solidFill>
                  <a:srgbClr val="8E4FB8"/>
                </a:solidFill>
                <a:latin typeface="Quicksand" pitchFamily="34" charset="0"/>
                <a:ea typeface="Quicksand" pitchFamily="34" charset="-122"/>
                <a:cs typeface="Quicksand" pitchFamily="34" charset="-120"/>
              </a:rPr>
              <a:t>Post-order</a:t>
            </a:r>
            <a:endParaRPr lang="en-US" sz="1800" dirty="0"/>
          </a:p>
        </p:txBody>
      </p:sp>
      <p:sp>
        <p:nvSpPr>
          <p:cNvPr id="21" name="Text 18"/>
          <p:cNvSpPr txBox="1"/>
          <p:nvPr/>
        </p:nvSpPr>
        <p:spPr>
          <a:xfrm>
            <a:off x="3291840" y="4498848"/>
            <a:ext cx="3108960" cy="36576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Root LAST</a:t>
            </a:r>
            <a:endParaRPr lang="en-US" sz="1500" dirty="0"/>
          </a:p>
        </p:txBody>
      </p:sp>
      <p:sp>
        <p:nvSpPr>
          <p:cNvPr id="22" name="Text 19"/>
          <p:cNvSpPr txBox="1"/>
          <p:nvPr/>
        </p:nvSpPr>
        <p:spPr>
          <a:xfrm>
            <a:off x="1097280" y="4919472"/>
            <a:ext cx="5303520" cy="365760"/>
          </a:xfrm>
          <a:prstGeom prst="rect">
            <a:avLst/>
          </a:prstGeom>
          <a:noFill/>
          <a:ln/>
        </p:spPr>
        <p:txBody>
          <a:bodyPr wrap="square" lIns="0" tIns="0" rIns="0" bIns="0" rtlCol="0" anchor="ctr"/>
          <a:lstStyle/>
          <a:p>
            <a:pPr indent="0" marL="0">
              <a:buNone/>
            </a:pPr>
            <a:r>
              <a:rPr lang="en-US" sz="1500" dirty="0">
                <a:solidFill>
                  <a:srgbClr val="202124"/>
                </a:solidFill>
                <a:latin typeface="Quicksand" pitchFamily="34" charset="0"/>
                <a:ea typeface="Quicksand" pitchFamily="34" charset="-122"/>
                <a:cs typeface="Quicksand" pitchFamily="34" charset="-120"/>
              </a:rPr>
              <a:t>left, right, root</a:t>
            </a:r>
            <a:endParaRPr lang="en-US" sz="1500" dirty="0"/>
          </a:p>
        </p:txBody>
      </p:sp>
      <p:sp>
        <p:nvSpPr>
          <p:cNvPr id="23" name="Shape 20"/>
          <p:cNvSpPr/>
          <p:nvPr/>
        </p:nvSpPr>
        <p:spPr>
          <a:xfrm flipH="1">
            <a:off x="8183880" y="2249424"/>
            <a:ext cx="1097280" cy="530352"/>
          </a:xfrm>
          <a:prstGeom prst="line">
            <a:avLst/>
          </a:prstGeom>
          <a:noFill/>
          <a:ln w="19050">
            <a:solidFill>
              <a:srgbClr val="9A9AB5"/>
            </a:solidFill>
            <a:prstDash val="solid"/>
          </a:ln>
        </p:spPr>
      </p:sp>
      <p:sp>
        <p:nvSpPr>
          <p:cNvPr id="24" name="Shape 21"/>
          <p:cNvSpPr/>
          <p:nvPr/>
        </p:nvSpPr>
        <p:spPr>
          <a:xfrm>
            <a:off x="9281160" y="2249424"/>
            <a:ext cx="1097280" cy="530352"/>
          </a:xfrm>
          <a:prstGeom prst="line">
            <a:avLst/>
          </a:prstGeom>
          <a:noFill/>
          <a:ln w="19050">
            <a:solidFill>
              <a:srgbClr val="9A9AB5"/>
            </a:solidFill>
            <a:prstDash val="solid"/>
          </a:ln>
        </p:spPr>
      </p:sp>
      <p:sp>
        <p:nvSpPr>
          <p:cNvPr id="25" name="Shape 22"/>
          <p:cNvSpPr/>
          <p:nvPr/>
        </p:nvSpPr>
        <p:spPr>
          <a:xfrm flipH="1">
            <a:off x="7635240" y="3163824"/>
            <a:ext cx="548640" cy="530352"/>
          </a:xfrm>
          <a:prstGeom prst="line">
            <a:avLst/>
          </a:prstGeom>
          <a:noFill/>
          <a:ln w="19050">
            <a:solidFill>
              <a:srgbClr val="9A9AB5"/>
            </a:solidFill>
            <a:prstDash val="solid"/>
          </a:ln>
        </p:spPr>
      </p:sp>
      <p:sp>
        <p:nvSpPr>
          <p:cNvPr id="26" name="Shape 23"/>
          <p:cNvSpPr/>
          <p:nvPr/>
        </p:nvSpPr>
        <p:spPr>
          <a:xfrm>
            <a:off x="8183880" y="3163824"/>
            <a:ext cx="548640" cy="530352"/>
          </a:xfrm>
          <a:prstGeom prst="line">
            <a:avLst/>
          </a:prstGeom>
          <a:noFill/>
          <a:ln w="19050">
            <a:solidFill>
              <a:srgbClr val="9A9AB5"/>
            </a:solidFill>
            <a:prstDash val="solid"/>
          </a:ln>
        </p:spPr>
      </p:sp>
      <p:sp>
        <p:nvSpPr>
          <p:cNvPr id="27" name="Shape 24"/>
          <p:cNvSpPr/>
          <p:nvPr/>
        </p:nvSpPr>
        <p:spPr>
          <a:xfrm flipH="1">
            <a:off x="9829800" y="3163824"/>
            <a:ext cx="548640" cy="530352"/>
          </a:xfrm>
          <a:prstGeom prst="line">
            <a:avLst/>
          </a:prstGeom>
          <a:noFill/>
          <a:ln w="19050">
            <a:solidFill>
              <a:srgbClr val="9A9AB5"/>
            </a:solidFill>
            <a:prstDash val="solid"/>
          </a:ln>
        </p:spPr>
      </p:sp>
      <p:sp>
        <p:nvSpPr>
          <p:cNvPr id="28" name="Shape 25"/>
          <p:cNvSpPr/>
          <p:nvPr/>
        </p:nvSpPr>
        <p:spPr>
          <a:xfrm>
            <a:off x="10378440" y="3163824"/>
            <a:ext cx="548640" cy="530352"/>
          </a:xfrm>
          <a:prstGeom prst="line">
            <a:avLst/>
          </a:prstGeom>
          <a:noFill/>
          <a:ln w="19050">
            <a:solidFill>
              <a:srgbClr val="9A9AB5"/>
            </a:solidFill>
            <a:prstDash val="solid"/>
          </a:ln>
        </p:spPr>
      </p:sp>
      <p:sp>
        <p:nvSpPr>
          <p:cNvPr id="29" name="Shape 26"/>
          <p:cNvSpPr/>
          <p:nvPr/>
        </p:nvSpPr>
        <p:spPr>
          <a:xfrm flipH="1">
            <a:off x="8366760" y="4078224"/>
            <a:ext cx="365760" cy="530352"/>
          </a:xfrm>
          <a:prstGeom prst="line">
            <a:avLst/>
          </a:prstGeom>
          <a:noFill/>
          <a:ln w="19050">
            <a:solidFill>
              <a:srgbClr val="9A9AB5"/>
            </a:solidFill>
            <a:prstDash val="solid"/>
          </a:ln>
        </p:spPr>
      </p:sp>
      <p:sp>
        <p:nvSpPr>
          <p:cNvPr id="30" name="Text 27"/>
          <p:cNvSpPr/>
          <p:nvPr/>
        </p:nvSpPr>
        <p:spPr>
          <a:xfrm>
            <a:off x="8997696" y="1865376"/>
            <a:ext cx="566928" cy="384048"/>
          </a:xfrm>
          <a:prstGeom prst="roundRect">
            <a:avLst>
              <a:gd name="adj" fmla="val 19048"/>
            </a:avLst>
          </a:prstGeom>
          <a:solidFill>
            <a:srgbClr val="E9E8F5"/>
          </a:solidFill>
          <a:ln w="15875">
            <a:solidFill>
              <a:srgbClr val="494985"/>
            </a:solidFill>
          </a:ln>
        </p:spPr>
        <p:txBody>
          <a:bodyPr wrap="square" lIns="0" tIns="0" rIns="0" bIns="0" rtlCol="0" anchor="ctr"/>
          <a:lstStyle/>
          <a:p>
            <a:pPr algn="ctr" indent="0" marL="0">
              <a:buNone/>
            </a:pPr>
            <a:r>
              <a:rPr lang="en-US" sz="1400" b="1" dirty="0">
                <a:solidFill>
                  <a:srgbClr val="202124"/>
                </a:solidFill>
                <a:latin typeface="Quicksand" pitchFamily="34" charset="0"/>
                <a:ea typeface="Quicksand" pitchFamily="34" charset="-122"/>
                <a:cs typeface="Quicksand" pitchFamily="34" charset="-120"/>
              </a:rPr>
              <a:t>50</a:t>
            </a:r>
            <a:endParaRPr lang="en-US" sz="1400" dirty="0"/>
          </a:p>
        </p:txBody>
      </p:sp>
      <p:sp>
        <p:nvSpPr>
          <p:cNvPr id="31" name="Text 28"/>
          <p:cNvSpPr/>
          <p:nvPr/>
        </p:nvSpPr>
        <p:spPr>
          <a:xfrm>
            <a:off x="7900416" y="2779776"/>
            <a:ext cx="566928" cy="384048"/>
          </a:xfrm>
          <a:prstGeom prst="roundRect">
            <a:avLst>
              <a:gd name="adj" fmla="val 19048"/>
            </a:avLst>
          </a:prstGeom>
          <a:solidFill>
            <a:srgbClr val="E9E8F5"/>
          </a:solidFill>
          <a:ln w="15875">
            <a:solidFill>
              <a:srgbClr val="494985"/>
            </a:solidFill>
          </a:ln>
        </p:spPr>
        <p:txBody>
          <a:bodyPr wrap="square" lIns="0" tIns="0" rIns="0" bIns="0" rtlCol="0" anchor="ctr"/>
          <a:lstStyle/>
          <a:p>
            <a:pPr algn="ctr" indent="0" marL="0">
              <a:buNone/>
            </a:pPr>
            <a:r>
              <a:rPr lang="en-US" sz="1400" b="1" dirty="0">
                <a:solidFill>
                  <a:srgbClr val="202124"/>
                </a:solidFill>
                <a:latin typeface="Quicksand" pitchFamily="34" charset="0"/>
                <a:ea typeface="Quicksand" pitchFamily="34" charset="-122"/>
                <a:cs typeface="Quicksand" pitchFamily="34" charset="-120"/>
              </a:rPr>
              <a:t>30</a:t>
            </a:r>
            <a:endParaRPr lang="en-US" sz="1400" dirty="0"/>
          </a:p>
        </p:txBody>
      </p:sp>
      <p:sp>
        <p:nvSpPr>
          <p:cNvPr id="32" name="Text 29"/>
          <p:cNvSpPr/>
          <p:nvPr/>
        </p:nvSpPr>
        <p:spPr>
          <a:xfrm>
            <a:off x="10094976" y="2779776"/>
            <a:ext cx="566928" cy="384048"/>
          </a:xfrm>
          <a:prstGeom prst="roundRect">
            <a:avLst>
              <a:gd name="adj" fmla="val 19048"/>
            </a:avLst>
          </a:prstGeom>
          <a:solidFill>
            <a:srgbClr val="E9E8F5"/>
          </a:solidFill>
          <a:ln w="15875">
            <a:solidFill>
              <a:srgbClr val="494985"/>
            </a:solidFill>
          </a:ln>
        </p:spPr>
        <p:txBody>
          <a:bodyPr wrap="square" lIns="0" tIns="0" rIns="0" bIns="0" rtlCol="0" anchor="ctr"/>
          <a:lstStyle/>
          <a:p>
            <a:pPr algn="ctr" indent="0" marL="0">
              <a:buNone/>
            </a:pPr>
            <a:r>
              <a:rPr lang="en-US" sz="1400" b="1" dirty="0">
                <a:solidFill>
                  <a:srgbClr val="202124"/>
                </a:solidFill>
                <a:latin typeface="Quicksand" pitchFamily="34" charset="0"/>
                <a:ea typeface="Quicksand" pitchFamily="34" charset="-122"/>
                <a:cs typeface="Quicksand" pitchFamily="34" charset="-120"/>
              </a:rPr>
              <a:t>70</a:t>
            </a:r>
            <a:endParaRPr lang="en-US" sz="1400" dirty="0"/>
          </a:p>
        </p:txBody>
      </p:sp>
      <p:sp>
        <p:nvSpPr>
          <p:cNvPr id="33" name="Text 30"/>
          <p:cNvSpPr/>
          <p:nvPr/>
        </p:nvSpPr>
        <p:spPr>
          <a:xfrm>
            <a:off x="7351776" y="3694176"/>
            <a:ext cx="566928" cy="384048"/>
          </a:xfrm>
          <a:prstGeom prst="roundRect">
            <a:avLst>
              <a:gd name="adj" fmla="val 19048"/>
            </a:avLst>
          </a:prstGeom>
          <a:solidFill>
            <a:srgbClr val="E9E8F5"/>
          </a:solidFill>
          <a:ln w="15875">
            <a:solidFill>
              <a:srgbClr val="494985"/>
            </a:solidFill>
          </a:ln>
        </p:spPr>
        <p:txBody>
          <a:bodyPr wrap="square" lIns="0" tIns="0" rIns="0" bIns="0" rtlCol="0" anchor="ctr"/>
          <a:lstStyle/>
          <a:p>
            <a:pPr algn="ctr" indent="0" marL="0">
              <a:buNone/>
            </a:pPr>
            <a:r>
              <a:rPr lang="en-US" sz="1400" b="1" dirty="0">
                <a:solidFill>
                  <a:srgbClr val="202124"/>
                </a:solidFill>
                <a:latin typeface="Quicksand" pitchFamily="34" charset="0"/>
                <a:ea typeface="Quicksand" pitchFamily="34" charset="-122"/>
                <a:cs typeface="Quicksand" pitchFamily="34" charset="-120"/>
              </a:rPr>
              <a:t>20</a:t>
            </a:r>
            <a:endParaRPr lang="en-US" sz="1400" dirty="0"/>
          </a:p>
        </p:txBody>
      </p:sp>
      <p:sp>
        <p:nvSpPr>
          <p:cNvPr id="34" name="Text 31"/>
          <p:cNvSpPr/>
          <p:nvPr/>
        </p:nvSpPr>
        <p:spPr>
          <a:xfrm>
            <a:off x="8449056" y="3694176"/>
            <a:ext cx="566928" cy="384048"/>
          </a:xfrm>
          <a:prstGeom prst="roundRect">
            <a:avLst>
              <a:gd name="adj" fmla="val 19048"/>
            </a:avLst>
          </a:prstGeom>
          <a:solidFill>
            <a:srgbClr val="E9E8F5"/>
          </a:solidFill>
          <a:ln w="15875">
            <a:solidFill>
              <a:srgbClr val="494985"/>
            </a:solidFill>
          </a:ln>
        </p:spPr>
        <p:txBody>
          <a:bodyPr wrap="square" lIns="0" tIns="0" rIns="0" bIns="0" rtlCol="0" anchor="ctr"/>
          <a:lstStyle/>
          <a:p>
            <a:pPr algn="ctr" indent="0" marL="0">
              <a:buNone/>
            </a:pPr>
            <a:r>
              <a:rPr lang="en-US" sz="1400" b="1" dirty="0">
                <a:solidFill>
                  <a:srgbClr val="202124"/>
                </a:solidFill>
                <a:latin typeface="Quicksand" pitchFamily="34" charset="0"/>
                <a:ea typeface="Quicksand" pitchFamily="34" charset="-122"/>
                <a:cs typeface="Quicksand" pitchFamily="34" charset="-120"/>
              </a:rPr>
              <a:t>40</a:t>
            </a:r>
            <a:endParaRPr lang="en-US" sz="1400" dirty="0"/>
          </a:p>
        </p:txBody>
      </p:sp>
      <p:sp>
        <p:nvSpPr>
          <p:cNvPr id="35" name="Text 32"/>
          <p:cNvSpPr/>
          <p:nvPr/>
        </p:nvSpPr>
        <p:spPr>
          <a:xfrm>
            <a:off x="9546336" y="3694176"/>
            <a:ext cx="566928" cy="384048"/>
          </a:xfrm>
          <a:prstGeom prst="roundRect">
            <a:avLst>
              <a:gd name="adj" fmla="val 19048"/>
            </a:avLst>
          </a:prstGeom>
          <a:solidFill>
            <a:srgbClr val="E9E8F5"/>
          </a:solidFill>
          <a:ln w="15875">
            <a:solidFill>
              <a:srgbClr val="494985"/>
            </a:solidFill>
          </a:ln>
        </p:spPr>
        <p:txBody>
          <a:bodyPr wrap="square" lIns="0" tIns="0" rIns="0" bIns="0" rtlCol="0" anchor="ctr"/>
          <a:lstStyle/>
          <a:p>
            <a:pPr algn="ctr" indent="0" marL="0">
              <a:buNone/>
            </a:pPr>
            <a:r>
              <a:rPr lang="en-US" sz="1400" b="1" dirty="0">
                <a:solidFill>
                  <a:srgbClr val="202124"/>
                </a:solidFill>
                <a:latin typeface="Quicksand" pitchFamily="34" charset="0"/>
                <a:ea typeface="Quicksand" pitchFamily="34" charset="-122"/>
                <a:cs typeface="Quicksand" pitchFamily="34" charset="-120"/>
              </a:rPr>
              <a:t>60</a:t>
            </a:r>
            <a:endParaRPr lang="en-US" sz="1400" dirty="0"/>
          </a:p>
        </p:txBody>
      </p:sp>
      <p:sp>
        <p:nvSpPr>
          <p:cNvPr id="36" name="Text 33"/>
          <p:cNvSpPr/>
          <p:nvPr/>
        </p:nvSpPr>
        <p:spPr>
          <a:xfrm>
            <a:off x="10643616" y="3694176"/>
            <a:ext cx="566928" cy="384048"/>
          </a:xfrm>
          <a:prstGeom prst="roundRect">
            <a:avLst>
              <a:gd name="adj" fmla="val 19048"/>
            </a:avLst>
          </a:prstGeom>
          <a:solidFill>
            <a:srgbClr val="E9E8F5"/>
          </a:solidFill>
          <a:ln w="15875">
            <a:solidFill>
              <a:srgbClr val="494985"/>
            </a:solidFill>
          </a:ln>
        </p:spPr>
        <p:txBody>
          <a:bodyPr wrap="square" lIns="0" tIns="0" rIns="0" bIns="0" rtlCol="0" anchor="ctr"/>
          <a:lstStyle/>
          <a:p>
            <a:pPr algn="ctr" indent="0" marL="0">
              <a:buNone/>
            </a:pPr>
            <a:r>
              <a:rPr lang="en-US" sz="1400" b="1" dirty="0">
                <a:solidFill>
                  <a:srgbClr val="202124"/>
                </a:solidFill>
                <a:latin typeface="Quicksand" pitchFamily="34" charset="0"/>
                <a:ea typeface="Quicksand" pitchFamily="34" charset="-122"/>
                <a:cs typeface="Quicksand" pitchFamily="34" charset="-120"/>
              </a:rPr>
              <a:t>80</a:t>
            </a:r>
            <a:endParaRPr lang="en-US" sz="1400" dirty="0"/>
          </a:p>
        </p:txBody>
      </p:sp>
      <p:sp>
        <p:nvSpPr>
          <p:cNvPr id="37" name="Text 34"/>
          <p:cNvSpPr/>
          <p:nvPr/>
        </p:nvSpPr>
        <p:spPr>
          <a:xfrm>
            <a:off x="8083296" y="4608576"/>
            <a:ext cx="566928" cy="384048"/>
          </a:xfrm>
          <a:prstGeom prst="roundRect">
            <a:avLst>
              <a:gd name="adj" fmla="val 19048"/>
            </a:avLst>
          </a:prstGeom>
          <a:solidFill>
            <a:srgbClr val="E9E8F5"/>
          </a:solidFill>
          <a:ln w="15875">
            <a:solidFill>
              <a:srgbClr val="494985"/>
            </a:solidFill>
          </a:ln>
        </p:spPr>
        <p:txBody>
          <a:bodyPr wrap="square" lIns="0" tIns="0" rIns="0" bIns="0" rtlCol="0" anchor="ctr"/>
          <a:lstStyle/>
          <a:p>
            <a:pPr algn="ctr" indent="0" marL="0">
              <a:buNone/>
            </a:pPr>
            <a:r>
              <a:rPr lang="en-US" sz="1400" b="1" dirty="0">
                <a:solidFill>
                  <a:srgbClr val="202124"/>
                </a:solidFill>
                <a:latin typeface="Quicksand" pitchFamily="34" charset="0"/>
                <a:ea typeface="Quicksand" pitchFamily="34" charset="-122"/>
                <a:cs typeface="Quicksand" pitchFamily="34" charset="-120"/>
              </a:rPr>
              <a:t>35</a:t>
            </a:r>
            <a:endParaRPr lang="en-US" sz="1400" dirty="0"/>
          </a:p>
        </p:txBody>
      </p:sp>
      <p:sp>
        <p:nvSpPr>
          <p:cNvPr id="38" name="Text 35"/>
          <p:cNvSpPr txBox="1"/>
          <p:nvPr/>
        </p:nvSpPr>
        <p:spPr>
          <a:xfrm>
            <a:off x="6949440" y="5623560"/>
            <a:ext cx="4572000" cy="411480"/>
          </a:xfrm>
          <a:prstGeom prst="rect">
            <a:avLst/>
          </a:prstGeom>
          <a:noFill/>
          <a:ln/>
        </p:spPr>
        <p:txBody>
          <a:bodyPr wrap="square" lIns="0" tIns="0" rIns="0" bIns="0" rtlCol="0" anchor="t"/>
          <a:lstStyle/>
          <a:p>
            <a:pPr indent="0" marL="0">
              <a:buNone/>
            </a:pPr>
            <a:r>
              <a:rPr lang="en-US" sz="1400" b="1" dirty="0">
                <a:solidFill>
                  <a:srgbClr val="494985"/>
                </a:solidFill>
                <a:latin typeface="Quicksand" pitchFamily="34" charset="0"/>
                <a:ea typeface="Quicksand" pitchFamily="34" charset="-122"/>
                <a:cs typeface="Quicksand" pitchFamily="34" charset="-120"/>
              </a:rPr>
              <a:t>Left always comes before right - in all three.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The walk-around method</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7</a:t>
            </a:r>
            <a:endParaRPr lang="en-US" sz="1350" dirty="0"/>
          </a:p>
        </p:txBody>
      </p:sp>
      <p:sp>
        <p:nvSpPr>
          <p:cNvPr id="7" name="Shape 4"/>
          <p:cNvSpPr/>
          <p:nvPr/>
        </p:nvSpPr>
        <p:spPr>
          <a:xfrm>
            <a:off x="992124" y="1307592"/>
            <a:ext cx="5129784" cy="3739896"/>
          </a:xfrm>
          <a:custGeom>
            <a:avLst/>
            <a:gdLst/>
            <a:ahLst/>
            <a:cxnLst/>
            <a:rect l="l" t="t" r="r" b="b"/>
            <a:pathLst>
              <a:path w="5129784" h="3739896">
                <a:moveTo>
                  <a:pt x="2235708" y="0"/>
                </a:moveTo>
                <a:lnTo>
                  <a:pt x="2207087" y="1920"/>
                </a:lnTo>
                <a:lnTo>
                  <a:pt x="2178924" y="7498"/>
                </a:lnTo>
                <a:lnTo>
                  <a:pt x="2151766" y="16734"/>
                </a:lnTo>
                <a:lnTo>
                  <a:pt x="2125980" y="29444"/>
                </a:lnTo>
                <a:lnTo>
                  <a:pt x="2102114" y="45354"/>
                </a:lnTo>
                <a:lnTo>
                  <a:pt x="2080534" y="64282"/>
                </a:lnTo>
                <a:lnTo>
                  <a:pt x="2061606" y="85862"/>
                </a:lnTo>
                <a:lnTo>
                  <a:pt x="2045696" y="109728"/>
                </a:lnTo>
                <a:lnTo>
                  <a:pt x="2032986" y="135514"/>
                </a:lnTo>
                <a:lnTo>
                  <a:pt x="2023750" y="162672"/>
                </a:lnTo>
                <a:lnTo>
                  <a:pt x="2018172" y="190835"/>
                </a:lnTo>
                <a:lnTo>
                  <a:pt x="2016252" y="219456"/>
                </a:lnTo>
                <a:lnTo>
                  <a:pt x="2016252" y="551932"/>
                </a:lnTo>
                <a:lnTo>
                  <a:pt x="1444843" y="960120"/>
                </a:lnTo>
                <a:lnTo>
                  <a:pt x="891540" y="960120"/>
                </a:lnTo>
                <a:lnTo>
                  <a:pt x="862919" y="962040"/>
                </a:lnTo>
                <a:lnTo>
                  <a:pt x="834756" y="967618"/>
                </a:lnTo>
                <a:lnTo>
                  <a:pt x="807598" y="976854"/>
                </a:lnTo>
                <a:lnTo>
                  <a:pt x="781812" y="989564"/>
                </a:lnTo>
                <a:lnTo>
                  <a:pt x="757946" y="1005474"/>
                </a:lnTo>
                <a:lnTo>
                  <a:pt x="736366" y="1024402"/>
                </a:lnTo>
                <a:lnTo>
                  <a:pt x="717438" y="1045982"/>
                </a:lnTo>
                <a:lnTo>
                  <a:pt x="701528" y="1069848"/>
                </a:lnTo>
                <a:lnTo>
                  <a:pt x="688818" y="1095634"/>
                </a:lnTo>
                <a:lnTo>
                  <a:pt x="679582" y="1122792"/>
                </a:lnTo>
                <a:lnTo>
                  <a:pt x="674004" y="1150955"/>
                </a:lnTo>
                <a:lnTo>
                  <a:pt x="672084" y="1179576"/>
                </a:lnTo>
                <a:lnTo>
                  <a:pt x="672084" y="1600200"/>
                </a:lnTo>
                <a:lnTo>
                  <a:pt x="674004" y="1628821"/>
                </a:lnTo>
                <a:lnTo>
                  <a:pt x="679582" y="1656984"/>
                </a:lnTo>
                <a:lnTo>
                  <a:pt x="688818" y="1684142"/>
                </a:lnTo>
                <a:lnTo>
                  <a:pt x="701528" y="1709928"/>
                </a:lnTo>
                <a:lnTo>
                  <a:pt x="714878" y="1729862"/>
                </a:lnTo>
                <a:lnTo>
                  <a:pt x="581558" y="1920240"/>
                </a:lnTo>
                <a:lnTo>
                  <a:pt x="219456" y="1920240"/>
                </a:lnTo>
                <a:lnTo>
                  <a:pt x="190835" y="1922160"/>
                </a:lnTo>
                <a:lnTo>
                  <a:pt x="162672" y="1927738"/>
                </a:lnTo>
                <a:lnTo>
                  <a:pt x="135514" y="1936974"/>
                </a:lnTo>
                <a:lnTo>
                  <a:pt x="109728" y="1949684"/>
                </a:lnTo>
                <a:lnTo>
                  <a:pt x="85862" y="1965594"/>
                </a:lnTo>
                <a:lnTo>
                  <a:pt x="64282" y="1984522"/>
                </a:lnTo>
                <a:lnTo>
                  <a:pt x="45354" y="2006102"/>
                </a:lnTo>
                <a:lnTo>
                  <a:pt x="29444" y="2029968"/>
                </a:lnTo>
                <a:lnTo>
                  <a:pt x="16734" y="2055754"/>
                </a:lnTo>
                <a:lnTo>
                  <a:pt x="7498" y="2082912"/>
                </a:lnTo>
                <a:lnTo>
                  <a:pt x="1920" y="2111075"/>
                </a:lnTo>
                <a:lnTo>
                  <a:pt x="0" y="2139696"/>
                </a:lnTo>
                <a:lnTo>
                  <a:pt x="0" y="2560320"/>
                </a:lnTo>
                <a:lnTo>
                  <a:pt x="1920" y="2588941"/>
                </a:lnTo>
                <a:lnTo>
                  <a:pt x="7498" y="2617104"/>
                </a:lnTo>
                <a:lnTo>
                  <a:pt x="16734" y="2644262"/>
                </a:lnTo>
                <a:lnTo>
                  <a:pt x="29444" y="2670048"/>
                </a:lnTo>
                <a:lnTo>
                  <a:pt x="45354" y="2693914"/>
                </a:lnTo>
                <a:lnTo>
                  <a:pt x="64282" y="2715494"/>
                </a:lnTo>
                <a:lnTo>
                  <a:pt x="85862" y="2734422"/>
                </a:lnTo>
                <a:lnTo>
                  <a:pt x="109728" y="2750332"/>
                </a:lnTo>
                <a:lnTo>
                  <a:pt x="135514" y="2763042"/>
                </a:lnTo>
                <a:lnTo>
                  <a:pt x="162672" y="2772278"/>
                </a:lnTo>
                <a:lnTo>
                  <a:pt x="190835" y="2777856"/>
                </a:lnTo>
                <a:lnTo>
                  <a:pt x="219456" y="2779776"/>
                </a:lnTo>
                <a:lnTo>
                  <a:pt x="877824" y="2779776"/>
                </a:lnTo>
                <a:lnTo>
                  <a:pt x="906445" y="2777856"/>
                </a:lnTo>
                <a:lnTo>
                  <a:pt x="934608" y="2772278"/>
                </a:lnTo>
                <a:lnTo>
                  <a:pt x="961766" y="2763042"/>
                </a:lnTo>
                <a:lnTo>
                  <a:pt x="987552" y="2750332"/>
                </a:lnTo>
                <a:lnTo>
                  <a:pt x="1011418" y="2734422"/>
                </a:lnTo>
                <a:lnTo>
                  <a:pt x="1032998" y="2715494"/>
                </a:lnTo>
                <a:lnTo>
                  <a:pt x="1051926" y="2693914"/>
                </a:lnTo>
                <a:lnTo>
                  <a:pt x="1067836" y="2670048"/>
                </a:lnTo>
                <a:lnTo>
                  <a:pt x="1080546" y="2644262"/>
                </a:lnTo>
                <a:lnTo>
                  <a:pt x="1089782" y="2617104"/>
                </a:lnTo>
                <a:lnTo>
                  <a:pt x="1095360" y="2588941"/>
                </a:lnTo>
                <a:lnTo>
                  <a:pt x="1097280" y="2560320"/>
                </a:lnTo>
                <a:lnTo>
                  <a:pt x="1097280" y="2139696"/>
                </a:lnTo>
                <a:lnTo>
                  <a:pt x="1095360" y="2111075"/>
                </a:lnTo>
                <a:lnTo>
                  <a:pt x="1089782" y="2082912"/>
                </a:lnTo>
                <a:lnTo>
                  <a:pt x="1080546" y="2055754"/>
                </a:lnTo>
                <a:lnTo>
                  <a:pt x="1067836" y="2029968"/>
                </a:lnTo>
                <a:lnTo>
                  <a:pt x="1054486" y="2010034"/>
                </a:lnTo>
                <a:lnTo>
                  <a:pt x="1187806" y="1819656"/>
                </a:lnTo>
                <a:lnTo>
                  <a:pt x="1253642" y="1819656"/>
                </a:lnTo>
                <a:lnTo>
                  <a:pt x="1386962" y="2010034"/>
                </a:lnTo>
                <a:lnTo>
                  <a:pt x="1373612" y="2029968"/>
                </a:lnTo>
                <a:lnTo>
                  <a:pt x="1360902" y="2055754"/>
                </a:lnTo>
                <a:lnTo>
                  <a:pt x="1351666" y="2082912"/>
                </a:lnTo>
                <a:lnTo>
                  <a:pt x="1346088" y="2111075"/>
                </a:lnTo>
                <a:lnTo>
                  <a:pt x="1344168" y="2139696"/>
                </a:lnTo>
                <a:lnTo>
                  <a:pt x="1344168" y="2560320"/>
                </a:lnTo>
                <a:lnTo>
                  <a:pt x="1346088" y="2588941"/>
                </a:lnTo>
                <a:lnTo>
                  <a:pt x="1351666" y="2617104"/>
                </a:lnTo>
                <a:lnTo>
                  <a:pt x="1360902" y="2644262"/>
                </a:lnTo>
                <a:lnTo>
                  <a:pt x="1373612" y="2670048"/>
                </a:lnTo>
                <a:lnTo>
                  <a:pt x="1389522" y="2693914"/>
                </a:lnTo>
                <a:lnTo>
                  <a:pt x="1408450" y="2715494"/>
                </a:lnTo>
                <a:lnTo>
                  <a:pt x="1430030" y="2734422"/>
                </a:lnTo>
                <a:lnTo>
                  <a:pt x="1453896" y="2750332"/>
                </a:lnTo>
                <a:lnTo>
                  <a:pt x="1461943" y="2754356"/>
                </a:lnTo>
                <a:lnTo>
                  <a:pt x="1403147" y="2880360"/>
                </a:lnTo>
                <a:lnTo>
                  <a:pt x="1115568" y="2880360"/>
                </a:lnTo>
                <a:lnTo>
                  <a:pt x="1086947" y="2882280"/>
                </a:lnTo>
                <a:lnTo>
                  <a:pt x="1058784" y="2887858"/>
                </a:lnTo>
                <a:lnTo>
                  <a:pt x="1031626" y="2897094"/>
                </a:lnTo>
                <a:lnTo>
                  <a:pt x="1005840" y="2909804"/>
                </a:lnTo>
                <a:lnTo>
                  <a:pt x="981974" y="2925714"/>
                </a:lnTo>
                <a:lnTo>
                  <a:pt x="960394" y="2944642"/>
                </a:lnTo>
                <a:lnTo>
                  <a:pt x="941466" y="2966222"/>
                </a:lnTo>
                <a:lnTo>
                  <a:pt x="925556" y="2990088"/>
                </a:lnTo>
                <a:lnTo>
                  <a:pt x="912846" y="3015874"/>
                </a:lnTo>
                <a:lnTo>
                  <a:pt x="903610" y="3043032"/>
                </a:lnTo>
                <a:lnTo>
                  <a:pt x="898032" y="3071195"/>
                </a:lnTo>
                <a:lnTo>
                  <a:pt x="896112" y="3099816"/>
                </a:lnTo>
                <a:lnTo>
                  <a:pt x="896112" y="3520440"/>
                </a:lnTo>
                <a:lnTo>
                  <a:pt x="898032" y="3549061"/>
                </a:lnTo>
                <a:lnTo>
                  <a:pt x="903610" y="3577224"/>
                </a:lnTo>
                <a:lnTo>
                  <a:pt x="912846" y="3604382"/>
                </a:lnTo>
                <a:lnTo>
                  <a:pt x="925556" y="3630168"/>
                </a:lnTo>
                <a:lnTo>
                  <a:pt x="941466" y="3654034"/>
                </a:lnTo>
                <a:lnTo>
                  <a:pt x="960394" y="3675614"/>
                </a:lnTo>
                <a:lnTo>
                  <a:pt x="981974" y="3694542"/>
                </a:lnTo>
                <a:lnTo>
                  <a:pt x="1005840" y="3710452"/>
                </a:lnTo>
                <a:lnTo>
                  <a:pt x="1031626" y="3723162"/>
                </a:lnTo>
                <a:lnTo>
                  <a:pt x="1058784" y="3732398"/>
                </a:lnTo>
                <a:lnTo>
                  <a:pt x="1086947" y="3737976"/>
                </a:lnTo>
                <a:lnTo>
                  <a:pt x="1115568" y="3739896"/>
                </a:lnTo>
                <a:lnTo>
                  <a:pt x="1773936" y="3739896"/>
                </a:lnTo>
                <a:lnTo>
                  <a:pt x="1802557" y="3737976"/>
                </a:lnTo>
                <a:lnTo>
                  <a:pt x="1830720" y="3732398"/>
                </a:lnTo>
                <a:lnTo>
                  <a:pt x="1857878" y="3723162"/>
                </a:lnTo>
                <a:lnTo>
                  <a:pt x="1883664" y="3710452"/>
                </a:lnTo>
                <a:lnTo>
                  <a:pt x="1907530" y="3694542"/>
                </a:lnTo>
                <a:lnTo>
                  <a:pt x="1929110" y="3675614"/>
                </a:lnTo>
                <a:lnTo>
                  <a:pt x="1948038" y="3654034"/>
                </a:lnTo>
                <a:lnTo>
                  <a:pt x="1963948" y="3630168"/>
                </a:lnTo>
                <a:lnTo>
                  <a:pt x="1976658" y="3604382"/>
                </a:lnTo>
                <a:lnTo>
                  <a:pt x="1985894" y="3577224"/>
                </a:lnTo>
                <a:lnTo>
                  <a:pt x="1991472" y="3549061"/>
                </a:lnTo>
                <a:lnTo>
                  <a:pt x="1993392" y="3520440"/>
                </a:lnTo>
                <a:lnTo>
                  <a:pt x="1993392" y="3099816"/>
                </a:lnTo>
                <a:lnTo>
                  <a:pt x="1991472" y="3071195"/>
                </a:lnTo>
                <a:lnTo>
                  <a:pt x="1985894" y="3043032"/>
                </a:lnTo>
                <a:lnTo>
                  <a:pt x="1976658" y="3015874"/>
                </a:lnTo>
                <a:lnTo>
                  <a:pt x="1963948" y="2990088"/>
                </a:lnTo>
                <a:lnTo>
                  <a:pt x="1948038" y="2966222"/>
                </a:lnTo>
                <a:lnTo>
                  <a:pt x="1929110" y="2944642"/>
                </a:lnTo>
                <a:lnTo>
                  <a:pt x="1907530" y="2925714"/>
                </a:lnTo>
                <a:lnTo>
                  <a:pt x="1883664" y="2909804"/>
                </a:lnTo>
                <a:lnTo>
                  <a:pt x="1875617" y="2905780"/>
                </a:lnTo>
                <a:lnTo>
                  <a:pt x="1934413" y="2779776"/>
                </a:lnTo>
                <a:lnTo>
                  <a:pt x="2221992" y="2779776"/>
                </a:lnTo>
                <a:lnTo>
                  <a:pt x="2250613" y="2777856"/>
                </a:lnTo>
                <a:lnTo>
                  <a:pt x="2278776" y="2772278"/>
                </a:lnTo>
                <a:lnTo>
                  <a:pt x="2305934" y="2763042"/>
                </a:lnTo>
                <a:lnTo>
                  <a:pt x="2331720" y="2750332"/>
                </a:lnTo>
                <a:lnTo>
                  <a:pt x="2355586" y="2734422"/>
                </a:lnTo>
                <a:lnTo>
                  <a:pt x="2377166" y="2715494"/>
                </a:lnTo>
                <a:lnTo>
                  <a:pt x="2396094" y="2693914"/>
                </a:lnTo>
                <a:lnTo>
                  <a:pt x="2412004" y="2670048"/>
                </a:lnTo>
                <a:lnTo>
                  <a:pt x="2424714" y="2644262"/>
                </a:lnTo>
                <a:lnTo>
                  <a:pt x="2433950" y="2617104"/>
                </a:lnTo>
                <a:lnTo>
                  <a:pt x="2439528" y="2588941"/>
                </a:lnTo>
                <a:lnTo>
                  <a:pt x="2441448" y="2560320"/>
                </a:lnTo>
                <a:lnTo>
                  <a:pt x="2441448" y="2139696"/>
                </a:lnTo>
                <a:lnTo>
                  <a:pt x="2439528" y="2111075"/>
                </a:lnTo>
                <a:lnTo>
                  <a:pt x="2433950" y="2082912"/>
                </a:lnTo>
                <a:lnTo>
                  <a:pt x="2424714" y="2055754"/>
                </a:lnTo>
                <a:lnTo>
                  <a:pt x="2412004" y="2029968"/>
                </a:lnTo>
                <a:lnTo>
                  <a:pt x="2396094" y="2006102"/>
                </a:lnTo>
                <a:lnTo>
                  <a:pt x="2377166" y="1984522"/>
                </a:lnTo>
                <a:lnTo>
                  <a:pt x="2355586" y="1965594"/>
                </a:lnTo>
                <a:lnTo>
                  <a:pt x="2331720" y="1949684"/>
                </a:lnTo>
                <a:lnTo>
                  <a:pt x="2305934" y="1936974"/>
                </a:lnTo>
                <a:lnTo>
                  <a:pt x="2278776" y="1927738"/>
                </a:lnTo>
                <a:lnTo>
                  <a:pt x="2250613" y="1922160"/>
                </a:lnTo>
                <a:lnTo>
                  <a:pt x="2221992" y="1920240"/>
                </a:lnTo>
                <a:lnTo>
                  <a:pt x="1859890" y="1920240"/>
                </a:lnTo>
                <a:lnTo>
                  <a:pt x="1726570" y="1729862"/>
                </a:lnTo>
                <a:lnTo>
                  <a:pt x="1739920" y="1709928"/>
                </a:lnTo>
                <a:lnTo>
                  <a:pt x="1752630" y="1684142"/>
                </a:lnTo>
                <a:lnTo>
                  <a:pt x="1761866" y="1656984"/>
                </a:lnTo>
                <a:lnTo>
                  <a:pt x="1767444" y="1628821"/>
                </a:lnTo>
                <a:lnTo>
                  <a:pt x="1769364" y="1600200"/>
                </a:lnTo>
                <a:lnTo>
                  <a:pt x="1769364" y="1267724"/>
                </a:lnTo>
                <a:lnTo>
                  <a:pt x="2340773" y="859536"/>
                </a:lnTo>
                <a:lnTo>
                  <a:pt x="2789011" y="859536"/>
                </a:lnTo>
                <a:lnTo>
                  <a:pt x="3360420" y="1267724"/>
                </a:lnTo>
                <a:lnTo>
                  <a:pt x="3360420" y="1600200"/>
                </a:lnTo>
                <a:lnTo>
                  <a:pt x="3362340" y="1628821"/>
                </a:lnTo>
                <a:lnTo>
                  <a:pt x="3367918" y="1656984"/>
                </a:lnTo>
                <a:lnTo>
                  <a:pt x="3377154" y="1684142"/>
                </a:lnTo>
                <a:lnTo>
                  <a:pt x="3389864" y="1709928"/>
                </a:lnTo>
                <a:lnTo>
                  <a:pt x="3403214" y="1729862"/>
                </a:lnTo>
                <a:lnTo>
                  <a:pt x="3269894" y="1920240"/>
                </a:lnTo>
                <a:lnTo>
                  <a:pt x="2907792" y="1920240"/>
                </a:lnTo>
                <a:lnTo>
                  <a:pt x="2879171" y="1922160"/>
                </a:lnTo>
                <a:lnTo>
                  <a:pt x="2851008" y="1927738"/>
                </a:lnTo>
                <a:lnTo>
                  <a:pt x="2823850" y="1936974"/>
                </a:lnTo>
                <a:lnTo>
                  <a:pt x="2798064" y="1949684"/>
                </a:lnTo>
                <a:lnTo>
                  <a:pt x="2774198" y="1965594"/>
                </a:lnTo>
                <a:lnTo>
                  <a:pt x="2752618" y="1984522"/>
                </a:lnTo>
                <a:lnTo>
                  <a:pt x="2733690" y="2006102"/>
                </a:lnTo>
                <a:lnTo>
                  <a:pt x="2717780" y="2029968"/>
                </a:lnTo>
                <a:lnTo>
                  <a:pt x="2705070" y="2055754"/>
                </a:lnTo>
                <a:lnTo>
                  <a:pt x="2695834" y="2082912"/>
                </a:lnTo>
                <a:lnTo>
                  <a:pt x="2690256" y="2111075"/>
                </a:lnTo>
                <a:lnTo>
                  <a:pt x="2688336" y="2139696"/>
                </a:lnTo>
                <a:lnTo>
                  <a:pt x="2688336" y="2560320"/>
                </a:lnTo>
                <a:lnTo>
                  <a:pt x="2690256" y="2588941"/>
                </a:lnTo>
                <a:lnTo>
                  <a:pt x="2695834" y="2617104"/>
                </a:lnTo>
                <a:lnTo>
                  <a:pt x="2705070" y="2644262"/>
                </a:lnTo>
                <a:lnTo>
                  <a:pt x="2717780" y="2670048"/>
                </a:lnTo>
                <a:lnTo>
                  <a:pt x="2733690" y="2693914"/>
                </a:lnTo>
                <a:lnTo>
                  <a:pt x="2752618" y="2715494"/>
                </a:lnTo>
                <a:lnTo>
                  <a:pt x="2774198" y="2734422"/>
                </a:lnTo>
                <a:lnTo>
                  <a:pt x="2798064" y="2750332"/>
                </a:lnTo>
                <a:lnTo>
                  <a:pt x="2823850" y="2763042"/>
                </a:lnTo>
                <a:lnTo>
                  <a:pt x="2851008" y="2772278"/>
                </a:lnTo>
                <a:lnTo>
                  <a:pt x="2879171" y="2777856"/>
                </a:lnTo>
                <a:lnTo>
                  <a:pt x="2907792" y="2779776"/>
                </a:lnTo>
                <a:lnTo>
                  <a:pt x="3566160" y="2779776"/>
                </a:lnTo>
                <a:lnTo>
                  <a:pt x="3594781" y="2777856"/>
                </a:lnTo>
                <a:lnTo>
                  <a:pt x="3622944" y="2772278"/>
                </a:lnTo>
                <a:lnTo>
                  <a:pt x="3650102" y="2763042"/>
                </a:lnTo>
                <a:lnTo>
                  <a:pt x="3675888" y="2750332"/>
                </a:lnTo>
                <a:lnTo>
                  <a:pt x="3699754" y="2734422"/>
                </a:lnTo>
                <a:lnTo>
                  <a:pt x="3721334" y="2715494"/>
                </a:lnTo>
                <a:lnTo>
                  <a:pt x="3740262" y="2693914"/>
                </a:lnTo>
                <a:lnTo>
                  <a:pt x="3756172" y="2670048"/>
                </a:lnTo>
                <a:lnTo>
                  <a:pt x="3768882" y="2644262"/>
                </a:lnTo>
                <a:lnTo>
                  <a:pt x="3778118" y="2617104"/>
                </a:lnTo>
                <a:lnTo>
                  <a:pt x="3783696" y="2588941"/>
                </a:lnTo>
                <a:lnTo>
                  <a:pt x="3785616" y="2560320"/>
                </a:lnTo>
                <a:lnTo>
                  <a:pt x="3785616" y="2139696"/>
                </a:lnTo>
                <a:lnTo>
                  <a:pt x="3783696" y="2111075"/>
                </a:lnTo>
                <a:lnTo>
                  <a:pt x="3778118" y="2082912"/>
                </a:lnTo>
                <a:lnTo>
                  <a:pt x="3768882" y="2055754"/>
                </a:lnTo>
                <a:lnTo>
                  <a:pt x="3756172" y="2029968"/>
                </a:lnTo>
                <a:lnTo>
                  <a:pt x="3742822" y="2010034"/>
                </a:lnTo>
                <a:lnTo>
                  <a:pt x="3876142" y="1819656"/>
                </a:lnTo>
                <a:lnTo>
                  <a:pt x="3941978" y="1819656"/>
                </a:lnTo>
                <a:lnTo>
                  <a:pt x="4075298" y="2010034"/>
                </a:lnTo>
                <a:lnTo>
                  <a:pt x="4061948" y="2029968"/>
                </a:lnTo>
                <a:lnTo>
                  <a:pt x="4049238" y="2055754"/>
                </a:lnTo>
                <a:lnTo>
                  <a:pt x="4040002" y="2082912"/>
                </a:lnTo>
                <a:lnTo>
                  <a:pt x="4034424" y="2111075"/>
                </a:lnTo>
                <a:lnTo>
                  <a:pt x="4032504" y="2139696"/>
                </a:lnTo>
                <a:lnTo>
                  <a:pt x="4032504" y="2560320"/>
                </a:lnTo>
                <a:lnTo>
                  <a:pt x="4034424" y="2588941"/>
                </a:lnTo>
                <a:lnTo>
                  <a:pt x="4040002" y="2617104"/>
                </a:lnTo>
                <a:lnTo>
                  <a:pt x="4049238" y="2644262"/>
                </a:lnTo>
                <a:lnTo>
                  <a:pt x="4061948" y="2670048"/>
                </a:lnTo>
                <a:lnTo>
                  <a:pt x="4077858" y="2693914"/>
                </a:lnTo>
                <a:lnTo>
                  <a:pt x="4096786" y="2715494"/>
                </a:lnTo>
                <a:lnTo>
                  <a:pt x="4118366" y="2734422"/>
                </a:lnTo>
                <a:lnTo>
                  <a:pt x="4142232" y="2750332"/>
                </a:lnTo>
                <a:lnTo>
                  <a:pt x="4168018" y="2763042"/>
                </a:lnTo>
                <a:lnTo>
                  <a:pt x="4195176" y="2772278"/>
                </a:lnTo>
                <a:lnTo>
                  <a:pt x="4223339" y="2777856"/>
                </a:lnTo>
                <a:lnTo>
                  <a:pt x="4251960" y="2779776"/>
                </a:lnTo>
                <a:lnTo>
                  <a:pt x="4910328" y="2779776"/>
                </a:lnTo>
                <a:lnTo>
                  <a:pt x="4938949" y="2777856"/>
                </a:lnTo>
                <a:lnTo>
                  <a:pt x="4967112" y="2772278"/>
                </a:lnTo>
                <a:lnTo>
                  <a:pt x="4994270" y="2763042"/>
                </a:lnTo>
                <a:lnTo>
                  <a:pt x="5020056" y="2750332"/>
                </a:lnTo>
                <a:lnTo>
                  <a:pt x="5043922" y="2734422"/>
                </a:lnTo>
                <a:lnTo>
                  <a:pt x="5065502" y="2715494"/>
                </a:lnTo>
                <a:lnTo>
                  <a:pt x="5084430" y="2693914"/>
                </a:lnTo>
                <a:lnTo>
                  <a:pt x="5100340" y="2670048"/>
                </a:lnTo>
                <a:lnTo>
                  <a:pt x="5113050" y="2644262"/>
                </a:lnTo>
                <a:lnTo>
                  <a:pt x="5122286" y="2617104"/>
                </a:lnTo>
                <a:lnTo>
                  <a:pt x="5127864" y="2588941"/>
                </a:lnTo>
                <a:lnTo>
                  <a:pt x="5129784" y="2560320"/>
                </a:lnTo>
                <a:lnTo>
                  <a:pt x="5129784" y="2139696"/>
                </a:lnTo>
                <a:lnTo>
                  <a:pt x="5127864" y="2111075"/>
                </a:lnTo>
                <a:lnTo>
                  <a:pt x="5122286" y="2082912"/>
                </a:lnTo>
                <a:lnTo>
                  <a:pt x="5113050" y="2055754"/>
                </a:lnTo>
                <a:lnTo>
                  <a:pt x="5100340" y="2029968"/>
                </a:lnTo>
                <a:lnTo>
                  <a:pt x="5084430" y="2006102"/>
                </a:lnTo>
                <a:lnTo>
                  <a:pt x="5065502" y="1984522"/>
                </a:lnTo>
                <a:lnTo>
                  <a:pt x="5043922" y="1965594"/>
                </a:lnTo>
                <a:lnTo>
                  <a:pt x="5020056" y="1949684"/>
                </a:lnTo>
                <a:lnTo>
                  <a:pt x="4994270" y="1936974"/>
                </a:lnTo>
                <a:lnTo>
                  <a:pt x="4967112" y="1927738"/>
                </a:lnTo>
                <a:lnTo>
                  <a:pt x="4938949" y="1922160"/>
                </a:lnTo>
                <a:lnTo>
                  <a:pt x="4910328" y="1920240"/>
                </a:lnTo>
                <a:lnTo>
                  <a:pt x="4548226" y="1920240"/>
                </a:lnTo>
                <a:lnTo>
                  <a:pt x="4414906" y="1729862"/>
                </a:lnTo>
                <a:lnTo>
                  <a:pt x="4428256" y="1709928"/>
                </a:lnTo>
                <a:lnTo>
                  <a:pt x="4440966" y="1684142"/>
                </a:lnTo>
                <a:lnTo>
                  <a:pt x="4450202" y="1656984"/>
                </a:lnTo>
                <a:lnTo>
                  <a:pt x="4455780" y="1628821"/>
                </a:lnTo>
                <a:lnTo>
                  <a:pt x="4457700" y="1600200"/>
                </a:lnTo>
                <a:lnTo>
                  <a:pt x="4457700" y="1179576"/>
                </a:lnTo>
                <a:lnTo>
                  <a:pt x="4455780" y="1150955"/>
                </a:lnTo>
                <a:lnTo>
                  <a:pt x="4450202" y="1122792"/>
                </a:lnTo>
                <a:lnTo>
                  <a:pt x="4440966" y="1095634"/>
                </a:lnTo>
                <a:lnTo>
                  <a:pt x="4428256" y="1069848"/>
                </a:lnTo>
                <a:lnTo>
                  <a:pt x="4412346" y="1045982"/>
                </a:lnTo>
                <a:lnTo>
                  <a:pt x="4393418" y="1024402"/>
                </a:lnTo>
                <a:lnTo>
                  <a:pt x="4371838" y="1005474"/>
                </a:lnTo>
                <a:lnTo>
                  <a:pt x="4347972" y="989564"/>
                </a:lnTo>
                <a:lnTo>
                  <a:pt x="4322186" y="976854"/>
                </a:lnTo>
                <a:lnTo>
                  <a:pt x="4295028" y="967618"/>
                </a:lnTo>
                <a:lnTo>
                  <a:pt x="4266865" y="962040"/>
                </a:lnTo>
                <a:lnTo>
                  <a:pt x="4238244" y="960120"/>
                </a:lnTo>
                <a:lnTo>
                  <a:pt x="3684941" y="960120"/>
                </a:lnTo>
                <a:lnTo>
                  <a:pt x="3113532" y="551932"/>
                </a:lnTo>
                <a:lnTo>
                  <a:pt x="3113532" y="219456"/>
                </a:lnTo>
                <a:lnTo>
                  <a:pt x="3111612" y="190835"/>
                </a:lnTo>
                <a:lnTo>
                  <a:pt x="3106034" y="162672"/>
                </a:lnTo>
                <a:lnTo>
                  <a:pt x="3096798" y="135514"/>
                </a:lnTo>
                <a:lnTo>
                  <a:pt x="3084088" y="109728"/>
                </a:lnTo>
              </a:path>
            </a:pathLst>
          </a:custGeom>
          <a:ln w="25400">
            <a:solidFill>
              <a:srgbClr val="7C7CA0"/>
            </a:solidFill>
            <a:prstDash val="dash"/>
            <a:tailEnd type="triangle"/>
          </a:ln>
        </p:spPr>
      </p:sp>
      <p:sp>
        <p:nvSpPr>
          <p:cNvPr id="8" name="Shape 5"/>
          <p:cNvSpPr/>
          <p:nvPr/>
        </p:nvSpPr>
        <p:spPr>
          <a:xfrm flipH="1">
            <a:off x="2212848" y="1947672"/>
            <a:ext cx="1344168" cy="539496"/>
          </a:xfrm>
          <a:prstGeom prst="line">
            <a:avLst/>
          </a:prstGeom>
          <a:noFill/>
          <a:ln w="19050">
            <a:solidFill>
              <a:srgbClr val="9A9AB5"/>
            </a:solidFill>
            <a:prstDash val="solid"/>
          </a:ln>
        </p:spPr>
      </p:sp>
      <p:sp>
        <p:nvSpPr>
          <p:cNvPr id="9" name="Shape 6"/>
          <p:cNvSpPr/>
          <p:nvPr/>
        </p:nvSpPr>
        <p:spPr>
          <a:xfrm>
            <a:off x="3557016" y="1947672"/>
            <a:ext cx="1344168" cy="539496"/>
          </a:xfrm>
          <a:prstGeom prst="line">
            <a:avLst/>
          </a:prstGeom>
          <a:noFill/>
          <a:ln w="19050">
            <a:solidFill>
              <a:srgbClr val="9A9AB5"/>
            </a:solidFill>
            <a:prstDash val="solid"/>
          </a:ln>
        </p:spPr>
      </p:sp>
      <p:sp>
        <p:nvSpPr>
          <p:cNvPr id="10" name="Shape 7"/>
          <p:cNvSpPr/>
          <p:nvPr/>
        </p:nvSpPr>
        <p:spPr>
          <a:xfrm flipH="1">
            <a:off x="1540764" y="2907792"/>
            <a:ext cx="672084" cy="539496"/>
          </a:xfrm>
          <a:prstGeom prst="line">
            <a:avLst/>
          </a:prstGeom>
          <a:noFill/>
          <a:ln w="19050">
            <a:solidFill>
              <a:srgbClr val="9A9AB5"/>
            </a:solidFill>
            <a:prstDash val="solid"/>
          </a:ln>
        </p:spPr>
      </p:sp>
      <p:sp>
        <p:nvSpPr>
          <p:cNvPr id="11" name="Shape 8"/>
          <p:cNvSpPr/>
          <p:nvPr/>
        </p:nvSpPr>
        <p:spPr>
          <a:xfrm>
            <a:off x="2212848" y="2907792"/>
            <a:ext cx="672084" cy="539496"/>
          </a:xfrm>
          <a:prstGeom prst="line">
            <a:avLst/>
          </a:prstGeom>
          <a:noFill/>
          <a:ln w="19050">
            <a:solidFill>
              <a:srgbClr val="9A9AB5"/>
            </a:solidFill>
            <a:prstDash val="solid"/>
          </a:ln>
        </p:spPr>
      </p:sp>
      <p:sp>
        <p:nvSpPr>
          <p:cNvPr id="12" name="Shape 9"/>
          <p:cNvSpPr/>
          <p:nvPr/>
        </p:nvSpPr>
        <p:spPr>
          <a:xfrm flipH="1">
            <a:off x="4229100" y="2907792"/>
            <a:ext cx="672084" cy="539496"/>
          </a:xfrm>
          <a:prstGeom prst="line">
            <a:avLst/>
          </a:prstGeom>
          <a:noFill/>
          <a:ln w="19050">
            <a:solidFill>
              <a:srgbClr val="9A9AB5"/>
            </a:solidFill>
            <a:prstDash val="solid"/>
          </a:ln>
        </p:spPr>
      </p:sp>
      <p:sp>
        <p:nvSpPr>
          <p:cNvPr id="13" name="Shape 10"/>
          <p:cNvSpPr/>
          <p:nvPr/>
        </p:nvSpPr>
        <p:spPr>
          <a:xfrm>
            <a:off x="4901184" y="2907792"/>
            <a:ext cx="672084" cy="539496"/>
          </a:xfrm>
          <a:prstGeom prst="line">
            <a:avLst/>
          </a:prstGeom>
          <a:noFill/>
          <a:ln w="19050">
            <a:solidFill>
              <a:srgbClr val="9A9AB5"/>
            </a:solidFill>
            <a:prstDash val="solid"/>
          </a:ln>
        </p:spPr>
      </p:sp>
      <p:sp>
        <p:nvSpPr>
          <p:cNvPr id="14" name="Shape 11"/>
          <p:cNvSpPr/>
          <p:nvPr/>
        </p:nvSpPr>
        <p:spPr>
          <a:xfrm flipH="1">
            <a:off x="2436876" y="3867912"/>
            <a:ext cx="448056" cy="539496"/>
          </a:xfrm>
          <a:prstGeom prst="line">
            <a:avLst/>
          </a:prstGeom>
          <a:noFill/>
          <a:ln w="19050">
            <a:solidFill>
              <a:srgbClr val="9A9AB5"/>
            </a:solidFill>
            <a:prstDash val="solid"/>
          </a:ln>
        </p:spPr>
      </p:sp>
      <p:sp>
        <p:nvSpPr>
          <p:cNvPr id="15" name="Text 12"/>
          <p:cNvSpPr/>
          <p:nvPr/>
        </p:nvSpPr>
        <p:spPr>
          <a:xfrm>
            <a:off x="3227832" y="1527048"/>
            <a:ext cx="658368" cy="420624"/>
          </a:xfrm>
          <a:prstGeom prst="roundRect">
            <a:avLst>
              <a:gd name="adj" fmla="val 17391"/>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50</a:t>
            </a:r>
            <a:endParaRPr lang="en-US" sz="1500" dirty="0"/>
          </a:p>
        </p:txBody>
      </p:sp>
      <p:sp>
        <p:nvSpPr>
          <p:cNvPr id="16" name="Shape 13"/>
          <p:cNvSpPr/>
          <p:nvPr/>
        </p:nvSpPr>
        <p:spPr>
          <a:xfrm>
            <a:off x="3145536" y="1655064"/>
            <a:ext cx="164592" cy="164592"/>
          </a:xfrm>
          <a:prstGeom prst="ellipse">
            <a:avLst/>
          </a:prstGeom>
          <a:solidFill>
            <a:srgbClr val="1F8A8A"/>
          </a:solidFill>
          <a:ln w="12700">
            <a:solidFill>
              <a:srgbClr val="FFFFFF"/>
            </a:solidFill>
            <a:prstDash val="solid"/>
          </a:ln>
        </p:spPr>
      </p:sp>
      <p:sp>
        <p:nvSpPr>
          <p:cNvPr id="17" name="Shape 14"/>
          <p:cNvSpPr/>
          <p:nvPr/>
        </p:nvSpPr>
        <p:spPr>
          <a:xfrm>
            <a:off x="3474720" y="1865376"/>
            <a:ext cx="164592" cy="164592"/>
          </a:xfrm>
          <a:prstGeom prst="ellipse">
            <a:avLst/>
          </a:prstGeom>
          <a:solidFill>
            <a:srgbClr val="D9822B"/>
          </a:solidFill>
          <a:ln w="12700">
            <a:solidFill>
              <a:srgbClr val="FFFFFF"/>
            </a:solidFill>
            <a:prstDash val="solid"/>
          </a:ln>
        </p:spPr>
      </p:sp>
      <p:sp>
        <p:nvSpPr>
          <p:cNvPr id="18" name="Shape 15"/>
          <p:cNvSpPr/>
          <p:nvPr/>
        </p:nvSpPr>
        <p:spPr>
          <a:xfrm>
            <a:off x="3803904" y="1655064"/>
            <a:ext cx="164592" cy="164592"/>
          </a:xfrm>
          <a:prstGeom prst="ellipse">
            <a:avLst/>
          </a:prstGeom>
          <a:solidFill>
            <a:srgbClr val="8E4FB8"/>
          </a:solidFill>
          <a:ln w="12700">
            <a:solidFill>
              <a:srgbClr val="FFFFFF"/>
            </a:solidFill>
            <a:prstDash val="solid"/>
          </a:ln>
        </p:spPr>
      </p:sp>
      <p:sp>
        <p:nvSpPr>
          <p:cNvPr id="19" name="Text 16"/>
          <p:cNvSpPr/>
          <p:nvPr/>
        </p:nvSpPr>
        <p:spPr>
          <a:xfrm>
            <a:off x="1883664" y="2487168"/>
            <a:ext cx="658368" cy="420624"/>
          </a:xfrm>
          <a:prstGeom prst="roundRect">
            <a:avLst>
              <a:gd name="adj" fmla="val 17391"/>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30</a:t>
            </a:r>
            <a:endParaRPr lang="en-US" sz="1500" dirty="0"/>
          </a:p>
        </p:txBody>
      </p:sp>
      <p:sp>
        <p:nvSpPr>
          <p:cNvPr id="20" name="Shape 17"/>
          <p:cNvSpPr/>
          <p:nvPr/>
        </p:nvSpPr>
        <p:spPr>
          <a:xfrm>
            <a:off x="1801368" y="2615184"/>
            <a:ext cx="164592" cy="164592"/>
          </a:xfrm>
          <a:prstGeom prst="ellipse">
            <a:avLst/>
          </a:prstGeom>
          <a:solidFill>
            <a:srgbClr val="1F8A8A"/>
          </a:solidFill>
          <a:ln w="12700">
            <a:solidFill>
              <a:srgbClr val="FFFFFF"/>
            </a:solidFill>
            <a:prstDash val="solid"/>
          </a:ln>
        </p:spPr>
      </p:sp>
      <p:sp>
        <p:nvSpPr>
          <p:cNvPr id="21" name="Shape 18"/>
          <p:cNvSpPr/>
          <p:nvPr/>
        </p:nvSpPr>
        <p:spPr>
          <a:xfrm>
            <a:off x="2130552" y="2825496"/>
            <a:ext cx="164592" cy="164592"/>
          </a:xfrm>
          <a:prstGeom prst="ellipse">
            <a:avLst/>
          </a:prstGeom>
          <a:solidFill>
            <a:srgbClr val="D9822B"/>
          </a:solidFill>
          <a:ln w="12700">
            <a:solidFill>
              <a:srgbClr val="FFFFFF"/>
            </a:solidFill>
            <a:prstDash val="solid"/>
          </a:ln>
        </p:spPr>
      </p:sp>
      <p:sp>
        <p:nvSpPr>
          <p:cNvPr id="22" name="Shape 19"/>
          <p:cNvSpPr/>
          <p:nvPr/>
        </p:nvSpPr>
        <p:spPr>
          <a:xfrm>
            <a:off x="2459736" y="2615184"/>
            <a:ext cx="164592" cy="164592"/>
          </a:xfrm>
          <a:prstGeom prst="ellipse">
            <a:avLst/>
          </a:prstGeom>
          <a:solidFill>
            <a:srgbClr val="8E4FB8"/>
          </a:solidFill>
          <a:ln w="12700">
            <a:solidFill>
              <a:srgbClr val="FFFFFF"/>
            </a:solidFill>
            <a:prstDash val="solid"/>
          </a:ln>
        </p:spPr>
      </p:sp>
      <p:sp>
        <p:nvSpPr>
          <p:cNvPr id="23" name="Text 20"/>
          <p:cNvSpPr/>
          <p:nvPr/>
        </p:nvSpPr>
        <p:spPr>
          <a:xfrm>
            <a:off x="4572000" y="2487168"/>
            <a:ext cx="658368" cy="420624"/>
          </a:xfrm>
          <a:prstGeom prst="roundRect">
            <a:avLst>
              <a:gd name="adj" fmla="val 17391"/>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70</a:t>
            </a:r>
            <a:endParaRPr lang="en-US" sz="1500" dirty="0"/>
          </a:p>
        </p:txBody>
      </p:sp>
      <p:sp>
        <p:nvSpPr>
          <p:cNvPr id="24" name="Shape 21"/>
          <p:cNvSpPr/>
          <p:nvPr/>
        </p:nvSpPr>
        <p:spPr>
          <a:xfrm>
            <a:off x="4489704" y="2615184"/>
            <a:ext cx="164592" cy="164592"/>
          </a:xfrm>
          <a:prstGeom prst="ellipse">
            <a:avLst/>
          </a:prstGeom>
          <a:solidFill>
            <a:srgbClr val="1F8A8A"/>
          </a:solidFill>
          <a:ln w="12700">
            <a:solidFill>
              <a:srgbClr val="FFFFFF"/>
            </a:solidFill>
            <a:prstDash val="solid"/>
          </a:ln>
        </p:spPr>
      </p:sp>
      <p:sp>
        <p:nvSpPr>
          <p:cNvPr id="25" name="Shape 22"/>
          <p:cNvSpPr/>
          <p:nvPr/>
        </p:nvSpPr>
        <p:spPr>
          <a:xfrm>
            <a:off x="4818888" y="2825496"/>
            <a:ext cx="164592" cy="164592"/>
          </a:xfrm>
          <a:prstGeom prst="ellipse">
            <a:avLst/>
          </a:prstGeom>
          <a:solidFill>
            <a:srgbClr val="D9822B"/>
          </a:solidFill>
          <a:ln w="12700">
            <a:solidFill>
              <a:srgbClr val="FFFFFF"/>
            </a:solidFill>
            <a:prstDash val="solid"/>
          </a:ln>
        </p:spPr>
      </p:sp>
      <p:sp>
        <p:nvSpPr>
          <p:cNvPr id="26" name="Shape 23"/>
          <p:cNvSpPr/>
          <p:nvPr/>
        </p:nvSpPr>
        <p:spPr>
          <a:xfrm>
            <a:off x="5148072" y="2615184"/>
            <a:ext cx="164592" cy="164592"/>
          </a:xfrm>
          <a:prstGeom prst="ellipse">
            <a:avLst/>
          </a:prstGeom>
          <a:solidFill>
            <a:srgbClr val="8E4FB8"/>
          </a:solidFill>
          <a:ln w="12700">
            <a:solidFill>
              <a:srgbClr val="FFFFFF"/>
            </a:solidFill>
            <a:prstDash val="solid"/>
          </a:ln>
        </p:spPr>
      </p:sp>
      <p:sp>
        <p:nvSpPr>
          <p:cNvPr id="27" name="Text 24"/>
          <p:cNvSpPr/>
          <p:nvPr/>
        </p:nvSpPr>
        <p:spPr>
          <a:xfrm>
            <a:off x="1211580" y="3447288"/>
            <a:ext cx="658368" cy="420624"/>
          </a:xfrm>
          <a:prstGeom prst="roundRect">
            <a:avLst>
              <a:gd name="adj" fmla="val 17391"/>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20</a:t>
            </a:r>
            <a:endParaRPr lang="en-US" sz="1500" dirty="0"/>
          </a:p>
        </p:txBody>
      </p:sp>
      <p:sp>
        <p:nvSpPr>
          <p:cNvPr id="28" name="Shape 25"/>
          <p:cNvSpPr/>
          <p:nvPr/>
        </p:nvSpPr>
        <p:spPr>
          <a:xfrm>
            <a:off x="1129284" y="3575304"/>
            <a:ext cx="164592" cy="164592"/>
          </a:xfrm>
          <a:prstGeom prst="ellipse">
            <a:avLst/>
          </a:prstGeom>
          <a:solidFill>
            <a:srgbClr val="1F8A8A"/>
          </a:solidFill>
          <a:ln w="12700">
            <a:solidFill>
              <a:srgbClr val="FFFFFF"/>
            </a:solidFill>
            <a:prstDash val="solid"/>
          </a:ln>
        </p:spPr>
      </p:sp>
      <p:sp>
        <p:nvSpPr>
          <p:cNvPr id="29" name="Shape 26"/>
          <p:cNvSpPr/>
          <p:nvPr/>
        </p:nvSpPr>
        <p:spPr>
          <a:xfrm>
            <a:off x="1458468" y="3785616"/>
            <a:ext cx="164592" cy="164592"/>
          </a:xfrm>
          <a:prstGeom prst="ellipse">
            <a:avLst/>
          </a:prstGeom>
          <a:solidFill>
            <a:srgbClr val="D9822B"/>
          </a:solidFill>
          <a:ln w="12700">
            <a:solidFill>
              <a:srgbClr val="FFFFFF"/>
            </a:solidFill>
            <a:prstDash val="solid"/>
          </a:ln>
        </p:spPr>
      </p:sp>
      <p:sp>
        <p:nvSpPr>
          <p:cNvPr id="30" name="Shape 27"/>
          <p:cNvSpPr/>
          <p:nvPr/>
        </p:nvSpPr>
        <p:spPr>
          <a:xfrm>
            <a:off x="1787652" y="3575304"/>
            <a:ext cx="164592" cy="164592"/>
          </a:xfrm>
          <a:prstGeom prst="ellipse">
            <a:avLst/>
          </a:prstGeom>
          <a:solidFill>
            <a:srgbClr val="8E4FB8"/>
          </a:solidFill>
          <a:ln w="12700">
            <a:solidFill>
              <a:srgbClr val="FFFFFF"/>
            </a:solidFill>
            <a:prstDash val="solid"/>
          </a:ln>
        </p:spPr>
      </p:sp>
      <p:sp>
        <p:nvSpPr>
          <p:cNvPr id="31" name="Text 28"/>
          <p:cNvSpPr/>
          <p:nvPr/>
        </p:nvSpPr>
        <p:spPr>
          <a:xfrm>
            <a:off x="2555748" y="3447288"/>
            <a:ext cx="658368" cy="420624"/>
          </a:xfrm>
          <a:prstGeom prst="roundRect">
            <a:avLst>
              <a:gd name="adj" fmla="val 17391"/>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40</a:t>
            </a:r>
            <a:endParaRPr lang="en-US" sz="1500" dirty="0"/>
          </a:p>
        </p:txBody>
      </p:sp>
      <p:sp>
        <p:nvSpPr>
          <p:cNvPr id="32" name="Shape 29"/>
          <p:cNvSpPr/>
          <p:nvPr/>
        </p:nvSpPr>
        <p:spPr>
          <a:xfrm>
            <a:off x="2473452" y="3575304"/>
            <a:ext cx="164592" cy="164592"/>
          </a:xfrm>
          <a:prstGeom prst="ellipse">
            <a:avLst/>
          </a:prstGeom>
          <a:solidFill>
            <a:srgbClr val="1F8A8A"/>
          </a:solidFill>
          <a:ln w="12700">
            <a:solidFill>
              <a:srgbClr val="FFFFFF"/>
            </a:solidFill>
            <a:prstDash val="solid"/>
          </a:ln>
        </p:spPr>
      </p:sp>
      <p:sp>
        <p:nvSpPr>
          <p:cNvPr id="33" name="Shape 30"/>
          <p:cNvSpPr/>
          <p:nvPr/>
        </p:nvSpPr>
        <p:spPr>
          <a:xfrm>
            <a:off x="2802636" y="3785616"/>
            <a:ext cx="164592" cy="164592"/>
          </a:xfrm>
          <a:prstGeom prst="ellipse">
            <a:avLst/>
          </a:prstGeom>
          <a:solidFill>
            <a:srgbClr val="D9822B"/>
          </a:solidFill>
          <a:ln w="12700">
            <a:solidFill>
              <a:srgbClr val="FFFFFF"/>
            </a:solidFill>
            <a:prstDash val="solid"/>
          </a:ln>
        </p:spPr>
      </p:sp>
      <p:sp>
        <p:nvSpPr>
          <p:cNvPr id="34" name="Shape 31"/>
          <p:cNvSpPr/>
          <p:nvPr/>
        </p:nvSpPr>
        <p:spPr>
          <a:xfrm>
            <a:off x="3131820" y="3575304"/>
            <a:ext cx="164592" cy="164592"/>
          </a:xfrm>
          <a:prstGeom prst="ellipse">
            <a:avLst/>
          </a:prstGeom>
          <a:solidFill>
            <a:srgbClr val="8E4FB8"/>
          </a:solidFill>
          <a:ln w="12700">
            <a:solidFill>
              <a:srgbClr val="FFFFFF"/>
            </a:solidFill>
            <a:prstDash val="solid"/>
          </a:ln>
        </p:spPr>
      </p:sp>
      <p:sp>
        <p:nvSpPr>
          <p:cNvPr id="35" name="Text 32"/>
          <p:cNvSpPr/>
          <p:nvPr/>
        </p:nvSpPr>
        <p:spPr>
          <a:xfrm>
            <a:off x="3899916" y="3447288"/>
            <a:ext cx="658368" cy="420624"/>
          </a:xfrm>
          <a:prstGeom prst="roundRect">
            <a:avLst>
              <a:gd name="adj" fmla="val 17391"/>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60</a:t>
            </a:r>
            <a:endParaRPr lang="en-US" sz="1500" dirty="0"/>
          </a:p>
        </p:txBody>
      </p:sp>
      <p:sp>
        <p:nvSpPr>
          <p:cNvPr id="36" name="Shape 33"/>
          <p:cNvSpPr/>
          <p:nvPr/>
        </p:nvSpPr>
        <p:spPr>
          <a:xfrm>
            <a:off x="3817620" y="3575304"/>
            <a:ext cx="164592" cy="164592"/>
          </a:xfrm>
          <a:prstGeom prst="ellipse">
            <a:avLst/>
          </a:prstGeom>
          <a:solidFill>
            <a:srgbClr val="1F8A8A"/>
          </a:solidFill>
          <a:ln w="12700">
            <a:solidFill>
              <a:srgbClr val="FFFFFF"/>
            </a:solidFill>
            <a:prstDash val="solid"/>
          </a:ln>
        </p:spPr>
      </p:sp>
      <p:sp>
        <p:nvSpPr>
          <p:cNvPr id="37" name="Shape 34"/>
          <p:cNvSpPr/>
          <p:nvPr/>
        </p:nvSpPr>
        <p:spPr>
          <a:xfrm>
            <a:off x="4146804" y="3785616"/>
            <a:ext cx="164592" cy="164592"/>
          </a:xfrm>
          <a:prstGeom prst="ellipse">
            <a:avLst/>
          </a:prstGeom>
          <a:solidFill>
            <a:srgbClr val="D9822B"/>
          </a:solidFill>
          <a:ln w="12700">
            <a:solidFill>
              <a:srgbClr val="FFFFFF"/>
            </a:solidFill>
            <a:prstDash val="solid"/>
          </a:ln>
        </p:spPr>
      </p:sp>
      <p:sp>
        <p:nvSpPr>
          <p:cNvPr id="38" name="Shape 35"/>
          <p:cNvSpPr/>
          <p:nvPr/>
        </p:nvSpPr>
        <p:spPr>
          <a:xfrm>
            <a:off x="4475988" y="3575304"/>
            <a:ext cx="164592" cy="164592"/>
          </a:xfrm>
          <a:prstGeom prst="ellipse">
            <a:avLst/>
          </a:prstGeom>
          <a:solidFill>
            <a:srgbClr val="8E4FB8"/>
          </a:solidFill>
          <a:ln w="12700">
            <a:solidFill>
              <a:srgbClr val="FFFFFF"/>
            </a:solidFill>
            <a:prstDash val="solid"/>
          </a:ln>
        </p:spPr>
      </p:sp>
      <p:sp>
        <p:nvSpPr>
          <p:cNvPr id="39" name="Text 36"/>
          <p:cNvSpPr/>
          <p:nvPr/>
        </p:nvSpPr>
        <p:spPr>
          <a:xfrm>
            <a:off x="5244084" y="3447288"/>
            <a:ext cx="658368" cy="420624"/>
          </a:xfrm>
          <a:prstGeom prst="roundRect">
            <a:avLst>
              <a:gd name="adj" fmla="val 17391"/>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80</a:t>
            </a:r>
            <a:endParaRPr lang="en-US" sz="1500" dirty="0"/>
          </a:p>
        </p:txBody>
      </p:sp>
      <p:sp>
        <p:nvSpPr>
          <p:cNvPr id="40" name="Shape 37"/>
          <p:cNvSpPr/>
          <p:nvPr/>
        </p:nvSpPr>
        <p:spPr>
          <a:xfrm>
            <a:off x="5161788" y="3575304"/>
            <a:ext cx="164592" cy="164592"/>
          </a:xfrm>
          <a:prstGeom prst="ellipse">
            <a:avLst/>
          </a:prstGeom>
          <a:solidFill>
            <a:srgbClr val="1F8A8A"/>
          </a:solidFill>
          <a:ln w="12700">
            <a:solidFill>
              <a:srgbClr val="FFFFFF"/>
            </a:solidFill>
            <a:prstDash val="solid"/>
          </a:ln>
        </p:spPr>
      </p:sp>
      <p:sp>
        <p:nvSpPr>
          <p:cNvPr id="41" name="Shape 38"/>
          <p:cNvSpPr/>
          <p:nvPr/>
        </p:nvSpPr>
        <p:spPr>
          <a:xfrm>
            <a:off x="5490972" y="3785616"/>
            <a:ext cx="164592" cy="164592"/>
          </a:xfrm>
          <a:prstGeom prst="ellipse">
            <a:avLst/>
          </a:prstGeom>
          <a:solidFill>
            <a:srgbClr val="D9822B"/>
          </a:solidFill>
          <a:ln w="12700">
            <a:solidFill>
              <a:srgbClr val="FFFFFF"/>
            </a:solidFill>
            <a:prstDash val="solid"/>
          </a:ln>
        </p:spPr>
      </p:sp>
      <p:sp>
        <p:nvSpPr>
          <p:cNvPr id="42" name="Shape 39"/>
          <p:cNvSpPr/>
          <p:nvPr/>
        </p:nvSpPr>
        <p:spPr>
          <a:xfrm>
            <a:off x="5820156" y="3575304"/>
            <a:ext cx="164592" cy="164592"/>
          </a:xfrm>
          <a:prstGeom prst="ellipse">
            <a:avLst/>
          </a:prstGeom>
          <a:solidFill>
            <a:srgbClr val="8E4FB8"/>
          </a:solidFill>
          <a:ln w="12700">
            <a:solidFill>
              <a:srgbClr val="FFFFFF"/>
            </a:solidFill>
            <a:prstDash val="solid"/>
          </a:ln>
        </p:spPr>
      </p:sp>
      <p:sp>
        <p:nvSpPr>
          <p:cNvPr id="43" name="Text 40"/>
          <p:cNvSpPr/>
          <p:nvPr/>
        </p:nvSpPr>
        <p:spPr>
          <a:xfrm>
            <a:off x="2107692" y="4407408"/>
            <a:ext cx="658368" cy="420624"/>
          </a:xfrm>
          <a:prstGeom prst="roundRect">
            <a:avLst>
              <a:gd name="adj" fmla="val 17391"/>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35</a:t>
            </a:r>
            <a:endParaRPr lang="en-US" sz="1500" dirty="0"/>
          </a:p>
        </p:txBody>
      </p:sp>
      <p:sp>
        <p:nvSpPr>
          <p:cNvPr id="44" name="Shape 41"/>
          <p:cNvSpPr/>
          <p:nvPr/>
        </p:nvSpPr>
        <p:spPr>
          <a:xfrm>
            <a:off x="2025396" y="4535424"/>
            <a:ext cx="164592" cy="164592"/>
          </a:xfrm>
          <a:prstGeom prst="ellipse">
            <a:avLst/>
          </a:prstGeom>
          <a:solidFill>
            <a:srgbClr val="1F8A8A"/>
          </a:solidFill>
          <a:ln w="12700">
            <a:solidFill>
              <a:srgbClr val="FFFFFF"/>
            </a:solidFill>
            <a:prstDash val="solid"/>
          </a:ln>
        </p:spPr>
      </p:sp>
      <p:sp>
        <p:nvSpPr>
          <p:cNvPr id="45" name="Shape 42"/>
          <p:cNvSpPr/>
          <p:nvPr/>
        </p:nvSpPr>
        <p:spPr>
          <a:xfrm>
            <a:off x="2354580" y="4745736"/>
            <a:ext cx="164592" cy="164592"/>
          </a:xfrm>
          <a:prstGeom prst="ellipse">
            <a:avLst/>
          </a:prstGeom>
          <a:solidFill>
            <a:srgbClr val="D9822B"/>
          </a:solidFill>
          <a:ln w="12700">
            <a:solidFill>
              <a:srgbClr val="FFFFFF"/>
            </a:solidFill>
            <a:prstDash val="solid"/>
          </a:ln>
        </p:spPr>
      </p:sp>
      <p:sp>
        <p:nvSpPr>
          <p:cNvPr id="46" name="Shape 43"/>
          <p:cNvSpPr/>
          <p:nvPr/>
        </p:nvSpPr>
        <p:spPr>
          <a:xfrm>
            <a:off x="2683764" y="4535424"/>
            <a:ext cx="164592" cy="164592"/>
          </a:xfrm>
          <a:prstGeom prst="ellipse">
            <a:avLst/>
          </a:prstGeom>
          <a:solidFill>
            <a:srgbClr val="8E4FB8"/>
          </a:solidFill>
          <a:ln w="12700">
            <a:solidFill>
              <a:srgbClr val="FFFFFF"/>
            </a:solidFill>
            <a:prstDash val="solid"/>
          </a:ln>
        </p:spPr>
      </p:sp>
      <p:sp>
        <p:nvSpPr>
          <p:cNvPr id="47" name="Text 44"/>
          <p:cNvSpPr txBox="1"/>
          <p:nvPr/>
        </p:nvSpPr>
        <p:spPr>
          <a:xfrm>
            <a:off x="1737360" y="1188720"/>
            <a:ext cx="1188720" cy="274320"/>
          </a:xfrm>
          <a:prstGeom prst="rect">
            <a:avLst/>
          </a:prstGeom>
          <a:noFill/>
          <a:ln/>
        </p:spPr>
        <p:txBody>
          <a:bodyPr wrap="square" lIns="0" tIns="0" rIns="0" bIns="0" rtlCol="0" anchor="ctr"/>
          <a:lstStyle/>
          <a:p>
            <a:pPr algn="r" indent="0" marL="0">
              <a:buNone/>
            </a:pPr>
            <a:r>
              <a:rPr lang="en-US" sz="1200" i="1" dirty="0">
                <a:solidFill>
                  <a:srgbClr val="666666"/>
                </a:solidFill>
                <a:latin typeface="Quicksand" pitchFamily="34" charset="0"/>
                <a:ea typeface="Quicksand" pitchFamily="34" charset="-122"/>
                <a:cs typeface="Quicksand" pitchFamily="34" charset="-120"/>
              </a:rPr>
              <a:t>start here</a:t>
            </a:r>
            <a:endParaRPr lang="en-US" sz="1200" dirty="0"/>
          </a:p>
        </p:txBody>
      </p:sp>
      <p:sp>
        <p:nvSpPr>
          <p:cNvPr id="48" name="Shape 45"/>
          <p:cNvSpPr/>
          <p:nvPr/>
        </p:nvSpPr>
        <p:spPr>
          <a:xfrm>
            <a:off x="6629400" y="1234440"/>
            <a:ext cx="4892040" cy="1143000"/>
          </a:xfrm>
          <a:prstGeom prst="rect">
            <a:avLst/>
          </a:prstGeom>
          <a:solidFill>
            <a:srgbClr val="F6F5FC"/>
          </a:solidFill>
          <a:ln w="12700">
            <a:solidFill>
              <a:srgbClr val="F6F5FC"/>
            </a:solidFill>
            <a:prstDash val="solid"/>
          </a:ln>
        </p:spPr>
      </p:sp>
      <p:sp>
        <p:nvSpPr>
          <p:cNvPr id="49" name="Text 46"/>
          <p:cNvSpPr/>
          <p:nvPr/>
        </p:nvSpPr>
        <p:spPr>
          <a:xfrm>
            <a:off x="6766560" y="13716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50" name="Text 47"/>
          <p:cNvSpPr txBox="1"/>
          <p:nvPr/>
        </p:nvSpPr>
        <p:spPr>
          <a:xfrm>
            <a:off x="7287768" y="1344168"/>
            <a:ext cx="41148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Draw one line around the tree</a:t>
            </a:r>
            <a:endParaRPr lang="en-US" sz="1500" dirty="0"/>
          </a:p>
        </p:txBody>
      </p:sp>
      <p:sp>
        <p:nvSpPr>
          <p:cNvPr id="51" name="Text 48"/>
          <p:cNvSpPr txBox="1"/>
          <p:nvPr/>
        </p:nvSpPr>
        <p:spPr>
          <a:xfrm>
            <a:off x="7287768" y="1737360"/>
            <a:ext cx="4114800" cy="576072"/>
          </a:xfrm>
          <a:prstGeom prst="rect">
            <a:avLst/>
          </a:prstGeom>
          <a:noFill/>
          <a:ln/>
        </p:spPr>
        <p:txBody>
          <a:bodyPr wrap="square" lIns="0" tIns="0" rIns="0" bIns="0" rtlCol="0" anchor="t"/>
          <a:lstStyle/>
          <a:p>
            <a:pPr indent="0" marL="0">
              <a:buNone/>
            </a:pPr>
            <a:r>
              <a:rPr lang="en-US" sz="1300" dirty="0">
                <a:solidFill>
                  <a:srgbClr val="202124"/>
                </a:solidFill>
                <a:latin typeface="Quicksand" pitchFamily="34" charset="0"/>
                <a:ea typeface="Quicksand" pitchFamily="34" charset="-122"/>
                <a:cs typeface="Quicksand" pitchFamily="34" charset="-120"/>
              </a:rPr>
              <a:t>Start above the root, go down the left side first, hug every branch, finish back at the top.</a:t>
            </a:r>
            <a:endParaRPr lang="en-US" sz="1300" dirty="0"/>
          </a:p>
        </p:txBody>
      </p:sp>
      <p:sp>
        <p:nvSpPr>
          <p:cNvPr id="52" name="Shape 49"/>
          <p:cNvSpPr/>
          <p:nvPr/>
        </p:nvSpPr>
        <p:spPr>
          <a:xfrm>
            <a:off x="6629400" y="2514600"/>
            <a:ext cx="4892040" cy="841248"/>
          </a:xfrm>
          <a:prstGeom prst="rect">
            <a:avLst/>
          </a:prstGeom>
          <a:solidFill>
            <a:srgbClr val="F6F5FC"/>
          </a:solidFill>
          <a:ln w="12700">
            <a:solidFill>
              <a:srgbClr val="F6F5FC"/>
            </a:solidFill>
            <a:prstDash val="solid"/>
          </a:ln>
        </p:spPr>
      </p:sp>
      <p:sp>
        <p:nvSpPr>
          <p:cNvPr id="53" name="Shape 50"/>
          <p:cNvSpPr/>
          <p:nvPr/>
        </p:nvSpPr>
        <p:spPr>
          <a:xfrm>
            <a:off x="6784848" y="2788920"/>
            <a:ext cx="292608" cy="292608"/>
          </a:xfrm>
          <a:prstGeom prst="ellipse">
            <a:avLst/>
          </a:prstGeom>
          <a:solidFill>
            <a:srgbClr val="1F8A8A"/>
          </a:solidFill>
          <a:ln w="12700">
            <a:solidFill>
              <a:srgbClr val="FFFFFF"/>
            </a:solidFill>
            <a:prstDash val="solid"/>
          </a:ln>
        </p:spPr>
      </p:sp>
      <p:sp>
        <p:nvSpPr>
          <p:cNvPr id="54" name="Text 51"/>
          <p:cNvSpPr txBox="1"/>
          <p:nvPr/>
        </p:nvSpPr>
        <p:spPr>
          <a:xfrm>
            <a:off x="7269480" y="2587752"/>
            <a:ext cx="4114800" cy="329184"/>
          </a:xfrm>
          <a:prstGeom prst="rect">
            <a:avLst/>
          </a:prstGeom>
          <a:noFill/>
          <a:ln/>
        </p:spPr>
        <p:txBody>
          <a:bodyPr wrap="square" lIns="0" tIns="0" rIns="0" bIns="0" rtlCol="0" anchor="ctr"/>
          <a:lstStyle/>
          <a:p>
            <a:pPr indent="0" marL="0">
              <a:buNone/>
            </a:pPr>
            <a:r>
              <a:rPr lang="en-US" sz="1500" b="1" dirty="0">
                <a:solidFill>
                  <a:srgbClr val="1F8A8A"/>
                </a:solidFill>
                <a:latin typeface="Quicksand" pitchFamily="34" charset="0"/>
                <a:ea typeface="Quicksand" pitchFamily="34" charset="-122"/>
                <a:cs typeface="Quicksand" pitchFamily="34" charset="-120"/>
              </a:rPr>
              <a:t>Pre-order</a:t>
            </a:r>
            <a:endParaRPr lang="en-US" sz="1500" dirty="0"/>
          </a:p>
        </p:txBody>
      </p:sp>
      <p:sp>
        <p:nvSpPr>
          <p:cNvPr id="55" name="Text 52"/>
          <p:cNvSpPr txBox="1"/>
          <p:nvPr/>
        </p:nvSpPr>
        <p:spPr>
          <a:xfrm>
            <a:off x="7269480" y="2926080"/>
            <a:ext cx="4160520" cy="365760"/>
          </a:xfrm>
          <a:prstGeom prst="rect">
            <a:avLst/>
          </a:prstGeom>
          <a:noFill/>
          <a:ln/>
        </p:spPr>
        <p:txBody>
          <a:bodyPr wrap="square" lIns="0" tIns="0" rIns="0" bIns="0" rtlCol="0" anchor="ctr"/>
          <a:lstStyle/>
          <a:p>
            <a:pPr indent="0" marL="0">
              <a:buNone/>
            </a:pPr>
            <a:r>
              <a:rPr lang="en-US" sz="1300" dirty="0">
                <a:solidFill>
                  <a:srgbClr val="202124"/>
                </a:solidFill>
                <a:latin typeface="Quicksand" pitchFamily="34" charset="0"/>
                <a:ea typeface="Quicksand" pitchFamily="34" charset="-122"/>
                <a:cs typeface="Quicksand" pitchFamily="34" charset="-120"/>
              </a:rPr>
              <a:t>Write a node when you pass its LEFT side.</a:t>
            </a:r>
            <a:endParaRPr lang="en-US" sz="1300" dirty="0"/>
          </a:p>
        </p:txBody>
      </p:sp>
      <p:sp>
        <p:nvSpPr>
          <p:cNvPr id="56" name="Shape 53"/>
          <p:cNvSpPr/>
          <p:nvPr/>
        </p:nvSpPr>
        <p:spPr>
          <a:xfrm>
            <a:off x="6629400" y="3474720"/>
            <a:ext cx="4892040" cy="841248"/>
          </a:xfrm>
          <a:prstGeom prst="rect">
            <a:avLst/>
          </a:prstGeom>
          <a:solidFill>
            <a:srgbClr val="F6F5FC"/>
          </a:solidFill>
          <a:ln w="12700">
            <a:solidFill>
              <a:srgbClr val="F6F5FC"/>
            </a:solidFill>
            <a:prstDash val="solid"/>
          </a:ln>
        </p:spPr>
      </p:sp>
      <p:sp>
        <p:nvSpPr>
          <p:cNvPr id="57" name="Shape 54"/>
          <p:cNvSpPr/>
          <p:nvPr/>
        </p:nvSpPr>
        <p:spPr>
          <a:xfrm>
            <a:off x="6784848" y="3749040"/>
            <a:ext cx="292608" cy="292608"/>
          </a:xfrm>
          <a:prstGeom prst="ellipse">
            <a:avLst/>
          </a:prstGeom>
          <a:solidFill>
            <a:srgbClr val="D9822B"/>
          </a:solidFill>
          <a:ln w="12700">
            <a:solidFill>
              <a:srgbClr val="FFFFFF"/>
            </a:solidFill>
            <a:prstDash val="solid"/>
          </a:ln>
        </p:spPr>
      </p:sp>
      <p:sp>
        <p:nvSpPr>
          <p:cNvPr id="58" name="Text 55"/>
          <p:cNvSpPr txBox="1"/>
          <p:nvPr/>
        </p:nvSpPr>
        <p:spPr>
          <a:xfrm>
            <a:off x="7269480" y="3547872"/>
            <a:ext cx="4114800" cy="329184"/>
          </a:xfrm>
          <a:prstGeom prst="rect">
            <a:avLst/>
          </a:prstGeom>
          <a:noFill/>
          <a:ln/>
        </p:spPr>
        <p:txBody>
          <a:bodyPr wrap="square" lIns="0" tIns="0" rIns="0" bIns="0" rtlCol="0" anchor="ctr"/>
          <a:lstStyle/>
          <a:p>
            <a:pPr indent="0" marL="0">
              <a:buNone/>
            </a:pPr>
            <a:r>
              <a:rPr lang="en-US" sz="1500" b="1" dirty="0">
                <a:solidFill>
                  <a:srgbClr val="D9822B"/>
                </a:solidFill>
                <a:latin typeface="Quicksand" pitchFamily="34" charset="0"/>
                <a:ea typeface="Quicksand" pitchFamily="34" charset="-122"/>
                <a:cs typeface="Quicksand" pitchFamily="34" charset="-120"/>
              </a:rPr>
              <a:t>In-order</a:t>
            </a:r>
            <a:endParaRPr lang="en-US" sz="1500" dirty="0"/>
          </a:p>
        </p:txBody>
      </p:sp>
      <p:sp>
        <p:nvSpPr>
          <p:cNvPr id="59" name="Text 56"/>
          <p:cNvSpPr txBox="1"/>
          <p:nvPr/>
        </p:nvSpPr>
        <p:spPr>
          <a:xfrm>
            <a:off x="7269480" y="3886200"/>
            <a:ext cx="4160520" cy="365760"/>
          </a:xfrm>
          <a:prstGeom prst="rect">
            <a:avLst/>
          </a:prstGeom>
          <a:noFill/>
          <a:ln/>
        </p:spPr>
        <p:txBody>
          <a:bodyPr wrap="square" lIns="0" tIns="0" rIns="0" bIns="0" rtlCol="0" anchor="ctr"/>
          <a:lstStyle/>
          <a:p>
            <a:pPr indent="0" marL="0">
              <a:buNone/>
            </a:pPr>
            <a:r>
              <a:rPr lang="en-US" sz="1300" dirty="0">
                <a:solidFill>
                  <a:srgbClr val="202124"/>
                </a:solidFill>
                <a:latin typeface="Quicksand" pitchFamily="34" charset="0"/>
                <a:ea typeface="Quicksand" pitchFamily="34" charset="-122"/>
                <a:cs typeface="Quicksand" pitchFamily="34" charset="-120"/>
              </a:rPr>
              <a:t>Write a node when you pass UNDERNEATH it.</a:t>
            </a:r>
            <a:endParaRPr lang="en-US" sz="1300" dirty="0"/>
          </a:p>
        </p:txBody>
      </p:sp>
      <p:sp>
        <p:nvSpPr>
          <p:cNvPr id="60" name="Shape 57"/>
          <p:cNvSpPr/>
          <p:nvPr/>
        </p:nvSpPr>
        <p:spPr>
          <a:xfrm>
            <a:off x="6629400" y="4434840"/>
            <a:ext cx="4892040" cy="841248"/>
          </a:xfrm>
          <a:prstGeom prst="rect">
            <a:avLst/>
          </a:prstGeom>
          <a:solidFill>
            <a:srgbClr val="F6F5FC"/>
          </a:solidFill>
          <a:ln w="12700">
            <a:solidFill>
              <a:srgbClr val="F6F5FC"/>
            </a:solidFill>
            <a:prstDash val="solid"/>
          </a:ln>
        </p:spPr>
      </p:sp>
      <p:sp>
        <p:nvSpPr>
          <p:cNvPr id="61" name="Shape 58"/>
          <p:cNvSpPr/>
          <p:nvPr/>
        </p:nvSpPr>
        <p:spPr>
          <a:xfrm>
            <a:off x="6784848" y="4709160"/>
            <a:ext cx="292608" cy="292608"/>
          </a:xfrm>
          <a:prstGeom prst="ellipse">
            <a:avLst/>
          </a:prstGeom>
          <a:solidFill>
            <a:srgbClr val="8E4FB8"/>
          </a:solidFill>
          <a:ln w="12700">
            <a:solidFill>
              <a:srgbClr val="FFFFFF"/>
            </a:solidFill>
            <a:prstDash val="solid"/>
          </a:ln>
        </p:spPr>
      </p:sp>
      <p:sp>
        <p:nvSpPr>
          <p:cNvPr id="62" name="Text 59"/>
          <p:cNvSpPr txBox="1"/>
          <p:nvPr/>
        </p:nvSpPr>
        <p:spPr>
          <a:xfrm>
            <a:off x="7269480" y="4507992"/>
            <a:ext cx="4114800" cy="329184"/>
          </a:xfrm>
          <a:prstGeom prst="rect">
            <a:avLst/>
          </a:prstGeom>
          <a:noFill/>
          <a:ln/>
        </p:spPr>
        <p:txBody>
          <a:bodyPr wrap="square" lIns="0" tIns="0" rIns="0" bIns="0" rtlCol="0" anchor="ctr"/>
          <a:lstStyle/>
          <a:p>
            <a:pPr indent="0" marL="0">
              <a:buNone/>
            </a:pPr>
            <a:r>
              <a:rPr lang="en-US" sz="1500" b="1" dirty="0">
                <a:solidFill>
                  <a:srgbClr val="8E4FB8"/>
                </a:solidFill>
                <a:latin typeface="Quicksand" pitchFamily="34" charset="0"/>
                <a:ea typeface="Quicksand" pitchFamily="34" charset="-122"/>
                <a:cs typeface="Quicksand" pitchFamily="34" charset="-120"/>
              </a:rPr>
              <a:t>Post-order</a:t>
            </a:r>
            <a:endParaRPr lang="en-US" sz="1500" dirty="0"/>
          </a:p>
        </p:txBody>
      </p:sp>
      <p:sp>
        <p:nvSpPr>
          <p:cNvPr id="63" name="Text 60"/>
          <p:cNvSpPr txBox="1"/>
          <p:nvPr/>
        </p:nvSpPr>
        <p:spPr>
          <a:xfrm>
            <a:off x="7269480" y="4846320"/>
            <a:ext cx="4160520" cy="365760"/>
          </a:xfrm>
          <a:prstGeom prst="rect">
            <a:avLst/>
          </a:prstGeom>
          <a:noFill/>
          <a:ln/>
        </p:spPr>
        <p:txBody>
          <a:bodyPr wrap="square" lIns="0" tIns="0" rIns="0" bIns="0" rtlCol="0" anchor="ctr"/>
          <a:lstStyle/>
          <a:p>
            <a:pPr indent="0" marL="0">
              <a:buNone/>
            </a:pPr>
            <a:r>
              <a:rPr lang="en-US" sz="1300" dirty="0">
                <a:solidFill>
                  <a:srgbClr val="202124"/>
                </a:solidFill>
                <a:latin typeface="Quicksand" pitchFamily="34" charset="0"/>
                <a:ea typeface="Quicksand" pitchFamily="34" charset="-122"/>
                <a:cs typeface="Quicksand" pitchFamily="34" charset="-120"/>
              </a:rPr>
              <a:t>Write a node when you pass its RIGHT side.</a:t>
            </a:r>
            <a:endParaRPr lang="en-US" sz="1300" dirty="0"/>
          </a:p>
        </p:txBody>
      </p:sp>
      <p:sp>
        <p:nvSpPr>
          <p:cNvPr id="64" name="Text 61"/>
          <p:cNvSpPr txBox="1"/>
          <p:nvPr/>
        </p:nvSpPr>
        <p:spPr>
          <a:xfrm>
            <a:off x="6629400" y="5440680"/>
            <a:ext cx="4892040" cy="640080"/>
          </a:xfrm>
          <a:prstGeom prst="rect">
            <a:avLst/>
          </a:prstGeom>
          <a:noFill/>
          <a:ln/>
        </p:spPr>
        <p:txBody>
          <a:bodyPr wrap="square" lIns="0" tIns="0" rIns="0" bIns="0" rtlCol="0" anchor="t"/>
          <a:lstStyle/>
          <a:p>
            <a:pPr indent="0" marL="0">
              <a:buNone/>
            </a:pPr>
            <a:r>
              <a:rPr lang="en-US" sz="1400" b="1" dirty="0">
                <a:solidFill>
                  <a:srgbClr val="494985"/>
                </a:solidFill>
                <a:latin typeface="Quicksand" pitchFamily="34" charset="0"/>
                <a:ea typeface="Quicksand" pitchFamily="34" charset="-122"/>
                <a:cs typeface="Quicksand" pitchFamily="34" charset="-120"/>
              </a:rPr>
              <a:t>Every node is passed three times. The traversal decides which time you write it down.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Three walks, three outputs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8</a:t>
            </a:r>
            <a:endParaRPr lang="en-US" sz="1350" dirty="0"/>
          </a:p>
        </p:txBody>
      </p:sp>
      <p:sp>
        <p:nvSpPr>
          <p:cNvPr id="7" name="Text 4"/>
          <p:cNvSpPr txBox="1"/>
          <p:nvPr/>
        </p:nvSpPr>
        <p:spPr>
          <a:xfrm>
            <a:off x="411480" y="1234440"/>
            <a:ext cx="3566160" cy="365760"/>
          </a:xfrm>
          <a:prstGeom prst="rect">
            <a:avLst/>
          </a:prstGeom>
          <a:noFill/>
          <a:ln/>
        </p:spPr>
        <p:txBody>
          <a:bodyPr wrap="square" lIns="0" tIns="0" rIns="0" bIns="0" rtlCol="0" anchor="ctr"/>
          <a:lstStyle/>
          <a:p>
            <a:pPr indent="0" marL="0">
              <a:buNone/>
            </a:pPr>
            <a:r>
              <a:rPr lang="en-US" sz="1800" b="1" dirty="0">
                <a:solidFill>
                  <a:srgbClr val="1F8A8A"/>
                </a:solidFill>
                <a:latin typeface="Quicksand" pitchFamily="34" charset="0"/>
                <a:ea typeface="Quicksand" pitchFamily="34" charset="-122"/>
                <a:cs typeface="Quicksand" pitchFamily="34" charset="-120"/>
              </a:rPr>
              <a:t>Pre-order</a:t>
            </a:r>
            <a:endParaRPr lang="en-US" sz="1800" dirty="0"/>
          </a:p>
        </p:txBody>
      </p:sp>
      <p:sp>
        <p:nvSpPr>
          <p:cNvPr id="8" name="Shape 5"/>
          <p:cNvSpPr/>
          <p:nvPr/>
        </p:nvSpPr>
        <p:spPr>
          <a:xfrm>
            <a:off x="722376" y="1563624"/>
            <a:ext cx="3218688" cy="2871216"/>
          </a:xfrm>
          <a:custGeom>
            <a:avLst/>
            <a:gdLst/>
            <a:ahLst/>
            <a:cxnLst/>
            <a:rect l="l" t="t" r="r" b="b"/>
            <a:pathLst>
              <a:path w="3218688" h="2871216">
                <a:moveTo>
                  <a:pt x="1828800" y="0"/>
                </a:moveTo>
                <a:lnTo>
                  <a:pt x="1389888" y="0"/>
                </a:lnTo>
                <a:lnTo>
                  <a:pt x="1369588" y="1372"/>
                </a:lnTo>
                <a:lnTo>
                  <a:pt x="1349654" y="5304"/>
                </a:lnTo>
                <a:lnTo>
                  <a:pt x="1330361" y="11796"/>
                </a:lnTo>
                <a:lnTo>
                  <a:pt x="1312164" y="20848"/>
                </a:lnTo>
                <a:lnTo>
                  <a:pt x="1295248" y="32095"/>
                </a:lnTo>
                <a:lnTo>
                  <a:pt x="1279977" y="45537"/>
                </a:lnTo>
                <a:lnTo>
                  <a:pt x="1266535" y="60808"/>
                </a:lnTo>
                <a:lnTo>
                  <a:pt x="1255288" y="77724"/>
                </a:lnTo>
                <a:lnTo>
                  <a:pt x="1246236" y="95921"/>
                </a:lnTo>
                <a:lnTo>
                  <a:pt x="1239744" y="115214"/>
                </a:lnTo>
                <a:lnTo>
                  <a:pt x="1235812" y="135148"/>
                </a:lnTo>
                <a:lnTo>
                  <a:pt x="1234440" y="155448"/>
                </a:lnTo>
                <a:lnTo>
                  <a:pt x="1234440" y="442204"/>
                </a:lnTo>
                <a:lnTo>
                  <a:pt x="896844" y="749808"/>
                </a:lnTo>
                <a:lnTo>
                  <a:pt x="566928" y="749808"/>
                </a:lnTo>
                <a:lnTo>
                  <a:pt x="546628" y="751180"/>
                </a:lnTo>
                <a:lnTo>
                  <a:pt x="526694" y="755112"/>
                </a:lnTo>
                <a:lnTo>
                  <a:pt x="507401" y="761604"/>
                </a:lnTo>
                <a:lnTo>
                  <a:pt x="489204" y="770656"/>
                </a:lnTo>
                <a:lnTo>
                  <a:pt x="472288" y="781903"/>
                </a:lnTo>
                <a:lnTo>
                  <a:pt x="457017" y="795345"/>
                </a:lnTo>
                <a:lnTo>
                  <a:pt x="443575" y="810616"/>
                </a:lnTo>
                <a:lnTo>
                  <a:pt x="432328" y="827532"/>
                </a:lnTo>
                <a:lnTo>
                  <a:pt x="423276" y="845729"/>
                </a:lnTo>
                <a:lnTo>
                  <a:pt x="416784" y="865022"/>
                </a:lnTo>
                <a:lnTo>
                  <a:pt x="412852" y="884956"/>
                </a:lnTo>
                <a:lnTo>
                  <a:pt x="411480" y="905256"/>
                </a:lnTo>
                <a:lnTo>
                  <a:pt x="411480" y="1216152"/>
                </a:lnTo>
                <a:lnTo>
                  <a:pt x="412852" y="1236452"/>
                </a:lnTo>
                <a:lnTo>
                  <a:pt x="416784" y="1256386"/>
                </a:lnTo>
                <a:lnTo>
                  <a:pt x="423276" y="1275679"/>
                </a:lnTo>
                <a:lnTo>
                  <a:pt x="432328" y="1293876"/>
                </a:lnTo>
                <a:lnTo>
                  <a:pt x="443575" y="1310792"/>
                </a:lnTo>
                <a:lnTo>
                  <a:pt x="457017" y="1326063"/>
                </a:lnTo>
                <a:lnTo>
                  <a:pt x="461315" y="1329903"/>
                </a:lnTo>
                <a:lnTo>
                  <a:pt x="368229" y="1499616"/>
                </a:lnTo>
                <a:lnTo>
                  <a:pt x="155448" y="1499616"/>
                </a:lnTo>
                <a:lnTo>
                  <a:pt x="135148" y="1500988"/>
                </a:lnTo>
                <a:lnTo>
                  <a:pt x="115214" y="1504920"/>
                </a:lnTo>
                <a:lnTo>
                  <a:pt x="95921" y="1511412"/>
                </a:lnTo>
                <a:lnTo>
                  <a:pt x="77724" y="1520464"/>
                </a:lnTo>
                <a:lnTo>
                  <a:pt x="60808" y="1531711"/>
                </a:lnTo>
                <a:lnTo>
                  <a:pt x="45537" y="1545153"/>
                </a:lnTo>
                <a:lnTo>
                  <a:pt x="32095" y="1560424"/>
                </a:lnTo>
                <a:lnTo>
                  <a:pt x="20848" y="1577340"/>
                </a:lnTo>
                <a:lnTo>
                  <a:pt x="11796" y="1595537"/>
                </a:lnTo>
                <a:lnTo>
                  <a:pt x="5304" y="1614830"/>
                </a:lnTo>
                <a:lnTo>
                  <a:pt x="1372" y="1634764"/>
                </a:lnTo>
                <a:lnTo>
                  <a:pt x="0" y="1655064"/>
                </a:lnTo>
                <a:lnTo>
                  <a:pt x="0" y="1965960"/>
                </a:lnTo>
                <a:lnTo>
                  <a:pt x="1372" y="1986260"/>
                </a:lnTo>
                <a:lnTo>
                  <a:pt x="5304" y="2006194"/>
                </a:lnTo>
                <a:lnTo>
                  <a:pt x="11796" y="2025487"/>
                </a:lnTo>
                <a:lnTo>
                  <a:pt x="20848" y="2043684"/>
                </a:lnTo>
                <a:lnTo>
                  <a:pt x="32095" y="2060600"/>
                </a:lnTo>
                <a:lnTo>
                  <a:pt x="45537" y="2075871"/>
                </a:lnTo>
                <a:lnTo>
                  <a:pt x="60808" y="2089313"/>
                </a:lnTo>
                <a:lnTo>
                  <a:pt x="77724" y="2100560"/>
                </a:lnTo>
                <a:lnTo>
                  <a:pt x="95921" y="2109612"/>
                </a:lnTo>
                <a:lnTo>
                  <a:pt x="115214" y="2116104"/>
                </a:lnTo>
                <a:lnTo>
                  <a:pt x="135148" y="2120036"/>
                </a:lnTo>
                <a:lnTo>
                  <a:pt x="155448" y="2121408"/>
                </a:lnTo>
                <a:lnTo>
                  <a:pt x="594360" y="2121408"/>
                </a:lnTo>
                <a:lnTo>
                  <a:pt x="614660" y="2120036"/>
                </a:lnTo>
                <a:lnTo>
                  <a:pt x="634594" y="2116104"/>
                </a:lnTo>
                <a:lnTo>
                  <a:pt x="653887" y="2109612"/>
                </a:lnTo>
                <a:lnTo>
                  <a:pt x="672084" y="2100560"/>
                </a:lnTo>
                <a:lnTo>
                  <a:pt x="689000" y="2089313"/>
                </a:lnTo>
                <a:lnTo>
                  <a:pt x="704271" y="2075871"/>
                </a:lnTo>
                <a:lnTo>
                  <a:pt x="717713" y="2060600"/>
                </a:lnTo>
                <a:lnTo>
                  <a:pt x="728960" y="2043684"/>
                </a:lnTo>
                <a:lnTo>
                  <a:pt x="738012" y="2025487"/>
                </a:lnTo>
                <a:lnTo>
                  <a:pt x="744504" y="2006194"/>
                </a:lnTo>
                <a:lnTo>
                  <a:pt x="748436" y="1986260"/>
                </a:lnTo>
                <a:lnTo>
                  <a:pt x="749808" y="1965960"/>
                </a:lnTo>
                <a:lnTo>
                  <a:pt x="749808" y="1655064"/>
                </a:lnTo>
                <a:lnTo>
                  <a:pt x="748436" y="1634764"/>
                </a:lnTo>
                <a:lnTo>
                  <a:pt x="744504" y="1614830"/>
                </a:lnTo>
                <a:lnTo>
                  <a:pt x="738012" y="1595537"/>
                </a:lnTo>
                <a:lnTo>
                  <a:pt x="728960" y="1577340"/>
                </a:lnTo>
                <a:lnTo>
                  <a:pt x="717713" y="1560424"/>
                </a:lnTo>
                <a:lnTo>
                  <a:pt x="704271" y="1545153"/>
                </a:lnTo>
                <a:lnTo>
                  <a:pt x="699973" y="1541313"/>
                </a:lnTo>
                <a:lnTo>
                  <a:pt x="786384" y="1383853"/>
                </a:lnTo>
                <a:lnTo>
                  <a:pt x="872795" y="1541313"/>
                </a:lnTo>
                <a:lnTo>
                  <a:pt x="868497" y="1545153"/>
                </a:lnTo>
                <a:lnTo>
                  <a:pt x="855055" y="1560424"/>
                </a:lnTo>
                <a:lnTo>
                  <a:pt x="843808" y="1577340"/>
                </a:lnTo>
                <a:lnTo>
                  <a:pt x="834756" y="1595537"/>
                </a:lnTo>
                <a:lnTo>
                  <a:pt x="828264" y="1614830"/>
                </a:lnTo>
                <a:lnTo>
                  <a:pt x="824332" y="1634764"/>
                </a:lnTo>
                <a:lnTo>
                  <a:pt x="822960" y="1655064"/>
                </a:lnTo>
                <a:lnTo>
                  <a:pt x="822960" y="1965960"/>
                </a:lnTo>
                <a:lnTo>
                  <a:pt x="824332" y="1986260"/>
                </a:lnTo>
                <a:lnTo>
                  <a:pt x="828264" y="2006194"/>
                </a:lnTo>
                <a:lnTo>
                  <a:pt x="834756" y="2025487"/>
                </a:lnTo>
                <a:lnTo>
                  <a:pt x="843808" y="2043684"/>
                </a:lnTo>
                <a:lnTo>
                  <a:pt x="855055" y="2060600"/>
                </a:lnTo>
                <a:lnTo>
                  <a:pt x="868497" y="2075871"/>
                </a:lnTo>
                <a:lnTo>
                  <a:pt x="883768" y="2089313"/>
                </a:lnTo>
                <a:lnTo>
                  <a:pt x="900684" y="2100560"/>
                </a:lnTo>
                <a:lnTo>
                  <a:pt x="918881" y="2109612"/>
                </a:lnTo>
                <a:lnTo>
                  <a:pt x="922447" y="2110801"/>
                </a:lnTo>
                <a:lnTo>
                  <a:pt x="871789" y="2249424"/>
                </a:lnTo>
                <a:lnTo>
                  <a:pt x="704088" y="2249424"/>
                </a:lnTo>
                <a:lnTo>
                  <a:pt x="683788" y="2250796"/>
                </a:lnTo>
                <a:lnTo>
                  <a:pt x="663854" y="2254728"/>
                </a:lnTo>
                <a:lnTo>
                  <a:pt x="644561" y="2261220"/>
                </a:lnTo>
                <a:lnTo>
                  <a:pt x="626364" y="2270272"/>
                </a:lnTo>
                <a:lnTo>
                  <a:pt x="609448" y="2281519"/>
                </a:lnTo>
                <a:lnTo>
                  <a:pt x="594177" y="2294961"/>
                </a:lnTo>
                <a:lnTo>
                  <a:pt x="580735" y="2310232"/>
                </a:lnTo>
                <a:lnTo>
                  <a:pt x="569488" y="2327148"/>
                </a:lnTo>
                <a:lnTo>
                  <a:pt x="560436" y="2345345"/>
                </a:lnTo>
                <a:lnTo>
                  <a:pt x="553944" y="2364638"/>
                </a:lnTo>
                <a:lnTo>
                  <a:pt x="550012" y="2384572"/>
                </a:lnTo>
                <a:lnTo>
                  <a:pt x="548640" y="2404872"/>
                </a:lnTo>
                <a:lnTo>
                  <a:pt x="548640" y="2715768"/>
                </a:lnTo>
                <a:lnTo>
                  <a:pt x="550012" y="2736068"/>
                </a:lnTo>
                <a:lnTo>
                  <a:pt x="553944" y="2756002"/>
                </a:lnTo>
                <a:lnTo>
                  <a:pt x="560436" y="2775295"/>
                </a:lnTo>
                <a:lnTo>
                  <a:pt x="569488" y="2793492"/>
                </a:lnTo>
                <a:lnTo>
                  <a:pt x="580735" y="2810408"/>
                </a:lnTo>
                <a:lnTo>
                  <a:pt x="594177" y="2825679"/>
                </a:lnTo>
                <a:lnTo>
                  <a:pt x="609448" y="2839121"/>
                </a:lnTo>
                <a:lnTo>
                  <a:pt x="626364" y="2850368"/>
                </a:lnTo>
                <a:lnTo>
                  <a:pt x="644561" y="2859420"/>
                </a:lnTo>
                <a:lnTo>
                  <a:pt x="663854" y="2865912"/>
                </a:lnTo>
                <a:lnTo>
                  <a:pt x="683788" y="2869844"/>
                </a:lnTo>
                <a:lnTo>
                  <a:pt x="704088" y="2871216"/>
                </a:lnTo>
                <a:lnTo>
                  <a:pt x="1143000" y="2871216"/>
                </a:lnTo>
                <a:lnTo>
                  <a:pt x="1163300" y="2869844"/>
                </a:lnTo>
                <a:lnTo>
                  <a:pt x="1183234" y="2865912"/>
                </a:lnTo>
                <a:lnTo>
                  <a:pt x="1202527" y="2859420"/>
                </a:lnTo>
                <a:lnTo>
                  <a:pt x="1220724" y="2850368"/>
                </a:lnTo>
                <a:lnTo>
                  <a:pt x="1237640" y="2839121"/>
                </a:lnTo>
                <a:lnTo>
                  <a:pt x="1252911" y="2825679"/>
                </a:lnTo>
                <a:lnTo>
                  <a:pt x="1266353" y="2810408"/>
                </a:lnTo>
                <a:lnTo>
                  <a:pt x="1277600" y="2793492"/>
                </a:lnTo>
                <a:lnTo>
                  <a:pt x="1286652" y="2775295"/>
                </a:lnTo>
                <a:lnTo>
                  <a:pt x="1293144" y="2756002"/>
                </a:lnTo>
                <a:lnTo>
                  <a:pt x="1297076" y="2736068"/>
                </a:lnTo>
                <a:lnTo>
                  <a:pt x="1298448" y="2715768"/>
                </a:lnTo>
                <a:lnTo>
                  <a:pt x="1298448" y="2404872"/>
                </a:lnTo>
                <a:lnTo>
                  <a:pt x="1297076" y="2384572"/>
                </a:lnTo>
                <a:lnTo>
                  <a:pt x="1293144" y="2364638"/>
                </a:lnTo>
                <a:lnTo>
                  <a:pt x="1286652" y="2345345"/>
                </a:lnTo>
                <a:lnTo>
                  <a:pt x="1277600" y="2327148"/>
                </a:lnTo>
                <a:lnTo>
                  <a:pt x="1266353" y="2310232"/>
                </a:lnTo>
                <a:lnTo>
                  <a:pt x="1252911" y="2294961"/>
                </a:lnTo>
                <a:lnTo>
                  <a:pt x="1237640" y="2281519"/>
                </a:lnTo>
                <a:lnTo>
                  <a:pt x="1220724" y="2270272"/>
                </a:lnTo>
                <a:lnTo>
                  <a:pt x="1202527" y="2261220"/>
                </a:lnTo>
                <a:lnTo>
                  <a:pt x="1198961" y="2260031"/>
                </a:lnTo>
                <a:lnTo>
                  <a:pt x="1249619" y="2121408"/>
                </a:lnTo>
                <a:lnTo>
                  <a:pt x="1417320" y="2121408"/>
                </a:lnTo>
                <a:lnTo>
                  <a:pt x="1437620" y="2120036"/>
                </a:lnTo>
                <a:lnTo>
                  <a:pt x="1457554" y="2116104"/>
                </a:lnTo>
                <a:lnTo>
                  <a:pt x="1476847" y="2109612"/>
                </a:lnTo>
                <a:lnTo>
                  <a:pt x="1495044" y="2100560"/>
                </a:lnTo>
                <a:lnTo>
                  <a:pt x="1511960" y="2089313"/>
                </a:lnTo>
                <a:lnTo>
                  <a:pt x="1527231" y="2075871"/>
                </a:lnTo>
                <a:lnTo>
                  <a:pt x="1540673" y="2060600"/>
                </a:lnTo>
                <a:lnTo>
                  <a:pt x="1551920" y="2043684"/>
                </a:lnTo>
                <a:lnTo>
                  <a:pt x="1560972" y="2025487"/>
                </a:lnTo>
                <a:lnTo>
                  <a:pt x="1567464" y="2006194"/>
                </a:lnTo>
                <a:lnTo>
                  <a:pt x="1571396" y="1986260"/>
                </a:lnTo>
                <a:lnTo>
                  <a:pt x="1572768" y="1965960"/>
                </a:lnTo>
                <a:lnTo>
                  <a:pt x="1572768" y="1655064"/>
                </a:lnTo>
                <a:lnTo>
                  <a:pt x="1571396" y="1634764"/>
                </a:lnTo>
                <a:lnTo>
                  <a:pt x="1567464" y="1614830"/>
                </a:lnTo>
                <a:lnTo>
                  <a:pt x="1560972" y="1595537"/>
                </a:lnTo>
                <a:lnTo>
                  <a:pt x="1551920" y="1577340"/>
                </a:lnTo>
                <a:lnTo>
                  <a:pt x="1540673" y="1560424"/>
                </a:lnTo>
                <a:lnTo>
                  <a:pt x="1527231" y="1545153"/>
                </a:lnTo>
                <a:lnTo>
                  <a:pt x="1511960" y="1531711"/>
                </a:lnTo>
                <a:lnTo>
                  <a:pt x="1495044" y="1520464"/>
                </a:lnTo>
                <a:lnTo>
                  <a:pt x="1476847" y="1511412"/>
                </a:lnTo>
                <a:lnTo>
                  <a:pt x="1457554" y="1504920"/>
                </a:lnTo>
                <a:lnTo>
                  <a:pt x="1437620" y="1500988"/>
                </a:lnTo>
                <a:lnTo>
                  <a:pt x="1417320" y="1499616"/>
                </a:lnTo>
                <a:lnTo>
                  <a:pt x="1204539" y="1499616"/>
                </a:lnTo>
                <a:lnTo>
                  <a:pt x="1111453" y="1329903"/>
                </a:lnTo>
                <a:lnTo>
                  <a:pt x="1115751" y="1326063"/>
                </a:lnTo>
                <a:lnTo>
                  <a:pt x="1129193" y="1310792"/>
                </a:lnTo>
                <a:lnTo>
                  <a:pt x="1140440" y="1293876"/>
                </a:lnTo>
                <a:lnTo>
                  <a:pt x="1149492" y="1275679"/>
                </a:lnTo>
                <a:lnTo>
                  <a:pt x="1155984" y="1256386"/>
                </a:lnTo>
                <a:lnTo>
                  <a:pt x="1159916" y="1236452"/>
                </a:lnTo>
                <a:lnTo>
                  <a:pt x="1161288" y="1216152"/>
                </a:lnTo>
                <a:lnTo>
                  <a:pt x="1161288" y="929396"/>
                </a:lnTo>
                <a:lnTo>
                  <a:pt x="1498884" y="621792"/>
                </a:lnTo>
                <a:lnTo>
                  <a:pt x="1719804" y="621792"/>
                </a:lnTo>
                <a:lnTo>
                  <a:pt x="2057400" y="929396"/>
                </a:lnTo>
                <a:lnTo>
                  <a:pt x="2057400" y="1216152"/>
                </a:lnTo>
                <a:lnTo>
                  <a:pt x="2058772" y="1236452"/>
                </a:lnTo>
                <a:lnTo>
                  <a:pt x="2062704" y="1256386"/>
                </a:lnTo>
                <a:lnTo>
                  <a:pt x="2069196" y="1275679"/>
                </a:lnTo>
                <a:lnTo>
                  <a:pt x="2078248" y="1293876"/>
                </a:lnTo>
                <a:lnTo>
                  <a:pt x="2089495" y="1310792"/>
                </a:lnTo>
                <a:lnTo>
                  <a:pt x="2102937" y="1326063"/>
                </a:lnTo>
                <a:lnTo>
                  <a:pt x="2107235" y="1329903"/>
                </a:lnTo>
                <a:lnTo>
                  <a:pt x="2014149" y="1499616"/>
                </a:lnTo>
                <a:lnTo>
                  <a:pt x="1801368" y="1499616"/>
                </a:lnTo>
                <a:lnTo>
                  <a:pt x="1781068" y="1500988"/>
                </a:lnTo>
                <a:lnTo>
                  <a:pt x="1761134" y="1504920"/>
                </a:lnTo>
                <a:lnTo>
                  <a:pt x="1741841" y="1511412"/>
                </a:lnTo>
                <a:lnTo>
                  <a:pt x="1723644" y="1520464"/>
                </a:lnTo>
                <a:lnTo>
                  <a:pt x="1706728" y="1531711"/>
                </a:lnTo>
                <a:lnTo>
                  <a:pt x="1691457" y="1545153"/>
                </a:lnTo>
                <a:lnTo>
                  <a:pt x="1678015" y="1560424"/>
                </a:lnTo>
                <a:lnTo>
                  <a:pt x="1666768" y="1577340"/>
                </a:lnTo>
                <a:lnTo>
                  <a:pt x="1657716" y="1595537"/>
                </a:lnTo>
                <a:lnTo>
                  <a:pt x="1651224" y="1614830"/>
                </a:lnTo>
                <a:lnTo>
                  <a:pt x="1647292" y="1634764"/>
                </a:lnTo>
                <a:lnTo>
                  <a:pt x="1645920" y="1655064"/>
                </a:lnTo>
                <a:lnTo>
                  <a:pt x="1645920" y="1965960"/>
                </a:lnTo>
                <a:lnTo>
                  <a:pt x="1647292" y="1986260"/>
                </a:lnTo>
                <a:lnTo>
                  <a:pt x="1651224" y="2006194"/>
                </a:lnTo>
                <a:lnTo>
                  <a:pt x="1657716" y="2025487"/>
                </a:lnTo>
                <a:lnTo>
                  <a:pt x="1666768" y="2043684"/>
                </a:lnTo>
                <a:lnTo>
                  <a:pt x="1678015" y="2060600"/>
                </a:lnTo>
                <a:lnTo>
                  <a:pt x="1691457" y="2075871"/>
                </a:lnTo>
                <a:lnTo>
                  <a:pt x="1706728" y="2089313"/>
                </a:lnTo>
                <a:lnTo>
                  <a:pt x="1723644" y="2100560"/>
                </a:lnTo>
                <a:lnTo>
                  <a:pt x="1741841" y="2109612"/>
                </a:lnTo>
                <a:lnTo>
                  <a:pt x="1761134" y="2116104"/>
                </a:lnTo>
                <a:lnTo>
                  <a:pt x="1781068" y="2120036"/>
                </a:lnTo>
                <a:lnTo>
                  <a:pt x="1801368" y="2121408"/>
                </a:lnTo>
                <a:lnTo>
                  <a:pt x="2240280" y="2121408"/>
                </a:lnTo>
                <a:lnTo>
                  <a:pt x="2260580" y="2120036"/>
                </a:lnTo>
                <a:lnTo>
                  <a:pt x="2280514" y="2116104"/>
                </a:lnTo>
                <a:lnTo>
                  <a:pt x="2299807" y="2109612"/>
                </a:lnTo>
                <a:lnTo>
                  <a:pt x="2318004" y="2100560"/>
                </a:lnTo>
                <a:lnTo>
                  <a:pt x="2334920" y="2089313"/>
                </a:lnTo>
                <a:lnTo>
                  <a:pt x="2350191" y="2075871"/>
                </a:lnTo>
                <a:lnTo>
                  <a:pt x="2363633" y="2060600"/>
                </a:lnTo>
                <a:lnTo>
                  <a:pt x="2374880" y="2043684"/>
                </a:lnTo>
                <a:lnTo>
                  <a:pt x="2383932" y="2025487"/>
                </a:lnTo>
                <a:lnTo>
                  <a:pt x="2390424" y="2006194"/>
                </a:lnTo>
                <a:lnTo>
                  <a:pt x="2394356" y="1986260"/>
                </a:lnTo>
                <a:lnTo>
                  <a:pt x="2395728" y="1965960"/>
                </a:lnTo>
                <a:lnTo>
                  <a:pt x="2395728" y="1655064"/>
                </a:lnTo>
                <a:lnTo>
                  <a:pt x="2394356" y="1634764"/>
                </a:lnTo>
                <a:lnTo>
                  <a:pt x="2390424" y="1614830"/>
                </a:lnTo>
                <a:lnTo>
                  <a:pt x="2383932" y="1595537"/>
                </a:lnTo>
                <a:lnTo>
                  <a:pt x="2374880" y="1577340"/>
                </a:lnTo>
                <a:lnTo>
                  <a:pt x="2363633" y="1560424"/>
                </a:lnTo>
                <a:lnTo>
                  <a:pt x="2350191" y="1545153"/>
                </a:lnTo>
                <a:lnTo>
                  <a:pt x="2345893" y="1541313"/>
                </a:lnTo>
                <a:lnTo>
                  <a:pt x="2432304" y="1383853"/>
                </a:lnTo>
                <a:lnTo>
                  <a:pt x="2518715" y="1541313"/>
                </a:lnTo>
                <a:lnTo>
                  <a:pt x="2514417" y="1545153"/>
                </a:lnTo>
                <a:lnTo>
                  <a:pt x="2500975" y="1560424"/>
                </a:lnTo>
                <a:lnTo>
                  <a:pt x="2489728" y="1577340"/>
                </a:lnTo>
                <a:lnTo>
                  <a:pt x="2480676" y="1595537"/>
                </a:lnTo>
                <a:lnTo>
                  <a:pt x="2474184" y="1614830"/>
                </a:lnTo>
                <a:lnTo>
                  <a:pt x="2470252" y="1634764"/>
                </a:lnTo>
                <a:lnTo>
                  <a:pt x="2468880" y="1655064"/>
                </a:lnTo>
                <a:lnTo>
                  <a:pt x="2468880" y="1965960"/>
                </a:lnTo>
                <a:lnTo>
                  <a:pt x="2470252" y="1986260"/>
                </a:lnTo>
                <a:lnTo>
                  <a:pt x="2474184" y="2006194"/>
                </a:lnTo>
                <a:lnTo>
                  <a:pt x="2480676" y="2025487"/>
                </a:lnTo>
                <a:lnTo>
                  <a:pt x="2489728" y="2043684"/>
                </a:lnTo>
                <a:lnTo>
                  <a:pt x="2500975" y="2060600"/>
                </a:lnTo>
                <a:lnTo>
                  <a:pt x="2514417" y="2075871"/>
                </a:lnTo>
                <a:lnTo>
                  <a:pt x="2529688" y="2089313"/>
                </a:lnTo>
                <a:lnTo>
                  <a:pt x="2546604" y="2100560"/>
                </a:lnTo>
                <a:lnTo>
                  <a:pt x="2564801" y="2109612"/>
                </a:lnTo>
                <a:lnTo>
                  <a:pt x="2584094" y="2116104"/>
                </a:lnTo>
                <a:lnTo>
                  <a:pt x="2604028" y="2120036"/>
                </a:lnTo>
                <a:lnTo>
                  <a:pt x="2624328" y="2121408"/>
                </a:lnTo>
                <a:lnTo>
                  <a:pt x="3063240" y="2121408"/>
                </a:lnTo>
                <a:lnTo>
                  <a:pt x="3083540" y="2120036"/>
                </a:lnTo>
                <a:lnTo>
                  <a:pt x="3103474" y="2116104"/>
                </a:lnTo>
                <a:lnTo>
                  <a:pt x="3122767" y="2109612"/>
                </a:lnTo>
                <a:lnTo>
                  <a:pt x="3140964" y="2100560"/>
                </a:lnTo>
                <a:lnTo>
                  <a:pt x="3157880" y="2089313"/>
                </a:lnTo>
                <a:lnTo>
                  <a:pt x="3173151" y="2075871"/>
                </a:lnTo>
                <a:lnTo>
                  <a:pt x="3186593" y="2060600"/>
                </a:lnTo>
                <a:lnTo>
                  <a:pt x="3197840" y="2043684"/>
                </a:lnTo>
                <a:lnTo>
                  <a:pt x="3206892" y="2025487"/>
                </a:lnTo>
                <a:lnTo>
                  <a:pt x="3213384" y="2006194"/>
                </a:lnTo>
                <a:lnTo>
                  <a:pt x="3217316" y="1986260"/>
                </a:lnTo>
                <a:lnTo>
                  <a:pt x="3218688" y="1965960"/>
                </a:lnTo>
                <a:lnTo>
                  <a:pt x="3218688" y="1655064"/>
                </a:lnTo>
                <a:lnTo>
                  <a:pt x="3217316" y="1634764"/>
                </a:lnTo>
                <a:lnTo>
                  <a:pt x="3213384" y="1614830"/>
                </a:lnTo>
                <a:lnTo>
                  <a:pt x="3206892" y="1595537"/>
                </a:lnTo>
                <a:lnTo>
                  <a:pt x="3197840" y="1577340"/>
                </a:lnTo>
                <a:lnTo>
                  <a:pt x="3186593" y="1560424"/>
                </a:lnTo>
                <a:lnTo>
                  <a:pt x="3173151" y="1545153"/>
                </a:lnTo>
                <a:lnTo>
                  <a:pt x="3157880" y="1531711"/>
                </a:lnTo>
                <a:lnTo>
                  <a:pt x="3140964" y="1520464"/>
                </a:lnTo>
                <a:lnTo>
                  <a:pt x="3122767" y="1511412"/>
                </a:lnTo>
                <a:lnTo>
                  <a:pt x="3103474" y="1504920"/>
                </a:lnTo>
                <a:lnTo>
                  <a:pt x="3083540" y="1500988"/>
                </a:lnTo>
                <a:lnTo>
                  <a:pt x="3063240" y="1499616"/>
                </a:lnTo>
                <a:lnTo>
                  <a:pt x="2850459" y="1499616"/>
                </a:lnTo>
                <a:lnTo>
                  <a:pt x="2757373" y="1329903"/>
                </a:lnTo>
                <a:lnTo>
                  <a:pt x="2761671" y="1326063"/>
                </a:lnTo>
                <a:lnTo>
                  <a:pt x="2775113" y="1310792"/>
                </a:lnTo>
                <a:lnTo>
                  <a:pt x="2786360" y="1293876"/>
                </a:lnTo>
                <a:lnTo>
                  <a:pt x="2795412" y="1275679"/>
                </a:lnTo>
                <a:lnTo>
                  <a:pt x="2801904" y="1256386"/>
                </a:lnTo>
                <a:lnTo>
                  <a:pt x="2805836" y="1236452"/>
                </a:lnTo>
                <a:lnTo>
                  <a:pt x="2807208" y="1216152"/>
                </a:lnTo>
                <a:lnTo>
                  <a:pt x="2807208" y="905256"/>
                </a:lnTo>
                <a:lnTo>
                  <a:pt x="2805836" y="884956"/>
                </a:lnTo>
                <a:lnTo>
                  <a:pt x="2801904" y="865022"/>
                </a:lnTo>
                <a:lnTo>
                  <a:pt x="2795412" y="845729"/>
                </a:lnTo>
                <a:lnTo>
                  <a:pt x="2786360" y="827532"/>
                </a:lnTo>
                <a:lnTo>
                  <a:pt x="2775113" y="810616"/>
                </a:lnTo>
                <a:lnTo>
                  <a:pt x="2761671" y="795345"/>
                </a:lnTo>
                <a:lnTo>
                  <a:pt x="2746400" y="781903"/>
                </a:lnTo>
                <a:lnTo>
                  <a:pt x="2729484" y="770656"/>
                </a:lnTo>
                <a:lnTo>
                  <a:pt x="2711287" y="761604"/>
                </a:lnTo>
                <a:lnTo>
                  <a:pt x="2691994" y="755112"/>
                </a:lnTo>
                <a:lnTo>
                  <a:pt x="2672060" y="751180"/>
                </a:lnTo>
                <a:lnTo>
                  <a:pt x="2651760" y="749808"/>
                </a:lnTo>
                <a:lnTo>
                  <a:pt x="2321844" y="749808"/>
                </a:lnTo>
                <a:lnTo>
                  <a:pt x="1984248" y="442204"/>
                </a:lnTo>
                <a:lnTo>
                  <a:pt x="1984248" y="155448"/>
                </a:lnTo>
                <a:lnTo>
                  <a:pt x="1982876" y="135148"/>
                </a:lnTo>
                <a:lnTo>
                  <a:pt x="1978944" y="115214"/>
                </a:lnTo>
                <a:lnTo>
                  <a:pt x="1972452" y="95921"/>
                </a:lnTo>
              </a:path>
            </a:pathLst>
          </a:custGeom>
          <a:ln w="15875">
            <a:solidFill>
              <a:srgbClr val="A8A8C0"/>
            </a:solidFill>
            <a:prstDash val="dash"/>
            <a:tailEnd type="triangle"/>
          </a:ln>
        </p:spPr>
      </p:sp>
      <p:sp>
        <p:nvSpPr>
          <p:cNvPr id="9" name="Shape 6"/>
          <p:cNvSpPr/>
          <p:nvPr/>
        </p:nvSpPr>
        <p:spPr>
          <a:xfrm flipH="1">
            <a:off x="1508760" y="2029968"/>
            <a:ext cx="822960" cy="438912"/>
          </a:xfrm>
          <a:prstGeom prst="line">
            <a:avLst/>
          </a:prstGeom>
          <a:noFill/>
          <a:ln w="19050">
            <a:solidFill>
              <a:srgbClr val="9A9AB5"/>
            </a:solidFill>
            <a:prstDash val="solid"/>
          </a:ln>
        </p:spPr>
      </p:sp>
      <p:sp>
        <p:nvSpPr>
          <p:cNvPr id="10" name="Shape 7"/>
          <p:cNvSpPr/>
          <p:nvPr/>
        </p:nvSpPr>
        <p:spPr>
          <a:xfrm>
            <a:off x="2331720" y="2029968"/>
            <a:ext cx="822960" cy="438912"/>
          </a:xfrm>
          <a:prstGeom prst="line">
            <a:avLst/>
          </a:prstGeom>
          <a:noFill/>
          <a:ln w="19050">
            <a:solidFill>
              <a:srgbClr val="9A9AB5"/>
            </a:solidFill>
            <a:prstDash val="solid"/>
          </a:ln>
        </p:spPr>
      </p:sp>
      <p:sp>
        <p:nvSpPr>
          <p:cNvPr id="11" name="Shape 8"/>
          <p:cNvSpPr/>
          <p:nvPr/>
        </p:nvSpPr>
        <p:spPr>
          <a:xfrm flipH="1">
            <a:off x="1097280" y="2779776"/>
            <a:ext cx="411480" cy="438912"/>
          </a:xfrm>
          <a:prstGeom prst="line">
            <a:avLst/>
          </a:prstGeom>
          <a:noFill/>
          <a:ln w="19050">
            <a:solidFill>
              <a:srgbClr val="9A9AB5"/>
            </a:solidFill>
            <a:prstDash val="solid"/>
          </a:ln>
        </p:spPr>
      </p:sp>
      <p:sp>
        <p:nvSpPr>
          <p:cNvPr id="12" name="Shape 9"/>
          <p:cNvSpPr/>
          <p:nvPr/>
        </p:nvSpPr>
        <p:spPr>
          <a:xfrm>
            <a:off x="1508760" y="2779776"/>
            <a:ext cx="411480" cy="438912"/>
          </a:xfrm>
          <a:prstGeom prst="line">
            <a:avLst/>
          </a:prstGeom>
          <a:noFill/>
          <a:ln w="19050">
            <a:solidFill>
              <a:srgbClr val="9A9AB5"/>
            </a:solidFill>
            <a:prstDash val="solid"/>
          </a:ln>
        </p:spPr>
      </p:sp>
      <p:sp>
        <p:nvSpPr>
          <p:cNvPr id="13" name="Shape 10"/>
          <p:cNvSpPr/>
          <p:nvPr/>
        </p:nvSpPr>
        <p:spPr>
          <a:xfrm flipH="1">
            <a:off x="2743200" y="2779776"/>
            <a:ext cx="411480" cy="438912"/>
          </a:xfrm>
          <a:prstGeom prst="line">
            <a:avLst/>
          </a:prstGeom>
          <a:noFill/>
          <a:ln w="19050">
            <a:solidFill>
              <a:srgbClr val="9A9AB5"/>
            </a:solidFill>
            <a:prstDash val="solid"/>
          </a:ln>
        </p:spPr>
      </p:sp>
      <p:sp>
        <p:nvSpPr>
          <p:cNvPr id="14" name="Shape 11"/>
          <p:cNvSpPr/>
          <p:nvPr/>
        </p:nvSpPr>
        <p:spPr>
          <a:xfrm>
            <a:off x="3154680" y="2779776"/>
            <a:ext cx="411480" cy="438912"/>
          </a:xfrm>
          <a:prstGeom prst="line">
            <a:avLst/>
          </a:prstGeom>
          <a:noFill/>
          <a:ln w="19050">
            <a:solidFill>
              <a:srgbClr val="9A9AB5"/>
            </a:solidFill>
            <a:prstDash val="solid"/>
          </a:ln>
        </p:spPr>
      </p:sp>
      <p:sp>
        <p:nvSpPr>
          <p:cNvPr id="15" name="Shape 12"/>
          <p:cNvSpPr/>
          <p:nvPr/>
        </p:nvSpPr>
        <p:spPr>
          <a:xfrm flipH="1">
            <a:off x="1645920" y="3529584"/>
            <a:ext cx="274320" cy="438912"/>
          </a:xfrm>
          <a:prstGeom prst="line">
            <a:avLst/>
          </a:prstGeom>
          <a:noFill/>
          <a:ln w="19050">
            <a:solidFill>
              <a:srgbClr val="9A9AB5"/>
            </a:solidFill>
            <a:prstDash val="solid"/>
          </a:ln>
        </p:spPr>
      </p:sp>
      <p:sp>
        <p:nvSpPr>
          <p:cNvPr id="16" name="Text 13"/>
          <p:cNvSpPr/>
          <p:nvPr/>
        </p:nvSpPr>
        <p:spPr>
          <a:xfrm>
            <a:off x="2112264" y="1719072"/>
            <a:ext cx="438912" cy="310896"/>
          </a:xfrm>
          <a:prstGeom prst="roundRect">
            <a:avLst>
              <a:gd name="adj" fmla="val 23529"/>
            </a:avLst>
          </a:prstGeom>
          <a:solidFill>
            <a:srgbClr val="E9E8F5"/>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50</a:t>
            </a:r>
            <a:endParaRPr lang="en-US" sz="1200" dirty="0"/>
          </a:p>
        </p:txBody>
      </p:sp>
      <p:sp>
        <p:nvSpPr>
          <p:cNvPr id="17" name="Shape 14"/>
          <p:cNvSpPr/>
          <p:nvPr/>
        </p:nvSpPr>
        <p:spPr>
          <a:xfrm>
            <a:off x="2048256" y="1810512"/>
            <a:ext cx="128016" cy="128016"/>
          </a:xfrm>
          <a:prstGeom prst="ellipse">
            <a:avLst/>
          </a:prstGeom>
          <a:solidFill>
            <a:srgbClr val="1F8A8A"/>
          </a:solidFill>
          <a:ln w="12700">
            <a:solidFill>
              <a:srgbClr val="FFFFFF"/>
            </a:solidFill>
            <a:prstDash val="solid"/>
          </a:ln>
        </p:spPr>
      </p:sp>
      <p:sp>
        <p:nvSpPr>
          <p:cNvPr id="18" name="Text 15"/>
          <p:cNvSpPr/>
          <p:nvPr/>
        </p:nvSpPr>
        <p:spPr>
          <a:xfrm>
            <a:off x="1952244" y="1546250"/>
            <a:ext cx="246888" cy="246888"/>
          </a:xfrm>
          <a:prstGeom prst="ellipse">
            <a:avLst/>
          </a:prstGeom>
          <a:solidFill>
            <a:srgbClr val="1F8A8A"/>
          </a:solidFill>
          <a:ln w="12700">
            <a:solidFill>
              <a:srgbClr val="FFFFFF"/>
            </a:solidFill>
          </a:ln>
        </p:spPr>
        <p:txBody>
          <a:bodyPr wrap="square" lIns="0" tIns="0" rIns="0" bIns="0" rtlCol="0" anchor="ctr"/>
          <a:lstStyle/>
          <a:p>
            <a:pPr algn="ctr" indent="0" marL="0">
              <a:buNone/>
            </a:pPr>
            <a:r>
              <a:rPr lang="en-US" sz="1000" b="1" dirty="0">
                <a:solidFill>
                  <a:srgbClr val="FFFFFF"/>
                </a:solidFill>
                <a:latin typeface="Quicksand" pitchFamily="34" charset="0"/>
                <a:ea typeface="Quicksand" pitchFamily="34" charset="-122"/>
                <a:cs typeface="Quicksand" pitchFamily="34" charset="-120"/>
              </a:rPr>
              <a:t>1</a:t>
            </a:r>
            <a:endParaRPr lang="en-US" sz="1000" dirty="0"/>
          </a:p>
        </p:txBody>
      </p:sp>
      <p:sp>
        <p:nvSpPr>
          <p:cNvPr id="19" name="Text 16"/>
          <p:cNvSpPr/>
          <p:nvPr/>
        </p:nvSpPr>
        <p:spPr>
          <a:xfrm>
            <a:off x="1289304" y="2468880"/>
            <a:ext cx="438912" cy="310896"/>
          </a:xfrm>
          <a:prstGeom prst="roundRect">
            <a:avLst>
              <a:gd name="adj" fmla="val 23529"/>
            </a:avLst>
          </a:prstGeom>
          <a:solidFill>
            <a:srgbClr val="E9E8F5"/>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30</a:t>
            </a:r>
            <a:endParaRPr lang="en-US" sz="1200" dirty="0"/>
          </a:p>
        </p:txBody>
      </p:sp>
      <p:sp>
        <p:nvSpPr>
          <p:cNvPr id="20" name="Shape 17"/>
          <p:cNvSpPr/>
          <p:nvPr/>
        </p:nvSpPr>
        <p:spPr>
          <a:xfrm>
            <a:off x="1225296" y="2560320"/>
            <a:ext cx="128016" cy="128016"/>
          </a:xfrm>
          <a:prstGeom prst="ellipse">
            <a:avLst/>
          </a:prstGeom>
          <a:solidFill>
            <a:srgbClr val="1F8A8A"/>
          </a:solidFill>
          <a:ln w="12700">
            <a:solidFill>
              <a:srgbClr val="FFFFFF"/>
            </a:solidFill>
            <a:prstDash val="solid"/>
          </a:ln>
        </p:spPr>
      </p:sp>
      <p:sp>
        <p:nvSpPr>
          <p:cNvPr id="21" name="Text 18"/>
          <p:cNvSpPr/>
          <p:nvPr/>
        </p:nvSpPr>
        <p:spPr>
          <a:xfrm>
            <a:off x="1129284" y="2296058"/>
            <a:ext cx="246888" cy="246888"/>
          </a:xfrm>
          <a:prstGeom prst="ellipse">
            <a:avLst/>
          </a:prstGeom>
          <a:solidFill>
            <a:srgbClr val="1F8A8A"/>
          </a:solidFill>
          <a:ln w="12700">
            <a:solidFill>
              <a:srgbClr val="FFFFFF"/>
            </a:solidFill>
          </a:ln>
        </p:spPr>
        <p:txBody>
          <a:bodyPr wrap="square" lIns="0" tIns="0" rIns="0" bIns="0" rtlCol="0" anchor="ctr"/>
          <a:lstStyle/>
          <a:p>
            <a:pPr algn="ctr" indent="0" marL="0">
              <a:buNone/>
            </a:pPr>
            <a:r>
              <a:rPr lang="en-US" sz="1000" b="1" dirty="0">
                <a:solidFill>
                  <a:srgbClr val="FFFFFF"/>
                </a:solidFill>
                <a:latin typeface="Quicksand" pitchFamily="34" charset="0"/>
                <a:ea typeface="Quicksand" pitchFamily="34" charset="-122"/>
                <a:cs typeface="Quicksand" pitchFamily="34" charset="-120"/>
              </a:rPr>
              <a:t>2</a:t>
            </a:r>
            <a:endParaRPr lang="en-US" sz="1000" dirty="0"/>
          </a:p>
        </p:txBody>
      </p:sp>
      <p:sp>
        <p:nvSpPr>
          <p:cNvPr id="22" name="Text 19"/>
          <p:cNvSpPr/>
          <p:nvPr/>
        </p:nvSpPr>
        <p:spPr>
          <a:xfrm>
            <a:off x="2935224" y="2468880"/>
            <a:ext cx="438912" cy="310896"/>
          </a:xfrm>
          <a:prstGeom prst="roundRect">
            <a:avLst>
              <a:gd name="adj" fmla="val 23529"/>
            </a:avLst>
          </a:prstGeom>
          <a:solidFill>
            <a:srgbClr val="E9E8F5"/>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70</a:t>
            </a:r>
            <a:endParaRPr lang="en-US" sz="1200" dirty="0"/>
          </a:p>
        </p:txBody>
      </p:sp>
      <p:sp>
        <p:nvSpPr>
          <p:cNvPr id="23" name="Shape 20"/>
          <p:cNvSpPr/>
          <p:nvPr/>
        </p:nvSpPr>
        <p:spPr>
          <a:xfrm>
            <a:off x="2871216" y="2560320"/>
            <a:ext cx="128016" cy="128016"/>
          </a:xfrm>
          <a:prstGeom prst="ellipse">
            <a:avLst/>
          </a:prstGeom>
          <a:solidFill>
            <a:srgbClr val="1F8A8A"/>
          </a:solidFill>
          <a:ln w="12700">
            <a:solidFill>
              <a:srgbClr val="FFFFFF"/>
            </a:solidFill>
            <a:prstDash val="solid"/>
          </a:ln>
        </p:spPr>
      </p:sp>
      <p:sp>
        <p:nvSpPr>
          <p:cNvPr id="24" name="Text 21"/>
          <p:cNvSpPr/>
          <p:nvPr/>
        </p:nvSpPr>
        <p:spPr>
          <a:xfrm>
            <a:off x="2775204" y="2296058"/>
            <a:ext cx="246888" cy="246888"/>
          </a:xfrm>
          <a:prstGeom prst="ellipse">
            <a:avLst/>
          </a:prstGeom>
          <a:solidFill>
            <a:srgbClr val="1F8A8A"/>
          </a:solidFill>
          <a:ln w="12700">
            <a:solidFill>
              <a:srgbClr val="FFFFFF"/>
            </a:solidFill>
          </a:ln>
        </p:spPr>
        <p:txBody>
          <a:bodyPr wrap="square" lIns="0" tIns="0" rIns="0" bIns="0" rtlCol="0" anchor="ctr"/>
          <a:lstStyle/>
          <a:p>
            <a:pPr algn="ctr" indent="0" marL="0">
              <a:buNone/>
            </a:pPr>
            <a:r>
              <a:rPr lang="en-US" sz="1000" b="1" dirty="0">
                <a:solidFill>
                  <a:srgbClr val="FFFFFF"/>
                </a:solidFill>
                <a:latin typeface="Quicksand" pitchFamily="34" charset="0"/>
                <a:ea typeface="Quicksand" pitchFamily="34" charset="-122"/>
                <a:cs typeface="Quicksand" pitchFamily="34" charset="-120"/>
              </a:rPr>
              <a:t>6</a:t>
            </a:r>
            <a:endParaRPr lang="en-US" sz="1000" dirty="0"/>
          </a:p>
        </p:txBody>
      </p:sp>
      <p:sp>
        <p:nvSpPr>
          <p:cNvPr id="25" name="Text 22"/>
          <p:cNvSpPr/>
          <p:nvPr/>
        </p:nvSpPr>
        <p:spPr>
          <a:xfrm>
            <a:off x="877824" y="3218688"/>
            <a:ext cx="438912" cy="310896"/>
          </a:xfrm>
          <a:prstGeom prst="roundRect">
            <a:avLst>
              <a:gd name="adj" fmla="val 23529"/>
            </a:avLst>
          </a:prstGeom>
          <a:solidFill>
            <a:srgbClr val="E9E8F5"/>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20</a:t>
            </a:r>
            <a:endParaRPr lang="en-US" sz="1200" dirty="0"/>
          </a:p>
        </p:txBody>
      </p:sp>
      <p:sp>
        <p:nvSpPr>
          <p:cNvPr id="26" name="Shape 23"/>
          <p:cNvSpPr/>
          <p:nvPr/>
        </p:nvSpPr>
        <p:spPr>
          <a:xfrm>
            <a:off x="813816" y="3310128"/>
            <a:ext cx="128016" cy="128016"/>
          </a:xfrm>
          <a:prstGeom prst="ellipse">
            <a:avLst/>
          </a:prstGeom>
          <a:solidFill>
            <a:srgbClr val="1F8A8A"/>
          </a:solidFill>
          <a:ln w="12700">
            <a:solidFill>
              <a:srgbClr val="FFFFFF"/>
            </a:solidFill>
            <a:prstDash val="solid"/>
          </a:ln>
        </p:spPr>
      </p:sp>
      <p:sp>
        <p:nvSpPr>
          <p:cNvPr id="27" name="Text 24"/>
          <p:cNvSpPr/>
          <p:nvPr/>
        </p:nvSpPr>
        <p:spPr>
          <a:xfrm>
            <a:off x="717804" y="3045866"/>
            <a:ext cx="246888" cy="246888"/>
          </a:xfrm>
          <a:prstGeom prst="ellipse">
            <a:avLst/>
          </a:prstGeom>
          <a:solidFill>
            <a:srgbClr val="1F8A8A"/>
          </a:solidFill>
          <a:ln w="12700">
            <a:solidFill>
              <a:srgbClr val="FFFFFF"/>
            </a:solidFill>
          </a:ln>
        </p:spPr>
        <p:txBody>
          <a:bodyPr wrap="square" lIns="0" tIns="0" rIns="0" bIns="0" rtlCol="0" anchor="ctr"/>
          <a:lstStyle/>
          <a:p>
            <a:pPr algn="ctr" indent="0" marL="0">
              <a:buNone/>
            </a:pPr>
            <a:r>
              <a:rPr lang="en-US" sz="1000" b="1" dirty="0">
                <a:solidFill>
                  <a:srgbClr val="FFFFFF"/>
                </a:solidFill>
                <a:latin typeface="Quicksand" pitchFamily="34" charset="0"/>
                <a:ea typeface="Quicksand" pitchFamily="34" charset="-122"/>
                <a:cs typeface="Quicksand" pitchFamily="34" charset="-120"/>
              </a:rPr>
              <a:t>3</a:t>
            </a:r>
            <a:endParaRPr lang="en-US" sz="1000" dirty="0"/>
          </a:p>
        </p:txBody>
      </p:sp>
      <p:sp>
        <p:nvSpPr>
          <p:cNvPr id="28" name="Text 25"/>
          <p:cNvSpPr/>
          <p:nvPr/>
        </p:nvSpPr>
        <p:spPr>
          <a:xfrm>
            <a:off x="1700784" y="3218688"/>
            <a:ext cx="438912" cy="310896"/>
          </a:xfrm>
          <a:prstGeom prst="roundRect">
            <a:avLst>
              <a:gd name="adj" fmla="val 23529"/>
            </a:avLst>
          </a:prstGeom>
          <a:solidFill>
            <a:srgbClr val="E9E8F5"/>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40</a:t>
            </a:r>
            <a:endParaRPr lang="en-US" sz="1200" dirty="0"/>
          </a:p>
        </p:txBody>
      </p:sp>
      <p:sp>
        <p:nvSpPr>
          <p:cNvPr id="29" name="Shape 26"/>
          <p:cNvSpPr/>
          <p:nvPr/>
        </p:nvSpPr>
        <p:spPr>
          <a:xfrm>
            <a:off x="1636776" y="3310128"/>
            <a:ext cx="128016" cy="128016"/>
          </a:xfrm>
          <a:prstGeom prst="ellipse">
            <a:avLst/>
          </a:prstGeom>
          <a:solidFill>
            <a:srgbClr val="1F8A8A"/>
          </a:solidFill>
          <a:ln w="12700">
            <a:solidFill>
              <a:srgbClr val="FFFFFF"/>
            </a:solidFill>
            <a:prstDash val="solid"/>
          </a:ln>
        </p:spPr>
      </p:sp>
      <p:sp>
        <p:nvSpPr>
          <p:cNvPr id="30" name="Text 27"/>
          <p:cNvSpPr/>
          <p:nvPr/>
        </p:nvSpPr>
        <p:spPr>
          <a:xfrm>
            <a:off x="1540764" y="3045866"/>
            <a:ext cx="246888" cy="246888"/>
          </a:xfrm>
          <a:prstGeom prst="ellipse">
            <a:avLst/>
          </a:prstGeom>
          <a:solidFill>
            <a:srgbClr val="1F8A8A"/>
          </a:solidFill>
          <a:ln w="12700">
            <a:solidFill>
              <a:srgbClr val="FFFFFF"/>
            </a:solidFill>
          </a:ln>
        </p:spPr>
        <p:txBody>
          <a:bodyPr wrap="square" lIns="0" tIns="0" rIns="0" bIns="0" rtlCol="0" anchor="ctr"/>
          <a:lstStyle/>
          <a:p>
            <a:pPr algn="ctr" indent="0" marL="0">
              <a:buNone/>
            </a:pPr>
            <a:r>
              <a:rPr lang="en-US" sz="1000" b="1" dirty="0">
                <a:solidFill>
                  <a:srgbClr val="FFFFFF"/>
                </a:solidFill>
                <a:latin typeface="Quicksand" pitchFamily="34" charset="0"/>
                <a:ea typeface="Quicksand" pitchFamily="34" charset="-122"/>
                <a:cs typeface="Quicksand" pitchFamily="34" charset="-120"/>
              </a:rPr>
              <a:t>4</a:t>
            </a:r>
            <a:endParaRPr lang="en-US" sz="1000" dirty="0"/>
          </a:p>
        </p:txBody>
      </p:sp>
      <p:sp>
        <p:nvSpPr>
          <p:cNvPr id="31" name="Text 28"/>
          <p:cNvSpPr/>
          <p:nvPr/>
        </p:nvSpPr>
        <p:spPr>
          <a:xfrm>
            <a:off x="2523744" y="3218688"/>
            <a:ext cx="438912" cy="310896"/>
          </a:xfrm>
          <a:prstGeom prst="roundRect">
            <a:avLst>
              <a:gd name="adj" fmla="val 23529"/>
            </a:avLst>
          </a:prstGeom>
          <a:solidFill>
            <a:srgbClr val="E9E8F5"/>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60</a:t>
            </a:r>
            <a:endParaRPr lang="en-US" sz="1200" dirty="0"/>
          </a:p>
        </p:txBody>
      </p:sp>
      <p:sp>
        <p:nvSpPr>
          <p:cNvPr id="32" name="Shape 29"/>
          <p:cNvSpPr/>
          <p:nvPr/>
        </p:nvSpPr>
        <p:spPr>
          <a:xfrm>
            <a:off x="2459736" y="3310128"/>
            <a:ext cx="128016" cy="128016"/>
          </a:xfrm>
          <a:prstGeom prst="ellipse">
            <a:avLst/>
          </a:prstGeom>
          <a:solidFill>
            <a:srgbClr val="1F8A8A"/>
          </a:solidFill>
          <a:ln w="12700">
            <a:solidFill>
              <a:srgbClr val="FFFFFF"/>
            </a:solidFill>
            <a:prstDash val="solid"/>
          </a:ln>
        </p:spPr>
      </p:sp>
      <p:sp>
        <p:nvSpPr>
          <p:cNvPr id="33" name="Text 30"/>
          <p:cNvSpPr/>
          <p:nvPr/>
        </p:nvSpPr>
        <p:spPr>
          <a:xfrm>
            <a:off x="2363724" y="3045866"/>
            <a:ext cx="246888" cy="246888"/>
          </a:xfrm>
          <a:prstGeom prst="ellipse">
            <a:avLst/>
          </a:prstGeom>
          <a:solidFill>
            <a:srgbClr val="1F8A8A"/>
          </a:solidFill>
          <a:ln w="12700">
            <a:solidFill>
              <a:srgbClr val="FFFFFF"/>
            </a:solidFill>
          </a:ln>
        </p:spPr>
        <p:txBody>
          <a:bodyPr wrap="square" lIns="0" tIns="0" rIns="0" bIns="0" rtlCol="0" anchor="ctr"/>
          <a:lstStyle/>
          <a:p>
            <a:pPr algn="ctr" indent="0" marL="0">
              <a:buNone/>
            </a:pPr>
            <a:r>
              <a:rPr lang="en-US" sz="1000" b="1" dirty="0">
                <a:solidFill>
                  <a:srgbClr val="FFFFFF"/>
                </a:solidFill>
                <a:latin typeface="Quicksand" pitchFamily="34" charset="0"/>
                <a:ea typeface="Quicksand" pitchFamily="34" charset="-122"/>
                <a:cs typeface="Quicksand" pitchFamily="34" charset="-120"/>
              </a:rPr>
              <a:t>7</a:t>
            </a:r>
            <a:endParaRPr lang="en-US" sz="1000" dirty="0"/>
          </a:p>
        </p:txBody>
      </p:sp>
      <p:sp>
        <p:nvSpPr>
          <p:cNvPr id="34" name="Text 31"/>
          <p:cNvSpPr/>
          <p:nvPr/>
        </p:nvSpPr>
        <p:spPr>
          <a:xfrm>
            <a:off x="3346704" y="3218688"/>
            <a:ext cx="438912" cy="310896"/>
          </a:xfrm>
          <a:prstGeom prst="roundRect">
            <a:avLst>
              <a:gd name="adj" fmla="val 23529"/>
            </a:avLst>
          </a:prstGeom>
          <a:solidFill>
            <a:srgbClr val="E9E8F5"/>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80</a:t>
            </a:r>
            <a:endParaRPr lang="en-US" sz="1200" dirty="0"/>
          </a:p>
        </p:txBody>
      </p:sp>
      <p:sp>
        <p:nvSpPr>
          <p:cNvPr id="35" name="Shape 32"/>
          <p:cNvSpPr/>
          <p:nvPr/>
        </p:nvSpPr>
        <p:spPr>
          <a:xfrm>
            <a:off x="3282696" y="3310128"/>
            <a:ext cx="128016" cy="128016"/>
          </a:xfrm>
          <a:prstGeom prst="ellipse">
            <a:avLst/>
          </a:prstGeom>
          <a:solidFill>
            <a:srgbClr val="1F8A8A"/>
          </a:solidFill>
          <a:ln w="12700">
            <a:solidFill>
              <a:srgbClr val="FFFFFF"/>
            </a:solidFill>
            <a:prstDash val="solid"/>
          </a:ln>
        </p:spPr>
      </p:sp>
      <p:sp>
        <p:nvSpPr>
          <p:cNvPr id="36" name="Text 33"/>
          <p:cNvSpPr/>
          <p:nvPr/>
        </p:nvSpPr>
        <p:spPr>
          <a:xfrm>
            <a:off x="3186684" y="3045866"/>
            <a:ext cx="246888" cy="246888"/>
          </a:xfrm>
          <a:prstGeom prst="ellipse">
            <a:avLst/>
          </a:prstGeom>
          <a:solidFill>
            <a:srgbClr val="1F8A8A"/>
          </a:solidFill>
          <a:ln w="12700">
            <a:solidFill>
              <a:srgbClr val="FFFFFF"/>
            </a:solidFill>
          </a:ln>
        </p:spPr>
        <p:txBody>
          <a:bodyPr wrap="square" lIns="0" tIns="0" rIns="0" bIns="0" rtlCol="0" anchor="ctr"/>
          <a:lstStyle/>
          <a:p>
            <a:pPr algn="ctr" indent="0" marL="0">
              <a:buNone/>
            </a:pPr>
            <a:r>
              <a:rPr lang="en-US" sz="1000" b="1" dirty="0">
                <a:solidFill>
                  <a:srgbClr val="FFFFFF"/>
                </a:solidFill>
                <a:latin typeface="Quicksand" pitchFamily="34" charset="0"/>
                <a:ea typeface="Quicksand" pitchFamily="34" charset="-122"/>
                <a:cs typeface="Quicksand" pitchFamily="34" charset="-120"/>
              </a:rPr>
              <a:t>8</a:t>
            </a:r>
            <a:endParaRPr lang="en-US" sz="1000" dirty="0"/>
          </a:p>
        </p:txBody>
      </p:sp>
      <p:sp>
        <p:nvSpPr>
          <p:cNvPr id="37" name="Text 34"/>
          <p:cNvSpPr/>
          <p:nvPr/>
        </p:nvSpPr>
        <p:spPr>
          <a:xfrm>
            <a:off x="1426464" y="3968496"/>
            <a:ext cx="438912" cy="310896"/>
          </a:xfrm>
          <a:prstGeom prst="roundRect">
            <a:avLst>
              <a:gd name="adj" fmla="val 23529"/>
            </a:avLst>
          </a:prstGeom>
          <a:solidFill>
            <a:srgbClr val="E9E8F5"/>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35</a:t>
            </a:r>
            <a:endParaRPr lang="en-US" sz="1200" dirty="0"/>
          </a:p>
        </p:txBody>
      </p:sp>
      <p:sp>
        <p:nvSpPr>
          <p:cNvPr id="38" name="Shape 35"/>
          <p:cNvSpPr/>
          <p:nvPr/>
        </p:nvSpPr>
        <p:spPr>
          <a:xfrm>
            <a:off x="1362456" y="4059936"/>
            <a:ext cx="128016" cy="128016"/>
          </a:xfrm>
          <a:prstGeom prst="ellipse">
            <a:avLst/>
          </a:prstGeom>
          <a:solidFill>
            <a:srgbClr val="1F8A8A"/>
          </a:solidFill>
          <a:ln w="12700">
            <a:solidFill>
              <a:srgbClr val="FFFFFF"/>
            </a:solidFill>
            <a:prstDash val="solid"/>
          </a:ln>
        </p:spPr>
      </p:sp>
      <p:sp>
        <p:nvSpPr>
          <p:cNvPr id="39" name="Text 36"/>
          <p:cNvSpPr/>
          <p:nvPr/>
        </p:nvSpPr>
        <p:spPr>
          <a:xfrm>
            <a:off x="1266444" y="3795674"/>
            <a:ext cx="246888" cy="246888"/>
          </a:xfrm>
          <a:prstGeom prst="ellipse">
            <a:avLst/>
          </a:prstGeom>
          <a:solidFill>
            <a:srgbClr val="1F8A8A"/>
          </a:solidFill>
          <a:ln w="12700">
            <a:solidFill>
              <a:srgbClr val="FFFFFF"/>
            </a:solidFill>
          </a:ln>
        </p:spPr>
        <p:txBody>
          <a:bodyPr wrap="square" lIns="0" tIns="0" rIns="0" bIns="0" rtlCol="0" anchor="ctr"/>
          <a:lstStyle/>
          <a:p>
            <a:pPr algn="ctr" indent="0" marL="0">
              <a:buNone/>
            </a:pPr>
            <a:r>
              <a:rPr lang="en-US" sz="1000" b="1" dirty="0">
                <a:solidFill>
                  <a:srgbClr val="FFFFFF"/>
                </a:solidFill>
                <a:latin typeface="Quicksand" pitchFamily="34" charset="0"/>
                <a:ea typeface="Quicksand" pitchFamily="34" charset="-122"/>
                <a:cs typeface="Quicksand" pitchFamily="34" charset="-120"/>
              </a:rPr>
              <a:t>5</a:t>
            </a:r>
            <a:endParaRPr lang="en-US" sz="1000" dirty="0"/>
          </a:p>
        </p:txBody>
      </p:sp>
      <p:sp>
        <p:nvSpPr>
          <p:cNvPr id="40" name="Text 37"/>
          <p:cNvSpPr txBox="1"/>
          <p:nvPr/>
        </p:nvSpPr>
        <p:spPr>
          <a:xfrm>
            <a:off x="411480" y="4709160"/>
            <a:ext cx="3611880" cy="411480"/>
          </a:xfrm>
          <a:prstGeom prst="rect">
            <a:avLst/>
          </a:prstGeom>
          <a:noFill/>
          <a:ln/>
        </p:spPr>
        <p:txBody>
          <a:bodyPr wrap="square" lIns="0" tIns="0" rIns="0" bIns="0" rtlCol="0" anchor="ctr"/>
          <a:lstStyle/>
          <a:p>
            <a:pPr algn="ctr" indent="0" marL="0">
              <a:buNone/>
            </a:pPr>
            <a:r>
              <a:rPr lang="en-US" sz="1600" b="1" dirty="0">
                <a:solidFill>
                  <a:srgbClr val="1F8A8A"/>
                </a:solidFill>
                <a:latin typeface="Quicksand" pitchFamily="34" charset="0"/>
                <a:ea typeface="Quicksand" pitchFamily="34" charset="-122"/>
                <a:cs typeface="Quicksand" pitchFamily="34" charset="-120"/>
              </a:rPr>
              <a:t>50  30  20  40  35  70  60  80</a:t>
            </a:r>
            <a:endParaRPr lang="en-US" sz="1600" dirty="0"/>
          </a:p>
        </p:txBody>
      </p:sp>
      <p:sp>
        <p:nvSpPr>
          <p:cNvPr id="41" name="Text 38"/>
          <p:cNvSpPr txBox="1"/>
          <p:nvPr/>
        </p:nvSpPr>
        <p:spPr>
          <a:xfrm>
            <a:off x="4251960" y="1234440"/>
            <a:ext cx="3566160" cy="365760"/>
          </a:xfrm>
          <a:prstGeom prst="rect">
            <a:avLst/>
          </a:prstGeom>
          <a:noFill/>
          <a:ln/>
        </p:spPr>
        <p:txBody>
          <a:bodyPr wrap="square" lIns="0" tIns="0" rIns="0" bIns="0" rtlCol="0" anchor="ctr"/>
          <a:lstStyle/>
          <a:p>
            <a:pPr indent="0" marL="0">
              <a:buNone/>
            </a:pPr>
            <a:r>
              <a:rPr lang="en-US" sz="1800" b="1" dirty="0">
                <a:solidFill>
                  <a:srgbClr val="D9822B"/>
                </a:solidFill>
                <a:latin typeface="Quicksand" pitchFamily="34" charset="0"/>
                <a:ea typeface="Quicksand" pitchFamily="34" charset="-122"/>
                <a:cs typeface="Quicksand" pitchFamily="34" charset="-120"/>
              </a:rPr>
              <a:t>In-order</a:t>
            </a:r>
            <a:endParaRPr lang="en-US" sz="1800" dirty="0"/>
          </a:p>
        </p:txBody>
      </p:sp>
      <p:sp>
        <p:nvSpPr>
          <p:cNvPr id="42" name="Shape 39"/>
          <p:cNvSpPr/>
          <p:nvPr/>
        </p:nvSpPr>
        <p:spPr>
          <a:xfrm>
            <a:off x="4562856" y="1563624"/>
            <a:ext cx="3218688" cy="2871216"/>
          </a:xfrm>
          <a:custGeom>
            <a:avLst/>
            <a:gdLst/>
            <a:ahLst/>
            <a:cxnLst/>
            <a:rect l="l" t="t" r="r" b="b"/>
            <a:pathLst>
              <a:path w="3218688" h="2871216">
                <a:moveTo>
                  <a:pt x="1828800" y="0"/>
                </a:moveTo>
                <a:lnTo>
                  <a:pt x="1389888" y="0"/>
                </a:lnTo>
                <a:lnTo>
                  <a:pt x="1369588" y="1372"/>
                </a:lnTo>
                <a:lnTo>
                  <a:pt x="1349654" y="5304"/>
                </a:lnTo>
                <a:lnTo>
                  <a:pt x="1330361" y="11796"/>
                </a:lnTo>
                <a:lnTo>
                  <a:pt x="1312164" y="20848"/>
                </a:lnTo>
                <a:lnTo>
                  <a:pt x="1295248" y="32095"/>
                </a:lnTo>
                <a:lnTo>
                  <a:pt x="1279977" y="45537"/>
                </a:lnTo>
                <a:lnTo>
                  <a:pt x="1266535" y="60808"/>
                </a:lnTo>
                <a:lnTo>
                  <a:pt x="1255288" y="77724"/>
                </a:lnTo>
                <a:lnTo>
                  <a:pt x="1246236" y="95921"/>
                </a:lnTo>
                <a:lnTo>
                  <a:pt x="1239744" y="115214"/>
                </a:lnTo>
                <a:lnTo>
                  <a:pt x="1235812" y="135148"/>
                </a:lnTo>
                <a:lnTo>
                  <a:pt x="1234440" y="155448"/>
                </a:lnTo>
                <a:lnTo>
                  <a:pt x="1234440" y="442204"/>
                </a:lnTo>
                <a:lnTo>
                  <a:pt x="896844" y="749808"/>
                </a:lnTo>
                <a:lnTo>
                  <a:pt x="566928" y="749808"/>
                </a:lnTo>
                <a:lnTo>
                  <a:pt x="546628" y="751180"/>
                </a:lnTo>
                <a:lnTo>
                  <a:pt x="526694" y="755112"/>
                </a:lnTo>
                <a:lnTo>
                  <a:pt x="507401" y="761604"/>
                </a:lnTo>
                <a:lnTo>
                  <a:pt x="489204" y="770656"/>
                </a:lnTo>
                <a:lnTo>
                  <a:pt x="472288" y="781903"/>
                </a:lnTo>
                <a:lnTo>
                  <a:pt x="457017" y="795345"/>
                </a:lnTo>
                <a:lnTo>
                  <a:pt x="443575" y="810616"/>
                </a:lnTo>
                <a:lnTo>
                  <a:pt x="432328" y="827532"/>
                </a:lnTo>
                <a:lnTo>
                  <a:pt x="423276" y="845729"/>
                </a:lnTo>
                <a:lnTo>
                  <a:pt x="416784" y="865022"/>
                </a:lnTo>
                <a:lnTo>
                  <a:pt x="412852" y="884956"/>
                </a:lnTo>
                <a:lnTo>
                  <a:pt x="411480" y="905256"/>
                </a:lnTo>
                <a:lnTo>
                  <a:pt x="411480" y="1216152"/>
                </a:lnTo>
                <a:lnTo>
                  <a:pt x="412852" y="1236452"/>
                </a:lnTo>
                <a:lnTo>
                  <a:pt x="416784" y="1256386"/>
                </a:lnTo>
                <a:lnTo>
                  <a:pt x="423276" y="1275679"/>
                </a:lnTo>
                <a:lnTo>
                  <a:pt x="432328" y="1293876"/>
                </a:lnTo>
                <a:lnTo>
                  <a:pt x="443575" y="1310792"/>
                </a:lnTo>
                <a:lnTo>
                  <a:pt x="457017" y="1326063"/>
                </a:lnTo>
                <a:lnTo>
                  <a:pt x="461315" y="1329903"/>
                </a:lnTo>
                <a:lnTo>
                  <a:pt x="368229" y="1499616"/>
                </a:lnTo>
                <a:lnTo>
                  <a:pt x="155448" y="1499616"/>
                </a:lnTo>
                <a:lnTo>
                  <a:pt x="135148" y="1500988"/>
                </a:lnTo>
                <a:lnTo>
                  <a:pt x="115214" y="1504920"/>
                </a:lnTo>
                <a:lnTo>
                  <a:pt x="95921" y="1511412"/>
                </a:lnTo>
                <a:lnTo>
                  <a:pt x="77724" y="1520464"/>
                </a:lnTo>
                <a:lnTo>
                  <a:pt x="60808" y="1531711"/>
                </a:lnTo>
                <a:lnTo>
                  <a:pt x="45537" y="1545153"/>
                </a:lnTo>
                <a:lnTo>
                  <a:pt x="32095" y="1560424"/>
                </a:lnTo>
                <a:lnTo>
                  <a:pt x="20848" y="1577340"/>
                </a:lnTo>
                <a:lnTo>
                  <a:pt x="11796" y="1595537"/>
                </a:lnTo>
                <a:lnTo>
                  <a:pt x="5304" y="1614830"/>
                </a:lnTo>
                <a:lnTo>
                  <a:pt x="1372" y="1634764"/>
                </a:lnTo>
                <a:lnTo>
                  <a:pt x="0" y="1655064"/>
                </a:lnTo>
                <a:lnTo>
                  <a:pt x="0" y="1965960"/>
                </a:lnTo>
                <a:lnTo>
                  <a:pt x="1372" y="1986260"/>
                </a:lnTo>
                <a:lnTo>
                  <a:pt x="5304" y="2006194"/>
                </a:lnTo>
                <a:lnTo>
                  <a:pt x="11796" y="2025487"/>
                </a:lnTo>
                <a:lnTo>
                  <a:pt x="20848" y="2043684"/>
                </a:lnTo>
                <a:lnTo>
                  <a:pt x="32095" y="2060600"/>
                </a:lnTo>
                <a:lnTo>
                  <a:pt x="45537" y="2075871"/>
                </a:lnTo>
                <a:lnTo>
                  <a:pt x="60808" y="2089313"/>
                </a:lnTo>
                <a:lnTo>
                  <a:pt x="77724" y="2100560"/>
                </a:lnTo>
                <a:lnTo>
                  <a:pt x="95921" y="2109612"/>
                </a:lnTo>
                <a:lnTo>
                  <a:pt x="115214" y="2116104"/>
                </a:lnTo>
                <a:lnTo>
                  <a:pt x="135148" y="2120036"/>
                </a:lnTo>
                <a:lnTo>
                  <a:pt x="155448" y="2121408"/>
                </a:lnTo>
                <a:lnTo>
                  <a:pt x="594360" y="2121408"/>
                </a:lnTo>
                <a:lnTo>
                  <a:pt x="614660" y="2120036"/>
                </a:lnTo>
                <a:lnTo>
                  <a:pt x="634594" y="2116104"/>
                </a:lnTo>
                <a:lnTo>
                  <a:pt x="653887" y="2109612"/>
                </a:lnTo>
                <a:lnTo>
                  <a:pt x="672084" y="2100560"/>
                </a:lnTo>
                <a:lnTo>
                  <a:pt x="689000" y="2089313"/>
                </a:lnTo>
                <a:lnTo>
                  <a:pt x="704271" y="2075871"/>
                </a:lnTo>
                <a:lnTo>
                  <a:pt x="717713" y="2060600"/>
                </a:lnTo>
                <a:lnTo>
                  <a:pt x="728960" y="2043684"/>
                </a:lnTo>
                <a:lnTo>
                  <a:pt x="738012" y="2025487"/>
                </a:lnTo>
                <a:lnTo>
                  <a:pt x="744504" y="2006194"/>
                </a:lnTo>
                <a:lnTo>
                  <a:pt x="748436" y="1986260"/>
                </a:lnTo>
                <a:lnTo>
                  <a:pt x="749808" y="1965960"/>
                </a:lnTo>
                <a:lnTo>
                  <a:pt x="749808" y="1655064"/>
                </a:lnTo>
                <a:lnTo>
                  <a:pt x="748436" y="1634764"/>
                </a:lnTo>
                <a:lnTo>
                  <a:pt x="744504" y="1614830"/>
                </a:lnTo>
                <a:lnTo>
                  <a:pt x="738012" y="1595537"/>
                </a:lnTo>
                <a:lnTo>
                  <a:pt x="728960" y="1577340"/>
                </a:lnTo>
                <a:lnTo>
                  <a:pt x="717713" y="1560424"/>
                </a:lnTo>
                <a:lnTo>
                  <a:pt x="704271" y="1545153"/>
                </a:lnTo>
                <a:lnTo>
                  <a:pt x="699973" y="1541313"/>
                </a:lnTo>
                <a:lnTo>
                  <a:pt x="786384" y="1383853"/>
                </a:lnTo>
                <a:lnTo>
                  <a:pt x="872795" y="1541313"/>
                </a:lnTo>
                <a:lnTo>
                  <a:pt x="868497" y="1545153"/>
                </a:lnTo>
                <a:lnTo>
                  <a:pt x="855055" y="1560424"/>
                </a:lnTo>
                <a:lnTo>
                  <a:pt x="843808" y="1577340"/>
                </a:lnTo>
                <a:lnTo>
                  <a:pt x="834756" y="1595537"/>
                </a:lnTo>
                <a:lnTo>
                  <a:pt x="828264" y="1614830"/>
                </a:lnTo>
                <a:lnTo>
                  <a:pt x="824332" y="1634764"/>
                </a:lnTo>
                <a:lnTo>
                  <a:pt x="822960" y="1655064"/>
                </a:lnTo>
                <a:lnTo>
                  <a:pt x="822960" y="1965960"/>
                </a:lnTo>
                <a:lnTo>
                  <a:pt x="824332" y="1986260"/>
                </a:lnTo>
                <a:lnTo>
                  <a:pt x="828264" y="2006194"/>
                </a:lnTo>
                <a:lnTo>
                  <a:pt x="834756" y="2025487"/>
                </a:lnTo>
                <a:lnTo>
                  <a:pt x="843808" y="2043684"/>
                </a:lnTo>
                <a:lnTo>
                  <a:pt x="855055" y="2060600"/>
                </a:lnTo>
                <a:lnTo>
                  <a:pt x="868497" y="2075871"/>
                </a:lnTo>
                <a:lnTo>
                  <a:pt x="883768" y="2089313"/>
                </a:lnTo>
                <a:lnTo>
                  <a:pt x="900684" y="2100560"/>
                </a:lnTo>
                <a:lnTo>
                  <a:pt x="918881" y="2109612"/>
                </a:lnTo>
                <a:lnTo>
                  <a:pt x="922447" y="2110801"/>
                </a:lnTo>
                <a:lnTo>
                  <a:pt x="871789" y="2249424"/>
                </a:lnTo>
                <a:lnTo>
                  <a:pt x="704088" y="2249424"/>
                </a:lnTo>
                <a:lnTo>
                  <a:pt x="683788" y="2250796"/>
                </a:lnTo>
                <a:lnTo>
                  <a:pt x="663854" y="2254728"/>
                </a:lnTo>
                <a:lnTo>
                  <a:pt x="644561" y="2261220"/>
                </a:lnTo>
                <a:lnTo>
                  <a:pt x="626364" y="2270272"/>
                </a:lnTo>
                <a:lnTo>
                  <a:pt x="609448" y="2281519"/>
                </a:lnTo>
                <a:lnTo>
                  <a:pt x="594177" y="2294961"/>
                </a:lnTo>
                <a:lnTo>
                  <a:pt x="580735" y="2310232"/>
                </a:lnTo>
                <a:lnTo>
                  <a:pt x="569488" y="2327148"/>
                </a:lnTo>
                <a:lnTo>
                  <a:pt x="560436" y="2345345"/>
                </a:lnTo>
                <a:lnTo>
                  <a:pt x="553944" y="2364638"/>
                </a:lnTo>
                <a:lnTo>
                  <a:pt x="550012" y="2384572"/>
                </a:lnTo>
                <a:lnTo>
                  <a:pt x="548640" y="2404872"/>
                </a:lnTo>
                <a:lnTo>
                  <a:pt x="548640" y="2715768"/>
                </a:lnTo>
                <a:lnTo>
                  <a:pt x="550012" y="2736068"/>
                </a:lnTo>
                <a:lnTo>
                  <a:pt x="553944" y="2756002"/>
                </a:lnTo>
                <a:lnTo>
                  <a:pt x="560436" y="2775295"/>
                </a:lnTo>
                <a:lnTo>
                  <a:pt x="569488" y="2793492"/>
                </a:lnTo>
                <a:lnTo>
                  <a:pt x="580735" y="2810408"/>
                </a:lnTo>
                <a:lnTo>
                  <a:pt x="594177" y="2825679"/>
                </a:lnTo>
                <a:lnTo>
                  <a:pt x="609448" y="2839121"/>
                </a:lnTo>
                <a:lnTo>
                  <a:pt x="626364" y="2850368"/>
                </a:lnTo>
                <a:lnTo>
                  <a:pt x="644561" y="2859420"/>
                </a:lnTo>
                <a:lnTo>
                  <a:pt x="663854" y="2865912"/>
                </a:lnTo>
                <a:lnTo>
                  <a:pt x="683788" y="2869844"/>
                </a:lnTo>
                <a:lnTo>
                  <a:pt x="704088" y="2871216"/>
                </a:lnTo>
                <a:lnTo>
                  <a:pt x="1143000" y="2871216"/>
                </a:lnTo>
                <a:lnTo>
                  <a:pt x="1163300" y="2869844"/>
                </a:lnTo>
                <a:lnTo>
                  <a:pt x="1183234" y="2865912"/>
                </a:lnTo>
                <a:lnTo>
                  <a:pt x="1202527" y="2859420"/>
                </a:lnTo>
                <a:lnTo>
                  <a:pt x="1220724" y="2850368"/>
                </a:lnTo>
                <a:lnTo>
                  <a:pt x="1237640" y="2839121"/>
                </a:lnTo>
                <a:lnTo>
                  <a:pt x="1252911" y="2825679"/>
                </a:lnTo>
                <a:lnTo>
                  <a:pt x="1266353" y="2810408"/>
                </a:lnTo>
                <a:lnTo>
                  <a:pt x="1277600" y="2793492"/>
                </a:lnTo>
                <a:lnTo>
                  <a:pt x="1286652" y="2775295"/>
                </a:lnTo>
                <a:lnTo>
                  <a:pt x="1293144" y="2756002"/>
                </a:lnTo>
                <a:lnTo>
                  <a:pt x="1297076" y="2736068"/>
                </a:lnTo>
                <a:lnTo>
                  <a:pt x="1298448" y="2715768"/>
                </a:lnTo>
                <a:lnTo>
                  <a:pt x="1298448" y="2404872"/>
                </a:lnTo>
                <a:lnTo>
                  <a:pt x="1297076" y="2384572"/>
                </a:lnTo>
                <a:lnTo>
                  <a:pt x="1293144" y="2364638"/>
                </a:lnTo>
                <a:lnTo>
                  <a:pt x="1286652" y="2345345"/>
                </a:lnTo>
                <a:lnTo>
                  <a:pt x="1277600" y="2327148"/>
                </a:lnTo>
                <a:lnTo>
                  <a:pt x="1266353" y="2310232"/>
                </a:lnTo>
                <a:lnTo>
                  <a:pt x="1252911" y="2294961"/>
                </a:lnTo>
                <a:lnTo>
                  <a:pt x="1237640" y="2281519"/>
                </a:lnTo>
                <a:lnTo>
                  <a:pt x="1220724" y="2270272"/>
                </a:lnTo>
                <a:lnTo>
                  <a:pt x="1202527" y="2261220"/>
                </a:lnTo>
                <a:lnTo>
                  <a:pt x="1198961" y="2260031"/>
                </a:lnTo>
                <a:lnTo>
                  <a:pt x="1249619" y="2121408"/>
                </a:lnTo>
                <a:lnTo>
                  <a:pt x="1417320" y="2121408"/>
                </a:lnTo>
                <a:lnTo>
                  <a:pt x="1437620" y="2120036"/>
                </a:lnTo>
                <a:lnTo>
                  <a:pt x="1457554" y="2116104"/>
                </a:lnTo>
                <a:lnTo>
                  <a:pt x="1476847" y="2109612"/>
                </a:lnTo>
                <a:lnTo>
                  <a:pt x="1495044" y="2100560"/>
                </a:lnTo>
                <a:lnTo>
                  <a:pt x="1511960" y="2089313"/>
                </a:lnTo>
                <a:lnTo>
                  <a:pt x="1527231" y="2075871"/>
                </a:lnTo>
                <a:lnTo>
                  <a:pt x="1540673" y="2060600"/>
                </a:lnTo>
                <a:lnTo>
                  <a:pt x="1551920" y="2043684"/>
                </a:lnTo>
                <a:lnTo>
                  <a:pt x="1560972" y="2025487"/>
                </a:lnTo>
                <a:lnTo>
                  <a:pt x="1567464" y="2006194"/>
                </a:lnTo>
                <a:lnTo>
                  <a:pt x="1571396" y="1986260"/>
                </a:lnTo>
                <a:lnTo>
                  <a:pt x="1572768" y="1965960"/>
                </a:lnTo>
                <a:lnTo>
                  <a:pt x="1572768" y="1655064"/>
                </a:lnTo>
                <a:lnTo>
                  <a:pt x="1571396" y="1634764"/>
                </a:lnTo>
                <a:lnTo>
                  <a:pt x="1567464" y="1614830"/>
                </a:lnTo>
                <a:lnTo>
                  <a:pt x="1560972" y="1595537"/>
                </a:lnTo>
                <a:lnTo>
                  <a:pt x="1551920" y="1577340"/>
                </a:lnTo>
                <a:lnTo>
                  <a:pt x="1540673" y="1560424"/>
                </a:lnTo>
                <a:lnTo>
                  <a:pt x="1527231" y="1545153"/>
                </a:lnTo>
                <a:lnTo>
                  <a:pt x="1511960" y="1531711"/>
                </a:lnTo>
                <a:lnTo>
                  <a:pt x="1495044" y="1520464"/>
                </a:lnTo>
                <a:lnTo>
                  <a:pt x="1476847" y="1511412"/>
                </a:lnTo>
                <a:lnTo>
                  <a:pt x="1457554" y="1504920"/>
                </a:lnTo>
                <a:lnTo>
                  <a:pt x="1437620" y="1500988"/>
                </a:lnTo>
                <a:lnTo>
                  <a:pt x="1417320" y="1499616"/>
                </a:lnTo>
                <a:lnTo>
                  <a:pt x="1204539" y="1499616"/>
                </a:lnTo>
                <a:lnTo>
                  <a:pt x="1111453" y="1329903"/>
                </a:lnTo>
                <a:lnTo>
                  <a:pt x="1115751" y="1326063"/>
                </a:lnTo>
                <a:lnTo>
                  <a:pt x="1129193" y="1310792"/>
                </a:lnTo>
                <a:lnTo>
                  <a:pt x="1140440" y="1293876"/>
                </a:lnTo>
                <a:lnTo>
                  <a:pt x="1149492" y="1275679"/>
                </a:lnTo>
                <a:lnTo>
                  <a:pt x="1155984" y="1256386"/>
                </a:lnTo>
                <a:lnTo>
                  <a:pt x="1159916" y="1236452"/>
                </a:lnTo>
                <a:lnTo>
                  <a:pt x="1161288" y="1216152"/>
                </a:lnTo>
                <a:lnTo>
                  <a:pt x="1161288" y="929396"/>
                </a:lnTo>
                <a:lnTo>
                  <a:pt x="1498884" y="621792"/>
                </a:lnTo>
                <a:lnTo>
                  <a:pt x="1719804" y="621792"/>
                </a:lnTo>
                <a:lnTo>
                  <a:pt x="2057400" y="929396"/>
                </a:lnTo>
                <a:lnTo>
                  <a:pt x="2057400" y="1216152"/>
                </a:lnTo>
                <a:lnTo>
                  <a:pt x="2058772" y="1236452"/>
                </a:lnTo>
                <a:lnTo>
                  <a:pt x="2062704" y="1256386"/>
                </a:lnTo>
                <a:lnTo>
                  <a:pt x="2069196" y="1275679"/>
                </a:lnTo>
                <a:lnTo>
                  <a:pt x="2078248" y="1293876"/>
                </a:lnTo>
                <a:lnTo>
                  <a:pt x="2089495" y="1310792"/>
                </a:lnTo>
                <a:lnTo>
                  <a:pt x="2102937" y="1326063"/>
                </a:lnTo>
                <a:lnTo>
                  <a:pt x="2107235" y="1329903"/>
                </a:lnTo>
                <a:lnTo>
                  <a:pt x="2014149" y="1499616"/>
                </a:lnTo>
                <a:lnTo>
                  <a:pt x="1801368" y="1499616"/>
                </a:lnTo>
                <a:lnTo>
                  <a:pt x="1781068" y="1500988"/>
                </a:lnTo>
                <a:lnTo>
                  <a:pt x="1761134" y="1504920"/>
                </a:lnTo>
                <a:lnTo>
                  <a:pt x="1741841" y="1511412"/>
                </a:lnTo>
                <a:lnTo>
                  <a:pt x="1723644" y="1520464"/>
                </a:lnTo>
                <a:lnTo>
                  <a:pt x="1706728" y="1531711"/>
                </a:lnTo>
                <a:lnTo>
                  <a:pt x="1691457" y="1545153"/>
                </a:lnTo>
                <a:lnTo>
                  <a:pt x="1678015" y="1560424"/>
                </a:lnTo>
                <a:lnTo>
                  <a:pt x="1666768" y="1577340"/>
                </a:lnTo>
                <a:lnTo>
                  <a:pt x="1657716" y="1595537"/>
                </a:lnTo>
                <a:lnTo>
                  <a:pt x="1651224" y="1614830"/>
                </a:lnTo>
                <a:lnTo>
                  <a:pt x="1647292" y="1634764"/>
                </a:lnTo>
                <a:lnTo>
                  <a:pt x="1645920" y="1655064"/>
                </a:lnTo>
                <a:lnTo>
                  <a:pt x="1645920" y="1965960"/>
                </a:lnTo>
                <a:lnTo>
                  <a:pt x="1647292" y="1986260"/>
                </a:lnTo>
                <a:lnTo>
                  <a:pt x="1651224" y="2006194"/>
                </a:lnTo>
                <a:lnTo>
                  <a:pt x="1657716" y="2025487"/>
                </a:lnTo>
                <a:lnTo>
                  <a:pt x="1666768" y="2043684"/>
                </a:lnTo>
                <a:lnTo>
                  <a:pt x="1678015" y="2060600"/>
                </a:lnTo>
                <a:lnTo>
                  <a:pt x="1691457" y="2075871"/>
                </a:lnTo>
                <a:lnTo>
                  <a:pt x="1706728" y="2089313"/>
                </a:lnTo>
                <a:lnTo>
                  <a:pt x="1723644" y="2100560"/>
                </a:lnTo>
                <a:lnTo>
                  <a:pt x="1741841" y="2109612"/>
                </a:lnTo>
                <a:lnTo>
                  <a:pt x="1761134" y="2116104"/>
                </a:lnTo>
                <a:lnTo>
                  <a:pt x="1781068" y="2120036"/>
                </a:lnTo>
                <a:lnTo>
                  <a:pt x="1801368" y="2121408"/>
                </a:lnTo>
                <a:lnTo>
                  <a:pt x="2240280" y="2121408"/>
                </a:lnTo>
                <a:lnTo>
                  <a:pt x="2260580" y="2120036"/>
                </a:lnTo>
                <a:lnTo>
                  <a:pt x="2280514" y="2116104"/>
                </a:lnTo>
                <a:lnTo>
                  <a:pt x="2299807" y="2109612"/>
                </a:lnTo>
                <a:lnTo>
                  <a:pt x="2318004" y="2100560"/>
                </a:lnTo>
                <a:lnTo>
                  <a:pt x="2334920" y="2089313"/>
                </a:lnTo>
                <a:lnTo>
                  <a:pt x="2350191" y="2075871"/>
                </a:lnTo>
                <a:lnTo>
                  <a:pt x="2363633" y="2060600"/>
                </a:lnTo>
                <a:lnTo>
                  <a:pt x="2374880" y="2043684"/>
                </a:lnTo>
                <a:lnTo>
                  <a:pt x="2383932" y="2025487"/>
                </a:lnTo>
                <a:lnTo>
                  <a:pt x="2390424" y="2006194"/>
                </a:lnTo>
                <a:lnTo>
                  <a:pt x="2394356" y="1986260"/>
                </a:lnTo>
                <a:lnTo>
                  <a:pt x="2395728" y="1965960"/>
                </a:lnTo>
                <a:lnTo>
                  <a:pt x="2395728" y="1655064"/>
                </a:lnTo>
                <a:lnTo>
                  <a:pt x="2394356" y="1634764"/>
                </a:lnTo>
                <a:lnTo>
                  <a:pt x="2390424" y="1614830"/>
                </a:lnTo>
                <a:lnTo>
                  <a:pt x="2383932" y="1595537"/>
                </a:lnTo>
                <a:lnTo>
                  <a:pt x="2374880" y="1577340"/>
                </a:lnTo>
                <a:lnTo>
                  <a:pt x="2363633" y="1560424"/>
                </a:lnTo>
                <a:lnTo>
                  <a:pt x="2350191" y="1545153"/>
                </a:lnTo>
                <a:lnTo>
                  <a:pt x="2345893" y="1541313"/>
                </a:lnTo>
                <a:lnTo>
                  <a:pt x="2432304" y="1383853"/>
                </a:lnTo>
                <a:lnTo>
                  <a:pt x="2518715" y="1541313"/>
                </a:lnTo>
                <a:lnTo>
                  <a:pt x="2514417" y="1545153"/>
                </a:lnTo>
                <a:lnTo>
                  <a:pt x="2500975" y="1560424"/>
                </a:lnTo>
                <a:lnTo>
                  <a:pt x="2489728" y="1577340"/>
                </a:lnTo>
                <a:lnTo>
                  <a:pt x="2480676" y="1595537"/>
                </a:lnTo>
                <a:lnTo>
                  <a:pt x="2474184" y="1614830"/>
                </a:lnTo>
                <a:lnTo>
                  <a:pt x="2470252" y="1634764"/>
                </a:lnTo>
                <a:lnTo>
                  <a:pt x="2468880" y="1655064"/>
                </a:lnTo>
                <a:lnTo>
                  <a:pt x="2468880" y="1965960"/>
                </a:lnTo>
                <a:lnTo>
                  <a:pt x="2470252" y="1986260"/>
                </a:lnTo>
                <a:lnTo>
                  <a:pt x="2474184" y="2006194"/>
                </a:lnTo>
                <a:lnTo>
                  <a:pt x="2480676" y="2025487"/>
                </a:lnTo>
                <a:lnTo>
                  <a:pt x="2489728" y="2043684"/>
                </a:lnTo>
                <a:lnTo>
                  <a:pt x="2500975" y="2060600"/>
                </a:lnTo>
                <a:lnTo>
                  <a:pt x="2514417" y="2075871"/>
                </a:lnTo>
                <a:lnTo>
                  <a:pt x="2529688" y="2089313"/>
                </a:lnTo>
                <a:lnTo>
                  <a:pt x="2546604" y="2100560"/>
                </a:lnTo>
                <a:lnTo>
                  <a:pt x="2564801" y="2109612"/>
                </a:lnTo>
                <a:lnTo>
                  <a:pt x="2584094" y="2116104"/>
                </a:lnTo>
                <a:lnTo>
                  <a:pt x="2604028" y="2120036"/>
                </a:lnTo>
                <a:lnTo>
                  <a:pt x="2624328" y="2121408"/>
                </a:lnTo>
                <a:lnTo>
                  <a:pt x="3063240" y="2121408"/>
                </a:lnTo>
                <a:lnTo>
                  <a:pt x="3083540" y="2120036"/>
                </a:lnTo>
                <a:lnTo>
                  <a:pt x="3103474" y="2116104"/>
                </a:lnTo>
                <a:lnTo>
                  <a:pt x="3122767" y="2109612"/>
                </a:lnTo>
                <a:lnTo>
                  <a:pt x="3140964" y="2100560"/>
                </a:lnTo>
                <a:lnTo>
                  <a:pt x="3157880" y="2089313"/>
                </a:lnTo>
                <a:lnTo>
                  <a:pt x="3173151" y="2075871"/>
                </a:lnTo>
                <a:lnTo>
                  <a:pt x="3186593" y="2060600"/>
                </a:lnTo>
                <a:lnTo>
                  <a:pt x="3197840" y="2043684"/>
                </a:lnTo>
                <a:lnTo>
                  <a:pt x="3206892" y="2025487"/>
                </a:lnTo>
                <a:lnTo>
                  <a:pt x="3213384" y="2006194"/>
                </a:lnTo>
                <a:lnTo>
                  <a:pt x="3217316" y="1986260"/>
                </a:lnTo>
                <a:lnTo>
                  <a:pt x="3218688" y="1965960"/>
                </a:lnTo>
                <a:lnTo>
                  <a:pt x="3218688" y="1655064"/>
                </a:lnTo>
                <a:lnTo>
                  <a:pt x="3217316" y="1634764"/>
                </a:lnTo>
                <a:lnTo>
                  <a:pt x="3213384" y="1614830"/>
                </a:lnTo>
                <a:lnTo>
                  <a:pt x="3206892" y="1595537"/>
                </a:lnTo>
                <a:lnTo>
                  <a:pt x="3197840" y="1577340"/>
                </a:lnTo>
                <a:lnTo>
                  <a:pt x="3186593" y="1560424"/>
                </a:lnTo>
                <a:lnTo>
                  <a:pt x="3173151" y="1545153"/>
                </a:lnTo>
                <a:lnTo>
                  <a:pt x="3157880" y="1531711"/>
                </a:lnTo>
                <a:lnTo>
                  <a:pt x="3140964" y="1520464"/>
                </a:lnTo>
                <a:lnTo>
                  <a:pt x="3122767" y="1511412"/>
                </a:lnTo>
                <a:lnTo>
                  <a:pt x="3103474" y="1504920"/>
                </a:lnTo>
                <a:lnTo>
                  <a:pt x="3083540" y="1500988"/>
                </a:lnTo>
                <a:lnTo>
                  <a:pt x="3063240" y="1499616"/>
                </a:lnTo>
                <a:lnTo>
                  <a:pt x="2850459" y="1499616"/>
                </a:lnTo>
                <a:lnTo>
                  <a:pt x="2757373" y="1329903"/>
                </a:lnTo>
                <a:lnTo>
                  <a:pt x="2761671" y="1326063"/>
                </a:lnTo>
                <a:lnTo>
                  <a:pt x="2775113" y="1310792"/>
                </a:lnTo>
                <a:lnTo>
                  <a:pt x="2786360" y="1293876"/>
                </a:lnTo>
                <a:lnTo>
                  <a:pt x="2795412" y="1275679"/>
                </a:lnTo>
                <a:lnTo>
                  <a:pt x="2801904" y="1256386"/>
                </a:lnTo>
                <a:lnTo>
                  <a:pt x="2805836" y="1236452"/>
                </a:lnTo>
                <a:lnTo>
                  <a:pt x="2807208" y="1216152"/>
                </a:lnTo>
                <a:lnTo>
                  <a:pt x="2807208" y="905256"/>
                </a:lnTo>
                <a:lnTo>
                  <a:pt x="2805836" y="884956"/>
                </a:lnTo>
                <a:lnTo>
                  <a:pt x="2801904" y="865022"/>
                </a:lnTo>
                <a:lnTo>
                  <a:pt x="2795412" y="845729"/>
                </a:lnTo>
                <a:lnTo>
                  <a:pt x="2786360" y="827532"/>
                </a:lnTo>
                <a:lnTo>
                  <a:pt x="2775113" y="810616"/>
                </a:lnTo>
                <a:lnTo>
                  <a:pt x="2761671" y="795345"/>
                </a:lnTo>
                <a:lnTo>
                  <a:pt x="2746400" y="781903"/>
                </a:lnTo>
                <a:lnTo>
                  <a:pt x="2729484" y="770656"/>
                </a:lnTo>
                <a:lnTo>
                  <a:pt x="2711287" y="761604"/>
                </a:lnTo>
                <a:lnTo>
                  <a:pt x="2691994" y="755112"/>
                </a:lnTo>
                <a:lnTo>
                  <a:pt x="2672060" y="751180"/>
                </a:lnTo>
                <a:lnTo>
                  <a:pt x="2651760" y="749808"/>
                </a:lnTo>
                <a:lnTo>
                  <a:pt x="2321844" y="749808"/>
                </a:lnTo>
                <a:lnTo>
                  <a:pt x="1984248" y="442204"/>
                </a:lnTo>
                <a:lnTo>
                  <a:pt x="1984248" y="155448"/>
                </a:lnTo>
                <a:lnTo>
                  <a:pt x="1982876" y="135148"/>
                </a:lnTo>
                <a:lnTo>
                  <a:pt x="1978944" y="115214"/>
                </a:lnTo>
                <a:lnTo>
                  <a:pt x="1972452" y="95921"/>
                </a:lnTo>
              </a:path>
            </a:pathLst>
          </a:custGeom>
          <a:ln w="15875">
            <a:solidFill>
              <a:srgbClr val="A8A8C0"/>
            </a:solidFill>
            <a:prstDash val="dash"/>
            <a:tailEnd type="triangle"/>
          </a:ln>
        </p:spPr>
      </p:sp>
      <p:sp>
        <p:nvSpPr>
          <p:cNvPr id="43" name="Shape 40"/>
          <p:cNvSpPr/>
          <p:nvPr/>
        </p:nvSpPr>
        <p:spPr>
          <a:xfrm flipH="1">
            <a:off x="5349240" y="2029968"/>
            <a:ext cx="822960" cy="438912"/>
          </a:xfrm>
          <a:prstGeom prst="line">
            <a:avLst/>
          </a:prstGeom>
          <a:noFill/>
          <a:ln w="19050">
            <a:solidFill>
              <a:srgbClr val="9A9AB5"/>
            </a:solidFill>
            <a:prstDash val="solid"/>
          </a:ln>
        </p:spPr>
      </p:sp>
      <p:sp>
        <p:nvSpPr>
          <p:cNvPr id="44" name="Shape 41"/>
          <p:cNvSpPr/>
          <p:nvPr/>
        </p:nvSpPr>
        <p:spPr>
          <a:xfrm>
            <a:off x="6172200" y="2029968"/>
            <a:ext cx="822960" cy="438912"/>
          </a:xfrm>
          <a:prstGeom prst="line">
            <a:avLst/>
          </a:prstGeom>
          <a:noFill/>
          <a:ln w="19050">
            <a:solidFill>
              <a:srgbClr val="9A9AB5"/>
            </a:solidFill>
            <a:prstDash val="solid"/>
          </a:ln>
        </p:spPr>
      </p:sp>
      <p:sp>
        <p:nvSpPr>
          <p:cNvPr id="45" name="Shape 42"/>
          <p:cNvSpPr/>
          <p:nvPr/>
        </p:nvSpPr>
        <p:spPr>
          <a:xfrm flipH="1">
            <a:off x="4937760" y="2779776"/>
            <a:ext cx="411480" cy="438912"/>
          </a:xfrm>
          <a:prstGeom prst="line">
            <a:avLst/>
          </a:prstGeom>
          <a:noFill/>
          <a:ln w="19050">
            <a:solidFill>
              <a:srgbClr val="9A9AB5"/>
            </a:solidFill>
            <a:prstDash val="solid"/>
          </a:ln>
        </p:spPr>
      </p:sp>
      <p:sp>
        <p:nvSpPr>
          <p:cNvPr id="46" name="Shape 43"/>
          <p:cNvSpPr/>
          <p:nvPr/>
        </p:nvSpPr>
        <p:spPr>
          <a:xfrm>
            <a:off x="5349240" y="2779776"/>
            <a:ext cx="411480" cy="438912"/>
          </a:xfrm>
          <a:prstGeom prst="line">
            <a:avLst/>
          </a:prstGeom>
          <a:noFill/>
          <a:ln w="19050">
            <a:solidFill>
              <a:srgbClr val="9A9AB5"/>
            </a:solidFill>
            <a:prstDash val="solid"/>
          </a:ln>
        </p:spPr>
      </p:sp>
      <p:sp>
        <p:nvSpPr>
          <p:cNvPr id="47" name="Shape 44"/>
          <p:cNvSpPr/>
          <p:nvPr/>
        </p:nvSpPr>
        <p:spPr>
          <a:xfrm flipH="1">
            <a:off x="6583680" y="2779776"/>
            <a:ext cx="411480" cy="438912"/>
          </a:xfrm>
          <a:prstGeom prst="line">
            <a:avLst/>
          </a:prstGeom>
          <a:noFill/>
          <a:ln w="19050">
            <a:solidFill>
              <a:srgbClr val="9A9AB5"/>
            </a:solidFill>
            <a:prstDash val="solid"/>
          </a:ln>
        </p:spPr>
      </p:sp>
      <p:sp>
        <p:nvSpPr>
          <p:cNvPr id="48" name="Shape 45"/>
          <p:cNvSpPr/>
          <p:nvPr/>
        </p:nvSpPr>
        <p:spPr>
          <a:xfrm>
            <a:off x="6995160" y="2779776"/>
            <a:ext cx="411480" cy="438912"/>
          </a:xfrm>
          <a:prstGeom prst="line">
            <a:avLst/>
          </a:prstGeom>
          <a:noFill/>
          <a:ln w="19050">
            <a:solidFill>
              <a:srgbClr val="9A9AB5"/>
            </a:solidFill>
            <a:prstDash val="solid"/>
          </a:ln>
        </p:spPr>
      </p:sp>
      <p:sp>
        <p:nvSpPr>
          <p:cNvPr id="49" name="Shape 46"/>
          <p:cNvSpPr/>
          <p:nvPr/>
        </p:nvSpPr>
        <p:spPr>
          <a:xfrm flipH="1">
            <a:off x="5486400" y="3529584"/>
            <a:ext cx="274320" cy="438912"/>
          </a:xfrm>
          <a:prstGeom prst="line">
            <a:avLst/>
          </a:prstGeom>
          <a:noFill/>
          <a:ln w="19050">
            <a:solidFill>
              <a:srgbClr val="9A9AB5"/>
            </a:solidFill>
            <a:prstDash val="solid"/>
          </a:ln>
        </p:spPr>
      </p:sp>
      <p:sp>
        <p:nvSpPr>
          <p:cNvPr id="50" name="Text 47"/>
          <p:cNvSpPr/>
          <p:nvPr/>
        </p:nvSpPr>
        <p:spPr>
          <a:xfrm>
            <a:off x="5952744" y="1719072"/>
            <a:ext cx="438912" cy="310896"/>
          </a:xfrm>
          <a:prstGeom prst="roundRect">
            <a:avLst>
              <a:gd name="adj" fmla="val 23529"/>
            </a:avLst>
          </a:prstGeom>
          <a:solidFill>
            <a:srgbClr val="E9E8F5"/>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50</a:t>
            </a:r>
            <a:endParaRPr lang="en-US" sz="1200" dirty="0"/>
          </a:p>
        </p:txBody>
      </p:sp>
      <p:sp>
        <p:nvSpPr>
          <p:cNvPr id="51" name="Shape 48"/>
          <p:cNvSpPr/>
          <p:nvPr/>
        </p:nvSpPr>
        <p:spPr>
          <a:xfrm>
            <a:off x="6108192" y="1965960"/>
            <a:ext cx="128016" cy="128016"/>
          </a:xfrm>
          <a:prstGeom prst="ellipse">
            <a:avLst/>
          </a:prstGeom>
          <a:solidFill>
            <a:srgbClr val="D9822B"/>
          </a:solidFill>
          <a:ln w="12700">
            <a:solidFill>
              <a:srgbClr val="FFFFFF"/>
            </a:solidFill>
            <a:prstDash val="solid"/>
          </a:ln>
        </p:spPr>
      </p:sp>
      <p:sp>
        <p:nvSpPr>
          <p:cNvPr id="52" name="Text 49"/>
          <p:cNvSpPr/>
          <p:nvPr/>
        </p:nvSpPr>
        <p:spPr>
          <a:xfrm>
            <a:off x="5792724" y="1546250"/>
            <a:ext cx="246888" cy="246888"/>
          </a:xfrm>
          <a:prstGeom prst="ellipse">
            <a:avLst/>
          </a:prstGeom>
          <a:solidFill>
            <a:srgbClr val="D9822B"/>
          </a:solidFill>
          <a:ln w="12700">
            <a:solidFill>
              <a:srgbClr val="FFFFFF"/>
            </a:solidFill>
          </a:ln>
        </p:spPr>
        <p:txBody>
          <a:bodyPr wrap="square" lIns="0" tIns="0" rIns="0" bIns="0" rtlCol="0" anchor="ctr"/>
          <a:lstStyle/>
          <a:p>
            <a:pPr algn="ctr" indent="0" marL="0">
              <a:buNone/>
            </a:pPr>
            <a:r>
              <a:rPr lang="en-US" sz="1000" b="1" dirty="0">
                <a:solidFill>
                  <a:srgbClr val="FFFFFF"/>
                </a:solidFill>
                <a:latin typeface="Quicksand" pitchFamily="34" charset="0"/>
                <a:ea typeface="Quicksand" pitchFamily="34" charset="-122"/>
                <a:cs typeface="Quicksand" pitchFamily="34" charset="-120"/>
              </a:rPr>
              <a:t>5</a:t>
            </a:r>
            <a:endParaRPr lang="en-US" sz="1000" dirty="0"/>
          </a:p>
        </p:txBody>
      </p:sp>
      <p:sp>
        <p:nvSpPr>
          <p:cNvPr id="53" name="Text 50"/>
          <p:cNvSpPr/>
          <p:nvPr/>
        </p:nvSpPr>
        <p:spPr>
          <a:xfrm>
            <a:off x="5129784" y="2468880"/>
            <a:ext cx="438912" cy="310896"/>
          </a:xfrm>
          <a:prstGeom prst="roundRect">
            <a:avLst>
              <a:gd name="adj" fmla="val 23529"/>
            </a:avLst>
          </a:prstGeom>
          <a:solidFill>
            <a:srgbClr val="E9E8F5"/>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30</a:t>
            </a:r>
            <a:endParaRPr lang="en-US" sz="1200" dirty="0"/>
          </a:p>
        </p:txBody>
      </p:sp>
      <p:sp>
        <p:nvSpPr>
          <p:cNvPr id="54" name="Shape 51"/>
          <p:cNvSpPr/>
          <p:nvPr/>
        </p:nvSpPr>
        <p:spPr>
          <a:xfrm>
            <a:off x="5285232" y="2715768"/>
            <a:ext cx="128016" cy="128016"/>
          </a:xfrm>
          <a:prstGeom prst="ellipse">
            <a:avLst/>
          </a:prstGeom>
          <a:solidFill>
            <a:srgbClr val="D9822B"/>
          </a:solidFill>
          <a:ln w="12700">
            <a:solidFill>
              <a:srgbClr val="FFFFFF"/>
            </a:solidFill>
            <a:prstDash val="solid"/>
          </a:ln>
        </p:spPr>
      </p:sp>
      <p:sp>
        <p:nvSpPr>
          <p:cNvPr id="55" name="Text 52"/>
          <p:cNvSpPr/>
          <p:nvPr/>
        </p:nvSpPr>
        <p:spPr>
          <a:xfrm>
            <a:off x="4969764" y="2296058"/>
            <a:ext cx="246888" cy="246888"/>
          </a:xfrm>
          <a:prstGeom prst="ellipse">
            <a:avLst/>
          </a:prstGeom>
          <a:solidFill>
            <a:srgbClr val="D9822B"/>
          </a:solidFill>
          <a:ln w="12700">
            <a:solidFill>
              <a:srgbClr val="FFFFFF"/>
            </a:solidFill>
          </a:ln>
        </p:spPr>
        <p:txBody>
          <a:bodyPr wrap="square" lIns="0" tIns="0" rIns="0" bIns="0" rtlCol="0" anchor="ctr"/>
          <a:lstStyle/>
          <a:p>
            <a:pPr algn="ctr" indent="0" marL="0">
              <a:buNone/>
            </a:pPr>
            <a:r>
              <a:rPr lang="en-US" sz="1000" b="1" dirty="0">
                <a:solidFill>
                  <a:srgbClr val="FFFFFF"/>
                </a:solidFill>
                <a:latin typeface="Quicksand" pitchFamily="34" charset="0"/>
                <a:ea typeface="Quicksand" pitchFamily="34" charset="-122"/>
                <a:cs typeface="Quicksand" pitchFamily="34" charset="-120"/>
              </a:rPr>
              <a:t>2</a:t>
            </a:r>
            <a:endParaRPr lang="en-US" sz="1000" dirty="0"/>
          </a:p>
        </p:txBody>
      </p:sp>
      <p:sp>
        <p:nvSpPr>
          <p:cNvPr id="56" name="Text 53"/>
          <p:cNvSpPr/>
          <p:nvPr/>
        </p:nvSpPr>
        <p:spPr>
          <a:xfrm>
            <a:off x="6775704" y="2468880"/>
            <a:ext cx="438912" cy="310896"/>
          </a:xfrm>
          <a:prstGeom prst="roundRect">
            <a:avLst>
              <a:gd name="adj" fmla="val 23529"/>
            </a:avLst>
          </a:prstGeom>
          <a:solidFill>
            <a:srgbClr val="E9E8F5"/>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70</a:t>
            </a:r>
            <a:endParaRPr lang="en-US" sz="1200" dirty="0"/>
          </a:p>
        </p:txBody>
      </p:sp>
      <p:sp>
        <p:nvSpPr>
          <p:cNvPr id="57" name="Shape 54"/>
          <p:cNvSpPr/>
          <p:nvPr/>
        </p:nvSpPr>
        <p:spPr>
          <a:xfrm>
            <a:off x="6931152" y="2715768"/>
            <a:ext cx="128016" cy="128016"/>
          </a:xfrm>
          <a:prstGeom prst="ellipse">
            <a:avLst/>
          </a:prstGeom>
          <a:solidFill>
            <a:srgbClr val="D9822B"/>
          </a:solidFill>
          <a:ln w="12700">
            <a:solidFill>
              <a:srgbClr val="FFFFFF"/>
            </a:solidFill>
            <a:prstDash val="solid"/>
          </a:ln>
        </p:spPr>
      </p:sp>
      <p:sp>
        <p:nvSpPr>
          <p:cNvPr id="58" name="Text 55"/>
          <p:cNvSpPr/>
          <p:nvPr/>
        </p:nvSpPr>
        <p:spPr>
          <a:xfrm>
            <a:off x="6615684" y="2296058"/>
            <a:ext cx="246888" cy="246888"/>
          </a:xfrm>
          <a:prstGeom prst="ellipse">
            <a:avLst/>
          </a:prstGeom>
          <a:solidFill>
            <a:srgbClr val="D9822B"/>
          </a:solidFill>
          <a:ln w="12700">
            <a:solidFill>
              <a:srgbClr val="FFFFFF"/>
            </a:solidFill>
          </a:ln>
        </p:spPr>
        <p:txBody>
          <a:bodyPr wrap="square" lIns="0" tIns="0" rIns="0" bIns="0" rtlCol="0" anchor="ctr"/>
          <a:lstStyle/>
          <a:p>
            <a:pPr algn="ctr" indent="0" marL="0">
              <a:buNone/>
            </a:pPr>
            <a:r>
              <a:rPr lang="en-US" sz="1000" b="1" dirty="0">
                <a:solidFill>
                  <a:srgbClr val="FFFFFF"/>
                </a:solidFill>
                <a:latin typeface="Quicksand" pitchFamily="34" charset="0"/>
                <a:ea typeface="Quicksand" pitchFamily="34" charset="-122"/>
                <a:cs typeface="Quicksand" pitchFamily="34" charset="-120"/>
              </a:rPr>
              <a:t>7</a:t>
            </a:r>
            <a:endParaRPr lang="en-US" sz="1000" dirty="0"/>
          </a:p>
        </p:txBody>
      </p:sp>
      <p:sp>
        <p:nvSpPr>
          <p:cNvPr id="59" name="Text 56"/>
          <p:cNvSpPr/>
          <p:nvPr/>
        </p:nvSpPr>
        <p:spPr>
          <a:xfrm>
            <a:off x="4718304" y="3218688"/>
            <a:ext cx="438912" cy="310896"/>
          </a:xfrm>
          <a:prstGeom prst="roundRect">
            <a:avLst>
              <a:gd name="adj" fmla="val 23529"/>
            </a:avLst>
          </a:prstGeom>
          <a:solidFill>
            <a:srgbClr val="E9E8F5"/>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20</a:t>
            </a:r>
            <a:endParaRPr lang="en-US" sz="1200" dirty="0"/>
          </a:p>
        </p:txBody>
      </p:sp>
      <p:sp>
        <p:nvSpPr>
          <p:cNvPr id="60" name="Shape 57"/>
          <p:cNvSpPr/>
          <p:nvPr/>
        </p:nvSpPr>
        <p:spPr>
          <a:xfrm>
            <a:off x="4873752" y="3465576"/>
            <a:ext cx="128016" cy="128016"/>
          </a:xfrm>
          <a:prstGeom prst="ellipse">
            <a:avLst/>
          </a:prstGeom>
          <a:solidFill>
            <a:srgbClr val="D9822B"/>
          </a:solidFill>
          <a:ln w="12700">
            <a:solidFill>
              <a:srgbClr val="FFFFFF"/>
            </a:solidFill>
            <a:prstDash val="solid"/>
          </a:ln>
        </p:spPr>
      </p:sp>
      <p:sp>
        <p:nvSpPr>
          <p:cNvPr id="61" name="Text 58"/>
          <p:cNvSpPr/>
          <p:nvPr/>
        </p:nvSpPr>
        <p:spPr>
          <a:xfrm>
            <a:off x="4558284" y="3045866"/>
            <a:ext cx="246888" cy="246888"/>
          </a:xfrm>
          <a:prstGeom prst="ellipse">
            <a:avLst/>
          </a:prstGeom>
          <a:solidFill>
            <a:srgbClr val="D9822B"/>
          </a:solidFill>
          <a:ln w="12700">
            <a:solidFill>
              <a:srgbClr val="FFFFFF"/>
            </a:solidFill>
          </a:ln>
        </p:spPr>
        <p:txBody>
          <a:bodyPr wrap="square" lIns="0" tIns="0" rIns="0" bIns="0" rtlCol="0" anchor="ctr"/>
          <a:lstStyle/>
          <a:p>
            <a:pPr algn="ctr" indent="0" marL="0">
              <a:buNone/>
            </a:pPr>
            <a:r>
              <a:rPr lang="en-US" sz="1000" b="1" dirty="0">
                <a:solidFill>
                  <a:srgbClr val="FFFFFF"/>
                </a:solidFill>
                <a:latin typeface="Quicksand" pitchFamily="34" charset="0"/>
                <a:ea typeface="Quicksand" pitchFamily="34" charset="-122"/>
                <a:cs typeface="Quicksand" pitchFamily="34" charset="-120"/>
              </a:rPr>
              <a:t>1</a:t>
            </a:r>
            <a:endParaRPr lang="en-US" sz="1000" dirty="0"/>
          </a:p>
        </p:txBody>
      </p:sp>
      <p:sp>
        <p:nvSpPr>
          <p:cNvPr id="62" name="Text 59"/>
          <p:cNvSpPr/>
          <p:nvPr/>
        </p:nvSpPr>
        <p:spPr>
          <a:xfrm>
            <a:off x="5541264" y="3218688"/>
            <a:ext cx="438912" cy="310896"/>
          </a:xfrm>
          <a:prstGeom prst="roundRect">
            <a:avLst>
              <a:gd name="adj" fmla="val 23529"/>
            </a:avLst>
          </a:prstGeom>
          <a:solidFill>
            <a:srgbClr val="E9E8F5"/>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40</a:t>
            </a:r>
            <a:endParaRPr lang="en-US" sz="1200" dirty="0"/>
          </a:p>
        </p:txBody>
      </p:sp>
      <p:sp>
        <p:nvSpPr>
          <p:cNvPr id="63" name="Shape 60"/>
          <p:cNvSpPr/>
          <p:nvPr/>
        </p:nvSpPr>
        <p:spPr>
          <a:xfrm>
            <a:off x="5696712" y="3465576"/>
            <a:ext cx="128016" cy="128016"/>
          </a:xfrm>
          <a:prstGeom prst="ellipse">
            <a:avLst/>
          </a:prstGeom>
          <a:solidFill>
            <a:srgbClr val="D9822B"/>
          </a:solidFill>
          <a:ln w="12700">
            <a:solidFill>
              <a:srgbClr val="FFFFFF"/>
            </a:solidFill>
            <a:prstDash val="solid"/>
          </a:ln>
        </p:spPr>
      </p:sp>
      <p:sp>
        <p:nvSpPr>
          <p:cNvPr id="64" name="Text 61"/>
          <p:cNvSpPr/>
          <p:nvPr/>
        </p:nvSpPr>
        <p:spPr>
          <a:xfrm>
            <a:off x="5381244" y="3045866"/>
            <a:ext cx="246888" cy="246888"/>
          </a:xfrm>
          <a:prstGeom prst="ellipse">
            <a:avLst/>
          </a:prstGeom>
          <a:solidFill>
            <a:srgbClr val="D9822B"/>
          </a:solidFill>
          <a:ln w="12700">
            <a:solidFill>
              <a:srgbClr val="FFFFFF"/>
            </a:solidFill>
          </a:ln>
        </p:spPr>
        <p:txBody>
          <a:bodyPr wrap="square" lIns="0" tIns="0" rIns="0" bIns="0" rtlCol="0" anchor="ctr"/>
          <a:lstStyle/>
          <a:p>
            <a:pPr algn="ctr" indent="0" marL="0">
              <a:buNone/>
            </a:pPr>
            <a:r>
              <a:rPr lang="en-US" sz="1000" b="1" dirty="0">
                <a:solidFill>
                  <a:srgbClr val="FFFFFF"/>
                </a:solidFill>
                <a:latin typeface="Quicksand" pitchFamily="34" charset="0"/>
                <a:ea typeface="Quicksand" pitchFamily="34" charset="-122"/>
                <a:cs typeface="Quicksand" pitchFamily="34" charset="-120"/>
              </a:rPr>
              <a:t>4</a:t>
            </a:r>
            <a:endParaRPr lang="en-US" sz="1000" dirty="0"/>
          </a:p>
        </p:txBody>
      </p:sp>
      <p:sp>
        <p:nvSpPr>
          <p:cNvPr id="65" name="Text 62"/>
          <p:cNvSpPr/>
          <p:nvPr/>
        </p:nvSpPr>
        <p:spPr>
          <a:xfrm>
            <a:off x="6364224" y="3218688"/>
            <a:ext cx="438912" cy="310896"/>
          </a:xfrm>
          <a:prstGeom prst="roundRect">
            <a:avLst>
              <a:gd name="adj" fmla="val 23529"/>
            </a:avLst>
          </a:prstGeom>
          <a:solidFill>
            <a:srgbClr val="E9E8F5"/>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60</a:t>
            </a:r>
            <a:endParaRPr lang="en-US" sz="1200" dirty="0"/>
          </a:p>
        </p:txBody>
      </p:sp>
      <p:sp>
        <p:nvSpPr>
          <p:cNvPr id="66" name="Shape 63"/>
          <p:cNvSpPr/>
          <p:nvPr/>
        </p:nvSpPr>
        <p:spPr>
          <a:xfrm>
            <a:off x="6519672" y="3465576"/>
            <a:ext cx="128016" cy="128016"/>
          </a:xfrm>
          <a:prstGeom prst="ellipse">
            <a:avLst/>
          </a:prstGeom>
          <a:solidFill>
            <a:srgbClr val="D9822B"/>
          </a:solidFill>
          <a:ln w="12700">
            <a:solidFill>
              <a:srgbClr val="FFFFFF"/>
            </a:solidFill>
            <a:prstDash val="solid"/>
          </a:ln>
        </p:spPr>
      </p:sp>
      <p:sp>
        <p:nvSpPr>
          <p:cNvPr id="67" name="Text 64"/>
          <p:cNvSpPr/>
          <p:nvPr/>
        </p:nvSpPr>
        <p:spPr>
          <a:xfrm>
            <a:off x="6204204" y="3045866"/>
            <a:ext cx="246888" cy="246888"/>
          </a:xfrm>
          <a:prstGeom prst="ellipse">
            <a:avLst/>
          </a:prstGeom>
          <a:solidFill>
            <a:srgbClr val="D9822B"/>
          </a:solidFill>
          <a:ln w="12700">
            <a:solidFill>
              <a:srgbClr val="FFFFFF"/>
            </a:solidFill>
          </a:ln>
        </p:spPr>
        <p:txBody>
          <a:bodyPr wrap="square" lIns="0" tIns="0" rIns="0" bIns="0" rtlCol="0" anchor="ctr"/>
          <a:lstStyle/>
          <a:p>
            <a:pPr algn="ctr" indent="0" marL="0">
              <a:buNone/>
            </a:pPr>
            <a:r>
              <a:rPr lang="en-US" sz="1000" b="1" dirty="0">
                <a:solidFill>
                  <a:srgbClr val="FFFFFF"/>
                </a:solidFill>
                <a:latin typeface="Quicksand" pitchFamily="34" charset="0"/>
                <a:ea typeface="Quicksand" pitchFamily="34" charset="-122"/>
                <a:cs typeface="Quicksand" pitchFamily="34" charset="-120"/>
              </a:rPr>
              <a:t>6</a:t>
            </a:r>
            <a:endParaRPr lang="en-US" sz="1000" dirty="0"/>
          </a:p>
        </p:txBody>
      </p:sp>
      <p:sp>
        <p:nvSpPr>
          <p:cNvPr id="68" name="Text 65"/>
          <p:cNvSpPr/>
          <p:nvPr/>
        </p:nvSpPr>
        <p:spPr>
          <a:xfrm>
            <a:off x="7187184" y="3218688"/>
            <a:ext cx="438912" cy="310896"/>
          </a:xfrm>
          <a:prstGeom prst="roundRect">
            <a:avLst>
              <a:gd name="adj" fmla="val 23529"/>
            </a:avLst>
          </a:prstGeom>
          <a:solidFill>
            <a:srgbClr val="E9E8F5"/>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80</a:t>
            </a:r>
            <a:endParaRPr lang="en-US" sz="1200" dirty="0"/>
          </a:p>
        </p:txBody>
      </p:sp>
      <p:sp>
        <p:nvSpPr>
          <p:cNvPr id="69" name="Shape 66"/>
          <p:cNvSpPr/>
          <p:nvPr/>
        </p:nvSpPr>
        <p:spPr>
          <a:xfrm>
            <a:off x="7342632" y="3465576"/>
            <a:ext cx="128016" cy="128016"/>
          </a:xfrm>
          <a:prstGeom prst="ellipse">
            <a:avLst/>
          </a:prstGeom>
          <a:solidFill>
            <a:srgbClr val="D9822B"/>
          </a:solidFill>
          <a:ln w="12700">
            <a:solidFill>
              <a:srgbClr val="FFFFFF"/>
            </a:solidFill>
            <a:prstDash val="solid"/>
          </a:ln>
        </p:spPr>
      </p:sp>
      <p:sp>
        <p:nvSpPr>
          <p:cNvPr id="70" name="Text 67"/>
          <p:cNvSpPr/>
          <p:nvPr/>
        </p:nvSpPr>
        <p:spPr>
          <a:xfrm>
            <a:off x="7027164" y="3045866"/>
            <a:ext cx="246888" cy="246888"/>
          </a:xfrm>
          <a:prstGeom prst="ellipse">
            <a:avLst/>
          </a:prstGeom>
          <a:solidFill>
            <a:srgbClr val="D9822B"/>
          </a:solidFill>
          <a:ln w="12700">
            <a:solidFill>
              <a:srgbClr val="FFFFFF"/>
            </a:solidFill>
          </a:ln>
        </p:spPr>
        <p:txBody>
          <a:bodyPr wrap="square" lIns="0" tIns="0" rIns="0" bIns="0" rtlCol="0" anchor="ctr"/>
          <a:lstStyle/>
          <a:p>
            <a:pPr algn="ctr" indent="0" marL="0">
              <a:buNone/>
            </a:pPr>
            <a:r>
              <a:rPr lang="en-US" sz="1000" b="1" dirty="0">
                <a:solidFill>
                  <a:srgbClr val="FFFFFF"/>
                </a:solidFill>
                <a:latin typeface="Quicksand" pitchFamily="34" charset="0"/>
                <a:ea typeface="Quicksand" pitchFamily="34" charset="-122"/>
                <a:cs typeface="Quicksand" pitchFamily="34" charset="-120"/>
              </a:rPr>
              <a:t>8</a:t>
            </a:r>
            <a:endParaRPr lang="en-US" sz="1000" dirty="0"/>
          </a:p>
        </p:txBody>
      </p:sp>
      <p:sp>
        <p:nvSpPr>
          <p:cNvPr id="71" name="Text 68"/>
          <p:cNvSpPr/>
          <p:nvPr/>
        </p:nvSpPr>
        <p:spPr>
          <a:xfrm>
            <a:off x="5266944" y="3968496"/>
            <a:ext cx="438912" cy="310896"/>
          </a:xfrm>
          <a:prstGeom prst="roundRect">
            <a:avLst>
              <a:gd name="adj" fmla="val 23529"/>
            </a:avLst>
          </a:prstGeom>
          <a:solidFill>
            <a:srgbClr val="E9E8F5"/>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35</a:t>
            </a:r>
            <a:endParaRPr lang="en-US" sz="1200" dirty="0"/>
          </a:p>
        </p:txBody>
      </p:sp>
      <p:sp>
        <p:nvSpPr>
          <p:cNvPr id="72" name="Shape 69"/>
          <p:cNvSpPr/>
          <p:nvPr/>
        </p:nvSpPr>
        <p:spPr>
          <a:xfrm>
            <a:off x="5422392" y="4215384"/>
            <a:ext cx="128016" cy="128016"/>
          </a:xfrm>
          <a:prstGeom prst="ellipse">
            <a:avLst/>
          </a:prstGeom>
          <a:solidFill>
            <a:srgbClr val="D9822B"/>
          </a:solidFill>
          <a:ln w="12700">
            <a:solidFill>
              <a:srgbClr val="FFFFFF"/>
            </a:solidFill>
            <a:prstDash val="solid"/>
          </a:ln>
        </p:spPr>
      </p:sp>
      <p:sp>
        <p:nvSpPr>
          <p:cNvPr id="73" name="Text 70"/>
          <p:cNvSpPr/>
          <p:nvPr/>
        </p:nvSpPr>
        <p:spPr>
          <a:xfrm>
            <a:off x="5106924" y="3795674"/>
            <a:ext cx="246888" cy="246888"/>
          </a:xfrm>
          <a:prstGeom prst="ellipse">
            <a:avLst/>
          </a:prstGeom>
          <a:solidFill>
            <a:srgbClr val="D9822B"/>
          </a:solidFill>
          <a:ln w="12700">
            <a:solidFill>
              <a:srgbClr val="FFFFFF"/>
            </a:solidFill>
          </a:ln>
        </p:spPr>
        <p:txBody>
          <a:bodyPr wrap="square" lIns="0" tIns="0" rIns="0" bIns="0" rtlCol="0" anchor="ctr"/>
          <a:lstStyle/>
          <a:p>
            <a:pPr algn="ctr" indent="0" marL="0">
              <a:buNone/>
            </a:pPr>
            <a:r>
              <a:rPr lang="en-US" sz="1000" b="1" dirty="0">
                <a:solidFill>
                  <a:srgbClr val="FFFFFF"/>
                </a:solidFill>
                <a:latin typeface="Quicksand" pitchFamily="34" charset="0"/>
                <a:ea typeface="Quicksand" pitchFamily="34" charset="-122"/>
                <a:cs typeface="Quicksand" pitchFamily="34" charset="-120"/>
              </a:rPr>
              <a:t>3</a:t>
            </a:r>
            <a:endParaRPr lang="en-US" sz="1000" dirty="0"/>
          </a:p>
        </p:txBody>
      </p:sp>
      <p:sp>
        <p:nvSpPr>
          <p:cNvPr id="74" name="Text 71"/>
          <p:cNvSpPr txBox="1"/>
          <p:nvPr/>
        </p:nvSpPr>
        <p:spPr>
          <a:xfrm>
            <a:off x="4251960" y="4709160"/>
            <a:ext cx="3611880" cy="411480"/>
          </a:xfrm>
          <a:prstGeom prst="rect">
            <a:avLst/>
          </a:prstGeom>
          <a:noFill/>
          <a:ln/>
        </p:spPr>
        <p:txBody>
          <a:bodyPr wrap="square" lIns="0" tIns="0" rIns="0" bIns="0" rtlCol="0" anchor="ctr"/>
          <a:lstStyle/>
          <a:p>
            <a:pPr algn="ctr" indent="0" marL="0">
              <a:buNone/>
            </a:pPr>
            <a:r>
              <a:rPr lang="en-US" sz="1600" b="1" dirty="0">
                <a:solidFill>
                  <a:srgbClr val="D9822B"/>
                </a:solidFill>
                <a:latin typeface="Quicksand" pitchFamily="34" charset="0"/>
                <a:ea typeface="Quicksand" pitchFamily="34" charset="-122"/>
                <a:cs typeface="Quicksand" pitchFamily="34" charset="-120"/>
              </a:rPr>
              <a:t>20  30  35  40  50  60  70  80</a:t>
            </a:r>
            <a:endParaRPr lang="en-US" sz="1600" dirty="0"/>
          </a:p>
        </p:txBody>
      </p:sp>
      <p:sp>
        <p:nvSpPr>
          <p:cNvPr id="75" name="Text 72"/>
          <p:cNvSpPr txBox="1"/>
          <p:nvPr/>
        </p:nvSpPr>
        <p:spPr>
          <a:xfrm>
            <a:off x="8092440" y="1234440"/>
            <a:ext cx="3566160" cy="365760"/>
          </a:xfrm>
          <a:prstGeom prst="rect">
            <a:avLst/>
          </a:prstGeom>
          <a:noFill/>
          <a:ln/>
        </p:spPr>
        <p:txBody>
          <a:bodyPr wrap="square" lIns="0" tIns="0" rIns="0" bIns="0" rtlCol="0" anchor="ctr"/>
          <a:lstStyle/>
          <a:p>
            <a:pPr indent="0" marL="0">
              <a:buNone/>
            </a:pPr>
            <a:r>
              <a:rPr lang="en-US" sz="1800" b="1" dirty="0">
                <a:solidFill>
                  <a:srgbClr val="8E4FB8"/>
                </a:solidFill>
                <a:latin typeface="Quicksand" pitchFamily="34" charset="0"/>
                <a:ea typeface="Quicksand" pitchFamily="34" charset="-122"/>
                <a:cs typeface="Quicksand" pitchFamily="34" charset="-120"/>
              </a:rPr>
              <a:t>Post-order</a:t>
            </a:r>
            <a:endParaRPr lang="en-US" sz="1800" dirty="0"/>
          </a:p>
        </p:txBody>
      </p:sp>
      <p:sp>
        <p:nvSpPr>
          <p:cNvPr id="76" name="Shape 73"/>
          <p:cNvSpPr/>
          <p:nvPr/>
        </p:nvSpPr>
        <p:spPr>
          <a:xfrm>
            <a:off x="8403336" y="1563624"/>
            <a:ext cx="3218688" cy="2871216"/>
          </a:xfrm>
          <a:custGeom>
            <a:avLst/>
            <a:gdLst/>
            <a:ahLst/>
            <a:cxnLst/>
            <a:rect l="l" t="t" r="r" b="b"/>
            <a:pathLst>
              <a:path w="3218688" h="2871216">
                <a:moveTo>
                  <a:pt x="1828800" y="0"/>
                </a:moveTo>
                <a:lnTo>
                  <a:pt x="1389888" y="0"/>
                </a:lnTo>
                <a:lnTo>
                  <a:pt x="1369588" y="1372"/>
                </a:lnTo>
                <a:lnTo>
                  <a:pt x="1349654" y="5304"/>
                </a:lnTo>
                <a:lnTo>
                  <a:pt x="1330361" y="11796"/>
                </a:lnTo>
                <a:lnTo>
                  <a:pt x="1312164" y="20848"/>
                </a:lnTo>
                <a:lnTo>
                  <a:pt x="1295248" y="32095"/>
                </a:lnTo>
                <a:lnTo>
                  <a:pt x="1279977" y="45537"/>
                </a:lnTo>
                <a:lnTo>
                  <a:pt x="1266535" y="60808"/>
                </a:lnTo>
                <a:lnTo>
                  <a:pt x="1255288" y="77724"/>
                </a:lnTo>
                <a:lnTo>
                  <a:pt x="1246236" y="95921"/>
                </a:lnTo>
                <a:lnTo>
                  <a:pt x="1239744" y="115214"/>
                </a:lnTo>
                <a:lnTo>
                  <a:pt x="1235812" y="135148"/>
                </a:lnTo>
                <a:lnTo>
                  <a:pt x="1234440" y="155448"/>
                </a:lnTo>
                <a:lnTo>
                  <a:pt x="1234440" y="442204"/>
                </a:lnTo>
                <a:lnTo>
                  <a:pt x="896844" y="749808"/>
                </a:lnTo>
                <a:lnTo>
                  <a:pt x="566928" y="749808"/>
                </a:lnTo>
                <a:lnTo>
                  <a:pt x="546628" y="751180"/>
                </a:lnTo>
                <a:lnTo>
                  <a:pt x="526694" y="755112"/>
                </a:lnTo>
                <a:lnTo>
                  <a:pt x="507401" y="761604"/>
                </a:lnTo>
                <a:lnTo>
                  <a:pt x="489204" y="770656"/>
                </a:lnTo>
                <a:lnTo>
                  <a:pt x="472288" y="781903"/>
                </a:lnTo>
                <a:lnTo>
                  <a:pt x="457017" y="795345"/>
                </a:lnTo>
                <a:lnTo>
                  <a:pt x="443575" y="810616"/>
                </a:lnTo>
                <a:lnTo>
                  <a:pt x="432328" y="827532"/>
                </a:lnTo>
                <a:lnTo>
                  <a:pt x="423276" y="845729"/>
                </a:lnTo>
                <a:lnTo>
                  <a:pt x="416784" y="865022"/>
                </a:lnTo>
                <a:lnTo>
                  <a:pt x="412852" y="884956"/>
                </a:lnTo>
                <a:lnTo>
                  <a:pt x="411480" y="905256"/>
                </a:lnTo>
                <a:lnTo>
                  <a:pt x="411480" y="1216152"/>
                </a:lnTo>
                <a:lnTo>
                  <a:pt x="412852" y="1236452"/>
                </a:lnTo>
                <a:lnTo>
                  <a:pt x="416784" y="1256386"/>
                </a:lnTo>
                <a:lnTo>
                  <a:pt x="423276" y="1275679"/>
                </a:lnTo>
                <a:lnTo>
                  <a:pt x="432328" y="1293876"/>
                </a:lnTo>
                <a:lnTo>
                  <a:pt x="443575" y="1310792"/>
                </a:lnTo>
                <a:lnTo>
                  <a:pt x="457017" y="1326063"/>
                </a:lnTo>
                <a:lnTo>
                  <a:pt x="461315" y="1329903"/>
                </a:lnTo>
                <a:lnTo>
                  <a:pt x="368229" y="1499616"/>
                </a:lnTo>
                <a:lnTo>
                  <a:pt x="155448" y="1499616"/>
                </a:lnTo>
                <a:lnTo>
                  <a:pt x="135148" y="1500988"/>
                </a:lnTo>
                <a:lnTo>
                  <a:pt x="115214" y="1504920"/>
                </a:lnTo>
                <a:lnTo>
                  <a:pt x="95921" y="1511412"/>
                </a:lnTo>
                <a:lnTo>
                  <a:pt x="77724" y="1520464"/>
                </a:lnTo>
                <a:lnTo>
                  <a:pt x="60808" y="1531711"/>
                </a:lnTo>
                <a:lnTo>
                  <a:pt x="45537" y="1545153"/>
                </a:lnTo>
                <a:lnTo>
                  <a:pt x="32095" y="1560424"/>
                </a:lnTo>
                <a:lnTo>
                  <a:pt x="20848" y="1577340"/>
                </a:lnTo>
                <a:lnTo>
                  <a:pt x="11796" y="1595537"/>
                </a:lnTo>
                <a:lnTo>
                  <a:pt x="5304" y="1614830"/>
                </a:lnTo>
                <a:lnTo>
                  <a:pt x="1372" y="1634764"/>
                </a:lnTo>
                <a:lnTo>
                  <a:pt x="0" y="1655064"/>
                </a:lnTo>
                <a:lnTo>
                  <a:pt x="0" y="1965960"/>
                </a:lnTo>
                <a:lnTo>
                  <a:pt x="1372" y="1986260"/>
                </a:lnTo>
                <a:lnTo>
                  <a:pt x="5304" y="2006194"/>
                </a:lnTo>
                <a:lnTo>
                  <a:pt x="11796" y="2025487"/>
                </a:lnTo>
                <a:lnTo>
                  <a:pt x="20848" y="2043684"/>
                </a:lnTo>
                <a:lnTo>
                  <a:pt x="32095" y="2060600"/>
                </a:lnTo>
                <a:lnTo>
                  <a:pt x="45537" y="2075871"/>
                </a:lnTo>
                <a:lnTo>
                  <a:pt x="60808" y="2089313"/>
                </a:lnTo>
                <a:lnTo>
                  <a:pt x="77724" y="2100560"/>
                </a:lnTo>
                <a:lnTo>
                  <a:pt x="95921" y="2109612"/>
                </a:lnTo>
                <a:lnTo>
                  <a:pt x="115214" y="2116104"/>
                </a:lnTo>
                <a:lnTo>
                  <a:pt x="135148" y="2120036"/>
                </a:lnTo>
                <a:lnTo>
                  <a:pt x="155448" y="2121408"/>
                </a:lnTo>
                <a:lnTo>
                  <a:pt x="594360" y="2121408"/>
                </a:lnTo>
                <a:lnTo>
                  <a:pt x="614660" y="2120036"/>
                </a:lnTo>
                <a:lnTo>
                  <a:pt x="634594" y="2116104"/>
                </a:lnTo>
                <a:lnTo>
                  <a:pt x="653887" y="2109612"/>
                </a:lnTo>
                <a:lnTo>
                  <a:pt x="672084" y="2100560"/>
                </a:lnTo>
                <a:lnTo>
                  <a:pt x="689000" y="2089313"/>
                </a:lnTo>
                <a:lnTo>
                  <a:pt x="704271" y="2075871"/>
                </a:lnTo>
                <a:lnTo>
                  <a:pt x="717713" y="2060600"/>
                </a:lnTo>
                <a:lnTo>
                  <a:pt x="728960" y="2043684"/>
                </a:lnTo>
                <a:lnTo>
                  <a:pt x="738012" y="2025487"/>
                </a:lnTo>
                <a:lnTo>
                  <a:pt x="744504" y="2006194"/>
                </a:lnTo>
                <a:lnTo>
                  <a:pt x="748436" y="1986260"/>
                </a:lnTo>
                <a:lnTo>
                  <a:pt x="749808" y="1965960"/>
                </a:lnTo>
                <a:lnTo>
                  <a:pt x="749808" y="1655064"/>
                </a:lnTo>
                <a:lnTo>
                  <a:pt x="748436" y="1634764"/>
                </a:lnTo>
                <a:lnTo>
                  <a:pt x="744504" y="1614830"/>
                </a:lnTo>
                <a:lnTo>
                  <a:pt x="738012" y="1595537"/>
                </a:lnTo>
                <a:lnTo>
                  <a:pt x="728960" y="1577340"/>
                </a:lnTo>
                <a:lnTo>
                  <a:pt x="717713" y="1560424"/>
                </a:lnTo>
                <a:lnTo>
                  <a:pt x="704271" y="1545153"/>
                </a:lnTo>
                <a:lnTo>
                  <a:pt x="699973" y="1541313"/>
                </a:lnTo>
                <a:lnTo>
                  <a:pt x="786384" y="1383853"/>
                </a:lnTo>
                <a:lnTo>
                  <a:pt x="872795" y="1541313"/>
                </a:lnTo>
                <a:lnTo>
                  <a:pt x="868497" y="1545153"/>
                </a:lnTo>
                <a:lnTo>
                  <a:pt x="855055" y="1560424"/>
                </a:lnTo>
                <a:lnTo>
                  <a:pt x="843808" y="1577340"/>
                </a:lnTo>
                <a:lnTo>
                  <a:pt x="834756" y="1595537"/>
                </a:lnTo>
                <a:lnTo>
                  <a:pt x="828264" y="1614830"/>
                </a:lnTo>
                <a:lnTo>
                  <a:pt x="824332" y="1634764"/>
                </a:lnTo>
                <a:lnTo>
                  <a:pt x="822960" y="1655064"/>
                </a:lnTo>
                <a:lnTo>
                  <a:pt x="822960" y="1965960"/>
                </a:lnTo>
                <a:lnTo>
                  <a:pt x="824332" y="1986260"/>
                </a:lnTo>
                <a:lnTo>
                  <a:pt x="828264" y="2006194"/>
                </a:lnTo>
                <a:lnTo>
                  <a:pt x="834756" y="2025487"/>
                </a:lnTo>
                <a:lnTo>
                  <a:pt x="843808" y="2043684"/>
                </a:lnTo>
                <a:lnTo>
                  <a:pt x="855055" y="2060600"/>
                </a:lnTo>
                <a:lnTo>
                  <a:pt x="868497" y="2075871"/>
                </a:lnTo>
                <a:lnTo>
                  <a:pt x="883768" y="2089313"/>
                </a:lnTo>
                <a:lnTo>
                  <a:pt x="900684" y="2100560"/>
                </a:lnTo>
                <a:lnTo>
                  <a:pt x="918881" y="2109612"/>
                </a:lnTo>
                <a:lnTo>
                  <a:pt x="922447" y="2110801"/>
                </a:lnTo>
                <a:lnTo>
                  <a:pt x="871789" y="2249424"/>
                </a:lnTo>
                <a:lnTo>
                  <a:pt x="704088" y="2249424"/>
                </a:lnTo>
                <a:lnTo>
                  <a:pt x="683788" y="2250796"/>
                </a:lnTo>
                <a:lnTo>
                  <a:pt x="663854" y="2254728"/>
                </a:lnTo>
                <a:lnTo>
                  <a:pt x="644561" y="2261220"/>
                </a:lnTo>
                <a:lnTo>
                  <a:pt x="626364" y="2270272"/>
                </a:lnTo>
                <a:lnTo>
                  <a:pt x="609448" y="2281519"/>
                </a:lnTo>
                <a:lnTo>
                  <a:pt x="594177" y="2294961"/>
                </a:lnTo>
                <a:lnTo>
                  <a:pt x="580735" y="2310232"/>
                </a:lnTo>
                <a:lnTo>
                  <a:pt x="569488" y="2327148"/>
                </a:lnTo>
                <a:lnTo>
                  <a:pt x="560436" y="2345345"/>
                </a:lnTo>
                <a:lnTo>
                  <a:pt x="553944" y="2364638"/>
                </a:lnTo>
                <a:lnTo>
                  <a:pt x="550012" y="2384572"/>
                </a:lnTo>
                <a:lnTo>
                  <a:pt x="548640" y="2404872"/>
                </a:lnTo>
                <a:lnTo>
                  <a:pt x="548640" y="2715768"/>
                </a:lnTo>
                <a:lnTo>
                  <a:pt x="550012" y="2736068"/>
                </a:lnTo>
                <a:lnTo>
                  <a:pt x="553944" y="2756002"/>
                </a:lnTo>
                <a:lnTo>
                  <a:pt x="560436" y="2775295"/>
                </a:lnTo>
                <a:lnTo>
                  <a:pt x="569488" y="2793492"/>
                </a:lnTo>
                <a:lnTo>
                  <a:pt x="580735" y="2810408"/>
                </a:lnTo>
                <a:lnTo>
                  <a:pt x="594177" y="2825679"/>
                </a:lnTo>
                <a:lnTo>
                  <a:pt x="609448" y="2839121"/>
                </a:lnTo>
                <a:lnTo>
                  <a:pt x="626364" y="2850368"/>
                </a:lnTo>
                <a:lnTo>
                  <a:pt x="644561" y="2859420"/>
                </a:lnTo>
                <a:lnTo>
                  <a:pt x="663854" y="2865912"/>
                </a:lnTo>
                <a:lnTo>
                  <a:pt x="683788" y="2869844"/>
                </a:lnTo>
                <a:lnTo>
                  <a:pt x="704088" y="2871216"/>
                </a:lnTo>
                <a:lnTo>
                  <a:pt x="1143000" y="2871216"/>
                </a:lnTo>
                <a:lnTo>
                  <a:pt x="1163300" y="2869844"/>
                </a:lnTo>
                <a:lnTo>
                  <a:pt x="1183234" y="2865912"/>
                </a:lnTo>
                <a:lnTo>
                  <a:pt x="1202527" y="2859420"/>
                </a:lnTo>
                <a:lnTo>
                  <a:pt x="1220724" y="2850368"/>
                </a:lnTo>
                <a:lnTo>
                  <a:pt x="1237640" y="2839121"/>
                </a:lnTo>
                <a:lnTo>
                  <a:pt x="1252911" y="2825679"/>
                </a:lnTo>
                <a:lnTo>
                  <a:pt x="1266353" y="2810408"/>
                </a:lnTo>
                <a:lnTo>
                  <a:pt x="1277600" y="2793492"/>
                </a:lnTo>
                <a:lnTo>
                  <a:pt x="1286652" y="2775295"/>
                </a:lnTo>
                <a:lnTo>
                  <a:pt x="1293144" y="2756002"/>
                </a:lnTo>
                <a:lnTo>
                  <a:pt x="1297076" y="2736068"/>
                </a:lnTo>
                <a:lnTo>
                  <a:pt x="1298448" y="2715768"/>
                </a:lnTo>
                <a:lnTo>
                  <a:pt x="1298448" y="2404872"/>
                </a:lnTo>
                <a:lnTo>
                  <a:pt x="1297076" y="2384572"/>
                </a:lnTo>
                <a:lnTo>
                  <a:pt x="1293144" y="2364638"/>
                </a:lnTo>
                <a:lnTo>
                  <a:pt x="1286652" y="2345345"/>
                </a:lnTo>
                <a:lnTo>
                  <a:pt x="1277600" y="2327148"/>
                </a:lnTo>
                <a:lnTo>
                  <a:pt x="1266353" y="2310232"/>
                </a:lnTo>
                <a:lnTo>
                  <a:pt x="1252911" y="2294961"/>
                </a:lnTo>
                <a:lnTo>
                  <a:pt x="1237640" y="2281519"/>
                </a:lnTo>
                <a:lnTo>
                  <a:pt x="1220724" y="2270272"/>
                </a:lnTo>
                <a:lnTo>
                  <a:pt x="1202527" y="2261220"/>
                </a:lnTo>
                <a:lnTo>
                  <a:pt x="1198961" y="2260031"/>
                </a:lnTo>
                <a:lnTo>
                  <a:pt x="1249619" y="2121408"/>
                </a:lnTo>
                <a:lnTo>
                  <a:pt x="1417320" y="2121408"/>
                </a:lnTo>
                <a:lnTo>
                  <a:pt x="1437620" y="2120036"/>
                </a:lnTo>
                <a:lnTo>
                  <a:pt x="1457554" y="2116104"/>
                </a:lnTo>
                <a:lnTo>
                  <a:pt x="1476847" y="2109612"/>
                </a:lnTo>
                <a:lnTo>
                  <a:pt x="1495044" y="2100560"/>
                </a:lnTo>
                <a:lnTo>
                  <a:pt x="1511960" y="2089313"/>
                </a:lnTo>
                <a:lnTo>
                  <a:pt x="1527231" y="2075871"/>
                </a:lnTo>
                <a:lnTo>
                  <a:pt x="1540673" y="2060600"/>
                </a:lnTo>
                <a:lnTo>
                  <a:pt x="1551920" y="2043684"/>
                </a:lnTo>
                <a:lnTo>
                  <a:pt x="1560972" y="2025487"/>
                </a:lnTo>
                <a:lnTo>
                  <a:pt x="1567464" y="2006194"/>
                </a:lnTo>
                <a:lnTo>
                  <a:pt x="1571396" y="1986260"/>
                </a:lnTo>
                <a:lnTo>
                  <a:pt x="1572768" y="1965960"/>
                </a:lnTo>
                <a:lnTo>
                  <a:pt x="1572768" y="1655064"/>
                </a:lnTo>
                <a:lnTo>
                  <a:pt x="1571396" y="1634764"/>
                </a:lnTo>
                <a:lnTo>
                  <a:pt x="1567464" y="1614830"/>
                </a:lnTo>
                <a:lnTo>
                  <a:pt x="1560972" y="1595537"/>
                </a:lnTo>
                <a:lnTo>
                  <a:pt x="1551920" y="1577340"/>
                </a:lnTo>
                <a:lnTo>
                  <a:pt x="1540673" y="1560424"/>
                </a:lnTo>
                <a:lnTo>
                  <a:pt x="1527231" y="1545153"/>
                </a:lnTo>
                <a:lnTo>
                  <a:pt x="1511960" y="1531711"/>
                </a:lnTo>
                <a:lnTo>
                  <a:pt x="1495044" y="1520464"/>
                </a:lnTo>
                <a:lnTo>
                  <a:pt x="1476847" y="1511412"/>
                </a:lnTo>
                <a:lnTo>
                  <a:pt x="1457554" y="1504920"/>
                </a:lnTo>
                <a:lnTo>
                  <a:pt x="1437620" y="1500988"/>
                </a:lnTo>
                <a:lnTo>
                  <a:pt x="1417320" y="1499616"/>
                </a:lnTo>
                <a:lnTo>
                  <a:pt x="1204539" y="1499616"/>
                </a:lnTo>
                <a:lnTo>
                  <a:pt x="1111453" y="1329903"/>
                </a:lnTo>
                <a:lnTo>
                  <a:pt x="1115751" y="1326063"/>
                </a:lnTo>
                <a:lnTo>
                  <a:pt x="1129193" y="1310792"/>
                </a:lnTo>
                <a:lnTo>
                  <a:pt x="1140440" y="1293876"/>
                </a:lnTo>
                <a:lnTo>
                  <a:pt x="1149492" y="1275679"/>
                </a:lnTo>
                <a:lnTo>
                  <a:pt x="1155984" y="1256386"/>
                </a:lnTo>
                <a:lnTo>
                  <a:pt x="1159916" y="1236452"/>
                </a:lnTo>
                <a:lnTo>
                  <a:pt x="1161288" y="1216152"/>
                </a:lnTo>
                <a:lnTo>
                  <a:pt x="1161288" y="929396"/>
                </a:lnTo>
                <a:lnTo>
                  <a:pt x="1498884" y="621792"/>
                </a:lnTo>
                <a:lnTo>
                  <a:pt x="1719804" y="621792"/>
                </a:lnTo>
                <a:lnTo>
                  <a:pt x="2057400" y="929396"/>
                </a:lnTo>
                <a:lnTo>
                  <a:pt x="2057400" y="1216152"/>
                </a:lnTo>
                <a:lnTo>
                  <a:pt x="2058772" y="1236452"/>
                </a:lnTo>
                <a:lnTo>
                  <a:pt x="2062704" y="1256386"/>
                </a:lnTo>
                <a:lnTo>
                  <a:pt x="2069196" y="1275679"/>
                </a:lnTo>
                <a:lnTo>
                  <a:pt x="2078248" y="1293876"/>
                </a:lnTo>
                <a:lnTo>
                  <a:pt x="2089495" y="1310792"/>
                </a:lnTo>
                <a:lnTo>
                  <a:pt x="2102937" y="1326063"/>
                </a:lnTo>
                <a:lnTo>
                  <a:pt x="2107235" y="1329903"/>
                </a:lnTo>
                <a:lnTo>
                  <a:pt x="2014149" y="1499616"/>
                </a:lnTo>
                <a:lnTo>
                  <a:pt x="1801368" y="1499616"/>
                </a:lnTo>
                <a:lnTo>
                  <a:pt x="1781068" y="1500988"/>
                </a:lnTo>
                <a:lnTo>
                  <a:pt x="1761134" y="1504920"/>
                </a:lnTo>
                <a:lnTo>
                  <a:pt x="1741841" y="1511412"/>
                </a:lnTo>
                <a:lnTo>
                  <a:pt x="1723644" y="1520464"/>
                </a:lnTo>
                <a:lnTo>
                  <a:pt x="1706728" y="1531711"/>
                </a:lnTo>
                <a:lnTo>
                  <a:pt x="1691457" y="1545153"/>
                </a:lnTo>
                <a:lnTo>
                  <a:pt x="1678015" y="1560424"/>
                </a:lnTo>
                <a:lnTo>
                  <a:pt x="1666768" y="1577340"/>
                </a:lnTo>
                <a:lnTo>
                  <a:pt x="1657716" y="1595537"/>
                </a:lnTo>
                <a:lnTo>
                  <a:pt x="1651224" y="1614830"/>
                </a:lnTo>
                <a:lnTo>
                  <a:pt x="1647292" y="1634764"/>
                </a:lnTo>
                <a:lnTo>
                  <a:pt x="1645920" y="1655064"/>
                </a:lnTo>
                <a:lnTo>
                  <a:pt x="1645920" y="1965960"/>
                </a:lnTo>
                <a:lnTo>
                  <a:pt x="1647292" y="1986260"/>
                </a:lnTo>
                <a:lnTo>
                  <a:pt x="1651224" y="2006194"/>
                </a:lnTo>
                <a:lnTo>
                  <a:pt x="1657716" y="2025487"/>
                </a:lnTo>
                <a:lnTo>
                  <a:pt x="1666768" y="2043684"/>
                </a:lnTo>
                <a:lnTo>
                  <a:pt x="1678015" y="2060600"/>
                </a:lnTo>
                <a:lnTo>
                  <a:pt x="1691457" y="2075871"/>
                </a:lnTo>
                <a:lnTo>
                  <a:pt x="1706728" y="2089313"/>
                </a:lnTo>
                <a:lnTo>
                  <a:pt x="1723644" y="2100560"/>
                </a:lnTo>
                <a:lnTo>
                  <a:pt x="1741841" y="2109612"/>
                </a:lnTo>
                <a:lnTo>
                  <a:pt x="1761134" y="2116104"/>
                </a:lnTo>
                <a:lnTo>
                  <a:pt x="1781068" y="2120036"/>
                </a:lnTo>
                <a:lnTo>
                  <a:pt x="1801368" y="2121408"/>
                </a:lnTo>
                <a:lnTo>
                  <a:pt x="2240280" y="2121408"/>
                </a:lnTo>
                <a:lnTo>
                  <a:pt x="2260580" y="2120036"/>
                </a:lnTo>
                <a:lnTo>
                  <a:pt x="2280514" y="2116104"/>
                </a:lnTo>
                <a:lnTo>
                  <a:pt x="2299807" y="2109612"/>
                </a:lnTo>
                <a:lnTo>
                  <a:pt x="2318004" y="2100560"/>
                </a:lnTo>
                <a:lnTo>
                  <a:pt x="2334920" y="2089313"/>
                </a:lnTo>
                <a:lnTo>
                  <a:pt x="2350191" y="2075871"/>
                </a:lnTo>
                <a:lnTo>
                  <a:pt x="2363633" y="2060600"/>
                </a:lnTo>
                <a:lnTo>
                  <a:pt x="2374880" y="2043684"/>
                </a:lnTo>
                <a:lnTo>
                  <a:pt x="2383932" y="2025487"/>
                </a:lnTo>
                <a:lnTo>
                  <a:pt x="2390424" y="2006194"/>
                </a:lnTo>
                <a:lnTo>
                  <a:pt x="2394356" y="1986260"/>
                </a:lnTo>
                <a:lnTo>
                  <a:pt x="2395728" y="1965960"/>
                </a:lnTo>
                <a:lnTo>
                  <a:pt x="2395728" y="1655064"/>
                </a:lnTo>
                <a:lnTo>
                  <a:pt x="2394356" y="1634764"/>
                </a:lnTo>
                <a:lnTo>
                  <a:pt x="2390424" y="1614830"/>
                </a:lnTo>
                <a:lnTo>
                  <a:pt x="2383932" y="1595537"/>
                </a:lnTo>
                <a:lnTo>
                  <a:pt x="2374880" y="1577340"/>
                </a:lnTo>
                <a:lnTo>
                  <a:pt x="2363633" y="1560424"/>
                </a:lnTo>
                <a:lnTo>
                  <a:pt x="2350191" y="1545153"/>
                </a:lnTo>
                <a:lnTo>
                  <a:pt x="2345893" y="1541313"/>
                </a:lnTo>
                <a:lnTo>
                  <a:pt x="2432304" y="1383853"/>
                </a:lnTo>
                <a:lnTo>
                  <a:pt x="2518715" y="1541313"/>
                </a:lnTo>
                <a:lnTo>
                  <a:pt x="2514417" y="1545153"/>
                </a:lnTo>
                <a:lnTo>
                  <a:pt x="2500975" y="1560424"/>
                </a:lnTo>
                <a:lnTo>
                  <a:pt x="2489728" y="1577340"/>
                </a:lnTo>
                <a:lnTo>
                  <a:pt x="2480676" y="1595537"/>
                </a:lnTo>
                <a:lnTo>
                  <a:pt x="2474184" y="1614830"/>
                </a:lnTo>
                <a:lnTo>
                  <a:pt x="2470252" y="1634764"/>
                </a:lnTo>
                <a:lnTo>
                  <a:pt x="2468880" y="1655064"/>
                </a:lnTo>
                <a:lnTo>
                  <a:pt x="2468880" y="1965960"/>
                </a:lnTo>
                <a:lnTo>
                  <a:pt x="2470252" y="1986260"/>
                </a:lnTo>
                <a:lnTo>
                  <a:pt x="2474184" y="2006194"/>
                </a:lnTo>
                <a:lnTo>
                  <a:pt x="2480676" y="2025487"/>
                </a:lnTo>
                <a:lnTo>
                  <a:pt x="2489728" y="2043684"/>
                </a:lnTo>
                <a:lnTo>
                  <a:pt x="2500975" y="2060600"/>
                </a:lnTo>
                <a:lnTo>
                  <a:pt x="2514417" y="2075871"/>
                </a:lnTo>
                <a:lnTo>
                  <a:pt x="2529688" y="2089313"/>
                </a:lnTo>
                <a:lnTo>
                  <a:pt x="2546604" y="2100560"/>
                </a:lnTo>
                <a:lnTo>
                  <a:pt x="2564801" y="2109612"/>
                </a:lnTo>
                <a:lnTo>
                  <a:pt x="2584094" y="2116104"/>
                </a:lnTo>
                <a:lnTo>
                  <a:pt x="2604028" y="2120036"/>
                </a:lnTo>
                <a:lnTo>
                  <a:pt x="2624328" y="2121408"/>
                </a:lnTo>
                <a:lnTo>
                  <a:pt x="3063240" y="2121408"/>
                </a:lnTo>
                <a:lnTo>
                  <a:pt x="3083540" y="2120036"/>
                </a:lnTo>
                <a:lnTo>
                  <a:pt x="3103474" y="2116104"/>
                </a:lnTo>
                <a:lnTo>
                  <a:pt x="3122767" y="2109612"/>
                </a:lnTo>
                <a:lnTo>
                  <a:pt x="3140964" y="2100560"/>
                </a:lnTo>
                <a:lnTo>
                  <a:pt x="3157880" y="2089313"/>
                </a:lnTo>
                <a:lnTo>
                  <a:pt x="3173151" y="2075871"/>
                </a:lnTo>
                <a:lnTo>
                  <a:pt x="3186593" y="2060600"/>
                </a:lnTo>
                <a:lnTo>
                  <a:pt x="3197840" y="2043684"/>
                </a:lnTo>
                <a:lnTo>
                  <a:pt x="3206892" y="2025487"/>
                </a:lnTo>
                <a:lnTo>
                  <a:pt x="3213384" y="2006194"/>
                </a:lnTo>
                <a:lnTo>
                  <a:pt x="3217316" y="1986260"/>
                </a:lnTo>
                <a:lnTo>
                  <a:pt x="3218688" y="1965960"/>
                </a:lnTo>
                <a:lnTo>
                  <a:pt x="3218688" y="1655064"/>
                </a:lnTo>
                <a:lnTo>
                  <a:pt x="3217316" y="1634764"/>
                </a:lnTo>
                <a:lnTo>
                  <a:pt x="3213384" y="1614830"/>
                </a:lnTo>
                <a:lnTo>
                  <a:pt x="3206892" y="1595537"/>
                </a:lnTo>
                <a:lnTo>
                  <a:pt x="3197840" y="1577340"/>
                </a:lnTo>
                <a:lnTo>
                  <a:pt x="3186593" y="1560424"/>
                </a:lnTo>
                <a:lnTo>
                  <a:pt x="3173151" y="1545153"/>
                </a:lnTo>
                <a:lnTo>
                  <a:pt x="3157880" y="1531711"/>
                </a:lnTo>
                <a:lnTo>
                  <a:pt x="3140964" y="1520464"/>
                </a:lnTo>
                <a:lnTo>
                  <a:pt x="3122767" y="1511412"/>
                </a:lnTo>
                <a:lnTo>
                  <a:pt x="3103474" y="1504920"/>
                </a:lnTo>
                <a:lnTo>
                  <a:pt x="3083540" y="1500988"/>
                </a:lnTo>
                <a:lnTo>
                  <a:pt x="3063240" y="1499616"/>
                </a:lnTo>
                <a:lnTo>
                  <a:pt x="2850459" y="1499616"/>
                </a:lnTo>
                <a:lnTo>
                  <a:pt x="2757373" y="1329903"/>
                </a:lnTo>
                <a:lnTo>
                  <a:pt x="2761671" y="1326063"/>
                </a:lnTo>
                <a:lnTo>
                  <a:pt x="2775113" y="1310792"/>
                </a:lnTo>
                <a:lnTo>
                  <a:pt x="2786360" y="1293876"/>
                </a:lnTo>
                <a:lnTo>
                  <a:pt x="2795412" y="1275679"/>
                </a:lnTo>
                <a:lnTo>
                  <a:pt x="2801904" y="1256386"/>
                </a:lnTo>
                <a:lnTo>
                  <a:pt x="2805836" y="1236452"/>
                </a:lnTo>
                <a:lnTo>
                  <a:pt x="2807208" y="1216152"/>
                </a:lnTo>
                <a:lnTo>
                  <a:pt x="2807208" y="905256"/>
                </a:lnTo>
                <a:lnTo>
                  <a:pt x="2805836" y="884956"/>
                </a:lnTo>
                <a:lnTo>
                  <a:pt x="2801904" y="865022"/>
                </a:lnTo>
                <a:lnTo>
                  <a:pt x="2795412" y="845729"/>
                </a:lnTo>
                <a:lnTo>
                  <a:pt x="2786360" y="827532"/>
                </a:lnTo>
                <a:lnTo>
                  <a:pt x="2775113" y="810616"/>
                </a:lnTo>
                <a:lnTo>
                  <a:pt x="2761671" y="795345"/>
                </a:lnTo>
                <a:lnTo>
                  <a:pt x="2746400" y="781903"/>
                </a:lnTo>
                <a:lnTo>
                  <a:pt x="2729484" y="770656"/>
                </a:lnTo>
                <a:lnTo>
                  <a:pt x="2711287" y="761604"/>
                </a:lnTo>
                <a:lnTo>
                  <a:pt x="2691994" y="755112"/>
                </a:lnTo>
                <a:lnTo>
                  <a:pt x="2672060" y="751180"/>
                </a:lnTo>
                <a:lnTo>
                  <a:pt x="2651760" y="749808"/>
                </a:lnTo>
                <a:lnTo>
                  <a:pt x="2321844" y="749808"/>
                </a:lnTo>
                <a:lnTo>
                  <a:pt x="1984248" y="442204"/>
                </a:lnTo>
                <a:lnTo>
                  <a:pt x="1984248" y="155448"/>
                </a:lnTo>
                <a:lnTo>
                  <a:pt x="1982876" y="135148"/>
                </a:lnTo>
                <a:lnTo>
                  <a:pt x="1978944" y="115214"/>
                </a:lnTo>
                <a:lnTo>
                  <a:pt x="1972452" y="95921"/>
                </a:lnTo>
              </a:path>
            </a:pathLst>
          </a:custGeom>
          <a:ln w="15875">
            <a:solidFill>
              <a:srgbClr val="A8A8C0"/>
            </a:solidFill>
            <a:prstDash val="dash"/>
            <a:tailEnd type="triangle"/>
          </a:ln>
        </p:spPr>
      </p:sp>
      <p:sp>
        <p:nvSpPr>
          <p:cNvPr id="77" name="Shape 74"/>
          <p:cNvSpPr/>
          <p:nvPr/>
        </p:nvSpPr>
        <p:spPr>
          <a:xfrm flipH="1">
            <a:off x="9189720" y="2029968"/>
            <a:ext cx="822960" cy="438912"/>
          </a:xfrm>
          <a:prstGeom prst="line">
            <a:avLst/>
          </a:prstGeom>
          <a:noFill/>
          <a:ln w="19050">
            <a:solidFill>
              <a:srgbClr val="9A9AB5"/>
            </a:solidFill>
            <a:prstDash val="solid"/>
          </a:ln>
        </p:spPr>
      </p:sp>
      <p:sp>
        <p:nvSpPr>
          <p:cNvPr id="78" name="Shape 75"/>
          <p:cNvSpPr/>
          <p:nvPr/>
        </p:nvSpPr>
        <p:spPr>
          <a:xfrm>
            <a:off x="10012680" y="2029968"/>
            <a:ext cx="822960" cy="438912"/>
          </a:xfrm>
          <a:prstGeom prst="line">
            <a:avLst/>
          </a:prstGeom>
          <a:noFill/>
          <a:ln w="19050">
            <a:solidFill>
              <a:srgbClr val="9A9AB5"/>
            </a:solidFill>
            <a:prstDash val="solid"/>
          </a:ln>
        </p:spPr>
      </p:sp>
      <p:sp>
        <p:nvSpPr>
          <p:cNvPr id="79" name="Shape 76"/>
          <p:cNvSpPr/>
          <p:nvPr/>
        </p:nvSpPr>
        <p:spPr>
          <a:xfrm flipH="1">
            <a:off x="8778240" y="2779776"/>
            <a:ext cx="411480" cy="438912"/>
          </a:xfrm>
          <a:prstGeom prst="line">
            <a:avLst/>
          </a:prstGeom>
          <a:noFill/>
          <a:ln w="19050">
            <a:solidFill>
              <a:srgbClr val="9A9AB5"/>
            </a:solidFill>
            <a:prstDash val="solid"/>
          </a:ln>
        </p:spPr>
      </p:sp>
      <p:sp>
        <p:nvSpPr>
          <p:cNvPr id="80" name="Shape 77"/>
          <p:cNvSpPr/>
          <p:nvPr/>
        </p:nvSpPr>
        <p:spPr>
          <a:xfrm>
            <a:off x="9189720" y="2779776"/>
            <a:ext cx="411480" cy="438912"/>
          </a:xfrm>
          <a:prstGeom prst="line">
            <a:avLst/>
          </a:prstGeom>
          <a:noFill/>
          <a:ln w="19050">
            <a:solidFill>
              <a:srgbClr val="9A9AB5"/>
            </a:solidFill>
            <a:prstDash val="solid"/>
          </a:ln>
        </p:spPr>
      </p:sp>
      <p:sp>
        <p:nvSpPr>
          <p:cNvPr id="81" name="Shape 78"/>
          <p:cNvSpPr/>
          <p:nvPr/>
        </p:nvSpPr>
        <p:spPr>
          <a:xfrm flipH="1">
            <a:off x="10424160" y="2779776"/>
            <a:ext cx="411480" cy="438912"/>
          </a:xfrm>
          <a:prstGeom prst="line">
            <a:avLst/>
          </a:prstGeom>
          <a:noFill/>
          <a:ln w="19050">
            <a:solidFill>
              <a:srgbClr val="9A9AB5"/>
            </a:solidFill>
            <a:prstDash val="solid"/>
          </a:ln>
        </p:spPr>
      </p:sp>
      <p:sp>
        <p:nvSpPr>
          <p:cNvPr id="82" name="Shape 79"/>
          <p:cNvSpPr/>
          <p:nvPr/>
        </p:nvSpPr>
        <p:spPr>
          <a:xfrm>
            <a:off x="10835640" y="2779776"/>
            <a:ext cx="411480" cy="438912"/>
          </a:xfrm>
          <a:prstGeom prst="line">
            <a:avLst/>
          </a:prstGeom>
          <a:noFill/>
          <a:ln w="19050">
            <a:solidFill>
              <a:srgbClr val="9A9AB5"/>
            </a:solidFill>
            <a:prstDash val="solid"/>
          </a:ln>
        </p:spPr>
      </p:sp>
      <p:sp>
        <p:nvSpPr>
          <p:cNvPr id="83" name="Shape 80"/>
          <p:cNvSpPr/>
          <p:nvPr/>
        </p:nvSpPr>
        <p:spPr>
          <a:xfrm flipH="1">
            <a:off x="9326880" y="3529584"/>
            <a:ext cx="274320" cy="438912"/>
          </a:xfrm>
          <a:prstGeom prst="line">
            <a:avLst/>
          </a:prstGeom>
          <a:noFill/>
          <a:ln w="19050">
            <a:solidFill>
              <a:srgbClr val="9A9AB5"/>
            </a:solidFill>
            <a:prstDash val="solid"/>
          </a:ln>
        </p:spPr>
      </p:sp>
      <p:sp>
        <p:nvSpPr>
          <p:cNvPr id="84" name="Text 81"/>
          <p:cNvSpPr/>
          <p:nvPr/>
        </p:nvSpPr>
        <p:spPr>
          <a:xfrm>
            <a:off x="9793224" y="1719072"/>
            <a:ext cx="438912" cy="310896"/>
          </a:xfrm>
          <a:prstGeom prst="roundRect">
            <a:avLst>
              <a:gd name="adj" fmla="val 23529"/>
            </a:avLst>
          </a:prstGeom>
          <a:solidFill>
            <a:srgbClr val="E9E8F5"/>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50</a:t>
            </a:r>
            <a:endParaRPr lang="en-US" sz="1200" dirty="0"/>
          </a:p>
        </p:txBody>
      </p:sp>
      <p:sp>
        <p:nvSpPr>
          <p:cNvPr id="85" name="Shape 82"/>
          <p:cNvSpPr/>
          <p:nvPr/>
        </p:nvSpPr>
        <p:spPr>
          <a:xfrm>
            <a:off x="10168128" y="1810512"/>
            <a:ext cx="128016" cy="128016"/>
          </a:xfrm>
          <a:prstGeom prst="ellipse">
            <a:avLst/>
          </a:prstGeom>
          <a:solidFill>
            <a:srgbClr val="8E4FB8"/>
          </a:solidFill>
          <a:ln w="12700">
            <a:solidFill>
              <a:srgbClr val="FFFFFF"/>
            </a:solidFill>
            <a:prstDash val="solid"/>
          </a:ln>
        </p:spPr>
      </p:sp>
      <p:sp>
        <p:nvSpPr>
          <p:cNvPr id="86" name="Text 83"/>
          <p:cNvSpPr/>
          <p:nvPr/>
        </p:nvSpPr>
        <p:spPr>
          <a:xfrm>
            <a:off x="10145268" y="1546250"/>
            <a:ext cx="246888" cy="246888"/>
          </a:xfrm>
          <a:prstGeom prst="ellipse">
            <a:avLst/>
          </a:prstGeom>
          <a:solidFill>
            <a:srgbClr val="8E4FB8"/>
          </a:solidFill>
          <a:ln w="12700">
            <a:solidFill>
              <a:srgbClr val="FFFFFF"/>
            </a:solidFill>
          </a:ln>
        </p:spPr>
        <p:txBody>
          <a:bodyPr wrap="square" lIns="0" tIns="0" rIns="0" bIns="0" rtlCol="0" anchor="ctr"/>
          <a:lstStyle/>
          <a:p>
            <a:pPr algn="ctr" indent="0" marL="0">
              <a:buNone/>
            </a:pPr>
            <a:r>
              <a:rPr lang="en-US" sz="1000" b="1" dirty="0">
                <a:solidFill>
                  <a:srgbClr val="FFFFFF"/>
                </a:solidFill>
                <a:latin typeface="Quicksand" pitchFamily="34" charset="0"/>
                <a:ea typeface="Quicksand" pitchFamily="34" charset="-122"/>
                <a:cs typeface="Quicksand" pitchFamily="34" charset="-120"/>
              </a:rPr>
              <a:t>8</a:t>
            </a:r>
            <a:endParaRPr lang="en-US" sz="1000" dirty="0"/>
          </a:p>
        </p:txBody>
      </p:sp>
      <p:sp>
        <p:nvSpPr>
          <p:cNvPr id="87" name="Text 84"/>
          <p:cNvSpPr/>
          <p:nvPr/>
        </p:nvSpPr>
        <p:spPr>
          <a:xfrm>
            <a:off x="8970264" y="2468880"/>
            <a:ext cx="438912" cy="310896"/>
          </a:xfrm>
          <a:prstGeom prst="roundRect">
            <a:avLst>
              <a:gd name="adj" fmla="val 23529"/>
            </a:avLst>
          </a:prstGeom>
          <a:solidFill>
            <a:srgbClr val="E9E8F5"/>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30</a:t>
            </a:r>
            <a:endParaRPr lang="en-US" sz="1200" dirty="0"/>
          </a:p>
        </p:txBody>
      </p:sp>
      <p:sp>
        <p:nvSpPr>
          <p:cNvPr id="88" name="Shape 85"/>
          <p:cNvSpPr/>
          <p:nvPr/>
        </p:nvSpPr>
        <p:spPr>
          <a:xfrm>
            <a:off x="9345168" y="2560320"/>
            <a:ext cx="128016" cy="128016"/>
          </a:xfrm>
          <a:prstGeom prst="ellipse">
            <a:avLst/>
          </a:prstGeom>
          <a:solidFill>
            <a:srgbClr val="8E4FB8"/>
          </a:solidFill>
          <a:ln w="12700">
            <a:solidFill>
              <a:srgbClr val="FFFFFF"/>
            </a:solidFill>
            <a:prstDash val="solid"/>
          </a:ln>
        </p:spPr>
      </p:sp>
      <p:sp>
        <p:nvSpPr>
          <p:cNvPr id="89" name="Text 86"/>
          <p:cNvSpPr/>
          <p:nvPr/>
        </p:nvSpPr>
        <p:spPr>
          <a:xfrm>
            <a:off x="9322308" y="2296058"/>
            <a:ext cx="246888" cy="246888"/>
          </a:xfrm>
          <a:prstGeom prst="ellipse">
            <a:avLst/>
          </a:prstGeom>
          <a:solidFill>
            <a:srgbClr val="8E4FB8"/>
          </a:solidFill>
          <a:ln w="12700">
            <a:solidFill>
              <a:srgbClr val="FFFFFF"/>
            </a:solidFill>
          </a:ln>
        </p:spPr>
        <p:txBody>
          <a:bodyPr wrap="square" lIns="0" tIns="0" rIns="0" bIns="0" rtlCol="0" anchor="ctr"/>
          <a:lstStyle/>
          <a:p>
            <a:pPr algn="ctr" indent="0" marL="0">
              <a:buNone/>
            </a:pPr>
            <a:r>
              <a:rPr lang="en-US" sz="1000" b="1" dirty="0">
                <a:solidFill>
                  <a:srgbClr val="FFFFFF"/>
                </a:solidFill>
                <a:latin typeface="Quicksand" pitchFamily="34" charset="0"/>
                <a:ea typeface="Quicksand" pitchFamily="34" charset="-122"/>
                <a:cs typeface="Quicksand" pitchFamily="34" charset="-120"/>
              </a:rPr>
              <a:t>4</a:t>
            </a:r>
            <a:endParaRPr lang="en-US" sz="1000" dirty="0"/>
          </a:p>
        </p:txBody>
      </p:sp>
      <p:sp>
        <p:nvSpPr>
          <p:cNvPr id="90" name="Text 87"/>
          <p:cNvSpPr/>
          <p:nvPr/>
        </p:nvSpPr>
        <p:spPr>
          <a:xfrm>
            <a:off x="10616184" y="2468880"/>
            <a:ext cx="438912" cy="310896"/>
          </a:xfrm>
          <a:prstGeom prst="roundRect">
            <a:avLst>
              <a:gd name="adj" fmla="val 23529"/>
            </a:avLst>
          </a:prstGeom>
          <a:solidFill>
            <a:srgbClr val="E9E8F5"/>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70</a:t>
            </a:r>
            <a:endParaRPr lang="en-US" sz="1200" dirty="0"/>
          </a:p>
        </p:txBody>
      </p:sp>
      <p:sp>
        <p:nvSpPr>
          <p:cNvPr id="91" name="Shape 88"/>
          <p:cNvSpPr/>
          <p:nvPr/>
        </p:nvSpPr>
        <p:spPr>
          <a:xfrm>
            <a:off x="10991088" y="2560320"/>
            <a:ext cx="128016" cy="128016"/>
          </a:xfrm>
          <a:prstGeom prst="ellipse">
            <a:avLst/>
          </a:prstGeom>
          <a:solidFill>
            <a:srgbClr val="8E4FB8"/>
          </a:solidFill>
          <a:ln w="12700">
            <a:solidFill>
              <a:srgbClr val="FFFFFF"/>
            </a:solidFill>
            <a:prstDash val="solid"/>
          </a:ln>
        </p:spPr>
      </p:sp>
      <p:sp>
        <p:nvSpPr>
          <p:cNvPr id="92" name="Text 89"/>
          <p:cNvSpPr/>
          <p:nvPr/>
        </p:nvSpPr>
        <p:spPr>
          <a:xfrm>
            <a:off x="10968228" y="2296058"/>
            <a:ext cx="246888" cy="246888"/>
          </a:xfrm>
          <a:prstGeom prst="ellipse">
            <a:avLst/>
          </a:prstGeom>
          <a:solidFill>
            <a:srgbClr val="8E4FB8"/>
          </a:solidFill>
          <a:ln w="12700">
            <a:solidFill>
              <a:srgbClr val="FFFFFF"/>
            </a:solidFill>
          </a:ln>
        </p:spPr>
        <p:txBody>
          <a:bodyPr wrap="square" lIns="0" tIns="0" rIns="0" bIns="0" rtlCol="0" anchor="ctr"/>
          <a:lstStyle/>
          <a:p>
            <a:pPr algn="ctr" indent="0" marL="0">
              <a:buNone/>
            </a:pPr>
            <a:r>
              <a:rPr lang="en-US" sz="1000" b="1" dirty="0">
                <a:solidFill>
                  <a:srgbClr val="FFFFFF"/>
                </a:solidFill>
                <a:latin typeface="Quicksand" pitchFamily="34" charset="0"/>
                <a:ea typeface="Quicksand" pitchFamily="34" charset="-122"/>
                <a:cs typeface="Quicksand" pitchFamily="34" charset="-120"/>
              </a:rPr>
              <a:t>7</a:t>
            </a:r>
            <a:endParaRPr lang="en-US" sz="1000" dirty="0"/>
          </a:p>
        </p:txBody>
      </p:sp>
      <p:sp>
        <p:nvSpPr>
          <p:cNvPr id="93" name="Text 90"/>
          <p:cNvSpPr/>
          <p:nvPr/>
        </p:nvSpPr>
        <p:spPr>
          <a:xfrm>
            <a:off x="8558784" y="3218688"/>
            <a:ext cx="438912" cy="310896"/>
          </a:xfrm>
          <a:prstGeom prst="roundRect">
            <a:avLst>
              <a:gd name="adj" fmla="val 23529"/>
            </a:avLst>
          </a:prstGeom>
          <a:solidFill>
            <a:srgbClr val="E9E8F5"/>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20</a:t>
            </a:r>
            <a:endParaRPr lang="en-US" sz="1200" dirty="0"/>
          </a:p>
        </p:txBody>
      </p:sp>
      <p:sp>
        <p:nvSpPr>
          <p:cNvPr id="94" name="Shape 91"/>
          <p:cNvSpPr/>
          <p:nvPr/>
        </p:nvSpPr>
        <p:spPr>
          <a:xfrm>
            <a:off x="8933688" y="3310128"/>
            <a:ext cx="128016" cy="128016"/>
          </a:xfrm>
          <a:prstGeom prst="ellipse">
            <a:avLst/>
          </a:prstGeom>
          <a:solidFill>
            <a:srgbClr val="8E4FB8"/>
          </a:solidFill>
          <a:ln w="12700">
            <a:solidFill>
              <a:srgbClr val="FFFFFF"/>
            </a:solidFill>
            <a:prstDash val="solid"/>
          </a:ln>
        </p:spPr>
      </p:sp>
      <p:sp>
        <p:nvSpPr>
          <p:cNvPr id="95" name="Text 92"/>
          <p:cNvSpPr/>
          <p:nvPr/>
        </p:nvSpPr>
        <p:spPr>
          <a:xfrm>
            <a:off x="8910828" y="3045866"/>
            <a:ext cx="246888" cy="246888"/>
          </a:xfrm>
          <a:prstGeom prst="ellipse">
            <a:avLst/>
          </a:prstGeom>
          <a:solidFill>
            <a:srgbClr val="8E4FB8"/>
          </a:solidFill>
          <a:ln w="12700">
            <a:solidFill>
              <a:srgbClr val="FFFFFF"/>
            </a:solidFill>
          </a:ln>
        </p:spPr>
        <p:txBody>
          <a:bodyPr wrap="square" lIns="0" tIns="0" rIns="0" bIns="0" rtlCol="0" anchor="ctr"/>
          <a:lstStyle/>
          <a:p>
            <a:pPr algn="ctr" indent="0" marL="0">
              <a:buNone/>
            </a:pPr>
            <a:r>
              <a:rPr lang="en-US" sz="1000" b="1" dirty="0">
                <a:solidFill>
                  <a:srgbClr val="FFFFFF"/>
                </a:solidFill>
                <a:latin typeface="Quicksand" pitchFamily="34" charset="0"/>
                <a:ea typeface="Quicksand" pitchFamily="34" charset="-122"/>
                <a:cs typeface="Quicksand" pitchFamily="34" charset="-120"/>
              </a:rPr>
              <a:t>1</a:t>
            </a:r>
            <a:endParaRPr lang="en-US" sz="1000" dirty="0"/>
          </a:p>
        </p:txBody>
      </p:sp>
      <p:sp>
        <p:nvSpPr>
          <p:cNvPr id="96" name="Text 93"/>
          <p:cNvSpPr/>
          <p:nvPr/>
        </p:nvSpPr>
        <p:spPr>
          <a:xfrm>
            <a:off x="9381744" y="3218688"/>
            <a:ext cx="438912" cy="310896"/>
          </a:xfrm>
          <a:prstGeom prst="roundRect">
            <a:avLst>
              <a:gd name="adj" fmla="val 23529"/>
            </a:avLst>
          </a:prstGeom>
          <a:solidFill>
            <a:srgbClr val="E9E8F5"/>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40</a:t>
            </a:r>
            <a:endParaRPr lang="en-US" sz="1200" dirty="0"/>
          </a:p>
        </p:txBody>
      </p:sp>
      <p:sp>
        <p:nvSpPr>
          <p:cNvPr id="97" name="Shape 94"/>
          <p:cNvSpPr/>
          <p:nvPr/>
        </p:nvSpPr>
        <p:spPr>
          <a:xfrm>
            <a:off x="9756648" y="3310128"/>
            <a:ext cx="128016" cy="128016"/>
          </a:xfrm>
          <a:prstGeom prst="ellipse">
            <a:avLst/>
          </a:prstGeom>
          <a:solidFill>
            <a:srgbClr val="8E4FB8"/>
          </a:solidFill>
          <a:ln w="12700">
            <a:solidFill>
              <a:srgbClr val="FFFFFF"/>
            </a:solidFill>
            <a:prstDash val="solid"/>
          </a:ln>
        </p:spPr>
      </p:sp>
      <p:sp>
        <p:nvSpPr>
          <p:cNvPr id="98" name="Text 95"/>
          <p:cNvSpPr/>
          <p:nvPr/>
        </p:nvSpPr>
        <p:spPr>
          <a:xfrm>
            <a:off x="9733788" y="3045866"/>
            <a:ext cx="246888" cy="246888"/>
          </a:xfrm>
          <a:prstGeom prst="ellipse">
            <a:avLst/>
          </a:prstGeom>
          <a:solidFill>
            <a:srgbClr val="8E4FB8"/>
          </a:solidFill>
          <a:ln w="12700">
            <a:solidFill>
              <a:srgbClr val="FFFFFF"/>
            </a:solidFill>
          </a:ln>
        </p:spPr>
        <p:txBody>
          <a:bodyPr wrap="square" lIns="0" tIns="0" rIns="0" bIns="0" rtlCol="0" anchor="ctr"/>
          <a:lstStyle/>
          <a:p>
            <a:pPr algn="ctr" indent="0" marL="0">
              <a:buNone/>
            </a:pPr>
            <a:r>
              <a:rPr lang="en-US" sz="1000" b="1" dirty="0">
                <a:solidFill>
                  <a:srgbClr val="FFFFFF"/>
                </a:solidFill>
                <a:latin typeface="Quicksand" pitchFamily="34" charset="0"/>
                <a:ea typeface="Quicksand" pitchFamily="34" charset="-122"/>
                <a:cs typeface="Quicksand" pitchFamily="34" charset="-120"/>
              </a:rPr>
              <a:t>3</a:t>
            </a:r>
            <a:endParaRPr lang="en-US" sz="1000" dirty="0"/>
          </a:p>
        </p:txBody>
      </p:sp>
      <p:sp>
        <p:nvSpPr>
          <p:cNvPr id="99" name="Text 96"/>
          <p:cNvSpPr/>
          <p:nvPr/>
        </p:nvSpPr>
        <p:spPr>
          <a:xfrm>
            <a:off x="10204704" y="3218688"/>
            <a:ext cx="438912" cy="310896"/>
          </a:xfrm>
          <a:prstGeom prst="roundRect">
            <a:avLst>
              <a:gd name="adj" fmla="val 23529"/>
            </a:avLst>
          </a:prstGeom>
          <a:solidFill>
            <a:srgbClr val="E9E8F5"/>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60</a:t>
            </a:r>
            <a:endParaRPr lang="en-US" sz="1200" dirty="0"/>
          </a:p>
        </p:txBody>
      </p:sp>
      <p:sp>
        <p:nvSpPr>
          <p:cNvPr id="100" name="Shape 97"/>
          <p:cNvSpPr/>
          <p:nvPr/>
        </p:nvSpPr>
        <p:spPr>
          <a:xfrm>
            <a:off x="10579608" y="3310128"/>
            <a:ext cx="128016" cy="128016"/>
          </a:xfrm>
          <a:prstGeom prst="ellipse">
            <a:avLst/>
          </a:prstGeom>
          <a:solidFill>
            <a:srgbClr val="8E4FB8"/>
          </a:solidFill>
          <a:ln w="12700">
            <a:solidFill>
              <a:srgbClr val="FFFFFF"/>
            </a:solidFill>
            <a:prstDash val="solid"/>
          </a:ln>
        </p:spPr>
      </p:sp>
      <p:sp>
        <p:nvSpPr>
          <p:cNvPr id="101" name="Text 98"/>
          <p:cNvSpPr/>
          <p:nvPr/>
        </p:nvSpPr>
        <p:spPr>
          <a:xfrm>
            <a:off x="10556748" y="3045866"/>
            <a:ext cx="246888" cy="246888"/>
          </a:xfrm>
          <a:prstGeom prst="ellipse">
            <a:avLst/>
          </a:prstGeom>
          <a:solidFill>
            <a:srgbClr val="8E4FB8"/>
          </a:solidFill>
          <a:ln w="12700">
            <a:solidFill>
              <a:srgbClr val="FFFFFF"/>
            </a:solidFill>
          </a:ln>
        </p:spPr>
        <p:txBody>
          <a:bodyPr wrap="square" lIns="0" tIns="0" rIns="0" bIns="0" rtlCol="0" anchor="ctr"/>
          <a:lstStyle/>
          <a:p>
            <a:pPr algn="ctr" indent="0" marL="0">
              <a:buNone/>
            </a:pPr>
            <a:r>
              <a:rPr lang="en-US" sz="1000" b="1" dirty="0">
                <a:solidFill>
                  <a:srgbClr val="FFFFFF"/>
                </a:solidFill>
                <a:latin typeface="Quicksand" pitchFamily="34" charset="0"/>
                <a:ea typeface="Quicksand" pitchFamily="34" charset="-122"/>
                <a:cs typeface="Quicksand" pitchFamily="34" charset="-120"/>
              </a:rPr>
              <a:t>5</a:t>
            </a:r>
            <a:endParaRPr lang="en-US" sz="1000" dirty="0"/>
          </a:p>
        </p:txBody>
      </p:sp>
      <p:sp>
        <p:nvSpPr>
          <p:cNvPr id="102" name="Text 99"/>
          <p:cNvSpPr/>
          <p:nvPr/>
        </p:nvSpPr>
        <p:spPr>
          <a:xfrm>
            <a:off x="11027664" y="3218688"/>
            <a:ext cx="438912" cy="310896"/>
          </a:xfrm>
          <a:prstGeom prst="roundRect">
            <a:avLst>
              <a:gd name="adj" fmla="val 23529"/>
            </a:avLst>
          </a:prstGeom>
          <a:solidFill>
            <a:srgbClr val="E9E8F5"/>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80</a:t>
            </a:r>
            <a:endParaRPr lang="en-US" sz="1200" dirty="0"/>
          </a:p>
        </p:txBody>
      </p:sp>
      <p:sp>
        <p:nvSpPr>
          <p:cNvPr id="103" name="Shape 100"/>
          <p:cNvSpPr/>
          <p:nvPr/>
        </p:nvSpPr>
        <p:spPr>
          <a:xfrm>
            <a:off x="11402568" y="3310128"/>
            <a:ext cx="128016" cy="128016"/>
          </a:xfrm>
          <a:prstGeom prst="ellipse">
            <a:avLst/>
          </a:prstGeom>
          <a:solidFill>
            <a:srgbClr val="8E4FB8"/>
          </a:solidFill>
          <a:ln w="12700">
            <a:solidFill>
              <a:srgbClr val="FFFFFF"/>
            </a:solidFill>
            <a:prstDash val="solid"/>
          </a:ln>
        </p:spPr>
      </p:sp>
      <p:sp>
        <p:nvSpPr>
          <p:cNvPr id="104" name="Text 101"/>
          <p:cNvSpPr/>
          <p:nvPr/>
        </p:nvSpPr>
        <p:spPr>
          <a:xfrm>
            <a:off x="11379708" y="3045866"/>
            <a:ext cx="246888" cy="246888"/>
          </a:xfrm>
          <a:prstGeom prst="ellipse">
            <a:avLst/>
          </a:prstGeom>
          <a:solidFill>
            <a:srgbClr val="8E4FB8"/>
          </a:solidFill>
          <a:ln w="12700">
            <a:solidFill>
              <a:srgbClr val="FFFFFF"/>
            </a:solidFill>
          </a:ln>
        </p:spPr>
        <p:txBody>
          <a:bodyPr wrap="square" lIns="0" tIns="0" rIns="0" bIns="0" rtlCol="0" anchor="ctr"/>
          <a:lstStyle/>
          <a:p>
            <a:pPr algn="ctr" indent="0" marL="0">
              <a:buNone/>
            </a:pPr>
            <a:r>
              <a:rPr lang="en-US" sz="1000" b="1" dirty="0">
                <a:solidFill>
                  <a:srgbClr val="FFFFFF"/>
                </a:solidFill>
                <a:latin typeface="Quicksand" pitchFamily="34" charset="0"/>
                <a:ea typeface="Quicksand" pitchFamily="34" charset="-122"/>
                <a:cs typeface="Quicksand" pitchFamily="34" charset="-120"/>
              </a:rPr>
              <a:t>6</a:t>
            </a:r>
            <a:endParaRPr lang="en-US" sz="1000" dirty="0"/>
          </a:p>
        </p:txBody>
      </p:sp>
      <p:sp>
        <p:nvSpPr>
          <p:cNvPr id="105" name="Text 102"/>
          <p:cNvSpPr/>
          <p:nvPr/>
        </p:nvSpPr>
        <p:spPr>
          <a:xfrm>
            <a:off x="9107424" y="3968496"/>
            <a:ext cx="438912" cy="310896"/>
          </a:xfrm>
          <a:prstGeom prst="roundRect">
            <a:avLst>
              <a:gd name="adj" fmla="val 23529"/>
            </a:avLst>
          </a:prstGeom>
          <a:solidFill>
            <a:srgbClr val="E9E8F5"/>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35</a:t>
            </a:r>
            <a:endParaRPr lang="en-US" sz="1200" dirty="0"/>
          </a:p>
        </p:txBody>
      </p:sp>
      <p:sp>
        <p:nvSpPr>
          <p:cNvPr id="106" name="Shape 103"/>
          <p:cNvSpPr/>
          <p:nvPr/>
        </p:nvSpPr>
        <p:spPr>
          <a:xfrm>
            <a:off x="9482328" y="4059936"/>
            <a:ext cx="128016" cy="128016"/>
          </a:xfrm>
          <a:prstGeom prst="ellipse">
            <a:avLst/>
          </a:prstGeom>
          <a:solidFill>
            <a:srgbClr val="8E4FB8"/>
          </a:solidFill>
          <a:ln w="12700">
            <a:solidFill>
              <a:srgbClr val="FFFFFF"/>
            </a:solidFill>
            <a:prstDash val="solid"/>
          </a:ln>
        </p:spPr>
      </p:sp>
      <p:sp>
        <p:nvSpPr>
          <p:cNvPr id="107" name="Text 104"/>
          <p:cNvSpPr/>
          <p:nvPr/>
        </p:nvSpPr>
        <p:spPr>
          <a:xfrm>
            <a:off x="9459468" y="3795674"/>
            <a:ext cx="246888" cy="246888"/>
          </a:xfrm>
          <a:prstGeom prst="ellipse">
            <a:avLst/>
          </a:prstGeom>
          <a:solidFill>
            <a:srgbClr val="8E4FB8"/>
          </a:solidFill>
          <a:ln w="12700">
            <a:solidFill>
              <a:srgbClr val="FFFFFF"/>
            </a:solidFill>
          </a:ln>
        </p:spPr>
        <p:txBody>
          <a:bodyPr wrap="square" lIns="0" tIns="0" rIns="0" bIns="0" rtlCol="0" anchor="ctr"/>
          <a:lstStyle/>
          <a:p>
            <a:pPr algn="ctr" indent="0" marL="0">
              <a:buNone/>
            </a:pPr>
            <a:r>
              <a:rPr lang="en-US" sz="1000" b="1" dirty="0">
                <a:solidFill>
                  <a:srgbClr val="FFFFFF"/>
                </a:solidFill>
                <a:latin typeface="Quicksand" pitchFamily="34" charset="0"/>
                <a:ea typeface="Quicksand" pitchFamily="34" charset="-122"/>
                <a:cs typeface="Quicksand" pitchFamily="34" charset="-120"/>
              </a:rPr>
              <a:t>2</a:t>
            </a:r>
            <a:endParaRPr lang="en-US" sz="1000" dirty="0"/>
          </a:p>
        </p:txBody>
      </p:sp>
      <p:sp>
        <p:nvSpPr>
          <p:cNvPr id="108" name="Text 105"/>
          <p:cNvSpPr txBox="1"/>
          <p:nvPr/>
        </p:nvSpPr>
        <p:spPr>
          <a:xfrm>
            <a:off x="8092440" y="4709160"/>
            <a:ext cx="3611880" cy="411480"/>
          </a:xfrm>
          <a:prstGeom prst="rect">
            <a:avLst/>
          </a:prstGeom>
          <a:noFill/>
          <a:ln/>
        </p:spPr>
        <p:txBody>
          <a:bodyPr wrap="square" lIns="0" tIns="0" rIns="0" bIns="0" rtlCol="0" anchor="ctr"/>
          <a:lstStyle/>
          <a:p>
            <a:pPr algn="ctr" indent="0" marL="0">
              <a:buNone/>
            </a:pPr>
            <a:r>
              <a:rPr lang="en-US" sz="1600" b="1" dirty="0">
                <a:solidFill>
                  <a:srgbClr val="8E4FB8"/>
                </a:solidFill>
                <a:latin typeface="Quicksand" pitchFamily="34" charset="0"/>
                <a:ea typeface="Quicksand" pitchFamily="34" charset="-122"/>
                <a:cs typeface="Quicksand" pitchFamily="34" charset="-120"/>
              </a:rPr>
              <a:t>20  35  40  30  60  80  70  50</a:t>
            </a:r>
            <a:endParaRPr lang="en-US" sz="1600" dirty="0"/>
          </a:p>
        </p:txBody>
      </p:sp>
      <p:sp>
        <p:nvSpPr>
          <p:cNvPr id="109" name="Text 106"/>
          <p:cNvSpPr txBox="1"/>
          <p:nvPr/>
        </p:nvSpPr>
        <p:spPr>
          <a:xfrm>
            <a:off x="822960" y="5440680"/>
            <a:ext cx="10607040" cy="54864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The small numbers show the order each node is written down. Only the dot you write at changes.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Check your answer in ten seconds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9</a:t>
            </a:r>
            <a:endParaRPr lang="en-US" sz="1350" dirty="0"/>
          </a:p>
        </p:txBody>
      </p:sp>
      <p:sp>
        <p:nvSpPr>
          <p:cNvPr id="7" name="Text 4"/>
          <p:cNvSpPr txBox="1"/>
          <p:nvPr/>
        </p:nvSpPr>
        <p:spPr>
          <a:xfrm>
            <a:off x="822960" y="1371600"/>
            <a:ext cx="2011680" cy="365760"/>
          </a:xfrm>
          <a:prstGeom prst="rect">
            <a:avLst/>
          </a:prstGeom>
          <a:noFill/>
          <a:ln/>
        </p:spPr>
        <p:txBody>
          <a:bodyPr wrap="square" lIns="0" tIns="0" rIns="0" bIns="0" rtlCol="0" anchor="ctr"/>
          <a:lstStyle/>
          <a:p>
            <a:pPr indent="0" marL="0">
              <a:buNone/>
            </a:pPr>
            <a:r>
              <a:rPr lang="en-US" sz="1700" b="1" dirty="0">
                <a:solidFill>
                  <a:srgbClr val="1F8A8A"/>
                </a:solidFill>
                <a:latin typeface="Quicksand" pitchFamily="34" charset="0"/>
                <a:ea typeface="Quicksand" pitchFamily="34" charset="-122"/>
                <a:cs typeface="Quicksand" pitchFamily="34" charset="-120"/>
              </a:rPr>
              <a:t>Pre-order</a:t>
            </a:r>
            <a:endParaRPr lang="en-US" sz="1700" dirty="0"/>
          </a:p>
        </p:txBody>
      </p:sp>
      <p:sp>
        <p:nvSpPr>
          <p:cNvPr id="8" name="Text 5"/>
          <p:cNvSpPr txBox="1"/>
          <p:nvPr/>
        </p:nvSpPr>
        <p:spPr>
          <a:xfrm>
            <a:off x="822960" y="1783080"/>
            <a:ext cx="2651760" cy="457200"/>
          </a:xfrm>
          <a:prstGeom prst="rect">
            <a:avLst/>
          </a:prstGeom>
          <a:noFill/>
          <a:ln/>
        </p:spPr>
        <p:txBody>
          <a:bodyPr wrap="square" lIns="0" tIns="0" rIns="0" bIns="0" rtlCol="0" anchor="ctr"/>
          <a:lstStyle/>
          <a:p>
            <a:pPr indent="0" marL="0">
              <a:buNone/>
            </a:pPr>
            <a:r>
              <a:rPr lang="en-US" sz="1300" dirty="0">
                <a:solidFill>
                  <a:srgbClr val="202124"/>
                </a:solidFill>
                <a:latin typeface="Quicksand" pitchFamily="34" charset="0"/>
                <a:ea typeface="Quicksand" pitchFamily="34" charset="-122"/>
                <a:cs typeface="Quicksand" pitchFamily="34" charset="-120"/>
              </a:rPr>
              <a:t>Starts with the root</a:t>
            </a:r>
            <a:endParaRPr lang="en-US" sz="1300" dirty="0"/>
          </a:p>
        </p:txBody>
      </p:sp>
      <p:sp>
        <p:nvSpPr>
          <p:cNvPr id="9" name="Text 6"/>
          <p:cNvSpPr/>
          <p:nvPr/>
        </p:nvSpPr>
        <p:spPr>
          <a:xfrm>
            <a:off x="3657600" y="1481328"/>
            <a:ext cx="777240" cy="502920"/>
          </a:xfrm>
          <a:prstGeom prst="roundRect">
            <a:avLst>
              <a:gd name="adj" fmla="val 10909"/>
            </a:avLst>
          </a:prstGeom>
          <a:solidFill>
            <a:srgbClr val="FFD84D"/>
          </a:solidFill>
          <a:ln w="15875">
            <a:solidFill>
              <a:srgbClr val="1F8A8A"/>
            </a:solidFill>
          </a:ln>
        </p:spPr>
        <p:txBody>
          <a:bodyPr wrap="square" lIns="0" tIns="0" rIns="0" bIns="0" rtlCol="0" anchor="ctr"/>
          <a:lstStyle/>
          <a:p>
            <a:pPr algn="ctr" indent="0" marL="0">
              <a:buNone/>
            </a:pPr>
            <a:r>
              <a:rPr lang="en-US" sz="1600" b="1" dirty="0">
                <a:solidFill>
                  <a:srgbClr val="202124"/>
                </a:solidFill>
                <a:latin typeface="Quicksand" pitchFamily="34" charset="0"/>
                <a:ea typeface="Quicksand" pitchFamily="34" charset="-122"/>
                <a:cs typeface="Quicksand" pitchFamily="34" charset="-120"/>
              </a:rPr>
              <a:t>50</a:t>
            </a:r>
            <a:endParaRPr lang="en-US" sz="1600" dirty="0"/>
          </a:p>
        </p:txBody>
      </p:sp>
      <p:sp>
        <p:nvSpPr>
          <p:cNvPr id="10" name="Text 7"/>
          <p:cNvSpPr/>
          <p:nvPr/>
        </p:nvSpPr>
        <p:spPr>
          <a:xfrm>
            <a:off x="4544568" y="1481328"/>
            <a:ext cx="777240" cy="502920"/>
          </a:xfrm>
          <a:prstGeom prst="roundRect">
            <a:avLst>
              <a:gd name="adj" fmla="val 10909"/>
            </a:avLst>
          </a:prstGeom>
          <a:solidFill>
            <a:srgbClr val="FFFFFF"/>
          </a:solidFill>
          <a:ln w="15875">
            <a:solidFill>
              <a:srgbClr val="1F8A8A"/>
            </a:solidFill>
          </a:ln>
        </p:spPr>
        <p:txBody>
          <a:bodyPr wrap="square" lIns="0" tIns="0" rIns="0" bIns="0" rtlCol="0" anchor="ctr"/>
          <a:lstStyle/>
          <a:p>
            <a:pPr algn="ctr" indent="0" marL="0">
              <a:buNone/>
            </a:pPr>
            <a:r>
              <a:rPr lang="en-US" sz="1600" b="1" dirty="0">
                <a:solidFill>
                  <a:srgbClr val="202124"/>
                </a:solidFill>
                <a:latin typeface="Quicksand" pitchFamily="34" charset="0"/>
                <a:ea typeface="Quicksand" pitchFamily="34" charset="-122"/>
                <a:cs typeface="Quicksand" pitchFamily="34" charset="-120"/>
              </a:rPr>
              <a:t>30</a:t>
            </a:r>
            <a:endParaRPr lang="en-US" sz="1600" dirty="0"/>
          </a:p>
        </p:txBody>
      </p:sp>
      <p:sp>
        <p:nvSpPr>
          <p:cNvPr id="11" name="Text 8"/>
          <p:cNvSpPr/>
          <p:nvPr/>
        </p:nvSpPr>
        <p:spPr>
          <a:xfrm>
            <a:off x="5431536" y="1481328"/>
            <a:ext cx="777240" cy="502920"/>
          </a:xfrm>
          <a:prstGeom prst="roundRect">
            <a:avLst>
              <a:gd name="adj" fmla="val 10909"/>
            </a:avLst>
          </a:prstGeom>
          <a:solidFill>
            <a:srgbClr val="FFFFFF"/>
          </a:solidFill>
          <a:ln w="15875">
            <a:solidFill>
              <a:srgbClr val="1F8A8A"/>
            </a:solidFill>
          </a:ln>
        </p:spPr>
        <p:txBody>
          <a:bodyPr wrap="square" lIns="0" tIns="0" rIns="0" bIns="0" rtlCol="0" anchor="ctr"/>
          <a:lstStyle/>
          <a:p>
            <a:pPr algn="ctr" indent="0" marL="0">
              <a:buNone/>
            </a:pPr>
            <a:r>
              <a:rPr lang="en-US" sz="1600" b="1" dirty="0">
                <a:solidFill>
                  <a:srgbClr val="202124"/>
                </a:solidFill>
                <a:latin typeface="Quicksand" pitchFamily="34" charset="0"/>
                <a:ea typeface="Quicksand" pitchFamily="34" charset="-122"/>
                <a:cs typeface="Quicksand" pitchFamily="34" charset="-120"/>
              </a:rPr>
              <a:t>20</a:t>
            </a:r>
            <a:endParaRPr lang="en-US" sz="1600" dirty="0"/>
          </a:p>
        </p:txBody>
      </p:sp>
      <p:sp>
        <p:nvSpPr>
          <p:cNvPr id="12" name="Text 9"/>
          <p:cNvSpPr/>
          <p:nvPr/>
        </p:nvSpPr>
        <p:spPr>
          <a:xfrm>
            <a:off x="6318504" y="1481328"/>
            <a:ext cx="777240" cy="502920"/>
          </a:xfrm>
          <a:prstGeom prst="roundRect">
            <a:avLst>
              <a:gd name="adj" fmla="val 10909"/>
            </a:avLst>
          </a:prstGeom>
          <a:solidFill>
            <a:srgbClr val="FFFFFF"/>
          </a:solidFill>
          <a:ln w="15875">
            <a:solidFill>
              <a:srgbClr val="1F8A8A"/>
            </a:solidFill>
          </a:ln>
        </p:spPr>
        <p:txBody>
          <a:bodyPr wrap="square" lIns="0" tIns="0" rIns="0" bIns="0" rtlCol="0" anchor="ctr"/>
          <a:lstStyle/>
          <a:p>
            <a:pPr algn="ctr" indent="0" marL="0">
              <a:buNone/>
            </a:pPr>
            <a:r>
              <a:rPr lang="en-US" sz="1600" b="1" dirty="0">
                <a:solidFill>
                  <a:srgbClr val="202124"/>
                </a:solidFill>
                <a:latin typeface="Quicksand" pitchFamily="34" charset="0"/>
                <a:ea typeface="Quicksand" pitchFamily="34" charset="-122"/>
                <a:cs typeface="Quicksand" pitchFamily="34" charset="-120"/>
              </a:rPr>
              <a:t>40</a:t>
            </a:r>
            <a:endParaRPr lang="en-US" sz="1600" dirty="0"/>
          </a:p>
        </p:txBody>
      </p:sp>
      <p:sp>
        <p:nvSpPr>
          <p:cNvPr id="13" name="Text 10"/>
          <p:cNvSpPr/>
          <p:nvPr/>
        </p:nvSpPr>
        <p:spPr>
          <a:xfrm>
            <a:off x="7205472" y="1481328"/>
            <a:ext cx="777240" cy="502920"/>
          </a:xfrm>
          <a:prstGeom prst="roundRect">
            <a:avLst>
              <a:gd name="adj" fmla="val 10909"/>
            </a:avLst>
          </a:prstGeom>
          <a:solidFill>
            <a:srgbClr val="FFFFFF"/>
          </a:solidFill>
          <a:ln w="15875">
            <a:solidFill>
              <a:srgbClr val="1F8A8A"/>
            </a:solidFill>
          </a:ln>
        </p:spPr>
        <p:txBody>
          <a:bodyPr wrap="square" lIns="0" tIns="0" rIns="0" bIns="0" rtlCol="0" anchor="ctr"/>
          <a:lstStyle/>
          <a:p>
            <a:pPr algn="ctr" indent="0" marL="0">
              <a:buNone/>
            </a:pPr>
            <a:r>
              <a:rPr lang="en-US" sz="1600" b="1" dirty="0">
                <a:solidFill>
                  <a:srgbClr val="202124"/>
                </a:solidFill>
                <a:latin typeface="Quicksand" pitchFamily="34" charset="0"/>
                <a:ea typeface="Quicksand" pitchFamily="34" charset="-122"/>
                <a:cs typeface="Quicksand" pitchFamily="34" charset="-120"/>
              </a:rPr>
              <a:t>35</a:t>
            </a:r>
            <a:endParaRPr lang="en-US" sz="1600" dirty="0"/>
          </a:p>
        </p:txBody>
      </p:sp>
      <p:sp>
        <p:nvSpPr>
          <p:cNvPr id="14" name="Text 11"/>
          <p:cNvSpPr/>
          <p:nvPr/>
        </p:nvSpPr>
        <p:spPr>
          <a:xfrm>
            <a:off x="8092440" y="1481328"/>
            <a:ext cx="777240" cy="502920"/>
          </a:xfrm>
          <a:prstGeom prst="roundRect">
            <a:avLst>
              <a:gd name="adj" fmla="val 10909"/>
            </a:avLst>
          </a:prstGeom>
          <a:solidFill>
            <a:srgbClr val="FFFFFF"/>
          </a:solidFill>
          <a:ln w="15875">
            <a:solidFill>
              <a:srgbClr val="1F8A8A"/>
            </a:solidFill>
          </a:ln>
        </p:spPr>
        <p:txBody>
          <a:bodyPr wrap="square" lIns="0" tIns="0" rIns="0" bIns="0" rtlCol="0" anchor="ctr"/>
          <a:lstStyle/>
          <a:p>
            <a:pPr algn="ctr" indent="0" marL="0">
              <a:buNone/>
            </a:pPr>
            <a:r>
              <a:rPr lang="en-US" sz="1600" b="1" dirty="0">
                <a:solidFill>
                  <a:srgbClr val="202124"/>
                </a:solidFill>
                <a:latin typeface="Quicksand" pitchFamily="34" charset="0"/>
                <a:ea typeface="Quicksand" pitchFamily="34" charset="-122"/>
                <a:cs typeface="Quicksand" pitchFamily="34" charset="-120"/>
              </a:rPr>
              <a:t>70</a:t>
            </a:r>
            <a:endParaRPr lang="en-US" sz="1600" dirty="0"/>
          </a:p>
        </p:txBody>
      </p:sp>
      <p:sp>
        <p:nvSpPr>
          <p:cNvPr id="15" name="Text 12"/>
          <p:cNvSpPr/>
          <p:nvPr/>
        </p:nvSpPr>
        <p:spPr>
          <a:xfrm>
            <a:off x="8979408" y="1481328"/>
            <a:ext cx="777240" cy="502920"/>
          </a:xfrm>
          <a:prstGeom prst="roundRect">
            <a:avLst>
              <a:gd name="adj" fmla="val 10909"/>
            </a:avLst>
          </a:prstGeom>
          <a:solidFill>
            <a:srgbClr val="FFFFFF"/>
          </a:solidFill>
          <a:ln w="15875">
            <a:solidFill>
              <a:srgbClr val="1F8A8A"/>
            </a:solidFill>
          </a:ln>
        </p:spPr>
        <p:txBody>
          <a:bodyPr wrap="square" lIns="0" tIns="0" rIns="0" bIns="0" rtlCol="0" anchor="ctr"/>
          <a:lstStyle/>
          <a:p>
            <a:pPr algn="ctr" indent="0" marL="0">
              <a:buNone/>
            </a:pPr>
            <a:r>
              <a:rPr lang="en-US" sz="1600" b="1" dirty="0">
                <a:solidFill>
                  <a:srgbClr val="202124"/>
                </a:solidFill>
                <a:latin typeface="Quicksand" pitchFamily="34" charset="0"/>
                <a:ea typeface="Quicksand" pitchFamily="34" charset="-122"/>
                <a:cs typeface="Quicksand" pitchFamily="34" charset="-120"/>
              </a:rPr>
              <a:t>60</a:t>
            </a:r>
            <a:endParaRPr lang="en-US" sz="1600" dirty="0"/>
          </a:p>
        </p:txBody>
      </p:sp>
      <p:sp>
        <p:nvSpPr>
          <p:cNvPr id="16" name="Text 13"/>
          <p:cNvSpPr/>
          <p:nvPr/>
        </p:nvSpPr>
        <p:spPr>
          <a:xfrm>
            <a:off x="9866376" y="1481328"/>
            <a:ext cx="777240" cy="502920"/>
          </a:xfrm>
          <a:prstGeom prst="roundRect">
            <a:avLst>
              <a:gd name="adj" fmla="val 10909"/>
            </a:avLst>
          </a:prstGeom>
          <a:solidFill>
            <a:srgbClr val="FFFFFF"/>
          </a:solidFill>
          <a:ln w="15875">
            <a:solidFill>
              <a:srgbClr val="1F8A8A"/>
            </a:solidFill>
          </a:ln>
        </p:spPr>
        <p:txBody>
          <a:bodyPr wrap="square" lIns="0" tIns="0" rIns="0" bIns="0" rtlCol="0" anchor="ctr"/>
          <a:lstStyle/>
          <a:p>
            <a:pPr algn="ctr" indent="0" marL="0">
              <a:buNone/>
            </a:pPr>
            <a:r>
              <a:rPr lang="en-US" sz="1600" b="1" dirty="0">
                <a:solidFill>
                  <a:srgbClr val="202124"/>
                </a:solidFill>
                <a:latin typeface="Quicksand" pitchFamily="34" charset="0"/>
                <a:ea typeface="Quicksand" pitchFamily="34" charset="-122"/>
                <a:cs typeface="Quicksand" pitchFamily="34" charset="-120"/>
              </a:rPr>
              <a:t>80</a:t>
            </a:r>
            <a:endParaRPr lang="en-US" sz="1600" dirty="0"/>
          </a:p>
        </p:txBody>
      </p:sp>
      <p:sp>
        <p:nvSpPr>
          <p:cNvPr id="17" name="Text 14"/>
          <p:cNvSpPr txBox="1"/>
          <p:nvPr/>
        </p:nvSpPr>
        <p:spPr>
          <a:xfrm>
            <a:off x="822960" y="2560320"/>
            <a:ext cx="2011680" cy="365760"/>
          </a:xfrm>
          <a:prstGeom prst="rect">
            <a:avLst/>
          </a:prstGeom>
          <a:noFill/>
          <a:ln/>
        </p:spPr>
        <p:txBody>
          <a:bodyPr wrap="square" lIns="0" tIns="0" rIns="0" bIns="0" rtlCol="0" anchor="ctr"/>
          <a:lstStyle/>
          <a:p>
            <a:pPr indent="0" marL="0">
              <a:buNone/>
            </a:pPr>
            <a:r>
              <a:rPr lang="en-US" sz="1700" b="1" dirty="0">
                <a:solidFill>
                  <a:srgbClr val="D9822B"/>
                </a:solidFill>
                <a:latin typeface="Quicksand" pitchFamily="34" charset="0"/>
                <a:ea typeface="Quicksand" pitchFamily="34" charset="-122"/>
                <a:cs typeface="Quicksand" pitchFamily="34" charset="-120"/>
              </a:rPr>
              <a:t>In-order</a:t>
            </a:r>
            <a:endParaRPr lang="en-US" sz="1700" dirty="0"/>
          </a:p>
        </p:txBody>
      </p:sp>
      <p:sp>
        <p:nvSpPr>
          <p:cNvPr id="18" name="Text 15"/>
          <p:cNvSpPr txBox="1"/>
          <p:nvPr/>
        </p:nvSpPr>
        <p:spPr>
          <a:xfrm>
            <a:off x="822960" y="2971800"/>
            <a:ext cx="2651760" cy="457200"/>
          </a:xfrm>
          <a:prstGeom prst="rect">
            <a:avLst/>
          </a:prstGeom>
          <a:noFill/>
          <a:ln/>
        </p:spPr>
        <p:txBody>
          <a:bodyPr wrap="square" lIns="0" tIns="0" rIns="0" bIns="0" rtlCol="0" anchor="ctr"/>
          <a:lstStyle/>
          <a:p>
            <a:pPr indent="0" marL="0">
              <a:buNone/>
            </a:pPr>
            <a:r>
              <a:rPr lang="en-US" sz="1300" dirty="0">
                <a:solidFill>
                  <a:srgbClr val="202124"/>
                </a:solidFill>
                <a:latin typeface="Quicksand" pitchFamily="34" charset="0"/>
                <a:ea typeface="Quicksand" pitchFamily="34" charset="-122"/>
                <a:cs typeface="Quicksand" pitchFamily="34" charset="-120"/>
              </a:rPr>
              <a:t>Ascending order (ordered tree)</a:t>
            </a:r>
            <a:endParaRPr lang="en-US" sz="1300" dirty="0"/>
          </a:p>
        </p:txBody>
      </p:sp>
      <p:sp>
        <p:nvSpPr>
          <p:cNvPr id="19" name="Text 16"/>
          <p:cNvSpPr/>
          <p:nvPr/>
        </p:nvSpPr>
        <p:spPr>
          <a:xfrm>
            <a:off x="3657600" y="2670048"/>
            <a:ext cx="777240" cy="502920"/>
          </a:xfrm>
          <a:prstGeom prst="roundRect">
            <a:avLst>
              <a:gd name="adj" fmla="val 10909"/>
            </a:avLst>
          </a:prstGeom>
          <a:solidFill>
            <a:srgbClr val="FFFFFF"/>
          </a:solidFill>
          <a:ln w="15875">
            <a:solidFill>
              <a:srgbClr val="D9822B"/>
            </a:solidFill>
          </a:ln>
        </p:spPr>
        <p:txBody>
          <a:bodyPr wrap="square" lIns="0" tIns="0" rIns="0" bIns="0" rtlCol="0" anchor="ctr"/>
          <a:lstStyle/>
          <a:p>
            <a:pPr algn="ctr" indent="0" marL="0">
              <a:buNone/>
            </a:pPr>
            <a:r>
              <a:rPr lang="en-US" sz="1600" b="1" dirty="0">
                <a:solidFill>
                  <a:srgbClr val="202124"/>
                </a:solidFill>
                <a:latin typeface="Quicksand" pitchFamily="34" charset="0"/>
                <a:ea typeface="Quicksand" pitchFamily="34" charset="-122"/>
                <a:cs typeface="Quicksand" pitchFamily="34" charset="-120"/>
              </a:rPr>
              <a:t>20</a:t>
            </a:r>
            <a:endParaRPr lang="en-US" sz="1600" dirty="0"/>
          </a:p>
        </p:txBody>
      </p:sp>
      <p:sp>
        <p:nvSpPr>
          <p:cNvPr id="20" name="Text 17"/>
          <p:cNvSpPr/>
          <p:nvPr/>
        </p:nvSpPr>
        <p:spPr>
          <a:xfrm>
            <a:off x="4544568" y="2670048"/>
            <a:ext cx="777240" cy="502920"/>
          </a:xfrm>
          <a:prstGeom prst="roundRect">
            <a:avLst>
              <a:gd name="adj" fmla="val 10909"/>
            </a:avLst>
          </a:prstGeom>
          <a:solidFill>
            <a:srgbClr val="FFFFFF"/>
          </a:solidFill>
          <a:ln w="15875">
            <a:solidFill>
              <a:srgbClr val="D9822B"/>
            </a:solidFill>
          </a:ln>
        </p:spPr>
        <p:txBody>
          <a:bodyPr wrap="square" lIns="0" tIns="0" rIns="0" bIns="0" rtlCol="0" anchor="ctr"/>
          <a:lstStyle/>
          <a:p>
            <a:pPr algn="ctr" indent="0" marL="0">
              <a:buNone/>
            </a:pPr>
            <a:r>
              <a:rPr lang="en-US" sz="1600" b="1" dirty="0">
                <a:solidFill>
                  <a:srgbClr val="202124"/>
                </a:solidFill>
                <a:latin typeface="Quicksand" pitchFamily="34" charset="0"/>
                <a:ea typeface="Quicksand" pitchFamily="34" charset="-122"/>
                <a:cs typeface="Quicksand" pitchFamily="34" charset="-120"/>
              </a:rPr>
              <a:t>30</a:t>
            </a:r>
            <a:endParaRPr lang="en-US" sz="1600" dirty="0"/>
          </a:p>
        </p:txBody>
      </p:sp>
      <p:sp>
        <p:nvSpPr>
          <p:cNvPr id="21" name="Text 18"/>
          <p:cNvSpPr/>
          <p:nvPr/>
        </p:nvSpPr>
        <p:spPr>
          <a:xfrm>
            <a:off x="5431536" y="2670048"/>
            <a:ext cx="777240" cy="502920"/>
          </a:xfrm>
          <a:prstGeom prst="roundRect">
            <a:avLst>
              <a:gd name="adj" fmla="val 10909"/>
            </a:avLst>
          </a:prstGeom>
          <a:solidFill>
            <a:srgbClr val="FFFFFF"/>
          </a:solidFill>
          <a:ln w="15875">
            <a:solidFill>
              <a:srgbClr val="D9822B"/>
            </a:solidFill>
          </a:ln>
        </p:spPr>
        <p:txBody>
          <a:bodyPr wrap="square" lIns="0" tIns="0" rIns="0" bIns="0" rtlCol="0" anchor="ctr"/>
          <a:lstStyle/>
          <a:p>
            <a:pPr algn="ctr" indent="0" marL="0">
              <a:buNone/>
            </a:pPr>
            <a:r>
              <a:rPr lang="en-US" sz="1600" b="1" dirty="0">
                <a:solidFill>
                  <a:srgbClr val="202124"/>
                </a:solidFill>
                <a:latin typeface="Quicksand" pitchFamily="34" charset="0"/>
                <a:ea typeface="Quicksand" pitchFamily="34" charset="-122"/>
                <a:cs typeface="Quicksand" pitchFamily="34" charset="-120"/>
              </a:rPr>
              <a:t>35</a:t>
            </a:r>
            <a:endParaRPr lang="en-US" sz="1600" dirty="0"/>
          </a:p>
        </p:txBody>
      </p:sp>
      <p:sp>
        <p:nvSpPr>
          <p:cNvPr id="22" name="Text 19"/>
          <p:cNvSpPr/>
          <p:nvPr/>
        </p:nvSpPr>
        <p:spPr>
          <a:xfrm>
            <a:off x="6318504" y="2670048"/>
            <a:ext cx="777240" cy="502920"/>
          </a:xfrm>
          <a:prstGeom prst="roundRect">
            <a:avLst>
              <a:gd name="adj" fmla="val 10909"/>
            </a:avLst>
          </a:prstGeom>
          <a:solidFill>
            <a:srgbClr val="FFFFFF"/>
          </a:solidFill>
          <a:ln w="15875">
            <a:solidFill>
              <a:srgbClr val="D9822B"/>
            </a:solidFill>
          </a:ln>
        </p:spPr>
        <p:txBody>
          <a:bodyPr wrap="square" lIns="0" tIns="0" rIns="0" bIns="0" rtlCol="0" anchor="ctr"/>
          <a:lstStyle/>
          <a:p>
            <a:pPr algn="ctr" indent="0" marL="0">
              <a:buNone/>
            </a:pPr>
            <a:r>
              <a:rPr lang="en-US" sz="1600" b="1" dirty="0">
                <a:solidFill>
                  <a:srgbClr val="202124"/>
                </a:solidFill>
                <a:latin typeface="Quicksand" pitchFamily="34" charset="0"/>
                <a:ea typeface="Quicksand" pitchFamily="34" charset="-122"/>
                <a:cs typeface="Quicksand" pitchFamily="34" charset="-120"/>
              </a:rPr>
              <a:t>40</a:t>
            </a:r>
            <a:endParaRPr lang="en-US" sz="1600" dirty="0"/>
          </a:p>
        </p:txBody>
      </p:sp>
      <p:sp>
        <p:nvSpPr>
          <p:cNvPr id="23" name="Text 20"/>
          <p:cNvSpPr/>
          <p:nvPr/>
        </p:nvSpPr>
        <p:spPr>
          <a:xfrm>
            <a:off x="7205472" y="2670048"/>
            <a:ext cx="777240" cy="502920"/>
          </a:xfrm>
          <a:prstGeom prst="roundRect">
            <a:avLst>
              <a:gd name="adj" fmla="val 10909"/>
            </a:avLst>
          </a:prstGeom>
          <a:solidFill>
            <a:srgbClr val="FFFFFF"/>
          </a:solidFill>
          <a:ln w="15875">
            <a:solidFill>
              <a:srgbClr val="D9822B"/>
            </a:solidFill>
          </a:ln>
        </p:spPr>
        <p:txBody>
          <a:bodyPr wrap="square" lIns="0" tIns="0" rIns="0" bIns="0" rtlCol="0" anchor="ctr"/>
          <a:lstStyle/>
          <a:p>
            <a:pPr algn="ctr" indent="0" marL="0">
              <a:buNone/>
            </a:pPr>
            <a:r>
              <a:rPr lang="en-US" sz="1600" b="1" dirty="0">
                <a:solidFill>
                  <a:srgbClr val="202124"/>
                </a:solidFill>
                <a:latin typeface="Quicksand" pitchFamily="34" charset="0"/>
                <a:ea typeface="Quicksand" pitchFamily="34" charset="-122"/>
                <a:cs typeface="Quicksand" pitchFamily="34" charset="-120"/>
              </a:rPr>
              <a:t>50</a:t>
            </a:r>
            <a:endParaRPr lang="en-US" sz="1600" dirty="0"/>
          </a:p>
        </p:txBody>
      </p:sp>
      <p:sp>
        <p:nvSpPr>
          <p:cNvPr id="24" name="Text 21"/>
          <p:cNvSpPr/>
          <p:nvPr/>
        </p:nvSpPr>
        <p:spPr>
          <a:xfrm>
            <a:off x="8092440" y="2670048"/>
            <a:ext cx="777240" cy="502920"/>
          </a:xfrm>
          <a:prstGeom prst="roundRect">
            <a:avLst>
              <a:gd name="adj" fmla="val 10909"/>
            </a:avLst>
          </a:prstGeom>
          <a:solidFill>
            <a:srgbClr val="FFFFFF"/>
          </a:solidFill>
          <a:ln w="15875">
            <a:solidFill>
              <a:srgbClr val="D9822B"/>
            </a:solidFill>
          </a:ln>
        </p:spPr>
        <p:txBody>
          <a:bodyPr wrap="square" lIns="0" tIns="0" rIns="0" bIns="0" rtlCol="0" anchor="ctr"/>
          <a:lstStyle/>
          <a:p>
            <a:pPr algn="ctr" indent="0" marL="0">
              <a:buNone/>
            </a:pPr>
            <a:r>
              <a:rPr lang="en-US" sz="1600" b="1" dirty="0">
                <a:solidFill>
                  <a:srgbClr val="202124"/>
                </a:solidFill>
                <a:latin typeface="Quicksand" pitchFamily="34" charset="0"/>
                <a:ea typeface="Quicksand" pitchFamily="34" charset="-122"/>
                <a:cs typeface="Quicksand" pitchFamily="34" charset="-120"/>
              </a:rPr>
              <a:t>60</a:t>
            </a:r>
            <a:endParaRPr lang="en-US" sz="1600" dirty="0"/>
          </a:p>
        </p:txBody>
      </p:sp>
      <p:sp>
        <p:nvSpPr>
          <p:cNvPr id="25" name="Text 22"/>
          <p:cNvSpPr/>
          <p:nvPr/>
        </p:nvSpPr>
        <p:spPr>
          <a:xfrm>
            <a:off x="8979408" y="2670048"/>
            <a:ext cx="777240" cy="502920"/>
          </a:xfrm>
          <a:prstGeom prst="roundRect">
            <a:avLst>
              <a:gd name="adj" fmla="val 10909"/>
            </a:avLst>
          </a:prstGeom>
          <a:solidFill>
            <a:srgbClr val="FFFFFF"/>
          </a:solidFill>
          <a:ln w="15875">
            <a:solidFill>
              <a:srgbClr val="D9822B"/>
            </a:solidFill>
          </a:ln>
        </p:spPr>
        <p:txBody>
          <a:bodyPr wrap="square" lIns="0" tIns="0" rIns="0" bIns="0" rtlCol="0" anchor="ctr"/>
          <a:lstStyle/>
          <a:p>
            <a:pPr algn="ctr" indent="0" marL="0">
              <a:buNone/>
            </a:pPr>
            <a:r>
              <a:rPr lang="en-US" sz="1600" b="1" dirty="0">
                <a:solidFill>
                  <a:srgbClr val="202124"/>
                </a:solidFill>
                <a:latin typeface="Quicksand" pitchFamily="34" charset="0"/>
                <a:ea typeface="Quicksand" pitchFamily="34" charset="-122"/>
                <a:cs typeface="Quicksand" pitchFamily="34" charset="-120"/>
              </a:rPr>
              <a:t>70</a:t>
            </a:r>
            <a:endParaRPr lang="en-US" sz="1600" dirty="0"/>
          </a:p>
        </p:txBody>
      </p:sp>
      <p:sp>
        <p:nvSpPr>
          <p:cNvPr id="26" name="Text 23"/>
          <p:cNvSpPr/>
          <p:nvPr/>
        </p:nvSpPr>
        <p:spPr>
          <a:xfrm>
            <a:off x="9866376" y="2670048"/>
            <a:ext cx="777240" cy="502920"/>
          </a:xfrm>
          <a:prstGeom prst="roundRect">
            <a:avLst>
              <a:gd name="adj" fmla="val 10909"/>
            </a:avLst>
          </a:prstGeom>
          <a:solidFill>
            <a:srgbClr val="FFFFFF"/>
          </a:solidFill>
          <a:ln w="15875">
            <a:solidFill>
              <a:srgbClr val="D9822B"/>
            </a:solidFill>
          </a:ln>
        </p:spPr>
        <p:txBody>
          <a:bodyPr wrap="square" lIns="0" tIns="0" rIns="0" bIns="0" rtlCol="0" anchor="ctr"/>
          <a:lstStyle/>
          <a:p>
            <a:pPr algn="ctr" indent="0" marL="0">
              <a:buNone/>
            </a:pPr>
            <a:r>
              <a:rPr lang="en-US" sz="1600" b="1" dirty="0">
                <a:solidFill>
                  <a:srgbClr val="202124"/>
                </a:solidFill>
                <a:latin typeface="Quicksand" pitchFamily="34" charset="0"/>
                <a:ea typeface="Quicksand" pitchFamily="34" charset="-122"/>
                <a:cs typeface="Quicksand" pitchFamily="34" charset="-120"/>
              </a:rPr>
              <a:t>80</a:t>
            </a:r>
            <a:endParaRPr lang="en-US" sz="1600" dirty="0"/>
          </a:p>
        </p:txBody>
      </p:sp>
      <p:sp>
        <p:nvSpPr>
          <p:cNvPr id="27" name="Text 24"/>
          <p:cNvSpPr txBox="1"/>
          <p:nvPr/>
        </p:nvSpPr>
        <p:spPr>
          <a:xfrm>
            <a:off x="822960" y="3749040"/>
            <a:ext cx="2011680" cy="365760"/>
          </a:xfrm>
          <a:prstGeom prst="rect">
            <a:avLst/>
          </a:prstGeom>
          <a:noFill/>
          <a:ln/>
        </p:spPr>
        <p:txBody>
          <a:bodyPr wrap="square" lIns="0" tIns="0" rIns="0" bIns="0" rtlCol="0" anchor="ctr"/>
          <a:lstStyle/>
          <a:p>
            <a:pPr indent="0" marL="0">
              <a:buNone/>
            </a:pPr>
            <a:r>
              <a:rPr lang="en-US" sz="1700" b="1" dirty="0">
                <a:solidFill>
                  <a:srgbClr val="8E4FB8"/>
                </a:solidFill>
                <a:latin typeface="Quicksand" pitchFamily="34" charset="0"/>
                <a:ea typeface="Quicksand" pitchFamily="34" charset="-122"/>
                <a:cs typeface="Quicksand" pitchFamily="34" charset="-120"/>
              </a:rPr>
              <a:t>Post-order</a:t>
            </a:r>
            <a:endParaRPr lang="en-US" sz="1700" dirty="0"/>
          </a:p>
        </p:txBody>
      </p:sp>
      <p:sp>
        <p:nvSpPr>
          <p:cNvPr id="28" name="Text 25"/>
          <p:cNvSpPr txBox="1"/>
          <p:nvPr/>
        </p:nvSpPr>
        <p:spPr>
          <a:xfrm>
            <a:off x="822960" y="4160520"/>
            <a:ext cx="2651760" cy="457200"/>
          </a:xfrm>
          <a:prstGeom prst="rect">
            <a:avLst/>
          </a:prstGeom>
          <a:noFill/>
          <a:ln/>
        </p:spPr>
        <p:txBody>
          <a:bodyPr wrap="square" lIns="0" tIns="0" rIns="0" bIns="0" rtlCol="0" anchor="ctr"/>
          <a:lstStyle/>
          <a:p>
            <a:pPr indent="0" marL="0">
              <a:buNone/>
            </a:pPr>
            <a:r>
              <a:rPr lang="en-US" sz="1300" dirty="0">
                <a:solidFill>
                  <a:srgbClr val="202124"/>
                </a:solidFill>
                <a:latin typeface="Quicksand" pitchFamily="34" charset="0"/>
                <a:ea typeface="Quicksand" pitchFamily="34" charset="-122"/>
                <a:cs typeface="Quicksand" pitchFamily="34" charset="-120"/>
              </a:rPr>
              <a:t>Ends with the root</a:t>
            </a:r>
            <a:endParaRPr lang="en-US" sz="1300" dirty="0"/>
          </a:p>
        </p:txBody>
      </p:sp>
      <p:sp>
        <p:nvSpPr>
          <p:cNvPr id="29" name="Text 26"/>
          <p:cNvSpPr/>
          <p:nvPr/>
        </p:nvSpPr>
        <p:spPr>
          <a:xfrm>
            <a:off x="3657600" y="3858768"/>
            <a:ext cx="777240" cy="502920"/>
          </a:xfrm>
          <a:prstGeom prst="roundRect">
            <a:avLst>
              <a:gd name="adj" fmla="val 10909"/>
            </a:avLst>
          </a:prstGeom>
          <a:solidFill>
            <a:srgbClr val="FFFFFF"/>
          </a:solidFill>
          <a:ln w="15875">
            <a:solidFill>
              <a:srgbClr val="8E4FB8"/>
            </a:solidFill>
          </a:ln>
        </p:spPr>
        <p:txBody>
          <a:bodyPr wrap="square" lIns="0" tIns="0" rIns="0" bIns="0" rtlCol="0" anchor="ctr"/>
          <a:lstStyle/>
          <a:p>
            <a:pPr algn="ctr" indent="0" marL="0">
              <a:buNone/>
            </a:pPr>
            <a:r>
              <a:rPr lang="en-US" sz="1600" b="1" dirty="0">
                <a:solidFill>
                  <a:srgbClr val="202124"/>
                </a:solidFill>
                <a:latin typeface="Quicksand" pitchFamily="34" charset="0"/>
                <a:ea typeface="Quicksand" pitchFamily="34" charset="-122"/>
                <a:cs typeface="Quicksand" pitchFamily="34" charset="-120"/>
              </a:rPr>
              <a:t>20</a:t>
            </a:r>
            <a:endParaRPr lang="en-US" sz="1600" dirty="0"/>
          </a:p>
        </p:txBody>
      </p:sp>
      <p:sp>
        <p:nvSpPr>
          <p:cNvPr id="30" name="Text 27"/>
          <p:cNvSpPr/>
          <p:nvPr/>
        </p:nvSpPr>
        <p:spPr>
          <a:xfrm>
            <a:off x="4544568" y="3858768"/>
            <a:ext cx="777240" cy="502920"/>
          </a:xfrm>
          <a:prstGeom prst="roundRect">
            <a:avLst>
              <a:gd name="adj" fmla="val 10909"/>
            </a:avLst>
          </a:prstGeom>
          <a:solidFill>
            <a:srgbClr val="FFFFFF"/>
          </a:solidFill>
          <a:ln w="15875">
            <a:solidFill>
              <a:srgbClr val="8E4FB8"/>
            </a:solidFill>
          </a:ln>
        </p:spPr>
        <p:txBody>
          <a:bodyPr wrap="square" lIns="0" tIns="0" rIns="0" bIns="0" rtlCol="0" anchor="ctr"/>
          <a:lstStyle/>
          <a:p>
            <a:pPr algn="ctr" indent="0" marL="0">
              <a:buNone/>
            </a:pPr>
            <a:r>
              <a:rPr lang="en-US" sz="1600" b="1" dirty="0">
                <a:solidFill>
                  <a:srgbClr val="202124"/>
                </a:solidFill>
                <a:latin typeface="Quicksand" pitchFamily="34" charset="0"/>
                <a:ea typeface="Quicksand" pitchFamily="34" charset="-122"/>
                <a:cs typeface="Quicksand" pitchFamily="34" charset="-120"/>
              </a:rPr>
              <a:t>35</a:t>
            </a:r>
            <a:endParaRPr lang="en-US" sz="1600" dirty="0"/>
          </a:p>
        </p:txBody>
      </p:sp>
      <p:sp>
        <p:nvSpPr>
          <p:cNvPr id="31" name="Text 28"/>
          <p:cNvSpPr/>
          <p:nvPr/>
        </p:nvSpPr>
        <p:spPr>
          <a:xfrm>
            <a:off x="5431536" y="3858768"/>
            <a:ext cx="777240" cy="502920"/>
          </a:xfrm>
          <a:prstGeom prst="roundRect">
            <a:avLst>
              <a:gd name="adj" fmla="val 10909"/>
            </a:avLst>
          </a:prstGeom>
          <a:solidFill>
            <a:srgbClr val="FFFFFF"/>
          </a:solidFill>
          <a:ln w="15875">
            <a:solidFill>
              <a:srgbClr val="8E4FB8"/>
            </a:solidFill>
          </a:ln>
        </p:spPr>
        <p:txBody>
          <a:bodyPr wrap="square" lIns="0" tIns="0" rIns="0" bIns="0" rtlCol="0" anchor="ctr"/>
          <a:lstStyle/>
          <a:p>
            <a:pPr algn="ctr" indent="0" marL="0">
              <a:buNone/>
            </a:pPr>
            <a:r>
              <a:rPr lang="en-US" sz="1600" b="1" dirty="0">
                <a:solidFill>
                  <a:srgbClr val="202124"/>
                </a:solidFill>
                <a:latin typeface="Quicksand" pitchFamily="34" charset="0"/>
                <a:ea typeface="Quicksand" pitchFamily="34" charset="-122"/>
                <a:cs typeface="Quicksand" pitchFamily="34" charset="-120"/>
              </a:rPr>
              <a:t>40</a:t>
            </a:r>
            <a:endParaRPr lang="en-US" sz="1600" dirty="0"/>
          </a:p>
        </p:txBody>
      </p:sp>
      <p:sp>
        <p:nvSpPr>
          <p:cNvPr id="32" name="Text 29"/>
          <p:cNvSpPr/>
          <p:nvPr/>
        </p:nvSpPr>
        <p:spPr>
          <a:xfrm>
            <a:off x="6318504" y="3858768"/>
            <a:ext cx="777240" cy="502920"/>
          </a:xfrm>
          <a:prstGeom prst="roundRect">
            <a:avLst>
              <a:gd name="adj" fmla="val 10909"/>
            </a:avLst>
          </a:prstGeom>
          <a:solidFill>
            <a:srgbClr val="FFFFFF"/>
          </a:solidFill>
          <a:ln w="15875">
            <a:solidFill>
              <a:srgbClr val="8E4FB8"/>
            </a:solidFill>
          </a:ln>
        </p:spPr>
        <p:txBody>
          <a:bodyPr wrap="square" lIns="0" tIns="0" rIns="0" bIns="0" rtlCol="0" anchor="ctr"/>
          <a:lstStyle/>
          <a:p>
            <a:pPr algn="ctr" indent="0" marL="0">
              <a:buNone/>
            </a:pPr>
            <a:r>
              <a:rPr lang="en-US" sz="1600" b="1" dirty="0">
                <a:solidFill>
                  <a:srgbClr val="202124"/>
                </a:solidFill>
                <a:latin typeface="Quicksand" pitchFamily="34" charset="0"/>
                <a:ea typeface="Quicksand" pitchFamily="34" charset="-122"/>
                <a:cs typeface="Quicksand" pitchFamily="34" charset="-120"/>
              </a:rPr>
              <a:t>30</a:t>
            </a:r>
            <a:endParaRPr lang="en-US" sz="1600" dirty="0"/>
          </a:p>
        </p:txBody>
      </p:sp>
      <p:sp>
        <p:nvSpPr>
          <p:cNvPr id="33" name="Text 30"/>
          <p:cNvSpPr/>
          <p:nvPr/>
        </p:nvSpPr>
        <p:spPr>
          <a:xfrm>
            <a:off x="7205472" y="3858768"/>
            <a:ext cx="777240" cy="502920"/>
          </a:xfrm>
          <a:prstGeom prst="roundRect">
            <a:avLst>
              <a:gd name="adj" fmla="val 10909"/>
            </a:avLst>
          </a:prstGeom>
          <a:solidFill>
            <a:srgbClr val="FFFFFF"/>
          </a:solidFill>
          <a:ln w="15875">
            <a:solidFill>
              <a:srgbClr val="8E4FB8"/>
            </a:solidFill>
          </a:ln>
        </p:spPr>
        <p:txBody>
          <a:bodyPr wrap="square" lIns="0" tIns="0" rIns="0" bIns="0" rtlCol="0" anchor="ctr"/>
          <a:lstStyle/>
          <a:p>
            <a:pPr algn="ctr" indent="0" marL="0">
              <a:buNone/>
            </a:pPr>
            <a:r>
              <a:rPr lang="en-US" sz="1600" b="1" dirty="0">
                <a:solidFill>
                  <a:srgbClr val="202124"/>
                </a:solidFill>
                <a:latin typeface="Quicksand" pitchFamily="34" charset="0"/>
                <a:ea typeface="Quicksand" pitchFamily="34" charset="-122"/>
                <a:cs typeface="Quicksand" pitchFamily="34" charset="-120"/>
              </a:rPr>
              <a:t>60</a:t>
            </a:r>
            <a:endParaRPr lang="en-US" sz="1600" dirty="0"/>
          </a:p>
        </p:txBody>
      </p:sp>
      <p:sp>
        <p:nvSpPr>
          <p:cNvPr id="34" name="Text 31"/>
          <p:cNvSpPr/>
          <p:nvPr/>
        </p:nvSpPr>
        <p:spPr>
          <a:xfrm>
            <a:off x="8092440" y="3858768"/>
            <a:ext cx="777240" cy="502920"/>
          </a:xfrm>
          <a:prstGeom prst="roundRect">
            <a:avLst>
              <a:gd name="adj" fmla="val 10909"/>
            </a:avLst>
          </a:prstGeom>
          <a:solidFill>
            <a:srgbClr val="FFFFFF"/>
          </a:solidFill>
          <a:ln w="15875">
            <a:solidFill>
              <a:srgbClr val="8E4FB8"/>
            </a:solidFill>
          </a:ln>
        </p:spPr>
        <p:txBody>
          <a:bodyPr wrap="square" lIns="0" tIns="0" rIns="0" bIns="0" rtlCol="0" anchor="ctr"/>
          <a:lstStyle/>
          <a:p>
            <a:pPr algn="ctr" indent="0" marL="0">
              <a:buNone/>
            </a:pPr>
            <a:r>
              <a:rPr lang="en-US" sz="1600" b="1" dirty="0">
                <a:solidFill>
                  <a:srgbClr val="202124"/>
                </a:solidFill>
                <a:latin typeface="Quicksand" pitchFamily="34" charset="0"/>
                <a:ea typeface="Quicksand" pitchFamily="34" charset="-122"/>
                <a:cs typeface="Quicksand" pitchFamily="34" charset="-120"/>
              </a:rPr>
              <a:t>80</a:t>
            </a:r>
            <a:endParaRPr lang="en-US" sz="1600" dirty="0"/>
          </a:p>
        </p:txBody>
      </p:sp>
      <p:sp>
        <p:nvSpPr>
          <p:cNvPr id="35" name="Text 32"/>
          <p:cNvSpPr/>
          <p:nvPr/>
        </p:nvSpPr>
        <p:spPr>
          <a:xfrm>
            <a:off x="8979408" y="3858768"/>
            <a:ext cx="777240" cy="502920"/>
          </a:xfrm>
          <a:prstGeom prst="roundRect">
            <a:avLst>
              <a:gd name="adj" fmla="val 10909"/>
            </a:avLst>
          </a:prstGeom>
          <a:solidFill>
            <a:srgbClr val="FFFFFF"/>
          </a:solidFill>
          <a:ln w="15875">
            <a:solidFill>
              <a:srgbClr val="8E4FB8"/>
            </a:solidFill>
          </a:ln>
        </p:spPr>
        <p:txBody>
          <a:bodyPr wrap="square" lIns="0" tIns="0" rIns="0" bIns="0" rtlCol="0" anchor="ctr"/>
          <a:lstStyle/>
          <a:p>
            <a:pPr algn="ctr" indent="0" marL="0">
              <a:buNone/>
            </a:pPr>
            <a:r>
              <a:rPr lang="en-US" sz="1600" b="1" dirty="0">
                <a:solidFill>
                  <a:srgbClr val="202124"/>
                </a:solidFill>
                <a:latin typeface="Quicksand" pitchFamily="34" charset="0"/>
                <a:ea typeface="Quicksand" pitchFamily="34" charset="-122"/>
                <a:cs typeface="Quicksand" pitchFamily="34" charset="-120"/>
              </a:rPr>
              <a:t>70</a:t>
            </a:r>
            <a:endParaRPr lang="en-US" sz="1600" dirty="0"/>
          </a:p>
        </p:txBody>
      </p:sp>
      <p:sp>
        <p:nvSpPr>
          <p:cNvPr id="36" name="Text 33"/>
          <p:cNvSpPr/>
          <p:nvPr/>
        </p:nvSpPr>
        <p:spPr>
          <a:xfrm>
            <a:off x="9866376" y="3858768"/>
            <a:ext cx="777240" cy="502920"/>
          </a:xfrm>
          <a:prstGeom prst="roundRect">
            <a:avLst>
              <a:gd name="adj" fmla="val 10909"/>
            </a:avLst>
          </a:prstGeom>
          <a:solidFill>
            <a:srgbClr val="FFD84D"/>
          </a:solidFill>
          <a:ln w="15875">
            <a:solidFill>
              <a:srgbClr val="8E4FB8"/>
            </a:solidFill>
          </a:ln>
        </p:spPr>
        <p:txBody>
          <a:bodyPr wrap="square" lIns="0" tIns="0" rIns="0" bIns="0" rtlCol="0" anchor="ctr"/>
          <a:lstStyle/>
          <a:p>
            <a:pPr algn="ctr" indent="0" marL="0">
              <a:buNone/>
            </a:pPr>
            <a:r>
              <a:rPr lang="en-US" sz="1600" b="1" dirty="0">
                <a:solidFill>
                  <a:srgbClr val="202124"/>
                </a:solidFill>
                <a:latin typeface="Quicksand" pitchFamily="34" charset="0"/>
                <a:ea typeface="Quicksand" pitchFamily="34" charset="-122"/>
                <a:cs typeface="Quicksand" pitchFamily="34" charset="-120"/>
              </a:rPr>
              <a:t>50</a:t>
            </a:r>
            <a:endParaRPr lang="en-US" sz="1600" dirty="0"/>
          </a:p>
        </p:txBody>
      </p:sp>
      <p:sp>
        <p:nvSpPr>
          <p:cNvPr id="37" name="Shape 34"/>
          <p:cNvSpPr/>
          <p:nvPr/>
        </p:nvSpPr>
        <p:spPr>
          <a:xfrm>
            <a:off x="822960" y="4937760"/>
            <a:ext cx="5120640" cy="1051560"/>
          </a:xfrm>
          <a:prstGeom prst="rect">
            <a:avLst/>
          </a:prstGeom>
          <a:solidFill>
            <a:srgbClr val="F6F5FC"/>
          </a:solidFill>
          <a:ln w="12700">
            <a:solidFill>
              <a:srgbClr val="F6F5FC"/>
            </a:solidFill>
            <a:prstDash val="solid"/>
          </a:ln>
        </p:spPr>
      </p:sp>
      <p:sp>
        <p:nvSpPr>
          <p:cNvPr id="38" name="Text 35"/>
          <p:cNvSpPr/>
          <p:nvPr/>
        </p:nvSpPr>
        <p:spPr>
          <a:xfrm>
            <a:off x="960120" y="50749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39" name="Text 36"/>
          <p:cNvSpPr txBox="1"/>
          <p:nvPr/>
        </p:nvSpPr>
        <p:spPr>
          <a:xfrm>
            <a:off x="1481328" y="5047488"/>
            <a:ext cx="43434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Count them</a:t>
            </a:r>
            <a:endParaRPr lang="en-US" sz="1500" dirty="0"/>
          </a:p>
        </p:txBody>
      </p:sp>
      <p:sp>
        <p:nvSpPr>
          <p:cNvPr id="40" name="Text 37"/>
          <p:cNvSpPr txBox="1"/>
          <p:nvPr/>
        </p:nvSpPr>
        <p:spPr>
          <a:xfrm>
            <a:off x="1481328" y="5440680"/>
            <a:ext cx="4343400" cy="484632"/>
          </a:xfrm>
          <a:prstGeom prst="rect">
            <a:avLst/>
          </a:prstGeom>
          <a:noFill/>
          <a:ln/>
        </p:spPr>
        <p:txBody>
          <a:bodyPr wrap="square" lIns="0" tIns="0" rIns="0" bIns="0" rtlCol="0" anchor="t"/>
          <a:lstStyle/>
          <a:p>
            <a:pPr indent="0" marL="0">
              <a:buNone/>
            </a:pPr>
            <a:r>
              <a:rPr lang="en-US" sz="1300" dirty="0">
                <a:solidFill>
                  <a:srgbClr val="202124"/>
                </a:solidFill>
                <a:latin typeface="Quicksand" pitchFamily="34" charset="0"/>
                <a:ea typeface="Quicksand" pitchFamily="34" charset="-122"/>
                <a:cs typeface="Quicksand" pitchFamily="34" charset="-120"/>
              </a:rPr>
              <a:t>Every node appears exactly once: 8 nodes in the tree, 8 values out.</a:t>
            </a:r>
            <a:endParaRPr lang="en-US" sz="1300" dirty="0"/>
          </a:p>
        </p:txBody>
      </p:sp>
      <p:sp>
        <p:nvSpPr>
          <p:cNvPr id="41" name="Shape 38"/>
          <p:cNvSpPr/>
          <p:nvPr/>
        </p:nvSpPr>
        <p:spPr>
          <a:xfrm>
            <a:off x="6217920" y="4937760"/>
            <a:ext cx="5303520" cy="1051560"/>
          </a:xfrm>
          <a:prstGeom prst="rect">
            <a:avLst/>
          </a:prstGeom>
          <a:solidFill>
            <a:srgbClr val="F6F5FC"/>
          </a:solidFill>
          <a:ln w="12700">
            <a:solidFill>
              <a:srgbClr val="F6F5FC"/>
            </a:solidFill>
            <a:prstDash val="solid"/>
          </a:ln>
        </p:spPr>
      </p:sp>
      <p:sp>
        <p:nvSpPr>
          <p:cNvPr id="42" name="Text 39"/>
          <p:cNvSpPr/>
          <p:nvPr/>
        </p:nvSpPr>
        <p:spPr>
          <a:xfrm>
            <a:off x="6355080" y="50749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43" name="Text 40"/>
          <p:cNvSpPr txBox="1"/>
          <p:nvPr/>
        </p:nvSpPr>
        <p:spPr>
          <a:xfrm>
            <a:off x="6876288" y="5047488"/>
            <a:ext cx="452628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Use the in-order to check</a:t>
            </a:r>
            <a:endParaRPr lang="en-US" sz="1500" dirty="0"/>
          </a:p>
        </p:txBody>
      </p:sp>
      <p:sp>
        <p:nvSpPr>
          <p:cNvPr id="44" name="Text 41"/>
          <p:cNvSpPr txBox="1"/>
          <p:nvPr/>
        </p:nvSpPr>
        <p:spPr>
          <a:xfrm>
            <a:off x="6876288" y="5440680"/>
            <a:ext cx="4526280" cy="484632"/>
          </a:xfrm>
          <a:prstGeom prst="rect">
            <a:avLst/>
          </a:prstGeom>
          <a:noFill/>
          <a:ln/>
        </p:spPr>
        <p:txBody>
          <a:bodyPr wrap="square" lIns="0" tIns="0" rIns="0" bIns="0" rtlCol="0" anchor="t"/>
          <a:lstStyle/>
          <a:p>
            <a:pPr indent="0" marL="0">
              <a:buNone/>
            </a:pPr>
            <a:r>
              <a:rPr lang="en-US" sz="1300" dirty="0">
                <a:solidFill>
                  <a:srgbClr val="202124"/>
                </a:solidFill>
                <a:latin typeface="Quicksand" pitchFamily="34" charset="0"/>
                <a:ea typeface="Quicksand" pitchFamily="34" charset="-122"/>
                <a:cs typeface="Quicksand" pitchFamily="34" charset="-120"/>
              </a:rPr>
              <a:t>If the in-order is not sorted, the tree was drawn wrongly - fix the tree first.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Your turn</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10</a:t>
            </a:r>
            <a:endParaRPr lang="en-US" sz="1350" dirty="0"/>
          </a:p>
        </p:txBody>
      </p:sp>
      <p:sp>
        <p:nvSpPr>
          <p:cNvPr id="7" name="Shape 4"/>
          <p:cNvSpPr/>
          <p:nvPr/>
        </p:nvSpPr>
        <p:spPr>
          <a:xfrm flipH="1">
            <a:off x="2212848" y="1897380"/>
            <a:ext cx="1344168" cy="548640"/>
          </a:xfrm>
          <a:prstGeom prst="line">
            <a:avLst/>
          </a:prstGeom>
          <a:noFill/>
          <a:ln w="19050">
            <a:solidFill>
              <a:srgbClr val="9A9AB5"/>
            </a:solidFill>
            <a:prstDash val="solid"/>
          </a:ln>
        </p:spPr>
      </p:sp>
      <p:sp>
        <p:nvSpPr>
          <p:cNvPr id="8" name="Shape 5"/>
          <p:cNvSpPr/>
          <p:nvPr/>
        </p:nvSpPr>
        <p:spPr>
          <a:xfrm>
            <a:off x="3557016" y="1897380"/>
            <a:ext cx="1344168" cy="548640"/>
          </a:xfrm>
          <a:prstGeom prst="line">
            <a:avLst/>
          </a:prstGeom>
          <a:noFill/>
          <a:ln w="19050">
            <a:solidFill>
              <a:srgbClr val="9A9AB5"/>
            </a:solidFill>
            <a:prstDash val="solid"/>
          </a:ln>
        </p:spPr>
      </p:sp>
      <p:sp>
        <p:nvSpPr>
          <p:cNvPr id="9" name="Shape 6"/>
          <p:cNvSpPr/>
          <p:nvPr/>
        </p:nvSpPr>
        <p:spPr>
          <a:xfrm flipH="1">
            <a:off x="1540764" y="2857500"/>
            <a:ext cx="672084" cy="548640"/>
          </a:xfrm>
          <a:prstGeom prst="line">
            <a:avLst/>
          </a:prstGeom>
          <a:noFill/>
          <a:ln w="19050">
            <a:solidFill>
              <a:srgbClr val="9A9AB5"/>
            </a:solidFill>
            <a:prstDash val="solid"/>
          </a:ln>
        </p:spPr>
      </p:sp>
      <p:sp>
        <p:nvSpPr>
          <p:cNvPr id="10" name="Shape 7"/>
          <p:cNvSpPr/>
          <p:nvPr/>
        </p:nvSpPr>
        <p:spPr>
          <a:xfrm>
            <a:off x="2212848" y="2857500"/>
            <a:ext cx="672084" cy="548640"/>
          </a:xfrm>
          <a:prstGeom prst="line">
            <a:avLst/>
          </a:prstGeom>
          <a:noFill/>
          <a:ln w="19050">
            <a:solidFill>
              <a:srgbClr val="9A9AB5"/>
            </a:solidFill>
            <a:prstDash val="solid"/>
          </a:ln>
        </p:spPr>
      </p:sp>
      <p:sp>
        <p:nvSpPr>
          <p:cNvPr id="11" name="Shape 8"/>
          <p:cNvSpPr/>
          <p:nvPr/>
        </p:nvSpPr>
        <p:spPr>
          <a:xfrm>
            <a:off x="4901184" y="2857500"/>
            <a:ext cx="672084" cy="548640"/>
          </a:xfrm>
          <a:prstGeom prst="line">
            <a:avLst/>
          </a:prstGeom>
          <a:noFill/>
          <a:ln w="19050">
            <a:solidFill>
              <a:srgbClr val="9A9AB5"/>
            </a:solidFill>
            <a:prstDash val="solid"/>
          </a:ln>
        </p:spPr>
      </p:sp>
      <p:sp>
        <p:nvSpPr>
          <p:cNvPr id="12" name="Shape 9"/>
          <p:cNvSpPr/>
          <p:nvPr/>
        </p:nvSpPr>
        <p:spPr>
          <a:xfrm flipH="1">
            <a:off x="2436876" y="3817620"/>
            <a:ext cx="448056" cy="548640"/>
          </a:xfrm>
          <a:prstGeom prst="line">
            <a:avLst/>
          </a:prstGeom>
          <a:noFill/>
          <a:ln w="19050">
            <a:solidFill>
              <a:srgbClr val="9A9AB5"/>
            </a:solidFill>
            <a:prstDash val="solid"/>
          </a:ln>
        </p:spPr>
      </p:sp>
      <p:sp>
        <p:nvSpPr>
          <p:cNvPr id="13" name="Shape 10"/>
          <p:cNvSpPr/>
          <p:nvPr/>
        </p:nvSpPr>
        <p:spPr>
          <a:xfrm flipH="1">
            <a:off x="5125212" y="3817620"/>
            <a:ext cx="448056" cy="548640"/>
          </a:xfrm>
          <a:prstGeom prst="line">
            <a:avLst/>
          </a:prstGeom>
          <a:noFill/>
          <a:ln w="19050">
            <a:solidFill>
              <a:srgbClr val="9A9AB5"/>
            </a:solidFill>
            <a:prstDash val="solid"/>
          </a:ln>
        </p:spPr>
      </p:sp>
      <p:sp>
        <p:nvSpPr>
          <p:cNvPr id="14" name="Text 11"/>
          <p:cNvSpPr/>
          <p:nvPr/>
        </p:nvSpPr>
        <p:spPr>
          <a:xfrm>
            <a:off x="3214116" y="1485900"/>
            <a:ext cx="68580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25</a:t>
            </a:r>
            <a:endParaRPr lang="en-US" sz="1500" dirty="0"/>
          </a:p>
        </p:txBody>
      </p:sp>
      <p:sp>
        <p:nvSpPr>
          <p:cNvPr id="15" name="Shape 12"/>
          <p:cNvSpPr/>
          <p:nvPr/>
        </p:nvSpPr>
        <p:spPr>
          <a:xfrm>
            <a:off x="3140964" y="1618488"/>
            <a:ext cx="146304" cy="146304"/>
          </a:xfrm>
          <a:prstGeom prst="ellipse">
            <a:avLst/>
          </a:prstGeom>
          <a:solidFill>
            <a:srgbClr val="1F8A8A"/>
          </a:solidFill>
          <a:ln w="12700">
            <a:solidFill>
              <a:srgbClr val="FFFFFF"/>
            </a:solidFill>
            <a:prstDash val="solid"/>
          </a:ln>
        </p:spPr>
      </p:sp>
      <p:sp>
        <p:nvSpPr>
          <p:cNvPr id="16" name="Shape 13"/>
          <p:cNvSpPr/>
          <p:nvPr/>
        </p:nvSpPr>
        <p:spPr>
          <a:xfrm>
            <a:off x="3483864" y="1824228"/>
            <a:ext cx="146304" cy="146304"/>
          </a:xfrm>
          <a:prstGeom prst="ellipse">
            <a:avLst/>
          </a:prstGeom>
          <a:solidFill>
            <a:srgbClr val="D9822B"/>
          </a:solidFill>
          <a:ln w="12700">
            <a:solidFill>
              <a:srgbClr val="FFFFFF"/>
            </a:solidFill>
            <a:prstDash val="solid"/>
          </a:ln>
        </p:spPr>
      </p:sp>
      <p:sp>
        <p:nvSpPr>
          <p:cNvPr id="17" name="Shape 14"/>
          <p:cNvSpPr/>
          <p:nvPr/>
        </p:nvSpPr>
        <p:spPr>
          <a:xfrm>
            <a:off x="3826764" y="1618488"/>
            <a:ext cx="146304" cy="146304"/>
          </a:xfrm>
          <a:prstGeom prst="ellipse">
            <a:avLst/>
          </a:prstGeom>
          <a:solidFill>
            <a:srgbClr val="8E4FB8"/>
          </a:solidFill>
          <a:ln w="12700">
            <a:solidFill>
              <a:srgbClr val="FFFFFF"/>
            </a:solidFill>
            <a:prstDash val="solid"/>
          </a:ln>
        </p:spPr>
      </p:sp>
      <p:sp>
        <p:nvSpPr>
          <p:cNvPr id="18" name="Text 15"/>
          <p:cNvSpPr/>
          <p:nvPr/>
        </p:nvSpPr>
        <p:spPr>
          <a:xfrm>
            <a:off x="1869948" y="2446020"/>
            <a:ext cx="68580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4</a:t>
            </a:r>
            <a:endParaRPr lang="en-US" sz="1500" dirty="0"/>
          </a:p>
        </p:txBody>
      </p:sp>
      <p:sp>
        <p:nvSpPr>
          <p:cNvPr id="19" name="Shape 16"/>
          <p:cNvSpPr/>
          <p:nvPr/>
        </p:nvSpPr>
        <p:spPr>
          <a:xfrm>
            <a:off x="1796796" y="2578608"/>
            <a:ext cx="146304" cy="146304"/>
          </a:xfrm>
          <a:prstGeom prst="ellipse">
            <a:avLst/>
          </a:prstGeom>
          <a:solidFill>
            <a:srgbClr val="1F8A8A"/>
          </a:solidFill>
          <a:ln w="12700">
            <a:solidFill>
              <a:srgbClr val="FFFFFF"/>
            </a:solidFill>
            <a:prstDash val="solid"/>
          </a:ln>
        </p:spPr>
      </p:sp>
      <p:sp>
        <p:nvSpPr>
          <p:cNvPr id="20" name="Shape 17"/>
          <p:cNvSpPr/>
          <p:nvPr/>
        </p:nvSpPr>
        <p:spPr>
          <a:xfrm>
            <a:off x="2139696" y="2784348"/>
            <a:ext cx="146304" cy="146304"/>
          </a:xfrm>
          <a:prstGeom prst="ellipse">
            <a:avLst/>
          </a:prstGeom>
          <a:solidFill>
            <a:srgbClr val="D9822B"/>
          </a:solidFill>
          <a:ln w="12700">
            <a:solidFill>
              <a:srgbClr val="FFFFFF"/>
            </a:solidFill>
            <a:prstDash val="solid"/>
          </a:ln>
        </p:spPr>
      </p:sp>
      <p:sp>
        <p:nvSpPr>
          <p:cNvPr id="21" name="Shape 18"/>
          <p:cNvSpPr/>
          <p:nvPr/>
        </p:nvSpPr>
        <p:spPr>
          <a:xfrm>
            <a:off x="2482596" y="2578608"/>
            <a:ext cx="146304" cy="146304"/>
          </a:xfrm>
          <a:prstGeom prst="ellipse">
            <a:avLst/>
          </a:prstGeom>
          <a:solidFill>
            <a:srgbClr val="8E4FB8"/>
          </a:solidFill>
          <a:ln w="12700">
            <a:solidFill>
              <a:srgbClr val="FFFFFF"/>
            </a:solidFill>
            <a:prstDash val="solid"/>
          </a:ln>
        </p:spPr>
      </p:sp>
      <p:sp>
        <p:nvSpPr>
          <p:cNvPr id="22" name="Text 19"/>
          <p:cNvSpPr/>
          <p:nvPr/>
        </p:nvSpPr>
        <p:spPr>
          <a:xfrm>
            <a:off x="4558284" y="2446020"/>
            <a:ext cx="68580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36</a:t>
            </a:r>
            <a:endParaRPr lang="en-US" sz="1500" dirty="0"/>
          </a:p>
        </p:txBody>
      </p:sp>
      <p:sp>
        <p:nvSpPr>
          <p:cNvPr id="23" name="Shape 20"/>
          <p:cNvSpPr/>
          <p:nvPr/>
        </p:nvSpPr>
        <p:spPr>
          <a:xfrm>
            <a:off x="4485132" y="2578608"/>
            <a:ext cx="146304" cy="146304"/>
          </a:xfrm>
          <a:prstGeom prst="ellipse">
            <a:avLst/>
          </a:prstGeom>
          <a:solidFill>
            <a:srgbClr val="1F8A8A"/>
          </a:solidFill>
          <a:ln w="12700">
            <a:solidFill>
              <a:srgbClr val="FFFFFF"/>
            </a:solidFill>
            <a:prstDash val="solid"/>
          </a:ln>
        </p:spPr>
      </p:sp>
      <p:sp>
        <p:nvSpPr>
          <p:cNvPr id="24" name="Shape 21"/>
          <p:cNvSpPr/>
          <p:nvPr/>
        </p:nvSpPr>
        <p:spPr>
          <a:xfrm>
            <a:off x="4828032" y="2784348"/>
            <a:ext cx="146304" cy="146304"/>
          </a:xfrm>
          <a:prstGeom prst="ellipse">
            <a:avLst/>
          </a:prstGeom>
          <a:solidFill>
            <a:srgbClr val="D9822B"/>
          </a:solidFill>
          <a:ln w="12700">
            <a:solidFill>
              <a:srgbClr val="FFFFFF"/>
            </a:solidFill>
            <a:prstDash val="solid"/>
          </a:ln>
        </p:spPr>
      </p:sp>
      <p:sp>
        <p:nvSpPr>
          <p:cNvPr id="25" name="Shape 22"/>
          <p:cNvSpPr/>
          <p:nvPr/>
        </p:nvSpPr>
        <p:spPr>
          <a:xfrm>
            <a:off x="5170932" y="2578608"/>
            <a:ext cx="146304" cy="146304"/>
          </a:xfrm>
          <a:prstGeom prst="ellipse">
            <a:avLst/>
          </a:prstGeom>
          <a:solidFill>
            <a:srgbClr val="8E4FB8"/>
          </a:solidFill>
          <a:ln w="12700">
            <a:solidFill>
              <a:srgbClr val="FFFFFF"/>
            </a:solidFill>
            <a:prstDash val="solid"/>
          </a:ln>
        </p:spPr>
      </p:sp>
      <p:sp>
        <p:nvSpPr>
          <p:cNvPr id="26" name="Text 23"/>
          <p:cNvSpPr/>
          <p:nvPr/>
        </p:nvSpPr>
        <p:spPr>
          <a:xfrm>
            <a:off x="1197864" y="3406140"/>
            <a:ext cx="68580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1</a:t>
            </a:r>
            <a:endParaRPr lang="en-US" sz="1500" dirty="0"/>
          </a:p>
        </p:txBody>
      </p:sp>
      <p:sp>
        <p:nvSpPr>
          <p:cNvPr id="27" name="Shape 24"/>
          <p:cNvSpPr/>
          <p:nvPr/>
        </p:nvSpPr>
        <p:spPr>
          <a:xfrm>
            <a:off x="1124712" y="3538728"/>
            <a:ext cx="146304" cy="146304"/>
          </a:xfrm>
          <a:prstGeom prst="ellipse">
            <a:avLst/>
          </a:prstGeom>
          <a:solidFill>
            <a:srgbClr val="1F8A8A"/>
          </a:solidFill>
          <a:ln w="12700">
            <a:solidFill>
              <a:srgbClr val="FFFFFF"/>
            </a:solidFill>
            <a:prstDash val="solid"/>
          </a:ln>
        </p:spPr>
      </p:sp>
      <p:sp>
        <p:nvSpPr>
          <p:cNvPr id="28" name="Shape 25"/>
          <p:cNvSpPr/>
          <p:nvPr/>
        </p:nvSpPr>
        <p:spPr>
          <a:xfrm>
            <a:off x="1467612" y="3744468"/>
            <a:ext cx="146304" cy="146304"/>
          </a:xfrm>
          <a:prstGeom prst="ellipse">
            <a:avLst/>
          </a:prstGeom>
          <a:solidFill>
            <a:srgbClr val="D9822B"/>
          </a:solidFill>
          <a:ln w="12700">
            <a:solidFill>
              <a:srgbClr val="FFFFFF"/>
            </a:solidFill>
            <a:prstDash val="solid"/>
          </a:ln>
        </p:spPr>
      </p:sp>
      <p:sp>
        <p:nvSpPr>
          <p:cNvPr id="29" name="Shape 26"/>
          <p:cNvSpPr/>
          <p:nvPr/>
        </p:nvSpPr>
        <p:spPr>
          <a:xfrm>
            <a:off x="1810512" y="3538728"/>
            <a:ext cx="146304" cy="146304"/>
          </a:xfrm>
          <a:prstGeom prst="ellipse">
            <a:avLst/>
          </a:prstGeom>
          <a:solidFill>
            <a:srgbClr val="8E4FB8"/>
          </a:solidFill>
          <a:ln w="12700">
            <a:solidFill>
              <a:srgbClr val="FFFFFF"/>
            </a:solidFill>
            <a:prstDash val="solid"/>
          </a:ln>
        </p:spPr>
      </p:sp>
      <p:sp>
        <p:nvSpPr>
          <p:cNvPr id="30" name="Text 27"/>
          <p:cNvSpPr/>
          <p:nvPr/>
        </p:nvSpPr>
        <p:spPr>
          <a:xfrm>
            <a:off x="2542032" y="3406140"/>
            <a:ext cx="68580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16</a:t>
            </a:r>
            <a:endParaRPr lang="en-US" sz="1500" dirty="0"/>
          </a:p>
        </p:txBody>
      </p:sp>
      <p:sp>
        <p:nvSpPr>
          <p:cNvPr id="31" name="Shape 28"/>
          <p:cNvSpPr/>
          <p:nvPr/>
        </p:nvSpPr>
        <p:spPr>
          <a:xfrm>
            <a:off x="2468880" y="3538728"/>
            <a:ext cx="146304" cy="146304"/>
          </a:xfrm>
          <a:prstGeom prst="ellipse">
            <a:avLst/>
          </a:prstGeom>
          <a:solidFill>
            <a:srgbClr val="1F8A8A"/>
          </a:solidFill>
          <a:ln w="12700">
            <a:solidFill>
              <a:srgbClr val="FFFFFF"/>
            </a:solidFill>
            <a:prstDash val="solid"/>
          </a:ln>
        </p:spPr>
      </p:sp>
      <p:sp>
        <p:nvSpPr>
          <p:cNvPr id="32" name="Shape 29"/>
          <p:cNvSpPr/>
          <p:nvPr/>
        </p:nvSpPr>
        <p:spPr>
          <a:xfrm>
            <a:off x="2811780" y="3744468"/>
            <a:ext cx="146304" cy="146304"/>
          </a:xfrm>
          <a:prstGeom prst="ellipse">
            <a:avLst/>
          </a:prstGeom>
          <a:solidFill>
            <a:srgbClr val="D9822B"/>
          </a:solidFill>
          <a:ln w="12700">
            <a:solidFill>
              <a:srgbClr val="FFFFFF"/>
            </a:solidFill>
            <a:prstDash val="solid"/>
          </a:ln>
        </p:spPr>
      </p:sp>
      <p:sp>
        <p:nvSpPr>
          <p:cNvPr id="33" name="Shape 30"/>
          <p:cNvSpPr/>
          <p:nvPr/>
        </p:nvSpPr>
        <p:spPr>
          <a:xfrm>
            <a:off x="3154680" y="3538728"/>
            <a:ext cx="146304" cy="146304"/>
          </a:xfrm>
          <a:prstGeom prst="ellipse">
            <a:avLst/>
          </a:prstGeom>
          <a:solidFill>
            <a:srgbClr val="8E4FB8"/>
          </a:solidFill>
          <a:ln w="12700">
            <a:solidFill>
              <a:srgbClr val="FFFFFF"/>
            </a:solidFill>
            <a:prstDash val="solid"/>
          </a:ln>
        </p:spPr>
      </p:sp>
      <p:sp>
        <p:nvSpPr>
          <p:cNvPr id="34" name="Text 31"/>
          <p:cNvSpPr/>
          <p:nvPr/>
        </p:nvSpPr>
        <p:spPr>
          <a:xfrm>
            <a:off x="5230368" y="3406140"/>
            <a:ext cx="68580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64</a:t>
            </a:r>
            <a:endParaRPr lang="en-US" sz="1500" dirty="0"/>
          </a:p>
        </p:txBody>
      </p:sp>
      <p:sp>
        <p:nvSpPr>
          <p:cNvPr id="35" name="Shape 32"/>
          <p:cNvSpPr/>
          <p:nvPr/>
        </p:nvSpPr>
        <p:spPr>
          <a:xfrm>
            <a:off x="5157216" y="3538728"/>
            <a:ext cx="146304" cy="146304"/>
          </a:xfrm>
          <a:prstGeom prst="ellipse">
            <a:avLst/>
          </a:prstGeom>
          <a:solidFill>
            <a:srgbClr val="1F8A8A"/>
          </a:solidFill>
          <a:ln w="12700">
            <a:solidFill>
              <a:srgbClr val="FFFFFF"/>
            </a:solidFill>
            <a:prstDash val="solid"/>
          </a:ln>
        </p:spPr>
      </p:sp>
      <p:sp>
        <p:nvSpPr>
          <p:cNvPr id="36" name="Shape 33"/>
          <p:cNvSpPr/>
          <p:nvPr/>
        </p:nvSpPr>
        <p:spPr>
          <a:xfrm>
            <a:off x="5500116" y="3744468"/>
            <a:ext cx="146304" cy="146304"/>
          </a:xfrm>
          <a:prstGeom prst="ellipse">
            <a:avLst/>
          </a:prstGeom>
          <a:solidFill>
            <a:srgbClr val="D9822B"/>
          </a:solidFill>
          <a:ln w="12700">
            <a:solidFill>
              <a:srgbClr val="FFFFFF"/>
            </a:solidFill>
            <a:prstDash val="solid"/>
          </a:ln>
        </p:spPr>
      </p:sp>
      <p:sp>
        <p:nvSpPr>
          <p:cNvPr id="37" name="Shape 34"/>
          <p:cNvSpPr/>
          <p:nvPr/>
        </p:nvSpPr>
        <p:spPr>
          <a:xfrm>
            <a:off x="5843016" y="3538728"/>
            <a:ext cx="146304" cy="146304"/>
          </a:xfrm>
          <a:prstGeom prst="ellipse">
            <a:avLst/>
          </a:prstGeom>
          <a:solidFill>
            <a:srgbClr val="8E4FB8"/>
          </a:solidFill>
          <a:ln w="12700">
            <a:solidFill>
              <a:srgbClr val="FFFFFF"/>
            </a:solidFill>
            <a:prstDash val="solid"/>
          </a:ln>
        </p:spPr>
      </p:sp>
      <p:sp>
        <p:nvSpPr>
          <p:cNvPr id="38" name="Text 35"/>
          <p:cNvSpPr/>
          <p:nvPr/>
        </p:nvSpPr>
        <p:spPr>
          <a:xfrm>
            <a:off x="2093976" y="4366260"/>
            <a:ext cx="68580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9</a:t>
            </a:r>
            <a:endParaRPr lang="en-US" sz="1500" dirty="0"/>
          </a:p>
        </p:txBody>
      </p:sp>
      <p:sp>
        <p:nvSpPr>
          <p:cNvPr id="39" name="Shape 36"/>
          <p:cNvSpPr/>
          <p:nvPr/>
        </p:nvSpPr>
        <p:spPr>
          <a:xfrm>
            <a:off x="2020824" y="4498848"/>
            <a:ext cx="146304" cy="146304"/>
          </a:xfrm>
          <a:prstGeom prst="ellipse">
            <a:avLst/>
          </a:prstGeom>
          <a:solidFill>
            <a:srgbClr val="1F8A8A"/>
          </a:solidFill>
          <a:ln w="12700">
            <a:solidFill>
              <a:srgbClr val="FFFFFF"/>
            </a:solidFill>
            <a:prstDash val="solid"/>
          </a:ln>
        </p:spPr>
      </p:sp>
      <p:sp>
        <p:nvSpPr>
          <p:cNvPr id="40" name="Shape 37"/>
          <p:cNvSpPr/>
          <p:nvPr/>
        </p:nvSpPr>
        <p:spPr>
          <a:xfrm>
            <a:off x="2363724" y="4704588"/>
            <a:ext cx="146304" cy="146304"/>
          </a:xfrm>
          <a:prstGeom prst="ellipse">
            <a:avLst/>
          </a:prstGeom>
          <a:solidFill>
            <a:srgbClr val="D9822B"/>
          </a:solidFill>
          <a:ln w="12700">
            <a:solidFill>
              <a:srgbClr val="FFFFFF"/>
            </a:solidFill>
            <a:prstDash val="solid"/>
          </a:ln>
        </p:spPr>
      </p:sp>
      <p:sp>
        <p:nvSpPr>
          <p:cNvPr id="41" name="Shape 38"/>
          <p:cNvSpPr/>
          <p:nvPr/>
        </p:nvSpPr>
        <p:spPr>
          <a:xfrm>
            <a:off x="2706624" y="4498848"/>
            <a:ext cx="146304" cy="146304"/>
          </a:xfrm>
          <a:prstGeom prst="ellipse">
            <a:avLst/>
          </a:prstGeom>
          <a:solidFill>
            <a:srgbClr val="8E4FB8"/>
          </a:solidFill>
          <a:ln w="12700">
            <a:solidFill>
              <a:srgbClr val="FFFFFF"/>
            </a:solidFill>
            <a:prstDash val="solid"/>
          </a:ln>
        </p:spPr>
      </p:sp>
      <p:sp>
        <p:nvSpPr>
          <p:cNvPr id="42" name="Text 39"/>
          <p:cNvSpPr/>
          <p:nvPr/>
        </p:nvSpPr>
        <p:spPr>
          <a:xfrm>
            <a:off x="4782312" y="4366260"/>
            <a:ext cx="68580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49</a:t>
            </a:r>
            <a:endParaRPr lang="en-US" sz="1500" dirty="0"/>
          </a:p>
        </p:txBody>
      </p:sp>
      <p:sp>
        <p:nvSpPr>
          <p:cNvPr id="43" name="Shape 40"/>
          <p:cNvSpPr/>
          <p:nvPr/>
        </p:nvSpPr>
        <p:spPr>
          <a:xfrm>
            <a:off x="4709160" y="4498848"/>
            <a:ext cx="146304" cy="146304"/>
          </a:xfrm>
          <a:prstGeom prst="ellipse">
            <a:avLst/>
          </a:prstGeom>
          <a:solidFill>
            <a:srgbClr val="1F8A8A"/>
          </a:solidFill>
          <a:ln w="12700">
            <a:solidFill>
              <a:srgbClr val="FFFFFF"/>
            </a:solidFill>
            <a:prstDash val="solid"/>
          </a:ln>
        </p:spPr>
      </p:sp>
      <p:sp>
        <p:nvSpPr>
          <p:cNvPr id="44" name="Shape 41"/>
          <p:cNvSpPr/>
          <p:nvPr/>
        </p:nvSpPr>
        <p:spPr>
          <a:xfrm>
            <a:off x="5052060" y="4704588"/>
            <a:ext cx="146304" cy="146304"/>
          </a:xfrm>
          <a:prstGeom prst="ellipse">
            <a:avLst/>
          </a:prstGeom>
          <a:solidFill>
            <a:srgbClr val="D9822B"/>
          </a:solidFill>
          <a:ln w="12700">
            <a:solidFill>
              <a:srgbClr val="FFFFFF"/>
            </a:solidFill>
            <a:prstDash val="solid"/>
          </a:ln>
        </p:spPr>
      </p:sp>
      <p:sp>
        <p:nvSpPr>
          <p:cNvPr id="45" name="Shape 42"/>
          <p:cNvSpPr/>
          <p:nvPr/>
        </p:nvSpPr>
        <p:spPr>
          <a:xfrm>
            <a:off x="5394960" y="4498848"/>
            <a:ext cx="146304" cy="146304"/>
          </a:xfrm>
          <a:prstGeom prst="ellipse">
            <a:avLst/>
          </a:prstGeom>
          <a:solidFill>
            <a:srgbClr val="8E4FB8"/>
          </a:solidFill>
          <a:ln w="12700">
            <a:solidFill>
              <a:srgbClr val="FFFFFF"/>
            </a:solidFill>
            <a:prstDash val="solid"/>
          </a:ln>
        </p:spPr>
      </p:sp>
      <p:sp>
        <p:nvSpPr>
          <p:cNvPr id="46" name="Text 43"/>
          <p:cNvSpPr txBox="1"/>
          <p:nvPr/>
        </p:nvSpPr>
        <p:spPr>
          <a:xfrm>
            <a:off x="822960" y="5120640"/>
            <a:ext cx="5486400" cy="320040"/>
          </a:xfrm>
          <a:prstGeom prst="rect">
            <a:avLst/>
          </a:prstGeom>
          <a:noFill/>
          <a:ln/>
        </p:spPr>
        <p:txBody>
          <a:bodyPr wrap="square" lIns="0" tIns="0" rIns="0" bIns="0" rtlCol="0" anchor="t"/>
          <a:lstStyle/>
          <a:p>
            <a:pPr indent="0" marL="0">
              <a:spcAft>
                <a:spcPts val="600"/>
              </a:spcAft>
              <a:buNone/>
            </a:pPr>
            <a:r>
              <a:rPr lang="en-US" sz="1200" i="1" dirty="0">
                <a:solidFill>
                  <a:srgbClr val="666666"/>
                </a:solidFill>
                <a:latin typeface="Quicksand" pitchFamily="34" charset="0"/>
                <a:ea typeface="Quicksand" pitchFamily="34" charset="-122"/>
                <a:cs typeface="Quicksand" pitchFamily="34" charset="-120"/>
              </a:rPr>
              <a:t>Tree from 9618 Paper 3, November 2024</a:t>
            </a:r>
            <a:endParaRPr lang="en-US" sz="1200" dirty="0"/>
          </a:p>
        </p:txBody>
      </p:sp>
      <p:sp>
        <p:nvSpPr>
          <p:cNvPr id="47" name="Text 44"/>
          <p:cNvSpPr txBox="1"/>
          <p:nvPr/>
        </p:nvSpPr>
        <p:spPr>
          <a:xfrm>
            <a:off x="6675120" y="1280160"/>
            <a:ext cx="4846320" cy="365760"/>
          </a:xfrm>
          <a:prstGeom prst="rect">
            <a:avLst/>
          </a:prstGeom>
          <a:noFill/>
          <a:ln/>
        </p:spPr>
        <p:txBody>
          <a:bodyPr wrap="square" lIns="0" tIns="0" rIns="0" bIns="0" rtlCol="0" anchor="t"/>
          <a:lstStyle/>
          <a:p>
            <a:pPr indent="0" marL="0">
              <a:spcAft>
                <a:spcPts val="600"/>
              </a:spcAft>
              <a:buNone/>
            </a:pPr>
            <a:r>
              <a:rPr lang="en-US" sz="1600" b="1" dirty="0">
                <a:solidFill>
                  <a:srgbClr val="202124"/>
                </a:solidFill>
                <a:latin typeface="Quicksand" pitchFamily="34" charset="0"/>
                <a:ea typeface="Quicksand" pitchFamily="34" charset="-122"/>
                <a:cs typeface="Quicksand" pitchFamily="34" charset="-120"/>
              </a:rPr>
              <a:t>Write the three traversals of this tree.</a:t>
            </a:r>
            <a:endParaRPr lang="en-US" sz="1600" dirty="0"/>
          </a:p>
        </p:txBody>
      </p:sp>
      <p:sp>
        <p:nvSpPr>
          <p:cNvPr id="48" name="Text 45"/>
          <p:cNvSpPr txBox="1"/>
          <p:nvPr/>
        </p:nvSpPr>
        <p:spPr>
          <a:xfrm>
            <a:off x="6675120" y="1874520"/>
            <a:ext cx="2743200" cy="329184"/>
          </a:xfrm>
          <a:prstGeom prst="rect">
            <a:avLst/>
          </a:prstGeom>
          <a:noFill/>
          <a:ln/>
        </p:spPr>
        <p:txBody>
          <a:bodyPr wrap="square" lIns="0" tIns="0" rIns="0" bIns="0" rtlCol="0" anchor="ctr"/>
          <a:lstStyle/>
          <a:p>
            <a:pPr indent="0" marL="0">
              <a:buNone/>
            </a:pPr>
            <a:r>
              <a:rPr lang="en-US" sz="1500" b="1" dirty="0">
                <a:solidFill>
                  <a:srgbClr val="1F8A8A"/>
                </a:solidFill>
                <a:latin typeface="Quicksand" pitchFamily="34" charset="0"/>
                <a:ea typeface="Quicksand" pitchFamily="34" charset="-122"/>
                <a:cs typeface="Quicksand" pitchFamily="34" charset="-120"/>
              </a:rPr>
              <a:t>Pre-order</a:t>
            </a:r>
            <a:endParaRPr lang="en-US" sz="1500" dirty="0"/>
          </a:p>
        </p:txBody>
      </p:sp>
      <p:sp>
        <p:nvSpPr>
          <p:cNvPr id="49" name="Shape 46"/>
          <p:cNvSpPr/>
          <p:nvPr/>
        </p:nvSpPr>
        <p:spPr>
          <a:xfrm>
            <a:off x="6675120" y="2651760"/>
            <a:ext cx="4846320" cy="0"/>
          </a:xfrm>
          <a:prstGeom prst="line">
            <a:avLst/>
          </a:prstGeom>
          <a:noFill/>
          <a:ln w="12700">
            <a:solidFill>
              <a:srgbClr val="B8B8C8"/>
            </a:solidFill>
            <a:prstDash val="dash"/>
          </a:ln>
        </p:spPr>
      </p:sp>
      <p:sp>
        <p:nvSpPr>
          <p:cNvPr id="50" name="Text 47"/>
          <p:cNvSpPr txBox="1"/>
          <p:nvPr/>
        </p:nvSpPr>
        <p:spPr>
          <a:xfrm>
            <a:off x="6675120" y="2926080"/>
            <a:ext cx="2743200" cy="329184"/>
          </a:xfrm>
          <a:prstGeom prst="rect">
            <a:avLst/>
          </a:prstGeom>
          <a:noFill/>
          <a:ln/>
        </p:spPr>
        <p:txBody>
          <a:bodyPr wrap="square" lIns="0" tIns="0" rIns="0" bIns="0" rtlCol="0" anchor="ctr"/>
          <a:lstStyle/>
          <a:p>
            <a:pPr indent="0" marL="0">
              <a:buNone/>
            </a:pPr>
            <a:r>
              <a:rPr lang="en-US" sz="1500" b="1" dirty="0">
                <a:solidFill>
                  <a:srgbClr val="D9822B"/>
                </a:solidFill>
                <a:latin typeface="Quicksand" pitchFamily="34" charset="0"/>
                <a:ea typeface="Quicksand" pitchFamily="34" charset="-122"/>
                <a:cs typeface="Quicksand" pitchFamily="34" charset="-120"/>
              </a:rPr>
              <a:t>In-order</a:t>
            </a:r>
            <a:endParaRPr lang="en-US" sz="1500" dirty="0"/>
          </a:p>
        </p:txBody>
      </p:sp>
      <p:sp>
        <p:nvSpPr>
          <p:cNvPr id="51" name="Shape 48"/>
          <p:cNvSpPr/>
          <p:nvPr/>
        </p:nvSpPr>
        <p:spPr>
          <a:xfrm>
            <a:off x="6675120" y="3703320"/>
            <a:ext cx="4846320" cy="0"/>
          </a:xfrm>
          <a:prstGeom prst="line">
            <a:avLst/>
          </a:prstGeom>
          <a:noFill/>
          <a:ln w="12700">
            <a:solidFill>
              <a:srgbClr val="B8B8C8"/>
            </a:solidFill>
            <a:prstDash val="dash"/>
          </a:ln>
        </p:spPr>
      </p:sp>
      <p:sp>
        <p:nvSpPr>
          <p:cNvPr id="52" name="Text 49"/>
          <p:cNvSpPr txBox="1"/>
          <p:nvPr/>
        </p:nvSpPr>
        <p:spPr>
          <a:xfrm>
            <a:off x="6675120" y="3977640"/>
            <a:ext cx="2743200" cy="329184"/>
          </a:xfrm>
          <a:prstGeom prst="rect">
            <a:avLst/>
          </a:prstGeom>
          <a:noFill/>
          <a:ln/>
        </p:spPr>
        <p:txBody>
          <a:bodyPr wrap="square" lIns="0" tIns="0" rIns="0" bIns="0" rtlCol="0" anchor="ctr"/>
          <a:lstStyle/>
          <a:p>
            <a:pPr indent="0" marL="0">
              <a:buNone/>
            </a:pPr>
            <a:r>
              <a:rPr lang="en-US" sz="1500" b="1" dirty="0">
                <a:solidFill>
                  <a:srgbClr val="8E4FB8"/>
                </a:solidFill>
                <a:latin typeface="Quicksand" pitchFamily="34" charset="0"/>
                <a:ea typeface="Quicksand" pitchFamily="34" charset="-122"/>
                <a:cs typeface="Quicksand" pitchFamily="34" charset="-120"/>
              </a:rPr>
              <a:t>Post-order</a:t>
            </a:r>
            <a:endParaRPr lang="en-US" sz="1500" dirty="0"/>
          </a:p>
        </p:txBody>
      </p:sp>
      <p:sp>
        <p:nvSpPr>
          <p:cNvPr id="53" name="Shape 50"/>
          <p:cNvSpPr/>
          <p:nvPr/>
        </p:nvSpPr>
        <p:spPr>
          <a:xfrm>
            <a:off x="6675120" y="4754880"/>
            <a:ext cx="4846320" cy="0"/>
          </a:xfrm>
          <a:prstGeom prst="line">
            <a:avLst/>
          </a:prstGeom>
          <a:noFill/>
          <a:ln w="12700">
            <a:solidFill>
              <a:srgbClr val="B8B8C8"/>
            </a:solidFill>
            <a:prstDash val="dash"/>
          </a:ln>
        </p:spPr>
      </p:sp>
      <p:sp>
        <p:nvSpPr>
          <p:cNvPr id="54" name="Text 51"/>
          <p:cNvSpPr txBox="1"/>
          <p:nvPr/>
        </p:nvSpPr>
        <p:spPr>
          <a:xfrm>
            <a:off x="6675120" y="5120640"/>
            <a:ext cx="4846320" cy="457200"/>
          </a:xfrm>
          <a:prstGeom prst="rect">
            <a:avLst/>
          </a:prstGeom>
          <a:noFill/>
          <a:ln/>
        </p:spPr>
        <p:txBody>
          <a:bodyPr wrap="square" lIns="0" tIns="0" rIns="0" bIns="0" rtlCol="0" anchor="t"/>
          <a:lstStyle/>
          <a:p>
            <a:pPr indent="0" marL="0">
              <a:buNone/>
            </a:pPr>
            <a:r>
              <a:rPr lang="en-US" sz="1400" b="1" dirty="0">
                <a:solidFill>
                  <a:srgbClr val="494985"/>
                </a:solidFill>
                <a:latin typeface="Quicksand" pitchFamily="34" charset="0"/>
                <a:ea typeface="Quicksand" pitchFamily="34" charset="-122"/>
                <a:cs typeface="Quicksand" pitchFamily="34" charset="-120"/>
              </a:rPr>
              <a:t>Then run the ten-second checks on your answers.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Recursion: every node does the same jobs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3</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11</a:t>
            </a:r>
            <a:endParaRPr lang="en-US" sz="1350" dirty="0"/>
          </a:p>
        </p:txBody>
      </p:sp>
      <p:sp>
        <p:nvSpPr>
          <p:cNvPr id="7" name="Text 4"/>
          <p:cNvSpPr txBox="1"/>
          <p:nvPr/>
        </p:nvSpPr>
        <p:spPr>
          <a:xfrm>
            <a:off x="822960" y="1207008"/>
            <a:ext cx="10607040" cy="365760"/>
          </a:xfrm>
          <a:prstGeom prst="rect">
            <a:avLst/>
          </a:prstGeom>
          <a:noFill/>
          <a:ln/>
        </p:spPr>
        <p:txBody>
          <a:bodyPr wrap="square" lIns="0" tIns="0" rIns="0" bIns="0" rtlCol="0" anchor="t"/>
          <a:lstStyle/>
          <a:p>
            <a:pPr indent="0" marL="0">
              <a:spcAft>
                <a:spcPts val="600"/>
              </a:spcAft>
              <a:buNone/>
            </a:pPr>
            <a:r>
              <a:rPr lang="en-US" sz="1600" dirty="0">
                <a:solidFill>
                  <a:srgbClr val="202124"/>
                </a:solidFill>
                <a:latin typeface="Quicksand" pitchFamily="34" charset="0"/>
                <a:ea typeface="Quicksand" pitchFamily="34" charset="-122"/>
                <a:cs typeface="Quicksand" pitchFamily="34" charset="-120"/>
              </a:rPr>
              <a:t>Each node is the root of its own little tree, so it can run the same jobs as the whole tree.</a:t>
            </a:r>
            <a:endParaRPr lang="en-US" sz="1600" dirty="0"/>
          </a:p>
        </p:txBody>
      </p:sp>
      <p:sp>
        <p:nvSpPr>
          <p:cNvPr id="8" name="Shape 5"/>
          <p:cNvSpPr/>
          <p:nvPr/>
        </p:nvSpPr>
        <p:spPr>
          <a:xfrm>
            <a:off x="822960" y="1783080"/>
            <a:ext cx="5852160" cy="914400"/>
          </a:xfrm>
          <a:prstGeom prst="rect">
            <a:avLst/>
          </a:prstGeom>
          <a:solidFill>
            <a:srgbClr val="F6F5FC"/>
          </a:solidFill>
          <a:ln w="12700">
            <a:solidFill>
              <a:srgbClr val="F6F5FC"/>
            </a:solidFill>
            <a:prstDash val="solid"/>
          </a:ln>
        </p:spPr>
      </p:sp>
      <p:sp>
        <p:nvSpPr>
          <p:cNvPr id="9" name="Text 6"/>
          <p:cNvSpPr/>
          <p:nvPr/>
        </p:nvSpPr>
        <p:spPr>
          <a:xfrm>
            <a:off x="960120" y="19202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0" name="Text 7"/>
          <p:cNvSpPr txBox="1"/>
          <p:nvPr/>
        </p:nvSpPr>
        <p:spPr>
          <a:xfrm>
            <a:off x="1481328" y="1892808"/>
            <a:ext cx="507492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Left child? Ask them to do their jobs.</a:t>
            </a:r>
            <a:endParaRPr lang="en-US" sz="1500" dirty="0"/>
          </a:p>
        </p:txBody>
      </p:sp>
      <p:sp>
        <p:nvSpPr>
          <p:cNvPr id="11" name="Text 8"/>
          <p:cNvSpPr txBox="1"/>
          <p:nvPr/>
        </p:nvSpPr>
        <p:spPr>
          <a:xfrm>
            <a:off x="1481328" y="2286000"/>
            <a:ext cx="5074920" cy="347472"/>
          </a:xfrm>
          <a:prstGeom prst="rect">
            <a:avLst/>
          </a:prstGeom>
          <a:noFill/>
          <a:ln/>
        </p:spPr>
        <p:txBody>
          <a:bodyPr wrap="square" lIns="0" tIns="0" rIns="0" bIns="0" rtlCol="0" anchor="t"/>
          <a:lstStyle/>
          <a:p>
            <a:pPr indent="0" marL="0">
              <a:buNone/>
            </a:pPr>
            <a:r>
              <a:rPr lang="en-US" sz="1300" dirty="0">
                <a:solidFill>
                  <a:srgbClr val="202124"/>
                </a:solidFill>
                <a:latin typeface="Quicksand" pitchFamily="34" charset="0"/>
                <a:ea typeface="Quicksand" pitchFamily="34" charset="-122"/>
                <a:cs typeface="Quicksand" pitchFamily="34" charset="-120"/>
              </a:rPr>
              <a:t>Then WAIT until they sit down.</a:t>
            </a:r>
            <a:endParaRPr lang="en-US" sz="1300" dirty="0"/>
          </a:p>
        </p:txBody>
      </p:sp>
      <p:sp>
        <p:nvSpPr>
          <p:cNvPr id="12" name="Shape 9"/>
          <p:cNvSpPr/>
          <p:nvPr/>
        </p:nvSpPr>
        <p:spPr>
          <a:xfrm>
            <a:off x="822960" y="2788920"/>
            <a:ext cx="5852160" cy="914400"/>
          </a:xfrm>
          <a:prstGeom prst="rect">
            <a:avLst/>
          </a:prstGeom>
          <a:solidFill>
            <a:srgbClr val="F6F5FC"/>
          </a:solidFill>
          <a:ln w="12700">
            <a:solidFill>
              <a:srgbClr val="F6F5FC"/>
            </a:solidFill>
            <a:prstDash val="solid"/>
          </a:ln>
        </p:spPr>
      </p:sp>
      <p:sp>
        <p:nvSpPr>
          <p:cNvPr id="13" name="Text 10"/>
          <p:cNvSpPr/>
          <p:nvPr/>
        </p:nvSpPr>
        <p:spPr>
          <a:xfrm>
            <a:off x="960120" y="292608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4" name="Text 11"/>
          <p:cNvSpPr txBox="1"/>
          <p:nvPr/>
        </p:nvSpPr>
        <p:spPr>
          <a:xfrm>
            <a:off x="1481328" y="2898648"/>
            <a:ext cx="507492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Say your number out loud.</a:t>
            </a:r>
            <a:endParaRPr lang="en-US" sz="1500" dirty="0"/>
          </a:p>
        </p:txBody>
      </p:sp>
      <p:sp>
        <p:nvSpPr>
          <p:cNvPr id="15" name="Text 12"/>
          <p:cNvSpPr txBox="1"/>
          <p:nvPr/>
        </p:nvSpPr>
        <p:spPr>
          <a:xfrm>
            <a:off x="1481328" y="3291840"/>
            <a:ext cx="5074920" cy="347472"/>
          </a:xfrm>
          <a:prstGeom prst="rect">
            <a:avLst/>
          </a:prstGeom>
          <a:noFill/>
          <a:ln/>
        </p:spPr>
        <p:txBody>
          <a:bodyPr wrap="square" lIns="0" tIns="0" rIns="0" bIns="0" rtlCol="0" anchor="t"/>
          <a:lstStyle/>
          <a:p>
            <a:pPr indent="0" marL="0">
              <a:buNone/>
            </a:pPr>
            <a:r>
              <a:rPr lang="en-US" sz="1300" dirty="0">
                <a:solidFill>
                  <a:srgbClr val="202124"/>
                </a:solidFill>
                <a:latin typeface="Quicksand" pitchFamily="34" charset="0"/>
                <a:ea typeface="Quicksand" pitchFamily="34" charset="-122"/>
                <a:cs typeface="Quicksand" pitchFamily="34" charset="-120"/>
              </a:rPr>
              <a:t>This is the output.</a:t>
            </a:r>
            <a:endParaRPr lang="en-US" sz="1300" dirty="0"/>
          </a:p>
        </p:txBody>
      </p:sp>
      <p:sp>
        <p:nvSpPr>
          <p:cNvPr id="16" name="Shape 13"/>
          <p:cNvSpPr/>
          <p:nvPr/>
        </p:nvSpPr>
        <p:spPr>
          <a:xfrm>
            <a:off x="822960" y="3794760"/>
            <a:ext cx="5852160" cy="914400"/>
          </a:xfrm>
          <a:prstGeom prst="rect">
            <a:avLst/>
          </a:prstGeom>
          <a:solidFill>
            <a:srgbClr val="F6F5FC"/>
          </a:solidFill>
          <a:ln w="12700">
            <a:solidFill>
              <a:srgbClr val="F6F5FC"/>
            </a:solidFill>
            <a:prstDash val="solid"/>
          </a:ln>
        </p:spPr>
      </p:sp>
      <p:sp>
        <p:nvSpPr>
          <p:cNvPr id="17" name="Text 14"/>
          <p:cNvSpPr/>
          <p:nvPr/>
        </p:nvSpPr>
        <p:spPr>
          <a:xfrm>
            <a:off x="960120" y="39319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18" name="Text 15"/>
          <p:cNvSpPr txBox="1"/>
          <p:nvPr/>
        </p:nvSpPr>
        <p:spPr>
          <a:xfrm>
            <a:off x="1481328" y="3904488"/>
            <a:ext cx="507492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Right child? Ask them to do their jobs.</a:t>
            </a:r>
            <a:endParaRPr lang="en-US" sz="1500" dirty="0"/>
          </a:p>
        </p:txBody>
      </p:sp>
      <p:sp>
        <p:nvSpPr>
          <p:cNvPr id="19" name="Text 16"/>
          <p:cNvSpPr txBox="1"/>
          <p:nvPr/>
        </p:nvSpPr>
        <p:spPr>
          <a:xfrm>
            <a:off x="1481328" y="4297680"/>
            <a:ext cx="5074920" cy="347472"/>
          </a:xfrm>
          <a:prstGeom prst="rect">
            <a:avLst/>
          </a:prstGeom>
          <a:noFill/>
          <a:ln/>
        </p:spPr>
        <p:txBody>
          <a:bodyPr wrap="square" lIns="0" tIns="0" rIns="0" bIns="0" rtlCol="0" anchor="t"/>
          <a:lstStyle/>
          <a:p>
            <a:pPr indent="0" marL="0">
              <a:buNone/>
            </a:pPr>
            <a:r>
              <a:rPr lang="en-US" sz="1300" dirty="0">
                <a:solidFill>
                  <a:srgbClr val="202124"/>
                </a:solidFill>
                <a:latin typeface="Quicksand" pitchFamily="34" charset="0"/>
                <a:ea typeface="Quicksand" pitchFamily="34" charset="-122"/>
                <a:cs typeface="Quicksand" pitchFamily="34" charset="-120"/>
              </a:rPr>
              <a:t>Then WAIT until they sit down.</a:t>
            </a:r>
            <a:endParaRPr lang="en-US" sz="1300" dirty="0"/>
          </a:p>
        </p:txBody>
      </p:sp>
      <p:sp>
        <p:nvSpPr>
          <p:cNvPr id="20" name="Shape 17"/>
          <p:cNvSpPr/>
          <p:nvPr/>
        </p:nvSpPr>
        <p:spPr>
          <a:xfrm>
            <a:off x="822960" y="4800600"/>
            <a:ext cx="5852160" cy="914400"/>
          </a:xfrm>
          <a:prstGeom prst="rect">
            <a:avLst/>
          </a:prstGeom>
          <a:solidFill>
            <a:srgbClr val="F6F5FC"/>
          </a:solidFill>
          <a:ln w="12700">
            <a:solidFill>
              <a:srgbClr val="F6F5FC"/>
            </a:solidFill>
            <a:prstDash val="solid"/>
          </a:ln>
        </p:spPr>
      </p:sp>
      <p:sp>
        <p:nvSpPr>
          <p:cNvPr id="21" name="Text 18"/>
          <p:cNvSpPr/>
          <p:nvPr/>
        </p:nvSpPr>
        <p:spPr>
          <a:xfrm>
            <a:off x="960120" y="493776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4</a:t>
            </a:r>
            <a:endParaRPr lang="en-US" sz="1400" dirty="0"/>
          </a:p>
        </p:txBody>
      </p:sp>
      <p:sp>
        <p:nvSpPr>
          <p:cNvPr id="22" name="Text 19"/>
          <p:cNvSpPr txBox="1"/>
          <p:nvPr/>
        </p:nvSpPr>
        <p:spPr>
          <a:xfrm>
            <a:off x="1481328" y="4910328"/>
            <a:ext cx="507492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Sit down.</a:t>
            </a:r>
            <a:endParaRPr lang="en-US" sz="1500" dirty="0"/>
          </a:p>
        </p:txBody>
      </p:sp>
      <p:sp>
        <p:nvSpPr>
          <p:cNvPr id="23" name="Text 20"/>
          <p:cNvSpPr txBox="1"/>
          <p:nvPr/>
        </p:nvSpPr>
        <p:spPr>
          <a:xfrm>
            <a:off x="1481328" y="5303520"/>
            <a:ext cx="5074920" cy="347472"/>
          </a:xfrm>
          <a:prstGeom prst="rect">
            <a:avLst/>
          </a:prstGeom>
          <a:noFill/>
          <a:ln/>
        </p:spPr>
        <p:txBody>
          <a:bodyPr wrap="square" lIns="0" tIns="0" rIns="0" bIns="0" rtlCol="0" anchor="t"/>
          <a:lstStyle/>
          <a:p>
            <a:pPr indent="0" marL="0">
              <a:buNone/>
            </a:pPr>
            <a:r>
              <a:rPr lang="en-US" sz="1300" dirty="0">
                <a:solidFill>
                  <a:srgbClr val="202124"/>
                </a:solidFill>
                <a:latin typeface="Quicksand" pitchFamily="34" charset="0"/>
                <a:ea typeface="Quicksand" pitchFamily="34" charset="-122"/>
                <a:cs typeface="Quicksand" pitchFamily="34" charset="-120"/>
              </a:rPr>
              <a:t>You have returned. Whoever asked you carries on from where they stopped.</a:t>
            </a:r>
            <a:endParaRPr lang="en-US" sz="1300" dirty="0"/>
          </a:p>
        </p:txBody>
      </p:sp>
      <p:sp>
        <p:nvSpPr>
          <p:cNvPr id="24" name="Shape 21"/>
          <p:cNvSpPr/>
          <p:nvPr/>
        </p:nvSpPr>
        <p:spPr>
          <a:xfrm flipH="1">
            <a:off x="8247888" y="2295144"/>
            <a:ext cx="1069848" cy="530352"/>
          </a:xfrm>
          <a:prstGeom prst="line">
            <a:avLst/>
          </a:prstGeom>
          <a:noFill/>
          <a:ln w="19050">
            <a:solidFill>
              <a:srgbClr val="9A9AB5"/>
            </a:solidFill>
            <a:prstDash val="solid"/>
          </a:ln>
        </p:spPr>
      </p:sp>
      <p:sp>
        <p:nvSpPr>
          <p:cNvPr id="25" name="Shape 22"/>
          <p:cNvSpPr/>
          <p:nvPr/>
        </p:nvSpPr>
        <p:spPr>
          <a:xfrm>
            <a:off x="9317736" y="2295144"/>
            <a:ext cx="1069848" cy="530352"/>
          </a:xfrm>
          <a:prstGeom prst="line">
            <a:avLst/>
          </a:prstGeom>
          <a:noFill/>
          <a:ln w="19050">
            <a:solidFill>
              <a:srgbClr val="9A9AB5"/>
            </a:solidFill>
            <a:prstDash val="solid"/>
          </a:ln>
        </p:spPr>
      </p:sp>
      <p:sp>
        <p:nvSpPr>
          <p:cNvPr id="26" name="Shape 23"/>
          <p:cNvSpPr/>
          <p:nvPr/>
        </p:nvSpPr>
        <p:spPr>
          <a:xfrm flipH="1">
            <a:off x="7712964" y="3209544"/>
            <a:ext cx="534924" cy="530352"/>
          </a:xfrm>
          <a:prstGeom prst="line">
            <a:avLst/>
          </a:prstGeom>
          <a:noFill/>
          <a:ln w="19050">
            <a:solidFill>
              <a:srgbClr val="9A9AB5"/>
            </a:solidFill>
            <a:prstDash val="solid"/>
          </a:ln>
        </p:spPr>
      </p:sp>
      <p:sp>
        <p:nvSpPr>
          <p:cNvPr id="27" name="Shape 24"/>
          <p:cNvSpPr/>
          <p:nvPr/>
        </p:nvSpPr>
        <p:spPr>
          <a:xfrm>
            <a:off x="8247888" y="3209544"/>
            <a:ext cx="534924" cy="530352"/>
          </a:xfrm>
          <a:prstGeom prst="line">
            <a:avLst/>
          </a:prstGeom>
          <a:noFill/>
          <a:ln w="19050">
            <a:solidFill>
              <a:srgbClr val="9A9AB5"/>
            </a:solidFill>
            <a:prstDash val="solid"/>
          </a:ln>
        </p:spPr>
      </p:sp>
      <p:sp>
        <p:nvSpPr>
          <p:cNvPr id="28" name="Shape 25"/>
          <p:cNvSpPr/>
          <p:nvPr/>
        </p:nvSpPr>
        <p:spPr>
          <a:xfrm flipH="1">
            <a:off x="9852660" y="3209544"/>
            <a:ext cx="534924" cy="530352"/>
          </a:xfrm>
          <a:prstGeom prst="line">
            <a:avLst/>
          </a:prstGeom>
          <a:noFill/>
          <a:ln w="19050">
            <a:solidFill>
              <a:srgbClr val="9A9AB5"/>
            </a:solidFill>
            <a:prstDash val="solid"/>
          </a:ln>
        </p:spPr>
      </p:sp>
      <p:sp>
        <p:nvSpPr>
          <p:cNvPr id="29" name="Shape 26"/>
          <p:cNvSpPr/>
          <p:nvPr/>
        </p:nvSpPr>
        <p:spPr>
          <a:xfrm>
            <a:off x="10387584" y="3209544"/>
            <a:ext cx="534924" cy="530352"/>
          </a:xfrm>
          <a:prstGeom prst="line">
            <a:avLst/>
          </a:prstGeom>
          <a:noFill/>
          <a:ln w="19050">
            <a:solidFill>
              <a:srgbClr val="9A9AB5"/>
            </a:solidFill>
            <a:prstDash val="solid"/>
          </a:ln>
        </p:spPr>
      </p:sp>
      <p:sp>
        <p:nvSpPr>
          <p:cNvPr id="30" name="Shape 27"/>
          <p:cNvSpPr/>
          <p:nvPr/>
        </p:nvSpPr>
        <p:spPr>
          <a:xfrm flipH="1">
            <a:off x="8426196" y="4123944"/>
            <a:ext cx="356616" cy="530352"/>
          </a:xfrm>
          <a:prstGeom prst="line">
            <a:avLst/>
          </a:prstGeom>
          <a:noFill/>
          <a:ln w="19050">
            <a:solidFill>
              <a:srgbClr val="9A9AB5"/>
            </a:solidFill>
            <a:prstDash val="solid"/>
          </a:ln>
        </p:spPr>
      </p:sp>
      <p:sp>
        <p:nvSpPr>
          <p:cNvPr id="31" name="Text 28"/>
          <p:cNvSpPr/>
          <p:nvPr/>
        </p:nvSpPr>
        <p:spPr>
          <a:xfrm>
            <a:off x="9043416" y="1911096"/>
            <a:ext cx="548640" cy="384048"/>
          </a:xfrm>
          <a:prstGeom prst="roundRect">
            <a:avLst>
              <a:gd name="adj" fmla="val 19048"/>
            </a:avLst>
          </a:prstGeom>
          <a:solidFill>
            <a:srgbClr val="E9E8F5"/>
          </a:solidFill>
          <a:ln w="15875">
            <a:solidFill>
              <a:srgbClr val="494985"/>
            </a:solidFill>
          </a:ln>
        </p:spPr>
        <p:txBody>
          <a:bodyPr wrap="square" lIns="0" tIns="0" rIns="0" bIns="0" rtlCol="0" anchor="ctr"/>
          <a:lstStyle/>
          <a:p>
            <a:pPr algn="ctr" indent="0" marL="0">
              <a:buNone/>
            </a:pPr>
            <a:r>
              <a:rPr lang="en-US" sz="1400" b="1" dirty="0">
                <a:solidFill>
                  <a:srgbClr val="202124"/>
                </a:solidFill>
                <a:latin typeface="Quicksand" pitchFamily="34" charset="0"/>
                <a:ea typeface="Quicksand" pitchFamily="34" charset="-122"/>
                <a:cs typeface="Quicksand" pitchFamily="34" charset="-120"/>
              </a:rPr>
              <a:t>50</a:t>
            </a:r>
            <a:endParaRPr lang="en-US" sz="1400" dirty="0"/>
          </a:p>
        </p:txBody>
      </p:sp>
      <p:sp>
        <p:nvSpPr>
          <p:cNvPr id="32" name="Text 29"/>
          <p:cNvSpPr/>
          <p:nvPr/>
        </p:nvSpPr>
        <p:spPr>
          <a:xfrm>
            <a:off x="7973568" y="2825496"/>
            <a:ext cx="548640" cy="384048"/>
          </a:xfrm>
          <a:prstGeom prst="roundRect">
            <a:avLst>
              <a:gd name="adj" fmla="val 19048"/>
            </a:avLst>
          </a:prstGeom>
          <a:solidFill>
            <a:srgbClr val="E9E8F5"/>
          </a:solidFill>
          <a:ln w="15875">
            <a:solidFill>
              <a:srgbClr val="494985"/>
            </a:solidFill>
          </a:ln>
        </p:spPr>
        <p:txBody>
          <a:bodyPr wrap="square" lIns="0" tIns="0" rIns="0" bIns="0" rtlCol="0" anchor="ctr"/>
          <a:lstStyle/>
          <a:p>
            <a:pPr algn="ctr" indent="0" marL="0">
              <a:buNone/>
            </a:pPr>
            <a:r>
              <a:rPr lang="en-US" sz="1400" b="1" dirty="0">
                <a:solidFill>
                  <a:srgbClr val="202124"/>
                </a:solidFill>
                <a:latin typeface="Quicksand" pitchFamily="34" charset="0"/>
                <a:ea typeface="Quicksand" pitchFamily="34" charset="-122"/>
                <a:cs typeface="Quicksand" pitchFamily="34" charset="-120"/>
              </a:rPr>
              <a:t>30</a:t>
            </a:r>
            <a:endParaRPr lang="en-US" sz="1400" dirty="0"/>
          </a:p>
        </p:txBody>
      </p:sp>
      <p:sp>
        <p:nvSpPr>
          <p:cNvPr id="33" name="Text 30"/>
          <p:cNvSpPr/>
          <p:nvPr/>
        </p:nvSpPr>
        <p:spPr>
          <a:xfrm>
            <a:off x="10113264" y="2825496"/>
            <a:ext cx="548640" cy="384048"/>
          </a:xfrm>
          <a:prstGeom prst="roundRect">
            <a:avLst>
              <a:gd name="adj" fmla="val 19048"/>
            </a:avLst>
          </a:prstGeom>
          <a:solidFill>
            <a:srgbClr val="E9E8F5"/>
          </a:solidFill>
          <a:ln w="15875">
            <a:solidFill>
              <a:srgbClr val="494985"/>
            </a:solidFill>
          </a:ln>
        </p:spPr>
        <p:txBody>
          <a:bodyPr wrap="square" lIns="0" tIns="0" rIns="0" bIns="0" rtlCol="0" anchor="ctr"/>
          <a:lstStyle/>
          <a:p>
            <a:pPr algn="ctr" indent="0" marL="0">
              <a:buNone/>
            </a:pPr>
            <a:r>
              <a:rPr lang="en-US" sz="1400" b="1" dirty="0">
                <a:solidFill>
                  <a:srgbClr val="202124"/>
                </a:solidFill>
                <a:latin typeface="Quicksand" pitchFamily="34" charset="0"/>
                <a:ea typeface="Quicksand" pitchFamily="34" charset="-122"/>
                <a:cs typeface="Quicksand" pitchFamily="34" charset="-120"/>
              </a:rPr>
              <a:t>70</a:t>
            </a:r>
            <a:endParaRPr lang="en-US" sz="1400" dirty="0"/>
          </a:p>
        </p:txBody>
      </p:sp>
      <p:sp>
        <p:nvSpPr>
          <p:cNvPr id="34" name="Text 31"/>
          <p:cNvSpPr/>
          <p:nvPr/>
        </p:nvSpPr>
        <p:spPr>
          <a:xfrm>
            <a:off x="7438644" y="3739896"/>
            <a:ext cx="548640" cy="384048"/>
          </a:xfrm>
          <a:prstGeom prst="roundRect">
            <a:avLst>
              <a:gd name="adj" fmla="val 19048"/>
            </a:avLst>
          </a:prstGeom>
          <a:solidFill>
            <a:srgbClr val="E9E8F5"/>
          </a:solidFill>
          <a:ln w="15875">
            <a:solidFill>
              <a:srgbClr val="494985"/>
            </a:solidFill>
          </a:ln>
        </p:spPr>
        <p:txBody>
          <a:bodyPr wrap="square" lIns="0" tIns="0" rIns="0" bIns="0" rtlCol="0" anchor="ctr"/>
          <a:lstStyle/>
          <a:p>
            <a:pPr algn="ctr" indent="0" marL="0">
              <a:buNone/>
            </a:pPr>
            <a:r>
              <a:rPr lang="en-US" sz="1400" b="1" dirty="0">
                <a:solidFill>
                  <a:srgbClr val="202124"/>
                </a:solidFill>
                <a:latin typeface="Quicksand" pitchFamily="34" charset="0"/>
                <a:ea typeface="Quicksand" pitchFamily="34" charset="-122"/>
                <a:cs typeface="Quicksand" pitchFamily="34" charset="-120"/>
              </a:rPr>
              <a:t>20</a:t>
            </a:r>
            <a:endParaRPr lang="en-US" sz="1400" dirty="0"/>
          </a:p>
        </p:txBody>
      </p:sp>
      <p:sp>
        <p:nvSpPr>
          <p:cNvPr id="35" name="Text 32"/>
          <p:cNvSpPr/>
          <p:nvPr/>
        </p:nvSpPr>
        <p:spPr>
          <a:xfrm>
            <a:off x="8508492" y="3739896"/>
            <a:ext cx="548640" cy="384048"/>
          </a:xfrm>
          <a:prstGeom prst="roundRect">
            <a:avLst>
              <a:gd name="adj" fmla="val 19048"/>
            </a:avLst>
          </a:prstGeom>
          <a:solidFill>
            <a:srgbClr val="E9E8F5"/>
          </a:solidFill>
          <a:ln w="15875">
            <a:solidFill>
              <a:srgbClr val="494985"/>
            </a:solidFill>
          </a:ln>
        </p:spPr>
        <p:txBody>
          <a:bodyPr wrap="square" lIns="0" tIns="0" rIns="0" bIns="0" rtlCol="0" anchor="ctr"/>
          <a:lstStyle/>
          <a:p>
            <a:pPr algn="ctr" indent="0" marL="0">
              <a:buNone/>
            </a:pPr>
            <a:r>
              <a:rPr lang="en-US" sz="1400" b="1" dirty="0">
                <a:solidFill>
                  <a:srgbClr val="202124"/>
                </a:solidFill>
                <a:latin typeface="Quicksand" pitchFamily="34" charset="0"/>
                <a:ea typeface="Quicksand" pitchFamily="34" charset="-122"/>
                <a:cs typeface="Quicksand" pitchFamily="34" charset="-120"/>
              </a:rPr>
              <a:t>40</a:t>
            </a:r>
            <a:endParaRPr lang="en-US" sz="1400" dirty="0"/>
          </a:p>
        </p:txBody>
      </p:sp>
      <p:sp>
        <p:nvSpPr>
          <p:cNvPr id="36" name="Text 33"/>
          <p:cNvSpPr/>
          <p:nvPr/>
        </p:nvSpPr>
        <p:spPr>
          <a:xfrm>
            <a:off x="9578340" y="3739896"/>
            <a:ext cx="548640" cy="384048"/>
          </a:xfrm>
          <a:prstGeom prst="roundRect">
            <a:avLst>
              <a:gd name="adj" fmla="val 19048"/>
            </a:avLst>
          </a:prstGeom>
          <a:solidFill>
            <a:srgbClr val="E9E8F5"/>
          </a:solidFill>
          <a:ln w="15875">
            <a:solidFill>
              <a:srgbClr val="494985"/>
            </a:solidFill>
          </a:ln>
        </p:spPr>
        <p:txBody>
          <a:bodyPr wrap="square" lIns="0" tIns="0" rIns="0" bIns="0" rtlCol="0" anchor="ctr"/>
          <a:lstStyle/>
          <a:p>
            <a:pPr algn="ctr" indent="0" marL="0">
              <a:buNone/>
            </a:pPr>
            <a:r>
              <a:rPr lang="en-US" sz="1400" b="1" dirty="0">
                <a:solidFill>
                  <a:srgbClr val="202124"/>
                </a:solidFill>
                <a:latin typeface="Quicksand" pitchFamily="34" charset="0"/>
                <a:ea typeface="Quicksand" pitchFamily="34" charset="-122"/>
                <a:cs typeface="Quicksand" pitchFamily="34" charset="-120"/>
              </a:rPr>
              <a:t>60</a:t>
            </a:r>
            <a:endParaRPr lang="en-US" sz="1400" dirty="0"/>
          </a:p>
        </p:txBody>
      </p:sp>
      <p:sp>
        <p:nvSpPr>
          <p:cNvPr id="37" name="Text 34"/>
          <p:cNvSpPr/>
          <p:nvPr/>
        </p:nvSpPr>
        <p:spPr>
          <a:xfrm>
            <a:off x="10648188" y="3739896"/>
            <a:ext cx="548640" cy="384048"/>
          </a:xfrm>
          <a:prstGeom prst="roundRect">
            <a:avLst>
              <a:gd name="adj" fmla="val 19048"/>
            </a:avLst>
          </a:prstGeom>
          <a:solidFill>
            <a:srgbClr val="E9E8F5"/>
          </a:solidFill>
          <a:ln w="15875">
            <a:solidFill>
              <a:srgbClr val="494985"/>
            </a:solidFill>
          </a:ln>
        </p:spPr>
        <p:txBody>
          <a:bodyPr wrap="square" lIns="0" tIns="0" rIns="0" bIns="0" rtlCol="0" anchor="ctr"/>
          <a:lstStyle/>
          <a:p>
            <a:pPr algn="ctr" indent="0" marL="0">
              <a:buNone/>
            </a:pPr>
            <a:r>
              <a:rPr lang="en-US" sz="1400" b="1" dirty="0">
                <a:solidFill>
                  <a:srgbClr val="202124"/>
                </a:solidFill>
                <a:latin typeface="Quicksand" pitchFamily="34" charset="0"/>
                <a:ea typeface="Quicksand" pitchFamily="34" charset="-122"/>
                <a:cs typeface="Quicksand" pitchFamily="34" charset="-120"/>
              </a:rPr>
              <a:t>80</a:t>
            </a:r>
            <a:endParaRPr lang="en-US" sz="1400" dirty="0"/>
          </a:p>
        </p:txBody>
      </p:sp>
      <p:sp>
        <p:nvSpPr>
          <p:cNvPr id="38" name="Text 35"/>
          <p:cNvSpPr/>
          <p:nvPr/>
        </p:nvSpPr>
        <p:spPr>
          <a:xfrm>
            <a:off x="8151876" y="4654296"/>
            <a:ext cx="548640" cy="384048"/>
          </a:xfrm>
          <a:prstGeom prst="roundRect">
            <a:avLst>
              <a:gd name="adj" fmla="val 19048"/>
            </a:avLst>
          </a:prstGeom>
          <a:solidFill>
            <a:srgbClr val="E9E8F5"/>
          </a:solidFill>
          <a:ln w="15875">
            <a:solidFill>
              <a:srgbClr val="494985"/>
            </a:solidFill>
          </a:ln>
        </p:spPr>
        <p:txBody>
          <a:bodyPr wrap="square" lIns="0" tIns="0" rIns="0" bIns="0" rtlCol="0" anchor="ctr"/>
          <a:lstStyle/>
          <a:p>
            <a:pPr algn="ctr" indent="0" marL="0">
              <a:buNone/>
            </a:pPr>
            <a:r>
              <a:rPr lang="en-US" sz="1400" b="1" dirty="0">
                <a:solidFill>
                  <a:srgbClr val="202124"/>
                </a:solidFill>
                <a:latin typeface="Quicksand" pitchFamily="34" charset="0"/>
                <a:ea typeface="Quicksand" pitchFamily="34" charset="-122"/>
                <a:cs typeface="Quicksand" pitchFamily="34" charset="-120"/>
              </a:rPr>
              <a:t>35</a:t>
            </a:r>
            <a:endParaRPr lang="en-US" sz="1400" dirty="0"/>
          </a:p>
        </p:txBody>
      </p:sp>
      <p:sp>
        <p:nvSpPr>
          <p:cNvPr id="39" name="Text 36"/>
          <p:cNvSpPr txBox="1"/>
          <p:nvPr/>
        </p:nvSpPr>
        <p:spPr>
          <a:xfrm>
            <a:off x="6949440" y="5120640"/>
            <a:ext cx="4572000" cy="640080"/>
          </a:xfrm>
          <a:prstGeom prst="rect">
            <a:avLst/>
          </a:prstGeom>
          <a:noFill/>
          <a:ln/>
        </p:spPr>
        <p:txBody>
          <a:bodyPr wrap="square" lIns="0" tIns="0" rIns="0" bIns="0" rtlCol="0" anchor="t"/>
          <a:lstStyle/>
          <a:p>
            <a:pPr indent="0" marL="0">
              <a:buNone/>
            </a:pPr>
            <a:r>
              <a:rPr lang="en-US" sz="1400" b="1" dirty="0">
                <a:solidFill>
                  <a:srgbClr val="494985"/>
                </a:solidFill>
                <a:latin typeface="Quicksand" pitchFamily="34" charset="0"/>
                <a:ea typeface="Quicksand" pitchFamily="34" charset="-122"/>
                <a:cs typeface="Quicksand" pitchFamily="34" charset="-120"/>
              </a:rPr>
              <a:t>No children? Jobs 1 and 3 do nothing - that is the base case.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The same jobs in VB.NET</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3</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12</a:t>
            </a:r>
            <a:endParaRPr lang="en-US" sz="1350" dirty="0"/>
          </a:p>
        </p:txBody>
      </p:sp>
      <p:sp>
        <p:nvSpPr>
          <p:cNvPr id="7" name="Shape 4"/>
          <p:cNvSpPr/>
          <p:nvPr/>
        </p:nvSpPr>
        <p:spPr>
          <a:xfrm>
            <a:off x="704088" y="1252728"/>
            <a:ext cx="6675120" cy="420624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8" name="Text 5"/>
          <p:cNvSpPr txBox="1"/>
          <p:nvPr/>
        </p:nvSpPr>
        <p:spPr>
          <a:xfrm>
            <a:off x="841248" y="1344168"/>
            <a:ext cx="6400800" cy="4023360"/>
          </a:xfrm>
          <a:prstGeom prst="rect">
            <a:avLst/>
          </a:prstGeom>
          <a:noFill/>
          <a:ln/>
        </p:spPr>
        <p:txBody>
          <a:bodyPr wrap="square" lIns="0" tIns="0" rIns="0" bIns="0" rtlCol="0" anchor="t"/>
          <a:lstStyle/>
          <a:p>
            <a:pPr indent="0" marL="0">
              <a:lnSpc>
                <a:spcPct val="105000"/>
              </a:lnSpc>
              <a:buNone/>
            </a:pPr>
            <a:r>
              <a:rPr lang="en-US" sz="1400" dirty="0">
                <a:solidFill>
                  <a:srgbClr val="1D1D1D"/>
                </a:solidFill>
                <a:latin typeface="Roboto Mono" pitchFamily="34" charset="0"/>
                <a:ea typeface="Roboto Mono" pitchFamily="34" charset="-122"/>
                <a:cs typeface="Roboto Mono" pitchFamily="34" charset="-120"/>
              </a:rPr>
              <a:t>Sub InOrder(ByVal Root As Integer)</a:t>
            </a:r>
            <a:endParaRPr lang="en-US" sz="1400" dirty="0"/>
          </a:p>
          <a:p>
            <a:pPr indent="0" marL="0">
              <a:lnSpc>
                <a:spcPct val="105000"/>
              </a:lnSpc>
              <a:buNone/>
            </a:pPr>
            <a:r>
              <a:rPr lang="en-US" sz="1400" dirty="0">
                <a:solidFill>
                  <a:srgbClr val="1D1D1D"/>
                </a:solidFill>
                <a:latin typeface="Roboto Mono" pitchFamily="34" charset="0"/>
                <a:ea typeface="Roboto Mono" pitchFamily="34" charset="-122"/>
                <a:cs typeface="Roboto Mono" pitchFamily="34" charset="-120"/>
              </a:rPr>
              <a:t> </a:t>
            </a:r>
            <a:endParaRPr lang="en-US" sz="1400" dirty="0"/>
          </a:p>
          <a:p>
            <a:pPr indent="0" marL="0">
              <a:lnSpc>
                <a:spcPct val="105000"/>
              </a:lnSpc>
              <a:buNone/>
            </a:pPr>
            <a:r>
              <a:rPr lang="en-US" sz="1400" b="1" dirty="0">
                <a:solidFill>
                  <a:srgbClr val="494985"/>
                </a:solidFill>
                <a:latin typeface="Roboto Mono" pitchFamily="34" charset="0"/>
                <a:ea typeface="Roboto Mono" pitchFamily="34" charset="-122"/>
                <a:cs typeface="Roboto Mono" pitchFamily="34" charset="-120"/>
              </a:rPr>
              <a:t>    If TreeArray(Root, 0) &lt;&gt; -1 Then</a:t>
            </a:r>
            <a:endParaRPr lang="en-US" sz="1400" dirty="0"/>
          </a:p>
          <a:p>
            <a:pPr indent="0" marL="0">
              <a:lnSpc>
                <a:spcPct val="105000"/>
              </a:lnSpc>
              <a:buNone/>
            </a:pPr>
            <a:r>
              <a:rPr lang="en-US" sz="1400" dirty="0">
                <a:solidFill>
                  <a:srgbClr val="1D1D1D"/>
                </a:solidFill>
                <a:latin typeface="Roboto Mono" pitchFamily="34" charset="0"/>
                <a:ea typeface="Roboto Mono" pitchFamily="34" charset="-122"/>
                <a:cs typeface="Roboto Mono" pitchFamily="34" charset="-120"/>
              </a:rPr>
              <a:t>        InOrder(TreeArray(Root, 0))</a:t>
            </a:r>
            <a:endParaRPr lang="en-US" sz="1400" dirty="0"/>
          </a:p>
          <a:p>
            <a:pPr indent="0" marL="0">
              <a:lnSpc>
                <a:spcPct val="105000"/>
              </a:lnSpc>
              <a:buNone/>
            </a:pPr>
            <a:r>
              <a:rPr lang="en-US" sz="1400" dirty="0">
                <a:solidFill>
                  <a:srgbClr val="1D1D1D"/>
                </a:solidFill>
                <a:latin typeface="Roboto Mono" pitchFamily="34" charset="0"/>
                <a:ea typeface="Roboto Mono" pitchFamily="34" charset="-122"/>
                <a:cs typeface="Roboto Mono" pitchFamily="34" charset="-120"/>
              </a:rPr>
              <a:t>    End If</a:t>
            </a:r>
            <a:endParaRPr lang="en-US" sz="1400" dirty="0"/>
          </a:p>
          <a:p>
            <a:pPr indent="0" marL="0">
              <a:lnSpc>
                <a:spcPct val="105000"/>
              </a:lnSpc>
              <a:buNone/>
            </a:pPr>
            <a:r>
              <a:rPr lang="en-US" sz="1400" dirty="0">
                <a:solidFill>
                  <a:srgbClr val="1D1D1D"/>
                </a:solidFill>
                <a:latin typeface="Roboto Mono" pitchFamily="34" charset="0"/>
                <a:ea typeface="Roboto Mono" pitchFamily="34" charset="-122"/>
                <a:cs typeface="Roboto Mono" pitchFamily="34" charset="-120"/>
              </a:rPr>
              <a:t> </a:t>
            </a:r>
            <a:endParaRPr lang="en-US" sz="1400" dirty="0"/>
          </a:p>
          <a:p>
            <a:pPr indent="0" marL="0">
              <a:lnSpc>
                <a:spcPct val="105000"/>
              </a:lnSpc>
              <a:buNone/>
            </a:pPr>
            <a:r>
              <a:rPr lang="en-US" sz="1400" b="1" dirty="0">
                <a:solidFill>
                  <a:srgbClr val="494985"/>
                </a:solidFill>
                <a:latin typeface="Roboto Mono" pitchFamily="34" charset="0"/>
                <a:ea typeface="Roboto Mono" pitchFamily="34" charset="-122"/>
                <a:cs typeface="Roboto Mono" pitchFamily="34" charset="-120"/>
              </a:rPr>
              <a:t>    Console.WriteLine(TreeArray(Root, 1))</a:t>
            </a:r>
            <a:endParaRPr lang="en-US" sz="1400" dirty="0"/>
          </a:p>
          <a:p>
            <a:pPr indent="0" marL="0">
              <a:lnSpc>
                <a:spcPct val="105000"/>
              </a:lnSpc>
              <a:buNone/>
            </a:pPr>
            <a:r>
              <a:rPr lang="en-US" sz="1400" dirty="0">
                <a:solidFill>
                  <a:srgbClr val="1D1D1D"/>
                </a:solidFill>
                <a:latin typeface="Roboto Mono" pitchFamily="34" charset="0"/>
                <a:ea typeface="Roboto Mono" pitchFamily="34" charset="-122"/>
                <a:cs typeface="Roboto Mono" pitchFamily="34" charset="-120"/>
              </a:rPr>
              <a:t> </a:t>
            </a:r>
            <a:endParaRPr lang="en-US" sz="1400" dirty="0"/>
          </a:p>
          <a:p>
            <a:pPr indent="0" marL="0">
              <a:lnSpc>
                <a:spcPct val="105000"/>
              </a:lnSpc>
              <a:buNone/>
            </a:pPr>
            <a:r>
              <a:rPr lang="en-US" sz="1400" b="1" dirty="0">
                <a:solidFill>
                  <a:srgbClr val="494985"/>
                </a:solidFill>
                <a:latin typeface="Roboto Mono" pitchFamily="34" charset="0"/>
                <a:ea typeface="Roboto Mono" pitchFamily="34" charset="-122"/>
                <a:cs typeface="Roboto Mono" pitchFamily="34" charset="-120"/>
              </a:rPr>
              <a:t>    If TreeArray(Root, 2) &lt;&gt; -1 Then</a:t>
            </a:r>
            <a:endParaRPr lang="en-US" sz="1400" dirty="0"/>
          </a:p>
          <a:p>
            <a:pPr indent="0" marL="0">
              <a:lnSpc>
                <a:spcPct val="105000"/>
              </a:lnSpc>
              <a:buNone/>
            </a:pPr>
            <a:r>
              <a:rPr lang="en-US" sz="1400" dirty="0">
                <a:solidFill>
                  <a:srgbClr val="1D1D1D"/>
                </a:solidFill>
                <a:latin typeface="Roboto Mono" pitchFamily="34" charset="0"/>
                <a:ea typeface="Roboto Mono" pitchFamily="34" charset="-122"/>
                <a:cs typeface="Roboto Mono" pitchFamily="34" charset="-120"/>
              </a:rPr>
              <a:t>        InOrder(TreeArray(Root, 2))</a:t>
            </a:r>
            <a:endParaRPr lang="en-US" sz="1400" dirty="0"/>
          </a:p>
          <a:p>
            <a:pPr indent="0" marL="0">
              <a:lnSpc>
                <a:spcPct val="105000"/>
              </a:lnSpc>
              <a:buNone/>
            </a:pPr>
            <a:r>
              <a:rPr lang="en-US" sz="1400" dirty="0">
                <a:solidFill>
                  <a:srgbClr val="1D1D1D"/>
                </a:solidFill>
                <a:latin typeface="Roboto Mono" pitchFamily="34" charset="0"/>
                <a:ea typeface="Roboto Mono" pitchFamily="34" charset="-122"/>
                <a:cs typeface="Roboto Mono" pitchFamily="34" charset="-120"/>
              </a:rPr>
              <a:t>    End If</a:t>
            </a:r>
            <a:endParaRPr lang="en-US" sz="1400" dirty="0"/>
          </a:p>
          <a:p>
            <a:pPr indent="0" marL="0">
              <a:lnSpc>
                <a:spcPct val="105000"/>
              </a:lnSpc>
              <a:buNone/>
            </a:pPr>
            <a:r>
              <a:rPr lang="en-US" sz="1400" dirty="0">
                <a:solidFill>
                  <a:srgbClr val="1D1D1D"/>
                </a:solidFill>
                <a:latin typeface="Roboto Mono" pitchFamily="34" charset="0"/>
                <a:ea typeface="Roboto Mono" pitchFamily="34" charset="-122"/>
                <a:cs typeface="Roboto Mono" pitchFamily="34" charset="-120"/>
              </a:rPr>
              <a:t> </a:t>
            </a:r>
            <a:endParaRPr lang="en-US" sz="1400" dirty="0"/>
          </a:p>
          <a:p>
            <a:pPr indent="0" marL="0">
              <a:lnSpc>
                <a:spcPct val="105000"/>
              </a:lnSpc>
              <a:buNone/>
            </a:pPr>
            <a:r>
              <a:rPr lang="en-US" sz="1400" dirty="0">
                <a:solidFill>
                  <a:srgbClr val="1D1D1D"/>
                </a:solidFill>
                <a:latin typeface="Roboto Mono" pitchFamily="34" charset="0"/>
                <a:ea typeface="Roboto Mono" pitchFamily="34" charset="-122"/>
                <a:cs typeface="Roboto Mono" pitchFamily="34" charset="-120"/>
              </a:rPr>
              <a:t>End Sub</a:t>
            </a:r>
            <a:endParaRPr lang="en-US" sz="1400" dirty="0"/>
          </a:p>
        </p:txBody>
      </p:sp>
      <p:sp>
        <p:nvSpPr>
          <p:cNvPr id="9" name="Shape 6"/>
          <p:cNvSpPr/>
          <p:nvPr/>
        </p:nvSpPr>
        <p:spPr>
          <a:xfrm>
            <a:off x="7680960" y="1252728"/>
            <a:ext cx="3840480" cy="1005840"/>
          </a:xfrm>
          <a:prstGeom prst="rect">
            <a:avLst/>
          </a:prstGeom>
          <a:solidFill>
            <a:srgbClr val="F6F5FC"/>
          </a:solidFill>
          <a:ln w="12700">
            <a:solidFill>
              <a:srgbClr val="F6F5FC"/>
            </a:solidFill>
            <a:prstDash val="solid"/>
          </a:ln>
        </p:spPr>
      </p:sp>
      <p:sp>
        <p:nvSpPr>
          <p:cNvPr id="10" name="Text 7"/>
          <p:cNvSpPr/>
          <p:nvPr/>
        </p:nvSpPr>
        <p:spPr>
          <a:xfrm>
            <a:off x="7818120" y="1389888"/>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1" name="Text 8"/>
          <p:cNvSpPr txBox="1"/>
          <p:nvPr/>
        </p:nvSpPr>
        <p:spPr>
          <a:xfrm>
            <a:off x="8339328" y="1362456"/>
            <a:ext cx="30632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Job 1: left subtree</a:t>
            </a:r>
            <a:endParaRPr lang="en-US" sz="1500" dirty="0"/>
          </a:p>
        </p:txBody>
      </p:sp>
      <p:sp>
        <p:nvSpPr>
          <p:cNvPr id="12" name="Text 9"/>
          <p:cNvSpPr txBox="1"/>
          <p:nvPr/>
        </p:nvSpPr>
        <p:spPr>
          <a:xfrm>
            <a:off x="8339328" y="1755648"/>
            <a:ext cx="3063240" cy="43891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If the left pointer is not -1, call InOrder on the left child and wait.</a:t>
            </a:r>
            <a:endParaRPr lang="en-US" sz="1250" dirty="0"/>
          </a:p>
        </p:txBody>
      </p:sp>
      <p:sp>
        <p:nvSpPr>
          <p:cNvPr id="13" name="Shape 10"/>
          <p:cNvSpPr/>
          <p:nvPr/>
        </p:nvSpPr>
        <p:spPr>
          <a:xfrm>
            <a:off x="7680960" y="2350008"/>
            <a:ext cx="3840480" cy="1005840"/>
          </a:xfrm>
          <a:prstGeom prst="rect">
            <a:avLst/>
          </a:prstGeom>
          <a:solidFill>
            <a:srgbClr val="F6F5FC"/>
          </a:solidFill>
          <a:ln w="12700">
            <a:solidFill>
              <a:srgbClr val="F6F5FC"/>
            </a:solidFill>
            <a:prstDash val="solid"/>
          </a:ln>
        </p:spPr>
      </p:sp>
      <p:sp>
        <p:nvSpPr>
          <p:cNvPr id="14" name="Text 11"/>
          <p:cNvSpPr/>
          <p:nvPr/>
        </p:nvSpPr>
        <p:spPr>
          <a:xfrm>
            <a:off x="7818120" y="2487168"/>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5" name="Text 12"/>
          <p:cNvSpPr txBox="1"/>
          <p:nvPr/>
        </p:nvSpPr>
        <p:spPr>
          <a:xfrm>
            <a:off x="8339328" y="2459736"/>
            <a:ext cx="30632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Job 2: output</a:t>
            </a:r>
            <a:endParaRPr lang="en-US" sz="1500" dirty="0"/>
          </a:p>
        </p:txBody>
      </p:sp>
      <p:sp>
        <p:nvSpPr>
          <p:cNvPr id="16" name="Text 13"/>
          <p:cNvSpPr txBox="1"/>
          <p:nvPr/>
        </p:nvSpPr>
        <p:spPr>
          <a:xfrm>
            <a:off x="8339328" y="2852928"/>
            <a:ext cx="3063240" cy="43891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Write this node's data (column 1).</a:t>
            </a:r>
            <a:endParaRPr lang="en-US" sz="1250" dirty="0"/>
          </a:p>
        </p:txBody>
      </p:sp>
      <p:sp>
        <p:nvSpPr>
          <p:cNvPr id="17" name="Shape 14"/>
          <p:cNvSpPr/>
          <p:nvPr/>
        </p:nvSpPr>
        <p:spPr>
          <a:xfrm>
            <a:off x="7680960" y="3447288"/>
            <a:ext cx="3840480" cy="1005840"/>
          </a:xfrm>
          <a:prstGeom prst="rect">
            <a:avLst/>
          </a:prstGeom>
          <a:solidFill>
            <a:srgbClr val="F6F5FC"/>
          </a:solidFill>
          <a:ln w="12700">
            <a:solidFill>
              <a:srgbClr val="F6F5FC"/>
            </a:solidFill>
            <a:prstDash val="solid"/>
          </a:ln>
        </p:spPr>
      </p:sp>
      <p:sp>
        <p:nvSpPr>
          <p:cNvPr id="18" name="Text 15"/>
          <p:cNvSpPr/>
          <p:nvPr/>
        </p:nvSpPr>
        <p:spPr>
          <a:xfrm>
            <a:off x="7818120" y="3584448"/>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19" name="Text 16"/>
          <p:cNvSpPr txBox="1"/>
          <p:nvPr/>
        </p:nvSpPr>
        <p:spPr>
          <a:xfrm>
            <a:off x="8339328" y="3557016"/>
            <a:ext cx="30632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Job 3: right subtree</a:t>
            </a:r>
            <a:endParaRPr lang="en-US" sz="1500" dirty="0"/>
          </a:p>
        </p:txBody>
      </p:sp>
      <p:sp>
        <p:nvSpPr>
          <p:cNvPr id="20" name="Text 17"/>
          <p:cNvSpPr txBox="1"/>
          <p:nvPr/>
        </p:nvSpPr>
        <p:spPr>
          <a:xfrm>
            <a:off x="8339328" y="3950208"/>
            <a:ext cx="3063240" cy="43891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If the right pointer is not -1, call InOrder on the right child and wait.</a:t>
            </a:r>
            <a:endParaRPr lang="en-US" sz="1250" dirty="0"/>
          </a:p>
        </p:txBody>
      </p:sp>
      <p:sp>
        <p:nvSpPr>
          <p:cNvPr id="21" name="Shape 18"/>
          <p:cNvSpPr/>
          <p:nvPr/>
        </p:nvSpPr>
        <p:spPr>
          <a:xfrm>
            <a:off x="7680960" y="4544568"/>
            <a:ext cx="3840480" cy="1005840"/>
          </a:xfrm>
          <a:prstGeom prst="rect">
            <a:avLst/>
          </a:prstGeom>
          <a:solidFill>
            <a:srgbClr val="F6F5FC"/>
          </a:solidFill>
          <a:ln w="12700">
            <a:solidFill>
              <a:srgbClr val="F6F5FC"/>
            </a:solidFill>
            <a:prstDash val="solid"/>
          </a:ln>
        </p:spPr>
      </p:sp>
      <p:sp>
        <p:nvSpPr>
          <p:cNvPr id="22" name="Text 19"/>
          <p:cNvSpPr/>
          <p:nvPr/>
        </p:nvSpPr>
        <p:spPr>
          <a:xfrm>
            <a:off x="7818120" y="4681728"/>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4</a:t>
            </a:r>
            <a:endParaRPr lang="en-US" sz="1400" dirty="0"/>
          </a:p>
        </p:txBody>
      </p:sp>
      <p:sp>
        <p:nvSpPr>
          <p:cNvPr id="23" name="Text 20"/>
          <p:cNvSpPr txBox="1"/>
          <p:nvPr/>
        </p:nvSpPr>
        <p:spPr>
          <a:xfrm>
            <a:off x="8339328" y="4654296"/>
            <a:ext cx="30632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Job 4: End Sub</a:t>
            </a:r>
            <a:endParaRPr lang="en-US" sz="1500" dirty="0"/>
          </a:p>
        </p:txBody>
      </p:sp>
      <p:sp>
        <p:nvSpPr>
          <p:cNvPr id="24" name="Text 21"/>
          <p:cNvSpPr txBox="1"/>
          <p:nvPr/>
        </p:nvSpPr>
        <p:spPr>
          <a:xfrm>
            <a:off x="8339328" y="5047488"/>
            <a:ext cx="3063240" cy="43891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Return to whoever called this one.</a:t>
            </a:r>
            <a:endParaRPr lang="en-US" sz="1250" dirty="0"/>
          </a:p>
        </p:txBody>
      </p:sp>
      <p:sp>
        <p:nvSpPr>
          <p:cNvPr id="25" name="Text 22"/>
          <p:cNvSpPr txBox="1"/>
          <p:nvPr/>
        </p:nvSpPr>
        <p:spPr>
          <a:xfrm>
            <a:off x="704088" y="5623560"/>
            <a:ext cx="10789920" cy="41148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Root is an INDEX (a row number). TreeArray(Root, 1) is the data in that row.</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The call stack remembers who is waiting</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3</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13</a:t>
            </a:r>
            <a:endParaRPr lang="en-US" sz="1350" dirty="0"/>
          </a:p>
        </p:txBody>
      </p:sp>
      <p:sp>
        <p:nvSpPr>
          <p:cNvPr id="7" name="Text 4"/>
          <p:cNvSpPr txBox="1"/>
          <p:nvPr/>
        </p:nvSpPr>
        <p:spPr>
          <a:xfrm>
            <a:off x="731520" y="1234440"/>
            <a:ext cx="1188720" cy="566928"/>
          </a:xfrm>
          <a:prstGeom prst="rect">
            <a:avLst/>
          </a:prstGeom>
          <a:noFill/>
          <a:ln/>
        </p:spPr>
        <p:txBody>
          <a:bodyPr wrap="square" lIns="0" tIns="0" rIns="0" bIns="0" rtlCol="0" anchor="b"/>
          <a:lstStyle/>
          <a:p>
            <a:pPr algn="ctr" indent="0" marL="0">
              <a:buNone/>
            </a:pPr>
            <a:r>
              <a:rPr lang="en-US" sz="1150" b="1" dirty="0">
                <a:solidFill>
                  <a:srgbClr val="202124"/>
                </a:solidFill>
                <a:latin typeface="Quicksand" pitchFamily="34" charset="0"/>
                <a:ea typeface="Quicksand" pitchFamily="34" charset="-122"/>
                <a:cs typeface="Quicksand" pitchFamily="34" charset="-120"/>
              </a:rPr>
              <a:t>Call on 30</a:t>
            </a:r>
            <a:endParaRPr lang="en-US" sz="1150" dirty="0"/>
          </a:p>
        </p:txBody>
      </p:sp>
      <p:sp>
        <p:nvSpPr>
          <p:cNvPr id="8" name="Text 5"/>
          <p:cNvSpPr/>
          <p:nvPr/>
        </p:nvSpPr>
        <p:spPr>
          <a:xfrm>
            <a:off x="1188720" y="1874520"/>
            <a:ext cx="274320" cy="274320"/>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100" b="1" dirty="0">
                <a:solidFill>
                  <a:srgbClr val="FFFFFF"/>
                </a:solidFill>
                <a:latin typeface="Quicksand" pitchFamily="34" charset="0"/>
                <a:ea typeface="Quicksand" pitchFamily="34" charset="-122"/>
                <a:cs typeface="Quicksand" pitchFamily="34" charset="-120"/>
              </a:rPr>
              <a:t>1</a:t>
            </a:r>
            <a:endParaRPr lang="en-US" sz="1100" dirty="0"/>
          </a:p>
        </p:txBody>
      </p:sp>
      <p:sp>
        <p:nvSpPr>
          <p:cNvPr id="9" name="Text 6"/>
          <p:cNvSpPr/>
          <p:nvPr/>
        </p:nvSpPr>
        <p:spPr>
          <a:xfrm>
            <a:off x="777240" y="3657600"/>
            <a:ext cx="1097280" cy="457200"/>
          </a:xfrm>
          <a:prstGeom prst="rect">
            <a:avLst/>
          </a:prstGeom>
          <a:solidFill>
            <a:srgbClr val="FFD84D"/>
          </a:solidFill>
          <a:ln w="12700">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node 30</a:t>
            </a:r>
            <a:endParaRPr lang="en-US" sz="1300" dirty="0"/>
          </a:p>
        </p:txBody>
      </p:sp>
      <p:sp>
        <p:nvSpPr>
          <p:cNvPr id="10" name="Shape 7"/>
          <p:cNvSpPr/>
          <p:nvPr/>
        </p:nvSpPr>
        <p:spPr>
          <a:xfrm>
            <a:off x="731520" y="4187952"/>
            <a:ext cx="1188720" cy="0"/>
          </a:xfrm>
          <a:prstGeom prst="line">
            <a:avLst/>
          </a:prstGeom>
          <a:noFill/>
          <a:ln w="25400">
            <a:solidFill>
              <a:srgbClr val="202124"/>
            </a:solidFill>
            <a:prstDash val="solid"/>
          </a:ln>
        </p:spPr>
      </p:sp>
      <p:sp>
        <p:nvSpPr>
          <p:cNvPr id="11" name="Text 8"/>
          <p:cNvSpPr txBox="1"/>
          <p:nvPr/>
        </p:nvSpPr>
        <p:spPr>
          <a:xfrm>
            <a:off x="731520" y="4270248"/>
            <a:ext cx="1188720" cy="502920"/>
          </a:xfrm>
          <a:prstGeom prst="rect">
            <a:avLst/>
          </a:prstGeom>
          <a:noFill/>
          <a:ln/>
        </p:spPr>
        <p:txBody>
          <a:bodyPr wrap="square" lIns="0" tIns="0" rIns="0" bIns="0" rtlCol="0" anchor="t"/>
          <a:lstStyle/>
          <a:p>
            <a:pPr algn="ctr" indent="0" marL="0">
              <a:buNone/>
            </a:pPr>
            <a:r>
              <a:rPr lang="en-US" sz="1200" b="1" dirty="0">
                <a:solidFill>
                  <a:srgbClr val="D9822B"/>
                </a:solidFill>
                <a:latin typeface="Quicksand" pitchFamily="34" charset="0"/>
                <a:ea typeface="Quicksand" pitchFamily="34" charset="-122"/>
                <a:cs typeface="Quicksand" pitchFamily="34" charset="-120"/>
              </a:rPr>
              <a:t> </a:t>
            </a:r>
            <a:endParaRPr lang="en-US" sz="1200" dirty="0"/>
          </a:p>
        </p:txBody>
      </p:sp>
      <p:sp>
        <p:nvSpPr>
          <p:cNvPr id="12" name="Text 9"/>
          <p:cNvSpPr txBox="1"/>
          <p:nvPr/>
        </p:nvSpPr>
        <p:spPr>
          <a:xfrm>
            <a:off x="2075688" y="1234440"/>
            <a:ext cx="1188720" cy="566928"/>
          </a:xfrm>
          <a:prstGeom prst="rect">
            <a:avLst/>
          </a:prstGeom>
          <a:noFill/>
          <a:ln/>
        </p:spPr>
        <p:txBody>
          <a:bodyPr wrap="square" lIns="0" tIns="0" rIns="0" bIns="0" rtlCol="0" anchor="b"/>
          <a:lstStyle/>
          <a:p>
            <a:pPr algn="ctr" indent="0" marL="0">
              <a:buNone/>
            </a:pPr>
            <a:r>
              <a:rPr lang="en-US" sz="1150" b="1" dirty="0">
                <a:solidFill>
                  <a:srgbClr val="202124"/>
                </a:solidFill>
                <a:latin typeface="Quicksand" pitchFamily="34" charset="0"/>
                <a:ea typeface="Quicksand" pitchFamily="34" charset="-122"/>
                <a:cs typeface="Quicksand" pitchFamily="34" charset="-120"/>
              </a:rPr>
              <a:t>30 calls left: 20</a:t>
            </a:r>
            <a:endParaRPr lang="en-US" sz="1150" dirty="0"/>
          </a:p>
        </p:txBody>
      </p:sp>
      <p:sp>
        <p:nvSpPr>
          <p:cNvPr id="13" name="Text 10"/>
          <p:cNvSpPr/>
          <p:nvPr/>
        </p:nvSpPr>
        <p:spPr>
          <a:xfrm>
            <a:off x="2532888" y="1874520"/>
            <a:ext cx="274320" cy="274320"/>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100" b="1" dirty="0">
                <a:solidFill>
                  <a:srgbClr val="FFFFFF"/>
                </a:solidFill>
                <a:latin typeface="Quicksand" pitchFamily="34" charset="0"/>
                <a:ea typeface="Quicksand" pitchFamily="34" charset="-122"/>
                <a:cs typeface="Quicksand" pitchFamily="34" charset="-120"/>
              </a:rPr>
              <a:t>2</a:t>
            </a:r>
            <a:endParaRPr lang="en-US" sz="1100" dirty="0"/>
          </a:p>
        </p:txBody>
      </p:sp>
      <p:sp>
        <p:nvSpPr>
          <p:cNvPr id="14" name="Text 11"/>
          <p:cNvSpPr/>
          <p:nvPr/>
        </p:nvSpPr>
        <p:spPr>
          <a:xfrm>
            <a:off x="2121408" y="3657600"/>
            <a:ext cx="1097280" cy="457200"/>
          </a:xfrm>
          <a:prstGeom prst="rect">
            <a:avLst/>
          </a:prstGeom>
          <a:solidFill>
            <a:srgbClr val="E9E8F5"/>
          </a:solidFill>
          <a:ln w="12700">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node 30</a:t>
            </a:r>
            <a:endParaRPr lang="en-US" sz="1300" dirty="0"/>
          </a:p>
        </p:txBody>
      </p:sp>
      <p:sp>
        <p:nvSpPr>
          <p:cNvPr id="15" name="Text 12"/>
          <p:cNvSpPr/>
          <p:nvPr/>
        </p:nvSpPr>
        <p:spPr>
          <a:xfrm>
            <a:off x="2121408" y="3154680"/>
            <a:ext cx="1097280" cy="457200"/>
          </a:xfrm>
          <a:prstGeom prst="rect">
            <a:avLst/>
          </a:prstGeom>
          <a:solidFill>
            <a:srgbClr val="FFD84D"/>
          </a:solidFill>
          <a:ln w="12700">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node 20</a:t>
            </a:r>
            <a:endParaRPr lang="en-US" sz="1300" dirty="0"/>
          </a:p>
        </p:txBody>
      </p:sp>
      <p:sp>
        <p:nvSpPr>
          <p:cNvPr id="16" name="Shape 13"/>
          <p:cNvSpPr/>
          <p:nvPr/>
        </p:nvSpPr>
        <p:spPr>
          <a:xfrm>
            <a:off x="2075688" y="4187952"/>
            <a:ext cx="1188720" cy="0"/>
          </a:xfrm>
          <a:prstGeom prst="line">
            <a:avLst/>
          </a:prstGeom>
          <a:noFill/>
          <a:ln w="25400">
            <a:solidFill>
              <a:srgbClr val="202124"/>
            </a:solidFill>
            <a:prstDash val="solid"/>
          </a:ln>
        </p:spPr>
      </p:sp>
      <p:sp>
        <p:nvSpPr>
          <p:cNvPr id="17" name="Text 14"/>
          <p:cNvSpPr txBox="1"/>
          <p:nvPr/>
        </p:nvSpPr>
        <p:spPr>
          <a:xfrm>
            <a:off x="2075688" y="4270248"/>
            <a:ext cx="1188720" cy="502920"/>
          </a:xfrm>
          <a:prstGeom prst="rect">
            <a:avLst/>
          </a:prstGeom>
          <a:noFill/>
          <a:ln/>
        </p:spPr>
        <p:txBody>
          <a:bodyPr wrap="square" lIns="0" tIns="0" rIns="0" bIns="0" rtlCol="0" anchor="t"/>
          <a:lstStyle/>
          <a:p>
            <a:pPr algn="ctr" indent="0" marL="0">
              <a:buNone/>
            </a:pPr>
            <a:r>
              <a:rPr lang="en-US" sz="1200" b="1" dirty="0">
                <a:solidFill>
                  <a:srgbClr val="D9822B"/>
                </a:solidFill>
                <a:latin typeface="Quicksand" pitchFamily="34" charset="0"/>
                <a:ea typeface="Quicksand" pitchFamily="34" charset="-122"/>
                <a:cs typeface="Quicksand" pitchFamily="34" charset="-120"/>
              </a:rPr>
              <a:t>20</a:t>
            </a:r>
            <a:endParaRPr lang="en-US" sz="1200" dirty="0"/>
          </a:p>
        </p:txBody>
      </p:sp>
      <p:sp>
        <p:nvSpPr>
          <p:cNvPr id="18" name="Text 15"/>
          <p:cNvSpPr txBox="1"/>
          <p:nvPr/>
        </p:nvSpPr>
        <p:spPr>
          <a:xfrm>
            <a:off x="3419856" y="1234440"/>
            <a:ext cx="1188720" cy="566928"/>
          </a:xfrm>
          <a:prstGeom prst="rect">
            <a:avLst/>
          </a:prstGeom>
          <a:noFill/>
          <a:ln/>
        </p:spPr>
        <p:txBody>
          <a:bodyPr wrap="square" lIns="0" tIns="0" rIns="0" bIns="0" rtlCol="0" anchor="b"/>
          <a:lstStyle/>
          <a:p>
            <a:pPr algn="ctr" indent="0" marL="0">
              <a:buNone/>
            </a:pPr>
            <a:r>
              <a:rPr lang="en-US" sz="1150" b="1" dirty="0">
                <a:solidFill>
                  <a:srgbClr val="202124"/>
                </a:solidFill>
                <a:latin typeface="Quicksand" pitchFamily="34" charset="0"/>
                <a:ea typeface="Quicksand" pitchFamily="34" charset="-122"/>
                <a:cs typeface="Quicksand" pitchFamily="34" charset="-120"/>
              </a:rPr>
              <a:t>20 returns. 30 prints</a:t>
            </a:r>
            <a:endParaRPr lang="en-US" sz="1150" dirty="0"/>
          </a:p>
        </p:txBody>
      </p:sp>
      <p:sp>
        <p:nvSpPr>
          <p:cNvPr id="19" name="Text 16"/>
          <p:cNvSpPr/>
          <p:nvPr/>
        </p:nvSpPr>
        <p:spPr>
          <a:xfrm>
            <a:off x="3877056" y="1874520"/>
            <a:ext cx="274320" cy="274320"/>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100" b="1" dirty="0">
                <a:solidFill>
                  <a:srgbClr val="FFFFFF"/>
                </a:solidFill>
                <a:latin typeface="Quicksand" pitchFamily="34" charset="0"/>
                <a:ea typeface="Quicksand" pitchFamily="34" charset="-122"/>
                <a:cs typeface="Quicksand" pitchFamily="34" charset="-120"/>
              </a:rPr>
              <a:t>3</a:t>
            </a:r>
            <a:endParaRPr lang="en-US" sz="1100" dirty="0"/>
          </a:p>
        </p:txBody>
      </p:sp>
      <p:sp>
        <p:nvSpPr>
          <p:cNvPr id="20" name="Text 17"/>
          <p:cNvSpPr/>
          <p:nvPr/>
        </p:nvSpPr>
        <p:spPr>
          <a:xfrm>
            <a:off x="3465576" y="3657600"/>
            <a:ext cx="1097280" cy="457200"/>
          </a:xfrm>
          <a:prstGeom prst="rect">
            <a:avLst/>
          </a:prstGeom>
          <a:solidFill>
            <a:srgbClr val="FFD84D"/>
          </a:solidFill>
          <a:ln w="12700">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node 30</a:t>
            </a:r>
            <a:endParaRPr lang="en-US" sz="1300" dirty="0"/>
          </a:p>
        </p:txBody>
      </p:sp>
      <p:sp>
        <p:nvSpPr>
          <p:cNvPr id="21" name="Shape 18"/>
          <p:cNvSpPr/>
          <p:nvPr/>
        </p:nvSpPr>
        <p:spPr>
          <a:xfrm>
            <a:off x="3419856" y="4187952"/>
            <a:ext cx="1188720" cy="0"/>
          </a:xfrm>
          <a:prstGeom prst="line">
            <a:avLst/>
          </a:prstGeom>
          <a:noFill/>
          <a:ln w="25400">
            <a:solidFill>
              <a:srgbClr val="202124"/>
            </a:solidFill>
            <a:prstDash val="solid"/>
          </a:ln>
        </p:spPr>
      </p:sp>
      <p:sp>
        <p:nvSpPr>
          <p:cNvPr id="22" name="Text 19"/>
          <p:cNvSpPr txBox="1"/>
          <p:nvPr/>
        </p:nvSpPr>
        <p:spPr>
          <a:xfrm>
            <a:off x="3419856" y="4270248"/>
            <a:ext cx="1188720" cy="502920"/>
          </a:xfrm>
          <a:prstGeom prst="rect">
            <a:avLst/>
          </a:prstGeom>
          <a:noFill/>
          <a:ln/>
        </p:spPr>
        <p:txBody>
          <a:bodyPr wrap="square" lIns="0" tIns="0" rIns="0" bIns="0" rtlCol="0" anchor="t"/>
          <a:lstStyle/>
          <a:p>
            <a:pPr algn="ctr" indent="0" marL="0">
              <a:buNone/>
            </a:pPr>
            <a:r>
              <a:rPr lang="en-US" sz="1200" b="1" dirty="0">
                <a:solidFill>
                  <a:srgbClr val="D9822B"/>
                </a:solidFill>
                <a:latin typeface="Quicksand" pitchFamily="34" charset="0"/>
                <a:ea typeface="Quicksand" pitchFamily="34" charset="-122"/>
                <a:cs typeface="Quicksand" pitchFamily="34" charset="-120"/>
              </a:rPr>
              <a:t>20 30</a:t>
            </a:r>
            <a:endParaRPr lang="en-US" sz="1200" dirty="0"/>
          </a:p>
        </p:txBody>
      </p:sp>
      <p:sp>
        <p:nvSpPr>
          <p:cNvPr id="23" name="Text 20"/>
          <p:cNvSpPr txBox="1"/>
          <p:nvPr/>
        </p:nvSpPr>
        <p:spPr>
          <a:xfrm>
            <a:off x="4764024" y="1234440"/>
            <a:ext cx="1188720" cy="566928"/>
          </a:xfrm>
          <a:prstGeom prst="rect">
            <a:avLst/>
          </a:prstGeom>
          <a:noFill/>
          <a:ln/>
        </p:spPr>
        <p:txBody>
          <a:bodyPr wrap="square" lIns="0" tIns="0" rIns="0" bIns="0" rtlCol="0" anchor="b"/>
          <a:lstStyle/>
          <a:p>
            <a:pPr algn="ctr" indent="0" marL="0">
              <a:buNone/>
            </a:pPr>
            <a:r>
              <a:rPr lang="en-US" sz="1150" b="1" dirty="0">
                <a:solidFill>
                  <a:srgbClr val="202124"/>
                </a:solidFill>
                <a:latin typeface="Quicksand" pitchFamily="34" charset="0"/>
                <a:ea typeface="Quicksand" pitchFamily="34" charset="-122"/>
                <a:cs typeface="Quicksand" pitchFamily="34" charset="-120"/>
              </a:rPr>
              <a:t>30 calls right: 40</a:t>
            </a:r>
            <a:endParaRPr lang="en-US" sz="1150" dirty="0"/>
          </a:p>
        </p:txBody>
      </p:sp>
      <p:sp>
        <p:nvSpPr>
          <p:cNvPr id="24" name="Text 21"/>
          <p:cNvSpPr/>
          <p:nvPr/>
        </p:nvSpPr>
        <p:spPr>
          <a:xfrm>
            <a:off x="5221224" y="1874520"/>
            <a:ext cx="274320" cy="274320"/>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100" b="1" dirty="0">
                <a:solidFill>
                  <a:srgbClr val="FFFFFF"/>
                </a:solidFill>
                <a:latin typeface="Quicksand" pitchFamily="34" charset="0"/>
                <a:ea typeface="Quicksand" pitchFamily="34" charset="-122"/>
                <a:cs typeface="Quicksand" pitchFamily="34" charset="-120"/>
              </a:rPr>
              <a:t>4</a:t>
            </a:r>
            <a:endParaRPr lang="en-US" sz="1100" dirty="0"/>
          </a:p>
        </p:txBody>
      </p:sp>
      <p:sp>
        <p:nvSpPr>
          <p:cNvPr id="25" name="Text 22"/>
          <p:cNvSpPr/>
          <p:nvPr/>
        </p:nvSpPr>
        <p:spPr>
          <a:xfrm>
            <a:off x="4809744" y="3657600"/>
            <a:ext cx="1097280" cy="457200"/>
          </a:xfrm>
          <a:prstGeom prst="rect">
            <a:avLst/>
          </a:prstGeom>
          <a:solidFill>
            <a:srgbClr val="E9E8F5"/>
          </a:solidFill>
          <a:ln w="12700">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node 30</a:t>
            </a:r>
            <a:endParaRPr lang="en-US" sz="1300" dirty="0"/>
          </a:p>
        </p:txBody>
      </p:sp>
      <p:sp>
        <p:nvSpPr>
          <p:cNvPr id="26" name="Text 23"/>
          <p:cNvSpPr/>
          <p:nvPr/>
        </p:nvSpPr>
        <p:spPr>
          <a:xfrm>
            <a:off x="4809744" y="3154680"/>
            <a:ext cx="1097280" cy="457200"/>
          </a:xfrm>
          <a:prstGeom prst="rect">
            <a:avLst/>
          </a:prstGeom>
          <a:solidFill>
            <a:srgbClr val="FFD84D"/>
          </a:solidFill>
          <a:ln w="12700">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node 40</a:t>
            </a:r>
            <a:endParaRPr lang="en-US" sz="1300" dirty="0"/>
          </a:p>
        </p:txBody>
      </p:sp>
      <p:sp>
        <p:nvSpPr>
          <p:cNvPr id="27" name="Shape 24"/>
          <p:cNvSpPr/>
          <p:nvPr/>
        </p:nvSpPr>
        <p:spPr>
          <a:xfrm>
            <a:off x="4764024" y="4187952"/>
            <a:ext cx="1188720" cy="0"/>
          </a:xfrm>
          <a:prstGeom prst="line">
            <a:avLst/>
          </a:prstGeom>
          <a:noFill/>
          <a:ln w="25400">
            <a:solidFill>
              <a:srgbClr val="202124"/>
            </a:solidFill>
            <a:prstDash val="solid"/>
          </a:ln>
        </p:spPr>
      </p:sp>
      <p:sp>
        <p:nvSpPr>
          <p:cNvPr id="28" name="Text 25"/>
          <p:cNvSpPr txBox="1"/>
          <p:nvPr/>
        </p:nvSpPr>
        <p:spPr>
          <a:xfrm>
            <a:off x="4764024" y="4270248"/>
            <a:ext cx="1188720" cy="502920"/>
          </a:xfrm>
          <a:prstGeom prst="rect">
            <a:avLst/>
          </a:prstGeom>
          <a:noFill/>
          <a:ln/>
        </p:spPr>
        <p:txBody>
          <a:bodyPr wrap="square" lIns="0" tIns="0" rIns="0" bIns="0" rtlCol="0" anchor="t"/>
          <a:lstStyle/>
          <a:p>
            <a:pPr algn="ctr" indent="0" marL="0">
              <a:buNone/>
            </a:pPr>
            <a:r>
              <a:rPr lang="en-US" sz="1200" b="1" dirty="0">
                <a:solidFill>
                  <a:srgbClr val="D9822B"/>
                </a:solidFill>
                <a:latin typeface="Quicksand" pitchFamily="34" charset="0"/>
                <a:ea typeface="Quicksand" pitchFamily="34" charset="-122"/>
                <a:cs typeface="Quicksand" pitchFamily="34" charset="-120"/>
              </a:rPr>
              <a:t>20 30</a:t>
            </a:r>
            <a:endParaRPr lang="en-US" sz="1200" dirty="0"/>
          </a:p>
        </p:txBody>
      </p:sp>
      <p:sp>
        <p:nvSpPr>
          <p:cNvPr id="29" name="Text 26"/>
          <p:cNvSpPr txBox="1"/>
          <p:nvPr/>
        </p:nvSpPr>
        <p:spPr>
          <a:xfrm>
            <a:off x="6108192" y="1234440"/>
            <a:ext cx="1188720" cy="566928"/>
          </a:xfrm>
          <a:prstGeom prst="rect">
            <a:avLst/>
          </a:prstGeom>
          <a:noFill/>
          <a:ln/>
        </p:spPr>
        <p:txBody>
          <a:bodyPr wrap="square" lIns="0" tIns="0" rIns="0" bIns="0" rtlCol="0" anchor="b"/>
          <a:lstStyle/>
          <a:p>
            <a:pPr algn="ctr" indent="0" marL="0">
              <a:buNone/>
            </a:pPr>
            <a:r>
              <a:rPr lang="en-US" sz="1150" b="1" dirty="0">
                <a:solidFill>
                  <a:srgbClr val="202124"/>
                </a:solidFill>
                <a:latin typeface="Quicksand" pitchFamily="34" charset="0"/>
                <a:ea typeface="Quicksand" pitchFamily="34" charset="-122"/>
                <a:cs typeface="Quicksand" pitchFamily="34" charset="-120"/>
              </a:rPr>
              <a:t>40 calls left: 35</a:t>
            </a:r>
            <a:endParaRPr lang="en-US" sz="1150" dirty="0"/>
          </a:p>
        </p:txBody>
      </p:sp>
      <p:sp>
        <p:nvSpPr>
          <p:cNvPr id="30" name="Text 27"/>
          <p:cNvSpPr/>
          <p:nvPr/>
        </p:nvSpPr>
        <p:spPr>
          <a:xfrm>
            <a:off x="6565392" y="1874520"/>
            <a:ext cx="274320" cy="274320"/>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100" b="1" dirty="0">
                <a:solidFill>
                  <a:srgbClr val="FFFFFF"/>
                </a:solidFill>
                <a:latin typeface="Quicksand" pitchFamily="34" charset="0"/>
                <a:ea typeface="Quicksand" pitchFamily="34" charset="-122"/>
                <a:cs typeface="Quicksand" pitchFamily="34" charset="-120"/>
              </a:rPr>
              <a:t>5</a:t>
            </a:r>
            <a:endParaRPr lang="en-US" sz="1100" dirty="0"/>
          </a:p>
        </p:txBody>
      </p:sp>
      <p:sp>
        <p:nvSpPr>
          <p:cNvPr id="31" name="Text 28"/>
          <p:cNvSpPr/>
          <p:nvPr/>
        </p:nvSpPr>
        <p:spPr>
          <a:xfrm>
            <a:off x="6153912" y="3657600"/>
            <a:ext cx="1097280" cy="457200"/>
          </a:xfrm>
          <a:prstGeom prst="rect">
            <a:avLst/>
          </a:prstGeom>
          <a:solidFill>
            <a:srgbClr val="E9E8F5"/>
          </a:solidFill>
          <a:ln w="12700">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node 30</a:t>
            </a:r>
            <a:endParaRPr lang="en-US" sz="1300" dirty="0"/>
          </a:p>
        </p:txBody>
      </p:sp>
      <p:sp>
        <p:nvSpPr>
          <p:cNvPr id="32" name="Text 29"/>
          <p:cNvSpPr/>
          <p:nvPr/>
        </p:nvSpPr>
        <p:spPr>
          <a:xfrm>
            <a:off x="6153912" y="3154680"/>
            <a:ext cx="1097280" cy="457200"/>
          </a:xfrm>
          <a:prstGeom prst="rect">
            <a:avLst/>
          </a:prstGeom>
          <a:solidFill>
            <a:srgbClr val="E9E8F5"/>
          </a:solidFill>
          <a:ln w="12700">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node 40</a:t>
            </a:r>
            <a:endParaRPr lang="en-US" sz="1300" dirty="0"/>
          </a:p>
        </p:txBody>
      </p:sp>
      <p:sp>
        <p:nvSpPr>
          <p:cNvPr id="33" name="Text 30"/>
          <p:cNvSpPr/>
          <p:nvPr/>
        </p:nvSpPr>
        <p:spPr>
          <a:xfrm>
            <a:off x="6153912" y="2651760"/>
            <a:ext cx="1097280" cy="457200"/>
          </a:xfrm>
          <a:prstGeom prst="rect">
            <a:avLst/>
          </a:prstGeom>
          <a:solidFill>
            <a:srgbClr val="FFD84D"/>
          </a:solidFill>
          <a:ln w="12700">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node 35</a:t>
            </a:r>
            <a:endParaRPr lang="en-US" sz="1300" dirty="0"/>
          </a:p>
        </p:txBody>
      </p:sp>
      <p:sp>
        <p:nvSpPr>
          <p:cNvPr id="34" name="Shape 31"/>
          <p:cNvSpPr/>
          <p:nvPr/>
        </p:nvSpPr>
        <p:spPr>
          <a:xfrm>
            <a:off x="6108192" y="4187952"/>
            <a:ext cx="1188720" cy="0"/>
          </a:xfrm>
          <a:prstGeom prst="line">
            <a:avLst/>
          </a:prstGeom>
          <a:noFill/>
          <a:ln w="25400">
            <a:solidFill>
              <a:srgbClr val="202124"/>
            </a:solidFill>
            <a:prstDash val="solid"/>
          </a:ln>
        </p:spPr>
      </p:sp>
      <p:sp>
        <p:nvSpPr>
          <p:cNvPr id="35" name="Text 32"/>
          <p:cNvSpPr txBox="1"/>
          <p:nvPr/>
        </p:nvSpPr>
        <p:spPr>
          <a:xfrm>
            <a:off x="6108192" y="4270248"/>
            <a:ext cx="1188720" cy="502920"/>
          </a:xfrm>
          <a:prstGeom prst="rect">
            <a:avLst/>
          </a:prstGeom>
          <a:noFill/>
          <a:ln/>
        </p:spPr>
        <p:txBody>
          <a:bodyPr wrap="square" lIns="0" tIns="0" rIns="0" bIns="0" rtlCol="0" anchor="t"/>
          <a:lstStyle/>
          <a:p>
            <a:pPr algn="ctr" indent="0" marL="0">
              <a:buNone/>
            </a:pPr>
            <a:r>
              <a:rPr lang="en-US" sz="1200" b="1" dirty="0">
                <a:solidFill>
                  <a:srgbClr val="D9822B"/>
                </a:solidFill>
                <a:latin typeface="Quicksand" pitchFamily="34" charset="0"/>
                <a:ea typeface="Quicksand" pitchFamily="34" charset="-122"/>
                <a:cs typeface="Quicksand" pitchFamily="34" charset="-120"/>
              </a:rPr>
              <a:t>20 30 35</a:t>
            </a:r>
            <a:endParaRPr lang="en-US" sz="1200" dirty="0"/>
          </a:p>
        </p:txBody>
      </p:sp>
      <p:sp>
        <p:nvSpPr>
          <p:cNvPr id="36" name="Text 33"/>
          <p:cNvSpPr txBox="1"/>
          <p:nvPr/>
        </p:nvSpPr>
        <p:spPr>
          <a:xfrm>
            <a:off x="7452360" y="1234440"/>
            <a:ext cx="1188720" cy="566928"/>
          </a:xfrm>
          <a:prstGeom prst="rect">
            <a:avLst/>
          </a:prstGeom>
          <a:noFill/>
          <a:ln/>
        </p:spPr>
        <p:txBody>
          <a:bodyPr wrap="square" lIns="0" tIns="0" rIns="0" bIns="0" rtlCol="0" anchor="b"/>
          <a:lstStyle/>
          <a:p>
            <a:pPr algn="ctr" indent="0" marL="0">
              <a:buNone/>
            </a:pPr>
            <a:r>
              <a:rPr lang="en-US" sz="1150" b="1" dirty="0">
                <a:solidFill>
                  <a:srgbClr val="202124"/>
                </a:solidFill>
                <a:latin typeface="Quicksand" pitchFamily="34" charset="0"/>
                <a:ea typeface="Quicksand" pitchFamily="34" charset="-122"/>
                <a:cs typeface="Quicksand" pitchFamily="34" charset="-120"/>
              </a:rPr>
              <a:t>35 returns. 40 prints</a:t>
            </a:r>
            <a:endParaRPr lang="en-US" sz="1150" dirty="0"/>
          </a:p>
        </p:txBody>
      </p:sp>
      <p:sp>
        <p:nvSpPr>
          <p:cNvPr id="37" name="Text 34"/>
          <p:cNvSpPr/>
          <p:nvPr/>
        </p:nvSpPr>
        <p:spPr>
          <a:xfrm>
            <a:off x="7909560" y="1874520"/>
            <a:ext cx="274320" cy="274320"/>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100" b="1" dirty="0">
                <a:solidFill>
                  <a:srgbClr val="FFFFFF"/>
                </a:solidFill>
                <a:latin typeface="Quicksand" pitchFamily="34" charset="0"/>
                <a:ea typeface="Quicksand" pitchFamily="34" charset="-122"/>
                <a:cs typeface="Quicksand" pitchFamily="34" charset="-120"/>
              </a:rPr>
              <a:t>6</a:t>
            </a:r>
            <a:endParaRPr lang="en-US" sz="1100" dirty="0"/>
          </a:p>
        </p:txBody>
      </p:sp>
      <p:sp>
        <p:nvSpPr>
          <p:cNvPr id="38" name="Text 35"/>
          <p:cNvSpPr/>
          <p:nvPr/>
        </p:nvSpPr>
        <p:spPr>
          <a:xfrm>
            <a:off x="7498080" y="3657600"/>
            <a:ext cx="1097280" cy="457200"/>
          </a:xfrm>
          <a:prstGeom prst="rect">
            <a:avLst/>
          </a:prstGeom>
          <a:solidFill>
            <a:srgbClr val="E9E8F5"/>
          </a:solidFill>
          <a:ln w="12700">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node 30</a:t>
            </a:r>
            <a:endParaRPr lang="en-US" sz="1300" dirty="0"/>
          </a:p>
        </p:txBody>
      </p:sp>
      <p:sp>
        <p:nvSpPr>
          <p:cNvPr id="39" name="Text 36"/>
          <p:cNvSpPr/>
          <p:nvPr/>
        </p:nvSpPr>
        <p:spPr>
          <a:xfrm>
            <a:off x="7498080" y="3154680"/>
            <a:ext cx="1097280" cy="457200"/>
          </a:xfrm>
          <a:prstGeom prst="rect">
            <a:avLst/>
          </a:prstGeom>
          <a:solidFill>
            <a:srgbClr val="FFD84D"/>
          </a:solidFill>
          <a:ln w="12700">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node 40</a:t>
            </a:r>
            <a:endParaRPr lang="en-US" sz="1300" dirty="0"/>
          </a:p>
        </p:txBody>
      </p:sp>
      <p:sp>
        <p:nvSpPr>
          <p:cNvPr id="40" name="Shape 37"/>
          <p:cNvSpPr/>
          <p:nvPr/>
        </p:nvSpPr>
        <p:spPr>
          <a:xfrm>
            <a:off x="7452360" y="4187952"/>
            <a:ext cx="1188720" cy="0"/>
          </a:xfrm>
          <a:prstGeom prst="line">
            <a:avLst/>
          </a:prstGeom>
          <a:noFill/>
          <a:ln w="25400">
            <a:solidFill>
              <a:srgbClr val="202124"/>
            </a:solidFill>
            <a:prstDash val="solid"/>
          </a:ln>
        </p:spPr>
      </p:sp>
      <p:sp>
        <p:nvSpPr>
          <p:cNvPr id="41" name="Text 38"/>
          <p:cNvSpPr txBox="1"/>
          <p:nvPr/>
        </p:nvSpPr>
        <p:spPr>
          <a:xfrm>
            <a:off x="7452360" y="4270248"/>
            <a:ext cx="1188720" cy="502920"/>
          </a:xfrm>
          <a:prstGeom prst="rect">
            <a:avLst/>
          </a:prstGeom>
          <a:noFill/>
          <a:ln/>
        </p:spPr>
        <p:txBody>
          <a:bodyPr wrap="square" lIns="0" tIns="0" rIns="0" bIns="0" rtlCol="0" anchor="t"/>
          <a:lstStyle/>
          <a:p>
            <a:pPr algn="ctr" indent="0" marL="0">
              <a:buNone/>
            </a:pPr>
            <a:r>
              <a:rPr lang="en-US" sz="1200" b="1" dirty="0">
                <a:solidFill>
                  <a:srgbClr val="D9822B"/>
                </a:solidFill>
                <a:latin typeface="Quicksand" pitchFamily="34" charset="0"/>
                <a:ea typeface="Quicksand" pitchFamily="34" charset="-122"/>
                <a:cs typeface="Quicksand" pitchFamily="34" charset="-120"/>
              </a:rPr>
              <a:t>20 30 35 40</a:t>
            </a:r>
            <a:endParaRPr lang="en-US" sz="1200" dirty="0"/>
          </a:p>
        </p:txBody>
      </p:sp>
      <p:sp>
        <p:nvSpPr>
          <p:cNvPr id="42" name="Text 39"/>
          <p:cNvSpPr txBox="1"/>
          <p:nvPr/>
        </p:nvSpPr>
        <p:spPr>
          <a:xfrm>
            <a:off x="8796528" y="1234440"/>
            <a:ext cx="1188720" cy="566928"/>
          </a:xfrm>
          <a:prstGeom prst="rect">
            <a:avLst/>
          </a:prstGeom>
          <a:noFill/>
          <a:ln/>
        </p:spPr>
        <p:txBody>
          <a:bodyPr wrap="square" lIns="0" tIns="0" rIns="0" bIns="0" rtlCol="0" anchor="b"/>
          <a:lstStyle/>
          <a:p>
            <a:pPr algn="ctr" indent="0" marL="0">
              <a:buNone/>
            </a:pPr>
            <a:r>
              <a:rPr lang="en-US" sz="1150" b="1" dirty="0">
                <a:solidFill>
                  <a:srgbClr val="202124"/>
                </a:solidFill>
                <a:latin typeface="Quicksand" pitchFamily="34" charset="0"/>
                <a:ea typeface="Quicksand" pitchFamily="34" charset="-122"/>
                <a:cs typeface="Quicksand" pitchFamily="34" charset="-120"/>
              </a:rPr>
              <a:t>40 returns</a:t>
            </a:r>
            <a:endParaRPr lang="en-US" sz="1150" dirty="0"/>
          </a:p>
        </p:txBody>
      </p:sp>
      <p:sp>
        <p:nvSpPr>
          <p:cNvPr id="43" name="Text 40"/>
          <p:cNvSpPr/>
          <p:nvPr/>
        </p:nvSpPr>
        <p:spPr>
          <a:xfrm>
            <a:off x="9253728" y="1874520"/>
            <a:ext cx="274320" cy="274320"/>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100" b="1" dirty="0">
                <a:solidFill>
                  <a:srgbClr val="FFFFFF"/>
                </a:solidFill>
                <a:latin typeface="Quicksand" pitchFamily="34" charset="0"/>
                <a:ea typeface="Quicksand" pitchFamily="34" charset="-122"/>
                <a:cs typeface="Quicksand" pitchFamily="34" charset="-120"/>
              </a:rPr>
              <a:t>7</a:t>
            </a:r>
            <a:endParaRPr lang="en-US" sz="1100" dirty="0"/>
          </a:p>
        </p:txBody>
      </p:sp>
      <p:sp>
        <p:nvSpPr>
          <p:cNvPr id="44" name="Text 41"/>
          <p:cNvSpPr/>
          <p:nvPr/>
        </p:nvSpPr>
        <p:spPr>
          <a:xfrm>
            <a:off x="8842248" y="3657600"/>
            <a:ext cx="1097280" cy="457200"/>
          </a:xfrm>
          <a:prstGeom prst="rect">
            <a:avLst/>
          </a:prstGeom>
          <a:solidFill>
            <a:srgbClr val="FFD84D"/>
          </a:solidFill>
          <a:ln w="12700">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node 30</a:t>
            </a:r>
            <a:endParaRPr lang="en-US" sz="1300" dirty="0"/>
          </a:p>
        </p:txBody>
      </p:sp>
      <p:sp>
        <p:nvSpPr>
          <p:cNvPr id="45" name="Shape 42"/>
          <p:cNvSpPr/>
          <p:nvPr/>
        </p:nvSpPr>
        <p:spPr>
          <a:xfrm>
            <a:off x="8796528" y="4187952"/>
            <a:ext cx="1188720" cy="0"/>
          </a:xfrm>
          <a:prstGeom prst="line">
            <a:avLst/>
          </a:prstGeom>
          <a:noFill/>
          <a:ln w="25400">
            <a:solidFill>
              <a:srgbClr val="202124"/>
            </a:solidFill>
            <a:prstDash val="solid"/>
          </a:ln>
        </p:spPr>
      </p:sp>
      <p:sp>
        <p:nvSpPr>
          <p:cNvPr id="46" name="Text 43"/>
          <p:cNvSpPr txBox="1"/>
          <p:nvPr/>
        </p:nvSpPr>
        <p:spPr>
          <a:xfrm>
            <a:off x="8796528" y="4270248"/>
            <a:ext cx="1188720" cy="502920"/>
          </a:xfrm>
          <a:prstGeom prst="rect">
            <a:avLst/>
          </a:prstGeom>
          <a:noFill/>
          <a:ln/>
        </p:spPr>
        <p:txBody>
          <a:bodyPr wrap="square" lIns="0" tIns="0" rIns="0" bIns="0" rtlCol="0" anchor="t"/>
          <a:lstStyle/>
          <a:p>
            <a:pPr algn="ctr" indent="0" marL="0">
              <a:buNone/>
            </a:pPr>
            <a:r>
              <a:rPr lang="en-US" sz="1200" b="1" dirty="0">
                <a:solidFill>
                  <a:srgbClr val="D9822B"/>
                </a:solidFill>
                <a:latin typeface="Quicksand" pitchFamily="34" charset="0"/>
                <a:ea typeface="Quicksand" pitchFamily="34" charset="-122"/>
                <a:cs typeface="Quicksand" pitchFamily="34" charset="-120"/>
              </a:rPr>
              <a:t>20 30 35 40</a:t>
            </a:r>
            <a:endParaRPr lang="en-US" sz="1200" dirty="0"/>
          </a:p>
        </p:txBody>
      </p:sp>
      <p:sp>
        <p:nvSpPr>
          <p:cNvPr id="47" name="Text 44"/>
          <p:cNvSpPr txBox="1"/>
          <p:nvPr/>
        </p:nvSpPr>
        <p:spPr>
          <a:xfrm>
            <a:off x="10140696" y="1234440"/>
            <a:ext cx="1188720" cy="566928"/>
          </a:xfrm>
          <a:prstGeom prst="rect">
            <a:avLst/>
          </a:prstGeom>
          <a:noFill/>
          <a:ln/>
        </p:spPr>
        <p:txBody>
          <a:bodyPr wrap="square" lIns="0" tIns="0" rIns="0" bIns="0" rtlCol="0" anchor="b"/>
          <a:lstStyle/>
          <a:p>
            <a:pPr algn="ctr" indent="0" marL="0">
              <a:buNone/>
            </a:pPr>
            <a:r>
              <a:rPr lang="en-US" sz="1150" b="1" dirty="0">
                <a:solidFill>
                  <a:srgbClr val="202124"/>
                </a:solidFill>
                <a:latin typeface="Quicksand" pitchFamily="34" charset="0"/>
                <a:ea typeface="Quicksand" pitchFamily="34" charset="-122"/>
                <a:cs typeface="Quicksand" pitchFamily="34" charset="-120"/>
              </a:rPr>
              <a:t>30 returns</a:t>
            </a:r>
            <a:endParaRPr lang="en-US" sz="1150" dirty="0"/>
          </a:p>
        </p:txBody>
      </p:sp>
      <p:sp>
        <p:nvSpPr>
          <p:cNvPr id="48" name="Text 45"/>
          <p:cNvSpPr/>
          <p:nvPr/>
        </p:nvSpPr>
        <p:spPr>
          <a:xfrm>
            <a:off x="10597896" y="1874520"/>
            <a:ext cx="274320" cy="274320"/>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100" b="1" dirty="0">
                <a:solidFill>
                  <a:srgbClr val="FFFFFF"/>
                </a:solidFill>
                <a:latin typeface="Quicksand" pitchFamily="34" charset="0"/>
                <a:ea typeface="Quicksand" pitchFamily="34" charset="-122"/>
                <a:cs typeface="Quicksand" pitchFamily="34" charset="-120"/>
              </a:rPr>
              <a:t>8</a:t>
            </a:r>
            <a:endParaRPr lang="en-US" sz="1100" dirty="0"/>
          </a:p>
        </p:txBody>
      </p:sp>
      <p:sp>
        <p:nvSpPr>
          <p:cNvPr id="49" name="Shape 46"/>
          <p:cNvSpPr/>
          <p:nvPr/>
        </p:nvSpPr>
        <p:spPr>
          <a:xfrm>
            <a:off x="10140696" y="4187952"/>
            <a:ext cx="1188720" cy="0"/>
          </a:xfrm>
          <a:prstGeom prst="line">
            <a:avLst/>
          </a:prstGeom>
          <a:noFill/>
          <a:ln w="25400">
            <a:solidFill>
              <a:srgbClr val="202124"/>
            </a:solidFill>
            <a:prstDash val="solid"/>
          </a:ln>
        </p:spPr>
      </p:sp>
      <p:sp>
        <p:nvSpPr>
          <p:cNvPr id="50" name="Text 47"/>
          <p:cNvSpPr txBox="1"/>
          <p:nvPr/>
        </p:nvSpPr>
        <p:spPr>
          <a:xfrm>
            <a:off x="10140696" y="4270248"/>
            <a:ext cx="1188720" cy="502920"/>
          </a:xfrm>
          <a:prstGeom prst="rect">
            <a:avLst/>
          </a:prstGeom>
          <a:noFill/>
          <a:ln/>
        </p:spPr>
        <p:txBody>
          <a:bodyPr wrap="square" lIns="0" tIns="0" rIns="0" bIns="0" rtlCol="0" anchor="t"/>
          <a:lstStyle/>
          <a:p>
            <a:pPr algn="ctr" indent="0" marL="0">
              <a:buNone/>
            </a:pPr>
            <a:r>
              <a:rPr lang="en-US" sz="1200" b="1" dirty="0">
                <a:solidFill>
                  <a:srgbClr val="D9822B"/>
                </a:solidFill>
                <a:latin typeface="Quicksand" pitchFamily="34" charset="0"/>
                <a:ea typeface="Quicksand" pitchFamily="34" charset="-122"/>
                <a:cs typeface="Quicksand" pitchFamily="34" charset="-120"/>
              </a:rPr>
              <a:t>Finished</a:t>
            </a:r>
            <a:endParaRPr lang="en-US" sz="1200" dirty="0"/>
          </a:p>
        </p:txBody>
      </p:sp>
      <p:sp>
        <p:nvSpPr>
          <p:cNvPr id="51" name="Text 48"/>
          <p:cNvSpPr txBox="1"/>
          <p:nvPr/>
        </p:nvSpPr>
        <p:spPr>
          <a:xfrm>
            <a:off x="731520" y="4846320"/>
            <a:ext cx="6949440" cy="320040"/>
          </a:xfrm>
          <a:prstGeom prst="rect">
            <a:avLst/>
          </a:prstGeom>
          <a:noFill/>
          <a:ln/>
        </p:spPr>
        <p:txBody>
          <a:bodyPr wrap="square" lIns="0" tIns="0" rIns="0" bIns="0" rtlCol="0" anchor="t"/>
          <a:lstStyle/>
          <a:p>
            <a:pPr indent="0" marL="0">
              <a:spcAft>
                <a:spcPts val="600"/>
              </a:spcAft>
              <a:buNone/>
            </a:pPr>
            <a:r>
              <a:rPr lang="en-US" sz="1300" dirty="0">
                <a:solidFill>
                  <a:srgbClr val="666666"/>
                </a:solidFill>
                <a:latin typeface="Quicksand" pitchFamily="34" charset="0"/>
                <a:ea typeface="Quicksand" pitchFamily="34" charset="-122"/>
                <a:cs typeface="Quicksand" pitchFamily="34" charset="-120"/>
              </a:rPr>
              <a:t>Output so far is shown under each stack. Yellow = the call that is running now.</a:t>
            </a:r>
            <a:endParaRPr lang="en-US" sz="1300" dirty="0"/>
          </a:p>
        </p:txBody>
      </p:sp>
      <p:sp>
        <p:nvSpPr>
          <p:cNvPr id="52" name="Text 49"/>
          <p:cNvSpPr txBox="1"/>
          <p:nvPr/>
        </p:nvSpPr>
        <p:spPr>
          <a:xfrm>
            <a:off x="731520" y="5303520"/>
            <a:ext cx="6949440" cy="73152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A call PUSHES a box. End Sub POPS it, and the box underneath carries on from the line after its call.</a:t>
            </a:r>
            <a:endParaRPr lang="en-US" sz="1500" dirty="0"/>
          </a:p>
        </p:txBody>
      </p:sp>
      <p:sp>
        <p:nvSpPr>
          <p:cNvPr id="53" name="Shape 50"/>
          <p:cNvSpPr/>
          <p:nvPr/>
        </p:nvSpPr>
        <p:spPr>
          <a:xfrm flipH="1">
            <a:off x="8869680" y="4873752"/>
            <a:ext cx="640080" cy="237744"/>
          </a:xfrm>
          <a:prstGeom prst="line">
            <a:avLst/>
          </a:prstGeom>
          <a:noFill/>
          <a:ln w="19050">
            <a:solidFill>
              <a:srgbClr val="9A9AB5"/>
            </a:solidFill>
            <a:prstDash val="solid"/>
          </a:ln>
        </p:spPr>
      </p:sp>
      <p:sp>
        <p:nvSpPr>
          <p:cNvPr id="54" name="Shape 51"/>
          <p:cNvSpPr/>
          <p:nvPr/>
        </p:nvSpPr>
        <p:spPr>
          <a:xfrm>
            <a:off x="9509760" y="4873752"/>
            <a:ext cx="640080" cy="237744"/>
          </a:xfrm>
          <a:prstGeom prst="line">
            <a:avLst/>
          </a:prstGeom>
          <a:noFill/>
          <a:ln w="19050">
            <a:solidFill>
              <a:srgbClr val="9A9AB5"/>
            </a:solidFill>
            <a:prstDash val="solid"/>
          </a:ln>
        </p:spPr>
      </p:sp>
      <p:sp>
        <p:nvSpPr>
          <p:cNvPr id="55" name="Shape 52"/>
          <p:cNvSpPr/>
          <p:nvPr/>
        </p:nvSpPr>
        <p:spPr>
          <a:xfrm flipH="1">
            <a:off x="9692640" y="5440680"/>
            <a:ext cx="457200" cy="237744"/>
          </a:xfrm>
          <a:prstGeom prst="line">
            <a:avLst/>
          </a:prstGeom>
          <a:noFill/>
          <a:ln w="19050">
            <a:solidFill>
              <a:srgbClr val="9A9AB5"/>
            </a:solidFill>
            <a:prstDash val="solid"/>
          </a:ln>
        </p:spPr>
      </p:sp>
      <p:sp>
        <p:nvSpPr>
          <p:cNvPr id="56" name="Text 53"/>
          <p:cNvSpPr/>
          <p:nvPr/>
        </p:nvSpPr>
        <p:spPr>
          <a:xfrm>
            <a:off x="9258300" y="4544568"/>
            <a:ext cx="502920" cy="329184"/>
          </a:xfrm>
          <a:prstGeom prst="roundRect">
            <a:avLst>
              <a:gd name="adj" fmla="val 22222"/>
            </a:avLst>
          </a:prstGeom>
          <a:solidFill>
            <a:srgbClr val="E9E8F5"/>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30</a:t>
            </a:r>
            <a:endParaRPr lang="en-US" sz="1200" dirty="0"/>
          </a:p>
        </p:txBody>
      </p:sp>
      <p:sp>
        <p:nvSpPr>
          <p:cNvPr id="57" name="Text 54"/>
          <p:cNvSpPr/>
          <p:nvPr/>
        </p:nvSpPr>
        <p:spPr>
          <a:xfrm>
            <a:off x="8618220" y="5111496"/>
            <a:ext cx="502920" cy="329184"/>
          </a:xfrm>
          <a:prstGeom prst="roundRect">
            <a:avLst>
              <a:gd name="adj" fmla="val 22222"/>
            </a:avLst>
          </a:prstGeom>
          <a:solidFill>
            <a:srgbClr val="E9E8F5"/>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20</a:t>
            </a:r>
            <a:endParaRPr lang="en-US" sz="1200" dirty="0"/>
          </a:p>
        </p:txBody>
      </p:sp>
      <p:sp>
        <p:nvSpPr>
          <p:cNvPr id="58" name="Text 55"/>
          <p:cNvSpPr/>
          <p:nvPr/>
        </p:nvSpPr>
        <p:spPr>
          <a:xfrm>
            <a:off x="9898380" y="5111496"/>
            <a:ext cx="502920" cy="329184"/>
          </a:xfrm>
          <a:prstGeom prst="roundRect">
            <a:avLst>
              <a:gd name="adj" fmla="val 22222"/>
            </a:avLst>
          </a:prstGeom>
          <a:solidFill>
            <a:srgbClr val="E9E8F5"/>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40</a:t>
            </a:r>
            <a:endParaRPr lang="en-US" sz="1200" dirty="0"/>
          </a:p>
        </p:txBody>
      </p:sp>
      <p:sp>
        <p:nvSpPr>
          <p:cNvPr id="59" name="Text 56"/>
          <p:cNvSpPr/>
          <p:nvPr/>
        </p:nvSpPr>
        <p:spPr>
          <a:xfrm>
            <a:off x="9441180" y="5678424"/>
            <a:ext cx="502920" cy="329184"/>
          </a:xfrm>
          <a:prstGeom prst="roundRect">
            <a:avLst>
              <a:gd name="adj" fmla="val 22222"/>
            </a:avLst>
          </a:prstGeom>
          <a:solidFill>
            <a:srgbClr val="E9E8F5"/>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35</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Writing it as a trace table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3</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14</a:t>
            </a:r>
            <a:endParaRPr lang="en-US" sz="13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04088" y="1280160"/>
          <a:ext cx="8412480" cy="914400"/>
        </p:xfrm>
        <a:graphic>
          <a:graphicData uri="http://schemas.openxmlformats.org/drawingml/2006/table">
            <a:tbl>
              <a:tblPr/>
              <a:tblGrid>
                <a:gridCol w="914400"/>
                <a:gridCol w="1600200"/>
                <a:gridCol w="777240"/>
                <a:gridCol w="4206240"/>
                <a:gridCol w="914400"/>
              </a:tblGrid>
              <a:tr h="512064">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Call no.</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Call</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Node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What happens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Output</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12064">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1</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InOrder(1)</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30</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Left pointer is 3, not -1: call InOrder(3)</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12064">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2</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InOrder(3)</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20</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Left is -1. Output 20. Right is -1. Return to call 1</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b="1" dirty="0">
                          <a:solidFill>
                            <a:srgbClr val="D9822B"/>
                          </a:solidFill>
                          <a:latin typeface="Quicksand" pitchFamily="34" charset="0"/>
                          <a:ea typeface="Quicksand" pitchFamily="34" charset="-122"/>
                          <a:cs typeface="Quicksand" pitchFamily="34" charset="-120"/>
                        </a:rPr>
                        <a:t>20</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12064">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1</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back in call 1</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30</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Output 30. Right pointer is 4: call InOrder(4)</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b="1" dirty="0">
                          <a:solidFill>
                            <a:srgbClr val="D9822B"/>
                          </a:solidFill>
                          <a:latin typeface="Quicksand" pitchFamily="34" charset="0"/>
                          <a:ea typeface="Quicksand" pitchFamily="34" charset="-122"/>
                          <a:cs typeface="Quicksand" pitchFamily="34" charset="-120"/>
                        </a:rPr>
                        <a:t>30</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12064">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3</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InOrder(4)</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40</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Left pointer is 7: call InOrder(7)</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12064">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4</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InOrder(7)</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35</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Left is -1. Output 35. Right is -1. Return to call 3</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b="1" dirty="0">
                          <a:solidFill>
                            <a:srgbClr val="D9822B"/>
                          </a:solidFill>
                          <a:latin typeface="Quicksand" pitchFamily="34" charset="0"/>
                          <a:ea typeface="Quicksand" pitchFamily="34" charset="-122"/>
                          <a:cs typeface="Quicksand" pitchFamily="34" charset="-120"/>
                        </a:rPr>
                        <a:t>35</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12064">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3</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back in call 3</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40</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Output 40. Right is -1. Return to call 1</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b="1" dirty="0">
                          <a:solidFill>
                            <a:srgbClr val="D9822B"/>
                          </a:solidFill>
                          <a:latin typeface="Quicksand" pitchFamily="34" charset="0"/>
                          <a:ea typeface="Quicksand" pitchFamily="34" charset="-122"/>
                          <a:cs typeface="Quicksand" pitchFamily="34" charset="-120"/>
                        </a:rPr>
                        <a:t>40</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12064">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1</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back in call 1</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30</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All jobs done. Return - finished</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8" name="Shape 4"/>
          <p:cNvSpPr/>
          <p:nvPr/>
        </p:nvSpPr>
        <p:spPr>
          <a:xfrm flipH="1">
            <a:off x="9566910" y="1874520"/>
            <a:ext cx="582930" cy="685800"/>
          </a:xfrm>
          <a:prstGeom prst="line">
            <a:avLst/>
          </a:prstGeom>
          <a:noFill/>
          <a:ln w="19050">
            <a:solidFill>
              <a:srgbClr val="9A9AB5"/>
            </a:solidFill>
            <a:prstDash val="solid"/>
          </a:ln>
        </p:spPr>
      </p:sp>
      <p:sp>
        <p:nvSpPr>
          <p:cNvPr id="9" name="Shape 5"/>
          <p:cNvSpPr/>
          <p:nvPr/>
        </p:nvSpPr>
        <p:spPr>
          <a:xfrm>
            <a:off x="10149840" y="1874520"/>
            <a:ext cx="582930" cy="685800"/>
          </a:xfrm>
          <a:prstGeom prst="line">
            <a:avLst/>
          </a:prstGeom>
          <a:noFill/>
          <a:ln w="19050">
            <a:solidFill>
              <a:srgbClr val="9A9AB5"/>
            </a:solidFill>
            <a:prstDash val="solid"/>
          </a:ln>
        </p:spPr>
      </p:sp>
      <p:sp>
        <p:nvSpPr>
          <p:cNvPr id="10" name="Shape 6"/>
          <p:cNvSpPr/>
          <p:nvPr/>
        </p:nvSpPr>
        <p:spPr>
          <a:xfrm flipH="1">
            <a:off x="10266426" y="2926080"/>
            <a:ext cx="466344" cy="685800"/>
          </a:xfrm>
          <a:prstGeom prst="line">
            <a:avLst/>
          </a:prstGeom>
          <a:noFill/>
          <a:ln w="19050">
            <a:solidFill>
              <a:srgbClr val="9A9AB5"/>
            </a:solidFill>
            <a:prstDash val="solid"/>
          </a:ln>
        </p:spPr>
      </p:sp>
      <p:sp>
        <p:nvSpPr>
          <p:cNvPr id="11" name="Text 7"/>
          <p:cNvSpPr/>
          <p:nvPr/>
        </p:nvSpPr>
        <p:spPr>
          <a:xfrm>
            <a:off x="9866376" y="1508760"/>
            <a:ext cx="566928" cy="365760"/>
          </a:xfrm>
          <a:prstGeom prst="roundRect">
            <a:avLst>
              <a:gd name="adj" fmla="val 20000"/>
            </a:avLst>
          </a:prstGeom>
          <a:solidFill>
            <a:srgbClr val="E9E8F5"/>
          </a:solidFill>
          <a:ln w="15875">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30</a:t>
            </a:r>
            <a:endParaRPr lang="en-US" sz="1300" dirty="0"/>
          </a:p>
        </p:txBody>
      </p:sp>
      <p:sp>
        <p:nvSpPr>
          <p:cNvPr id="12" name="Text 8"/>
          <p:cNvSpPr txBox="1"/>
          <p:nvPr/>
        </p:nvSpPr>
        <p:spPr>
          <a:xfrm>
            <a:off x="9235440" y="1901952"/>
            <a:ext cx="1828800" cy="237744"/>
          </a:xfrm>
          <a:prstGeom prst="rect">
            <a:avLst/>
          </a:prstGeom>
          <a:noFill/>
          <a:ln/>
        </p:spPr>
        <p:txBody>
          <a:bodyPr wrap="square" lIns="0" tIns="0" rIns="0" bIns="0" rtlCol="0" anchor="ctr"/>
          <a:lstStyle/>
          <a:p>
            <a:pPr algn="ctr" indent="0" marL="0">
              <a:buNone/>
            </a:pPr>
            <a:r>
              <a:rPr lang="en-US" sz="1000" i="1" dirty="0">
                <a:solidFill>
                  <a:srgbClr val="666666"/>
                </a:solidFill>
                <a:latin typeface="Quicksand" pitchFamily="34" charset="0"/>
                <a:ea typeface="Quicksand" pitchFamily="34" charset="-122"/>
                <a:cs typeface="Quicksand" pitchFamily="34" charset="-120"/>
              </a:rPr>
              <a:t>index 1</a:t>
            </a:r>
            <a:endParaRPr lang="en-US" sz="1000" dirty="0"/>
          </a:p>
        </p:txBody>
      </p:sp>
      <p:sp>
        <p:nvSpPr>
          <p:cNvPr id="13" name="Text 9"/>
          <p:cNvSpPr/>
          <p:nvPr/>
        </p:nvSpPr>
        <p:spPr>
          <a:xfrm>
            <a:off x="9283446" y="2560320"/>
            <a:ext cx="566928" cy="365760"/>
          </a:xfrm>
          <a:prstGeom prst="roundRect">
            <a:avLst>
              <a:gd name="adj" fmla="val 20000"/>
            </a:avLst>
          </a:prstGeom>
          <a:solidFill>
            <a:srgbClr val="E9E8F5"/>
          </a:solidFill>
          <a:ln w="15875">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20</a:t>
            </a:r>
            <a:endParaRPr lang="en-US" sz="1300" dirty="0"/>
          </a:p>
        </p:txBody>
      </p:sp>
      <p:sp>
        <p:nvSpPr>
          <p:cNvPr id="14" name="Text 10"/>
          <p:cNvSpPr txBox="1"/>
          <p:nvPr/>
        </p:nvSpPr>
        <p:spPr>
          <a:xfrm>
            <a:off x="8652510" y="2953512"/>
            <a:ext cx="1828800" cy="237744"/>
          </a:xfrm>
          <a:prstGeom prst="rect">
            <a:avLst/>
          </a:prstGeom>
          <a:noFill/>
          <a:ln/>
        </p:spPr>
        <p:txBody>
          <a:bodyPr wrap="square" lIns="0" tIns="0" rIns="0" bIns="0" rtlCol="0" anchor="ctr"/>
          <a:lstStyle/>
          <a:p>
            <a:pPr algn="ctr" indent="0" marL="0">
              <a:buNone/>
            </a:pPr>
            <a:r>
              <a:rPr lang="en-US" sz="1000" i="1" dirty="0">
                <a:solidFill>
                  <a:srgbClr val="666666"/>
                </a:solidFill>
                <a:latin typeface="Quicksand" pitchFamily="34" charset="0"/>
                <a:ea typeface="Quicksand" pitchFamily="34" charset="-122"/>
                <a:cs typeface="Quicksand" pitchFamily="34" charset="-120"/>
              </a:rPr>
              <a:t>index 3</a:t>
            </a:r>
            <a:endParaRPr lang="en-US" sz="1000" dirty="0"/>
          </a:p>
        </p:txBody>
      </p:sp>
      <p:sp>
        <p:nvSpPr>
          <p:cNvPr id="15" name="Text 11"/>
          <p:cNvSpPr/>
          <p:nvPr/>
        </p:nvSpPr>
        <p:spPr>
          <a:xfrm>
            <a:off x="10449306" y="2560320"/>
            <a:ext cx="566928" cy="365760"/>
          </a:xfrm>
          <a:prstGeom prst="roundRect">
            <a:avLst>
              <a:gd name="adj" fmla="val 20000"/>
            </a:avLst>
          </a:prstGeom>
          <a:solidFill>
            <a:srgbClr val="E9E8F5"/>
          </a:solidFill>
          <a:ln w="15875">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40</a:t>
            </a:r>
            <a:endParaRPr lang="en-US" sz="1300" dirty="0"/>
          </a:p>
        </p:txBody>
      </p:sp>
      <p:sp>
        <p:nvSpPr>
          <p:cNvPr id="16" name="Text 12"/>
          <p:cNvSpPr txBox="1"/>
          <p:nvPr/>
        </p:nvSpPr>
        <p:spPr>
          <a:xfrm>
            <a:off x="9818370" y="2953512"/>
            <a:ext cx="1828800" cy="237744"/>
          </a:xfrm>
          <a:prstGeom prst="rect">
            <a:avLst/>
          </a:prstGeom>
          <a:noFill/>
          <a:ln/>
        </p:spPr>
        <p:txBody>
          <a:bodyPr wrap="square" lIns="0" tIns="0" rIns="0" bIns="0" rtlCol="0" anchor="ctr"/>
          <a:lstStyle/>
          <a:p>
            <a:pPr algn="ctr" indent="0" marL="0">
              <a:buNone/>
            </a:pPr>
            <a:r>
              <a:rPr lang="en-US" sz="1000" i="1" dirty="0">
                <a:solidFill>
                  <a:srgbClr val="666666"/>
                </a:solidFill>
                <a:latin typeface="Quicksand" pitchFamily="34" charset="0"/>
                <a:ea typeface="Quicksand" pitchFamily="34" charset="-122"/>
                <a:cs typeface="Quicksand" pitchFamily="34" charset="-120"/>
              </a:rPr>
              <a:t>index 4</a:t>
            </a:r>
            <a:endParaRPr lang="en-US" sz="1000" dirty="0"/>
          </a:p>
        </p:txBody>
      </p:sp>
      <p:sp>
        <p:nvSpPr>
          <p:cNvPr id="17" name="Text 13"/>
          <p:cNvSpPr/>
          <p:nvPr/>
        </p:nvSpPr>
        <p:spPr>
          <a:xfrm>
            <a:off x="9982962" y="3611880"/>
            <a:ext cx="566928" cy="365760"/>
          </a:xfrm>
          <a:prstGeom prst="roundRect">
            <a:avLst>
              <a:gd name="adj" fmla="val 20000"/>
            </a:avLst>
          </a:prstGeom>
          <a:solidFill>
            <a:srgbClr val="E9E8F5"/>
          </a:solidFill>
          <a:ln w="15875">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35</a:t>
            </a:r>
            <a:endParaRPr lang="en-US" sz="1300" dirty="0"/>
          </a:p>
        </p:txBody>
      </p:sp>
      <p:sp>
        <p:nvSpPr>
          <p:cNvPr id="18" name="Text 14"/>
          <p:cNvSpPr txBox="1"/>
          <p:nvPr/>
        </p:nvSpPr>
        <p:spPr>
          <a:xfrm>
            <a:off x="9352026" y="4005072"/>
            <a:ext cx="1828800" cy="237744"/>
          </a:xfrm>
          <a:prstGeom prst="rect">
            <a:avLst/>
          </a:prstGeom>
          <a:noFill/>
          <a:ln/>
        </p:spPr>
        <p:txBody>
          <a:bodyPr wrap="square" lIns="0" tIns="0" rIns="0" bIns="0" rtlCol="0" anchor="ctr"/>
          <a:lstStyle/>
          <a:p>
            <a:pPr algn="ctr" indent="0" marL="0">
              <a:buNone/>
            </a:pPr>
            <a:r>
              <a:rPr lang="en-US" sz="1000" i="1" dirty="0">
                <a:solidFill>
                  <a:srgbClr val="666666"/>
                </a:solidFill>
                <a:latin typeface="Quicksand" pitchFamily="34" charset="0"/>
                <a:ea typeface="Quicksand" pitchFamily="34" charset="-122"/>
                <a:cs typeface="Quicksand" pitchFamily="34" charset="-120"/>
              </a:rPr>
              <a:t>index 7</a:t>
            </a:r>
            <a:endParaRPr lang="en-US" sz="1000" dirty="0"/>
          </a:p>
        </p:txBody>
      </p:sp>
      <p:sp>
        <p:nvSpPr>
          <p:cNvPr id="19" name="Text 15"/>
          <p:cNvSpPr txBox="1"/>
          <p:nvPr/>
        </p:nvSpPr>
        <p:spPr>
          <a:xfrm>
            <a:off x="9235440" y="4572000"/>
            <a:ext cx="2377440" cy="1463040"/>
          </a:xfrm>
          <a:prstGeom prst="rect">
            <a:avLst/>
          </a:prstGeom>
          <a:noFill/>
          <a:ln/>
        </p:spPr>
        <p:txBody>
          <a:bodyPr wrap="square" lIns="0" tIns="0" rIns="0" bIns="0" rtlCol="0" anchor="t"/>
          <a:lstStyle/>
          <a:p>
            <a:pPr indent="0" marL="0">
              <a:buNone/>
            </a:pPr>
            <a:r>
              <a:rPr lang="en-US" sz="1300" b="1" dirty="0">
                <a:solidFill>
                  <a:srgbClr val="494985"/>
                </a:solidFill>
                <a:latin typeface="Quicksand" pitchFamily="34" charset="0"/>
                <a:ea typeface="Quicksand" pitchFamily="34" charset="-122"/>
                <a:cs typeface="Quicksand" pitchFamily="34" charset="-120"/>
              </a:rPr>
              <a:t>The same call can have several rows: it carries on each time a call it made returns.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Pre, in and post: move one line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4</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15</a:t>
            </a:r>
            <a:endParaRPr lang="en-US" sz="1350" dirty="0"/>
          </a:p>
        </p:txBody>
      </p:sp>
      <p:sp>
        <p:nvSpPr>
          <p:cNvPr id="7" name="Text 4"/>
          <p:cNvSpPr txBox="1"/>
          <p:nvPr/>
        </p:nvSpPr>
        <p:spPr>
          <a:xfrm>
            <a:off x="411480" y="1207008"/>
            <a:ext cx="3749040" cy="365760"/>
          </a:xfrm>
          <a:prstGeom prst="rect">
            <a:avLst/>
          </a:prstGeom>
          <a:noFill/>
          <a:ln/>
        </p:spPr>
        <p:txBody>
          <a:bodyPr wrap="square" lIns="0" tIns="0" rIns="0" bIns="0" rtlCol="0" anchor="ctr"/>
          <a:lstStyle/>
          <a:p>
            <a:pPr indent="0" marL="0">
              <a:buNone/>
            </a:pPr>
            <a:r>
              <a:rPr lang="en-US" sz="1500" b="1" dirty="0">
                <a:solidFill>
                  <a:srgbClr val="1F8A8A"/>
                </a:solidFill>
                <a:latin typeface="Quicksand" pitchFamily="34" charset="0"/>
                <a:ea typeface="Quicksand" pitchFamily="34" charset="-122"/>
                <a:cs typeface="Quicksand" pitchFamily="34" charset="-120"/>
              </a:rPr>
              <a:t>Pre-order: output FIRST</a:t>
            </a:r>
            <a:endParaRPr lang="en-US" sz="1500" dirty="0"/>
          </a:p>
        </p:txBody>
      </p:sp>
      <p:sp>
        <p:nvSpPr>
          <p:cNvPr id="8" name="Shape 5"/>
          <p:cNvSpPr/>
          <p:nvPr/>
        </p:nvSpPr>
        <p:spPr>
          <a:xfrm>
            <a:off x="411480" y="1691640"/>
            <a:ext cx="3749040" cy="233172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9" name="Text 6"/>
          <p:cNvSpPr txBox="1"/>
          <p:nvPr/>
        </p:nvSpPr>
        <p:spPr>
          <a:xfrm>
            <a:off x="548640" y="1783080"/>
            <a:ext cx="3474720" cy="2148840"/>
          </a:xfrm>
          <a:prstGeom prst="rect">
            <a:avLst/>
          </a:prstGeom>
          <a:noFill/>
          <a:ln/>
        </p:spPr>
        <p:txBody>
          <a:bodyPr wrap="square" lIns="0" tIns="0" rIns="0" bIns="0" rtlCol="0" anchor="t"/>
          <a:lstStyle/>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Sub PreOrder(ByVal Root As Integer)</a:t>
            </a:r>
            <a:endParaRPr lang="en-US" sz="1100" dirty="0"/>
          </a:p>
          <a:p>
            <a:pPr indent="0" marL="0">
              <a:lnSpc>
                <a:spcPct val="105000"/>
              </a:lnSpc>
              <a:buNone/>
            </a:pPr>
            <a:r>
              <a:rPr lang="en-US" sz="1100" b="1" dirty="0">
                <a:solidFill>
                  <a:srgbClr val="494985"/>
                </a:solidFill>
                <a:latin typeface="Roboto Mono" pitchFamily="34" charset="0"/>
                <a:ea typeface="Roboto Mono" pitchFamily="34" charset="-122"/>
                <a:cs typeface="Roboto Mono" pitchFamily="34" charset="-120"/>
              </a:rPr>
              <a:t>    Console.WriteLine(TreeArray(Root, 1))</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If TreeArray(Root, 0) &lt;&gt; -1 Then</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PreOrder(TreeArray(Root, 0))</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End If</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If TreeArray(Root, 2) &lt;&gt; -1 Then</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PreOrder(TreeArray(Root, 2))</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End If</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End Sub</a:t>
            </a:r>
            <a:endParaRPr lang="en-US" sz="1100" dirty="0"/>
          </a:p>
        </p:txBody>
      </p:sp>
      <p:sp>
        <p:nvSpPr>
          <p:cNvPr id="10" name="Text 7"/>
          <p:cNvSpPr txBox="1"/>
          <p:nvPr/>
        </p:nvSpPr>
        <p:spPr>
          <a:xfrm>
            <a:off x="411480" y="4224528"/>
            <a:ext cx="3749040" cy="274320"/>
          </a:xfrm>
          <a:prstGeom prst="rect">
            <a:avLst/>
          </a:prstGeom>
          <a:noFill/>
          <a:ln/>
        </p:spPr>
        <p:txBody>
          <a:bodyPr wrap="square" lIns="0" tIns="0" rIns="0" bIns="0" rtlCol="0" anchor="ctr"/>
          <a:lstStyle/>
          <a:p>
            <a:pPr indent="0" marL="0">
              <a:buNone/>
            </a:pPr>
            <a:r>
              <a:rPr lang="en-US" sz="1200" dirty="0">
                <a:solidFill>
                  <a:srgbClr val="666666"/>
                </a:solidFill>
                <a:latin typeface="Quicksand" pitchFamily="34" charset="0"/>
                <a:ea typeface="Quicksand" pitchFamily="34" charset="-122"/>
                <a:cs typeface="Quicksand" pitchFamily="34" charset="-120"/>
              </a:rPr>
              <a:t>Output for the warm-up tree:</a:t>
            </a:r>
            <a:endParaRPr lang="en-US" sz="1200" dirty="0"/>
          </a:p>
        </p:txBody>
      </p:sp>
      <p:sp>
        <p:nvSpPr>
          <p:cNvPr id="11" name="Text 8"/>
          <p:cNvSpPr/>
          <p:nvPr/>
        </p:nvSpPr>
        <p:spPr>
          <a:xfrm>
            <a:off x="411480" y="4553712"/>
            <a:ext cx="402336" cy="347472"/>
          </a:xfrm>
          <a:prstGeom prst="roundRect">
            <a:avLst>
              <a:gd name="adj" fmla="val 15789"/>
            </a:avLst>
          </a:prstGeom>
          <a:solidFill>
            <a:srgbClr val="FFFFFF"/>
          </a:solidFill>
          <a:ln w="15875">
            <a:solidFill>
              <a:srgbClr val="1F8A8A"/>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50</a:t>
            </a:r>
            <a:endParaRPr lang="en-US" sz="1200" dirty="0"/>
          </a:p>
        </p:txBody>
      </p:sp>
      <p:sp>
        <p:nvSpPr>
          <p:cNvPr id="12" name="Text 9"/>
          <p:cNvSpPr/>
          <p:nvPr/>
        </p:nvSpPr>
        <p:spPr>
          <a:xfrm>
            <a:off x="872338" y="4553712"/>
            <a:ext cx="402336" cy="347472"/>
          </a:xfrm>
          <a:prstGeom prst="roundRect">
            <a:avLst>
              <a:gd name="adj" fmla="val 15789"/>
            </a:avLst>
          </a:prstGeom>
          <a:solidFill>
            <a:srgbClr val="FFFFFF"/>
          </a:solidFill>
          <a:ln w="15875">
            <a:solidFill>
              <a:srgbClr val="1F8A8A"/>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30</a:t>
            </a:r>
            <a:endParaRPr lang="en-US" sz="1200" dirty="0"/>
          </a:p>
        </p:txBody>
      </p:sp>
      <p:sp>
        <p:nvSpPr>
          <p:cNvPr id="13" name="Text 10"/>
          <p:cNvSpPr/>
          <p:nvPr/>
        </p:nvSpPr>
        <p:spPr>
          <a:xfrm>
            <a:off x="1333195" y="4553712"/>
            <a:ext cx="402336" cy="347472"/>
          </a:xfrm>
          <a:prstGeom prst="roundRect">
            <a:avLst>
              <a:gd name="adj" fmla="val 15789"/>
            </a:avLst>
          </a:prstGeom>
          <a:solidFill>
            <a:srgbClr val="FFFFFF"/>
          </a:solidFill>
          <a:ln w="15875">
            <a:solidFill>
              <a:srgbClr val="1F8A8A"/>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20</a:t>
            </a:r>
            <a:endParaRPr lang="en-US" sz="1200" dirty="0"/>
          </a:p>
        </p:txBody>
      </p:sp>
      <p:sp>
        <p:nvSpPr>
          <p:cNvPr id="14" name="Text 11"/>
          <p:cNvSpPr/>
          <p:nvPr/>
        </p:nvSpPr>
        <p:spPr>
          <a:xfrm>
            <a:off x="1794053" y="4553712"/>
            <a:ext cx="402336" cy="347472"/>
          </a:xfrm>
          <a:prstGeom prst="roundRect">
            <a:avLst>
              <a:gd name="adj" fmla="val 15789"/>
            </a:avLst>
          </a:prstGeom>
          <a:solidFill>
            <a:srgbClr val="FFFFFF"/>
          </a:solidFill>
          <a:ln w="15875">
            <a:solidFill>
              <a:srgbClr val="1F8A8A"/>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40</a:t>
            </a:r>
            <a:endParaRPr lang="en-US" sz="1200" dirty="0"/>
          </a:p>
        </p:txBody>
      </p:sp>
      <p:sp>
        <p:nvSpPr>
          <p:cNvPr id="15" name="Text 12"/>
          <p:cNvSpPr/>
          <p:nvPr/>
        </p:nvSpPr>
        <p:spPr>
          <a:xfrm>
            <a:off x="2254910" y="4553712"/>
            <a:ext cx="402336" cy="347472"/>
          </a:xfrm>
          <a:prstGeom prst="roundRect">
            <a:avLst>
              <a:gd name="adj" fmla="val 15789"/>
            </a:avLst>
          </a:prstGeom>
          <a:solidFill>
            <a:srgbClr val="FFFFFF"/>
          </a:solidFill>
          <a:ln w="15875">
            <a:solidFill>
              <a:srgbClr val="1F8A8A"/>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35</a:t>
            </a:r>
            <a:endParaRPr lang="en-US" sz="1200" dirty="0"/>
          </a:p>
        </p:txBody>
      </p:sp>
      <p:sp>
        <p:nvSpPr>
          <p:cNvPr id="16" name="Text 13"/>
          <p:cNvSpPr/>
          <p:nvPr/>
        </p:nvSpPr>
        <p:spPr>
          <a:xfrm>
            <a:off x="2715768" y="4553712"/>
            <a:ext cx="402336" cy="347472"/>
          </a:xfrm>
          <a:prstGeom prst="roundRect">
            <a:avLst>
              <a:gd name="adj" fmla="val 15789"/>
            </a:avLst>
          </a:prstGeom>
          <a:solidFill>
            <a:srgbClr val="FFFFFF"/>
          </a:solidFill>
          <a:ln w="15875">
            <a:solidFill>
              <a:srgbClr val="1F8A8A"/>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70</a:t>
            </a:r>
            <a:endParaRPr lang="en-US" sz="1200" dirty="0"/>
          </a:p>
        </p:txBody>
      </p:sp>
      <p:sp>
        <p:nvSpPr>
          <p:cNvPr id="17" name="Text 14"/>
          <p:cNvSpPr/>
          <p:nvPr/>
        </p:nvSpPr>
        <p:spPr>
          <a:xfrm>
            <a:off x="3176626" y="4553712"/>
            <a:ext cx="402336" cy="347472"/>
          </a:xfrm>
          <a:prstGeom prst="roundRect">
            <a:avLst>
              <a:gd name="adj" fmla="val 15789"/>
            </a:avLst>
          </a:prstGeom>
          <a:solidFill>
            <a:srgbClr val="FFFFFF"/>
          </a:solidFill>
          <a:ln w="15875">
            <a:solidFill>
              <a:srgbClr val="1F8A8A"/>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60</a:t>
            </a:r>
            <a:endParaRPr lang="en-US" sz="1200" dirty="0"/>
          </a:p>
        </p:txBody>
      </p:sp>
      <p:sp>
        <p:nvSpPr>
          <p:cNvPr id="18" name="Text 15"/>
          <p:cNvSpPr/>
          <p:nvPr/>
        </p:nvSpPr>
        <p:spPr>
          <a:xfrm>
            <a:off x="3637483" y="4553712"/>
            <a:ext cx="402336" cy="347472"/>
          </a:xfrm>
          <a:prstGeom prst="roundRect">
            <a:avLst>
              <a:gd name="adj" fmla="val 15789"/>
            </a:avLst>
          </a:prstGeom>
          <a:solidFill>
            <a:srgbClr val="FFFFFF"/>
          </a:solidFill>
          <a:ln w="15875">
            <a:solidFill>
              <a:srgbClr val="1F8A8A"/>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80</a:t>
            </a:r>
            <a:endParaRPr lang="en-US" sz="1200" dirty="0"/>
          </a:p>
        </p:txBody>
      </p:sp>
      <p:sp>
        <p:nvSpPr>
          <p:cNvPr id="19" name="Text 16"/>
          <p:cNvSpPr txBox="1"/>
          <p:nvPr/>
        </p:nvSpPr>
        <p:spPr>
          <a:xfrm>
            <a:off x="4251960" y="1207008"/>
            <a:ext cx="3749040" cy="365760"/>
          </a:xfrm>
          <a:prstGeom prst="rect">
            <a:avLst/>
          </a:prstGeom>
          <a:noFill/>
          <a:ln/>
        </p:spPr>
        <p:txBody>
          <a:bodyPr wrap="square" lIns="0" tIns="0" rIns="0" bIns="0" rtlCol="0" anchor="ctr"/>
          <a:lstStyle/>
          <a:p>
            <a:pPr indent="0" marL="0">
              <a:buNone/>
            </a:pPr>
            <a:r>
              <a:rPr lang="en-US" sz="1500" b="1" dirty="0">
                <a:solidFill>
                  <a:srgbClr val="D9822B"/>
                </a:solidFill>
                <a:latin typeface="Quicksand" pitchFamily="34" charset="0"/>
                <a:ea typeface="Quicksand" pitchFamily="34" charset="-122"/>
                <a:cs typeface="Quicksand" pitchFamily="34" charset="-120"/>
              </a:rPr>
              <a:t>In-order: output in the MIDDLE</a:t>
            </a:r>
            <a:endParaRPr lang="en-US" sz="1500" dirty="0"/>
          </a:p>
        </p:txBody>
      </p:sp>
      <p:sp>
        <p:nvSpPr>
          <p:cNvPr id="20" name="Shape 17"/>
          <p:cNvSpPr/>
          <p:nvPr/>
        </p:nvSpPr>
        <p:spPr>
          <a:xfrm>
            <a:off x="4251960" y="1691640"/>
            <a:ext cx="3749040" cy="233172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21" name="Text 18"/>
          <p:cNvSpPr txBox="1"/>
          <p:nvPr/>
        </p:nvSpPr>
        <p:spPr>
          <a:xfrm>
            <a:off x="4389120" y="1783080"/>
            <a:ext cx="3474720" cy="2148840"/>
          </a:xfrm>
          <a:prstGeom prst="rect">
            <a:avLst/>
          </a:prstGeom>
          <a:noFill/>
          <a:ln/>
        </p:spPr>
        <p:txBody>
          <a:bodyPr wrap="square" lIns="0" tIns="0" rIns="0" bIns="0" rtlCol="0" anchor="t"/>
          <a:lstStyle/>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Sub InOrder(ByVal Root As Integer)</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If TreeArray(Root, 0) &lt;&gt; -1 Then</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InOrder(TreeArray(Root, 0))</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End If</a:t>
            </a:r>
            <a:endParaRPr lang="en-US" sz="1100" dirty="0"/>
          </a:p>
          <a:p>
            <a:pPr indent="0" marL="0">
              <a:lnSpc>
                <a:spcPct val="105000"/>
              </a:lnSpc>
              <a:buNone/>
            </a:pPr>
            <a:r>
              <a:rPr lang="en-US" sz="1100" b="1" dirty="0">
                <a:solidFill>
                  <a:srgbClr val="494985"/>
                </a:solidFill>
                <a:latin typeface="Roboto Mono" pitchFamily="34" charset="0"/>
                <a:ea typeface="Roboto Mono" pitchFamily="34" charset="-122"/>
                <a:cs typeface="Roboto Mono" pitchFamily="34" charset="-120"/>
              </a:rPr>
              <a:t>    Console.WriteLine(TreeArray(Root, 1))</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If TreeArray(Root, 2) &lt;&gt; -1 Then</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InOrder(TreeArray(Root, 2))</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End If</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End Sub</a:t>
            </a:r>
            <a:endParaRPr lang="en-US" sz="1100" dirty="0"/>
          </a:p>
        </p:txBody>
      </p:sp>
      <p:sp>
        <p:nvSpPr>
          <p:cNvPr id="22" name="Text 19"/>
          <p:cNvSpPr txBox="1"/>
          <p:nvPr/>
        </p:nvSpPr>
        <p:spPr>
          <a:xfrm>
            <a:off x="4251960" y="4224528"/>
            <a:ext cx="3749040" cy="274320"/>
          </a:xfrm>
          <a:prstGeom prst="rect">
            <a:avLst/>
          </a:prstGeom>
          <a:noFill/>
          <a:ln/>
        </p:spPr>
        <p:txBody>
          <a:bodyPr wrap="square" lIns="0" tIns="0" rIns="0" bIns="0" rtlCol="0" anchor="ctr"/>
          <a:lstStyle/>
          <a:p>
            <a:pPr indent="0" marL="0">
              <a:buNone/>
            </a:pPr>
            <a:r>
              <a:rPr lang="en-US" sz="1200" dirty="0">
                <a:solidFill>
                  <a:srgbClr val="666666"/>
                </a:solidFill>
                <a:latin typeface="Quicksand" pitchFamily="34" charset="0"/>
                <a:ea typeface="Quicksand" pitchFamily="34" charset="-122"/>
                <a:cs typeface="Quicksand" pitchFamily="34" charset="-120"/>
              </a:rPr>
              <a:t>Output for the warm-up tree:</a:t>
            </a:r>
            <a:endParaRPr lang="en-US" sz="1200" dirty="0"/>
          </a:p>
        </p:txBody>
      </p:sp>
      <p:sp>
        <p:nvSpPr>
          <p:cNvPr id="23" name="Text 20"/>
          <p:cNvSpPr/>
          <p:nvPr/>
        </p:nvSpPr>
        <p:spPr>
          <a:xfrm>
            <a:off x="4251960" y="4553712"/>
            <a:ext cx="402336" cy="347472"/>
          </a:xfrm>
          <a:prstGeom prst="roundRect">
            <a:avLst>
              <a:gd name="adj" fmla="val 15789"/>
            </a:avLst>
          </a:prstGeom>
          <a:solidFill>
            <a:srgbClr val="FFFFFF"/>
          </a:solidFill>
          <a:ln w="15875">
            <a:solidFill>
              <a:srgbClr val="D9822B"/>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20</a:t>
            </a:r>
            <a:endParaRPr lang="en-US" sz="1200" dirty="0"/>
          </a:p>
        </p:txBody>
      </p:sp>
      <p:sp>
        <p:nvSpPr>
          <p:cNvPr id="24" name="Text 21"/>
          <p:cNvSpPr/>
          <p:nvPr/>
        </p:nvSpPr>
        <p:spPr>
          <a:xfrm>
            <a:off x="4712818" y="4553712"/>
            <a:ext cx="402336" cy="347472"/>
          </a:xfrm>
          <a:prstGeom prst="roundRect">
            <a:avLst>
              <a:gd name="adj" fmla="val 15789"/>
            </a:avLst>
          </a:prstGeom>
          <a:solidFill>
            <a:srgbClr val="FFFFFF"/>
          </a:solidFill>
          <a:ln w="15875">
            <a:solidFill>
              <a:srgbClr val="D9822B"/>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30</a:t>
            </a:r>
            <a:endParaRPr lang="en-US" sz="1200" dirty="0"/>
          </a:p>
        </p:txBody>
      </p:sp>
      <p:sp>
        <p:nvSpPr>
          <p:cNvPr id="25" name="Text 22"/>
          <p:cNvSpPr/>
          <p:nvPr/>
        </p:nvSpPr>
        <p:spPr>
          <a:xfrm>
            <a:off x="5173675" y="4553712"/>
            <a:ext cx="402336" cy="347472"/>
          </a:xfrm>
          <a:prstGeom prst="roundRect">
            <a:avLst>
              <a:gd name="adj" fmla="val 15789"/>
            </a:avLst>
          </a:prstGeom>
          <a:solidFill>
            <a:srgbClr val="FFFFFF"/>
          </a:solidFill>
          <a:ln w="15875">
            <a:solidFill>
              <a:srgbClr val="D9822B"/>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35</a:t>
            </a:r>
            <a:endParaRPr lang="en-US" sz="1200" dirty="0"/>
          </a:p>
        </p:txBody>
      </p:sp>
      <p:sp>
        <p:nvSpPr>
          <p:cNvPr id="26" name="Text 23"/>
          <p:cNvSpPr/>
          <p:nvPr/>
        </p:nvSpPr>
        <p:spPr>
          <a:xfrm>
            <a:off x="5634533" y="4553712"/>
            <a:ext cx="402336" cy="347472"/>
          </a:xfrm>
          <a:prstGeom prst="roundRect">
            <a:avLst>
              <a:gd name="adj" fmla="val 15789"/>
            </a:avLst>
          </a:prstGeom>
          <a:solidFill>
            <a:srgbClr val="FFFFFF"/>
          </a:solidFill>
          <a:ln w="15875">
            <a:solidFill>
              <a:srgbClr val="D9822B"/>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40</a:t>
            </a:r>
            <a:endParaRPr lang="en-US" sz="1200" dirty="0"/>
          </a:p>
        </p:txBody>
      </p:sp>
      <p:sp>
        <p:nvSpPr>
          <p:cNvPr id="27" name="Text 24"/>
          <p:cNvSpPr/>
          <p:nvPr/>
        </p:nvSpPr>
        <p:spPr>
          <a:xfrm>
            <a:off x="6095390" y="4553712"/>
            <a:ext cx="402336" cy="347472"/>
          </a:xfrm>
          <a:prstGeom prst="roundRect">
            <a:avLst>
              <a:gd name="adj" fmla="val 15789"/>
            </a:avLst>
          </a:prstGeom>
          <a:solidFill>
            <a:srgbClr val="FFFFFF"/>
          </a:solidFill>
          <a:ln w="15875">
            <a:solidFill>
              <a:srgbClr val="D9822B"/>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50</a:t>
            </a:r>
            <a:endParaRPr lang="en-US" sz="1200" dirty="0"/>
          </a:p>
        </p:txBody>
      </p:sp>
      <p:sp>
        <p:nvSpPr>
          <p:cNvPr id="28" name="Text 25"/>
          <p:cNvSpPr/>
          <p:nvPr/>
        </p:nvSpPr>
        <p:spPr>
          <a:xfrm>
            <a:off x="6556248" y="4553712"/>
            <a:ext cx="402336" cy="347472"/>
          </a:xfrm>
          <a:prstGeom prst="roundRect">
            <a:avLst>
              <a:gd name="adj" fmla="val 15789"/>
            </a:avLst>
          </a:prstGeom>
          <a:solidFill>
            <a:srgbClr val="FFFFFF"/>
          </a:solidFill>
          <a:ln w="15875">
            <a:solidFill>
              <a:srgbClr val="D9822B"/>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60</a:t>
            </a:r>
            <a:endParaRPr lang="en-US" sz="1200" dirty="0"/>
          </a:p>
        </p:txBody>
      </p:sp>
      <p:sp>
        <p:nvSpPr>
          <p:cNvPr id="29" name="Text 26"/>
          <p:cNvSpPr/>
          <p:nvPr/>
        </p:nvSpPr>
        <p:spPr>
          <a:xfrm>
            <a:off x="7017106" y="4553712"/>
            <a:ext cx="402336" cy="347472"/>
          </a:xfrm>
          <a:prstGeom prst="roundRect">
            <a:avLst>
              <a:gd name="adj" fmla="val 15789"/>
            </a:avLst>
          </a:prstGeom>
          <a:solidFill>
            <a:srgbClr val="FFFFFF"/>
          </a:solidFill>
          <a:ln w="15875">
            <a:solidFill>
              <a:srgbClr val="D9822B"/>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70</a:t>
            </a:r>
            <a:endParaRPr lang="en-US" sz="1200" dirty="0"/>
          </a:p>
        </p:txBody>
      </p:sp>
      <p:sp>
        <p:nvSpPr>
          <p:cNvPr id="30" name="Text 27"/>
          <p:cNvSpPr/>
          <p:nvPr/>
        </p:nvSpPr>
        <p:spPr>
          <a:xfrm>
            <a:off x="7477963" y="4553712"/>
            <a:ext cx="402336" cy="347472"/>
          </a:xfrm>
          <a:prstGeom prst="roundRect">
            <a:avLst>
              <a:gd name="adj" fmla="val 15789"/>
            </a:avLst>
          </a:prstGeom>
          <a:solidFill>
            <a:srgbClr val="FFFFFF"/>
          </a:solidFill>
          <a:ln w="15875">
            <a:solidFill>
              <a:srgbClr val="D9822B"/>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80</a:t>
            </a:r>
            <a:endParaRPr lang="en-US" sz="1200" dirty="0"/>
          </a:p>
        </p:txBody>
      </p:sp>
      <p:sp>
        <p:nvSpPr>
          <p:cNvPr id="31" name="Text 28"/>
          <p:cNvSpPr txBox="1"/>
          <p:nvPr/>
        </p:nvSpPr>
        <p:spPr>
          <a:xfrm>
            <a:off x="8092440" y="1207008"/>
            <a:ext cx="3749040" cy="365760"/>
          </a:xfrm>
          <a:prstGeom prst="rect">
            <a:avLst/>
          </a:prstGeom>
          <a:noFill/>
          <a:ln/>
        </p:spPr>
        <p:txBody>
          <a:bodyPr wrap="square" lIns="0" tIns="0" rIns="0" bIns="0" rtlCol="0" anchor="ctr"/>
          <a:lstStyle/>
          <a:p>
            <a:pPr indent="0" marL="0">
              <a:buNone/>
            </a:pPr>
            <a:r>
              <a:rPr lang="en-US" sz="1500" b="1" dirty="0">
                <a:solidFill>
                  <a:srgbClr val="8E4FB8"/>
                </a:solidFill>
                <a:latin typeface="Quicksand" pitchFamily="34" charset="0"/>
                <a:ea typeface="Quicksand" pitchFamily="34" charset="-122"/>
                <a:cs typeface="Quicksand" pitchFamily="34" charset="-120"/>
              </a:rPr>
              <a:t>Post-order: output LAST</a:t>
            </a:r>
            <a:endParaRPr lang="en-US" sz="1500" dirty="0"/>
          </a:p>
        </p:txBody>
      </p:sp>
      <p:sp>
        <p:nvSpPr>
          <p:cNvPr id="32" name="Shape 29"/>
          <p:cNvSpPr/>
          <p:nvPr/>
        </p:nvSpPr>
        <p:spPr>
          <a:xfrm>
            <a:off x="8092440" y="1691640"/>
            <a:ext cx="3749040" cy="233172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33" name="Text 30"/>
          <p:cNvSpPr txBox="1"/>
          <p:nvPr/>
        </p:nvSpPr>
        <p:spPr>
          <a:xfrm>
            <a:off x="8229600" y="1783080"/>
            <a:ext cx="3474720" cy="2148840"/>
          </a:xfrm>
          <a:prstGeom prst="rect">
            <a:avLst/>
          </a:prstGeom>
          <a:noFill/>
          <a:ln/>
        </p:spPr>
        <p:txBody>
          <a:bodyPr wrap="square" lIns="0" tIns="0" rIns="0" bIns="0" rtlCol="0" anchor="t"/>
          <a:lstStyle/>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Sub PostOrder(ByVal Root As Integer)</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If TreeArray(Root, 0) &lt;&gt; -1 Then</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PostOrder(TreeArray(Root, 0))</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End If</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If TreeArray(Root, 2) &lt;&gt; -1 Then</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PostOrder(TreeArray(Root, 2))</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End If</a:t>
            </a:r>
            <a:endParaRPr lang="en-US" sz="1100" dirty="0"/>
          </a:p>
          <a:p>
            <a:pPr indent="0" marL="0">
              <a:lnSpc>
                <a:spcPct val="105000"/>
              </a:lnSpc>
              <a:buNone/>
            </a:pPr>
            <a:r>
              <a:rPr lang="en-US" sz="1100" b="1" dirty="0">
                <a:solidFill>
                  <a:srgbClr val="494985"/>
                </a:solidFill>
                <a:latin typeface="Roboto Mono" pitchFamily="34" charset="0"/>
                <a:ea typeface="Roboto Mono" pitchFamily="34" charset="-122"/>
                <a:cs typeface="Roboto Mono" pitchFamily="34" charset="-120"/>
              </a:rPr>
              <a:t>    Console.WriteLine(TreeArray(Root, 1))</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End Sub</a:t>
            </a:r>
            <a:endParaRPr lang="en-US" sz="1100" dirty="0"/>
          </a:p>
        </p:txBody>
      </p:sp>
      <p:sp>
        <p:nvSpPr>
          <p:cNvPr id="34" name="Text 31"/>
          <p:cNvSpPr txBox="1"/>
          <p:nvPr/>
        </p:nvSpPr>
        <p:spPr>
          <a:xfrm>
            <a:off x="8092440" y="4224528"/>
            <a:ext cx="3749040" cy="274320"/>
          </a:xfrm>
          <a:prstGeom prst="rect">
            <a:avLst/>
          </a:prstGeom>
          <a:noFill/>
          <a:ln/>
        </p:spPr>
        <p:txBody>
          <a:bodyPr wrap="square" lIns="0" tIns="0" rIns="0" bIns="0" rtlCol="0" anchor="ctr"/>
          <a:lstStyle/>
          <a:p>
            <a:pPr indent="0" marL="0">
              <a:buNone/>
            </a:pPr>
            <a:r>
              <a:rPr lang="en-US" sz="1200" dirty="0">
                <a:solidFill>
                  <a:srgbClr val="666666"/>
                </a:solidFill>
                <a:latin typeface="Quicksand" pitchFamily="34" charset="0"/>
                <a:ea typeface="Quicksand" pitchFamily="34" charset="-122"/>
                <a:cs typeface="Quicksand" pitchFamily="34" charset="-120"/>
              </a:rPr>
              <a:t>Output for the warm-up tree:</a:t>
            </a:r>
            <a:endParaRPr lang="en-US" sz="1200" dirty="0"/>
          </a:p>
        </p:txBody>
      </p:sp>
      <p:sp>
        <p:nvSpPr>
          <p:cNvPr id="35" name="Text 32"/>
          <p:cNvSpPr/>
          <p:nvPr/>
        </p:nvSpPr>
        <p:spPr>
          <a:xfrm>
            <a:off x="8092440" y="4553712"/>
            <a:ext cx="402336" cy="347472"/>
          </a:xfrm>
          <a:prstGeom prst="roundRect">
            <a:avLst>
              <a:gd name="adj" fmla="val 15789"/>
            </a:avLst>
          </a:prstGeom>
          <a:solidFill>
            <a:srgbClr val="FFFFFF"/>
          </a:solidFill>
          <a:ln w="15875">
            <a:solidFill>
              <a:srgbClr val="8E4FB8"/>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20</a:t>
            </a:r>
            <a:endParaRPr lang="en-US" sz="1200" dirty="0"/>
          </a:p>
        </p:txBody>
      </p:sp>
      <p:sp>
        <p:nvSpPr>
          <p:cNvPr id="36" name="Text 33"/>
          <p:cNvSpPr/>
          <p:nvPr/>
        </p:nvSpPr>
        <p:spPr>
          <a:xfrm>
            <a:off x="8553298" y="4553712"/>
            <a:ext cx="402336" cy="347472"/>
          </a:xfrm>
          <a:prstGeom prst="roundRect">
            <a:avLst>
              <a:gd name="adj" fmla="val 15789"/>
            </a:avLst>
          </a:prstGeom>
          <a:solidFill>
            <a:srgbClr val="FFFFFF"/>
          </a:solidFill>
          <a:ln w="15875">
            <a:solidFill>
              <a:srgbClr val="8E4FB8"/>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35</a:t>
            </a:r>
            <a:endParaRPr lang="en-US" sz="1200" dirty="0"/>
          </a:p>
        </p:txBody>
      </p:sp>
      <p:sp>
        <p:nvSpPr>
          <p:cNvPr id="37" name="Text 34"/>
          <p:cNvSpPr/>
          <p:nvPr/>
        </p:nvSpPr>
        <p:spPr>
          <a:xfrm>
            <a:off x="9014155" y="4553712"/>
            <a:ext cx="402336" cy="347472"/>
          </a:xfrm>
          <a:prstGeom prst="roundRect">
            <a:avLst>
              <a:gd name="adj" fmla="val 15789"/>
            </a:avLst>
          </a:prstGeom>
          <a:solidFill>
            <a:srgbClr val="FFFFFF"/>
          </a:solidFill>
          <a:ln w="15875">
            <a:solidFill>
              <a:srgbClr val="8E4FB8"/>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40</a:t>
            </a:r>
            <a:endParaRPr lang="en-US" sz="1200" dirty="0"/>
          </a:p>
        </p:txBody>
      </p:sp>
      <p:sp>
        <p:nvSpPr>
          <p:cNvPr id="38" name="Text 35"/>
          <p:cNvSpPr/>
          <p:nvPr/>
        </p:nvSpPr>
        <p:spPr>
          <a:xfrm>
            <a:off x="9475013" y="4553712"/>
            <a:ext cx="402336" cy="347472"/>
          </a:xfrm>
          <a:prstGeom prst="roundRect">
            <a:avLst>
              <a:gd name="adj" fmla="val 15789"/>
            </a:avLst>
          </a:prstGeom>
          <a:solidFill>
            <a:srgbClr val="FFFFFF"/>
          </a:solidFill>
          <a:ln w="15875">
            <a:solidFill>
              <a:srgbClr val="8E4FB8"/>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30</a:t>
            </a:r>
            <a:endParaRPr lang="en-US" sz="1200" dirty="0"/>
          </a:p>
        </p:txBody>
      </p:sp>
      <p:sp>
        <p:nvSpPr>
          <p:cNvPr id="39" name="Text 36"/>
          <p:cNvSpPr/>
          <p:nvPr/>
        </p:nvSpPr>
        <p:spPr>
          <a:xfrm>
            <a:off x="9935870" y="4553712"/>
            <a:ext cx="402336" cy="347472"/>
          </a:xfrm>
          <a:prstGeom prst="roundRect">
            <a:avLst>
              <a:gd name="adj" fmla="val 15789"/>
            </a:avLst>
          </a:prstGeom>
          <a:solidFill>
            <a:srgbClr val="FFFFFF"/>
          </a:solidFill>
          <a:ln w="15875">
            <a:solidFill>
              <a:srgbClr val="8E4FB8"/>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60</a:t>
            </a:r>
            <a:endParaRPr lang="en-US" sz="1200" dirty="0"/>
          </a:p>
        </p:txBody>
      </p:sp>
      <p:sp>
        <p:nvSpPr>
          <p:cNvPr id="40" name="Text 37"/>
          <p:cNvSpPr/>
          <p:nvPr/>
        </p:nvSpPr>
        <p:spPr>
          <a:xfrm>
            <a:off x="10396728" y="4553712"/>
            <a:ext cx="402336" cy="347472"/>
          </a:xfrm>
          <a:prstGeom prst="roundRect">
            <a:avLst>
              <a:gd name="adj" fmla="val 15789"/>
            </a:avLst>
          </a:prstGeom>
          <a:solidFill>
            <a:srgbClr val="FFFFFF"/>
          </a:solidFill>
          <a:ln w="15875">
            <a:solidFill>
              <a:srgbClr val="8E4FB8"/>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80</a:t>
            </a:r>
            <a:endParaRPr lang="en-US" sz="1200" dirty="0"/>
          </a:p>
        </p:txBody>
      </p:sp>
      <p:sp>
        <p:nvSpPr>
          <p:cNvPr id="41" name="Text 38"/>
          <p:cNvSpPr/>
          <p:nvPr/>
        </p:nvSpPr>
        <p:spPr>
          <a:xfrm>
            <a:off x="10857586" y="4553712"/>
            <a:ext cx="402336" cy="347472"/>
          </a:xfrm>
          <a:prstGeom prst="roundRect">
            <a:avLst>
              <a:gd name="adj" fmla="val 15789"/>
            </a:avLst>
          </a:prstGeom>
          <a:solidFill>
            <a:srgbClr val="FFFFFF"/>
          </a:solidFill>
          <a:ln w="15875">
            <a:solidFill>
              <a:srgbClr val="8E4FB8"/>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70</a:t>
            </a:r>
            <a:endParaRPr lang="en-US" sz="1200" dirty="0"/>
          </a:p>
        </p:txBody>
      </p:sp>
      <p:sp>
        <p:nvSpPr>
          <p:cNvPr id="42" name="Text 39"/>
          <p:cNvSpPr/>
          <p:nvPr/>
        </p:nvSpPr>
        <p:spPr>
          <a:xfrm>
            <a:off x="11318443" y="4553712"/>
            <a:ext cx="402336" cy="347472"/>
          </a:xfrm>
          <a:prstGeom prst="roundRect">
            <a:avLst>
              <a:gd name="adj" fmla="val 15789"/>
            </a:avLst>
          </a:prstGeom>
          <a:solidFill>
            <a:srgbClr val="FFFFFF"/>
          </a:solidFill>
          <a:ln w="15875">
            <a:solidFill>
              <a:srgbClr val="8E4FB8"/>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50</a:t>
            </a:r>
            <a:endParaRPr lang="en-US" sz="1200" dirty="0"/>
          </a:p>
        </p:txBody>
      </p:sp>
      <p:sp>
        <p:nvSpPr>
          <p:cNvPr id="43" name="Text 40"/>
          <p:cNvSpPr txBox="1"/>
          <p:nvPr/>
        </p:nvSpPr>
        <p:spPr>
          <a:xfrm>
            <a:off x="502920" y="5257800"/>
            <a:ext cx="11064240" cy="64008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Everything else stays the same. In Paper 4, the output in the wrong place loses the "correct order" mark.</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On the way down, on the way back up</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4</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16</a:t>
            </a:r>
            <a:endParaRPr lang="en-US" sz="1350" dirty="0"/>
          </a:p>
        </p:txBody>
      </p:sp>
      <p:sp>
        <p:nvSpPr>
          <p:cNvPr id="7" name="Shape 4"/>
          <p:cNvSpPr/>
          <p:nvPr/>
        </p:nvSpPr>
        <p:spPr>
          <a:xfrm flipH="1">
            <a:off x="2212848" y="2125980"/>
            <a:ext cx="1344168" cy="594360"/>
          </a:xfrm>
          <a:prstGeom prst="line">
            <a:avLst/>
          </a:prstGeom>
          <a:noFill/>
          <a:ln w="19050">
            <a:solidFill>
              <a:srgbClr val="9A9AB5"/>
            </a:solidFill>
            <a:prstDash val="solid"/>
          </a:ln>
        </p:spPr>
      </p:sp>
      <p:sp>
        <p:nvSpPr>
          <p:cNvPr id="8" name="Shape 5"/>
          <p:cNvSpPr/>
          <p:nvPr/>
        </p:nvSpPr>
        <p:spPr>
          <a:xfrm>
            <a:off x="3557016" y="2125980"/>
            <a:ext cx="1344168" cy="594360"/>
          </a:xfrm>
          <a:prstGeom prst="line">
            <a:avLst/>
          </a:prstGeom>
          <a:noFill/>
          <a:ln w="19050">
            <a:solidFill>
              <a:srgbClr val="9A9AB5"/>
            </a:solidFill>
            <a:prstDash val="solid"/>
          </a:ln>
        </p:spPr>
      </p:sp>
      <p:sp>
        <p:nvSpPr>
          <p:cNvPr id="9" name="Shape 6"/>
          <p:cNvSpPr/>
          <p:nvPr/>
        </p:nvSpPr>
        <p:spPr>
          <a:xfrm flipH="1">
            <a:off x="1540764" y="3131820"/>
            <a:ext cx="672084" cy="594360"/>
          </a:xfrm>
          <a:prstGeom prst="line">
            <a:avLst/>
          </a:prstGeom>
          <a:noFill/>
          <a:ln w="19050">
            <a:solidFill>
              <a:srgbClr val="9A9AB5"/>
            </a:solidFill>
            <a:prstDash val="solid"/>
          </a:ln>
        </p:spPr>
      </p:sp>
      <p:sp>
        <p:nvSpPr>
          <p:cNvPr id="10" name="Shape 7"/>
          <p:cNvSpPr/>
          <p:nvPr/>
        </p:nvSpPr>
        <p:spPr>
          <a:xfrm>
            <a:off x="2212848" y="3131820"/>
            <a:ext cx="672084" cy="594360"/>
          </a:xfrm>
          <a:prstGeom prst="line">
            <a:avLst/>
          </a:prstGeom>
          <a:noFill/>
          <a:ln w="19050">
            <a:solidFill>
              <a:srgbClr val="9A9AB5"/>
            </a:solidFill>
            <a:prstDash val="solid"/>
          </a:ln>
        </p:spPr>
      </p:sp>
      <p:sp>
        <p:nvSpPr>
          <p:cNvPr id="11" name="Shape 8"/>
          <p:cNvSpPr/>
          <p:nvPr/>
        </p:nvSpPr>
        <p:spPr>
          <a:xfrm flipH="1">
            <a:off x="4229100" y="3131820"/>
            <a:ext cx="672084" cy="594360"/>
          </a:xfrm>
          <a:prstGeom prst="line">
            <a:avLst/>
          </a:prstGeom>
          <a:noFill/>
          <a:ln w="19050">
            <a:solidFill>
              <a:srgbClr val="9A9AB5"/>
            </a:solidFill>
            <a:prstDash val="solid"/>
          </a:ln>
        </p:spPr>
      </p:sp>
      <p:sp>
        <p:nvSpPr>
          <p:cNvPr id="12" name="Shape 9"/>
          <p:cNvSpPr/>
          <p:nvPr/>
        </p:nvSpPr>
        <p:spPr>
          <a:xfrm>
            <a:off x="4901184" y="3131820"/>
            <a:ext cx="672084" cy="594360"/>
          </a:xfrm>
          <a:prstGeom prst="line">
            <a:avLst/>
          </a:prstGeom>
          <a:noFill/>
          <a:ln w="19050">
            <a:solidFill>
              <a:srgbClr val="9A9AB5"/>
            </a:solidFill>
            <a:prstDash val="solid"/>
          </a:ln>
        </p:spPr>
      </p:sp>
      <p:sp>
        <p:nvSpPr>
          <p:cNvPr id="13" name="Shape 10"/>
          <p:cNvSpPr/>
          <p:nvPr/>
        </p:nvSpPr>
        <p:spPr>
          <a:xfrm flipH="1">
            <a:off x="2436876" y="4137660"/>
            <a:ext cx="448056" cy="594360"/>
          </a:xfrm>
          <a:prstGeom prst="line">
            <a:avLst/>
          </a:prstGeom>
          <a:noFill/>
          <a:ln w="19050">
            <a:solidFill>
              <a:srgbClr val="9A9AB5"/>
            </a:solidFill>
            <a:prstDash val="solid"/>
          </a:ln>
        </p:spPr>
      </p:sp>
      <p:sp>
        <p:nvSpPr>
          <p:cNvPr id="14" name="Text 11"/>
          <p:cNvSpPr/>
          <p:nvPr/>
        </p:nvSpPr>
        <p:spPr>
          <a:xfrm>
            <a:off x="3214116" y="1714500"/>
            <a:ext cx="68580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50</a:t>
            </a:r>
            <a:endParaRPr lang="en-US" sz="1500" dirty="0"/>
          </a:p>
        </p:txBody>
      </p:sp>
      <p:sp>
        <p:nvSpPr>
          <p:cNvPr id="15" name="Text 12"/>
          <p:cNvSpPr/>
          <p:nvPr/>
        </p:nvSpPr>
        <p:spPr>
          <a:xfrm>
            <a:off x="3031236" y="1509674"/>
            <a:ext cx="292608" cy="292608"/>
          </a:xfrm>
          <a:prstGeom prst="ellipse">
            <a:avLst/>
          </a:prstGeom>
          <a:solidFill>
            <a:srgbClr val="1F8A8A"/>
          </a:solidFill>
          <a:ln w="12700">
            <a:solidFill>
              <a:srgbClr val="FFFFFF"/>
            </a:solidFill>
          </a:ln>
        </p:spPr>
        <p:txBody>
          <a:bodyPr wrap="square" lIns="0" tIns="0" rIns="0" bIns="0" rtlCol="0" anchor="ctr"/>
          <a:lstStyle/>
          <a:p>
            <a:pPr algn="ctr" indent="0" marL="0">
              <a:buNone/>
            </a:pPr>
            <a:r>
              <a:rPr lang="en-US" sz="1100" b="1" dirty="0">
                <a:solidFill>
                  <a:srgbClr val="FFFFFF"/>
                </a:solidFill>
                <a:latin typeface="Quicksand" pitchFamily="34" charset="0"/>
                <a:ea typeface="Quicksand" pitchFamily="34" charset="-122"/>
                <a:cs typeface="Quicksand" pitchFamily="34" charset="-120"/>
              </a:rPr>
              <a:t>1</a:t>
            </a:r>
            <a:endParaRPr lang="en-US" sz="1100" dirty="0"/>
          </a:p>
        </p:txBody>
      </p:sp>
      <p:sp>
        <p:nvSpPr>
          <p:cNvPr id="16" name="Text 13"/>
          <p:cNvSpPr/>
          <p:nvPr/>
        </p:nvSpPr>
        <p:spPr>
          <a:xfrm>
            <a:off x="3790188" y="1509674"/>
            <a:ext cx="292608" cy="292608"/>
          </a:xfrm>
          <a:prstGeom prst="ellipse">
            <a:avLst/>
          </a:prstGeom>
          <a:solidFill>
            <a:srgbClr val="8E4FB8"/>
          </a:solidFill>
          <a:ln w="12700">
            <a:solidFill>
              <a:srgbClr val="FFFFFF"/>
            </a:solidFill>
          </a:ln>
        </p:spPr>
        <p:txBody>
          <a:bodyPr wrap="square" lIns="0" tIns="0" rIns="0" bIns="0" rtlCol="0" anchor="ctr"/>
          <a:lstStyle/>
          <a:p>
            <a:pPr algn="ctr" indent="0" marL="0">
              <a:buNone/>
            </a:pPr>
            <a:r>
              <a:rPr lang="en-US" sz="1100" b="1" dirty="0">
                <a:solidFill>
                  <a:srgbClr val="FFFFFF"/>
                </a:solidFill>
                <a:latin typeface="Quicksand" pitchFamily="34" charset="0"/>
                <a:ea typeface="Quicksand" pitchFamily="34" charset="-122"/>
                <a:cs typeface="Quicksand" pitchFamily="34" charset="-120"/>
              </a:rPr>
              <a:t>8</a:t>
            </a:r>
            <a:endParaRPr lang="en-US" sz="1100" dirty="0"/>
          </a:p>
        </p:txBody>
      </p:sp>
      <p:sp>
        <p:nvSpPr>
          <p:cNvPr id="17" name="Text 14"/>
          <p:cNvSpPr/>
          <p:nvPr/>
        </p:nvSpPr>
        <p:spPr>
          <a:xfrm>
            <a:off x="1869948" y="2720340"/>
            <a:ext cx="68580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30</a:t>
            </a:r>
            <a:endParaRPr lang="en-US" sz="1500" dirty="0"/>
          </a:p>
        </p:txBody>
      </p:sp>
      <p:sp>
        <p:nvSpPr>
          <p:cNvPr id="18" name="Text 15"/>
          <p:cNvSpPr/>
          <p:nvPr/>
        </p:nvSpPr>
        <p:spPr>
          <a:xfrm>
            <a:off x="1687068" y="2515514"/>
            <a:ext cx="292608" cy="292608"/>
          </a:xfrm>
          <a:prstGeom prst="ellipse">
            <a:avLst/>
          </a:prstGeom>
          <a:solidFill>
            <a:srgbClr val="1F8A8A"/>
          </a:solidFill>
          <a:ln w="12700">
            <a:solidFill>
              <a:srgbClr val="FFFFFF"/>
            </a:solidFill>
          </a:ln>
        </p:spPr>
        <p:txBody>
          <a:bodyPr wrap="square" lIns="0" tIns="0" rIns="0" bIns="0" rtlCol="0" anchor="ctr"/>
          <a:lstStyle/>
          <a:p>
            <a:pPr algn="ctr" indent="0" marL="0">
              <a:buNone/>
            </a:pPr>
            <a:r>
              <a:rPr lang="en-US" sz="1100" b="1" dirty="0">
                <a:solidFill>
                  <a:srgbClr val="FFFFFF"/>
                </a:solidFill>
                <a:latin typeface="Quicksand" pitchFamily="34" charset="0"/>
                <a:ea typeface="Quicksand" pitchFamily="34" charset="-122"/>
                <a:cs typeface="Quicksand" pitchFamily="34" charset="-120"/>
              </a:rPr>
              <a:t>2</a:t>
            </a:r>
            <a:endParaRPr lang="en-US" sz="1100" dirty="0"/>
          </a:p>
        </p:txBody>
      </p:sp>
      <p:sp>
        <p:nvSpPr>
          <p:cNvPr id="19" name="Text 16"/>
          <p:cNvSpPr/>
          <p:nvPr/>
        </p:nvSpPr>
        <p:spPr>
          <a:xfrm>
            <a:off x="2446020" y="2515514"/>
            <a:ext cx="292608" cy="292608"/>
          </a:xfrm>
          <a:prstGeom prst="ellipse">
            <a:avLst/>
          </a:prstGeom>
          <a:solidFill>
            <a:srgbClr val="8E4FB8"/>
          </a:solidFill>
          <a:ln w="12700">
            <a:solidFill>
              <a:srgbClr val="FFFFFF"/>
            </a:solidFill>
          </a:ln>
        </p:spPr>
        <p:txBody>
          <a:bodyPr wrap="square" lIns="0" tIns="0" rIns="0" bIns="0" rtlCol="0" anchor="ctr"/>
          <a:lstStyle/>
          <a:p>
            <a:pPr algn="ctr" indent="0" marL="0">
              <a:buNone/>
            </a:pPr>
            <a:r>
              <a:rPr lang="en-US" sz="1100" b="1" dirty="0">
                <a:solidFill>
                  <a:srgbClr val="FFFFFF"/>
                </a:solidFill>
                <a:latin typeface="Quicksand" pitchFamily="34" charset="0"/>
                <a:ea typeface="Quicksand" pitchFamily="34" charset="-122"/>
                <a:cs typeface="Quicksand" pitchFamily="34" charset="-120"/>
              </a:rPr>
              <a:t>4</a:t>
            </a:r>
            <a:endParaRPr lang="en-US" sz="1100" dirty="0"/>
          </a:p>
        </p:txBody>
      </p:sp>
      <p:sp>
        <p:nvSpPr>
          <p:cNvPr id="20" name="Text 17"/>
          <p:cNvSpPr/>
          <p:nvPr/>
        </p:nvSpPr>
        <p:spPr>
          <a:xfrm>
            <a:off x="4558284" y="2720340"/>
            <a:ext cx="68580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70</a:t>
            </a:r>
            <a:endParaRPr lang="en-US" sz="1500" dirty="0"/>
          </a:p>
        </p:txBody>
      </p:sp>
      <p:sp>
        <p:nvSpPr>
          <p:cNvPr id="21" name="Text 18"/>
          <p:cNvSpPr/>
          <p:nvPr/>
        </p:nvSpPr>
        <p:spPr>
          <a:xfrm>
            <a:off x="4375404" y="2515514"/>
            <a:ext cx="292608" cy="292608"/>
          </a:xfrm>
          <a:prstGeom prst="ellipse">
            <a:avLst/>
          </a:prstGeom>
          <a:solidFill>
            <a:srgbClr val="1F8A8A"/>
          </a:solidFill>
          <a:ln w="12700">
            <a:solidFill>
              <a:srgbClr val="FFFFFF"/>
            </a:solidFill>
          </a:ln>
        </p:spPr>
        <p:txBody>
          <a:bodyPr wrap="square" lIns="0" tIns="0" rIns="0" bIns="0" rtlCol="0" anchor="ctr"/>
          <a:lstStyle/>
          <a:p>
            <a:pPr algn="ctr" indent="0" marL="0">
              <a:buNone/>
            </a:pPr>
            <a:r>
              <a:rPr lang="en-US" sz="1100" b="1" dirty="0">
                <a:solidFill>
                  <a:srgbClr val="FFFFFF"/>
                </a:solidFill>
                <a:latin typeface="Quicksand" pitchFamily="34" charset="0"/>
                <a:ea typeface="Quicksand" pitchFamily="34" charset="-122"/>
                <a:cs typeface="Quicksand" pitchFamily="34" charset="-120"/>
              </a:rPr>
              <a:t>6</a:t>
            </a:r>
            <a:endParaRPr lang="en-US" sz="1100" dirty="0"/>
          </a:p>
        </p:txBody>
      </p:sp>
      <p:sp>
        <p:nvSpPr>
          <p:cNvPr id="22" name="Text 19"/>
          <p:cNvSpPr/>
          <p:nvPr/>
        </p:nvSpPr>
        <p:spPr>
          <a:xfrm>
            <a:off x="5134356" y="2515514"/>
            <a:ext cx="292608" cy="292608"/>
          </a:xfrm>
          <a:prstGeom prst="ellipse">
            <a:avLst/>
          </a:prstGeom>
          <a:solidFill>
            <a:srgbClr val="8E4FB8"/>
          </a:solidFill>
          <a:ln w="12700">
            <a:solidFill>
              <a:srgbClr val="FFFFFF"/>
            </a:solidFill>
          </a:ln>
        </p:spPr>
        <p:txBody>
          <a:bodyPr wrap="square" lIns="0" tIns="0" rIns="0" bIns="0" rtlCol="0" anchor="ctr"/>
          <a:lstStyle/>
          <a:p>
            <a:pPr algn="ctr" indent="0" marL="0">
              <a:buNone/>
            </a:pPr>
            <a:r>
              <a:rPr lang="en-US" sz="1100" b="1" dirty="0">
                <a:solidFill>
                  <a:srgbClr val="FFFFFF"/>
                </a:solidFill>
                <a:latin typeface="Quicksand" pitchFamily="34" charset="0"/>
                <a:ea typeface="Quicksand" pitchFamily="34" charset="-122"/>
                <a:cs typeface="Quicksand" pitchFamily="34" charset="-120"/>
              </a:rPr>
              <a:t>7</a:t>
            </a:r>
            <a:endParaRPr lang="en-US" sz="1100" dirty="0"/>
          </a:p>
        </p:txBody>
      </p:sp>
      <p:sp>
        <p:nvSpPr>
          <p:cNvPr id="23" name="Text 20"/>
          <p:cNvSpPr/>
          <p:nvPr/>
        </p:nvSpPr>
        <p:spPr>
          <a:xfrm>
            <a:off x="1197864" y="3726180"/>
            <a:ext cx="68580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20</a:t>
            </a:r>
            <a:endParaRPr lang="en-US" sz="1500" dirty="0"/>
          </a:p>
        </p:txBody>
      </p:sp>
      <p:sp>
        <p:nvSpPr>
          <p:cNvPr id="24" name="Text 21"/>
          <p:cNvSpPr/>
          <p:nvPr/>
        </p:nvSpPr>
        <p:spPr>
          <a:xfrm>
            <a:off x="1014984" y="3521354"/>
            <a:ext cx="292608" cy="292608"/>
          </a:xfrm>
          <a:prstGeom prst="ellipse">
            <a:avLst/>
          </a:prstGeom>
          <a:solidFill>
            <a:srgbClr val="1F8A8A"/>
          </a:solidFill>
          <a:ln w="12700">
            <a:solidFill>
              <a:srgbClr val="FFFFFF"/>
            </a:solidFill>
          </a:ln>
        </p:spPr>
        <p:txBody>
          <a:bodyPr wrap="square" lIns="0" tIns="0" rIns="0" bIns="0" rtlCol="0" anchor="ctr"/>
          <a:lstStyle/>
          <a:p>
            <a:pPr algn="ctr" indent="0" marL="0">
              <a:buNone/>
            </a:pPr>
            <a:r>
              <a:rPr lang="en-US" sz="1100" b="1" dirty="0">
                <a:solidFill>
                  <a:srgbClr val="FFFFFF"/>
                </a:solidFill>
                <a:latin typeface="Quicksand" pitchFamily="34" charset="0"/>
                <a:ea typeface="Quicksand" pitchFamily="34" charset="-122"/>
                <a:cs typeface="Quicksand" pitchFamily="34" charset="-120"/>
              </a:rPr>
              <a:t>3</a:t>
            </a:r>
            <a:endParaRPr lang="en-US" sz="1100" dirty="0"/>
          </a:p>
        </p:txBody>
      </p:sp>
      <p:sp>
        <p:nvSpPr>
          <p:cNvPr id="25" name="Text 22"/>
          <p:cNvSpPr/>
          <p:nvPr/>
        </p:nvSpPr>
        <p:spPr>
          <a:xfrm>
            <a:off x="1773936" y="3521354"/>
            <a:ext cx="292608" cy="292608"/>
          </a:xfrm>
          <a:prstGeom prst="ellipse">
            <a:avLst/>
          </a:prstGeom>
          <a:solidFill>
            <a:srgbClr val="8E4FB8"/>
          </a:solidFill>
          <a:ln w="12700">
            <a:solidFill>
              <a:srgbClr val="FFFFFF"/>
            </a:solidFill>
          </a:ln>
        </p:spPr>
        <p:txBody>
          <a:bodyPr wrap="square" lIns="0" tIns="0" rIns="0" bIns="0" rtlCol="0" anchor="ctr"/>
          <a:lstStyle/>
          <a:p>
            <a:pPr algn="ctr" indent="0" marL="0">
              <a:buNone/>
            </a:pPr>
            <a:r>
              <a:rPr lang="en-US" sz="1100" b="1" dirty="0">
                <a:solidFill>
                  <a:srgbClr val="FFFFFF"/>
                </a:solidFill>
                <a:latin typeface="Quicksand" pitchFamily="34" charset="0"/>
                <a:ea typeface="Quicksand" pitchFamily="34" charset="-122"/>
                <a:cs typeface="Quicksand" pitchFamily="34" charset="-120"/>
              </a:rPr>
              <a:t>1</a:t>
            </a:r>
            <a:endParaRPr lang="en-US" sz="1100" dirty="0"/>
          </a:p>
        </p:txBody>
      </p:sp>
      <p:sp>
        <p:nvSpPr>
          <p:cNvPr id="26" name="Text 23"/>
          <p:cNvSpPr/>
          <p:nvPr/>
        </p:nvSpPr>
        <p:spPr>
          <a:xfrm>
            <a:off x="2542032" y="3726180"/>
            <a:ext cx="68580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40</a:t>
            </a:r>
            <a:endParaRPr lang="en-US" sz="1500" dirty="0"/>
          </a:p>
        </p:txBody>
      </p:sp>
      <p:sp>
        <p:nvSpPr>
          <p:cNvPr id="27" name="Text 24"/>
          <p:cNvSpPr/>
          <p:nvPr/>
        </p:nvSpPr>
        <p:spPr>
          <a:xfrm>
            <a:off x="2359152" y="3521354"/>
            <a:ext cx="292608" cy="292608"/>
          </a:xfrm>
          <a:prstGeom prst="ellipse">
            <a:avLst/>
          </a:prstGeom>
          <a:solidFill>
            <a:srgbClr val="1F8A8A"/>
          </a:solidFill>
          <a:ln w="12700">
            <a:solidFill>
              <a:srgbClr val="FFFFFF"/>
            </a:solidFill>
          </a:ln>
        </p:spPr>
        <p:txBody>
          <a:bodyPr wrap="square" lIns="0" tIns="0" rIns="0" bIns="0" rtlCol="0" anchor="ctr"/>
          <a:lstStyle/>
          <a:p>
            <a:pPr algn="ctr" indent="0" marL="0">
              <a:buNone/>
            </a:pPr>
            <a:r>
              <a:rPr lang="en-US" sz="1100" b="1" dirty="0">
                <a:solidFill>
                  <a:srgbClr val="FFFFFF"/>
                </a:solidFill>
                <a:latin typeface="Quicksand" pitchFamily="34" charset="0"/>
                <a:ea typeface="Quicksand" pitchFamily="34" charset="-122"/>
                <a:cs typeface="Quicksand" pitchFamily="34" charset="-120"/>
              </a:rPr>
              <a:t>4</a:t>
            </a:r>
            <a:endParaRPr lang="en-US" sz="1100" dirty="0"/>
          </a:p>
        </p:txBody>
      </p:sp>
      <p:sp>
        <p:nvSpPr>
          <p:cNvPr id="28" name="Text 25"/>
          <p:cNvSpPr/>
          <p:nvPr/>
        </p:nvSpPr>
        <p:spPr>
          <a:xfrm>
            <a:off x="3118104" y="3521354"/>
            <a:ext cx="292608" cy="292608"/>
          </a:xfrm>
          <a:prstGeom prst="ellipse">
            <a:avLst/>
          </a:prstGeom>
          <a:solidFill>
            <a:srgbClr val="8E4FB8"/>
          </a:solidFill>
          <a:ln w="12700">
            <a:solidFill>
              <a:srgbClr val="FFFFFF"/>
            </a:solidFill>
          </a:ln>
        </p:spPr>
        <p:txBody>
          <a:bodyPr wrap="square" lIns="0" tIns="0" rIns="0" bIns="0" rtlCol="0" anchor="ctr"/>
          <a:lstStyle/>
          <a:p>
            <a:pPr algn="ctr" indent="0" marL="0">
              <a:buNone/>
            </a:pPr>
            <a:r>
              <a:rPr lang="en-US" sz="1100" b="1" dirty="0">
                <a:solidFill>
                  <a:srgbClr val="FFFFFF"/>
                </a:solidFill>
                <a:latin typeface="Quicksand" pitchFamily="34" charset="0"/>
                <a:ea typeface="Quicksand" pitchFamily="34" charset="-122"/>
                <a:cs typeface="Quicksand" pitchFamily="34" charset="-120"/>
              </a:rPr>
              <a:t>3</a:t>
            </a:r>
            <a:endParaRPr lang="en-US" sz="1100" dirty="0"/>
          </a:p>
        </p:txBody>
      </p:sp>
      <p:sp>
        <p:nvSpPr>
          <p:cNvPr id="29" name="Text 26"/>
          <p:cNvSpPr/>
          <p:nvPr/>
        </p:nvSpPr>
        <p:spPr>
          <a:xfrm>
            <a:off x="3886200" y="3726180"/>
            <a:ext cx="68580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60</a:t>
            </a:r>
            <a:endParaRPr lang="en-US" sz="1500" dirty="0"/>
          </a:p>
        </p:txBody>
      </p:sp>
      <p:sp>
        <p:nvSpPr>
          <p:cNvPr id="30" name="Text 27"/>
          <p:cNvSpPr/>
          <p:nvPr/>
        </p:nvSpPr>
        <p:spPr>
          <a:xfrm>
            <a:off x="3703320" y="3521354"/>
            <a:ext cx="292608" cy="292608"/>
          </a:xfrm>
          <a:prstGeom prst="ellipse">
            <a:avLst/>
          </a:prstGeom>
          <a:solidFill>
            <a:srgbClr val="1F8A8A"/>
          </a:solidFill>
          <a:ln w="12700">
            <a:solidFill>
              <a:srgbClr val="FFFFFF"/>
            </a:solidFill>
          </a:ln>
        </p:spPr>
        <p:txBody>
          <a:bodyPr wrap="square" lIns="0" tIns="0" rIns="0" bIns="0" rtlCol="0" anchor="ctr"/>
          <a:lstStyle/>
          <a:p>
            <a:pPr algn="ctr" indent="0" marL="0">
              <a:buNone/>
            </a:pPr>
            <a:r>
              <a:rPr lang="en-US" sz="1100" b="1" dirty="0">
                <a:solidFill>
                  <a:srgbClr val="FFFFFF"/>
                </a:solidFill>
                <a:latin typeface="Quicksand" pitchFamily="34" charset="0"/>
                <a:ea typeface="Quicksand" pitchFamily="34" charset="-122"/>
                <a:cs typeface="Quicksand" pitchFamily="34" charset="-120"/>
              </a:rPr>
              <a:t>7</a:t>
            </a:r>
            <a:endParaRPr lang="en-US" sz="1100" dirty="0"/>
          </a:p>
        </p:txBody>
      </p:sp>
      <p:sp>
        <p:nvSpPr>
          <p:cNvPr id="31" name="Text 28"/>
          <p:cNvSpPr/>
          <p:nvPr/>
        </p:nvSpPr>
        <p:spPr>
          <a:xfrm>
            <a:off x="4462272" y="3521354"/>
            <a:ext cx="292608" cy="292608"/>
          </a:xfrm>
          <a:prstGeom prst="ellipse">
            <a:avLst/>
          </a:prstGeom>
          <a:solidFill>
            <a:srgbClr val="8E4FB8"/>
          </a:solidFill>
          <a:ln w="12700">
            <a:solidFill>
              <a:srgbClr val="FFFFFF"/>
            </a:solidFill>
          </a:ln>
        </p:spPr>
        <p:txBody>
          <a:bodyPr wrap="square" lIns="0" tIns="0" rIns="0" bIns="0" rtlCol="0" anchor="ctr"/>
          <a:lstStyle/>
          <a:p>
            <a:pPr algn="ctr" indent="0" marL="0">
              <a:buNone/>
            </a:pPr>
            <a:r>
              <a:rPr lang="en-US" sz="1100" b="1" dirty="0">
                <a:solidFill>
                  <a:srgbClr val="FFFFFF"/>
                </a:solidFill>
                <a:latin typeface="Quicksand" pitchFamily="34" charset="0"/>
                <a:ea typeface="Quicksand" pitchFamily="34" charset="-122"/>
                <a:cs typeface="Quicksand" pitchFamily="34" charset="-120"/>
              </a:rPr>
              <a:t>5</a:t>
            </a:r>
            <a:endParaRPr lang="en-US" sz="1100" dirty="0"/>
          </a:p>
        </p:txBody>
      </p:sp>
      <p:sp>
        <p:nvSpPr>
          <p:cNvPr id="32" name="Text 29"/>
          <p:cNvSpPr/>
          <p:nvPr/>
        </p:nvSpPr>
        <p:spPr>
          <a:xfrm>
            <a:off x="5230368" y="3726180"/>
            <a:ext cx="68580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80</a:t>
            </a:r>
            <a:endParaRPr lang="en-US" sz="1500" dirty="0"/>
          </a:p>
        </p:txBody>
      </p:sp>
      <p:sp>
        <p:nvSpPr>
          <p:cNvPr id="33" name="Text 30"/>
          <p:cNvSpPr/>
          <p:nvPr/>
        </p:nvSpPr>
        <p:spPr>
          <a:xfrm>
            <a:off x="5047488" y="3521354"/>
            <a:ext cx="292608" cy="292608"/>
          </a:xfrm>
          <a:prstGeom prst="ellipse">
            <a:avLst/>
          </a:prstGeom>
          <a:solidFill>
            <a:srgbClr val="1F8A8A"/>
          </a:solidFill>
          <a:ln w="12700">
            <a:solidFill>
              <a:srgbClr val="FFFFFF"/>
            </a:solidFill>
          </a:ln>
        </p:spPr>
        <p:txBody>
          <a:bodyPr wrap="square" lIns="0" tIns="0" rIns="0" bIns="0" rtlCol="0" anchor="ctr"/>
          <a:lstStyle/>
          <a:p>
            <a:pPr algn="ctr" indent="0" marL="0">
              <a:buNone/>
            </a:pPr>
            <a:r>
              <a:rPr lang="en-US" sz="1100" b="1" dirty="0">
                <a:solidFill>
                  <a:srgbClr val="FFFFFF"/>
                </a:solidFill>
                <a:latin typeface="Quicksand" pitchFamily="34" charset="0"/>
                <a:ea typeface="Quicksand" pitchFamily="34" charset="-122"/>
                <a:cs typeface="Quicksand" pitchFamily="34" charset="-120"/>
              </a:rPr>
              <a:t>8</a:t>
            </a:r>
            <a:endParaRPr lang="en-US" sz="1100" dirty="0"/>
          </a:p>
        </p:txBody>
      </p:sp>
      <p:sp>
        <p:nvSpPr>
          <p:cNvPr id="34" name="Text 31"/>
          <p:cNvSpPr/>
          <p:nvPr/>
        </p:nvSpPr>
        <p:spPr>
          <a:xfrm>
            <a:off x="5806440" y="3521354"/>
            <a:ext cx="292608" cy="292608"/>
          </a:xfrm>
          <a:prstGeom prst="ellipse">
            <a:avLst/>
          </a:prstGeom>
          <a:solidFill>
            <a:srgbClr val="8E4FB8"/>
          </a:solidFill>
          <a:ln w="12700">
            <a:solidFill>
              <a:srgbClr val="FFFFFF"/>
            </a:solidFill>
          </a:ln>
        </p:spPr>
        <p:txBody>
          <a:bodyPr wrap="square" lIns="0" tIns="0" rIns="0" bIns="0" rtlCol="0" anchor="ctr"/>
          <a:lstStyle/>
          <a:p>
            <a:pPr algn="ctr" indent="0" marL="0">
              <a:buNone/>
            </a:pPr>
            <a:r>
              <a:rPr lang="en-US" sz="1100" b="1" dirty="0">
                <a:solidFill>
                  <a:srgbClr val="FFFFFF"/>
                </a:solidFill>
                <a:latin typeface="Quicksand" pitchFamily="34" charset="0"/>
                <a:ea typeface="Quicksand" pitchFamily="34" charset="-122"/>
                <a:cs typeface="Quicksand" pitchFamily="34" charset="-120"/>
              </a:rPr>
              <a:t>6</a:t>
            </a:r>
            <a:endParaRPr lang="en-US" sz="1100" dirty="0"/>
          </a:p>
        </p:txBody>
      </p:sp>
      <p:sp>
        <p:nvSpPr>
          <p:cNvPr id="35" name="Text 32"/>
          <p:cNvSpPr/>
          <p:nvPr/>
        </p:nvSpPr>
        <p:spPr>
          <a:xfrm>
            <a:off x="2093976" y="4732020"/>
            <a:ext cx="68580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35</a:t>
            </a:r>
            <a:endParaRPr lang="en-US" sz="1500" dirty="0"/>
          </a:p>
        </p:txBody>
      </p:sp>
      <p:sp>
        <p:nvSpPr>
          <p:cNvPr id="36" name="Text 33"/>
          <p:cNvSpPr/>
          <p:nvPr/>
        </p:nvSpPr>
        <p:spPr>
          <a:xfrm>
            <a:off x="1911096" y="4527194"/>
            <a:ext cx="292608" cy="292608"/>
          </a:xfrm>
          <a:prstGeom prst="ellipse">
            <a:avLst/>
          </a:prstGeom>
          <a:solidFill>
            <a:srgbClr val="1F8A8A"/>
          </a:solidFill>
          <a:ln w="12700">
            <a:solidFill>
              <a:srgbClr val="FFFFFF"/>
            </a:solidFill>
          </a:ln>
        </p:spPr>
        <p:txBody>
          <a:bodyPr wrap="square" lIns="0" tIns="0" rIns="0" bIns="0" rtlCol="0" anchor="ctr"/>
          <a:lstStyle/>
          <a:p>
            <a:pPr algn="ctr" indent="0" marL="0">
              <a:buNone/>
            </a:pPr>
            <a:r>
              <a:rPr lang="en-US" sz="1100" b="1" dirty="0">
                <a:solidFill>
                  <a:srgbClr val="FFFFFF"/>
                </a:solidFill>
                <a:latin typeface="Quicksand" pitchFamily="34" charset="0"/>
                <a:ea typeface="Quicksand" pitchFamily="34" charset="-122"/>
                <a:cs typeface="Quicksand" pitchFamily="34" charset="-120"/>
              </a:rPr>
              <a:t>5</a:t>
            </a:r>
            <a:endParaRPr lang="en-US" sz="1100" dirty="0"/>
          </a:p>
        </p:txBody>
      </p:sp>
      <p:sp>
        <p:nvSpPr>
          <p:cNvPr id="37" name="Text 34"/>
          <p:cNvSpPr/>
          <p:nvPr/>
        </p:nvSpPr>
        <p:spPr>
          <a:xfrm>
            <a:off x="2670048" y="4527194"/>
            <a:ext cx="292608" cy="292608"/>
          </a:xfrm>
          <a:prstGeom prst="ellipse">
            <a:avLst/>
          </a:prstGeom>
          <a:solidFill>
            <a:srgbClr val="8E4FB8"/>
          </a:solidFill>
          <a:ln w="12700">
            <a:solidFill>
              <a:srgbClr val="FFFFFF"/>
            </a:solidFill>
          </a:ln>
        </p:spPr>
        <p:txBody>
          <a:bodyPr wrap="square" lIns="0" tIns="0" rIns="0" bIns="0" rtlCol="0" anchor="ctr"/>
          <a:lstStyle/>
          <a:p>
            <a:pPr algn="ctr" indent="0" marL="0">
              <a:buNone/>
            </a:pPr>
            <a:r>
              <a:rPr lang="en-US" sz="1100" b="1" dirty="0">
                <a:solidFill>
                  <a:srgbClr val="FFFFFF"/>
                </a:solidFill>
                <a:latin typeface="Quicksand" pitchFamily="34" charset="0"/>
                <a:ea typeface="Quicksand" pitchFamily="34" charset="-122"/>
                <a:cs typeface="Quicksand" pitchFamily="34" charset="-120"/>
              </a:rPr>
              <a:t>2</a:t>
            </a:r>
            <a:endParaRPr lang="en-US" sz="1100" dirty="0"/>
          </a:p>
        </p:txBody>
      </p:sp>
      <p:sp>
        <p:nvSpPr>
          <p:cNvPr id="38" name="Shape 35"/>
          <p:cNvSpPr/>
          <p:nvPr/>
        </p:nvSpPr>
        <p:spPr>
          <a:xfrm>
            <a:off x="6675120" y="1417320"/>
            <a:ext cx="310896" cy="310896"/>
          </a:xfrm>
          <a:prstGeom prst="ellipse">
            <a:avLst/>
          </a:prstGeom>
          <a:solidFill>
            <a:srgbClr val="1F8A8A"/>
          </a:solidFill>
          <a:ln/>
        </p:spPr>
      </p:sp>
      <p:sp>
        <p:nvSpPr>
          <p:cNvPr id="39" name="Text 36"/>
          <p:cNvSpPr txBox="1"/>
          <p:nvPr/>
        </p:nvSpPr>
        <p:spPr>
          <a:xfrm>
            <a:off x="7132320" y="1371600"/>
            <a:ext cx="4389120" cy="402336"/>
          </a:xfrm>
          <a:prstGeom prst="rect">
            <a:avLst/>
          </a:prstGeom>
          <a:noFill/>
          <a:ln/>
        </p:spPr>
        <p:txBody>
          <a:bodyPr wrap="square" lIns="0" tIns="0" rIns="0" bIns="0" rtlCol="0" anchor="ctr"/>
          <a:lstStyle/>
          <a:p>
            <a:pPr indent="0" marL="0">
              <a:buNone/>
            </a:pPr>
            <a:r>
              <a:rPr lang="en-US" sz="1600" b="1" dirty="0">
                <a:solidFill>
                  <a:srgbClr val="1F8A8A"/>
                </a:solidFill>
                <a:latin typeface="Quicksand" pitchFamily="34" charset="0"/>
                <a:ea typeface="Quicksand" pitchFamily="34" charset="-122"/>
                <a:cs typeface="Quicksand" pitchFamily="34" charset="-120"/>
              </a:rPr>
              <a:t>Order the calls START</a:t>
            </a:r>
            <a:endParaRPr lang="en-US" sz="1600" dirty="0"/>
          </a:p>
        </p:txBody>
      </p:sp>
      <p:sp>
        <p:nvSpPr>
          <p:cNvPr id="40" name="Text 37"/>
          <p:cNvSpPr txBox="1"/>
          <p:nvPr/>
        </p:nvSpPr>
        <p:spPr>
          <a:xfrm>
            <a:off x="6675120" y="1874520"/>
            <a:ext cx="4846320" cy="320040"/>
          </a:xfrm>
          <a:prstGeom prst="rect">
            <a:avLst/>
          </a:prstGeom>
          <a:noFill/>
          <a:ln/>
        </p:spPr>
        <p:txBody>
          <a:bodyPr wrap="square" lIns="0" tIns="0" rIns="0" bIns="0" rtlCol="0" anchor="ctr"/>
          <a:lstStyle/>
          <a:p>
            <a:pPr indent="0" marL="0">
              <a:buNone/>
            </a:pPr>
            <a:r>
              <a:rPr lang="en-US" sz="1300" dirty="0">
                <a:solidFill>
                  <a:srgbClr val="202124"/>
                </a:solidFill>
                <a:latin typeface="Quicksand" pitchFamily="34" charset="0"/>
                <a:ea typeface="Quicksand" pitchFamily="34" charset="-122"/>
                <a:cs typeface="Quicksand" pitchFamily="34" charset="-120"/>
              </a:rPr>
              <a:t>Pre-order prints as a call starts:</a:t>
            </a:r>
            <a:endParaRPr lang="en-US" sz="1300" dirty="0"/>
          </a:p>
        </p:txBody>
      </p:sp>
      <p:sp>
        <p:nvSpPr>
          <p:cNvPr id="41" name="Text 38"/>
          <p:cNvSpPr/>
          <p:nvPr/>
        </p:nvSpPr>
        <p:spPr>
          <a:xfrm>
            <a:off x="6675120" y="2240280"/>
            <a:ext cx="512064" cy="365760"/>
          </a:xfrm>
          <a:prstGeom prst="roundRect">
            <a:avLst>
              <a:gd name="adj" fmla="val 15000"/>
            </a:avLst>
          </a:prstGeom>
          <a:solidFill>
            <a:srgbClr val="FFFFFF"/>
          </a:solidFill>
          <a:ln w="15875">
            <a:solidFill>
              <a:srgbClr val="1F8A8A"/>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50</a:t>
            </a:r>
            <a:endParaRPr lang="en-US" sz="1300" dirty="0"/>
          </a:p>
        </p:txBody>
      </p:sp>
      <p:sp>
        <p:nvSpPr>
          <p:cNvPr id="42" name="Text 39"/>
          <p:cNvSpPr/>
          <p:nvPr/>
        </p:nvSpPr>
        <p:spPr>
          <a:xfrm>
            <a:off x="7278624" y="2240280"/>
            <a:ext cx="512064" cy="365760"/>
          </a:xfrm>
          <a:prstGeom prst="roundRect">
            <a:avLst>
              <a:gd name="adj" fmla="val 15000"/>
            </a:avLst>
          </a:prstGeom>
          <a:solidFill>
            <a:srgbClr val="FFFFFF"/>
          </a:solidFill>
          <a:ln w="15875">
            <a:solidFill>
              <a:srgbClr val="1F8A8A"/>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30</a:t>
            </a:r>
            <a:endParaRPr lang="en-US" sz="1300" dirty="0"/>
          </a:p>
        </p:txBody>
      </p:sp>
      <p:sp>
        <p:nvSpPr>
          <p:cNvPr id="43" name="Text 40"/>
          <p:cNvSpPr/>
          <p:nvPr/>
        </p:nvSpPr>
        <p:spPr>
          <a:xfrm>
            <a:off x="7882128" y="2240280"/>
            <a:ext cx="512064" cy="365760"/>
          </a:xfrm>
          <a:prstGeom prst="roundRect">
            <a:avLst>
              <a:gd name="adj" fmla="val 15000"/>
            </a:avLst>
          </a:prstGeom>
          <a:solidFill>
            <a:srgbClr val="FFFFFF"/>
          </a:solidFill>
          <a:ln w="15875">
            <a:solidFill>
              <a:srgbClr val="1F8A8A"/>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20</a:t>
            </a:r>
            <a:endParaRPr lang="en-US" sz="1300" dirty="0"/>
          </a:p>
        </p:txBody>
      </p:sp>
      <p:sp>
        <p:nvSpPr>
          <p:cNvPr id="44" name="Text 41"/>
          <p:cNvSpPr/>
          <p:nvPr/>
        </p:nvSpPr>
        <p:spPr>
          <a:xfrm>
            <a:off x="8485632" y="2240280"/>
            <a:ext cx="512064" cy="365760"/>
          </a:xfrm>
          <a:prstGeom prst="roundRect">
            <a:avLst>
              <a:gd name="adj" fmla="val 15000"/>
            </a:avLst>
          </a:prstGeom>
          <a:solidFill>
            <a:srgbClr val="FFFFFF"/>
          </a:solidFill>
          <a:ln w="15875">
            <a:solidFill>
              <a:srgbClr val="1F8A8A"/>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40</a:t>
            </a:r>
            <a:endParaRPr lang="en-US" sz="1300" dirty="0"/>
          </a:p>
        </p:txBody>
      </p:sp>
      <p:sp>
        <p:nvSpPr>
          <p:cNvPr id="45" name="Text 42"/>
          <p:cNvSpPr/>
          <p:nvPr/>
        </p:nvSpPr>
        <p:spPr>
          <a:xfrm>
            <a:off x="9089136" y="2240280"/>
            <a:ext cx="512064" cy="365760"/>
          </a:xfrm>
          <a:prstGeom prst="roundRect">
            <a:avLst>
              <a:gd name="adj" fmla="val 15000"/>
            </a:avLst>
          </a:prstGeom>
          <a:solidFill>
            <a:srgbClr val="FFFFFF"/>
          </a:solidFill>
          <a:ln w="15875">
            <a:solidFill>
              <a:srgbClr val="1F8A8A"/>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35</a:t>
            </a:r>
            <a:endParaRPr lang="en-US" sz="1300" dirty="0"/>
          </a:p>
        </p:txBody>
      </p:sp>
      <p:sp>
        <p:nvSpPr>
          <p:cNvPr id="46" name="Text 43"/>
          <p:cNvSpPr/>
          <p:nvPr/>
        </p:nvSpPr>
        <p:spPr>
          <a:xfrm>
            <a:off x="9692640" y="2240280"/>
            <a:ext cx="512064" cy="365760"/>
          </a:xfrm>
          <a:prstGeom prst="roundRect">
            <a:avLst>
              <a:gd name="adj" fmla="val 15000"/>
            </a:avLst>
          </a:prstGeom>
          <a:solidFill>
            <a:srgbClr val="FFFFFF"/>
          </a:solidFill>
          <a:ln w="15875">
            <a:solidFill>
              <a:srgbClr val="1F8A8A"/>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70</a:t>
            </a:r>
            <a:endParaRPr lang="en-US" sz="1300" dirty="0"/>
          </a:p>
        </p:txBody>
      </p:sp>
      <p:sp>
        <p:nvSpPr>
          <p:cNvPr id="47" name="Text 44"/>
          <p:cNvSpPr/>
          <p:nvPr/>
        </p:nvSpPr>
        <p:spPr>
          <a:xfrm>
            <a:off x="10296144" y="2240280"/>
            <a:ext cx="512064" cy="365760"/>
          </a:xfrm>
          <a:prstGeom prst="roundRect">
            <a:avLst>
              <a:gd name="adj" fmla="val 15000"/>
            </a:avLst>
          </a:prstGeom>
          <a:solidFill>
            <a:srgbClr val="FFFFFF"/>
          </a:solidFill>
          <a:ln w="15875">
            <a:solidFill>
              <a:srgbClr val="1F8A8A"/>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60</a:t>
            </a:r>
            <a:endParaRPr lang="en-US" sz="1300" dirty="0"/>
          </a:p>
        </p:txBody>
      </p:sp>
      <p:sp>
        <p:nvSpPr>
          <p:cNvPr id="48" name="Text 45"/>
          <p:cNvSpPr/>
          <p:nvPr/>
        </p:nvSpPr>
        <p:spPr>
          <a:xfrm>
            <a:off x="10899648" y="2240280"/>
            <a:ext cx="512064" cy="365760"/>
          </a:xfrm>
          <a:prstGeom prst="roundRect">
            <a:avLst>
              <a:gd name="adj" fmla="val 15000"/>
            </a:avLst>
          </a:prstGeom>
          <a:solidFill>
            <a:srgbClr val="FFFFFF"/>
          </a:solidFill>
          <a:ln w="15875">
            <a:solidFill>
              <a:srgbClr val="1F8A8A"/>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80</a:t>
            </a:r>
            <a:endParaRPr lang="en-US" sz="1300" dirty="0"/>
          </a:p>
        </p:txBody>
      </p:sp>
      <p:sp>
        <p:nvSpPr>
          <p:cNvPr id="49" name="Shape 46"/>
          <p:cNvSpPr/>
          <p:nvPr/>
        </p:nvSpPr>
        <p:spPr>
          <a:xfrm>
            <a:off x="6675120" y="3063240"/>
            <a:ext cx="310896" cy="310896"/>
          </a:xfrm>
          <a:prstGeom prst="ellipse">
            <a:avLst/>
          </a:prstGeom>
          <a:solidFill>
            <a:srgbClr val="8E4FB8"/>
          </a:solidFill>
          <a:ln/>
        </p:spPr>
      </p:sp>
      <p:sp>
        <p:nvSpPr>
          <p:cNvPr id="50" name="Text 47"/>
          <p:cNvSpPr txBox="1"/>
          <p:nvPr/>
        </p:nvSpPr>
        <p:spPr>
          <a:xfrm>
            <a:off x="7132320" y="3017520"/>
            <a:ext cx="4389120" cy="402336"/>
          </a:xfrm>
          <a:prstGeom prst="rect">
            <a:avLst/>
          </a:prstGeom>
          <a:noFill/>
          <a:ln/>
        </p:spPr>
        <p:txBody>
          <a:bodyPr wrap="square" lIns="0" tIns="0" rIns="0" bIns="0" rtlCol="0" anchor="ctr"/>
          <a:lstStyle/>
          <a:p>
            <a:pPr indent="0" marL="0">
              <a:buNone/>
            </a:pPr>
            <a:r>
              <a:rPr lang="en-US" sz="1600" b="1" dirty="0">
                <a:solidFill>
                  <a:srgbClr val="8E4FB8"/>
                </a:solidFill>
                <a:latin typeface="Quicksand" pitchFamily="34" charset="0"/>
                <a:ea typeface="Quicksand" pitchFamily="34" charset="-122"/>
                <a:cs typeface="Quicksand" pitchFamily="34" charset="-120"/>
              </a:rPr>
              <a:t>Order the calls FINISH</a:t>
            </a:r>
            <a:endParaRPr lang="en-US" sz="1600" dirty="0"/>
          </a:p>
        </p:txBody>
      </p:sp>
      <p:sp>
        <p:nvSpPr>
          <p:cNvPr id="51" name="Text 48"/>
          <p:cNvSpPr txBox="1"/>
          <p:nvPr/>
        </p:nvSpPr>
        <p:spPr>
          <a:xfrm>
            <a:off x="6675120" y="3520440"/>
            <a:ext cx="4846320" cy="320040"/>
          </a:xfrm>
          <a:prstGeom prst="rect">
            <a:avLst/>
          </a:prstGeom>
          <a:noFill/>
          <a:ln/>
        </p:spPr>
        <p:txBody>
          <a:bodyPr wrap="square" lIns="0" tIns="0" rIns="0" bIns="0" rtlCol="0" anchor="ctr"/>
          <a:lstStyle/>
          <a:p>
            <a:pPr indent="0" marL="0">
              <a:buNone/>
            </a:pPr>
            <a:r>
              <a:rPr lang="en-US" sz="1300" dirty="0">
                <a:solidFill>
                  <a:srgbClr val="202124"/>
                </a:solidFill>
                <a:latin typeface="Quicksand" pitchFamily="34" charset="0"/>
                <a:ea typeface="Quicksand" pitchFamily="34" charset="-122"/>
                <a:cs typeface="Quicksand" pitchFamily="34" charset="-120"/>
              </a:rPr>
              <a:t>Post-order prints as a call finishes:</a:t>
            </a:r>
            <a:endParaRPr lang="en-US" sz="1300" dirty="0"/>
          </a:p>
        </p:txBody>
      </p:sp>
      <p:sp>
        <p:nvSpPr>
          <p:cNvPr id="52" name="Text 49"/>
          <p:cNvSpPr/>
          <p:nvPr/>
        </p:nvSpPr>
        <p:spPr>
          <a:xfrm>
            <a:off x="6675120" y="3886200"/>
            <a:ext cx="512064" cy="365760"/>
          </a:xfrm>
          <a:prstGeom prst="roundRect">
            <a:avLst>
              <a:gd name="adj" fmla="val 15000"/>
            </a:avLst>
          </a:prstGeom>
          <a:solidFill>
            <a:srgbClr val="FFFFFF"/>
          </a:solidFill>
          <a:ln w="15875">
            <a:solidFill>
              <a:srgbClr val="8E4FB8"/>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20</a:t>
            </a:r>
            <a:endParaRPr lang="en-US" sz="1300" dirty="0"/>
          </a:p>
        </p:txBody>
      </p:sp>
      <p:sp>
        <p:nvSpPr>
          <p:cNvPr id="53" name="Text 50"/>
          <p:cNvSpPr/>
          <p:nvPr/>
        </p:nvSpPr>
        <p:spPr>
          <a:xfrm>
            <a:off x="7278624" y="3886200"/>
            <a:ext cx="512064" cy="365760"/>
          </a:xfrm>
          <a:prstGeom prst="roundRect">
            <a:avLst>
              <a:gd name="adj" fmla="val 15000"/>
            </a:avLst>
          </a:prstGeom>
          <a:solidFill>
            <a:srgbClr val="FFFFFF"/>
          </a:solidFill>
          <a:ln w="15875">
            <a:solidFill>
              <a:srgbClr val="8E4FB8"/>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35</a:t>
            </a:r>
            <a:endParaRPr lang="en-US" sz="1300" dirty="0"/>
          </a:p>
        </p:txBody>
      </p:sp>
      <p:sp>
        <p:nvSpPr>
          <p:cNvPr id="54" name="Text 51"/>
          <p:cNvSpPr/>
          <p:nvPr/>
        </p:nvSpPr>
        <p:spPr>
          <a:xfrm>
            <a:off x="7882128" y="3886200"/>
            <a:ext cx="512064" cy="365760"/>
          </a:xfrm>
          <a:prstGeom prst="roundRect">
            <a:avLst>
              <a:gd name="adj" fmla="val 15000"/>
            </a:avLst>
          </a:prstGeom>
          <a:solidFill>
            <a:srgbClr val="FFFFFF"/>
          </a:solidFill>
          <a:ln w="15875">
            <a:solidFill>
              <a:srgbClr val="8E4FB8"/>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40</a:t>
            </a:r>
            <a:endParaRPr lang="en-US" sz="1300" dirty="0"/>
          </a:p>
        </p:txBody>
      </p:sp>
      <p:sp>
        <p:nvSpPr>
          <p:cNvPr id="55" name="Text 52"/>
          <p:cNvSpPr/>
          <p:nvPr/>
        </p:nvSpPr>
        <p:spPr>
          <a:xfrm>
            <a:off x="8485632" y="3886200"/>
            <a:ext cx="512064" cy="365760"/>
          </a:xfrm>
          <a:prstGeom prst="roundRect">
            <a:avLst>
              <a:gd name="adj" fmla="val 15000"/>
            </a:avLst>
          </a:prstGeom>
          <a:solidFill>
            <a:srgbClr val="FFFFFF"/>
          </a:solidFill>
          <a:ln w="15875">
            <a:solidFill>
              <a:srgbClr val="8E4FB8"/>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30</a:t>
            </a:r>
            <a:endParaRPr lang="en-US" sz="1300" dirty="0"/>
          </a:p>
        </p:txBody>
      </p:sp>
      <p:sp>
        <p:nvSpPr>
          <p:cNvPr id="56" name="Text 53"/>
          <p:cNvSpPr/>
          <p:nvPr/>
        </p:nvSpPr>
        <p:spPr>
          <a:xfrm>
            <a:off x="9089136" y="3886200"/>
            <a:ext cx="512064" cy="365760"/>
          </a:xfrm>
          <a:prstGeom prst="roundRect">
            <a:avLst>
              <a:gd name="adj" fmla="val 15000"/>
            </a:avLst>
          </a:prstGeom>
          <a:solidFill>
            <a:srgbClr val="FFFFFF"/>
          </a:solidFill>
          <a:ln w="15875">
            <a:solidFill>
              <a:srgbClr val="8E4FB8"/>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60</a:t>
            </a:r>
            <a:endParaRPr lang="en-US" sz="1300" dirty="0"/>
          </a:p>
        </p:txBody>
      </p:sp>
      <p:sp>
        <p:nvSpPr>
          <p:cNvPr id="57" name="Text 54"/>
          <p:cNvSpPr/>
          <p:nvPr/>
        </p:nvSpPr>
        <p:spPr>
          <a:xfrm>
            <a:off x="9692640" y="3886200"/>
            <a:ext cx="512064" cy="365760"/>
          </a:xfrm>
          <a:prstGeom prst="roundRect">
            <a:avLst>
              <a:gd name="adj" fmla="val 15000"/>
            </a:avLst>
          </a:prstGeom>
          <a:solidFill>
            <a:srgbClr val="FFFFFF"/>
          </a:solidFill>
          <a:ln w="15875">
            <a:solidFill>
              <a:srgbClr val="8E4FB8"/>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80</a:t>
            </a:r>
            <a:endParaRPr lang="en-US" sz="1300" dirty="0"/>
          </a:p>
        </p:txBody>
      </p:sp>
      <p:sp>
        <p:nvSpPr>
          <p:cNvPr id="58" name="Text 55"/>
          <p:cNvSpPr/>
          <p:nvPr/>
        </p:nvSpPr>
        <p:spPr>
          <a:xfrm>
            <a:off x="10296144" y="3886200"/>
            <a:ext cx="512064" cy="365760"/>
          </a:xfrm>
          <a:prstGeom prst="roundRect">
            <a:avLst>
              <a:gd name="adj" fmla="val 15000"/>
            </a:avLst>
          </a:prstGeom>
          <a:solidFill>
            <a:srgbClr val="FFFFFF"/>
          </a:solidFill>
          <a:ln w="15875">
            <a:solidFill>
              <a:srgbClr val="8E4FB8"/>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70</a:t>
            </a:r>
            <a:endParaRPr lang="en-US" sz="1300" dirty="0"/>
          </a:p>
        </p:txBody>
      </p:sp>
      <p:sp>
        <p:nvSpPr>
          <p:cNvPr id="59" name="Text 56"/>
          <p:cNvSpPr/>
          <p:nvPr/>
        </p:nvSpPr>
        <p:spPr>
          <a:xfrm>
            <a:off x="10899648" y="3886200"/>
            <a:ext cx="512064" cy="365760"/>
          </a:xfrm>
          <a:prstGeom prst="roundRect">
            <a:avLst>
              <a:gd name="adj" fmla="val 15000"/>
            </a:avLst>
          </a:prstGeom>
          <a:solidFill>
            <a:srgbClr val="FFFFFF"/>
          </a:solidFill>
          <a:ln w="15875">
            <a:solidFill>
              <a:srgbClr val="8E4FB8"/>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50</a:t>
            </a:r>
            <a:endParaRPr lang="en-US" sz="1300" dirty="0"/>
          </a:p>
        </p:txBody>
      </p:sp>
      <p:sp>
        <p:nvSpPr>
          <p:cNvPr id="60" name="Text 57"/>
          <p:cNvSpPr txBox="1"/>
          <p:nvPr/>
        </p:nvSpPr>
        <p:spPr>
          <a:xfrm>
            <a:off x="6675120" y="4709160"/>
            <a:ext cx="4846320" cy="914400"/>
          </a:xfrm>
          <a:prstGeom prst="rect">
            <a:avLst/>
          </a:prstGeom>
          <a:noFill/>
          <a:ln/>
        </p:spPr>
        <p:txBody>
          <a:bodyPr wrap="square" lIns="0" tIns="0" rIns="0" bIns="0" rtlCol="0" anchor="t"/>
          <a:lstStyle/>
          <a:p>
            <a:pPr indent="0" marL="0">
              <a:buNone/>
            </a:pPr>
            <a:r>
              <a:rPr lang="en-US" sz="1400" b="1" dirty="0">
                <a:solidFill>
                  <a:srgbClr val="494985"/>
                </a:solidFill>
                <a:latin typeface="Quicksand" pitchFamily="34" charset="0"/>
                <a:ea typeface="Quicksand" pitchFamily="34" charset="-122"/>
                <a:cs typeface="Quicksand" pitchFamily="34" charset="-120"/>
              </a:rPr>
              <a:t>A node cannot finish until both its children have finished, so in post-order the root is always last.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Expression trees: traversals in a compiler</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5</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17</a:t>
            </a:r>
            <a:endParaRPr lang="en-US" sz="1350" dirty="0"/>
          </a:p>
        </p:txBody>
      </p:sp>
      <p:sp>
        <p:nvSpPr>
          <p:cNvPr id="7" name="Shape 4"/>
          <p:cNvSpPr/>
          <p:nvPr/>
        </p:nvSpPr>
        <p:spPr>
          <a:xfrm flipH="1">
            <a:off x="2617470" y="1901952"/>
            <a:ext cx="1314450" cy="539496"/>
          </a:xfrm>
          <a:prstGeom prst="line">
            <a:avLst/>
          </a:prstGeom>
          <a:noFill/>
          <a:ln w="19050">
            <a:solidFill>
              <a:srgbClr val="9A9AB5"/>
            </a:solidFill>
            <a:prstDash val="solid"/>
          </a:ln>
        </p:spPr>
      </p:sp>
      <p:sp>
        <p:nvSpPr>
          <p:cNvPr id="8" name="Shape 5"/>
          <p:cNvSpPr/>
          <p:nvPr/>
        </p:nvSpPr>
        <p:spPr>
          <a:xfrm>
            <a:off x="3931920" y="1901952"/>
            <a:ext cx="1314450" cy="539496"/>
          </a:xfrm>
          <a:prstGeom prst="line">
            <a:avLst/>
          </a:prstGeom>
          <a:noFill/>
          <a:ln w="19050">
            <a:solidFill>
              <a:srgbClr val="9A9AB5"/>
            </a:solidFill>
            <a:prstDash val="solid"/>
          </a:ln>
        </p:spPr>
      </p:sp>
      <p:sp>
        <p:nvSpPr>
          <p:cNvPr id="9" name="Shape 6"/>
          <p:cNvSpPr/>
          <p:nvPr/>
        </p:nvSpPr>
        <p:spPr>
          <a:xfrm flipH="1">
            <a:off x="1565910" y="2862072"/>
            <a:ext cx="1051560" cy="539496"/>
          </a:xfrm>
          <a:prstGeom prst="line">
            <a:avLst/>
          </a:prstGeom>
          <a:noFill/>
          <a:ln w="19050">
            <a:solidFill>
              <a:srgbClr val="9A9AB5"/>
            </a:solidFill>
            <a:prstDash val="solid"/>
          </a:ln>
        </p:spPr>
      </p:sp>
      <p:sp>
        <p:nvSpPr>
          <p:cNvPr id="10" name="Shape 7"/>
          <p:cNvSpPr/>
          <p:nvPr/>
        </p:nvSpPr>
        <p:spPr>
          <a:xfrm>
            <a:off x="2617470" y="2862072"/>
            <a:ext cx="1051560" cy="539496"/>
          </a:xfrm>
          <a:prstGeom prst="line">
            <a:avLst/>
          </a:prstGeom>
          <a:noFill/>
          <a:ln w="19050">
            <a:solidFill>
              <a:srgbClr val="9A9AB5"/>
            </a:solidFill>
            <a:prstDash val="solid"/>
          </a:ln>
        </p:spPr>
      </p:sp>
      <p:sp>
        <p:nvSpPr>
          <p:cNvPr id="11" name="Shape 8"/>
          <p:cNvSpPr/>
          <p:nvPr/>
        </p:nvSpPr>
        <p:spPr>
          <a:xfrm flipH="1">
            <a:off x="1040130" y="3822192"/>
            <a:ext cx="525780" cy="539496"/>
          </a:xfrm>
          <a:prstGeom prst="line">
            <a:avLst/>
          </a:prstGeom>
          <a:noFill/>
          <a:ln w="19050">
            <a:solidFill>
              <a:srgbClr val="9A9AB5"/>
            </a:solidFill>
            <a:prstDash val="solid"/>
          </a:ln>
        </p:spPr>
      </p:sp>
      <p:sp>
        <p:nvSpPr>
          <p:cNvPr id="12" name="Shape 9"/>
          <p:cNvSpPr/>
          <p:nvPr/>
        </p:nvSpPr>
        <p:spPr>
          <a:xfrm>
            <a:off x="1565910" y="3822192"/>
            <a:ext cx="525780" cy="539496"/>
          </a:xfrm>
          <a:prstGeom prst="line">
            <a:avLst/>
          </a:prstGeom>
          <a:noFill/>
          <a:ln w="19050">
            <a:solidFill>
              <a:srgbClr val="9A9AB5"/>
            </a:solidFill>
            <a:prstDash val="solid"/>
          </a:ln>
        </p:spPr>
      </p:sp>
      <p:sp>
        <p:nvSpPr>
          <p:cNvPr id="13" name="Shape 10"/>
          <p:cNvSpPr/>
          <p:nvPr/>
        </p:nvSpPr>
        <p:spPr>
          <a:xfrm flipH="1">
            <a:off x="3143250" y="3822192"/>
            <a:ext cx="525780" cy="539496"/>
          </a:xfrm>
          <a:prstGeom prst="line">
            <a:avLst/>
          </a:prstGeom>
          <a:noFill/>
          <a:ln w="19050">
            <a:solidFill>
              <a:srgbClr val="9A9AB5"/>
            </a:solidFill>
            <a:prstDash val="solid"/>
          </a:ln>
        </p:spPr>
      </p:sp>
      <p:sp>
        <p:nvSpPr>
          <p:cNvPr id="14" name="Shape 11"/>
          <p:cNvSpPr/>
          <p:nvPr/>
        </p:nvSpPr>
        <p:spPr>
          <a:xfrm>
            <a:off x="3669030" y="3822192"/>
            <a:ext cx="525780" cy="539496"/>
          </a:xfrm>
          <a:prstGeom prst="line">
            <a:avLst/>
          </a:prstGeom>
          <a:noFill/>
          <a:ln w="19050">
            <a:solidFill>
              <a:srgbClr val="9A9AB5"/>
            </a:solidFill>
            <a:prstDash val="solid"/>
          </a:ln>
        </p:spPr>
      </p:sp>
      <p:sp>
        <p:nvSpPr>
          <p:cNvPr id="15" name="Text 12"/>
          <p:cNvSpPr/>
          <p:nvPr/>
        </p:nvSpPr>
        <p:spPr>
          <a:xfrm>
            <a:off x="3680460" y="1481328"/>
            <a:ext cx="502920" cy="420624"/>
          </a:xfrm>
          <a:prstGeom prst="roundRect">
            <a:avLst>
              <a:gd name="adj" fmla="val 17391"/>
            </a:avLst>
          </a:prstGeom>
          <a:solidFill>
            <a:srgbClr val="E9E8F5"/>
          </a:solidFill>
          <a:ln w="15875">
            <a:solidFill>
              <a:srgbClr val="494985"/>
            </a:solidFill>
          </a:ln>
        </p:spPr>
        <p:txBody>
          <a:bodyPr wrap="square" lIns="0" tIns="0" rIns="0" bIns="0" rtlCol="0" anchor="ctr"/>
          <a:lstStyle/>
          <a:p>
            <a:pPr algn="ctr" indent="0" marL="0">
              <a:buNone/>
            </a:pPr>
            <a:r>
              <a:rPr lang="en-US" sz="1800" b="1" dirty="0">
                <a:solidFill>
                  <a:srgbClr val="202124"/>
                </a:solidFill>
                <a:latin typeface="Quicksand" pitchFamily="34" charset="0"/>
                <a:ea typeface="Quicksand" pitchFamily="34" charset="-122"/>
                <a:cs typeface="Quicksand" pitchFamily="34" charset="-120"/>
              </a:rPr>
              <a:t>*</a:t>
            </a:r>
            <a:endParaRPr lang="en-US" sz="1800" dirty="0"/>
          </a:p>
        </p:txBody>
      </p:sp>
      <p:sp>
        <p:nvSpPr>
          <p:cNvPr id="16" name="Text 13"/>
          <p:cNvSpPr/>
          <p:nvPr/>
        </p:nvSpPr>
        <p:spPr>
          <a:xfrm>
            <a:off x="2366010" y="2441448"/>
            <a:ext cx="502920" cy="420624"/>
          </a:xfrm>
          <a:prstGeom prst="roundRect">
            <a:avLst>
              <a:gd name="adj" fmla="val 17391"/>
            </a:avLst>
          </a:prstGeom>
          <a:solidFill>
            <a:srgbClr val="E9E8F5"/>
          </a:solidFill>
          <a:ln w="15875">
            <a:solidFill>
              <a:srgbClr val="494985"/>
            </a:solidFill>
          </a:ln>
        </p:spPr>
        <p:txBody>
          <a:bodyPr wrap="square" lIns="0" tIns="0" rIns="0" bIns="0" rtlCol="0" anchor="ctr"/>
          <a:lstStyle/>
          <a:p>
            <a:pPr algn="ctr" indent="0" marL="0">
              <a:buNone/>
            </a:pPr>
            <a:r>
              <a:rPr lang="en-US" sz="1800" b="1" dirty="0">
                <a:solidFill>
                  <a:srgbClr val="202124"/>
                </a:solidFill>
                <a:latin typeface="Quicksand" pitchFamily="34" charset="0"/>
                <a:ea typeface="Quicksand" pitchFamily="34" charset="-122"/>
                <a:cs typeface="Quicksand" pitchFamily="34" charset="-120"/>
              </a:rPr>
              <a:t>/</a:t>
            </a:r>
            <a:endParaRPr lang="en-US" sz="1800" dirty="0"/>
          </a:p>
        </p:txBody>
      </p:sp>
      <p:sp>
        <p:nvSpPr>
          <p:cNvPr id="17" name="Text 14"/>
          <p:cNvSpPr/>
          <p:nvPr/>
        </p:nvSpPr>
        <p:spPr>
          <a:xfrm>
            <a:off x="4994910" y="2441448"/>
            <a:ext cx="502920" cy="420624"/>
          </a:xfrm>
          <a:prstGeom prst="roundRect">
            <a:avLst>
              <a:gd name="adj" fmla="val 17391"/>
            </a:avLst>
          </a:prstGeom>
          <a:solidFill>
            <a:srgbClr val="FFFFFF"/>
          </a:solidFill>
          <a:ln w="15875">
            <a:solidFill>
              <a:srgbClr val="494985"/>
            </a:solidFill>
          </a:ln>
        </p:spPr>
        <p:txBody>
          <a:bodyPr wrap="square" lIns="0" tIns="0" rIns="0" bIns="0" rtlCol="0" anchor="ctr"/>
          <a:lstStyle/>
          <a:p>
            <a:pPr algn="ctr" indent="0" marL="0">
              <a:buNone/>
            </a:pPr>
            <a:r>
              <a:rPr lang="en-US" sz="1800" b="1" dirty="0">
                <a:solidFill>
                  <a:srgbClr val="202124"/>
                </a:solidFill>
                <a:latin typeface="Quicksand" pitchFamily="34" charset="0"/>
                <a:ea typeface="Quicksand" pitchFamily="34" charset="-122"/>
                <a:cs typeface="Quicksand" pitchFamily="34" charset="-120"/>
              </a:rPr>
              <a:t>3</a:t>
            </a:r>
            <a:endParaRPr lang="en-US" sz="1800" dirty="0"/>
          </a:p>
        </p:txBody>
      </p:sp>
      <p:sp>
        <p:nvSpPr>
          <p:cNvPr id="18" name="Text 15"/>
          <p:cNvSpPr/>
          <p:nvPr/>
        </p:nvSpPr>
        <p:spPr>
          <a:xfrm>
            <a:off x="1314450" y="3401568"/>
            <a:ext cx="502920" cy="420624"/>
          </a:xfrm>
          <a:prstGeom prst="roundRect">
            <a:avLst>
              <a:gd name="adj" fmla="val 17391"/>
            </a:avLst>
          </a:prstGeom>
          <a:solidFill>
            <a:srgbClr val="E9E8F5"/>
          </a:solidFill>
          <a:ln w="15875">
            <a:solidFill>
              <a:srgbClr val="494985"/>
            </a:solidFill>
          </a:ln>
        </p:spPr>
        <p:txBody>
          <a:bodyPr wrap="square" lIns="0" tIns="0" rIns="0" bIns="0" rtlCol="0" anchor="ctr"/>
          <a:lstStyle/>
          <a:p>
            <a:pPr algn="ctr" indent="0" marL="0">
              <a:buNone/>
            </a:pPr>
            <a:r>
              <a:rPr lang="en-US" sz="1800" b="1" dirty="0">
                <a:solidFill>
                  <a:srgbClr val="202124"/>
                </a:solidFill>
                <a:latin typeface="Quicksand" pitchFamily="34" charset="0"/>
                <a:ea typeface="Quicksand" pitchFamily="34" charset="-122"/>
                <a:cs typeface="Quicksand" pitchFamily="34" charset="-120"/>
              </a:rPr>
              <a:t>+</a:t>
            </a:r>
            <a:endParaRPr lang="en-US" sz="1800" dirty="0"/>
          </a:p>
        </p:txBody>
      </p:sp>
      <p:sp>
        <p:nvSpPr>
          <p:cNvPr id="19" name="Text 16"/>
          <p:cNvSpPr/>
          <p:nvPr/>
        </p:nvSpPr>
        <p:spPr>
          <a:xfrm>
            <a:off x="3417570" y="3401568"/>
            <a:ext cx="502920" cy="420624"/>
          </a:xfrm>
          <a:prstGeom prst="roundRect">
            <a:avLst>
              <a:gd name="adj" fmla="val 17391"/>
            </a:avLst>
          </a:prstGeom>
          <a:solidFill>
            <a:srgbClr val="E9E8F5"/>
          </a:solidFill>
          <a:ln w="15875">
            <a:solidFill>
              <a:srgbClr val="494985"/>
            </a:solidFill>
          </a:ln>
        </p:spPr>
        <p:txBody>
          <a:bodyPr wrap="square" lIns="0" tIns="0" rIns="0" bIns="0" rtlCol="0" anchor="ctr"/>
          <a:lstStyle/>
          <a:p>
            <a:pPr algn="ctr" indent="0" marL="0">
              <a:buNone/>
            </a:pPr>
            <a:r>
              <a:rPr lang="en-US" sz="1800" b="1" dirty="0">
                <a:solidFill>
                  <a:srgbClr val="202124"/>
                </a:solidFill>
                <a:latin typeface="Quicksand" pitchFamily="34" charset="0"/>
                <a:ea typeface="Quicksand" pitchFamily="34" charset="-122"/>
                <a:cs typeface="Quicksand" pitchFamily="34" charset="-120"/>
              </a:rPr>
              <a:t>-</a:t>
            </a:r>
            <a:endParaRPr lang="en-US" sz="1800" dirty="0"/>
          </a:p>
        </p:txBody>
      </p:sp>
      <p:sp>
        <p:nvSpPr>
          <p:cNvPr id="20" name="Text 17"/>
          <p:cNvSpPr/>
          <p:nvPr/>
        </p:nvSpPr>
        <p:spPr>
          <a:xfrm>
            <a:off x="788670" y="4361688"/>
            <a:ext cx="502920" cy="420624"/>
          </a:xfrm>
          <a:prstGeom prst="roundRect">
            <a:avLst>
              <a:gd name="adj" fmla="val 17391"/>
            </a:avLst>
          </a:prstGeom>
          <a:solidFill>
            <a:srgbClr val="FFFFFF"/>
          </a:solidFill>
          <a:ln w="15875">
            <a:solidFill>
              <a:srgbClr val="494985"/>
            </a:solidFill>
          </a:ln>
        </p:spPr>
        <p:txBody>
          <a:bodyPr wrap="square" lIns="0" tIns="0" rIns="0" bIns="0" rtlCol="0" anchor="ctr"/>
          <a:lstStyle/>
          <a:p>
            <a:pPr algn="ctr" indent="0" marL="0">
              <a:buNone/>
            </a:pPr>
            <a:r>
              <a:rPr lang="en-US" sz="1800" b="1" dirty="0">
                <a:solidFill>
                  <a:srgbClr val="202124"/>
                </a:solidFill>
                <a:latin typeface="Quicksand" pitchFamily="34" charset="0"/>
                <a:ea typeface="Quicksand" pitchFamily="34" charset="-122"/>
                <a:cs typeface="Quicksand" pitchFamily="34" charset="-120"/>
              </a:rPr>
              <a:t>5</a:t>
            </a:r>
            <a:endParaRPr lang="en-US" sz="1800" dirty="0"/>
          </a:p>
        </p:txBody>
      </p:sp>
      <p:sp>
        <p:nvSpPr>
          <p:cNvPr id="21" name="Text 18"/>
          <p:cNvSpPr/>
          <p:nvPr/>
        </p:nvSpPr>
        <p:spPr>
          <a:xfrm>
            <a:off x="1840230" y="4361688"/>
            <a:ext cx="502920" cy="420624"/>
          </a:xfrm>
          <a:prstGeom prst="roundRect">
            <a:avLst>
              <a:gd name="adj" fmla="val 17391"/>
            </a:avLst>
          </a:prstGeom>
          <a:solidFill>
            <a:srgbClr val="FFFFFF"/>
          </a:solidFill>
          <a:ln w="15875">
            <a:solidFill>
              <a:srgbClr val="494985"/>
            </a:solidFill>
          </a:ln>
        </p:spPr>
        <p:txBody>
          <a:bodyPr wrap="square" lIns="0" tIns="0" rIns="0" bIns="0" rtlCol="0" anchor="ctr"/>
          <a:lstStyle/>
          <a:p>
            <a:pPr algn="ctr" indent="0" marL="0">
              <a:buNone/>
            </a:pPr>
            <a:r>
              <a:rPr lang="en-US" sz="1800" b="1" dirty="0">
                <a:solidFill>
                  <a:srgbClr val="202124"/>
                </a:solidFill>
                <a:latin typeface="Quicksand" pitchFamily="34" charset="0"/>
                <a:ea typeface="Quicksand" pitchFamily="34" charset="-122"/>
                <a:cs typeface="Quicksand" pitchFamily="34" charset="-120"/>
              </a:rPr>
              <a:t>2</a:t>
            </a:r>
            <a:endParaRPr lang="en-US" sz="1800" dirty="0"/>
          </a:p>
        </p:txBody>
      </p:sp>
      <p:sp>
        <p:nvSpPr>
          <p:cNvPr id="22" name="Text 19"/>
          <p:cNvSpPr/>
          <p:nvPr/>
        </p:nvSpPr>
        <p:spPr>
          <a:xfrm>
            <a:off x="2891790" y="4361688"/>
            <a:ext cx="502920" cy="420624"/>
          </a:xfrm>
          <a:prstGeom prst="roundRect">
            <a:avLst>
              <a:gd name="adj" fmla="val 17391"/>
            </a:avLst>
          </a:prstGeom>
          <a:solidFill>
            <a:srgbClr val="FFFFFF"/>
          </a:solidFill>
          <a:ln w="15875">
            <a:solidFill>
              <a:srgbClr val="494985"/>
            </a:solidFill>
          </a:ln>
        </p:spPr>
        <p:txBody>
          <a:bodyPr wrap="square" lIns="0" tIns="0" rIns="0" bIns="0" rtlCol="0" anchor="ctr"/>
          <a:lstStyle/>
          <a:p>
            <a:pPr algn="ctr" indent="0" marL="0">
              <a:buNone/>
            </a:pPr>
            <a:r>
              <a:rPr lang="en-US" sz="1800" b="1" dirty="0">
                <a:solidFill>
                  <a:srgbClr val="202124"/>
                </a:solidFill>
                <a:latin typeface="Quicksand" pitchFamily="34" charset="0"/>
                <a:ea typeface="Quicksand" pitchFamily="34" charset="-122"/>
                <a:cs typeface="Quicksand" pitchFamily="34" charset="-120"/>
              </a:rPr>
              <a:t>9</a:t>
            </a:r>
            <a:endParaRPr lang="en-US" sz="1800" dirty="0"/>
          </a:p>
        </p:txBody>
      </p:sp>
      <p:sp>
        <p:nvSpPr>
          <p:cNvPr id="23" name="Text 20"/>
          <p:cNvSpPr/>
          <p:nvPr/>
        </p:nvSpPr>
        <p:spPr>
          <a:xfrm>
            <a:off x="3943350" y="4361688"/>
            <a:ext cx="502920" cy="420624"/>
          </a:xfrm>
          <a:prstGeom prst="roundRect">
            <a:avLst>
              <a:gd name="adj" fmla="val 17391"/>
            </a:avLst>
          </a:prstGeom>
          <a:solidFill>
            <a:srgbClr val="FFFFFF"/>
          </a:solidFill>
          <a:ln w="15875">
            <a:solidFill>
              <a:srgbClr val="494985"/>
            </a:solidFill>
          </a:ln>
        </p:spPr>
        <p:txBody>
          <a:bodyPr wrap="square" lIns="0" tIns="0" rIns="0" bIns="0" rtlCol="0" anchor="ctr"/>
          <a:lstStyle/>
          <a:p>
            <a:pPr algn="ctr" indent="0" marL="0">
              <a:buNone/>
            </a:pPr>
            <a:r>
              <a:rPr lang="en-US" sz="1800" b="1" dirty="0">
                <a:solidFill>
                  <a:srgbClr val="202124"/>
                </a:solidFill>
                <a:latin typeface="Quicksand" pitchFamily="34" charset="0"/>
                <a:ea typeface="Quicksand" pitchFamily="34" charset="-122"/>
                <a:cs typeface="Quicksand" pitchFamily="34" charset="-120"/>
              </a:rPr>
              <a:t>3</a:t>
            </a:r>
            <a:endParaRPr lang="en-US" sz="1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035040" y="1371600"/>
          <a:ext cx="5486400" cy="914400"/>
        </p:xfrm>
        <a:graphic>
          <a:graphicData uri="http://schemas.openxmlformats.org/drawingml/2006/table">
            <a:tbl>
              <a:tblPr/>
              <a:tblGrid>
                <a:gridCol w="1417320"/>
                <a:gridCol w="2514600"/>
                <a:gridCol w="1554480"/>
              </a:tblGrid>
              <a:tr h="548640">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Traversal</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Output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Name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48640">
                <a:tc>
                  <a:txBody>
                    <a:bodyPr/>
                    <a:lstStyle/>
                    <a:p>
                      <a:pPr indent="0" marL="0">
                        <a:buNone/>
                      </a:pPr>
                      <a:r>
                        <a:rPr lang="en-US" sz="1300" b="1" dirty="0">
                          <a:solidFill>
                            <a:srgbClr val="1F8A8A"/>
                          </a:solidFill>
                          <a:latin typeface="Quicksand" pitchFamily="34" charset="0"/>
                          <a:ea typeface="Quicksand" pitchFamily="34" charset="-122"/>
                          <a:cs typeface="Quicksand" pitchFamily="34" charset="-120"/>
                        </a:rPr>
                        <a:t>Pre-order</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  /  +  5  2  -  9  3  3</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Prefix (Polish)</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300" b="1" dirty="0">
                          <a:solidFill>
                            <a:srgbClr val="D9822B"/>
                          </a:solidFill>
                          <a:latin typeface="Quicksand" pitchFamily="34" charset="0"/>
                          <a:ea typeface="Quicksand" pitchFamily="34" charset="-122"/>
                          <a:cs typeface="Quicksand" pitchFamily="34" charset="-120"/>
                        </a:rPr>
                        <a:t>In-order</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5 + 2 / 9 - 3 * 3</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Infix - needs brackets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8E4FB8"/>
                          </a:solidFill>
                          <a:latin typeface="Quicksand" pitchFamily="34" charset="0"/>
                          <a:ea typeface="Quicksand" pitchFamily="34" charset="-122"/>
                          <a:cs typeface="Quicksand" pitchFamily="34" charset="-120"/>
                        </a:rPr>
                        <a:t>Post-order</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Roboto Mono" pitchFamily="34" charset="0"/>
                          <a:ea typeface="Roboto Mono" pitchFamily="34" charset="-122"/>
                          <a:cs typeface="Roboto Mono" pitchFamily="34" charset="-120"/>
                        </a:rPr>
                        <a:t>5  2  +  9  3  -  /  3  *</a:t>
                      </a:r>
                      <a:endParaRPr lang="en-US" sz="1200" dirty="0">
                        <a:latin typeface="Roboto Mono" charset="0"/>
                        <a:ea typeface="Roboto Mono" charset="0"/>
                        <a:cs typeface="Roboto Mono"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b="1" dirty="0">
                          <a:solidFill>
                            <a:srgbClr val="202124"/>
                          </a:solidFill>
                          <a:latin typeface="Quicksand" pitchFamily="34" charset="0"/>
                          <a:ea typeface="Quicksand" pitchFamily="34" charset="-122"/>
                          <a:cs typeface="Quicksand" pitchFamily="34" charset="-120"/>
                        </a:rPr>
                        <a:t>Reverse Polish (RPN)</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25" name="Text 21"/>
          <p:cNvSpPr txBox="1"/>
          <p:nvPr/>
        </p:nvSpPr>
        <p:spPr>
          <a:xfrm>
            <a:off x="6035040" y="3840480"/>
            <a:ext cx="5486400" cy="822960"/>
          </a:xfrm>
          <a:prstGeom prst="rect">
            <a:avLst/>
          </a:prstGeom>
          <a:noFill/>
          <a:ln/>
        </p:spPr>
        <p:txBody>
          <a:bodyPr wrap="square" lIns="0" tIns="0" rIns="0" bIns="0" rtlCol="0" anchor="t"/>
          <a:lstStyle/>
          <a:p>
            <a:pPr indent="0" marL="0">
              <a:buNone/>
            </a:pPr>
            <a:r>
              <a:rPr lang="en-US" sz="1400" b="1" dirty="0">
                <a:solidFill>
                  <a:srgbClr val="494985"/>
                </a:solidFill>
                <a:latin typeface="Quicksand" pitchFamily="34" charset="0"/>
                <a:ea typeface="Quicksand" pitchFamily="34" charset="-122"/>
                <a:cs typeface="Quicksand" pitchFamily="34" charset="-120"/>
              </a:rPr>
              <a:t>Post-order gives RPN: 9618 Paper 3, June 2024 Q5(a) asked students to turn exactly this back into infix.</a:t>
            </a:r>
            <a:endParaRPr lang="en-US" sz="1400" dirty="0"/>
          </a:p>
        </p:txBody>
      </p:sp>
      <p:sp>
        <p:nvSpPr>
          <p:cNvPr id="26" name="Text 22"/>
          <p:cNvSpPr txBox="1"/>
          <p:nvPr/>
        </p:nvSpPr>
        <p:spPr>
          <a:xfrm>
            <a:off x="6035040" y="4800600"/>
            <a:ext cx="5486400" cy="365760"/>
          </a:xfrm>
          <a:prstGeom prst="rect">
            <a:avLst/>
          </a:prstGeom>
          <a:noFill/>
          <a:ln/>
        </p:spPr>
        <p:txBody>
          <a:bodyPr wrap="square" lIns="0" tIns="0" rIns="0" bIns="0" rtlCol="0" anchor="t"/>
          <a:lstStyle/>
          <a:p>
            <a:pPr indent="0" marL="0">
              <a:spcAft>
                <a:spcPts val="600"/>
              </a:spcAft>
              <a:buNone/>
            </a:pPr>
            <a:r>
              <a:rPr lang="en-US" sz="1500" b="1" dirty="0">
                <a:solidFill>
                  <a:srgbClr val="202124"/>
                </a:solidFill>
                <a:latin typeface="Quicksand" pitchFamily="34" charset="0"/>
                <a:ea typeface="Quicksand" pitchFamily="34" charset="-122"/>
                <a:cs typeface="Quicksand" pitchFamily="34" charset="-120"/>
              </a:rPr>
              <a:t>Infix with brackets: ((5 + 2) / (9 - 3)) * 3</a:t>
            </a:r>
            <a:endParaRPr lang="en-US" sz="1500" dirty="0"/>
          </a:p>
        </p:txBody>
      </p:sp>
      <p:sp>
        <p:nvSpPr>
          <p:cNvPr id="27" name="Text 23"/>
          <p:cNvSpPr txBox="1"/>
          <p:nvPr/>
        </p:nvSpPr>
        <p:spPr>
          <a:xfrm>
            <a:off x="6035040" y="5257800"/>
            <a:ext cx="5486400" cy="365760"/>
          </a:xfrm>
          <a:prstGeom prst="rect">
            <a:avLst/>
          </a:prstGeom>
          <a:noFill/>
          <a:ln/>
        </p:spPr>
        <p:txBody>
          <a:bodyPr wrap="square" lIns="0" tIns="0" rIns="0" bIns="0" rtlCol="0" anchor="t"/>
          <a:lstStyle/>
          <a:p>
            <a:pPr indent="0" marL="0">
              <a:spcAft>
                <a:spcPts val="600"/>
              </a:spcAft>
              <a:buNone/>
            </a:pPr>
            <a:r>
              <a:rPr lang="en-US" sz="1500" dirty="0">
                <a:solidFill>
                  <a:srgbClr val="202124"/>
                </a:solidFill>
                <a:latin typeface="Quicksand" pitchFamily="34" charset="0"/>
                <a:ea typeface="Quicksand" pitchFamily="34" charset="-122"/>
                <a:cs typeface="Quicksand" pitchFamily="34" charset="-120"/>
              </a:rPr>
              <a:t>What does it evaluate to?</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What traversal questions look like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6</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18</a:t>
            </a:r>
            <a:endParaRPr lang="en-US" sz="13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04088" y="1234440"/>
          <a:ext cx="10789920" cy="914400"/>
        </p:xfrm>
        <a:graphic>
          <a:graphicData uri="http://schemas.openxmlformats.org/drawingml/2006/table">
            <a:tbl>
              <a:tblPr/>
              <a:tblGrid>
                <a:gridCol w="822960"/>
                <a:gridCol w="4754880"/>
                <a:gridCol w="4297680"/>
                <a:gridCol w="914400"/>
              </a:tblGrid>
              <a:tr h="566928">
                <a:tc>
                  <a:txBody>
                    <a:bodyPr/>
                    <a:lstStyle/>
                    <a:p>
                      <a:pPr indent="0" marL="0">
                        <a:buNone/>
                      </a:pPr>
                      <a:r>
                        <a:rPr lang="en-US" sz="1250" b="1" dirty="0">
                          <a:solidFill>
                            <a:srgbClr val="FFFFFF"/>
                          </a:solidFill>
                          <a:latin typeface="Quicksand" pitchFamily="34" charset="0"/>
                          <a:ea typeface="Quicksand" pitchFamily="34" charset="-122"/>
                          <a:cs typeface="Quicksand" pitchFamily="34" charset="-120"/>
                        </a:rPr>
                        <a:t>Paper</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250" b="1" dirty="0">
                          <a:solidFill>
                            <a:srgbClr val="FFFFFF"/>
                          </a:solidFill>
                          <a:latin typeface="Quicksand" pitchFamily="34" charset="0"/>
                          <a:ea typeface="Quicksand" pitchFamily="34" charset="-122"/>
                          <a:cs typeface="Quicksand" pitchFamily="34" charset="-120"/>
                        </a:rPr>
                        <a:t>What you are asked to do</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250" b="1" dirty="0">
                          <a:solidFill>
                            <a:srgbClr val="FFFFFF"/>
                          </a:solidFill>
                          <a:latin typeface="Quicksand" pitchFamily="34" charset="0"/>
                          <a:ea typeface="Quicksand" pitchFamily="34" charset="-122"/>
                          <a:cs typeface="Quicksand" pitchFamily="34" charset="-120"/>
                        </a:rPr>
                        <a:t>Recent examples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250" b="1" dirty="0">
                          <a:solidFill>
                            <a:srgbClr val="FFFFFF"/>
                          </a:solidFill>
                          <a:latin typeface="Quicksand" pitchFamily="34" charset="0"/>
                          <a:ea typeface="Quicksand" pitchFamily="34" charset="-122"/>
                          <a:cs typeface="Quicksand" pitchFamily="34" charset="-120"/>
                        </a:rPr>
                        <a:t>Marks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66928">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4</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Write a recursive traversal procedure, then screenshot its output for given test data</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InOrder Nov 2021 (41, 42); PostOrder Nov 2022 (41, 43); OutputInOrder (OOP) June 2025 (41)</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5-7, +1</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3</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Complete a tree diagram, with pointers and -1 null pointers, after adding values</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June 2025 (31, 32) Q4(a)</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4</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3</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Fill in the 2D array or record table (left, data, right, RootPtr, FreePtr) from a tree</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Nov 2024 (31, 32, 33) Q11(a), (b)</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4 + 4</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3</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Recursion theory: describe recursion, its three essential features, why a stack is used</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Nov 2021 (31); June 2025 (31, 32); Nov 2025 (31, 32)</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2-3 each</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3</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Trace a recursive algorithm in a trace table (calls, base case, unwinding)</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Fibonacci June 2023 (31, 33); Delete() June 2025 (33)</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4-5</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3</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Convert between RPN and infix (post-order and in-order of an expression tree)</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June 2021 (31, 32); June 2024 (31)</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2-3</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How examiners mark it: Paper 4</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6</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19</a:t>
            </a:r>
            <a:endParaRPr lang="en-US" sz="13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04088" y="1280160"/>
          <a:ext cx="6949440" cy="914400"/>
        </p:xfrm>
        <a:graphic>
          <a:graphicData uri="http://schemas.openxmlformats.org/drawingml/2006/table">
            <a:tbl>
              <a:tblPr/>
              <a:tblGrid>
                <a:gridCol w="822960"/>
                <a:gridCol w="6126480"/>
              </a:tblGrid>
              <a:tr h="512064">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Mark</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InOrder() - 9618/41 November 2021 Q3(e)(i)</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12064">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Procedure InOrder taking a parameter for the current node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12064">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Checks whether the left node is empty (-1)...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12064">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...if not, calls InOrder recursively with [current node][0]</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12064">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Outputs [current node][1]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12064">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Checks whether the right node is empty (-1)...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12064">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...if not, calls InOrder recursively with [current node][2]</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b="1" dirty="0">
                          <a:solidFill>
                            <a:srgbClr val="202124"/>
                          </a:solidFill>
                          <a:latin typeface="Quicksand" pitchFamily="34" charset="0"/>
                          <a:ea typeface="Quicksand" pitchFamily="34" charset="-122"/>
                          <a:cs typeface="Quicksand" pitchFamily="34" charset="-120"/>
                        </a:rPr>
                        <a:t>The order is correct: left, root, right</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8" name="Shape 4"/>
          <p:cNvSpPr/>
          <p:nvPr/>
        </p:nvSpPr>
        <p:spPr>
          <a:xfrm>
            <a:off x="7955280" y="1280160"/>
            <a:ext cx="3566160" cy="1234440"/>
          </a:xfrm>
          <a:prstGeom prst="rect">
            <a:avLst/>
          </a:prstGeom>
          <a:solidFill>
            <a:srgbClr val="F6F5FC"/>
          </a:solidFill>
          <a:ln w="12700">
            <a:solidFill>
              <a:srgbClr val="F6F5FC"/>
            </a:solidFill>
            <a:prstDash val="solid"/>
          </a:ln>
        </p:spPr>
      </p:sp>
      <p:sp>
        <p:nvSpPr>
          <p:cNvPr id="9" name="Text 5"/>
          <p:cNvSpPr/>
          <p:nvPr/>
        </p:nvSpPr>
        <p:spPr>
          <a:xfrm>
            <a:off x="8092440" y="14173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0" name="Text 6"/>
          <p:cNvSpPr txBox="1"/>
          <p:nvPr/>
        </p:nvSpPr>
        <p:spPr>
          <a:xfrm>
            <a:off x="8613648" y="1389888"/>
            <a:ext cx="278892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Two marks per subtree</a:t>
            </a:r>
            <a:endParaRPr lang="en-US" sz="1500" dirty="0"/>
          </a:p>
        </p:txBody>
      </p:sp>
      <p:sp>
        <p:nvSpPr>
          <p:cNvPr id="11" name="Text 7"/>
          <p:cNvSpPr txBox="1"/>
          <p:nvPr/>
        </p:nvSpPr>
        <p:spPr>
          <a:xfrm>
            <a:off x="8613648" y="1783080"/>
            <a:ext cx="2788920" cy="66751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One for the -1 check, one for the recursive call with the right column.</a:t>
            </a:r>
            <a:endParaRPr lang="en-US" sz="1250" dirty="0"/>
          </a:p>
        </p:txBody>
      </p:sp>
      <p:sp>
        <p:nvSpPr>
          <p:cNvPr id="12" name="Shape 8"/>
          <p:cNvSpPr/>
          <p:nvPr/>
        </p:nvSpPr>
        <p:spPr>
          <a:xfrm>
            <a:off x="7955280" y="2651760"/>
            <a:ext cx="3566160" cy="1234440"/>
          </a:xfrm>
          <a:prstGeom prst="rect">
            <a:avLst/>
          </a:prstGeom>
          <a:solidFill>
            <a:srgbClr val="F6F5FC"/>
          </a:solidFill>
          <a:ln w="12700">
            <a:solidFill>
              <a:srgbClr val="F6F5FC"/>
            </a:solidFill>
            <a:prstDash val="solid"/>
          </a:ln>
        </p:spPr>
      </p:sp>
      <p:sp>
        <p:nvSpPr>
          <p:cNvPr id="13" name="Text 9"/>
          <p:cNvSpPr/>
          <p:nvPr/>
        </p:nvSpPr>
        <p:spPr>
          <a:xfrm>
            <a:off x="8092440" y="27889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4" name="Text 10"/>
          <p:cNvSpPr txBox="1"/>
          <p:nvPr/>
        </p:nvSpPr>
        <p:spPr>
          <a:xfrm>
            <a:off x="8613648" y="2761488"/>
            <a:ext cx="278892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One mark for the order</a:t>
            </a:r>
            <a:endParaRPr lang="en-US" sz="1500" dirty="0"/>
          </a:p>
        </p:txBody>
      </p:sp>
      <p:sp>
        <p:nvSpPr>
          <p:cNvPr id="15" name="Text 11"/>
          <p:cNvSpPr txBox="1"/>
          <p:nvPr/>
        </p:nvSpPr>
        <p:spPr>
          <a:xfrm>
            <a:off x="8613648" y="3154680"/>
            <a:ext cx="2788920" cy="66751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Where the output line goes decides which traversal it is.</a:t>
            </a:r>
            <a:endParaRPr lang="en-US" sz="1250" dirty="0"/>
          </a:p>
        </p:txBody>
      </p:sp>
      <p:sp>
        <p:nvSpPr>
          <p:cNvPr id="16" name="Shape 12"/>
          <p:cNvSpPr/>
          <p:nvPr/>
        </p:nvSpPr>
        <p:spPr>
          <a:xfrm>
            <a:off x="7955280" y="4023360"/>
            <a:ext cx="3566160" cy="1234440"/>
          </a:xfrm>
          <a:prstGeom prst="rect">
            <a:avLst/>
          </a:prstGeom>
          <a:solidFill>
            <a:srgbClr val="F6F5FC"/>
          </a:solidFill>
          <a:ln w="12700">
            <a:solidFill>
              <a:srgbClr val="F6F5FC"/>
            </a:solidFill>
            <a:prstDash val="solid"/>
          </a:ln>
        </p:spPr>
      </p:sp>
      <p:sp>
        <p:nvSpPr>
          <p:cNvPr id="17" name="Text 13"/>
          <p:cNvSpPr/>
          <p:nvPr/>
        </p:nvSpPr>
        <p:spPr>
          <a:xfrm>
            <a:off x="8092440" y="41605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18" name="Text 14"/>
          <p:cNvSpPr txBox="1"/>
          <p:nvPr/>
        </p:nvSpPr>
        <p:spPr>
          <a:xfrm>
            <a:off x="8613648" y="4133088"/>
            <a:ext cx="278892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One for the screenshot</a:t>
            </a:r>
            <a:endParaRPr lang="en-US" sz="1500" dirty="0"/>
          </a:p>
        </p:txBody>
      </p:sp>
      <p:sp>
        <p:nvSpPr>
          <p:cNvPr id="19" name="Text 15"/>
          <p:cNvSpPr txBox="1"/>
          <p:nvPr/>
        </p:nvSpPr>
        <p:spPr>
          <a:xfrm>
            <a:off x="8613648" y="4526280"/>
            <a:ext cx="2788920" cy="66751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With the exact test data from the question.</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How examiners mark it: Paper 3</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6</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20</a:t>
            </a:r>
            <a:endParaRPr lang="en-US" sz="13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704088" y="1280160"/>
          <a:ext cx="5212080" cy="914400"/>
        </p:xfrm>
        <a:graphic>
          <a:graphicData uri="http://schemas.openxmlformats.org/drawingml/2006/table">
            <a:tbl>
              <a:tblPr/>
              <a:tblGrid>
                <a:gridCol w="5212080"/>
              </a:tblGrid>
              <a:tr h="548640">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Three essential features of recursion [3]</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4864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It calls itself / has a general case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It has a base case / stopping condition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It changes its state and moves towards the base case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8" name="Text 4"/>
          <p:cNvSpPr txBox="1"/>
          <p:nvPr/>
        </p:nvSpPr>
        <p:spPr>
          <a:xfrm>
            <a:off x="704088" y="3566160"/>
            <a:ext cx="5212080" cy="274320"/>
          </a:xfrm>
          <a:prstGeom prst="rect">
            <a:avLst/>
          </a:prstGeom>
          <a:noFill/>
          <a:ln/>
        </p:spPr>
        <p:txBody>
          <a:bodyPr wrap="square" lIns="0" tIns="0" rIns="0" bIns="0" rtlCol="0" anchor="t"/>
          <a:lstStyle/>
          <a:p>
            <a:pPr indent="0" marL="0">
              <a:spcAft>
                <a:spcPts val="600"/>
              </a:spcAft>
              <a:buNone/>
            </a:pPr>
            <a:r>
              <a:rPr lang="en-US" sz="1150" i="1" dirty="0">
                <a:solidFill>
                  <a:srgbClr val="666666"/>
                </a:solidFill>
                <a:latin typeface="Quicksand" pitchFamily="34" charset="0"/>
                <a:ea typeface="Quicksand" pitchFamily="34" charset="-122"/>
                <a:cs typeface="Quicksand" pitchFamily="34" charset="-120"/>
              </a:rPr>
              <a:t>9618/31 November 2025 Q9(b)</a:t>
            </a:r>
            <a:endParaRPr lang="en-US" sz="1150" dirty="0"/>
          </a:p>
        </p:txBody>
      </p:sp>
      <p:graphicFrame>
        <p:nvGraphicFramePr>
          <p:cNvPr id="41" name="Table 1"/>
          <p:cNvGraphicFramePr>
            <a:graphicFrameLocks noGrp="1"/>
          </p:cNvGraphicFramePr>
          <p:nvPr>
            <p:extLst>
              <p:ext uri="{D42A27DB-BD31-4B8C-83A1-F6EECF244321}">
                <p14:modId xmlns:p14="http://schemas.microsoft.com/office/powerpoint/2010/main" val="1579011935"/>
              </p:ext>
            </p:extLst>
          </p:nvPr>
        </p:nvGraphicFramePr>
        <p:xfrm>
          <a:off x="6263640" y="1280160"/>
          <a:ext cx="5257800" cy="914400"/>
        </p:xfrm>
        <a:graphic>
          <a:graphicData uri="http://schemas.openxmlformats.org/drawingml/2006/table">
            <a:tbl>
              <a:tblPr/>
              <a:tblGrid>
                <a:gridCol w="5257800"/>
              </a:tblGrid>
              <a:tr h="548640">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Why a stack is used for recursion [3]</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4864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A stack is Last In, First Out (LIFO)</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Each time the algorithm calls itself, data is pushed onto the stack</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When the base case is reached, it starts to unwind...</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...and data is popped in the reverse order it was pushed</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10" name="Text 5"/>
          <p:cNvSpPr txBox="1"/>
          <p:nvPr/>
        </p:nvSpPr>
        <p:spPr>
          <a:xfrm>
            <a:off x="6263640" y="4114800"/>
            <a:ext cx="5257800" cy="274320"/>
          </a:xfrm>
          <a:prstGeom prst="rect">
            <a:avLst/>
          </a:prstGeom>
          <a:noFill/>
          <a:ln/>
        </p:spPr>
        <p:txBody>
          <a:bodyPr wrap="square" lIns="0" tIns="0" rIns="0" bIns="0" rtlCol="0" anchor="t"/>
          <a:lstStyle/>
          <a:p>
            <a:pPr indent="0" marL="0">
              <a:spcAft>
                <a:spcPts val="600"/>
              </a:spcAft>
              <a:buNone/>
            </a:pPr>
            <a:r>
              <a:rPr lang="en-US" sz="1150" i="1" dirty="0">
                <a:solidFill>
                  <a:srgbClr val="666666"/>
                </a:solidFill>
                <a:latin typeface="Quicksand" pitchFamily="34" charset="0"/>
                <a:ea typeface="Quicksand" pitchFamily="34" charset="-122"/>
                <a:cs typeface="Quicksand" pitchFamily="34" charset="-120"/>
              </a:rPr>
              <a:t>9618/32 November 2025 Q12(b) - any three</a:t>
            </a:r>
            <a:endParaRPr lang="en-US" sz="1150" dirty="0"/>
          </a:p>
        </p:txBody>
      </p:sp>
      <p:sp>
        <p:nvSpPr>
          <p:cNvPr id="11" name="Text 6"/>
          <p:cNvSpPr txBox="1"/>
          <p:nvPr/>
        </p:nvSpPr>
        <p:spPr>
          <a:xfrm>
            <a:off x="704088" y="4754880"/>
            <a:ext cx="10789920" cy="73152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In our traversals: the general case is the two recursive calls, and the base case is a -1 pointer, where no call is made.</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Guided practice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7</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21</a:t>
            </a:r>
            <a:endParaRPr lang="en-US" sz="1350" dirty="0"/>
          </a:p>
        </p:txBody>
      </p:sp>
      <p:sp>
        <p:nvSpPr>
          <p:cNvPr id="7" name="Text 4"/>
          <p:cNvSpPr txBox="1"/>
          <p:nvPr/>
        </p:nvSpPr>
        <p:spPr>
          <a:xfrm>
            <a:off x="841248" y="1371600"/>
            <a:ext cx="10424160" cy="4389120"/>
          </a:xfrm>
          <a:prstGeom prst="rect">
            <a:avLst/>
          </a:prstGeom>
          <a:noFill/>
          <a:ln/>
        </p:spPr>
        <p:txBody>
          <a:bodyPr wrap="square" lIns="0" tIns="0" rIns="0" bIns="0" rtlCol="0" anchor="t"/>
          <a:lstStyle/>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Turn to the worksheet - the tasks get harder as you go, like Cambridge exam questions</a:t>
            </a:r>
            <a:endParaRPr lang="en-US" sz="1700" dirty="0"/>
          </a:p>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Task 2: draw the Nov 2021 tree, fill in its array, and write all three traversals</a:t>
            </a:r>
            <a:endParaRPr lang="en-US" sz="1700" dirty="0"/>
          </a:p>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Task 3: trace PostOrder() with a call stack and a trace table, then a Paper 3 stack question</a:t>
            </a:r>
            <a:endParaRPr lang="en-US" sz="1700" dirty="0"/>
          </a:p>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Task 4: complete PreOrder(), then write InOrder() for the Nov 2021 question (7 marks)</a:t>
            </a:r>
            <a:endParaRPr lang="en-US" sz="1700" dirty="0"/>
          </a:p>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Task 5: find and fix two bugs in a traversal</a:t>
            </a:r>
            <a:endParaRPr lang="en-US" sz="1700" dirty="0"/>
          </a:p>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Task 6: build the whole Nov 2021 program at the computer and screenshot each output</a:t>
            </a:r>
            <a:endParaRPr lang="en-US" sz="1700" dirty="0"/>
          </a:p>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Check your work against the answer key when your teacher shares it</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Common misconceptions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Plenary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22</a:t>
            </a:r>
            <a:endParaRPr lang="en-US" sz="13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704088" y="1280160"/>
          <a:ext cx="10789920" cy="914400"/>
        </p:xfrm>
        <a:graphic>
          <a:graphicData uri="http://schemas.openxmlformats.org/drawingml/2006/table">
            <a:tbl>
              <a:tblPr/>
              <a:tblGrid>
                <a:gridCol w="4572000"/>
                <a:gridCol w="6217920"/>
              </a:tblGrid>
              <a:tr h="713232">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Misconception</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Why it is wrong</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713232">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"In-order means the order the values were inserted."</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In-order is left, root, right. On an ordered tree it gives ascending order.</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713232">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"After a recursive call returns, the procedure starts again."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It carries on from the line after the call. The call stack remembers where it was.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713232">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"Root is the value in the node."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In the 2D array version Root is an index (a row number). The value is TreeArray(Root, 1).</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713232">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"A recursive procedure needs a loop to visit every node."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The recursive calls do the repeating. A -1 pointer means no call: that is the base case.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713232">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"Post-order is just pre-order backwards."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Reversing pre-order gives root, right, left - not left, right, root. Use the walk-around method.</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Exit question</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Plenary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23</a:t>
            </a:r>
            <a:endParaRPr lang="en-US" sz="1350" dirty="0"/>
          </a:p>
        </p:txBody>
      </p:sp>
      <p:sp>
        <p:nvSpPr>
          <p:cNvPr id="7" name="Text 4"/>
          <p:cNvSpPr txBox="1"/>
          <p:nvPr/>
        </p:nvSpPr>
        <p:spPr>
          <a:xfrm>
            <a:off x="877824" y="1463040"/>
            <a:ext cx="10296144" cy="548640"/>
          </a:xfrm>
          <a:prstGeom prst="rect">
            <a:avLst/>
          </a:prstGeom>
          <a:noFill/>
          <a:ln/>
        </p:spPr>
        <p:txBody>
          <a:bodyPr wrap="square" lIns="0" tIns="0" rIns="0" bIns="0" rtlCol="0" anchor="t"/>
          <a:lstStyle/>
          <a:p>
            <a:pPr indent="0" marL="0">
              <a:buNone/>
            </a:pPr>
            <a:r>
              <a:rPr lang="en-US" sz="1800" b="1" dirty="0">
                <a:solidFill>
                  <a:srgbClr val="202124"/>
                </a:solidFill>
                <a:latin typeface="Quicksand" pitchFamily="34" charset="0"/>
                <a:ea typeface="Quicksand" pitchFamily="34" charset="-122"/>
                <a:cs typeface="Quicksand" pitchFamily="34" charset="-120"/>
              </a:rPr>
              <a:t>These values are added to an empty tree, in order: 40, 20, 60, 10, 30, 25.</a:t>
            </a:r>
            <a:endParaRPr lang="en-US" sz="1800" dirty="0"/>
          </a:p>
        </p:txBody>
      </p:sp>
      <p:sp>
        <p:nvSpPr>
          <p:cNvPr id="8" name="Text 5"/>
          <p:cNvSpPr txBox="1"/>
          <p:nvPr/>
        </p:nvSpPr>
        <p:spPr>
          <a:xfrm>
            <a:off x="877824" y="2240280"/>
            <a:ext cx="10296144" cy="457200"/>
          </a:xfrm>
          <a:prstGeom prst="rect">
            <a:avLst/>
          </a:prstGeom>
          <a:noFill/>
          <a:ln/>
        </p:spPr>
        <p:txBody>
          <a:bodyPr wrap="square" lIns="0" tIns="0" rIns="0" bIns="0" rtlCol="0" anchor="t"/>
          <a:lstStyle/>
          <a:p>
            <a:pPr indent="0" marL="0">
              <a:buNone/>
            </a:pPr>
            <a:r>
              <a:rPr lang="en-US" sz="1800" b="1" dirty="0">
                <a:solidFill>
                  <a:srgbClr val="202124"/>
                </a:solidFill>
                <a:latin typeface="Quicksand" pitchFamily="34" charset="0"/>
                <a:ea typeface="Quicksand" pitchFamily="34" charset="-122"/>
                <a:cs typeface="Quicksand" pitchFamily="34" charset="-120"/>
              </a:rPr>
              <a:t>1. Draw the tree.</a:t>
            </a:r>
            <a:endParaRPr lang="en-US" sz="1800" dirty="0"/>
          </a:p>
        </p:txBody>
      </p:sp>
      <p:sp>
        <p:nvSpPr>
          <p:cNvPr id="9" name="Text 6"/>
          <p:cNvSpPr txBox="1"/>
          <p:nvPr/>
        </p:nvSpPr>
        <p:spPr>
          <a:xfrm>
            <a:off x="877824" y="2834640"/>
            <a:ext cx="10296144" cy="457200"/>
          </a:xfrm>
          <a:prstGeom prst="rect">
            <a:avLst/>
          </a:prstGeom>
          <a:noFill/>
          <a:ln/>
        </p:spPr>
        <p:txBody>
          <a:bodyPr wrap="square" lIns="0" tIns="0" rIns="0" bIns="0" rtlCol="0" anchor="t"/>
          <a:lstStyle/>
          <a:p>
            <a:pPr indent="0" marL="0">
              <a:buNone/>
            </a:pPr>
            <a:r>
              <a:rPr lang="en-US" sz="1800" b="1" dirty="0">
                <a:solidFill>
                  <a:srgbClr val="202124"/>
                </a:solidFill>
                <a:latin typeface="Quicksand" pitchFamily="34" charset="0"/>
                <a:ea typeface="Quicksand" pitchFamily="34" charset="-122"/>
                <a:cs typeface="Quicksand" pitchFamily="34" charset="-120"/>
              </a:rPr>
              <a:t>2. Write the post-order traversal.</a:t>
            </a:r>
            <a:endParaRPr lang="en-US" sz="1800" dirty="0"/>
          </a:p>
        </p:txBody>
      </p:sp>
      <p:sp>
        <p:nvSpPr>
          <p:cNvPr id="10" name="Text 7"/>
          <p:cNvSpPr txBox="1"/>
          <p:nvPr/>
        </p:nvSpPr>
        <p:spPr>
          <a:xfrm>
            <a:off x="877824" y="3429000"/>
            <a:ext cx="6949440" cy="731520"/>
          </a:xfrm>
          <a:prstGeom prst="rect">
            <a:avLst/>
          </a:prstGeom>
          <a:noFill/>
          <a:ln/>
        </p:spPr>
        <p:txBody>
          <a:bodyPr wrap="square" lIns="0" tIns="0" rIns="0" bIns="0" rtlCol="0" anchor="t"/>
          <a:lstStyle/>
          <a:p>
            <a:pPr indent="0" marL="0">
              <a:buNone/>
            </a:pPr>
            <a:r>
              <a:rPr lang="en-US" sz="1800" b="1" dirty="0">
                <a:solidFill>
                  <a:srgbClr val="202124"/>
                </a:solidFill>
                <a:latin typeface="Quicksand" pitchFamily="34" charset="0"/>
                <a:ea typeface="Quicksand" pitchFamily="34" charset="-122"/>
                <a:cs typeface="Quicksand" pitchFamily="34" charset="-120"/>
              </a:rPr>
              <a:t>3. PostOrder() is called on the root. Draw the call stack at the moment 25 is output.</a:t>
            </a:r>
            <a:endParaRPr lang="en-US" sz="1800" dirty="0"/>
          </a:p>
        </p:txBody>
      </p:sp>
      <p:sp>
        <p:nvSpPr>
          <p:cNvPr id="11" name="Shape 8"/>
          <p:cNvSpPr/>
          <p:nvPr/>
        </p:nvSpPr>
        <p:spPr>
          <a:xfrm>
            <a:off x="8778240" y="4892040"/>
            <a:ext cx="1828800" cy="457200"/>
          </a:xfrm>
          <a:prstGeom prst="rect">
            <a:avLst/>
          </a:prstGeom>
          <a:solidFill>
            <a:srgbClr val="FFFFFF"/>
          </a:solidFill>
          <a:ln w="12700">
            <a:solidFill>
              <a:srgbClr val="494985"/>
            </a:solidFill>
            <a:prstDash val="dash"/>
          </a:ln>
        </p:spPr>
      </p:sp>
      <p:sp>
        <p:nvSpPr>
          <p:cNvPr id="12" name="Shape 9"/>
          <p:cNvSpPr/>
          <p:nvPr/>
        </p:nvSpPr>
        <p:spPr>
          <a:xfrm>
            <a:off x="8778240" y="4389120"/>
            <a:ext cx="1828800" cy="457200"/>
          </a:xfrm>
          <a:prstGeom prst="rect">
            <a:avLst/>
          </a:prstGeom>
          <a:solidFill>
            <a:srgbClr val="FFFFFF"/>
          </a:solidFill>
          <a:ln w="12700">
            <a:solidFill>
              <a:srgbClr val="494985"/>
            </a:solidFill>
            <a:prstDash val="dash"/>
          </a:ln>
        </p:spPr>
      </p:sp>
      <p:sp>
        <p:nvSpPr>
          <p:cNvPr id="13" name="Shape 10"/>
          <p:cNvSpPr/>
          <p:nvPr/>
        </p:nvSpPr>
        <p:spPr>
          <a:xfrm>
            <a:off x="8778240" y="3886200"/>
            <a:ext cx="1828800" cy="457200"/>
          </a:xfrm>
          <a:prstGeom prst="rect">
            <a:avLst/>
          </a:prstGeom>
          <a:solidFill>
            <a:srgbClr val="FFFFFF"/>
          </a:solidFill>
          <a:ln w="12700">
            <a:solidFill>
              <a:srgbClr val="494985"/>
            </a:solidFill>
            <a:prstDash val="dash"/>
          </a:ln>
        </p:spPr>
      </p:sp>
      <p:sp>
        <p:nvSpPr>
          <p:cNvPr id="14" name="Shape 11"/>
          <p:cNvSpPr/>
          <p:nvPr/>
        </p:nvSpPr>
        <p:spPr>
          <a:xfrm>
            <a:off x="8778240" y="3383280"/>
            <a:ext cx="1828800" cy="457200"/>
          </a:xfrm>
          <a:prstGeom prst="rect">
            <a:avLst/>
          </a:prstGeom>
          <a:solidFill>
            <a:srgbClr val="FFFFFF"/>
          </a:solidFill>
          <a:ln w="12700">
            <a:solidFill>
              <a:srgbClr val="494985"/>
            </a:solidFill>
            <a:prstDash val="dash"/>
          </a:ln>
        </p:spPr>
      </p:sp>
      <p:sp>
        <p:nvSpPr>
          <p:cNvPr id="15" name="Shape 12"/>
          <p:cNvSpPr/>
          <p:nvPr/>
        </p:nvSpPr>
        <p:spPr>
          <a:xfrm>
            <a:off x="8778240" y="2880360"/>
            <a:ext cx="1828800" cy="457200"/>
          </a:xfrm>
          <a:prstGeom prst="rect">
            <a:avLst/>
          </a:prstGeom>
          <a:solidFill>
            <a:srgbClr val="FFFFFF"/>
          </a:solidFill>
          <a:ln w="12700">
            <a:solidFill>
              <a:srgbClr val="494985"/>
            </a:solidFill>
            <a:prstDash val="dash"/>
          </a:ln>
        </p:spPr>
      </p:sp>
      <p:sp>
        <p:nvSpPr>
          <p:cNvPr id="16" name="Shape 13"/>
          <p:cNvSpPr/>
          <p:nvPr/>
        </p:nvSpPr>
        <p:spPr>
          <a:xfrm>
            <a:off x="8686800" y="5422392"/>
            <a:ext cx="2011680" cy="0"/>
          </a:xfrm>
          <a:prstGeom prst="line">
            <a:avLst/>
          </a:prstGeom>
          <a:noFill/>
          <a:ln w="25400">
            <a:solidFill>
              <a:srgbClr val="202124"/>
            </a:solidFill>
            <a:prstDash val="solid"/>
          </a:ln>
        </p:spPr>
      </p:sp>
      <p:sp>
        <p:nvSpPr>
          <p:cNvPr id="17" name="Text 14"/>
          <p:cNvSpPr txBox="1"/>
          <p:nvPr/>
        </p:nvSpPr>
        <p:spPr>
          <a:xfrm>
            <a:off x="8321040" y="5532120"/>
            <a:ext cx="2743200" cy="274320"/>
          </a:xfrm>
          <a:prstGeom prst="rect">
            <a:avLst/>
          </a:prstGeom>
          <a:noFill/>
          <a:ln/>
        </p:spPr>
        <p:txBody>
          <a:bodyPr wrap="square" lIns="0" tIns="0" rIns="0" bIns="0" rtlCol="0" anchor="t"/>
          <a:lstStyle/>
          <a:p>
            <a:pPr algn="ctr" indent="0" marL="0">
              <a:spcAft>
                <a:spcPts val="600"/>
              </a:spcAft>
              <a:buNone/>
            </a:pPr>
            <a:r>
              <a:rPr lang="en-US" sz="1200" dirty="0">
                <a:solidFill>
                  <a:srgbClr val="666666"/>
                </a:solidFill>
                <a:latin typeface="Quicksand" pitchFamily="34" charset="0"/>
                <a:ea typeface="Quicksand" pitchFamily="34" charset="-122"/>
                <a:cs typeface="Quicksand" pitchFamily="34" charset="-120"/>
              </a:rPr>
              <a:t>Call stack (bottom = first call)</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In this lesson, you</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Summary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24</a:t>
            </a:r>
            <a:endParaRPr lang="en-US" sz="1350" dirty="0"/>
          </a:p>
        </p:txBody>
      </p:sp>
      <p:sp>
        <p:nvSpPr>
          <p:cNvPr id="7" name="Text 4"/>
          <p:cNvSpPr txBox="1"/>
          <p:nvPr/>
        </p:nvSpPr>
        <p:spPr>
          <a:xfrm>
            <a:off x="877824" y="1417320"/>
            <a:ext cx="10296144" cy="3474720"/>
          </a:xfrm>
          <a:prstGeom prst="rect">
            <a:avLst/>
          </a:prstGeom>
          <a:noFill/>
          <a:ln/>
        </p:spPr>
        <p:txBody>
          <a:bodyPr wrap="square" lIns="0" tIns="0" rIns="0" bIns="0" rtlCol="0" anchor="t"/>
          <a:lstStyle/>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Saw where binary trees are used: compilers, databases, compression, games and AI</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Drew trees from data and from 2D arrays, and filled in the array from a tree</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Used the walk-around method to write pre-order, in-order and post-order traversals</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Traced recursion with a call stack and an exam-style trace table</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Wrote recursive traversals and applied the Paper 3 and Paper 4 mark schemes</a:t>
            </a:r>
            <a:endParaRPr lang="en-US" sz="1800" dirty="0"/>
          </a:p>
        </p:txBody>
      </p:sp>
      <p:sp>
        <p:nvSpPr>
          <p:cNvPr id="8" name="Text 5"/>
          <p:cNvSpPr txBox="1"/>
          <p:nvPr/>
        </p:nvSpPr>
        <p:spPr>
          <a:xfrm>
            <a:off x="877824" y="4937760"/>
            <a:ext cx="10296144" cy="64008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Next lesson: a full Paper 4 binary tree question under timed conditions.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Tree traversals</dc:title>
  <dc:subject>PptxGenJS Presentation</dc:subject>
  <dc:creator>PptxGenJS</dc:creator>
  <cp:lastModifiedBy>PptxGenJS</cp:lastModifiedBy>
  <cp:revision>1</cp:revision>
  <dcterms:created xsi:type="dcterms:W3CDTF">2026-10-09T06:46:06Z</dcterms:created>
  <dcterms:modified xsi:type="dcterms:W3CDTF">2026-10-09T06:46:06Z</dcterms:modified>
</cp:coreProperties>
</file>