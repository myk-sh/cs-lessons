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2ca75f137c4ec5" /><Relationship Type="http://schemas.openxmlformats.org/officeDocument/2006/relationships/extended-properties" Target="/docProps/app.xml" Id="R64f3bc5711894dde" /><Relationship Type="http://schemas.openxmlformats.org/officeDocument/2006/relationships/officeDocument" Target="/ppt/presentation.xml" Id="Rd6f6a25645dc49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22f7b20b5047e8"/>
  </p:sldMasterIdLst>
  <p:notesMasterIdLst>
    <p:notesMasterId xmlns:r="http://schemas.openxmlformats.org/officeDocument/2006/relationships" r:id="Rcd15ae1ca1664ce7"/>
  </p:notesMasterIdLst>
  <p:sldIdLst>
    <p:sldId xmlns:r="http://schemas.openxmlformats.org/officeDocument/2006/relationships" id="256" r:id="R0aa20af2cd314963"/>
    <p:sldId xmlns:r="http://schemas.openxmlformats.org/officeDocument/2006/relationships" id="257" r:id="R1a494b9f827d4a7e"/>
    <p:sldId xmlns:r="http://schemas.openxmlformats.org/officeDocument/2006/relationships" id="258" r:id="R508960fe5565494a"/>
    <p:sldId xmlns:r="http://schemas.openxmlformats.org/officeDocument/2006/relationships" id="259" r:id="R0c8620cceabc45c9"/>
    <p:sldId xmlns:r="http://schemas.openxmlformats.org/officeDocument/2006/relationships" id="260" r:id="R5bef36539c9449ea"/>
    <p:sldId xmlns:r="http://schemas.openxmlformats.org/officeDocument/2006/relationships" id="261" r:id="R83f80728f1124cdc"/>
    <p:sldId xmlns:r="http://schemas.openxmlformats.org/officeDocument/2006/relationships" id="262" r:id="R94e69f5fb8cd4ee5"/>
    <p:sldId xmlns:r="http://schemas.openxmlformats.org/officeDocument/2006/relationships" id="263" r:id="R1f2eca0a92ff4020"/>
    <p:sldId xmlns:r="http://schemas.openxmlformats.org/officeDocument/2006/relationships" id="264" r:id="Ra63b8d20ad8c4b82"/>
    <p:sldId xmlns:r="http://schemas.openxmlformats.org/officeDocument/2006/relationships" id="265" r:id="R36ba2bee1caa48ec"/>
    <p:sldId xmlns:r="http://schemas.openxmlformats.org/officeDocument/2006/relationships" id="266" r:id="R602ff45670994302"/>
    <p:sldId xmlns:r="http://schemas.openxmlformats.org/officeDocument/2006/relationships" id="267" r:id="R758481abf0ef4468"/>
    <p:sldId xmlns:r="http://schemas.openxmlformats.org/officeDocument/2006/relationships" id="268" r:id="R49c5e235d0bc48bb"/>
    <p:sldId xmlns:r="http://schemas.openxmlformats.org/officeDocument/2006/relationships" id="269" r:id="R3f8139b5c1a049c9"/>
    <p:sldId xmlns:r="http://schemas.openxmlformats.org/officeDocument/2006/relationships" id="270" r:id="Rc64b403744664b53"/>
    <p:sldId xmlns:r="http://schemas.openxmlformats.org/officeDocument/2006/relationships" id="271" r:id="Rd13524e312f9442d"/>
    <p:sldId xmlns:r="http://schemas.openxmlformats.org/officeDocument/2006/relationships" id="272" r:id="R9c0e789f6f61469d"/>
    <p:sldId xmlns:r="http://schemas.openxmlformats.org/officeDocument/2006/relationships" id="273" r:id="Ra357a4d0444145d6"/>
    <p:sldId xmlns:r="http://schemas.openxmlformats.org/officeDocument/2006/relationships" id="274" r:id="R4be6e70125424625"/>
    <p:sldId xmlns:r="http://schemas.openxmlformats.org/officeDocument/2006/relationships" id="275" r:id="R2ec69eb2a98e44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e5158a1f9f4eb8" /><Relationship Type="http://schemas.openxmlformats.org/officeDocument/2006/relationships/slideMaster" Target="/ppt/slideMasters/slideMaster1.xml" Id="R3022f7b20b5047e8" /><Relationship Type="http://schemas.openxmlformats.org/officeDocument/2006/relationships/notesMaster" Target="/ppt/notesMasters/notesMaster1.xml" Id="Rcd15ae1ca1664ce7" /><Relationship Type="http://schemas.openxmlformats.org/officeDocument/2006/relationships/presProps" Target="/ppt/presProps.xml" Id="Reaf3a2cf06bb4a51" /><Relationship Type="http://schemas.openxmlformats.org/officeDocument/2006/relationships/tableStyles" Target="/ppt/tableStyles.xml" Id="R9eb39b8cade14d5e" /><Relationship Type="http://schemas.openxmlformats.org/officeDocument/2006/relationships/slide" Target="/ppt/slides/slide1.xml" Id="R0aa20af2cd314963" /><Relationship Type="http://schemas.openxmlformats.org/officeDocument/2006/relationships/slide" Target="/ppt/slides/slide2.xml" Id="R1a494b9f827d4a7e" /><Relationship Type="http://schemas.openxmlformats.org/officeDocument/2006/relationships/slide" Target="/ppt/slides/slide3.xml" Id="R508960fe5565494a" /><Relationship Type="http://schemas.openxmlformats.org/officeDocument/2006/relationships/slide" Target="/ppt/slides/slide4.xml" Id="R0c8620cceabc45c9" /><Relationship Type="http://schemas.openxmlformats.org/officeDocument/2006/relationships/slide" Target="/ppt/slides/slide5.xml" Id="R5bef36539c9449ea" /><Relationship Type="http://schemas.openxmlformats.org/officeDocument/2006/relationships/slide" Target="/ppt/slides/slide6.xml" Id="R83f80728f1124cdc" /><Relationship Type="http://schemas.openxmlformats.org/officeDocument/2006/relationships/slide" Target="/ppt/slides/slide7.xml" Id="R94e69f5fb8cd4ee5" /><Relationship Type="http://schemas.openxmlformats.org/officeDocument/2006/relationships/slide" Target="/ppt/slides/slide8.xml" Id="R1f2eca0a92ff4020" /><Relationship Type="http://schemas.openxmlformats.org/officeDocument/2006/relationships/slide" Target="/ppt/slides/slide9.xml" Id="Ra63b8d20ad8c4b82" /><Relationship Type="http://schemas.openxmlformats.org/officeDocument/2006/relationships/slide" Target="/ppt/slides/slide10.xml" Id="R36ba2bee1caa48ec" /><Relationship Type="http://schemas.openxmlformats.org/officeDocument/2006/relationships/slide" Target="/ppt/slides/slide11.xml" Id="R602ff45670994302" /><Relationship Type="http://schemas.openxmlformats.org/officeDocument/2006/relationships/slide" Target="/ppt/slides/slide12.xml" Id="R758481abf0ef4468" /><Relationship Type="http://schemas.openxmlformats.org/officeDocument/2006/relationships/slide" Target="/ppt/slides/slide13.xml" Id="R49c5e235d0bc48bb" /><Relationship Type="http://schemas.openxmlformats.org/officeDocument/2006/relationships/slide" Target="/ppt/slides/slide14.xml" Id="R3f8139b5c1a049c9" /><Relationship Type="http://schemas.openxmlformats.org/officeDocument/2006/relationships/slide" Target="/ppt/slides/slide15.xml" Id="Rc64b403744664b53" /><Relationship Type="http://schemas.openxmlformats.org/officeDocument/2006/relationships/slide" Target="/ppt/slides/slide16.xml" Id="Rd13524e312f9442d" /><Relationship Type="http://schemas.openxmlformats.org/officeDocument/2006/relationships/slide" Target="/ppt/slides/slide17.xml" Id="R9c0e789f6f61469d" /><Relationship Type="http://schemas.openxmlformats.org/officeDocument/2006/relationships/slide" Target="/ppt/slides/slide18.xml" Id="Ra357a4d0444145d6" /><Relationship Type="http://schemas.openxmlformats.org/officeDocument/2006/relationships/slide" Target="/ppt/slides/slide19.xml" Id="R4be6e70125424625" /><Relationship Type="http://schemas.openxmlformats.org/officeDocument/2006/relationships/slide" Target="/ppt/slides/slide20.xml" Id="R2ec69eb2a98e44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1e1b582ed241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d0baaf4115405c" /><Relationship Type="http://schemas.openxmlformats.org/officeDocument/2006/relationships/notesMaster" Target="/ppt/notesMasters/notesMaster1.xml" Id="Ree26d6f6dcaa41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3629ad246d4651" /><Relationship Type="http://schemas.openxmlformats.org/officeDocument/2006/relationships/notesMaster" Target="/ppt/notesMasters/notesMaster1.xml" Id="R6425dbbd572741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3a5672833f495a" /><Relationship Type="http://schemas.openxmlformats.org/officeDocument/2006/relationships/notesMaster" Target="/ppt/notesMasters/notesMaster1.xml" Id="R784174677dab4b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7907cc69a04e20" /><Relationship Type="http://schemas.openxmlformats.org/officeDocument/2006/relationships/notesMaster" Target="/ppt/notesMasters/notesMaster1.xml" Id="R7fa46123d21e4d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fe78479a71462f" /><Relationship Type="http://schemas.openxmlformats.org/officeDocument/2006/relationships/notesMaster" Target="/ppt/notesMasters/notesMaster1.xml" Id="Rb0c50259261044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42fbdd95034e5e" /><Relationship Type="http://schemas.openxmlformats.org/officeDocument/2006/relationships/notesMaster" Target="/ppt/notesMasters/notesMaster1.xml" Id="Re814e4391b224c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a1655c09224b07" /><Relationship Type="http://schemas.openxmlformats.org/officeDocument/2006/relationships/notesMaster" Target="/ppt/notesMasters/notesMaster1.xml" Id="R1ecbb46cda4f4c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3fcb8b8408441a" /><Relationship Type="http://schemas.openxmlformats.org/officeDocument/2006/relationships/notesMaster" Target="/ppt/notesMasters/notesMaster1.xml" Id="Reb0a22eff30241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01eea58a1749c4" /><Relationship Type="http://schemas.openxmlformats.org/officeDocument/2006/relationships/notesMaster" Target="/ppt/notesMasters/notesMaster1.xml" Id="Rae40c68383c843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1adddf0762488e" /><Relationship Type="http://schemas.openxmlformats.org/officeDocument/2006/relationships/notesMaster" Target="/ppt/notesMasters/notesMaster1.xml" Id="R418f6a7a3cad47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915cc563b14166" /><Relationship Type="http://schemas.openxmlformats.org/officeDocument/2006/relationships/notesMaster" Target="/ppt/notesMasters/notesMaster1.xml" Id="R006b8ed84a614f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98f7961921e4f93" /><Relationship Type="http://schemas.openxmlformats.org/officeDocument/2006/relationships/notesMaster" Target="/ppt/notesMasters/notesMaster1.xml" Id="Reced964aff3c491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d5133509e564fd7" /><Relationship Type="http://schemas.openxmlformats.org/officeDocument/2006/relationships/notesMaster" Target="/ppt/notesMasters/notesMaster1.xml" Id="Rec306dac4f9d4ed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e02b846167c4c07" /><Relationship Type="http://schemas.openxmlformats.org/officeDocument/2006/relationships/notesMaster" Target="/ppt/notesMasters/notesMaster1.xml" Id="R1c526f6d3578405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219dc0608964841" /><Relationship Type="http://schemas.openxmlformats.org/officeDocument/2006/relationships/notesMaster" Target="/ppt/notesMasters/notesMaster1.xml" Id="Rba2db5a3d5c3493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15a51eea00c4468" /><Relationship Type="http://schemas.openxmlformats.org/officeDocument/2006/relationships/notesMaster" Target="/ppt/notesMasters/notesMaster1.xml" Id="Re914a75b18764b3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0217f1ee02448be" /><Relationship Type="http://schemas.openxmlformats.org/officeDocument/2006/relationships/notesMaster" Target="/ppt/notesMasters/notesMaster1.xml" Id="R325853de06e349c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5472ae64d5d4958" /><Relationship Type="http://schemas.openxmlformats.org/officeDocument/2006/relationships/notesMaster" Target="/ppt/notesMasters/notesMaster1.xml" Id="R91ad03b464dd45c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51d1b62d5e343d1" /><Relationship Type="http://schemas.openxmlformats.org/officeDocument/2006/relationships/notesMaster" Target="/ppt/notesMasters/notesMaster1.xml" Id="R9d6b8cd70236432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d73e486865b40f3" /><Relationship Type="http://schemas.openxmlformats.org/officeDocument/2006/relationships/notesMaster" Target="/ppt/notesMasters/notesMaster1.xml" Id="Rcb4d9db834f148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 70–80 minutes or split into two lessons. Core goal: a safe in-order traversal, explained through calls and returns. No OOP knowledge needed. Omit extensions if pupils need more tracing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Success means explaining where a paused call resumes, not merely reciting sorted output. Use Tasks 1–2 for 15–20 min, Task 3 for 20 min, Task 4 for 10 min, Task 5A for 5 min, Task 6 for 15–20 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or draw incrementally on the board. 6 &lt; 8, then 6 &gt; 3. Thus right child of 3, inside the left subtree of 8. Values are distinct; no duplicate rule is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Root: 8. Leaves: 6 and 12. Left subtree of 8: 3 and 6. A binary tree need not be ordered. Check Task 1 before moving 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earlier lesson column convention. A cell containing 3 in a pointer column means row 3; data 3 is a different concept. Task 2 uses different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point physically to the pointer cell, row label, then data cell. Never pass data as though it were a row index.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three paper frames labelled p=0, p=1, p=2 plus -1 frames. Do not introduce code yet. The index labels must stay visible.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deliberate change from the previous lesson, which checked child pointers before calling. Here the procedure accepts -1, so the starting tree can also be empty. Both are valid designs; use only this one today.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Left, node, right applies at every node, not just the original root. Put your finger on the current rule. The caller pauses while a child call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There are three invocations counting the leaf and its two empty calls. Returning from an empty child resumes the leaf, rather than finishing the whole traversal.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Physical rehearsal: teacher holds the root frame; a pupil performs the left leaf and hands control back. Ask: what is p in the resumed call? Answer 0. It was not permanently replaced by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Expand each empty call and return orally. Task 3 deliberately uses a non-BST so sorting cannot substitute for a trace.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the worked tree: root call InOrder(0), p=0, output TreeArray(0,1)=8. If pupils cannot answer, repeat the leaf and root activities before Task 4. Do not advance merely because final output is correct.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full solution on the following slide hidden until pupils have attempted Task 4. Support: ask what each column means; do not simply dictate the numbers.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after Task 4. Gap answers: -1, Exit Sub, 0, 1, 2. With RootPointer=-1 there is no output and no array access. ByVal helps pupils see that each invocation has its own parameter value.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Task 5A: accessing row -1 before the guard crashes. Moving the guard first prevents that, but output first is pre-order, so the output also needs to move between the child calls.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Task 6. Starter contains a deliberate TODO. Main test tree is 40,20,60,30. Expected in-order 20,30,40,60; subtree 1 gives 20,30; leaf 2 gives 60; -1 gives no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tree post-order: 3,12,8. Task 1 tree: 30,20,60,40. Optional extension only. Recursive search and recursive insertion are deferred.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record with fields only, no methods or constructors. VB.NET default integers are 0, so explicitly set both child pointers to -1. Optional booklet extension contains the translation task. No chapter 20 concepts are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InOrder(2). Output 5,8. Root call resumes at Console.WriteLine(TreeArray(p,1)) with p=2. If pupils say p=0 or that the whole traversal ends at the leaf, reteach calls and returns.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91085ea80a476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c9fa18c19c410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53cc37fbd0445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14b7eca78748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f94338cc8142a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fd0f03d3d640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BE6FE2-CCBB-44FF-915C-5C0A5843A6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63FBA9A-FE02-458D-9FB9-E80B881138B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D9C5AB4-869E-486A-81F5-755A1FD921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88C2DB-8F0F-4F32-B59B-3A3E70FDC8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B74C74E-72CB-40DB-A2B6-09E97DF9CC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E9286E-88A4-4B15-9E29-FB34C2C392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FCAEE7-B763-473C-8EE0-1EDA2A91C0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8289EB2-FB01-4999-BBC5-94CF492AF21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478048-CCFC-4957-9FB5-48F85C8F3A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CEE4B7A-FD1D-4D01-B0E3-09375F3F06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47b6beb4494fee" /><Relationship Type="http://schemas.openxmlformats.org/officeDocument/2006/relationships/slideLayout" Target="/ppt/slideLayouts/slideLayout1.xml" Id="R6ba652bad8d04be6" /><Relationship Type="http://schemas.openxmlformats.org/officeDocument/2006/relationships/slideLayout" Target="/ppt/slideLayouts/slideLayout2.xml" Id="R4fc988e823e544eb" /><Relationship Type="http://schemas.openxmlformats.org/officeDocument/2006/relationships/slideLayout" Target="/ppt/slideLayouts/slideLayout3.xml" Id="R4a9a5dced88a4051" /><Relationship Type="http://schemas.openxmlformats.org/officeDocument/2006/relationships/slideLayout" Target="/ppt/slideLayouts/slideLayout4.xml" Id="Rceab32f081364021" /><Relationship Type="http://schemas.openxmlformats.org/officeDocument/2006/relationships/slideLayout" Target="/ppt/slideLayouts/slideLayout5.xml" Id="Rf0f0df3287c04812" /><Relationship Type="http://schemas.openxmlformats.org/officeDocument/2006/relationships/slideLayout" Target="/ppt/slideLayouts/slideLayout6.xml" Id="Reb681a3802434e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a652bad8d04be6"/>
    <p:sldLayoutId xmlns:r="http://schemas.openxmlformats.org/officeDocument/2006/relationships" id="2147483650" r:id="R4fc988e823e544eb"/>
    <p:sldLayoutId xmlns:r="http://schemas.openxmlformats.org/officeDocument/2006/relationships" id="2147483651" r:id="R4a9a5dced88a4051"/>
    <p:sldLayoutId xmlns:r="http://schemas.openxmlformats.org/officeDocument/2006/relationships" id="2147483652" r:id="Rceab32f081364021"/>
    <p:sldLayoutId xmlns:r="http://schemas.openxmlformats.org/officeDocument/2006/relationships" id="2147483653" r:id="Rf0f0df3287c04812"/>
    <p:sldLayoutId xmlns:r="http://schemas.openxmlformats.org/officeDocument/2006/relationships" id="2147483654" r:id="Reb681a3802434e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d6bbe17a374481" /><Relationship Type="http://schemas.openxmlformats.org/officeDocument/2006/relationships/notesSlide" Target="/ppt/notesSlides/notesSlide1.xml" Id="Rb2d28eeef1974a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83247d14364a88" /><Relationship Type="http://schemas.openxmlformats.org/officeDocument/2006/relationships/notesSlide" Target="/ppt/notesSlides/notesSlide2.xml" Id="R64a0eaaa51de43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9eedbb25414430" /><Relationship Type="http://schemas.openxmlformats.org/officeDocument/2006/relationships/notesSlide" Target="/ppt/notesSlides/notesSlide3.xml" Id="R064454b765da41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bbc5a0e7c94b7e" /><Relationship Type="http://schemas.openxmlformats.org/officeDocument/2006/relationships/notesSlide" Target="/ppt/notesSlides/notesSlide4.xml" Id="R17a90afb5bd342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5e9349ad7e4a9b" /><Relationship Type="http://schemas.openxmlformats.org/officeDocument/2006/relationships/notesSlide" Target="/ppt/notesSlides/notesSlide5.xml" Id="Ra8b6ef5239fc4f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8829f896ad4128" /><Relationship Type="http://schemas.openxmlformats.org/officeDocument/2006/relationships/notesSlide" Target="/ppt/notesSlides/notesSlide6.xml" Id="R85630139966b41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a6c0f170fd443a" /><Relationship Type="http://schemas.openxmlformats.org/officeDocument/2006/relationships/notesSlide" Target="/ppt/notesSlides/notesSlide7.xml" Id="R65926d8d955e46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b3d8f4568e4602" /><Relationship Type="http://schemas.openxmlformats.org/officeDocument/2006/relationships/notesSlide" Target="/ppt/notesSlides/notesSlide8.xml" Id="R54f310dc049643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832ee0ac3746af" /><Relationship Type="http://schemas.openxmlformats.org/officeDocument/2006/relationships/notesSlide" Target="/ppt/notesSlides/notesSlide9.xml" Id="R75fe129dad4548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1ebb602bae4c67" /><Relationship Type="http://schemas.openxmlformats.org/officeDocument/2006/relationships/notesSlide" Target="/ppt/notesSlides/notesSlide10.xml" Id="R9419dc6747f74d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7aafa2f1f24dc5" /><Relationship Type="http://schemas.openxmlformats.org/officeDocument/2006/relationships/notesSlide" Target="/ppt/notesSlides/notesSlide11.xml" Id="R2b057a5b47de4a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9dd2c48dbe4762" /><Relationship Type="http://schemas.openxmlformats.org/officeDocument/2006/relationships/notesSlide" Target="/ppt/notesSlides/notesSlide12.xml" Id="Rcdff4ec472684e2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27ad5c28624e78" /><Relationship Type="http://schemas.openxmlformats.org/officeDocument/2006/relationships/notesSlide" Target="/ppt/notesSlides/notesSlide13.xml" Id="R1d55839b6f3349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50af877e4e405f" /><Relationship Type="http://schemas.openxmlformats.org/officeDocument/2006/relationships/notesSlide" Target="/ppt/notesSlides/notesSlide14.xml" Id="R3269f3e84098404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3ba9d7a1374216" /><Relationship Type="http://schemas.openxmlformats.org/officeDocument/2006/relationships/notesSlide" Target="/ppt/notesSlides/notesSlide15.xml" Id="R12e115def0dd4ce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f12ba09819429e" /><Relationship Type="http://schemas.openxmlformats.org/officeDocument/2006/relationships/notesSlide" Target="/ppt/notesSlides/notesSlide16.xml" Id="R010e5c99b5c5412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57221a044b4a1f" /><Relationship Type="http://schemas.openxmlformats.org/officeDocument/2006/relationships/notesSlide" Target="/ppt/notesSlides/notesSlide17.xml" Id="R2fcdae0b349f412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286521684a4319" /><Relationship Type="http://schemas.openxmlformats.org/officeDocument/2006/relationships/notesSlide" Target="/ppt/notesSlides/notesSlide18.xml" Id="R8b34c3e598144c4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056ac0df464ca0" /><Relationship Type="http://schemas.openxmlformats.org/officeDocument/2006/relationships/notesSlide" Target="/ppt/notesSlides/notesSlide19.xml" Id="R8c188cbd8a7d4b6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2005846970457e" /><Relationship Type="http://schemas.openxmlformats.org/officeDocument/2006/relationships/notesSlide" Target="/ppt/notesSlides/notesSlide20.xml" Id="R6dcfdcbc8dc748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07DC8-AB60-4541-8FD2-5EDF231ED1C9}"/>
              </a:ext>
            </a:extLst>
          </p:cNvPr>
          <p:cNvCxnSpPr>
            <a:stCxn xmlns:a="http://schemas.openxmlformats.org/drawingml/2006/main" id="4" idx="4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8620125" y="2733675"/>
            <a:ext cx="1119188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8D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AF87C-7112-47CD-9592-8E346FE09217}"/>
              </a:ext>
            </a:extLst>
          </p:cNvPr>
          <p:cNvCxnSpPr>
            <a:stCxn xmlns:a="http://schemas.openxmlformats.org/drawingml/2006/main" id="4" idx="4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7500938" y="2733675"/>
            <a:ext cx="1119187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8D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70F174-0315-4C97-A3D5-B9AB8659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494985"/>
                </a:solidFill>
                <a:latin typeface="Calibri"/>
                <a:ea typeface="Calibri"/>
                <a:cs typeface="Calibri"/>
              </a:rPr>
              <a:t>Binary trees: a second look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33281-F722-43CE-9F69-D61E9510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B1B88-445D-4014-9591-73E11F6D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3340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Draw the tree. Follow a pointer.</a:t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Pause a call. Return to its caller.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Y13 • Cambridge 9618</a:t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VB.NET • 2D arrays and records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670E6-25BC-4478-B80A-67DA20E0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95500"/>
            <a:ext cx="1143000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0F8"/>
          </a:solidFill>
          <a:ln xmlns:a="http://schemas.openxmlformats.org/drawingml/2006/main" w="19050">
            <a:solidFill>
              <a:srgbClr val="4949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0 :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0B5FC-7D90-498A-8D19-F096B6EB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438" y="3429000"/>
            <a:ext cx="1143000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0F8"/>
          </a:solidFill>
          <a:ln xmlns:a="http://schemas.openxmlformats.org/drawingml/2006/main" w="19050">
            <a:solidFill>
              <a:srgbClr val="4949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1 :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B1B55-B948-40E2-9C02-EC447C87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3429000"/>
            <a:ext cx="1143000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0F8"/>
          </a:solidFill>
          <a:ln xmlns:a="http://schemas.openxmlformats.org/drawingml/2006/main" w="19050">
            <a:solidFill>
              <a:srgbClr val="4949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2 :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F3FAD-CB48-44D9-B5D2-52348526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619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26272"/>
                </a:solidFill>
                <a:latin typeface="Calibri"/>
                <a:ea typeface="Calibri"/>
                <a:cs typeface="Calibri"/>
              </a:rPr>
              <a:t>Node labels: index :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BA7F6B-31D0-4697-8835-6276DCFE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26272"/>
                </a:solidFill>
                <a:latin typeface="Calibri"/>
                <a:ea typeface="Calibri"/>
                <a:cs typeface="Calibri"/>
              </a:rPr>
              <a:t>Binary trees follow up • 2D array practice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E47F5E-A577-4B71-8482-61A2C630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077912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578A7-A956-495D-A6F4-59C046A2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494985"/>
                </a:solidFill>
                <a:latin typeface="Calibri"/>
                <a:ea typeface="Calibri"/>
                <a:cs typeface="Calibri"/>
              </a:rPr>
              <a:t>What we are practising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C744A-7C1B-4BC1-BED5-CC225BE2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2946C-687A-4DBE-8723-D02DC4B5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1085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1. Draw and label a tree.</a:t>
            </a:r>
          </a:p>
          <a:p xmlns:a="http://schemas.openxmlformats.org/drawingml/2006/main">
            <a:pPr>
              <a:defRPr sz="210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2. Convert links into row indexes.</a:t>
            </a:r>
          </a:p>
          <a:p xmlns:a="http://schemas.openxmlformats.org/drawingml/2006/main">
            <a:pPr>
              <a:defRPr sz="210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3. Trace a small recursive traversal.</a:t>
            </a:r>
          </a:p>
          <a:p xmlns:a="http://schemas.openxmlformats.org/drawingml/2006/main">
            <a:pPr>
              <a:defRPr sz="210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4. Complete and test InOrder.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860D0-5A74-415D-929D-0799D3ACA28E}"/>
              </a:ext>
            </a:extLst>
          </p:cNvPr>
          <p:cNvGraphicFramePr/>
          <p:nvPr/>
        </p:nvGraphicFramePr>
        <p:xfrm>
          <a:off xmlns:a="http://schemas.openxmlformats.org/drawingml/2006/main" x="619125" y="3286125"/>
          <a:ext xmlns:a="http://schemas.openxmlformats.org/drawingml/2006/main" cx="10953750" cy="1571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76875"/>
                <a:gridCol w="5476875"/>
              </a:tblGrid>
              <a:tr h="523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Core today</a:t>
                      </a:r>
                    </a:p>
                  </a:txBody>
                  <a:tcPr marL="91440" marR="91440" marT="45720" marB="45720"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Later / optional</a:t>
                      </a:r>
                    </a:p>
                  </a:txBody>
                  <a:tcPr marL="91440" marR="91440" marT="45720" marB="45720">
                    <a:solidFill>
                      <a:srgbClr val="49498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In-order and returns</a:t>
                      </a:r>
                    </a:p>
                  </a:txBody>
                  <a:tcPr marL="91440" marR="91440" marT="45720" marB="45720">
                    <a:solidFill>
                      <a:srgbClr val="F2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Post-order transfer</a:t>
                      </a:r>
                    </a:p>
                  </a:txBody>
                  <a:tcPr marL="91440" marR="91440" marT="45720" marB="45720">
                    <a:solidFill>
                      <a:srgbClr val="F2F2F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2D array storage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Record translation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F6552-D781-43C0-9619-7E0B4EB3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26272"/>
                </a:solidFill>
                <a:latin typeface="Calibri"/>
                <a:ea typeface="Calibri"/>
                <a:cs typeface="Calibri"/>
              </a:rPr>
              <a:t>Binary trees follow up • 2D array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38736-4CED-42AC-AFBE-465284CB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663234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5CE1D5-E873-4997-9D12-54582B8C1597}"/>
              </a:ext>
            </a:extLst>
          </p:cNvPr>
          <p:cNvCxnSpPr>
            <a:stCxn xmlns:a="http://schemas.openxmlformats.org/drawingml/2006/main" id="5" idx="4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7500938" y="4067175"/>
            <a:ext cx="581977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8D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B3F5FE-984B-4D07-B80A-6CF4817FACD0}"/>
              </a:ext>
            </a:extLst>
          </p:cNvPr>
          <p:cNvCxnSpPr>
            <a:stCxn xmlns:a="http://schemas.openxmlformats.org/drawingml/2006/main" id="4" idx="4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8620125" y="2733675"/>
            <a:ext cx="1119188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8D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98D66-A0A7-4773-B11F-026537142CE7}"/>
              </a:ext>
            </a:extLst>
          </p:cNvPr>
          <p:cNvCxnSpPr>
            <a:stCxn xmlns:a="http://schemas.openxmlformats.org/drawingml/2006/main" id="4" idx="4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7500938" y="2733675"/>
            <a:ext cx="1119187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8D"/>
            </a:solidFill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F89B2-C473-4A98-8AE6-EBF13093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494985"/>
                </a:solidFill>
                <a:latin typeface="Calibri"/>
                <a:ea typeface="Calibri"/>
                <a:cs typeface="Calibri"/>
              </a:rPr>
              <a:t>A tree we can draw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8971E-40DA-42C3-98B2-89B19DE7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D089F7-9357-4618-A0C7-85CC05F2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3340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Insert 8, 3, 12, 6 in that order.</a:t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Start at the root for each new value.</a:t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Smaller goes left; larger goes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Where does 6 go? Why?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59BD6-9AC2-446C-A2F4-2AE3DED4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95500"/>
            <a:ext cx="1143000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0F8"/>
          </a:solidFill>
          <a:ln xmlns:a="http://schemas.openxmlformats.org/drawingml/2006/main" w="19050">
            <a:solidFill>
              <a:srgbClr val="4949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0 :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BC820-B4AA-4402-97A8-4610247F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438" y="3429000"/>
            <a:ext cx="1143000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0F8"/>
          </a:solidFill>
          <a:ln xmlns:a="http://schemas.openxmlformats.org/drawingml/2006/main" w="19050">
            <a:solidFill>
              <a:srgbClr val="4949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1 :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36140-552B-4A00-8C26-B92EB42F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3429000"/>
            <a:ext cx="1143000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0F8"/>
          </a:solidFill>
          <a:ln xmlns:a="http://schemas.openxmlformats.org/drawingml/2006/main" w="19050">
            <a:solidFill>
              <a:srgbClr val="4949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2 :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104FE-6BFD-4CA6-9B5D-9F50EA51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1415" y="4762500"/>
            <a:ext cx="1143000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0F8"/>
          </a:solidFill>
          <a:ln xmlns:a="http://schemas.openxmlformats.org/drawingml/2006/main" w="19050">
            <a:solidFill>
              <a:srgbClr val="4949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3 : 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E0AC5-3F88-44FE-B9A6-AF6D2BF2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619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26272"/>
                </a:solidFill>
                <a:latin typeface="Calibri"/>
                <a:ea typeface="Calibri"/>
                <a:cs typeface="Calibri"/>
              </a:rPr>
              <a:t>Node labels: index :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D2635B-6EF6-49BA-B332-CF9B8631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26272"/>
                </a:solidFill>
                <a:latin typeface="Calibri"/>
                <a:ea typeface="Calibri"/>
                <a:cs typeface="Calibri"/>
              </a:rPr>
              <a:t>Task 1 • Draw a fresh sketch after each insertion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9222D-DDFB-48FE-AD7F-6AB4DC92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94098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EBC677-08F8-419D-A81B-016EAADF1257}"/>
              </a:ext>
            </a:extLst>
          </p:cNvPr>
          <p:cNvCxnSpPr>
            <a:stCxn xmlns:a="http://schemas.openxmlformats.org/drawingml/2006/main" id="5" idx="4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7500938" y="4067175"/>
            <a:ext cx="581977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8D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DDEDE6-EDB0-4936-9271-99F9D2A96260}"/>
              </a:ext>
            </a:extLst>
          </p:cNvPr>
          <p:cNvCxnSpPr>
            <a:stCxn xmlns:a="http://schemas.openxmlformats.org/drawingml/2006/main" id="4" idx="4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8620125" y="2733675"/>
            <a:ext cx="1119188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8D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D5F40-0D93-4B93-8DDD-942DD5DF2BD1}"/>
              </a:ext>
            </a:extLst>
          </p:cNvPr>
          <p:cNvCxnSpPr>
            <a:stCxn xmlns:a="http://schemas.openxmlformats.org/drawingml/2006/main" id="4" idx="4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7500938" y="2733675"/>
            <a:ext cx="1119187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8D"/>
            </a:solidFill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229803-DDCD-4FA8-BBD2-E46C809F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494985"/>
                </a:solidFill>
                <a:latin typeface="Calibri"/>
                <a:ea typeface="Calibri"/>
                <a:cs typeface="Calibri"/>
              </a:rPr>
              <a:t>The whole subtree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63BC0-D150-4AA7-836E-7F96A017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75DBE-2581-40C6-B7B1-FE33C0FC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3340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Each node has at most two children.</a:t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A leaf has no children.</a:t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A subtree includes its root and everything below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The BST rule applies to the entire subtree.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846F6-C4FC-4FE2-AF72-95C8EF51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95500"/>
            <a:ext cx="1143000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0F8"/>
          </a:solidFill>
          <a:ln xmlns:a="http://schemas.openxmlformats.org/drawingml/2006/main" w="19050">
            <a:solidFill>
              <a:srgbClr val="4949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0 :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60BC6-1646-4B32-9536-2D8B9CE4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438" y="3429000"/>
            <a:ext cx="1143000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0F8"/>
          </a:solidFill>
          <a:ln xmlns:a="http://schemas.openxmlformats.org/drawingml/2006/main" w="19050">
            <a:solidFill>
              <a:srgbClr val="4949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1 :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95269-47A9-4630-BF15-9AB18E8F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3429000"/>
            <a:ext cx="1143000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0F8"/>
          </a:solidFill>
          <a:ln xmlns:a="http://schemas.openxmlformats.org/drawingml/2006/main" w="19050">
            <a:solidFill>
              <a:srgbClr val="4949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2 :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A6566-D820-4223-B8D5-6B95DE3F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1415" y="4762500"/>
            <a:ext cx="1143000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0F8"/>
          </a:solidFill>
          <a:ln xmlns:a="http://schemas.openxmlformats.org/drawingml/2006/main" w="19050">
            <a:solidFill>
              <a:srgbClr val="4949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3 : 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7D9D43-D6E4-4E13-A1E7-84E8756D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619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26272"/>
                </a:solidFill>
                <a:latin typeface="Calibri"/>
                <a:ea typeface="Calibri"/>
                <a:cs typeface="Calibri"/>
              </a:rPr>
              <a:t>Node labels: index :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5E4B4-5115-4AC2-ACAF-BCE62276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26272"/>
                </a:solidFill>
                <a:latin typeface="Calibri"/>
                <a:ea typeface="Calibri"/>
                <a:cs typeface="Calibri"/>
              </a:rPr>
              <a:t>Binary trees follow up • 2D array practice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E292AB-C213-44DB-BEFC-BC5EF539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517582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6550D-CE79-438E-8DF3-8C75D528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494985"/>
                </a:solidFill>
                <a:latin typeface="Calibri"/>
                <a:ea typeface="Calibri"/>
                <a:cs typeface="Calibri"/>
              </a:rPr>
              <a:t>A pointer stores an index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3C868-587C-4DB2-B14C-8CD756FE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1D595-15F1-46D8-85BE-E0717039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1085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Columns: 0 = left, 1 = data, 2 = right.</a:t>
            </a:r>
          </a:p>
          <a:p xmlns:a="http://schemas.openxmlformats.org/drawingml/2006/main">
            <a:pPr>
              <a:defRPr sz="210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-1 means there is no child.</a:t>
            </a:r>
          </a:p>
          <a:p xmlns:a="http://schemas.openxmlformats.org/drawingml/2006/main">
            <a:pPr>
              <a:defRPr sz="210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RootPointer is the index of the root.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DAAB8-EE74-4EAC-B408-0E688D41F759}"/>
              </a:ext>
            </a:extLst>
          </p:cNvPr>
          <p:cNvGraphicFramePr/>
          <p:nvPr/>
        </p:nvGraphicFramePr>
        <p:xfrm>
          <a:off xmlns:a="http://schemas.openxmlformats.org/drawingml/2006/main" x="619125" y="3286125"/>
          <a:ext xmlns:a="http://schemas.openxmlformats.org/drawingml/2006/main" cx="10953750" cy="2524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38438"/>
                <a:gridCol w="2738438"/>
                <a:gridCol w="2738438"/>
                <a:gridCol w="2738438"/>
              </a:tblGrid>
              <a:tr h="5048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Index</a:t>
                      </a:r>
                    </a:p>
                  </a:txBody>
                  <a:tcPr marL="91440" marR="91440" marT="45720" marB="45720"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Left</a:t>
                      </a:r>
                    </a:p>
                  </a:txBody>
                  <a:tcPr marL="91440" marR="91440" marT="45720" marB="45720"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91440" marR="91440" marT="45720" marB="45720"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Right</a:t>
                      </a:r>
                    </a:p>
                  </a:txBody>
                  <a:tcPr marL="91440" marR="91440" marT="45720" marB="45720">
                    <a:solidFill>
                      <a:srgbClr val="494985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2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2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2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8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-1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-1</a:t>
                      </a:r>
                    </a:p>
                  </a:txBody>
                  <a:tcPr marL="91440" marR="91440" marT="45720" marB="45720">
                    <a:solidFill>
                      <a:srgbClr val="F2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2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-1</a:t>
                      </a:r>
                    </a:p>
                  </a:txBody>
                  <a:tcPr marL="91440" marR="91440" marT="45720" marB="45720">
                    <a:solidFill>
                      <a:srgbClr val="F2F2F8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-1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-1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5BB6D-5376-49AC-9D74-8276473D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26272"/>
                </a:solidFill>
                <a:latin typeface="Calibri"/>
                <a:ea typeface="Calibri"/>
                <a:cs typeface="Calibri"/>
              </a:rPr>
              <a:t>Binary trees follow up • 2D array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E0C4B-1EF4-43CF-B0BB-CD09620C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830628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47643-7E47-4A97-97D6-83A70BECA45D}"/>
              </a:ext>
            </a:extLst>
          </p:cNvPr>
          <p:cNvCxnSpPr>
            <a:stCxn xmlns:a="http://schemas.openxmlformats.org/drawingml/2006/main" id="5" idx="4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7500938" y="4067175"/>
            <a:ext cx="581977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8D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542B0-7E4F-47C3-AA20-9EBF71D90562}"/>
              </a:ext>
            </a:extLst>
          </p:cNvPr>
          <p:cNvCxnSpPr>
            <a:stCxn xmlns:a="http://schemas.openxmlformats.org/drawingml/2006/main" id="4" idx="4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8620125" y="2733675"/>
            <a:ext cx="1119188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8D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C32FB-3A90-4DE3-A232-2EB30A5B5BF6}"/>
              </a:ext>
            </a:extLst>
          </p:cNvPr>
          <p:cNvCxnSpPr>
            <a:stCxn xmlns:a="http://schemas.openxmlformats.org/drawingml/2006/main" id="4" idx="4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7500938" y="2733675"/>
            <a:ext cx="1119187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8D"/>
            </a:solidFill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20FFF9-956A-4FC1-9BDE-83F1BB0A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494985"/>
                </a:solidFill>
                <a:latin typeface="Calibri"/>
                <a:ea typeface="Calibri"/>
                <a:cs typeface="Calibri"/>
              </a:rPr>
              <a:t>Following a pointer in two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AC567-0BE1-49BC-94DC-2456463F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08271-EA8F-4D60-85B6-E16FFECF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3340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TreeArray(1, 2) = 3</a:t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Read the right pointer in row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TreeArray(3, 1) = 6</a:t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Read the data in row 3.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7D0E8-DC6D-4FDD-8601-EC9D9416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95500"/>
            <a:ext cx="1143000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0F8"/>
          </a:solidFill>
          <a:ln xmlns:a="http://schemas.openxmlformats.org/drawingml/2006/main" w="19050">
            <a:solidFill>
              <a:srgbClr val="4949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0 :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50412-DB4C-498A-A082-4B1AB898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438" y="3429000"/>
            <a:ext cx="1143000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0F8"/>
          </a:solidFill>
          <a:ln xmlns:a="http://schemas.openxmlformats.org/drawingml/2006/main" w="19050">
            <a:solidFill>
              <a:srgbClr val="4949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1 :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7B311-AE79-4067-97F0-8ECDE738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3429000"/>
            <a:ext cx="1143000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0F8"/>
          </a:solidFill>
          <a:ln xmlns:a="http://schemas.openxmlformats.org/drawingml/2006/main" w="19050">
            <a:solidFill>
              <a:srgbClr val="4949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2 :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B0770-C7BF-43B8-9FF2-A9D427F2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1415" y="4762500"/>
            <a:ext cx="1143000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0F8"/>
          </a:solidFill>
          <a:ln xmlns:a="http://schemas.openxmlformats.org/drawingml/2006/main" w="19050">
            <a:solidFill>
              <a:srgbClr val="4949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3 : 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A72A2C-838C-4007-8B47-F56E832C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619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26272"/>
                </a:solidFill>
                <a:latin typeface="Calibri"/>
                <a:ea typeface="Calibri"/>
                <a:cs typeface="Calibri"/>
              </a:rPr>
              <a:t>Node labels: index :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33D39-5A8F-449F-9475-9EE64956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26272"/>
                </a:solidFill>
                <a:latin typeface="Calibri"/>
                <a:ea typeface="Calibri"/>
                <a:cs typeface="Calibri"/>
              </a:rPr>
              <a:t>Task 2 • Complete the table, then reconstruct a different tree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C1C4BA-4C69-4F43-8811-0B0FB998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644521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B3DC0C-A3AD-4963-857B-1DCAFDD7B786}"/>
              </a:ext>
            </a:extLst>
          </p:cNvPr>
          <p:cNvCxnSpPr>
            <a:stCxn xmlns:a="http://schemas.openxmlformats.org/drawingml/2006/main" id="4" idx="4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8620125" y="2733675"/>
            <a:ext cx="1119188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8D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2A06C-320B-409D-9196-E2B8774A4427}"/>
              </a:ext>
            </a:extLst>
          </p:cNvPr>
          <p:cNvCxnSpPr>
            <a:stCxn xmlns:a="http://schemas.openxmlformats.org/drawingml/2006/main" id="4" idx="4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7500938" y="2733675"/>
            <a:ext cx="1119187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8D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599DD-C9C0-449C-8250-457ECE41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494985"/>
                </a:solidFill>
                <a:latin typeface="Calibri"/>
                <a:ea typeface="Calibri"/>
                <a:cs typeface="Calibri"/>
              </a:rPr>
              <a:t>One job for each call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8C20D-7632-4961-8E52-4AF04C25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49D97-239A-4801-94F3-2298D88D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3340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InOrder(p) means:</a:t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output the subtree whose root is at index 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Each call remembers its own p</a:t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and where to continue after its child returns.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A9E4D-C083-4472-AA65-339E2594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95500"/>
            <a:ext cx="1143000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0F8"/>
          </a:solidFill>
          <a:ln xmlns:a="http://schemas.openxmlformats.org/drawingml/2006/main" w="19050">
            <a:solidFill>
              <a:srgbClr val="4949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0 :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5D861-D69C-478B-98C3-E02A56D5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438" y="3429000"/>
            <a:ext cx="1143000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0F8"/>
          </a:solidFill>
          <a:ln xmlns:a="http://schemas.openxmlformats.org/drawingml/2006/main" w="19050">
            <a:solidFill>
              <a:srgbClr val="4949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1 :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10182-FEE5-4FC1-965C-F45EBEF1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3429000"/>
            <a:ext cx="1143000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0F8"/>
          </a:solidFill>
          <a:ln xmlns:a="http://schemas.openxmlformats.org/drawingml/2006/main" w="19050">
            <a:solidFill>
              <a:srgbClr val="4949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2 :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243CD-A06A-499E-8DF9-53A24550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619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26272"/>
                </a:solidFill>
                <a:latin typeface="Calibri"/>
                <a:ea typeface="Calibri"/>
                <a:cs typeface="Calibri"/>
              </a:rPr>
              <a:t>Node labels: index :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DB820-7A83-49D0-BCE8-F318AFB2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26272"/>
                </a:solidFill>
                <a:latin typeface="Calibri"/>
                <a:ea typeface="Calibri"/>
                <a:cs typeface="Calibri"/>
              </a:rPr>
              <a:t>Binary trees follow up • 2D array practice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6C5FA-33AB-420B-BB74-FA060607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609399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49DFC-56B9-4824-936D-8FCF23A4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494985"/>
                </a:solidFill>
                <a:latin typeface="Calibri"/>
                <a:ea typeface="Calibri"/>
                <a:cs typeface="Calibri"/>
              </a:rPr>
              <a:t>The empty subtree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50DA0-6BF8-4CE5-801A-920D2AD7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E1547-E372-4D3C-B18D-B5BC16B8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3340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When p = -1, return immediately.</a:t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Read no array cell. Output nothing.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A leaf still has two empty subtrees.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AF9D4-6BD0-4C6C-8A99-079EF8D0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54768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5253C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525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5253C"/>
                </a:solidFill>
                <a:latin typeface="Consolas"/>
                <a:ea typeface="Consolas"/>
                <a:cs typeface="Consolas"/>
              </a:rPr>
              <a:t>If p = -1 Then</a:t>
            </a:r>
          </a:p>
          <a:p xmlns:a="http://schemas.openxmlformats.org/drawingml/2006/main">
            <a:pPr>
              <a:defRPr sz="1725" b="0">
                <a:solidFill>
                  <a:srgbClr val="2525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5253C"/>
                </a:solidFill>
                <a:latin typeface="Consolas"/>
                <a:ea typeface="Consolas"/>
                <a:cs typeface="Consolas"/>
              </a:rPr>
              <a:t>    Exit Sub</a:t>
            </a:r>
          </a:p>
          <a:p xmlns:a="http://schemas.openxmlformats.org/drawingml/2006/main">
            <a:pPr>
              <a:defRPr sz="1725" b="0">
                <a:solidFill>
                  <a:srgbClr val="2525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5253C"/>
                </a:solidFill>
                <a:latin typeface="Consolas"/>
                <a:ea typeface="Consolas"/>
                <a:cs typeface="Consolas"/>
              </a:rPr>
              <a:t>End If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EB1AB-8731-49C6-B58E-DD2E72CD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26272"/>
                </a:solidFill>
                <a:latin typeface="Calibri"/>
                <a:ea typeface="Calibri"/>
                <a:cs typeface="Calibri"/>
              </a:rPr>
              <a:t>Binary trees follow up • 2D array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00CFA-2E2E-431C-9906-129C81BC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498040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49D37-6429-4002-9A6D-4B022FE464CD}"/>
              </a:ext>
            </a:extLst>
          </p:cNvPr>
          <p:cNvCxnSpPr>
            <a:stCxn xmlns:a="http://schemas.openxmlformats.org/drawingml/2006/main" id="4" idx="4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8620125" y="2733675"/>
            <a:ext cx="1119188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8D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6F332-EF18-4B3D-BAA1-5AEE3C1259BE}"/>
              </a:ext>
            </a:extLst>
          </p:cNvPr>
          <p:cNvCxnSpPr>
            <a:stCxn xmlns:a="http://schemas.openxmlformats.org/drawingml/2006/main" id="4" idx="4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7500938" y="2733675"/>
            <a:ext cx="1119187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8D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6AC140-9928-4029-AE1A-0D28333E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494985"/>
                </a:solidFill>
                <a:latin typeface="Calibri"/>
                <a:ea typeface="Calibri"/>
                <a:cs typeface="Calibri"/>
              </a:rPr>
              <a:t>The in-order recipe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E51A2-C3D9-4B84-B07E-D0F5310D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08010-68C6-4466-A44C-794528DC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3340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For the subtree at p: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1. If p = -1, return.</a:t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2. Do the whole left subtree.</a:t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3. Output this node’s data.</a:t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4. Do the whole right subtree.</a:t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5. Return to the caller.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933A4-78FA-4D29-A9D1-BA9C3420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95500"/>
            <a:ext cx="1143000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0F8"/>
          </a:solidFill>
          <a:ln xmlns:a="http://schemas.openxmlformats.org/drawingml/2006/main" w="19050">
            <a:solidFill>
              <a:srgbClr val="4949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0 :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04340-4E6F-4079-B289-750FED5A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438" y="3429000"/>
            <a:ext cx="1143000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0F8"/>
          </a:solidFill>
          <a:ln xmlns:a="http://schemas.openxmlformats.org/drawingml/2006/main" w="19050">
            <a:solidFill>
              <a:srgbClr val="4949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1 :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81104-86CF-4B1D-A013-0FCEFBA8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3429000"/>
            <a:ext cx="1143000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0F8"/>
          </a:solidFill>
          <a:ln xmlns:a="http://schemas.openxmlformats.org/drawingml/2006/main" w="19050">
            <a:solidFill>
              <a:srgbClr val="4949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2 :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4A926F-7FF9-4908-B4EA-DC35D374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619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26272"/>
                </a:solidFill>
                <a:latin typeface="Calibri"/>
                <a:ea typeface="Calibri"/>
                <a:cs typeface="Calibri"/>
              </a:rPr>
              <a:t>Node labels: index :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7761B8-88B0-447C-AB32-684CF9FE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26272"/>
                </a:solidFill>
                <a:latin typeface="Calibri"/>
                <a:ea typeface="Calibri"/>
                <a:cs typeface="Calibri"/>
              </a:rPr>
              <a:t>Binary trees follow up • 2D array practice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1C6EF-F3AE-46B1-8144-B8FCB0E7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890692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223F9-DDCE-49CE-9C71-9DD05A7F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494985"/>
                </a:solidFill>
                <a:latin typeface="Calibri"/>
                <a:ea typeface="Calibri"/>
                <a:cs typeface="Calibri"/>
              </a:rPr>
              <a:t>A leaf takes three calls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B7209-C9DC-4B2A-8E73-105EF38E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9D2CC-D127-4704-9718-F676484B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1085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Start InOrder(1), where data = 3.</a:t>
            </a:r>
          </a:p>
          <a:p xmlns:a="http://schemas.openxmlformats.org/drawingml/2006/main">
            <a:pPr>
              <a:defRPr sz="210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Its two child pointers are -1.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51658-DF98-46E1-81FC-172F29D09500}"/>
              </a:ext>
            </a:extLst>
          </p:cNvPr>
          <p:cNvGraphicFramePr/>
          <p:nvPr/>
        </p:nvGraphicFramePr>
        <p:xfrm>
          <a:off xmlns:a="http://schemas.openxmlformats.org/drawingml/2006/main" x="619125" y="3286125"/>
          <a:ext xmlns:a="http://schemas.openxmlformats.org/drawingml/2006/main" cx="10953750" cy="2524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1250"/>
                <a:gridCol w="3651250"/>
                <a:gridCol w="3651250"/>
              </a:tblGrid>
              <a:tr h="4206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Event</a:t>
                      </a:r>
                    </a:p>
                  </a:txBody>
                  <a:tcPr marL="91440" marR="91440" marT="45720" marB="45720"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Output</a:t>
                      </a:r>
                    </a:p>
                  </a:txBody>
                  <a:tcPr marL="91440" marR="91440" marT="45720" marB="45720">
                    <a:solidFill>
                      <a:srgbClr val="494985"/>
                    </a:solidFill>
                  </a:tcPr>
                </a:tc>
              </a:tr>
              <a:tr h="4206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2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Call InOrder(-1) on the left</a:t>
                      </a:r>
                    </a:p>
                  </a:txBody>
                  <a:tcPr marL="91440" marR="91440" marT="45720" marB="45720">
                    <a:solidFill>
                      <a:srgbClr val="F2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2F2F8"/>
                    </a:solidFill>
                  </a:tcPr>
                </a:tc>
              </a:tr>
              <a:tr h="4206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Empty call returns to p=1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06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2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Output TreeArray(1, 1)</a:t>
                      </a:r>
                    </a:p>
                  </a:txBody>
                  <a:tcPr marL="91440" marR="91440" marT="45720" marB="45720">
                    <a:solidFill>
                      <a:srgbClr val="F2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2F2F8"/>
                    </a:solidFill>
                  </a:tcPr>
                </a:tc>
              </a:tr>
              <a:tr h="4206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Call InOrder(-1) on the right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06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2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Empty call returns; leaf returns</a:t>
                      </a:r>
                    </a:p>
                  </a:txBody>
                  <a:tcPr marL="91440" marR="91440" marT="45720" marB="45720">
                    <a:solidFill>
                      <a:srgbClr val="F2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2F2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96ED5-C4AE-4198-8F00-037178E8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26272"/>
                </a:solidFill>
                <a:latin typeface="Calibri"/>
                <a:ea typeface="Calibri"/>
                <a:cs typeface="Calibri"/>
              </a:rPr>
              <a:t>Binary trees follow up • 2D array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577492-64D4-42E4-A1F7-87604405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585199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A9A5F5-4C8E-40FC-8FC8-4655EFD783DF}"/>
              </a:ext>
            </a:extLst>
          </p:cNvPr>
          <p:cNvCxnSpPr>
            <a:stCxn xmlns:a="http://schemas.openxmlformats.org/drawingml/2006/main" id="4" idx="4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8620125" y="2733675"/>
            <a:ext cx="1119188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8D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0F820-C186-47CD-9205-8FE8FCEF3E5A}"/>
              </a:ext>
            </a:extLst>
          </p:cNvPr>
          <p:cNvCxnSpPr>
            <a:stCxn xmlns:a="http://schemas.openxmlformats.org/drawingml/2006/main" id="4" idx="4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7500938" y="2733675"/>
            <a:ext cx="1119187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8D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2EA70-7395-4667-88D4-B0F1B4E3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494985"/>
                </a:solidFill>
                <a:latin typeface="Calibri"/>
                <a:ea typeface="Calibri"/>
                <a:cs typeface="Calibri"/>
              </a:rPr>
              <a:t>The root waits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0296F-B6E9-4A35-AA7F-EC40BBAD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BA74B-CBDA-451F-AB64-9EC63D9B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3340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Start InOrder(0).</a:t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It calls InOrder(1).</a:t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The root call waits before its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After the left call finishes,</a:t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p=0 resumes and outputs 8.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A7403-5769-4B45-A969-54FBEC4D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95500"/>
            <a:ext cx="1143000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0F8"/>
          </a:solidFill>
          <a:ln xmlns:a="http://schemas.openxmlformats.org/drawingml/2006/main" w="19050">
            <a:solidFill>
              <a:srgbClr val="4949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0 :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C28EB-6562-4B38-AD89-9BB83971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438" y="3429000"/>
            <a:ext cx="1143000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0F8"/>
          </a:solidFill>
          <a:ln xmlns:a="http://schemas.openxmlformats.org/drawingml/2006/main" w="19050">
            <a:solidFill>
              <a:srgbClr val="4949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1 :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3477C-40C1-4DBB-B124-0FF0FD81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3429000"/>
            <a:ext cx="1143000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0F8"/>
          </a:solidFill>
          <a:ln xmlns:a="http://schemas.openxmlformats.org/drawingml/2006/main" w="19050">
            <a:solidFill>
              <a:srgbClr val="4949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2 :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70962-30F4-4FF6-98BF-68E1622B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619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26272"/>
                </a:solidFill>
                <a:latin typeface="Calibri"/>
                <a:ea typeface="Calibri"/>
                <a:cs typeface="Calibri"/>
              </a:rPr>
              <a:t>Node labels: index :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9F31D-6CFD-456A-81A6-63A7BAE8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26272"/>
                </a:solidFill>
                <a:latin typeface="Calibri"/>
                <a:ea typeface="Calibri"/>
                <a:cs typeface="Calibri"/>
              </a:rPr>
              <a:t>Binary trees follow up • 2D array practice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D7DC2-7EF4-4110-A2BA-3049CB34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487516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6ABD5-5748-4571-A8F8-A53BC622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494985"/>
                </a:solidFill>
                <a:latin typeface="Calibri"/>
                <a:ea typeface="Calibri"/>
                <a:cs typeface="Calibri"/>
              </a:rPr>
              <a:t>A complete three-node 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68C4D-FE6F-43C2-8330-75EDD5E7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FC268-0090-4D77-A73B-A999B7F0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1085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All arguments below are indexes.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4F014-036F-4173-A6F0-67AEFBC3E6A0}"/>
              </a:ext>
            </a:extLst>
          </p:cNvPr>
          <p:cNvGraphicFramePr/>
          <p:nvPr/>
        </p:nvGraphicFramePr>
        <p:xfrm>
          <a:off xmlns:a="http://schemas.openxmlformats.org/drawingml/2006/main" x="619125" y="3286125"/>
          <a:ext xmlns:a="http://schemas.openxmlformats.org/drawingml/2006/main" cx="10953750" cy="2524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1250"/>
                <a:gridCol w="3651250"/>
                <a:gridCol w="3651250"/>
              </a:tblGrid>
              <a:tr h="5048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happens</a:t>
                      </a:r>
                    </a:p>
                  </a:txBody>
                  <a:tcPr marL="91440" marR="91440" marT="45720" marB="45720"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Output so far</a:t>
                      </a:r>
                    </a:p>
                  </a:txBody>
                  <a:tcPr marL="91440" marR="91440" marT="45720" marB="45720">
                    <a:solidFill>
                      <a:srgbClr val="494985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Left subtree</a:t>
                      </a:r>
                    </a:p>
                  </a:txBody>
                  <a:tcPr marL="91440" marR="91440" marT="45720" marB="45720">
                    <a:solidFill>
                      <a:srgbClr val="F2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1 calls -1; outputs 3; calls -1; returns</a:t>
                      </a:r>
                    </a:p>
                  </a:txBody>
                  <a:tcPr marL="91440" marR="91440" marT="45720" marB="45720">
                    <a:solidFill>
                      <a:srgbClr val="F2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2F2F8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Resume root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Output 8, then call InOrder(2)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3, 8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Right subtree</a:t>
                      </a:r>
                    </a:p>
                  </a:txBody>
                  <a:tcPr marL="91440" marR="91440" marT="45720" marB="45720">
                    <a:solidFill>
                      <a:srgbClr val="F2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2 calls -1; outputs 12; calls -1; returns</a:t>
                      </a:r>
                    </a:p>
                  </a:txBody>
                  <a:tcPr marL="91440" marR="91440" marT="45720" marB="45720">
                    <a:solidFill>
                      <a:srgbClr val="F2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3, 8, 12</a:t>
                      </a:r>
                    </a:p>
                  </a:txBody>
                  <a:tcPr marL="91440" marR="91440" marT="45720" marB="45720">
                    <a:solidFill>
                      <a:srgbClr val="F2F2F8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Resume root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Return to Main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3, 8, 12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1A2AB-D736-4179-90B8-31E309CC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26272"/>
                </a:solidFill>
                <a:latin typeface="Calibri"/>
                <a:ea typeface="Calibri"/>
                <a:cs typeface="Calibri"/>
              </a:rPr>
              <a:t>Task 3 • Draw first, then act out all calls and returns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F211C-545C-45F2-B903-15EBAF18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294292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D5B7D-715E-49F6-B88F-EFF3E043DD42}"/>
              </a:ext>
            </a:extLst>
          </p:cNvPr>
          <p:cNvCxnSpPr>
            <a:stCxn xmlns:a="http://schemas.openxmlformats.org/drawingml/2006/main" id="4" idx="4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8620125" y="2733675"/>
            <a:ext cx="1119188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8D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70DDB-39D8-4722-90AD-6D7056B088C5}"/>
              </a:ext>
            </a:extLst>
          </p:cNvPr>
          <p:cNvCxnSpPr>
            <a:stCxn xmlns:a="http://schemas.openxmlformats.org/drawingml/2006/main" id="4" idx="4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7500938" y="2733675"/>
            <a:ext cx="1119187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8D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DD3D1-EB66-46BB-BAC4-F99F69C2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494985"/>
                </a:solidFill>
                <a:latin typeface="Calibri"/>
                <a:ea typeface="Calibri"/>
                <a:cs typeface="Calibri"/>
              </a:rPr>
              <a:t>A checkpoint before coding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D4386-C8D9-4E51-B5A1-912E9A0A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D6C77-AD77-4C81-AEBF-982ED080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3340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When the left subtree finishes: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Which call resumes?</a:t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What is its p?</a:t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Which instruction comes next?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Use your paper frames to explain.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067E1-0796-4F86-88D1-35F741C3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95500"/>
            <a:ext cx="1143000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0F8"/>
          </a:solidFill>
          <a:ln xmlns:a="http://schemas.openxmlformats.org/drawingml/2006/main" w="19050">
            <a:solidFill>
              <a:srgbClr val="4949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0 :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0289B-6812-4C58-830D-E5994851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438" y="3429000"/>
            <a:ext cx="1143000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0F8"/>
          </a:solidFill>
          <a:ln xmlns:a="http://schemas.openxmlformats.org/drawingml/2006/main" w="19050">
            <a:solidFill>
              <a:srgbClr val="4949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1 :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F7AD8-236A-4420-B98D-79A7741E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3429000"/>
            <a:ext cx="1143000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0F8"/>
          </a:solidFill>
          <a:ln xmlns:a="http://schemas.openxmlformats.org/drawingml/2006/main" w="19050">
            <a:solidFill>
              <a:srgbClr val="4949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2 :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7D36B-EA4F-4D6D-9E78-2A1DF08B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619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26272"/>
                </a:solidFill>
                <a:latin typeface="Calibri"/>
                <a:ea typeface="Calibri"/>
                <a:cs typeface="Calibri"/>
              </a:rPr>
              <a:t>Node labels: index :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FC53CB-4B1D-458D-ACFD-28CB3655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26272"/>
                </a:solidFill>
                <a:latin typeface="Calibri"/>
                <a:ea typeface="Calibri"/>
                <a:cs typeface="Calibri"/>
              </a:rPr>
              <a:t>Binary trees follow up • 2D array practice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FA1C70-4D2A-4C48-B287-06321309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745096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093E81-2C28-4451-A9E0-E4A81A69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494985"/>
                </a:solidFill>
                <a:latin typeface="Calibri"/>
                <a:ea typeface="Calibri"/>
                <a:cs typeface="Calibri"/>
              </a:rPr>
              <a:t>Your turn to complete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41EDF-F335-43C3-A768-AC190005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A70FE-3C5B-4B98-8BC4-A6E4AA3E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1085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Use the recipe to fill Task 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Check for -1 before any array access.</a:t>
            </a:r>
          </a:p>
          <a:p xmlns:a="http://schemas.openxmlformats.org/drawingml/2006/main">
            <a:pPr>
              <a:defRPr sz="210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Pass a child’s index to each call.</a:t>
            </a:r>
          </a:p>
          <a:p xmlns:a="http://schemas.openxmlformats.org/drawingml/2006/main">
            <a:pPr>
              <a:defRPr sz="210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Output the data between those calls.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F9505-85DB-4C63-AFBA-22BCFF6B8219}"/>
              </a:ext>
            </a:extLst>
          </p:cNvPr>
          <p:cNvGraphicFramePr/>
          <p:nvPr/>
        </p:nvGraphicFramePr>
        <p:xfrm>
          <a:off xmlns:a="http://schemas.openxmlformats.org/drawingml/2006/main" x="619125" y="3286125"/>
          <a:ext xmlns:a="http://schemas.openxmlformats.org/drawingml/2006/main" cx="1095375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76875"/>
                <a:gridCol w="5476875"/>
              </a:tblGrid>
              <a:tr h="523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Column</a:t>
                      </a:r>
                    </a:p>
                  </a:txBody>
                  <a:tcPr marL="91440" marR="91440" marT="45720" marB="45720">
                    <a:solidFill>
                      <a:srgbClr val="49498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Left child index</a:t>
                      </a:r>
                    </a:p>
                  </a:txBody>
                  <a:tcPr marL="91440" marR="91440" marT="45720" marB="45720">
                    <a:solidFill>
                      <a:srgbClr val="F2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2F2F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Node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Right child index</a:t>
                      </a:r>
                    </a:p>
                  </a:txBody>
                  <a:tcPr marL="91440" marR="91440" marT="45720" marB="45720">
                    <a:solidFill>
                      <a:srgbClr val="F2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2F2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D8B0A-FC72-419F-93C4-537955D7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26272"/>
                </a:solidFill>
                <a:latin typeface="Calibri"/>
                <a:ea typeface="Calibri"/>
                <a:cs typeface="Calibri"/>
              </a:rPr>
              <a:t>Task 4 • Explain each gap as well as filling 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80242-8830-47E1-8649-13A387BD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344459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C18E7-6B70-4663-98E3-AC1894EC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494985"/>
                </a:solidFill>
                <a:latin typeface="Calibri"/>
                <a:ea typeface="Calibri"/>
                <a:cs typeface="Calibri"/>
              </a:rPr>
              <a:t>The complete in-order procedure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D192E-2797-4CD7-94B7-181B02E6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486FA-E860-4423-B6BB-5708217A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3340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Each call gets its own local p.</a:t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The caller resumes after a child call.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Start with InOrder(RootPointer).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A8220-5A2C-49D7-B3B8-37322388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54768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5253C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525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5253C"/>
                </a:solidFill>
                <a:latin typeface="Consolas"/>
                <a:ea typeface="Consolas"/>
                <a:cs typeface="Consolas"/>
              </a:rPr>
              <a:t>Sub InOrder(ByVal p As Integer)</a:t>
            </a:r>
          </a:p>
          <a:p xmlns:a="http://schemas.openxmlformats.org/drawingml/2006/main">
            <a:pPr>
              <a:defRPr sz="1725" b="0">
                <a:solidFill>
                  <a:srgbClr val="2525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5253C"/>
                </a:solidFill>
                <a:latin typeface="Consolas"/>
                <a:ea typeface="Consolas"/>
                <a:cs typeface="Consolas"/>
              </a:rPr>
              <a:t>    If p = -1 Then</a:t>
            </a:r>
          </a:p>
          <a:p xmlns:a="http://schemas.openxmlformats.org/drawingml/2006/main">
            <a:pPr>
              <a:defRPr sz="1725" b="0">
                <a:solidFill>
                  <a:srgbClr val="2525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5253C"/>
                </a:solidFill>
                <a:latin typeface="Consolas"/>
                <a:ea typeface="Consolas"/>
                <a:cs typeface="Consolas"/>
              </a:rPr>
              <a:t>        Exit Sub</a:t>
            </a:r>
          </a:p>
          <a:p xmlns:a="http://schemas.openxmlformats.org/drawingml/2006/main">
            <a:pPr>
              <a:defRPr sz="1725" b="0">
                <a:solidFill>
                  <a:srgbClr val="2525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5253C"/>
                </a:solidFill>
                <a:latin typeface="Consolas"/>
                <a:ea typeface="Consolas"/>
                <a:cs typeface="Consolas"/>
              </a:rPr>
              <a:t>    End If</a:t>
            </a:r>
          </a:p>
          <a:p xmlns:a="http://schemas.openxmlformats.org/drawingml/2006/main">
            <a:pPr>
              <a:defRPr sz="1725" b="0">
                <a:solidFill>
                  <a:srgbClr val="2525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5253C"/>
                </a:solidFill>
                <a:latin typeface="Consolas"/>
                <a:ea typeface="Consolas"/>
                <a:cs typeface="Consolas"/>
              </a:rPr>
              <a:t>    InOrder(TreeArray(p, 0))</a:t>
            </a:r>
          </a:p>
          <a:p xmlns:a="http://schemas.openxmlformats.org/drawingml/2006/main">
            <a:pPr>
              <a:defRPr sz="1725" b="0">
                <a:solidFill>
                  <a:srgbClr val="2525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5253C"/>
                </a:solidFill>
                <a:latin typeface="Consolas"/>
                <a:ea typeface="Consolas"/>
                <a:cs typeface="Consolas"/>
              </a:rPr>
              <a:t>    Console.WriteLine(TreeArray(p, 1))</a:t>
            </a:r>
          </a:p>
          <a:p xmlns:a="http://schemas.openxmlformats.org/drawingml/2006/main">
            <a:pPr>
              <a:defRPr sz="1725" b="0">
                <a:solidFill>
                  <a:srgbClr val="2525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5253C"/>
                </a:solidFill>
                <a:latin typeface="Consolas"/>
                <a:ea typeface="Consolas"/>
                <a:cs typeface="Consolas"/>
              </a:rPr>
              <a:t>    InOrder(TreeArray(p, 2))</a:t>
            </a:r>
          </a:p>
          <a:p xmlns:a="http://schemas.openxmlformats.org/drawingml/2006/main">
            <a:pPr>
              <a:defRPr sz="1725" b="0">
                <a:solidFill>
                  <a:srgbClr val="2525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5253C"/>
                </a:solidFill>
                <a:latin typeface="Consolas"/>
                <a:ea typeface="Consolas"/>
                <a:cs typeface="Consolas"/>
              </a:rPr>
              <a:t>End Sub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9F63D-6BF4-4695-BF0C-CC6F7D11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26272"/>
                </a:solidFill>
                <a:latin typeface="Calibri"/>
                <a:ea typeface="Calibri"/>
                <a:cs typeface="Calibri"/>
              </a:rPr>
              <a:t>Binary trees follow up • 2D array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7FB57-BD69-45C0-84F5-A1BBB797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243308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5DC9B-DB20-4487-8260-E12034AE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494985"/>
                </a:solidFill>
                <a:latin typeface="Calibri"/>
                <a:ea typeface="Calibri"/>
                <a:cs typeface="Calibri"/>
              </a:rPr>
              <a:t>Two checks for broken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40D54-F015-426B-8768-B03DEA74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2DEC4-4537-4D7C-BE10-96A45FFD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3340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Safety: does the -1 check happen first?</a:t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Order: is the output between the calls?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6FD7E-21FD-49A5-96B5-6C97FBE1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54768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5253C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525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5253C"/>
                </a:solidFill>
                <a:latin typeface="Consolas"/>
                <a:ea typeface="Consolas"/>
                <a:cs typeface="Consolas"/>
              </a:rPr>
              <a:t>' Check the order of these actions</a:t>
            </a:r>
          </a:p>
          <a:p xmlns:a="http://schemas.openxmlformats.org/drawingml/2006/main">
            <a:pPr>
              <a:defRPr sz="1725" b="0">
                <a:solidFill>
                  <a:srgbClr val="2525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5253C"/>
                </a:solidFill>
                <a:latin typeface="Consolas"/>
                <a:ea typeface="Consolas"/>
                <a:cs typeface="Consolas"/>
              </a:rPr>
              <a:t>Check for -1</a:t>
            </a:r>
          </a:p>
          <a:p xmlns:a="http://schemas.openxmlformats.org/drawingml/2006/main">
            <a:pPr>
              <a:defRPr sz="1725" b="0">
                <a:solidFill>
                  <a:srgbClr val="2525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5253C"/>
                </a:solidFill>
                <a:latin typeface="Consolas"/>
                <a:ea typeface="Consolas"/>
                <a:cs typeface="Consolas"/>
              </a:rPr>
              <a:t>Call left subtree</a:t>
            </a:r>
          </a:p>
          <a:p xmlns:a="http://schemas.openxmlformats.org/drawingml/2006/main">
            <a:pPr>
              <a:defRPr sz="1725" b="0">
                <a:solidFill>
                  <a:srgbClr val="2525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5253C"/>
                </a:solidFill>
                <a:latin typeface="Consolas"/>
                <a:ea typeface="Consolas"/>
                <a:cs typeface="Consolas"/>
              </a:rPr>
              <a:t>Output current data</a:t>
            </a:r>
          </a:p>
          <a:p xmlns:a="http://schemas.openxmlformats.org/drawingml/2006/main">
            <a:pPr>
              <a:defRPr sz="1725" b="0">
                <a:solidFill>
                  <a:srgbClr val="2525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5253C"/>
                </a:solidFill>
                <a:latin typeface="Consolas"/>
                <a:ea typeface="Consolas"/>
                <a:cs typeface="Consolas"/>
              </a:rPr>
              <a:t>Call right subtree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8024E-BA4B-4C65-B36B-C93226F2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26272"/>
                </a:solidFill>
                <a:latin typeface="Calibri"/>
                <a:ea typeface="Calibri"/>
                <a:cs typeface="Calibri"/>
              </a:rPr>
              <a:t>Task 5A • Explain both bugs before repairing them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8FA97-FEF6-4208-B37A-BAFBBDCF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711887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F1083-3059-415A-AA7B-0E68AEE2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494985"/>
                </a:solidFill>
                <a:latin typeface="Calibri"/>
                <a:ea typeface="Calibri"/>
                <a:cs typeface="Calibri"/>
              </a:rPr>
              <a:t>Testing one idea at a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5845A-7F98-467D-9269-EA63194D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250EA-FB32-40FF-893C-5E1093FB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1085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Predict first, then run each test.</a:t>
            </a:r>
          </a:p>
          <a:p xmlns:a="http://schemas.openxmlformats.org/drawingml/2006/main">
            <a:pPr>
              <a:defRPr sz="210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Use the supplied table; no insertion code needed.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4213A-7EAB-4F85-BAD3-DEE64E77F5DD}"/>
              </a:ext>
            </a:extLst>
          </p:cNvPr>
          <p:cNvGraphicFramePr/>
          <p:nvPr/>
        </p:nvGraphicFramePr>
        <p:xfrm>
          <a:off xmlns:a="http://schemas.openxmlformats.org/drawingml/2006/main" x="619125" y="3286125"/>
          <a:ext xmlns:a="http://schemas.openxmlformats.org/drawingml/2006/main" cx="10953750" cy="2524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76875"/>
                <a:gridCol w="5476875"/>
              </a:tblGrid>
              <a:tr h="5048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Test</a:t>
                      </a:r>
                    </a:p>
                  </a:txBody>
                  <a:tcPr marL="91440" marR="91440" marT="45720" marB="45720"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checks</a:t>
                      </a:r>
                    </a:p>
                  </a:txBody>
                  <a:tcPr marL="91440" marR="91440" marT="45720" marB="45720">
                    <a:solidFill>
                      <a:srgbClr val="494985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Whole tree</a:t>
                      </a:r>
                    </a:p>
                  </a:txBody>
                  <a:tcPr marL="91440" marR="91440" marT="45720" marB="45720">
                    <a:solidFill>
                      <a:srgbClr val="F2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Links and return order</a:t>
                      </a:r>
                    </a:p>
                  </a:txBody>
                  <a:tcPr marL="91440" marR="91440" marT="45720" marB="45720">
                    <a:solidFill>
                      <a:srgbClr val="F2F2F8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A smaller subtree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The parameter sets the starting root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A leaf</a:t>
                      </a:r>
                    </a:p>
                  </a:txBody>
                  <a:tcPr marL="91440" marR="91440" marT="45720" marB="45720">
                    <a:solidFill>
                      <a:srgbClr val="F2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Two empty child calls</a:t>
                      </a:r>
                    </a:p>
                  </a:txBody>
                  <a:tcPr marL="91440" marR="91440" marT="45720" marB="45720">
                    <a:solidFill>
                      <a:srgbClr val="F2F2F8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-1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53C"/>
                          </a:solidFill>
                          <a:latin typeface="Calibri"/>
                          <a:ea typeface="Calibri"/>
                          <a:cs typeface="Calibri"/>
                        </a:rPr>
                        <a:t>Safe empty-tree handling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E93BD-BAE9-42BC-BB06-A6FB37FC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26272"/>
                </a:solidFill>
                <a:latin typeface="Calibri"/>
                <a:ea typeface="Calibri"/>
                <a:cs typeface="Calibri"/>
              </a:rPr>
              <a:t>Binary trees follow up • 2D array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16258-19E1-492C-8522-689C036A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9410102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438B9C-5B64-4B4A-BA63-051A30E93E2D}"/>
              </a:ext>
            </a:extLst>
          </p:cNvPr>
          <p:cNvCxnSpPr>
            <a:stCxn xmlns:a="http://schemas.openxmlformats.org/drawingml/2006/main" id="4" idx="4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8620125" y="2733675"/>
            <a:ext cx="1119188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8D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045A30-74D3-4B3E-8386-F174410D101B}"/>
              </a:ext>
            </a:extLst>
          </p:cNvPr>
          <p:cNvCxnSpPr>
            <a:stCxn xmlns:a="http://schemas.openxmlformats.org/drawingml/2006/main" id="4" idx="4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7500938" y="2733675"/>
            <a:ext cx="1119187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778D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6F550-1B47-4741-95BC-59E7A1C6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494985"/>
                </a:solidFill>
                <a:latin typeface="Calibri"/>
                <a:ea typeface="Calibri"/>
                <a:cs typeface="Calibri"/>
              </a:rPr>
              <a:t>Optional: a different output 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6E24F-CEFE-4BD2-9A70-8DD3FC62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E18FA-DA4B-49D3-B0C6-08DA1286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3340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In-order: left, OUTPUT, right.</a:t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Post-order: left, right,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The same guard and child pointers work.</a:t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Try Task 5B after your in-order trace is secure.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BED1B-DBEF-4368-9FD6-1D0A4D68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95500"/>
            <a:ext cx="1143000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0F8"/>
          </a:solidFill>
          <a:ln xmlns:a="http://schemas.openxmlformats.org/drawingml/2006/main" w="19050">
            <a:solidFill>
              <a:srgbClr val="4949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0 :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9F14F-AED3-461D-B42D-84ABC533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438" y="3429000"/>
            <a:ext cx="1143000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0F8"/>
          </a:solidFill>
          <a:ln xmlns:a="http://schemas.openxmlformats.org/drawingml/2006/main" w="19050">
            <a:solidFill>
              <a:srgbClr val="4949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1 :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FB3BF-CEF6-4557-8749-6A72E369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3429000"/>
            <a:ext cx="1143000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0F8"/>
          </a:solidFill>
          <a:ln xmlns:a="http://schemas.openxmlformats.org/drawingml/2006/main" w="19050">
            <a:solidFill>
              <a:srgbClr val="494985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2 :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06FD0-781D-40A1-9C81-7E5A8791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619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26272"/>
                </a:solidFill>
                <a:latin typeface="Calibri"/>
                <a:ea typeface="Calibri"/>
                <a:cs typeface="Calibri"/>
              </a:rPr>
              <a:t>Node labels: index :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DA6FD-274B-414A-AB70-C392DABB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26272"/>
                </a:solidFill>
                <a:latin typeface="Calibri"/>
                <a:ea typeface="Calibri"/>
                <a:cs typeface="Calibri"/>
              </a:rPr>
              <a:t>Binary trees follow up • 2D array practice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3CDF00-F9A9-4DFD-89D1-21E81883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10685834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D8505-A149-40A2-8B7F-82EB4D3C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494985"/>
                </a:solidFill>
                <a:latin typeface="Calibri"/>
                <a:ea typeface="Calibri"/>
                <a:cs typeface="Calibri"/>
              </a:rPr>
              <a:t>Optional: records store the same fields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11D90-DBC5-424B-BBA3-CEFE7946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8E1C66-1043-4FA3-BEE9-CFCDB0AD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53340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A record groups the three integers.</a:t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Its child pointers still store indexes.</a:t>
            </a:r>
          </a:p>
          <a:p xmlns:a="http://schemas.openxmlformats.org/drawingml/2006/main">
            <a:pPr>
              <a:defRPr sz="2025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All child pointers must be initialised to -1.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F50E9-92BC-4BBA-8A92-32A0A031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54768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5253C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525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5253C"/>
                </a:solidFill>
                <a:latin typeface="Consolas"/>
                <a:ea typeface="Consolas"/>
                <a:cs typeface="Consolas"/>
              </a:rPr>
              <a:t>Structure NodeRecord</a:t>
            </a:r>
          </a:p>
          <a:p xmlns:a="http://schemas.openxmlformats.org/drawingml/2006/main">
            <a:pPr>
              <a:defRPr sz="1725" b="0">
                <a:solidFill>
                  <a:srgbClr val="2525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5253C"/>
                </a:solidFill>
                <a:latin typeface="Consolas"/>
                <a:ea typeface="Consolas"/>
                <a:cs typeface="Consolas"/>
              </a:rPr>
              <a:t>    Public LeftPointer As Integer</a:t>
            </a:r>
          </a:p>
          <a:p xmlns:a="http://schemas.openxmlformats.org/drawingml/2006/main">
            <a:pPr>
              <a:defRPr sz="1725" b="0">
                <a:solidFill>
                  <a:srgbClr val="2525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5253C"/>
                </a:solidFill>
                <a:latin typeface="Consolas"/>
                <a:ea typeface="Consolas"/>
                <a:cs typeface="Consolas"/>
              </a:rPr>
              <a:t>    Public Data As Integer</a:t>
            </a:r>
          </a:p>
          <a:p xmlns:a="http://schemas.openxmlformats.org/drawingml/2006/main">
            <a:pPr>
              <a:defRPr sz="1725" b="0">
                <a:solidFill>
                  <a:srgbClr val="2525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5253C"/>
                </a:solidFill>
                <a:latin typeface="Consolas"/>
                <a:ea typeface="Consolas"/>
                <a:cs typeface="Consolas"/>
              </a:rPr>
              <a:t>    Public RightPointer As Integer</a:t>
            </a:r>
          </a:p>
          <a:p xmlns:a="http://schemas.openxmlformats.org/drawingml/2006/main">
            <a:pPr>
              <a:defRPr sz="1725" b="0">
                <a:solidFill>
                  <a:srgbClr val="2525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5253C"/>
                </a:solidFill>
                <a:latin typeface="Consolas"/>
                <a:ea typeface="Consolas"/>
                <a:cs typeface="Consolas"/>
              </a:rPr>
              <a:t>End Structure</a:t>
            </a:r>
          </a:p>
          <a:p xmlns:a="http://schemas.openxmlformats.org/drawingml/2006/main">
            <a:pPr>
              <a:defRPr sz="1725" b="0">
                <a:solidFill>
                  <a:srgbClr val="2525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5253C"/>
                </a:solidFill>
                <a:latin typeface="Consolas"/>
                <a:ea typeface="Consolas"/>
                <a:cs typeface="Consolas"/>
              </a:rPr>
              <a:t>Dim Nodes(3) As NodeRecord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525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5253C"/>
                </a:solidFill>
                <a:latin typeface="Consolas"/>
                <a:ea typeface="Consolas"/>
                <a:cs typeface="Consolas"/>
              </a:rPr>
              <a:t>' Array:  TreeArray(p, 0)</a:t>
            </a:r>
          </a:p>
          <a:p xmlns:a="http://schemas.openxmlformats.org/drawingml/2006/main">
            <a:pPr>
              <a:defRPr sz="1725" b="0">
                <a:solidFill>
                  <a:srgbClr val="2525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5253C"/>
                </a:solidFill>
                <a:latin typeface="Consolas"/>
                <a:ea typeface="Consolas"/>
                <a:cs typeface="Consolas"/>
              </a:rPr>
              <a:t>' Record: Nodes(p).LeftPointer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A8488-5135-4E66-B42F-D94470DD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26272"/>
                </a:solidFill>
                <a:latin typeface="Calibri"/>
                <a:ea typeface="Calibri"/>
                <a:cs typeface="Calibri"/>
              </a:rPr>
              <a:t>Binary trees follow up • 2D array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7A1BFB-B620-4FAB-B247-0766E841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303249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A23DA-728E-4F6C-A84C-AAE12BE7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494985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494985"/>
                </a:solidFill>
                <a:latin typeface="Calibri"/>
                <a:ea typeface="Calibri"/>
                <a:cs typeface="Calibri"/>
              </a:rPr>
              <a:t>Exit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25231-D091-434A-A0D3-2264432C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46C34-1E7C-41D6-BED1-BD43D29E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108585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Root: data 8 at index 2.</a:t>
            </a:r>
          </a:p>
          <a:p xmlns:a="http://schemas.openxmlformats.org/drawingml/2006/main">
            <a:pPr>
              <a:defRPr sz="210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Only child: data 5 at index 0, on the left.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Draw it. Give the first call and output.</a:t>
            </a:r>
          </a:p>
          <a:p xmlns:a="http://schemas.openxmlformats.org/drawingml/2006/main">
            <a:pPr>
              <a:defRPr sz="210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Where does the root call resume</a:t>
            </a:r>
          </a:p>
          <a:p xmlns:a="http://schemas.openxmlformats.org/drawingml/2006/main">
            <a:pPr>
              <a:defRPr sz="210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after its left call?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BD2BC-EA62-4FAA-897A-83CEFF91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62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26272"/>
                </a:solidFill>
                <a:latin typeface="Calibri"/>
                <a:ea typeface="Calibri"/>
                <a:cs typeface="Calibri"/>
              </a:rPr>
              <a:t>Next practice • Repeat on a new shape before adding 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A128E-AAB4-4F07-99F7-9D8E9616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5253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5253C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269730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2026-10-09T06:01:45.6400000Z</dcterms:created>
  <dcterms:modified xsi:type="dcterms:W3CDTF">2026-10-09T06:01:45.6400000Z</dcterms:modified>
</coreProperties>
</file>