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lesson on object-oriented programming. Covers syllabus 20.1: the four programming paradigms (low-level, imperative/procedural, object-oriented, declarative) and the core OOP ideas - class, object/instance, attributes, methods, encapsulation and data hiding, constructors, getters and setters - in VB.NET and Cambridge pseudocode. Inheritance, polymorphism, overloading and containment are left for the next lesson.
Suggested 60-minute pacing (also on slide 20):
0-5 starter (Task 1)
5-15 paradigms (slides 4-7) + Task 2(a)
15-25 class vs object, class diagram, encapsulation (slides 8-11) + Task 2(b)
25-40 VB.NET class, constructor, getters/setters, objects, trace (slides 12-17) + Task 3
40-55 Task 4 (fill the gaps) and start Task 5
55-60 exit question.
Task 5 (finish) and Task 6 (real exam questions) are homework / next lesson at the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Worksheet Task 1, 5 minutes - a real question: 9618/31 and /32 May/June 2021 Q9(c) [4]. Students do not know the paradigm names yet: ask them to describe what is different about each style first. Official answers: A declarative (Prolog facts); B procedural / imperative (a sequence of steps changing a variable); C low-level / assembly (LDD, INC ACC, STO - Chapter 4); D object-oriented (a class with a private attribute and a constructor - written in Java).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programming paradigm is a set of programming concepts - a style or way of thinking about how a program is written. Most languages are multi-paradigm: VB.NET and Python support both procedural and object-oriented programming. The syllabus names four: low-level, imperative (procedural), object-oriented and declarative. Reveal the starter answers here: A declarative, B imperative, C low-level, D object-oriented.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Low-level: instructions from the computer's basic instruction set (assembly / machine code); direct access to registers and memory addresses, uses addressing modes; fast and memory-efficient but hardware-specific and hard to write. Used for device drivers and embedded systems (textbook: a printer driver).
Imperative / procedural: steps set out in the order they are carried out; variables change state; structured programming adds procedures, functions, parameters, local and global variables. Good for small, simple programs; usually quick to run. This is how students have programmed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OOP: the program is built from objects; each object is created from a class that defines its attributes (data) and methods (code). Data is encapsulated with the methods and hidden (private), so it can only be changed through the methods. Objects communicate by calling each other's methods. Supports inheritance and polymorphism (next lesson). Good for large, complex programs that model real-world things; code is reusable.
Declarative: the programmer writes facts and rules (a knowledge base) and then a goal / query; the language works out HOW to find the answer. Examples: Prolog, SQL. Facts and rules can be written in any order. Variables in Prolog start with a capital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"describe / compare the characteristics of" questions. Each row is a separate creditable point. Worksheet Task 2(a) checks this - the table is a "check your answers" page in the booklet.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A game with 100 players: the procedural way needs parallel arrays and any procedure can change any value (e.g. set someone's lives to -7 by mistake). The OOP way bundles each player's data with the code allowed to change it. Ask: which version would you rather debug when Ava's score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idea of the lesson. A class is a template (blueprint) that defines the attributes and methods; it holds no data itself. An object is an instance of a class: it is created from the class at run time and has its own values for the attributes. Creating an object = instantiation. Analogy: the class is the cookie cutter; objects are the cookies - same shape, different icing.
Examiner reports often note candidates using "class" and "object" interchangeably.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Cambridge class diagrams have three parts: class name, attributes (with data types) and methods. Exam questions usually give a class diagram and ask you to write the class. In this lesson: - means private, + means public (UML convention); Cambridge diagrams often just list attributes then methods, and the question text says which are private. Note: Figure 20.1 in the textbook labels the methods "attributes declared as public" - it means methods declared as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key terms: encapsulation = putting data and methods together as a single unit, a class. Data hiding = protecting the integrity of an object by restricting access to its data and methods (private). Encapsulation is one way of achieving data hiding. Benefits: data can only be changed in controlled ways (validation in setters), so it stays valid; reduces complexity - other programmers only need to know the public methods; makes code easier to maintain and 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 class OUTSIDE Sub Main but inside the Module (or in its own file). Attributes are declared with Private instead of Dim. VB is not case-sensitive, so a parameter cannot have the same name as an attribute unless you use Me.Name - Cambridge model answers usually give parameters a different name (e.g. PName or NameP). Me refers to the object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a constructor is a method used to initialise a new object; it runs when the object is created (memory is allocated). In VB.NET it is always called New and is a Sub (it returns nothing). Parameters supply starting values; other attributes get default values. Typical P4 marking points: constructor header with correct parameters; each attribute assigned (from the parameter or a given default value).
Quick check: Dim P3 As New Player() causes a compile error - the only constructor needs a name.
Mark schemes accept the constructor with or without Public, and often leave parameters untyped (e.g. Sub New(IDP, MaxSpeedP, IncreaseAmountP)) - teach the typed form. Parameters are named differently from the attributes (DescriptionP, PColour) rather than using Me. Examiner report 9618/41 Nov 2023: some candidates did not include the required parameters in the constructor.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Examiner reports (9618/41 June and Nov 2023): common errors were sending a parameter to a get method, OUTPUTTING the value instead of returning it, reading input inside a set method, and returning the parameter instead of the attribute. Mark points: get = no parameter + returns the attribute; set = takes a parameter, no return + assigns it to the attribute.
Getter: a method (Function) that returns the value of a private attribute. Setter: a method (Sub) that changes a private attribute - and can validate the new value first, which is the point of data hiding. Typical P4 marking points: Function header with return type; Return of the correct attribute; setter takes a parameter and assigns it. AddPoints is an ordinary method that changes the data in a controlled way.
In pseudocode: PUBLIC FUNCTION GetScore() RETURNS INTEGER ... RETURN Score ... ENDFUNCTION.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Dot notation: objectName.methodName(arguments). Each object has its own copy of the attributes. Spot the error: P1.Score = 100 does not compile - Score is private ("Player.Score is not accessible in this context because it is Private"). Fix: use a public method, e.g. P1.AddPoints(100). Line 3 error: GetScore is a function with no parameter, so you cannot pass 10. Line 5: missing New, so P3 is Nothing and calling a method crashes at run time (NullReferenceException).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trace (verified by running an equivalent program). Each object keeps its own attributes. P2.SetLives(9) is rejected by the validation, so Ben keeps 3 lives. Output:
Ava 65
Ben 20
Worksheet Task 3 is a similar trace with a different class - do it straight after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Cambridge pseudocode guide (9618): CLASS ... ENDCLASS; PRIVATE / PUBLIC for attributes and methods; the constructor is PUBLIC PROCEDURE NEW(...); an object is created with NEW ClassName(...). Paper 3 and Paper 2 questions use this format, and Paper 4 questions describe classes in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mark scheme for 9618/41 Oct/Nov 2021 Q2(a)-(c) (Picture class: Description, Width, Height, FrameColour - all private; constructor takes four parameters; four getters; SetDescription). Model answer adapted from the mark scheme with types added. Every Paper 4 class question starts with this pattern: (a) class + private attributes + constructor [4-5]; (b) getters [2-3]; (c) setters [2-3]; then creating objects. Show after Task 4 and before students start Task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answers: 9618/32 May/June 2023 Q4 [4] (draw a line from each term to its description; one description is a distractor) and 9618/32 Oct/Nov 2022 Q10(a) [3]. Examiner reports: use the words property, method, class or object in definitions; do not define a term using its own name ("a getter 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60-minute plan. Tasks 1-4 are done in the lesson; Task 5 is started in class and finished for homework; Task 6 (real Paper 3 and Paper 4 questions) is homework or the start of the next lesson at the computer. If time is short, skip slide 8 and set Task 2(a)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which they believed at the start. Sources: examiner reports for 9618 Paper 3 / Paper 4 and common errors in first OOP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answers:
(a) A class is a template / blueprint that defines the attributes and methods (1); an object is an instance of a class with its own attribute values (1).
(b) Any one: data (attributes) and methods are combined in one unit; attributes are private so they can only be accessed through public methods; protects the data / keeps it valid (1).
(c) Public Function GetLives() As Integer / Return Lives / End Function (1 header with return type, 1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lesson: inheritance and polymorphism (and overloading / containment) - derived classes that reuse a base class such as Player. Edit if your scheme differs.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900416" y="0"/>
            <a:ext cx="4288536" cy="6858000"/>
          </a:xfrm>
          <a:prstGeom prst="rect">
            <a:avLst/>
          </a:prstGeom>
          <a:solidFill>
            <a:srgbClr val="FFD84D"/>
          </a:solidFill>
          <a:ln w="12700">
            <a:solidFill>
              <a:srgbClr val="FFD84D"/>
            </a:solidFill>
            <a:prstDash val="solid"/>
          </a:ln>
        </p:spPr>
      </p:sp>
      <p:sp>
        <p:nvSpPr>
          <p:cNvPr id="3" name="Text 1"/>
          <p:cNvSpPr txBox="1"/>
          <p:nvPr/>
        </p:nvSpPr>
        <p:spPr>
          <a:xfrm>
            <a:off x="667512" y="2560320"/>
            <a:ext cx="7004304" cy="914400"/>
          </a:xfrm>
          <a:prstGeom prst="rect">
            <a:avLst/>
          </a:prstGeom>
          <a:noFill/>
          <a:ln/>
        </p:spPr>
        <p:txBody>
          <a:bodyPr wrap="square" lIns="0" tIns="0" rIns="0" bIns="0" rtlCol="0" anchor="b"/>
          <a:lstStyle/>
          <a:p>
            <a:pPr indent="0" marL="0">
              <a:buNone/>
            </a:pPr>
            <a:r>
              <a:rPr lang="en-US" sz="5400" b="1" dirty="0">
                <a:solidFill>
                  <a:srgbClr val="202124"/>
                </a:solidFill>
                <a:latin typeface="Quicksand" pitchFamily="34" charset="0"/>
                <a:ea typeface="Quicksand" pitchFamily="34" charset="-122"/>
                <a:cs typeface="Quicksand" pitchFamily="34" charset="-120"/>
              </a:rPr>
              <a:t>Classes</a:t>
            </a:r>
            <a:endParaRPr lang="en-US" sz="5400" dirty="0"/>
          </a:p>
        </p:txBody>
      </p:sp>
      <p:sp>
        <p:nvSpPr>
          <p:cNvPr id="4" name="Text 2"/>
          <p:cNvSpPr txBox="1"/>
          <p:nvPr/>
        </p:nvSpPr>
        <p:spPr>
          <a:xfrm>
            <a:off x="667512" y="3547872"/>
            <a:ext cx="7004304" cy="411480"/>
          </a:xfrm>
          <a:prstGeom prst="rect">
            <a:avLst/>
          </a:prstGeom>
          <a:noFill/>
          <a:ln/>
        </p:spPr>
        <p:txBody>
          <a:bodyPr wrap="square" lIns="0" tIns="0" rIns="0" bIns="0" rtlCol="0" anchor="ctr"/>
          <a:lstStyle/>
          <a:p>
            <a:pPr indent="0" marL="0">
              <a:buNone/>
            </a:pPr>
            <a:r>
              <a:rPr lang="en-US" sz="2000" dirty="0">
                <a:solidFill>
                  <a:srgbClr val="666666"/>
                </a:solidFill>
                <a:latin typeface="Quicksand" pitchFamily="34" charset="0"/>
                <a:ea typeface="Quicksand" pitchFamily="34" charset="-122"/>
                <a:cs typeface="Quicksand" pitchFamily="34" charset="-120"/>
              </a:rPr>
              <a:t>Y13 - Cambridge International 9618  |  20.1</a:t>
            </a:r>
            <a:endParaRPr lang="en-US" sz="2000" dirty="0"/>
          </a:p>
        </p:txBody>
      </p:sp>
      <p:sp>
        <p:nvSpPr>
          <p:cNvPr id="5" name="Shape 3"/>
          <p:cNvSpPr/>
          <p:nvPr/>
        </p:nvSpPr>
        <p:spPr>
          <a:xfrm>
            <a:off x="667512" y="4050792"/>
            <a:ext cx="1719072" cy="54864"/>
          </a:xfrm>
          <a:prstGeom prst="rect">
            <a:avLst/>
          </a:prstGeom>
          <a:solidFill>
            <a:srgbClr val="494985"/>
          </a:solidFill>
          <a:ln w="12700">
            <a:solidFill>
              <a:srgbClr val="494985"/>
            </a:solidFill>
            <a:prstDash val="solid"/>
          </a:ln>
        </p:spPr>
      </p:sp>
      <p:sp>
        <p:nvSpPr>
          <p:cNvPr id="6" name="Text 4"/>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a:t>
            </a:r>
            <a:endParaRPr lang="en-US" sz="1350" dirty="0"/>
          </a:p>
        </p:txBody>
      </p:sp>
      <p:sp>
        <p:nvSpPr>
          <p:cNvPr id="8" name="Shape 5"/>
          <p:cNvSpPr/>
          <p:nvPr/>
        </p:nvSpPr>
        <p:spPr>
          <a:xfrm>
            <a:off x="8275320" y="2011680"/>
            <a:ext cx="3566160" cy="274320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9" name="Text 6"/>
          <p:cNvSpPr txBox="1"/>
          <p:nvPr/>
        </p:nvSpPr>
        <p:spPr>
          <a:xfrm>
            <a:off x="8412480" y="2103120"/>
            <a:ext cx="3291840" cy="2560320"/>
          </a:xfrm>
          <a:prstGeom prst="rect">
            <a:avLst/>
          </a:prstGeom>
          <a:noFill/>
          <a:ln/>
        </p:spPr>
        <p:txBody>
          <a:bodyPr wrap="square" lIns="0" tIns="0" rIns="0" bIns="0" rtlCol="0" anchor="t"/>
          <a:lstStyle/>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Class Player</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Private Name As String</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Private Score As Integer</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Public Sub New(PName As String)</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Name = PName</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Score = 0</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Sub</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End Class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Starter: four ways to write a program</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Starter activity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a:t>
            </a:r>
            <a:endParaRPr lang="en-US" sz="1350" dirty="0"/>
          </a:p>
        </p:txBody>
      </p:sp>
      <p:sp>
        <p:nvSpPr>
          <p:cNvPr id="7" name="Text 4"/>
          <p:cNvSpPr/>
          <p:nvPr/>
        </p:nvSpPr>
        <p:spPr>
          <a:xfrm>
            <a:off x="786384" y="124358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A</a:t>
            </a:r>
            <a:endParaRPr lang="en-US" sz="1200" dirty="0"/>
          </a:p>
        </p:txBody>
      </p:sp>
      <p:sp>
        <p:nvSpPr>
          <p:cNvPr id="8" name="Shape 5"/>
          <p:cNvSpPr/>
          <p:nvPr/>
        </p:nvSpPr>
        <p:spPr>
          <a:xfrm>
            <a:off x="1234440" y="1234440"/>
            <a:ext cx="4754880" cy="21945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9" name="Text 6"/>
          <p:cNvSpPr txBox="1"/>
          <p:nvPr/>
        </p:nvSpPr>
        <p:spPr>
          <a:xfrm>
            <a:off x="1371600" y="1325880"/>
            <a:ext cx="4480560" cy="2011680"/>
          </a:xfrm>
          <a:prstGeom prst="rect">
            <a:avLst/>
          </a:prstGeom>
          <a:noFill/>
          <a:ln/>
        </p:spPr>
        <p:txBody>
          <a:bodyPr wrap="square" lIns="0" tIns="0" rIns="0" bIns="0" rtlCol="0" anchor="t"/>
          <a:lstStyle/>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male(john).</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female(ethel).</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parent(john, ethel).</a:t>
            </a:r>
            <a:endParaRPr lang="en-US" sz="1250" dirty="0"/>
          </a:p>
        </p:txBody>
      </p:sp>
      <p:sp>
        <p:nvSpPr>
          <p:cNvPr id="10" name="Text 7"/>
          <p:cNvSpPr/>
          <p:nvPr/>
        </p:nvSpPr>
        <p:spPr>
          <a:xfrm>
            <a:off x="6272784" y="124358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B</a:t>
            </a:r>
            <a:endParaRPr lang="en-US" sz="1200" dirty="0"/>
          </a:p>
        </p:txBody>
      </p:sp>
      <p:sp>
        <p:nvSpPr>
          <p:cNvPr id="11" name="Shape 8"/>
          <p:cNvSpPr/>
          <p:nvPr/>
        </p:nvSpPr>
        <p:spPr>
          <a:xfrm>
            <a:off x="6720840" y="1234440"/>
            <a:ext cx="4754880" cy="21945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2" name="Text 9"/>
          <p:cNvSpPr txBox="1"/>
          <p:nvPr/>
        </p:nvSpPr>
        <p:spPr>
          <a:xfrm>
            <a:off x="6858000" y="1325880"/>
            <a:ext cx="4480560" cy="2011680"/>
          </a:xfrm>
          <a:prstGeom prst="rect">
            <a:avLst/>
          </a:prstGeom>
          <a:noFill/>
          <a:ln/>
        </p:spPr>
        <p:txBody>
          <a:bodyPr wrap="square" lIns="0" tIns="0" rIns="0" bIns="0" rtlCol="0" anchor="t"/>
          <a:lstStyle/>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FOR Counter = 1 TO 20</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X = X * Counter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NEXT Counter</a:t>
            </a:r>
            <a:endParaRPr lang="en-US" sz="1250" dirty="0"/>
          </a:p>
        </p:txBody>
      </p:sp>
      <p:sp>
        <p:nvSpPr>
          <p:cNvPr id="13" name="Text 10"/>
          <p:cNvSpPr/>
          <p:nvPr/>
        </p:nvSpPr>
        <p:spPr>
          <a:xfrm>
            <a:off x="786384" y="366674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C</a:t>
            </a:r>
            <a:endParaRPr lang="en-US" sz="1200" dirty="0"/>
          </a:p>
        </p:txBody>
      </p:sp>
      <p:sp>
        <p:nvSpPr>
          <p:cNvPr id="14" name="Shape 11"/>
          <p:cNvSpPr/>
          <p:nvPr/>
        </p:nvSpPr>
        <p:spPr>
          <a:xfrm>
            <a:off x="1234440" y="3657600"/>
            <a:ext cx="4754880" cy="21945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5" name="Text 12"/>
          <p:cNvSpPr txBox="1"/>
          <p:nvPr/>
        </p:nvSpPr>
        <p:spPr>
          <a:xfrm>
            <a:off x="1371600" y="3749040"/>
            <a:ext cx="4480560" cy="2011680"/>
          </a:xfrm>
          <a:prstGeom prst="rect">
            <a:avLst/>
          </a:prstGeom>
          <a:noFill/>
          <a:ln/>
        </p:spPr>
        <p:txBody>
          <a:bodyPr wrap="square" lIns="0" tIns="0" rIns="0" bIns="0" rtlCol="0" anchor="t"/>
          <a:lstStyle/>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Start: LDD Counter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INC ACC</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STO Counter</a:t>
            </a:r>
            <a:endParaRPr lang="en-US" sz="1250" dirty="0"/>
          </a:p>
        </p:txBody>
      </p:sp>
      <p:sp>
        <p:nvSpPr>
          <p:cNvPr id="16" name="Text 13"/>
          <p:cNvSpPr/>
          <p:nvPr/>
        </p:nvSpPr>
        <p:spPr>
          <a:xfrm>
            <a:off x="6272784" y="3666744"/>
            <a:ext cx="347472" cy="347472"/>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200" b="1" dirty="0">
                <a:solidFill>
                  <a:srgbClr val="FFFFFF"/>
                </a:solidFill>
                <a:latin typeface="Quicksand" pitchFamily="34" charset="0"/>
                <a:ea typeface="Quicksand" pitchFamily="34" charset="-122"/>
                <a:cs typeface="Quicksand" pitchFamily="34" charset="-120"/>
              </a:rPr>
              <a:t>D</a:t>
            </a:r>
            <a:endParaRPr lang="en-US" sz="1200" dirty="0"/>
          </a:p>
        </p:txBody>
      </p:sp>
      <p:sp>
        <p:nvSpPr>
          <p:cNvPr id="17" name="Shape 14"/>
          <p:cNvSpPr/>
          <p:nvPr/>
        </p:nvSpPr>
        <p:spPr>
          <a:xfrm>
            <a:off x="6720840" y="3657600"/>
            <a:ext cx="4754880" cy="21945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8" name="Text 15"/>
          <p:cNvSpPr txBox="1"/>
          <p:nvPr/>
        </p:nvSpPr>
        <p:spPr>
          <a:xfrm>
            <a:off x="6858000" y="3749040"/>
            <a:ext cx="4480560" cy="2011680"/>
          </a:xfrm>
          <a:prstGeom prst="rect">
            <a:avLst/>
          </a:prstGeom>
          <a:noFill/>
          <a:ln/>
        </p:spPr>
        <p:txBody>
          <a:bodyPr wrap="square" lIns="0" tIns="0" rIns="0" bIns="0" rtlCol="0" anchor="t"/>
          <a:lstStyle/>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public class Vehicle {</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private int speed;</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public Vehicle() {</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speed = 0;</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a:t>
            </a:r>
            <a:endParaRPr lang="en-US" sz="1250" dirty="0"/>
          </a:p>
        </p:txBody>
      </p:sp>
      <p:sp>
        <p:nvSpPr>
          <p:cNvPr id="19" name="Text 16"/>
          <p:cNvSpPr txBox="1"/>
          <p:nvPr/>
        </p:nvSpPr>
        <p:spPr>
          <a:xfrm>
            <a:off x="777240" y="6035040"/>
            <a:ext cx="10698480" cy="36576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Which is which? How is each style different?   (9618/31 June 2021 Q9(c), D is written in Java)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 will</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Objectives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3</a:t>
            </a:r>
            <a:endParaRPr lang="en-US" sz="1350" dirty="0"/>
          </a:p>
        </p:txBody>
      </p:sp>
      <p:sp>
        <p:nvSpPr>
          <p:cNvPr id="6" name="Text 4"/>
          <p:cNvSpPr txBox="1"/>
          <p:nvPr/>
        </p:nvSpPr>
        <p:spPr>
          <a:xfrm>
            <a:off x="841248" y="1463040"/>
            <a:ext cx="10241280" cy="402336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Describe the four programming paradigms: low-level, imperative, object-oriented and declarative</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Explain the difference between a class and an object (instance)</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Use the terms attribute, method, encapsulation and data hiding correctly</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Read and draw a class diagram</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Write a class in VB.NET with private attributes, a constructor, getters and setters, and create objects from it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What is a programming paradigm?</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4</a:t>
            </a:r>
            <a:endParaRPr lang="en-US" sz="1350" dirty="0"/>
          </a:p>
        </p:txBody>
      </p:sp>
      <p:sp>
        <p:nvSpPr>
          <p:cNvPr id="7" name="Text 4"/>
          <p:cNvSpPr txBox="1"/>
          <p:nvPr/>
        </p:nvSpPr>
        <p:spPr>
          <a:xfrm>
            <a:off x="777240" y="1234440"/>
            <a:ext cx="10698480" cy="640080"/>
          </a:xfrm>
          <a:prstGeom prst="rect">
            <a:avLst/>
          </a:prstGeom>
          <a:noFill/>
          <a:ln/>
        </p:spPr>
        <p:txBody>
          <a:bodyPr wrap="square" lIns="0" tIns="0" rIns="0" bIns="0" rtlCol="0" anchor="t"/>
          <a:lstStyle/>
          <a:p>
            <a:pPr indent="0" marL="0">
              <a:buNone/>
            </a:pPr>
            <a:r>
              <a:rPr lang="en-US" sz="1600" b="1" dirty="0">
                <a:solidFill>
                  <a:srgbClr val="202124"/>
                </a:solidFill>
                <a:latin typeface="Quicksand" pitchFamily="34" charset="0"/>
                <a:ea typeface="Quicksand" pitchFamily="34" charset="-122"/>
                <a:cs typeface="Quicksand" pitchFamily="34" charset="-120"/>
              </a:rPr>
              <a:t>A programming paradigm is a set of programming concepts: a style of writing programs. Most languages support more than one.</a:t>
            </a:r>
            <a:endParaRPr lang="en-US" sz="1600" dirty="0"/>
          </a:p>
        </p:txBody>
      </p:sp>
      <p:sp>
        <p:nvSpPr>
          <p:cNvPr id="8" name="Shape 5"/>
          <p:cNvSpPr/>
          <p:nvPr/>
        </p:nvSpPr>
        <p:spPr>
          <a:xfrm>
            <a:off x="777240" y="2148840"/>
            <a:ext cx="2560320" cy="3291840"/>
          </a:xfrm>
          <a:prstGeom prst="rect">
            <a:avLst/>
          </a:prstGeom>
          <a:solidFill>
            <a:srgbClr val="E8DFF5"/>
          </a:solidFill>
          <a:ln w="12700">
            <a:solidFill>
              <a:srgbClr val="E8DFF5"/>
            </a:solidFill>
            <a:prstDash val="solid"/>
          </a:ln>
        </p:spPr>
      </p:sp>
      <p:sp>
        <p:nvSpPr>
          <p:cNvPr id="9" name="Text 6"/>
          <p:cNvSpPr/>
          <p:nvPr/>
        </p:nvSpPr>
        <p:spPr>
          <a:xfrm>
            <a:off x="914400" y="2286000"/>
            <a:ext cx="2286000" cy="731520"/>
          </a:xfrm>
          <a:prstGeom prst="rect">
            <a:avLst/>
          </a:prstGeom>
          <a:noFill/>
          <a:ln/>
        </p:spPr>
        <p:txBody>
          <a:bodyPr wrap="square" lIns="0" tIns="0" rIns="0" bIns="0" rtlCol="0" anchor="t"/>
          <a:lstStyle/>
          <a:p>
            <a:pPr indent="0" marL="0">
              <a:buNone/>
            </a:pPr>
            <a:r>
              <a:rPr lang="en-US" sz="1800" b="1" dirty="0">
                <a:solidFill>
                  <a:srgbClr val="494985"/>
                </a:solidFill>
                <a:latin typeface="Quicksand" pitchFamily="34" charset="0"/>
                <a:ea typeface="Quicksand" pitchFamily="34" charset="-122"/>
                <a:cs typeface="Quicksand" pitchFamily="34" charset="-120"/>
              </a:rPr>
              <a:t>Low-level</a:t>
            </a:r>
            <a:endParaRPr lang="en-US" sz="1800" dirty="0"/>
          </a:p>
        </p:txBody>
      </p:sp>
      <p:sp>
        <p:nvSpPr>
          <p:cNvPr id="10" name="Text 7"/>
          <p:cNvSpPr txBox="1"/>
          <p:nvPr/>
        </p:nvSpPr>
        <p:spPr>
          <a:xfrm>
            <a:off x="914400" y="3108960"/>
            <a:ext cx="2286000" cy="1783080"/>
          </a:xfrm>
          <a:prstGeom prst="rect">
            <a:avLst/>
          </a:prstGeom>
          <a:noFill/>
          <a:ln/>
        </p:spPr>
        <p:txBody>
          <a:bodyPr wrap="square" lIns="0" tIns="0" rIns="0" bIns="0" rtlCol="0" anchor="t"/>
          <a:lstStyle/>
          <a:p>
            <a:pPr indent="0" marL="0">
              <a:spcAft>
                <a:spcPts val="600"/>
              </a:spcAft>
              <a:buNone/>
            </a:pPr>
            <a:r>
              <a:rPr lang="en-US" sz="1500" dirty="0">
                <a:solidFill>
                  <a:srgbClr val="202124"/>
                </a:solidFill>
                <a:latin typeface="Quicksand" pitchFamily="34" charset="0"/>
                <a:ea typeface="Quicksand" pitchFamily="34" charset="-122"/>
                <a:cs typeface="Quicksand" pitchFamily="34" charset="-120"/>
              </a:rPr>
              <a:t>Uses the processor's instruction set: machine code or assembly language</a:t>
            </a:r>
            <a:endParaRPr lang="en-US" sz="1500" dirty="0"/>
          </a:p>
        </p:txBody>
      </p:sp>
      <p:sp>
        <p:nvSpPr>
          <p:cNvPr id="11" name="Text 8"/>
          <p:cNvSpPr txBox="1"/>
          <p:nvPr/>
        </p:nvSpPr>
        <p:spPr>
          <a:xfrm>
            <a:off x="914400" y="4983480"/>
            <a:ext cx="2286000" cy="274320"/>
          </a:xfrm>
          <a:prstGeom prst="rect">
            <a:avLst/>
          </a:prstGeom>
          <a:noFill/>
          <a:ln/>
        </p:spPr>
        <p:txBody>
          <a:bodyPr wrap="square" lIns="0" tIns="0" rIns="0" bIns="0" rtlCol="0" anchor="ctr"/>
          <a:lstStyle/>
          <a:p>
            <a:pPr algn="l" indent="0" marL="0">
              <a:buNone/>
            </a:pPr>
            <a:r>
              <a:rPr lang="en-US" sz="1200" i="1" dirty="0">
                <a:solidFill>
                  <a:srgbClr val="202124"/>
                </a:solidFill>
                <a:latin typeface="Quicksand" pitchFamily="34" charset="0"/>
                <a:ea typeface="Quicksand" pitchFamily="34" charset="-122"/>
                <a:cs typeface="Quicksand" pitchFamily="34" charset="-120"/>
              </a:rPr>
              <a:t>Starter C</a:t>
            </a:r>
            <a:endParaRPr lang="en-US" sz="1200" dirty="0"/>
          </a:p>
        </p:txBody>
      </p:sp>
      <p:sp>
        <p:nvSpPr>
          <p:cNvPr id="12" name="Shape 9"/>
          <p:cNvSpPr/>
          <p:nvPr/>
        </p:nvSpPr>
        <p:spPr>
          <a:xfrm>
            <a:off x="3474720" y="2148840"/>
            <a:ext cx="2560320" cy="3291840"/>
          </a:xfrm>
          <a:prstGeom prst="rect">
            <a:avLst/>
          </a:prstGeom>
          <a:solidFill>
            <a:srgbClr val="DCE8F8"/>
          </a:solidFill>
          <a:ln w="12700">
            <a:solidFill>
              <a:srgbClr val="DCE8F8"/>
            </a:solidFill>
            <a:prstDash val="solid"/>
          </a:ln>
        </p:spPr>
      </p:sp>
      <p:sp>
        <p:nvSpPr>
          <p:cNvPr id="13" name="Text 10"/>
          <p:cNvSpPr/>
          <p:nvPr/>
        </p:nvSpPr>
        <p:spPr>
          <a:xfrm>
            <a:off x="3611880" y="2286000"/>
            <a:ext cx="2286000" cy="731520"/>
          </a:xfrm>
          <a:prstGeom prst="rect">
            <a:avLst/>
          </a:prstGeom>
          <a:noFill/>
          <a:ln/>
        </p:spPr>
        <p:txBody>
          <a:bodyPr wrap="square" lIns="0" tIns="0" rIns="0" bIns="0" rtlCol="0" anchor="t"/>
          <a:lstStyle/>
          <a:p>
            <a:pPr indent="0" marL="0">
              <a:buNone/>
            </a:pPr>
            <a:r>
              <a:rPr lang="en-US" sz="1800" b="1" dirty="0">
                <a:solidFill>
                  <a:srgbClr val="494985"/>
                </a:solidFill>
                <a:latin typeface="Quicksand" pitchFamily="34" charset="0"/>
                <a:ea typeface="Quicksand" pitchFamily="34" charset="-122"/>
                <a:cs typeface="Quicksand" pitchFamily="34" charset="-120"/>
              </a:rPr>
              <a:t>Imperative (procedural)</a:t>
            </a:r>
            <a:endParaRPr lang="en-US" sz="1800" dirty="0"/>
          </a:p>
        </p:txBody>
      </p:sp>
      <p:sp>
        <p:nvSpPr>
          <p:cNvPr id="14" name="Text 11"/>
          <p:cNvSpPr txBox="1"/>
          <p:nvPr/>
        </p:nvSpPr>
        <p:spPr>
          <a:xfrm>
            <a:off x="3611880" y="3108960"/>
            <a:ext cx="2286000" cy="1783080"/>
          </a:xfrm>
          <a:prstGeom prst="rect">
            <a:avLst/>
          </a:prstGeom>
          <a:noFill/>
          <a:ln/>
        </p:spPr>
        <p:txBody>
          <a:bodyPr wrap="square" lIns="0" tIns="0" rIns="0" bIns="0" rtlCol="0" anchor="t"/>
          <a:lstStyle/>
          <a:p>
            <a:pPr indent="0" marL="0">
              <a:spcAft>
                <a:spcPts val="600"/>
              </a:spcAft>
              <a:buNone/>
            </a:pPr>
            <a:r>
              <a:rPr lang="en-US" sz="1500" dirty="0">
                <a:solidFill>
                  <a:srgbClr val="202124"/>
                </a:solidFill>
                <a:latin typeface="Quicksand" pitchFamily="34" charset="0"/>
                <a:ea typeface="Quicksand" pitchFamily="34" charset="-122"/>
                <a:cs typeface="Quicksand" pitchFamily="34" charset="-120"/>
              </a:rPr>
              <a:t>A sequence of steps run in order; procedures and functions change variables</a:t>
            </a:r>
            <a:endParaRPr lang="en-US" sz="1500" dirty="0"/>
          </a:p>
        </p:txBody>
      </p:sp>
      <p:sp>
        <p:nvSpPr>
          <p:cNvPr id="15" name="Text 12"/>
          <p:cNvSpPr txBox="1"/>
          <p:nvPr/>
        </p:nvSpPr>
        <p:spPr>
          <a:xfrm>
            <a:off x="3611880" y="4983480"/>
            <a:ext cx="2286000" cy="274320"/>
          </a:xfrm>
          <a:prstGeom prst="rect">
            <a:avLst/>
          </a:prstGeom>
          <a:noFill/>
          <a:ln/>
        </p:spPr>
        <p:txBody>
          <a:bodyPr wrap="square" lIns="0" tIns="0" rIns="0" bIns="0" rtlCol="0" anchor="ctr"/>
          <a:lstStyle/>
          <a:p>
            <a:pPr algn="l" indent="0" marL="0">
              <a:buNone/>
            </a:pPr>
            <a:r>
              <a:rPr lang="en-US" sz="1200" i="1" dirty="0">
                <a:solidFill>
                  <a:srgbClr val="202124"/>
                </a:solidFill>
                <a:latin typeface="Quicksand" pitchFamily="34" charset="0"/>
                <a:ea typeface="Quicksand" pitchFamily="34" charset="-122"/>
                <a:cs typeface="Quicksand" pitchFamily="34" charset="-120"/>
              </a:rPr>
              <a:t>Starter B</a:t>
            </a:r>
            <a:endParaRPr lang="en-US" sz="1200" dirty="0"/>
          </a:p>
        </p:txBody>
      </p:sp>
      <p:sp>
        <p:nvSpPr>
          <p:cNvPr id="16" name="Shape 13"/>
          <p:cNvSpPr/>
          <p:nvPr/>
        </p:nvSpPr>
        <p:spPr>
          <a:xfrm>
            <a:off x="6172200" y="2148840"/>
            <a:ext cx="2560320" cy="3291840"/>
          </a:xfrm>
          <a:prstGeom prst="rect">
            <a:avLst/>
          </a:prstGeom>
          <a:solidFill>
            <a:srgbClr val="E3F2E8"/>
          </a:solidFill>
          <a:ln w="12700">
            <a:solidFill>
              <a:srgbClr val="E3F2E8"/>
            </a:solidFill>
            <a:prstDash val="solid"/>
          </a:ln>
        </p:spPr>
      </p:sp>
      <p:sp>
        <p:nvSpPr>
          <p:cNvPr id="17" name="Text 14"/>
          <p:cNvSpPr/>
          <p:nvPr/>
        </p:nvSpPr>
        <p:spPr>
          <a:xfrm>
            <a:off x="6309360" y="2286000"/>
            <a:ext cx="2286000" cy="731520"/>
          </a:xfrm>
          <a:prstGeom prst="rect">
            <a:avLst/>
          </a:prstGeom>
          <a:noFill/>
          <a:ln/>
        </p:spPr>
        <p:txBody>
          <a:bodyPr wrap="square" lIns="0" tIns="0" rIns="0" bIns="0" rtlCol="0" anchor="t"/>
          <a:lstStyle/>
          <a:p>
            <a:pPr indent="0" marL="0">
              <a:buNone/>
            </a:pPr>
            <a:r>
              <a:rPr lang="en-US" sz="1800" b="1" dirty="0">
                <a:solidFill>
                  <a:srgbClr val="494985"/>
                </a:solidFill>
                <a:latin typeface="Quicksand" pitchFamily="34" charset="0"/>
                <a:ea typeface="Quicksand" pitchFamily="34" charset="-122"/>
                <a:cs typeface="Quicksand" pitchFamily="34" charset="-120"/>
              </a:rPr>
              <a:t>Object-oriented</a:t>
            </a:r>
            <a:endParaRPr lang="en-US" sz="1800" dirty="0"/>
          </a:p>
        </p:txBody>
      </p:sp>
      <p:sp>
        <p:nvSpPr>
          <p:cNvPr id="18" name="Text 15"/>
          <p:cNvSpPr txBox="1"/>
          <p:nvPr/>
        </p:nvSpPr>
        <p:spPr>
          <a:xfrm>
            <a:off x="6309360" y="3108960"/>
            <a:ext cx="2286000" cy="1783080"/>
          </a:xfrm>
          <a:prstGeom prst="rect">
            <a:avLst/>
          </a:prstGeom>
          <a:noFill/>
          <a:ln/>
        </p:spPr>
        <p:txBody>
          <a:bodyPr wrap="square" lIns="0" tIns="0" rIns="0" bIns="0" rtlCol="0" anchor="t"/>
          <a:lstStyle/>
          <a:p>
            <a:pPr indent="0" marL="0">
              <a:spcAft>
                <a:spcPts val="600"/>
              </a:spcAft>
              <a:buNone/>
            </a:pPr>
            <a:r>
              <a:rPr lang="en-US" sz="1500" dirty="0">
                <a:solidFill>
                  <a:srgbClr val="202124"/>
                </a:solidFill>
                <a:latin typeface="Quicksand" pitchFamily="34" charset="0"/>
                <a:ea typeface="Quicksand" pitchFamily="34" charset="-122"/>
                <a:cs typeface="Quicksand" pitchFamily="34" charset="-120"/>
              </a:rPr>
              <a:t>Objects made from classes hold their own data and methods, and interact</a:t>
            </a:r>
            <a:endParaRPr lang="en-US" sz="1500" dirty="0"/>
          </a:p>
        </p:txBody>
      </p:sp>
      <p:sp>
        <p:nvSpPr>
          <p:cNvPr id="19" name="Text 16"/>
          <p:cNvSpPr txBox="1"/>
          <p:nvPr/>
        </p:nvSpPr>
        <p:spPr>
          <a:xfrm>
            <a:off x="6309360" y="4983480"/>
            <a:ext cx="2286000" cy="274320"/>
          </a:xfrm>
          <a:prstGeom prst="rect">
            <a:avLst/>
          </a:prstGeom>
          <a:noFill/>
          <a:ln/>
        </p:spPr>
        <p:txBody>
          <a:bodyPr wrap="square" lIns="0" tIns="0" rIns="0" bIns="0" rtlCol="0" anchor="ctr"/>
          <a:lstStyle/>
          <a:p>
            <a:pPr algn="l" indent="0" marL="0">
              <a:buNone/>
            </a:pPr>
            <a:r>
              <a:rPr lang="en-US" sz="1200" i="1" dirty="0">
                <a:solidFill>
                  <a:srgbClr val="202124"/>
                </a:solidFill>
                <a:latin typeface="Quicksand" pitchFamily="34" charset="0"/>
                <a:ea typeface="Quicksand" pitchFamily="34" charset="-122"/>
                <a:cs typeface="Quicksand" pitchFamily="34" charset="-120"/>
              </a:rPr>
              <a:t>Starter D</a:t>
            </a:r>
            <a:endParaRPr lang="en-US" sz="1200" dirty="0"/>
          </a:p>
        </p:txBody>
      </p:sp>
      <p:sp>
        <p:nvSpPr>
          <p:cNvPr id="20" name="Shape 17"/>
          <p:cNvSpPr/>
          <p:nvPr/>
        </p:nvSpPr>
        <p:spPr>
          <a:xfrm>
            <a:off x="8869680" y="2148840"/>
            <a:ext cx="2560320" cy="3291840"/>
          </a:xfrm>
          <a:prstGeom prst="rect">
            <a:avLst/>
          </a:prstGeom>
          <a:solidFill>
            <a:srgbClr val="FFF4C7"/>
          </a:solidFill>
          <a:ln w="12700">
            <a:solidFill>
              <a:srgbClr val="FFF4C7"/>
            </a:solidFill>
            <a:prstDash val="solid"/>
          </a:ln>
        </p:spPr>
      </p:sp>
      <p:sp>
        <p:nvSpPr>
          <p:cNvPr id="21" name="Text 18"/>
          <p:cNvSpPr/>
          <p:nvPr/>
        </p:nvSpPr>
        <p:spPr>
          <a:xfrm>
            <a:off x="9006840" y="2286000"/>
            <a:ext cx="2286000" cy="731520"/>
          </a:xfrm>
          <a:prstGeom prst="rect">
            <a:avLst/>
          </a:prstGeom>
          <a:noFill/>
          <a:ln/>
        </p:spPr>
        <p:txBody>
          <a:bodyPr wrap="square" lIns="0" tIns="0" rIns="0" bIns="0" rtlCol="0" anchor="t"/>
          <a:lstStyle/>
          <a:p>
            <a:pPr indent="0" marL="0">
              <a:buNone/>
            </a:pPr>
            <a:r>
              <a:rPr lang="en-US" sz="1800" b="1" dirty="0">
                <a:solidFill>
                  <a:srgbClr val="494985"/>
                </a:solidFill>
                <a:latin typeface="Quicksand" pitchFamily="34" charset="0"/>
                <a:ea typeface="Quicksand" pitchFamily="34" charset="-122"/>
                <a:cs typeface="Quicksand" pitchFamily="34" charset="-120"/>
              </a:rPr>
              <a:t>Declarative</a:t>
            </a:r>
            <a:endParaRPr lang="en-US" sz="1800" dirty="0"/>
          </a:p>
        </p:txBody>
      </p:sp>
      <p:sp>
        <p:nvSpPr>
          <p:cNvPr id="22" name="Text 19"/>
          <p:cNvSpPr txBox="1"/>
          <p:nvPr/>
        </p:nvSpPr>
        <p:spPr>
          <a:xfrm>
            <a:off x="9006840" y="3108960"/>
            <a:ext cx="2286000" cy="1783080"/>
          </a:xfrm>
          <a:prstGeom prst="rect">
            <a:avLst/>
          </a:prstGeom>
          <a:noFill/>
          <a:ln/>
        </p:spPr>
        <p:txBody>
          <a:bodyPr wrap="square" lIns="0" tIns="0" rIns="0" bIns="0" rtlCol="0" anchor="t"/>
          <a:lstStyle/>
          <a:p>
            <a:pPr indent="0" marL="0">
              <a:spcAft>
                <a:spcPts val="600"/>
              </a:spcAft>
              <a:buNone/>
            </a:pPr>
            <a:r>
              <a:rPr lang="en-US" sz="1500" dirty="0">
                <a:solidFill>
                  <a:srgbClr val="202124"/>
                </a:solidFill>
                <a:latin typeface="Quicksand" pitchFamily="34" charset="0"/>
                <a:ea typeface="Quicksand" pitchFamily="34" charset="-122"/>
                <a:cs typeface="Quicksand" pitchFamily="34" charset="-120"/>
              </a:rPr>
              <a:t>States facts and rules, then asks a query (goal); says WHAT, not HOW</a:t>
            </a:r>
            <a:endParaRPr lang="en-US" sz="1500" dirty="0"/>
          </a:p>
        </p:txBody>
      </p:sp>
      <p:sp>
        <p:nvSpPr>
          <p:cNvPr id="23" name="Text 20"/>
          <p:cNvSpPr txBox="1"/>
          <p:nvPr/>
        </p:nvSpPr>
        <p:spPr>
          <a:xfrm>
            <a:off x="9006840" y="4983480"/>
            <a:ext cx="2286000" cy="274320"/>
          </a:xfrm>
          <a:prstGeom prst="rect">
            <a:avLst/>
          </a:prstGeom>
          <a:noFill/>
          <a:ln/>
        </p:spPr>
        <p:txBody>
          <a:bodyPr wrap="square" lIns="0" tIns="0" rIns="0" bIns="0" rtlCol="0" anchor="ctr"/>
          <a:lstStyle/>
          <a:p>
            <a:pPr algn="l" indent="0" marL="0">
              <a:buNone/>
            </a:pPr>
            <a:r>
              <a:rPr lang="en-US" sz="1200" i="1" dirty="0">
                <a:solidFill>
                  <a:srgbClr val="202124"/>
                </a:solidFill>
                <a:latin typeface="Quicksand" pitchFamily="34" charset="0"/>
                <a:ea typeface="Quicksand" pitchFamily="34" charset="-122"/>
                <a:cs typeface="Quicksand" pitchFamily="34" charset="-120"/>
              </a:rPr>
              <a:t>Starter 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Low-level and imperative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5</a:t>
            </a:r>
            <a:endParaRPr lang="en-US" sz="1350" dirty="0"/>
          </a:p>
        </p:txBody>
      </p:sp>
      <p:sp>
        <p:nvSpPr>
          <p:cNvPr id="7" name="Shape 4"/>
          <p:cNvSpPr/>
          <p:nvPr/>
        </p:nvSpPr>
        <p:spPr>
          <a:xfrm>
            <a:off x="777240" y="1280160"/>
            <a:ext cx="5120640" cy="15087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371600"/>
            <a:ext cx="4846320" cy="1325880"/>
          </a:xfrm>
          <a:prstGeom prst="rect">
            <a:avLst/>
          </a:prstGeom>
          <a:noFill/>
          <a:ln/>
        </p:spPr>
        <p:txBody>
          <a:bodyPr wrap="square" lIns="0" tIns="0" rIns="0" bIns="0" rtlCol="0" anchor="t"/>
          <a:lstStyle/>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LDM #0      // load 0</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ADD 200     // add value at 200</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STO 201     // store result</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END</a:t>
            </a:r>
            <a:endParaRPr lang="en-US" sz="1300" dirty="0"/>
          </a:p>
        </p:txBody>
      </p:sp>
      <p:sp>
        <p:nvSpPr>
          <p:cNvPr id="9" name="Shape 6"/>
          <p:cNvSpPr/>
          <p:nvPr/>
        </p:nvSpPr>
        <p:spPr>
          <a:xfrm>
            <a:off x="777240" y="3017520"/>
            <a:ext cx="5120640" cy="2697480"/>
          </a:xfrm>
          <a:prstGeom prst="rect">
            <a:avLst/>
          </a:prstGeom>
          <a:solidFill>
            <a:srgbClr val="F6F5FC"/>
          </a:solidFill>
          <a:ln w="12700">
            <a:solidFill>
              <a:srgbClr val="F6F5FC"/>
            </a:solidFill>
            <a:prstDash val="solid"/>
          </a:ln>
        </p:spPr>
      </p:sp>
      <p:sp>
        <p:nvSpPr>
          <p:cNvPr id="10" name="Shape 7"/>
          <p:cNvSpPr/>
          <p:nvPr/>
        </p:nvSpPr>
        <p:spPr>
          <a:xfrm>
            <a:off x="777240" y="3017520"/>
            <a:ext cx="73152" cy="2697480"/>
          </a:xfrm>
          <a:prstGeom prst="rect">
            <a:avLst/>
          </a:prstGeom>
          <a:solidFill>
            <a:srgbClr val="494985"/>
          </a:solidFill>
          <a:ln w="12700">
            <a:solidFill>
              <a:srgbClr val="494985"/>
            </a:solidFill>
            <a:prstDash val="solid"/>
          </a:ln>
        </p:spPr>
      </p:sp>
      <p:sp>
        <p:nvSpPr>
          <p:cNvPr id="11" name="Text 8"/>
          <p:cNvSpPr txBox="1"/>
          <p:nvPr/>
        </p:nvSpPr>
        <p:spPr>
          <a:xfrm>
            <a:off x="1005840" y="3108960"/>
            <a:ext cx="475488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Low-level</a:t>
            </a:r>
            <a:endParaRPr lang="en-US" sz="1500" dirty="0"/>
          </a:p>
        </p:txBody>
      </p:sp>
      <p:sp>
        <p:nvSpPr>
          <p:cNvPr id="12" name="Text 9"/>
          <p:cNvSpPr txBox="1"/>
          <p:nvPr/>
        </p:nvSpPr>
        <p:spPr>
          <a:xfrm>
            <a:off x="1005840" y="3520440"/>
            <a:ext cx="4754880" cy="2103120"/>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Uses the processor's instruction set (assembly or machine code)</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Works directly with registers and memory addresses</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Fast and compact, but hardware-specific</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Used for device drivers and embedded systems</a:t>
            </a:r>
            <a:endParaRPr lang="en-US" sz="1300" dirty="0"/>
          </a:p>
        </p:txBody>
      </p:sp>
      <p:sp>
        <p:nvSpPr>
          <p:cNvPr id="13" name="Shape 10"/>
          <p:cNvSpPr/>
          <p:nvPr/>
        </p:nvSpPr>
        <p:spPr>
          <a:xfrm>
            <a:off x="6263640" y="1280160"/>
            <a:ext cx="5212080" cy="15087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4" name="Text 11"/>
          <p:cNvSpPr txBox="1"/>
          <p:nvPr/>
        </p:nvSpPr>
        <p:spPr>
          <a:xfrm>
            <a:off x="6400800" y="1371600"/>
            <a:ext cx="4937760" cy="1325880"/>
          </a:xfrm>
          <a:prstGeom prst="rect">
            <a:avLst/>
          </a:prstGeom>
          <a:noFill/>
          <a:ln/>
        </p:spPr>
        <p:txBody>
          <a:bodyPr wrap="square" lIns="0" tIns="0" rIns="0" bIns="0" rtlCol="0" anchor="t"/>
          <a:lstStyle/>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Function Average(Total, N) As Real</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Return Total / N</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End Function</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Avg = Average(Sum, Count)</a:t>
            </a:r>
            <a:endParaRPr lang="en-US" sz="1250" dirty="0"/>
          </a:p>
        </p:txBody>
      </p:sp>
      <p:sp>
        <p:nvSpPr>
          <p:cNvPr id="15" name="Shape 12"/>
          <p:cNvSpPr/>
          <p:nvPr/>
        </p:nvSpPr>
        <p:spPr>
          <a:xfrm>
            <a:off x="6263640" y="3017520"/>
            <a:ext cx="5212080" cy="2697480"/>
          </a:xfrm>
          <a:prstGeom prst="rect">
            <a:avLst/>
          </a:prstGeom>
          <a:solidFill>
            <a:srgbClr val="F6F5FC"/>
          </a:solidFill>
          <a:ln w="12700">
            <a:solidFill>
              <a:srgbClr val="F6F5FC"/>
            </a:solidFill>
            <a:prstDash val="solid"/>
          </a:ln>
        </p:spPr>
      </p:sp>
      <p:sp>
        <p:nvSpPr>
          <p:cNvPr id="16" name="Shape 13"/>
          <p:cNvSpPr/>
          <p:nvPr/>
        </p:nvSpPr>
        <p:spPr>
          <a:xfrm>
            <a:off x="6263640" y="3017520"/>
            <a:ext cx="73152" cy="2697480"/>
          </a:xfrm>
          <a:prstGeom prst="rect">
            <a:avLst/>
          </a:prstGeom>
          <a:solidFill>
            <a:srgbClr val="494985"/>
          </a:solidFill>
          <a:ln w="12700">
            <a:solidFill>
              <a:srgbClr val="494985"/>
            </a:solidFill>
            <a:prstDash val="solid"/>
          </a:ln>
        </p:spPr>
      </p:sp>
      <p:sp>
        <p:nvSpPr>
          <p:cNvPr id="17" name="Text 14"/>
          <p:cNvSpPr txBox="1"/>
          <p:nvPr/>
        </p:nvSpPr>
        <p:spPr>
          <a:xfrm>
            <a:off x="6492240" y="3108960"/>
            <a:ext cx="484632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Imperative (procedural)</a:t>
            </a:r>
            <a:endParaRPr lang="en-US" sz="1500" dirty="0"/>
          </a:p>
        </p:txBody>
      </p:sp>
      <p:sp>
        <p:nvSpPr>
          <p:cNvPr id="18" name="Text 15"/>
          <p:cNvSpPr txBox="1"/>
          <p:nvPr/>
        </p:nvSpPr>
        <p:spPr>
          <a:xfrm>
            <a:off x="6492240" y="3520440"/>
            <a:ext cx="4846320" cy="2103120"/>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Instructions run in sequence, one after another</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Variables change as the program runs</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Structured with procedures and functions, parameters, local and global variables</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How you have programmed so far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Object-oriented and declarative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6</a:t>
            </a:r>
            <a:endParaRPr lang="en-US" sz="1350" dirty="0"/>
          </a:p>
        </p:txBody>
      </p:sp>
      <p:sp>
        <p:nvSpPr>
          <p:cNvPr id="7" name="Shape 4"/>
          <p:cNvSpPr/>
          <p:nvPr/>
        </p:nvSpPr>
        <p:spPr>
          <a:xfrm>
            <a:off x="777240" y="1280160"/>
            <a:ext cx="5120640" cy="12344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371600"/>
            <a:ext cx="4846320" cy="1051560"/>
          </a:xfrm>
          <a:prstGeom prst="rect">
            <a:avLst/>
          </a:prstGeom>
          <a:noFill/>
          <a:ln/>
        </p:spPr>
        <p:txBody>
          <a:bodyPr wrap="square" lIns="0" tIns="0" rIns="0" bIns="0" rtlCol="0" anchor="t"/>
          <a:lstStyle/>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Dim P1 As New Player("Ava")</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P1.AddPoints(50)</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Console.WriteLine(P1.GetScore())</a:t>
            </a:r>
            <a:endParaRPr lang="en-US" sz="1300" dirty="0"/>
          </a:p>
        </p:txBody>
      </p:sp>
      <p:sp>
        <p:nvSpPr>
          <p:cNvPr id="9" name="Shape 6"/>
          <p:cNvSpPr/>
          <p:nvPr/>
        </p:nvSpPr>
        <p:spPr>
          <a:xfrm>
            <a:off x="777240" y="2743200"/>
            <a:ext cx="5120640" cy="2971800"/>
          </a:xfrm>
          <a:prstGeom prst="rect">
            <a:avLst/>
          </a:prstGeom>
          <a:solidFill>
            <a:srgbClr val="F6F5FC"/>
          </a:solidFill>
          <a:ln w="12700">
            <a:solidFill>
              <a:srgbClr val="F6F5FC"/>
            </a:solidFill>
            <a:prstDash val="solid"/>
          </a:ln>
        </p:spPr>
      </p:sp>
      <p:sp>
        <p:nvSpPr>
          <p:cNvPr id="10" name="Shape 7"/>
          <p:cNvSpPr/>
          <p:nvPr/>
        </p:nvSpPr>
        <p:spPr>
          <a:xfrm>
            <a:off x="777240" y="2743200"/>
            <a:ext cx="73152" cy="2971800"/>
          </a:xfrm>
          <a:prstGeom prst="rect">
            <a:avLst/>
          </a:prstGeom>
          <a:solidFill>
            <a:srgbClr val="2E7D5B"/>
          </a:solidFill>
          <a:ln w="12700">
            <a:solidFill>
              <a:srgbClr val="2E7D5B"/>
            </a:solidFill>
            <a:prstDash val="solid"/>
          </a:ln>
        </p:spPr>
      </p:sp>
      <p:sp>
        <p:nvSpPr>
          <p:cNvPr id="11" name="Text 8"/>
          <p:cNvSpPr txBox="1"/>
          <p:nvPr/>
        </p:nvSpPr>
        <p:spPr>
          <a:xfrm>
            <a:off x="1005840" y="2834640"/>
            <a:ext cx="4754880" cy="347472"/>
          </a:xfrm>
          <a:prstGeom prst="rect">
            <a:avLst/>
          </a:prstGeom>
          <a:noFill/>
          <a:ln/>
        </p:spPr>
        <p:txBody>
          <a:bodyPr wrap="square" lIns="0" tIns="0" rIns="0" bIns="0" rtlCol="0" anchor="ctr"/>
          <a:lstStyle/>
          <a:p>
            <a:pPr indent="0" marL="0">
              <a:buNone/>
            </a:pPr>
            <a:r>
              <a:rPr lang="en-US" sz="1500" b="1" dirty="0">
                <a:solidFill>
                  <a:srgbClr val="2E7D5B"/>
                </a:solidFill>
                <a:latin typeface="Quicksand" pitchFamily="34" charset="0"/>
                <a:ea typeface="Quicksand" pitchFamily="34" charset="-122"/>
                <a:cs typeface="Quicksand" pitchFamily="34" charset="-120"/>
              </a:rPr>
              <a:t>Object-oriented (OOP)</a:t>
            </a:r>
            <a:endParaRPr lang="en-US" sz="1500" dirty="0"/>
          </a:p>
        </p:txBody>
      </p:sp>
      <p:sp>
        <p:nvSpPr>
          <p:cNvPr id="12" name="Text 9"/>
          <p:cNvSpPr txBox="1"/>
          <p:nvPr/>
        </p:nvSpPr>
        <p:spPr>
          <a:xfrm>
            <a:off x="1005840" y="3246120"/>
            <a:ext cx="4754880" cy="2377440"/>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Programs are built from objects, each made from a class</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Each object holds its own data (attributes) and methods</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Data is private: only the methods can change it</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Objects interact by calling each other's methods</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Good for large programs; code can be reused</a:t>
            </a:r>
            <a:endParaRPr lang="en-US" sz="1300" dirty="0"/>
          </a:p>
        </p:txBody>
      </p:sp>
      <p:sp>
        <p:nvSpPr>
          <p:cNvPr id="13" name="Shape 10"/>
          <p:cNvSpPr/>
          <p:nvPr/>
        </p:nvSpPr>
        <p:spPr>
          <a:xfrm>
            <a:off x="6263640" y="1280160"/>
            <a:ext cx="5212080" cy="12344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4" name="Text 11"/>
          <p:cNvSpPr txBox="1"/>
          <p:nvPr/>
        </p:nvSpPr>
        <p:spPr>
          <a:xfrm>
            <a:off x="6400800" y="1371600"/>
            <a:ext cx="4937760" cy="1051560"/>
          </a:xfrm>
          <a:prstGeom prst="rect">
            <a:avLst/>
          </a:prstGeom>
          <a:noFill/>
          <a:ln/>
        </p:spPr>
        <p:txBody>
          <a:bodyPr wrap="square" lIns="0" tIns="0" rIns="0" bIns="0" rtlCol="0" anchor="t"/>
          <a:lstStyle/>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language(france, french).</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language(peru, spanish).</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language(Country, spanish).</a:t>
            </a:r>
            <a:endParaRPr lang="en-US" sz="1300" dirty="0"/>
          </a:p>
        </p:txBody>
      </p:sp>
      <p:sp>
        <p:nvSpPr>
          <p:cNvPr id="15" name="Shape 12"/>
          <p:cNvSpPr/>
          <p:nvPr/>
        </p:nvSpPr>
        <p:spPr>
          <a:xfrm>
            <a:off x="6263640" y="2743200"/>
            <a:ext cx="5212080" cy="2971800"/>
          </a:xfrm>
          <a:prstGeom prst="rect">
            <a:avLst/>
          </a:prstGeom>
          <a:solidFill>
            <a:srgbClr val="F6F5FC"/>
          </a:solidFill>
          <a:ln w="12700">
            <a:solidFill>
              <a:srgbClr val="F6F5FC"/>
            </a:solidFill>
            <a:prstDash val="solid"/>
          </a:ln>
        </p:spPr>
      </p:sp>
      <p:sp>
        <p:nvSpPr>
          <p:cNvPr id="16" name="Shape 13"/>
          <p:cNvSpPr/>
          <p:nvPr/>
        </p:nvSpPr>
        <p:spPr>
          <a:xfrm>
            <a:off x="6263640" y="2743200"/>
            <a:ext cx="73152" cy="2971800"/>
          </a:xfrm>
          <a:prstGeom prst="rect">
            <a:avLst/>
          </a:prstGeom>
          <a:solidFill>
            <a:srgbClr val="8A6D00"/>
          </a:solidFill>
          <a:ln w="12700">
            <a:solidFill>
              <a:srgbClr val="8A6D00"/>
            </a:solidFill>
            <a:prstDash val="solid"/>
          </a:ln>
        </p:spPr>
      </p:sp>
      <p:sp>
        <p:nvSpPr>
          <p:cNvPr id="17" name="Text 14"/>
          <p:cNvSpPr txBox="1"/>
          <p:nvPr/>
        </p:nvSpPr>
        <p:spPr>
          <a:xfrm>
            <a:off x="6492240" y="2834640"/>
            <a:ext cx="4846320" cy="347472"/>
          </a:xfrm>
          <a:prstGeom prst="rect">
            <a:avLst/>
          </a:prstGeom>
          <a:noFill/>
          <a:ln/>
        </p:spPr>
        <p:txBody>
          <a:bodyPr wrap="square" lIns="0" tIns="0" rIns="0" bIns="0" rtlCol="0" anchor="ctr"/>
          <a:lstStyle/>
          <a:p>
            <a:pPr indent="0" marL="0">
              <a:buNone/>
            </a:pPr>
            <a:r>
              <a:rPr lang="en-US" sz="1500" b="1" dirty="0">
                <a:solidFill>
                  <a:srgbClr val="8A6D00"/>
                </a:solidFill>
                <a:latin typeface="Quicksand" pitchFamily="34" charset="0"/>
                <a:ea typeface="Quicksand" pitchFamily="34" charset="-122"/>
                <a:cs typeface="Quicksand" pitchFamily="34" charset="-120"/>
              </a:rPr>
              <a:t>Declarative</a:t>
            </a:r>
            <a:endParaRPr lang="en-US" sz="1500" dirty="0"/>
          </a:p>
        </p:txBody>
      </p:sp>
      <p:sp>
        <p:nvSpPr>
          <p:cNvPr id="18" name="Text 15"/>
          <p:cNvSpPr txBox="1"/>
          <p:nvPr/>
        </p:nvSpPr>
        <p:spPr>
          <a:xfrm>
            <a:off x="6492240" y="3246120"/>
            <a:ext cx="4846320" cy="2377440"/>
          </a:xfrm>
          <a:prstGeom prst="rect">
            <a:avLst/>
          </a:prstGeom>
          <a:noFill/>
          <a:ln/>
        </p:spPr>
        <p:txBody>
          <a:bodyPr wrap="square" lIns="0" tIns="0" rIns="0" bIns="0" rtlCol="0" anchor="t"/>
          <a:lstStyle/>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Facts and rules are written first (a knowledge base)</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A query (goal) asks the question</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Says WHAT result is wanted, not HOW to get it</a:t>
            </a:r>
            <a:endParaRPr lang="en-US" sz="1300" dirty="0"/>
          </a:p>
          <a:p>
            <a:pPr marL="228600" indent="-228600">
              <a:spcAft>
                <a:spcPts val="500"/>
              </a:spcAft>
              <a:buSzPct val="100000"/>
              <a:buChar char="•"/>
            </a:pPr>
            <a:r>
              <a:rPr lang="en-US" sz="1300" dirty="0">
                <a:solidFill>
                  <a:srgbClr val="202124"/>
                </a:solidFill>
                <a:latin typeface="Quicksand" pitchFamily="34" charset="0"/>
                <a:ea typeface="Quicksand" pitchFamily="34" charset="-122"/>
                <a:cs typeface="Quicksand" pitchFamily="34" charset="-120"/>
              </a:rPr>
              <a:t>Examples: Prolog, SQL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Comparing the paradigms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7</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77240" y="1280160"/>
          <a:ext cx="10698480" cy="914400"/>
        </p:xfrm>
        <a:graphic>
          <a:graphicData uri="http://schemas.openxmlformats.org/drawingml/2006/table">
            <a:tbl>
              <a:tblPr/>
              <a:tblGrid>
                <a:gridCol w="1737360"/>
                <a:gridCol w="2194560"/>
                <a:gridCol w="2148840"/>
                <a:gridCol w="2377440"/>
                <a:gridCol w="2240280"/>
              </a:tblGrid>
              <a:tr h="658368">
                <a:tc>
                  <a:txBody>
                    <a:bodyPr/>
                    <a:lstStyle/>
                    <a:p>
                      <a:pPr indent="0" marL="0">
                        <a:buNone/>
                      </a:pP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Low-level</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Imperative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Object-oriented</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Declarative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65836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Program is...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Processor instructions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 sequence of steps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Objects that interact</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Facts, rules and a query</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5836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Key ideas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Registers, addresses, addressing modes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Variables, procedures, functions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Classes, objects, encapsulation, inheritance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Knowledge base, goals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5836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Says...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Exactly how, step by step</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How, step by step</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How, inside each method</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What, not how</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5836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Example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Assembly language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Pascal, C, VB (no classes)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Java, VB.NET, Python</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Prolog, SQL</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5836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Good for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Drivers, embedded systems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Small, simple programs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Large programs; reusable code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Searching knowledge bases, AI</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Why objects?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8</a:t>
            </a:r>
            <a:endParaRPr lang="en-US" sz="1350" dirty="0"/>
          </a:p>
        </p:txBody>
      </p:sp>
      <p:sp>
        <p:nvSpPr>
          <p:cNvPr id="7" name="Shape 4"/>
          <p:cNvSpPr/>
          <p:nvPr/>
        </p:nvSpPr>
        <p:spPr>
          <a:xfrm>
            <a:off x="777240" y="1691640"/>
            <a:ext cx="5120640" cy="23774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783080"/>
            <a:ext cx="4846320" cy="2194560"/>
          </a:xfrm>
          <a:prstGeom prst="rect">
            <a:avLst/>
          </a:prstGeom>
          <a:noFill/>
          <a:ln/>
        </p:spPr>
        <p:txBody>
          <a:bodyPr wrap="square" lIns="0" tIns="0" rIns="0" bIns="0" rtlCol="0" anchor="t"/>
          <a:lstStyle/>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Dim Names(99) As String</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Dim Scores(99) As Integer</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Dim Lives(99) As Integer</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Scores(4) = Scores(4) + 50</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Lives(4) = -7   ' nothing stops this!</a:t>
            </a:r>
            <a:endParaRPr lang="en-US" sz="1300" dirty="0"/>
          </a:p>
        </p:txBody>
      </p:sp>
      <p:sp>
        <p:nvSpPr>
          <p:cNvPr id="9" name="Text 6"/>
          <p:cNvSpPr txBox="1"/>
          <p:nvPr/>
        </p:nvSpPr>
        <p:spPr>
          <a:xfrm>
            <a:off x="777240" y="1280160"/>
            <a:ext cx="5120640" cy="274320"/>
          </a:xfrm>
          <a:prstGeom prst="rect">
            <a:avLst/>
          </a:prstGeom>
          <a:noFill/>
          <a:ln/>
        </p:spPr>
        <p:txBody>
          <a:bodyPr wrap="square" lIns="0" tIns="0" rIns="0" bIns="0" rtlCol="0" anchor="ctr"/>
          <a:lstStyle/>
          <a:p>
            <a:pPr algn="l" indent="0" marL="0">
              <a:buNone/>
            </a:pPr>
            <a:r>
              <a:rPr lang="en-US" sz="1400" i="1" dirty="0">
                <a:solidFill>
                  <a:srgbClr val="B3261E"/>
                </a:solidFill>
                <a:latin typeface="Quicksand" pitchFamily="34" charset="0"/>
                <a:ea typeface="Quicksand" pitchFamily="34" charset="-122"/>
                <a:cs typeface="Quicksand" pitchFamily="34" charset="-120"/>
              </a:rPr>
              <a:t>Procedural: parallel arrays</a:t>
            </a:r>
            <a:endParaRPr lang="en-US" sz="1400" dirty="0"/>
          </a:p>
        </p:txBody>
      </p:sp>
      <p:sp>
        <p:nvSpPr>
          <p:cNvPr id="10" name="Shape 7"/>
          <p:cNvSpPr/>
          <p:nvPr/>
        </p:nvSpPr>
        <p:spPr>
          <a:xfrm>
            <a:off x="6355080" y="1691640"/>
            <a:ext cx="5120640" cy="23774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1" name="Text 8"/>
          <p:cNvSpPr txBox="1"/>
          <p:nvPr/>
        </p:nvSpPr>
        <p:spPr>
          <a:xfrm>
            <a:off x="6492240" y="1783080"/>
            <a:ext cx="4846320" cy="2194560"/>
          </a:xfrm>
          <a:prstGeom prst="rect">
            <a:avLst/>
          </a:prstGeom>
          <a:noFill/>
          <a:ln/>
        </p:spPr>
        <p:txBody>
          <a:bodyPr wrap="square" lIns="0" tIns="0" rIns="0" bIns="0" rtlCol="0" anchor="t"/>
          <a:lstStyle/>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Dim Players(99) As Player</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Players(4) = New Player("Ava")</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Players(4).AddPoints(50)</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Players(4).SetLives(-7)  ' rejected</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a:t>
            </a:r>
            <a:endParaRPr lang="en-US" sz="1300" dirty="0"/>
          </a:p>
        </p:txBody>
      </p:sp>
      <p:sp>
        <p:nvSpPr>
          <p:cNvPr id="12" name="Text 9"/>
          <p:cNvSpPr txBox="1"/>
          <p:nvPr/>
        </p:nvSpPr>
        <p:spPr>
          <a:xfrm>
            <a:off x="6355080" y="1280160"/>
            <a:ext cx="5120640" cy="274320"/>
          </a:xfrm>
          <a:prstGeom prst="rect">
            <a:avLst/>
          </a:prstGeom>
          <a:noFill/>
          <a:ln/>
        </p:spPr>
        <p:txBody>
          <a:bodyPr wrap="square" lIns="0" tIns="0" rIns="0" bIns="0" rtlCol="0" anchor="ctr"/>
          <a:lstStyle/>
          <a:p>
            <a:pPr algn="l" indent="0" marL="0">
              <a:buNone/>
            </a:pPr>
            <a:r>
              <a:rPr lang="en-US" sz="1400" i="1" dirty="0">
                <a:solidFill>
                  <a:srgbClr val="2E7D5B"/>
                </a:solidFill>
                <a:latin typeface="Quicksand" pitchFamily="34" charset="0"/>
                <a:ea typeface="Quicksand" pitchFamily="34" charset="-122"/>
                <a:cs typeface="Quicksand" pitchFamily="34" charset="-120"/>
              </a:rPr>
              <a:t>Object-oriented: an array of objects</a:t>
            </a:r>
            <a:endParaRPr lang="en-US" sz="1400" dirty="0"/>
          </a:p>
        </p:txBody>
      </p:sp>
      <p:sp>
        <p:nvSpPr>
          <p:cNvPr id="13" name="Shape 10"/>
          <p:cNvSpPr/>
          <p:nvPr/>
        </p:nvSpPr>
        <p:spPr>
          <a:xfrm>
            <a:off x="777240" y="4343400"/>
            <a:ext cx="3474720" cy="1325880"/>
          </a:xfrm>
          <a:prstGeom prst="rect">
            <a:avLst/>
          </a:prstGeom>
          <a:solidFill>
            <a:srgbClr val="F6F5FC"/>
          </a:solidFill>
          <a:ln w="12700">
            <a:solidFill>
              <a:srgbClr val="F6F5FC"/>
            </a:solidFill>
            <a:prstDash val="solid"/>
          </a:ln>
        </p:spPr>
      </p:sp>
      <p:sp>
        <p:nvSpPr>
          <p:cNvPr id="14" name="Text 11"/>
          <p:cNvSpPr/>
          <p:nvPr/>
        </p:nvSpPr>
        <p:spPr>
          <a:xfrm>
            <a:off x="914400" y="44805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5" name="Text 12"/>
          <p:cNvSpPr txBox="1"/>
          <p:nvPr/>
        </p:nvSpPr>
        <p:spPr>
          <a:xfrm>
            <a:off x="1435608" y="4453128"/>
            <a:ext cx="26974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All in one place</a:t>
            </a:r>
            <a:endParaRPr lang="en-US" sz="1500" dirty="0"/>
          </a:p>
        </p:txBody>
      </p:sp>
      <p:sp>
        <p:nvSpPr>
          <p:cNvPr id="16" name="Text 13"/>
          <p:cNvSpPr txBox="1"/>
          <p:nvPr/>
        </p:nvSpPr>
        <p:spPr>
          <a:xfrm>
            <a:off x="1435608" y="4846320"/>
            <a:ext cx="2697480" cy="7589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Each object keeps its own name, score and lives together</a:t>
            </a:r>
            <a:endParaRPr lang="en-US" sz="1250" dirty="0"/>
          </a:p>
        </p:txBody>
      </p:sp>
      <p:sp>
        <p:nvSpPr>
          <p:cNvPr id="17" name="Shape 14"/>
          <p:cNvSpPr/>
          <p:nvPr/>
        </p:nvSpPr>
        <p:spPr>
          <a:xfrm>
            <a:off x="4389120" y="4343400"/>
            <a:ext cx="3474720" cy="1325880"/>
          </a:xfrm>
          <a:prstGeom prst="rect">
            <a:avLst/>
          </a:prstGeom>
          <a:solidFill>
            <a:srgbClr val="F6F5FC"/>
          </a:solidFill>
          <a:ln w="12700">
            <a:solidFill>
              <a:srgbClr val="F6F5FC"/>
            </a:solidFill>
            <a:prstDash val="solid"/>
          </a:ln>
        </p:spPr>
      </p:sp>
      <p:sp>
        <p:nvSpPr>
          <p:cNvPr id="18" name="Text 15"/>
          <p:cNvSpPr/>
          <p:nvPr/>
        </p:nvSpPr>
        <p:spPr>
          <a:xfrm>
            <a:off x="4526280" y="44805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9" name="Text 16"/>
          <p:cNvSpPr txBox="1"/>
          <p:nvPr/>
        </p:nvSpPr>
        <p:spPr>
          <a:xfrm>
            <a:off x="5047488" y="4453128"/>
            <a:ext cx="26974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Protected</a:t>
            </a:r>
            <a:endParaRPr lang="en-US" sz="1500" dirty="0"/>
          </a:p>
        </p:txBody>
      </p:sp>
      <p:sp>
        <p:nvSpPr>
          <p:cNvPr id="20" name="Text 17"/>
          <p:cNvSpPr txBox="1"/>
          <p:nvPr/>
        </p:nvSpPr>
        <p:spPr>
          <a:xfrm>
            <a:off x="5047488" y="4846320"/>
            <a:ext cx="2697480" cy="7589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Data can only be changed through the methods, which can check the values</a:t>
            </a:r>
            <a:endParaRPr lang="en-US" sz="1250" dirty="0"/>
          </a:p>
        </p:txBody>
      </p:sp>
      <p:sp>
        <p:nvSpPr>
          <p:cNvPr id="21" name="Shape 18"/>
          <p:cNvSpPr/>
          <p:nvPr/>
        </p:nvSpPr>
        <p:spPr>
          <a:xfrm>
            <a:off x="8001000" y="4343400"/>
            <a:ext cx="3474720" cy="1325880"/>
          </a:xfrm>
          <a:prstGeom prst="rect">
            <a:avLst/>
          </a:prstGeom>
          <a:solidFill>
            <a:srgbClr val="F6F5FC"/>
          </a:solidFill>
          <a:ln w="12700">
            <a:solidFill>
              <a:srgbClr val="F6F5FC"/>
            </a:solidFill>
            <a:prstDash val="solid"/>
          </a:ln>
        </p:spPr>
      </p:sp>
      <p:sp>
        <p:nvSpPr>
          <p:cNvPr id="22" name="Text 19"/>
          <p:cNvSpPr/>
          <p:nvPr/>
        </p:nvSpPr>
        <p:spPr>
          <a:xfrm>
            <a:off x="8138160" y="44805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23" name="Text 20"/>
          <p:cNvSpPr txBox="1"/>
          <p:nvPr/>
        </p:nvSpPr>
        <p:spPr>
          <a:xfrm>
            <a:off x="8659368" y="4453128"/>
            <a:ext cx="26974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Reusable</a:t>
            </a:r>
            <a:endParaRPr lang="en-US" sz="1500" dirty="0"/>
          </a:p>
        </p:txBody>
      </p:sp>
      <p:sp>
        <p:nvSpPr>
          <p:cNvPr id="24" name="Text 21"/>
          <p:cNvSpPr txBox="1"/>
          <p:nvPr/>
        </p:nvSpPr>
        <p:spPr>
          <a:xfrm>
            <a:off x="8659368" y="4846320"/>
            <a:ext cx="2697480" cy="7589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Write the class once, create as many objects as you need</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Class vs object</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9</a:t>
            </a:r>
            <a:endParaRPr lang="en-US" sz="1350" dirty="0"/>
          </a:p>
        </p:txBody>
      </p:sp>
      <p:sp>
        <p:nvSpPr>
          <p:cNvPr id="7" name="Text 4"/>
          <p:cNvSpPr/>
          <p:nvPr/>
        </p:nvSpPr>
        <p:spPr>
          <a:xfrm>
            <a:off x="868680" y="2103120"/>
            <a:ext cx="2651760" cy="2377440"/>
          </a:xfrm>
          <a:prstGeom prst="rect">
            <a:avLst/>
          </a:prstGeom>
          <a:solidFill>
            <a:srgbClr val="FFD84D"/>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Class: Player</a:t>
            </a:r>
            <a:endParaRPr lang="en-US" sz="1500" dirty="0"/>
          </a:p>
          <a:p>
            <a:pPr algn="ctr" indent="0" marL="0">
              <a:buNone/>
            </a:pPr>
            <a:endParaRPr lang="en-US" sz="1500" dirty="0"/>
          </a:p>
          <a:p>
            <a:pPr algn="ctr" indent="0" marL="0">
              <a:buNone/>
            </a:pPr>
            <a:r>
              <a:rPr lang="en-US" sz="1500" b="1" dirty="0">
                <a:solidFill>
                  <a:srgbClr val="202124"/>
                </a:solidFill>
                <a:latin typeface="Quicksand" pitchFamily="34" charset="0"/>
                <a:ea typeface="Quicksand" pitchFamily="34" charset="-122"/>
                <a:cs typeface="Quicksand" pitchFamily="34" charset="-120"/>
              </a:rPr>
              <a:t>Name</a:t>
            </a:r>
            <a:endParaRPr lang="en-US" sz="1500" dirty="0"/>
          </a:p>
          <a:p>
            <a:pPr algn="ctr" indent="0" marL="0">
              <a:buNone/>
            </a:pPr>
            <a:r>
              <a:rPr lang="en-US" sz="1500" b="1" dirty="0">
                <a:solidFill>
                  <a:srgbClr val="202124"/>
                </a:solidFill>
                <a:latin typeface="Quicksand" pitchFamily="34" charset="0"/>
                <a:ea typeface="Quicksand" pitchFamily="34" charset="-122"/>
                <a:cs typeface="Quicksand" pitchFamily="34" charset="-120"/>
              </a:rPr>
              <a:t>Score</a:t>
            </a:r>
            <a:endParaRPr lang="en-US" sz="1500" dirty="0"/>
          </a:p>
          <a:p>
            <a:pPr algn="ctr" indent="0" marL="0">
              <a:buNone/>
            </a:pPr>
            <a:r>
              <a:rPr lang="en-US" sz="1500" b="1" dirty="0">
                <a:solidFill>
                  <a:srgbClr val="202124"/>
                </a:solidFill>
                <a:latin typeface="Quicksand" pitchFamily="34" charset="0"/>
                <a:ea typeface="Quicksand" pitchFamily="34" charset="-122"/>
                <a:cs typeface="Quicksand" pitchFamily="34" charset="-120"/>
              </a:rPr>
              <a:t>Lives</a:t>
            </a:r>
            <a:endParaRPr lang="en-US" sz="1500" dirty="0"/>
          </a:p>
        </p:txBody>
      </p:sp>
      <p:sp>
        <p:nvSpPr>
          <p:cNvPr id="8" name="Text 5"/>
          <p:cNvSpPr txBox="1"/>
          <p:nvPr/>
        </p:nvSpPr>
        <p:spPr>
          <a:xfrm>
            <a:off x="868680" y="4617720"/>
            <a:ext cx="2651760" cy="274320"/>
          </a:xfrm>
          <a:prstGeom prst="rect">
            <a:avLst/>
          </a:prstGeom>
          <a:noFill/>
          <a:ln/>
        </p:spPr>
        <p:txBody>
          <a:bodyPr wrap="square" lIns="0" tIns="0" rIns="0" bIns="0" rtlCol="0" anchor="ctr"/>
          <a:lstStyle/>
          <a:p>
            <a:pPr algn="ctr" indent="0" marL="0">
              <a:buNone/>
            </a:pPr>
            <a:r>
              <a:rPr lang="en-US" sz="1300" i="1" dirty="0">
                <a:solidFill>
                  <a:srgbClr val="494985"/>
                </a:solidFill>
                <a:latin typeface="Quicksand" pitchFamily="34" charset="0"/>
                <a:ea typeface="Quicksand" pitchFamily="34" charset="-122"/>
                <a:cs typeface="Quicksand" pitchFamily="34" charset="-120"/>
              </a:rPr>
              <a:t>the template</a:t>
            </a:r>
            <a:endParaRPr lang="en-US" sz="1300" dirty="0"/>
          </a:p>
        </p:txBody>
      </p:sp>
      <p:sp>
        <p:nvSpPr>
          <p:cNvPr id="9" name="Shape 6"/>
          <p:cNvSpPr/>
          <p:nvPr/>
        </p:nvSpPr>
        <p:spPr>
          <a:xfrm flipV="1">
            <a:off x="3566160" y="1965960"/>
            <a:ext cx="2331720" cy="1325880"/>
          </a:xfrm>
          <a:prstGeom prst="line">
            <a:avLst/>
          </a:prstGeom>
          <a:noFill/>
          <a:ln w="22225">
            <a:solidFill>
              <a:srgbClr val="494985"/>
            </a:solidFill>
            <a:prstDash val="solid"/>
            <a:tailEnd type="triangle"/>
          </a:ln>
        </p:spPr>
      </p:sp>
      <p:sp>
        <p:nvSpPr>
          <p:cNvPr id="10" name="Text 7"/>
          <p:cNvSpPr/>
          <p:nvPr/>
        </p:nvSpPr>
        <p:spPr>
          <a:xfrm>
            <a:off x="5943600" y="1417320"/>
            <a:ext cx="2743200" cy="1143000"/>
          </a:xfrm>
          <a:prstGeom prst="roundRect">
            <a:avLst>
              <a:gd name="adj" fmla="val 6400"/>
            </a:avLst>
          </a:prstGeom>
          <a:solidFill>
            <a:srgbClr val="E9E8F5"/>
          </a:solidFill>
          <a:ln w="12700">
            <a:solidFill>
              <a:srgbClr val="494985"/>
            </a:solidFill>
          </a:ln>
        </p:spPr>
        <p:txBody>
          <a:bodyPr wrap="square" lIns="1016" tIns="1016" rIns="1016" bIns="1016" rtlCol="0" anchor="ctr"/>
          <a:lstStyle/>
          <a:p>
            <a:pPr indent="0" marL="0">
              <a:buNone/>
            </a:pPr>
            <a:r>
              <a:rPr lang="en-US" sz="1250" b="1" dirty="0">
                <a:solidFill>
                  <a:srgbClr val="494985"/>
                </a:solidFill>
                <a:latin typeface="Quicksand" pitchFamily="34" charset="0"/>
                <a:ea typeface="Quicksand" pitchFamily="34" charset="-122"/>
                <a:cs typeface="Quicksand" pitchFamily="34" charset="-120"/>
              </a:rPr>
              <a:t>P1 : Player</a:t>
            </a:r>
            <a:endParaRPr lang="en-US" sz="1250" dirty="0"/>
          </a:p>
          <a:p>
            <a:pPr indent="0" marL="0">
              <a:buNone/>
            </a:pPr>
            <a:r>
              <a:rPr lang="en-US" sz="1250" dirty="0">
                <a:solidFill>
                  <a:srgbClr val="202124"/>
                </a:solidFill>
                <a:latin typeface="Quicksand" pitchFamily="34" charset="0"/>
                <a:ea typeface="Quicksand" pitchFamily="34" charset="-122"/>
                <a:cs typeface="Quicksand" pitchFamily="34" charset="-120"/>
              </a:rPr>
              <a:t>Name = "Ava"</a:t>
            </a:r>
            <a:endParaRPr lang="en-US" sz="1250" dirty="0"/>
          </a:p>
          <a:p>
            <a:pPr indent="0" marL="0">
              <a:buNone/>
            </a:pPr>
            <a:r>
              <a:rPr lang="en-US" sz="1250" dirty="0">
                <a:solidFill>
                  <a:srgbClr val="202124"/>
                </a:solidFill>
                <a:latin typeface="Quicksand" pitchFamily="34" charset="0"/>
                <a:ea typeface="Quicksand" pitchFamily="34" charset="-122"/>
                <a:cs typeface="Quicksand" pitchFamily="34" charset="-120"/>
              </a:rPr>
              <a:t>Score = 65,  Lives = 1</a:t>
            </a:r>
            <a:endParaRPr lang="en-US" sz="1250" dirty="0"/>
          </a:p>
        </p:txBody>
      </p:sp>
      <p:sp>
        <p:nvSpPr>
          <p:cNvPr id="11" name="Shape 8"/>
          <p:cNvSpPr/>
          <p:nvPr/>
        </p:nvSpPr>
        <p:spPr>
          <a:xfrm>
            <a:off x="3566160" y="3291840"/>
            <a:ext cx="2331720" cy="137160"/>
          </a:xfrm>
          <a:prstGeom prst="line">
            <a:avLst/>
          </a:prstGeom>
          <a:noFill/>
          <a:ln w="22225">
            <a:solidFill>
              <a:srgbClr val="494985"/>
            </a:solidFill>
            <a:prstDash val="solid"/>
            <a:tailEnd type="triangle"/>
          </a:ln>
        </p:spPr>
      </p:sp>
      <p:sp>
        <p:nvSpPr>
          <p:cNvPr id="12" name="Text 9"/>
          <p:cNvSpPr/>
          <p:nvPr/>
        </p:nvSpPr>
        <p:spPr>
          <a:xfrm>
            <a:off x="5943600" y="2880360"/>
            <a:ext cx="2743200" cy="1143000"/>
          </a:xfrm>
          <a:prstGeom prst="roundRect">
            <a:avLst>
              <a:gd name="adj" fmla="val 6400"/>
            </a:avLst>
          </a:prstGeom>
          <a:solidFill>
            <a:srgbClr val="E9E8F5"/>
          </a:solidFill>
          <a:ln w="12700">
            <a:solidFill>
              <a:srgbClr val="494985"/>
            </a:solidFill>
          </a:ln>
        </p:spPr>
        <p:txBody>
          <a:bodyPr wrap="square" lIns="1016" tIns="1016" rIns="1016" bIns="1016" rtlCol="0" anchor="ctr"/>
          <a:lstStyle/>
          <a:p>
            <a:pPr indent="0" marL="0">
              <a:buNone/>
            </a:pPr>
            <a:r>
              <a:rPr lang="en-US" sz="1250" b="1" dirty="0">
                <a:solidFill>
                  <a:srgbClr val="494985"/>
                </a:solidFill>
                <a:latin typeface="Quicksand" pitchFamily="34" charset="0"/>
                <a:ea typeface="Quicksand" pitchFamily="34" charset="-122"/>
                <a:cs typeface="Quicksand" pitchFamily="34" charset="-120"/>
              </a:rPr>
              <a:t>P2 : Player</a:t>
            </a:r>
            <a:endParaRPr lang="en-US" sz="1250" dirty="0"/>
          </a:p>
          <a:p>
            <a:pPr indent="0" marL="0">
              <a:buNone/>
            </a:pPr>
            <a:r>
              <a:rPr lang="en-US" sz="1250" dirty="0">
                <a:solidFill>
                  <a:srgbClr val="202124"/>
                </a:solidFill>
                <a:latin typeface="Quicksand" pitchFamily="34" charset="0"/>
                <a:ea typeface="Quicksand" pitchFamily="34" charset="-122"/>
                <a:cs typeface="Quicksand" pitchFamily="34" charset="-120"/>
              </a:rPr>
              <a:t>Name = "Ben"</a:t>
            </a:r>
            <a:endParaRPr lang="en-US" sz="1250" dirty="0"/>
          </a:p>
          <a:p>
            <a:pPr indent="0" marL="0">
              <a:buNone/>
            </a:pPr>
            <a:r>
              <a:rPr lang="en-US" sz="1250" dirty="0">
                <a:solidFill>
                  <a:srgbClr val="202124"/>
                </a:solidFill>
                <a:latin typeface="Quicksand" pitchFamily="34" charset="0"/>
                <a:ea typeface="Quicksand" pitchFamily="34" charset="-122"/>
                <a:cs typeface="Quicksand" pitchFamily="34" charset="-120"/>
              </a:rPr>
              <a:t>Score = 20,  Lives = 3</a:t>
            </a:r>
            <a:endParaRPr lang="en-US" sz="1250" dirty="0"/>
          </a:p>
        </p:txBody>
      </p:sp>
      <p:sp>
        <p:nvSpPr>
          <p:cNvPr id="13" name="Shape 10"/>
          <p:cNvSpPr/>
          <p:nvPr/>
        </p:nvSpPr>
        <p:spPr>
          <a:xfrm>
            <a:off x="3566160" y="3291840"/>
            <a:ext cx="2331720" cy="1600200"/>
          </a:xfrm>
          <a:prstGeom prst="line">
            <a:avLst/>
          </a:prstGeom>
          <a:noFill/>
          <a:ln w="22225">
            <a:solidFill>
              <a:srgbClr val="494985"/>
            </a:solidFill>
            <a:prstDash val="solid"/>
            <a:tailEnd type="triangle"/>
          </a:ln>
        </p:spPr>
      </p:sp>
      <p:sp>
        <p:nvSpPr>
          <p:cNvPr id="14" name="Text 11"/>
          <p:cNvSpPr/>
          <p:nvPr/>
        </p:nvSpPr>
        <p:spPr>
          <a:xfrm>
            <a:off x="5943600" y="4343400"/>
            <a:ext cx="2743200" cy="1143000"/>
          </a:xfrm>
          <a:prstGeom prst="roundRect">
            <a:avLst>
              <a:gd name="adj" fmla="val 6400"/>
            </a:avLst>
          </a:prstGeom>
          <a:solidFill>
            <a:srgbClr val="E9E8F5"/>
          </a:solidFill>
          <a:ln w="12700">
            <a:solidFill>
              <a:srgbClr val="494985"/>
            </a:solidFill>
          </a:ln>
        </p:spPr>
        <p:txBody>
          <a:bodyPr wrap="square" lIns="1016" tIns="1016" rIns="1016" bIns="1016" rtlCol="0" anchor="ctr"/>
          <a:lstStyle/>
          <a:p>
            <a:pPr indent="0" marL="0">
              <a:buNone/>
            </a:pPr>
            <a:r>
              <a:rPr lang="en-US" sz="1250" b="1" dirty="0">
                <a:solidFill>
                  <a:srgbClr val="494985"/>
                </a:solidFill>
                <a:latin typeface="Quicksand" pitchFamily="34" charset="0"/>
                <a:ea typeface="Quicksand" pitchFamily="34" charset="-122"/>
                <a:cs typeface="Quicksand" pitchFamily="34" charset="-120"/>
              </a:rPr>
              <a:t>P3 : Player</a:t>
            </a:r>
            <a:endParaRPr lang="en-US" sz="1250" dirty="0"/>
          </a:p>
          <a:p>
            <a:pPr indent="0" marL="0">
              <a:buNone/>
            </a:pPr>
            <a:r>
              <a:rPr lang="en-US" sz="1250" dirty="0">
                <a:solidFill>
                  <a:srgbClr val="202124"/>
                </a:solidFill>
                <a:latin typeface="Quicksand" pitchFamily="34" charset="0"/>
                <a:ea typeface="Quicksand" pitchFamily="34" charset="-122"/>
                <a:cs typeface="Quicksand" pitchFamily="34" charset="-120"/>
              </a:rPr>
              <a:t>Name = "Cat"</a:t>
            </a:r>
            <a:endParaRPr lang="en-US" sz="1250" dirty="0"/>
          </a:p>
          <a:p>
            <a:pPr indent="0" marL="0">
              <a:buNone/>
            </a:pPr>
            <a:r>
              <a:rPr lang="en-US" sz="1250" dirty="0">
                <a:solidFill>
                  <a:srgbClr val="202124"/>
                </a:solidFill>
                <a:latin typeface="Quicksand" pitchFamily="34" charset="0"/>
                <a:ea typeface="Quicksand" pitchFamily="34" charset="-122"/>
                <a:cs typeface="Quicksand" pitchFamily="34" charset="-120"/>
              </a:rPr>
              <a:t>Score = 0,  Lives = 3</a:t>
            </a:r>
            <a:endParaRPr lang="en-US" sz="1250" dirty="0"/>
          </a:p>
        </p:txBody>
      </p:sp>
      <p:sp>
        <p:nvSpPr>
          <p:cNvPr id="15" name="Text 12"/>
          <p:cNvSpPr txBox="1"/>
          <p:nvPr/>
        </p:nvSpPr>
        <p:spPr>
          <a:xfrm>
            <a:off x="5943600" y="5806440"/>
            <a:ext cx="2743200" cy="274320"/>
          </a:xfrm>
          <a:prstGeom prst="rect">
            <a:avLst/>
          </a:prstGeom>
          <a:noFill/>
          <a:ln/>
        </p:spPr>
        <p:txBody>
          <a:bodyPr wrap="square" lIns="0" tIns="0" rIns="0" bIns="0" rtlCol="0" anchor="ctr"/>
          <a:lstStyle/>
          <a:p>
            <a:pPr algn="ctr" indent="0" marL="0">
              <a:buNone/>
            </a:pPr>
            <a:r>
              <a:rPr lang="en-US" sz="1200" i="1" dirty="0">
                <a:solidFill>
                  <a:srgbClr val="494985"/>
                </a:solidFill>
                <a:latin typeface="Quicksand" pitchFamily="34" charset="0"/>
                <a:ea typeface="Quicksand" pitchFamily="34" charset="-122"/>
                <a:cs typeface="Quicksand" pitchFamily="34" charset="-120"/>
              </a:rPr>
              <a:t>objects (instances) - each has its own data</a:t>
            </a:r>
            <a:endParaRPr lang="en-US" sz="1200" dirty="0"/>
          </a:p>
        </p:txBody>
      </p:sp>
      <p:sp>
        <p:nvSpPr>
          <p:cNvPr id="16" name="Shape 13"/>
          <p:cNvSpPr/>
          <p:nvPr/>
        </p:nvSpPr>
        <p:spPr>
          <a:xfrm>
            <a:off x="9052560" y="1417320"/>
            <a:ext cx="2468880" cy="4206240"/>
          </a:xfrm>
          <a:prstGeom prst="rect">
            <a:avLst/>
          </a:prstGeom>
          <a:solidFill>
            <a:srgbClr val="F6F5FC"/>
          </a:solidFill>
          <a:ln w="12700">
            <a:solidFill>
              <a:srgbClr val="F6F5FC"/>
            </a:solidFill>
            <a:prstDash val="solid"/>
          </a:ln>
        </p:spPr>
      </p:sp>
      <p:sp>
        <p:nvSpPr>
          <p:cNvPr id="17" name="Shape 14"/>
          <p:cNvSpPr/>
          <p:nvPr/>
        </p:nvSpPr>
        <p:spPr>
          <a:xfrm>
            <a:off x="9052560" y="1417320"/>
            <a:ext cx="73152" cy="4206240"/>
          </a:xfrm>
          <a:prstGeom prst="rect">
            <a:avLst/>
          </a:prstGeom>
          <a:solidFill>
            <a:srgbClr val="494985"/>
          </a:solidFill>
          <a:ln w="12700">
            <a:solidFill>
              <a:srgbClr val="494985"/>
            </a:solidFill>
            <a:prstDash val="solid"/>
          </a:ln>
        </p:spPr>
      </p:sp>
      <p:sp>
        <p:nvSpPr>
          <p:cNvPr id="18" name="Text 15"/>
          <p:cNvSpPr txBox="1"/>
          <p:nvPr/>
        </p:nvSpPr>
        <p:spPr>
          <a:xfrm>
            <a:off x="9281160" y="1508760"/>
            <a:ext cx="210312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Key words</a:t>
            </a:r>
            <a:endParaRPr lang="en-US" sz="1500" dirty="0"/>
          </a:p>
        </p:txBody>
      </p:sp>
      <p:sp>
        <p:nvSpPr>
          <p:cNvPr id="19" name="Text 16"/>
          <p:cNvSpPr txBox="1"/>
          <p:nvPr/>
        </p:nvSpPr>
        <p:spPr>
          <a:xfrm>
            <a:off x="9281160" y="1920240"/>
            <a:ext cx="2103120" cy="3611880"/>
          </a:xfrm>
          <a:prstGeom prst="rect">
            <a:avLst/>
          </a:prstGeom>
          <a:noFill/>
          <a:ln/>
        </p:spPr>
        <p:txBody>
          <a:bodyPr wrap="square" lIns="0" tIns="0" rIns="0" bIns="0" rtlCol="0" anchor="t"/>
          <a:lstStyle/>
          <a:p>
            <a:pPr marL="228600" indent="-228600">
              <a:spcAft>
                <a:spcPts val="500"/>
              </a:spcAft>
              <a:buSzPct val="100000"/>
              <a:buChar char="•"/>
            </a:pPr>
            <a:r>
              <a:rPr lang="en-US" sz="1250" dirty="0">
                <a:solidFill>
                  <a:srgbClr val="202124"/>
                </a:solidFill>
                <a:latin typeface="Quicksand" pitchFamily="34" charset="0"/>
                <a:ea typeface="Quicksand" pitchFamily="34" charset="-122"/>
                <a:cs typeface="Quicksand" pitchFamily="34" charset="-120"/>
              </a:rPr>
              <a:t>Class: a template that defines attributes and methods</a:t>
            </a:r>
            <a:endParaRPr lang="en-US" sz="1250" dirty="0"/>
          </a:p>
          <a:p>
            <a:pPr marL="228600" indent="-228600">
              <a:spcAft>
                <a:spcPts val="500"/>
              </a:spcAft>
              <a:buSzPct val="100000"/>
              <a:buChar char="•"/>
            </a:pPr>
            <a:r>
              <a:rPr lang="en-US" sz="1250" dirty="0">
                <a:solidFill>
                  <a:srgbClr val="202124"/>
                </a:solidFill>
                <a:latin typeface="Quicksand" pitchFamily="34" charset="0"/>
                <a:ea typeface="Quicksand" pitchFamily="34" charset="-122"/>
                <a:cs typeface="Quicksand" pitchFamily="34" charset="-120"/>
              </a:rPr>
              <a:t>Object: an instance of a class</a:t>
            </a:r>
            <a:endParaRPr lang="en-US" sz="1250" dirty="0"/>
          </a:p>
          <a:p>
            <a:pPr marL="228600" indent="-228600">
              <a:spcAft>
                <a:spcPts val="500"/>
              </a:spcAft>
              <a:buSzPct val="100000"/>
              <a:buChar char="•"/>
            </a:pPr>
            <a:r>
              <a:rPr lang="en-US" sz="1250" dirty="0">
                <a:solidFill>
                  <a:srgbClr val="202124"/>
                </a:solidFill>
                <a:latin typeface="Quicksand" pitchFamily="34" charset="0"/>
                <a:ea typeface="Quicksand" pitchFamily="34" charset="-122"/>
                <a:cs typeface="Quicksand" pitchFamily="34" charset="-120"/>
              </a:rPr>
              <a:t>Instantiation: creating an object from a class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Class diagrams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10</a:t>
            </a:r>
            <a:endParaRPr lang="en-US" sz="1350" dirty="0"/>
          </a:p>
        </p:txBody>
      </p:sp>
      <p:sp>
        <p:nvSpPr>
          <p:cNvPr id="7" name="Text 4"/>
          <p:cNvSpPr/>
          <p:nvPr/>
        </p:nvSpPr>
        <p:spPr>
          <a:xfrm>
            <a:off x="1188720" y="1371600"/>
            <a:ext cx="4206240" cy="548640"/>
          </a:xfrm>
          <a:prstGeom prst="rect">
            <a:avLst/>
          </a:prstGeom>
          <a:solidFill>
            <a:srgbClr val="494985"/>
          </a:solidFill>
          <a:ln>
            <a:solidFill>
              <a:srgbClr val="494985"/>
            </a:solidFill>
          </a:ln>
        </p:spPr>
        <p:txBody>
          <a:bodyPr wrap="square" lIns="0" tIns="0" rIns="0" bIns="0" rtlCol="0" anchor="ctr"/>
          <a:lstStyle/>
          <a:p>
            <a:pPr algn="ctr" indent="0" marL="0">
              <a:buNone/>
            </a:pPr>
            <a:r>
              <a:rPr lang="en-US" sz="1800" b="1" dirty="0">
                <a:solidFill>
                  <a:srgbClr val="FFFFFF"/>
                </a:solidFill>
                <a:latin typeface="Quicksand" pitchFamily="34" charset="0"/>
                <a:ea typeface="Quicksand" pitchFamily="34" charset="-122"/>
                <a:cs typeface="Quicksand" pitchFamily="34" charset="-120"/>
              </a:rPr>
              <a:t>Player</a:t>
            </a:r>
            <a:endParaRPr lang="en-US" sz="1800" dirty="0"/>
          </a:p>
        </p:txBody>
      </p:sp>
      <p:sp>
        <p:nvSpPr>
          <p:cNvPr id="8" name="Text 5"/>
          <p:cNvSpPr/>
          <p:nvPr/>
        </p:nvSpPr>
        <p:spPr>
          <a:xfrm>
            <a:off x="1188720" y="1920240"/>
            <a:ext cx="4206240" cy="1188720"/>
          </a:xfrm>
          <a:prstGeom prst="rect">
            <a:avLst/>
          </a:prstGeom>
          <a:solidFill>
            <a:srgbClr val="FFFFFF"/>
          </a:solidFill>
          <a:ln w="19050">
            <a:solidFill>
              <a:srgbClr val="494985"/>
            </a:solidFill>
          </a:ln>
        </p:spPr>
        <p:txBody>
          <a:bodyPr wrap="square" lIns="1905" tIns="1905" rIns="1905" bIns="1905" rtlCol="0" anchor="ctr"/>
          <a:lstStyle/>
          <a:p>
            <a:pPr indent="0" marL="0">
              <a:buNone/>
            </a:pPr>
            <a:r>
              <a:rPr lang="en-US" sz="1400" dirty="0">
                <a:solidFill>
                  <a:srgbClr val="202124"/>
                </a:solidFill>
                <a:latin typeface="Roboto Mono" pitchFamily="34" charset="0"/>
                <a:ea typeface="Roboto Mono" pitchFamily="34" charset="-122"/>
                <a:cs typeface="Roboto Mono" pitchFamily="34" charset="-120"/>
              </a:rPr>
              <a:t>- Name : STRING</a:t>
            </a:r>
            <a:endParaRPr lang="en-US" sz="1400" dirty="0"/>
          </a:p>
          <a:p>
            <a:pPr indent="0" marL="0">
              <a:buNone/>
            </a:pPr>
            <a:r>
              <a:rPr lang="en-US" sz="1400" dirty="0">
                <a:solidFill>
                  <a:srgbClr val="202124"/>
                </a:solidFill>
                <a:latin typeface="Roboto Mono" pitchFamily="34" charset="0"/>
                <a:ea typeface="Roboto Mono" pitchFamily="34" charset="-122"/>
                <a:cs typeface="Roboto Mono" pitchFamily="34" charset="-120"/>
              </a:rPr>
              <a:t>- Score : INTEGER</a:t>
            </a:r>
            <a:endParaRPr lang="en-US" sz="1400" dirty="0"/>
          </a:p>
          <a:p>
            <a:pPr indent="0" marL="0">
              <a:buNone/>
            </a:pPr>
            <a:r>
              <a:rPr lang="en-US" sz="1400" dirty="0">
                <a:solidFill>
                  <a:srgbClr val="202124"/>
                </a:solidFill>
                <a:latin typeface="Roboto Mono" pitchFamily="34" charset="0"/>
                <a:ea typeface="Roboto Mono" pitchFamily="34" charset="-122"/>
                <a:cs typeface="Roboto Mono" pitchFamily="34" charset="-120"/>
              </a:rPr>
              <a:t>- Lives : INTEGER</a:t>
            </a:r>
            <a:endParaRPr lang="en-US" sz="1400" dirty="0"/>
          </a:p>
        </p:txBody>
      </p:sp>
      <p:sp>
        <p:nvSpPr>
          <p:cNvPr id="9" name="Text 6"/>
          <p:cNvSpPr/>
          <p:nvPr/>
        </p:nvSpPr>
        <p:spPr>
          <a:xfrm>
            <a:off x="1188720" y="3108960"/>
            <a:ext cx="4206240" cy="2011680"/>
          </a:xfrm>
          <a:prstGeom prst="rect">
            <a:avLst/>
          </a:prstGeom>
          <a:solidFill>
            <a:srgbClr val="FFFFFF"/>
          </a:solidFill>
          <a:ln w="19050">
            <a:solidFill>
              <a:srgbClr val="494985"/>
            </a:solidFill>
          </a:ln>
        </p:spPr>
        <p:txBody>
          <a:bodyPr wrap="square" lIns="1905" tIns="1905" rIns="1905" bIns="1905" rtlCol="0" anchor="ctr"/>
          <a:lstStyle/>
          <a:p>
            <a:pPr indent="0" marL="0">
              <a:buNone/>
            </a:pPr>
            <a:r>
              <a:rPr lang="en-US" sz="1350" dirty="0">
                <a:solidFill>
                  <a:srgbClr val="202124"/>
                </a:solidFill>
                <a:latin typeface="Roboto Mono" pitchFamily="34" charset="0"/>
                <a:ea typeface="Roboto Mono" pitchFamily="34" charset="-122"/>
                <a:cs typeface="Roboto Mono" pitchFamily="34" charset="-120"/>
              </a:rPr>
              <a:t>+ New(PName : STRING)</a:t>
            </a:r>
            <a:endParaRPr lang="en-US" sz="1350" dirty="0"/>
          </a:p>
          <a:p>
            <a:pPr indent="0" marL="0">
              <a:buNone/>
            </a:pPr>
            <a:r>
              <a:rPr lang="en-US" sz="1350" dirty="0">
                <a:solidFill>
                  <a:srgbClr val="202124"/>
                </a:solidFill>
                <a:latin typeface="Roboto Mono" pitchFamily="34" charset="0"/>
                <a:ea typeface="Roboto Mono" pitchFamily="34" charset="-122"/>
                <a:cs typeface="Roboto Mono" pitchFamily="34" charset="-120"/>
              </a:rPr>
              <a:t>+ GetName() : STRING</a:t>
            </a:r>
            <a:endParaRPr lang="en-US" sz="1350" dirty="0"/>
          </a:p>
          <a:p>
            <a:pPr indent="0" marL="0">
              <a:buNone/>
            </a:pPr>
            <a:r>
              <a:rPr lang="en-US" sz="1350" dirty="0">
                <a:solidFill>
                  <a:srgbClr val="202124"/>
                </a:solidFill>
                <a:latin typeface="Roboto Mono" pitchFamily="34" charset="0"/>
                <a:ea typeface="Roboto Mono" pitchFamily="34" charset="-122"/>
                <a:cs typeface="Roboto Mono" pitchFamily="34" charset="-120"/>
              </a:rPr>
              <a:t>+ GetScore() : INTEGER</a:t>
            </a:r>
            <a:endParaRPr lang="en-US" sz="1350" dirty="0"/>
          </a:p>
          <a:p>
            <a:pPr indent="0" marL="0">
              <a:buNone/>
            </a:pPr>
            <a:r>
              <a:rPr lang="en-US" sz="1350" dirty="0">
                <a:solidFill>
                  <a:srgbClr val="202124"/>
                </a:solidFill>
                <a:latin typeface="Roboto Mono" pitchFamily="34" charset="0"/>
                <a:ea typeface="Roboto Mono" pitchFamily="34" charset="-122"/>
                <a:cs typeface="Roboto Mono" pitchFamily="34" charset="-120"/>
              </a:rPr>
              <a:t>+ SetLives(NewLives : INTEGER)</a:t>
            </a:r>
            <a:endParaRPr lang="en-US" sz="1350" dirty="0"/>
          </a:p>
          <a:p>
            <a:pPr indent="0" marL="0">
              <a:buNone/>
            </a:pPr>
            <a:r>
              <a:rPr lang="en-US" sz="1350" dirty="0">
                <a:solidFill>
                  <a:srgbClr val="202124"/>
                </a:solidFill>
                <a:latin typeface="Roboto Mono" pitchFamily="34" charset="0"/>
                <a:ea typeface="Roboto Mono" pitchFamily="34" charset="-122"/>
                <a:cs typeface="Roboto Mono" pitchFamily="34" charset="-120"/>
              </a:rPr>
              <a:t>+ AddPoints(Points : INTEGER)</a:t>
            </a:r>
            <a:endParaRPr lang="en-US" sz="1350" dirty="0"/>
          </a:p>
        </p:txBody>
      </p:sp>
      <p:sp>
        <p:nvSpPr>
          <p:cNvPr id="10" name="Shape 7"/>
          <p:cNvSpPr/>
          <p:nvPr/>
        </p:nvSpPr>
        <p:spPr>
          <a:xfrm flipH="1">
            <a:off x="5440680" y="1645920"/>
            <a:ext cx="320040" cy="914"/>
          </a:xfrm>
          <a:prstGeom prst="line">
            <a:avLst/>
          </a:prstGeom>
          <a:noFill/>
          <a:ln w="19050">
            <a:solidFill>
              <a:srgbClr val="B3261E"/>
            </a:solidFill>
            <a:prstDash val="solid"/>
            <a:tailEnd type="triangle"/>
          </a:ln>
        </p:spPr>
      </p:sp>
      <p:sp>
        <p:nvSpPr>
          <p:cNvPr id="11" name="Text 8"/>
          <p:cNvSpPr txBox="1"/>
          <p:nvPr/>
        </p:nvSpPr>
        <p:spPr>
          <a:xfrm>
            <a:off x="5806440" y="1508760"/>
            <a:ext cx="2743200" cy="274320"/>
          </a:xfrm>
          <a:prstGeom prst="rect">
            <a:avLst/>
          </a:prstGeom>
          <a:noFill/>
          <a:ln/>
        </p:spPr>
        <p:txBody>
          <a:bodyPr wrap="square" lIns="0" tIns="0" rIns="0" bIns="0" rtlCol="0" anchor="ctr"/>
          <a:lstStyle/>
          <a:p>
            <a:pPr algn="l" indent="0" marL="0">
              <a:buNone/>
            </a:pPr>
            <a:r>
              <a:rPr lang="en-US" sz="1300" i="1" dirty="0">
                <a:solidFill>
                  <a:srgbClr val="B3261E"/>
                </a:solidFill>
                <a:latin typeface="Quicksand" pitchFamily="34" charset="0"/>
                <a:ea typeface="Quicksand" pitchFamily="34" charset="-122"/>
                <a:cs typeface="Quicksand" pitchFamily="34" charset="-120"/>
              </a:rPr>
              <a:t>class name</a:t>
            </a:r>
            <a:endParaRPr lang="en-US" sz="1300" dirty="0"/>
          </a:p>
        </p:txBody>
      </p:sp>
      <p:sp>
        <p:nvSpPr>
          <p:cNvPr id="12" name="Shape 9"/>
          <p:cNvSpPr/>
          <p:nvPr/>
        </p:nvSpPr>
        <p:spPr>
          <a:xfrm flipH="1">
            <a:off x="5440680" y="2514600"/>
            <a:ext cx="320040" cy="914"/>
          </a:xfrm>
          <a:prstGeom prst="line">
            <a:avLst/>
          </a:prstGeom>
          <a:noFill/>
          <a:ln w="19050">
            <a:solidFill>
              <a:srgbClr val="B3261E"/>
            </a:solidFill>
            <a:prstDash val="solid"/>
            <a:tailEnd type="triangle"/>
          </a:ln>
        </p:spPr>
      </p:sp>
      <p:sp>
        <p:nvSpPr>
          <p:cNvPr id="13" name="Text 10"/>
          <p:cNvSpPr txBox="1"/>
          <p:nvPr/>
        </p:nvSpPr>
        <p:spPr>
          <a:xfrm>
            <a:off x="5806440" y="2377440"/>
            <a:ext cx="2743200" cy="274320"/>
          </a:xfrm>
          <a:prstGeom prst="rect">
            <a:avLst/>
          </a:prstGeom>
          <a:noFill/>
          <a:ln/>
        </p:spPr>
        <p:txBody>
          <a:bodyPr wrap="square" lIns="0" tIns="0" rIns="0" bIns="0" rtlCol="0" anchor="ctr"/>
          <a:lstStyle/>
          <a:p>
            <a:pPr algn="l" indent="0" marL="0">
              <a:buNone/>
            </a:pPr>
            <a:r>
              <a:rPr lang="en-US" sz="1300" i="1" dirty="0">
                <a:solidFill>
                  <a:srgbClr val="B3261E"/>
                </a:solidFill>
                <a:latin typeface="Quicksand" pitchFamily="34" charset="0"/>
                <a:ea typeface="Quicksand" pitchFamily="34" charset="-122"/>
                <a:cs typeface="Quicksand" pitchFamily="34" charset="-120"/>
              </a:rPr>
              <a:t>attributes (data) + types</a:t>
            </a:r>
            <a:endParaRPr lang="en-US" sz="1300" dirty="0"/>
          </a:p>
        </p:txBody>
      </p:sp>
      <p:sp>
        <p:nvSpPr>
          <p:cNvPr id="14" name="Shape 11"/>
          <p:cNvSpPr/>
          <p:nvPr/>
        </p:nvSpPr>
        <p:spPr>
          <a:xfrm flipH="1">
            <a:off x="5440680" y="4114800"/>
            <a:ext cx="320040" cy="914"/>
          </a:xfrm>
          <a:prstGeom prst="line">
            <a:avLst/>
          </a:prstGeom>
          <a:noFill/>
          <a:ln w="19050">
            <a:solidFill>
              <a:srgbClr val="B3261E"/>
            </a:solidFill>
            <a:prstDash val="solid"/>
            <a:tailEnd type="triangle"/>
          </a:ln>
        </p:spPr>
      </p:sp>
      <p:sp>
        <p:nvSpPr>
          <p:cNvPr id="15" name="Text 12"/>
          <p:cNvSpPr txBox="1"/>
          <p:nvPr/>
        </p:nvSpPr>
        <p:spPr>
          <a:xfrm>
            <a:off x="5806440" y="3977640"/>
            <a:ext cx="2743200" cy="274320"/>
          </a:xfrm>
          <a:prstGeom prst="rect">
            <a:avLst/>
          </a:prstGeom>
          <a:noFill/>
          <a:ln/>
        </p:spPr>
        <p:txBody>
          <a:bodyPr wrap="square" lIns="0" tIns="0" rIns="0" bIns="0" rtlCol="0" anchor="ctr"/>
          <a:lstStyle/>
          <a:p>
            <a:pPr algn="l" indent="0" marL="0">
              <a:buNone/>
            </a:pPr>
            <a:r>
              <a:rPr lang="en-US" sz="1300" i="1" dirty="0">
                <a:solidFill>
                  <a:srgbClr val="B3261E"/>
                </a:solidFill>
                <a:latin typeface="Quicksand" pitchFamily="34" charset="0"/>
                <a:ea typeface="Quicksand" pitchFamily="34" charset="-122"/>
                <a:cs typeface="Quicksand" pitchFamily="34" charset="-120"/>
              </a:rPr>
              <a:t>methods (procedures and functions)</a:t>
            </a:r>
            <a:endParaRPr lang="en-US" sz="1300" dirty="0"/>
          </a:p>
        </p:txBody>
      </p:sp>
      <p:sp>
        <p:nvSpPr>
          <p:cNvPr id="16" name="Shape 13"/>
          <p:cNvSpPr/>
          <p:nvPr/>
        </p:nvSpPr>
        <p:spPr>
          <a:xfrm>
            <a:off x="8595360" y="1371600"/>
            <a:ext cx="2926080" cy="3749040"/>
          </a:xfrm>
          <a:prstGeom prst="rect">
            <a:avLst/>
          </a:prstGeom>
          <a:solidFill>
            <a:srgbClr val="F6F5FC"/>
          </a:solidFill>
          <a:ln w="12700">
            <a:solidFill>
              <a:srgbClr val="F6F5FC"/>
            </a:solidFill>
            <a:prstDash val="solid"/>
          </a:ln>
        </p:spPr>
      </p:sp>
      <p:sp>
        <p:nvSpPr>
          <p:cNvPr id="17" name="Shape 14"/>
          <p:cNvSpPr/>
          <p:nvPr/>
        </p:nvSpPr>
        <p:spPr>
          <a:xfrm>
            <a:off x="8595360" y="1371600"/>
            <a:ext cx="73152" cy="3749040"/>
          </a:xfrm>
          <a:prstGeom prst="rect">
            <a:avLst/>
          </a:prstGeom>
          <a:solidFill>
            <a:srgbClr val="494985"/>
          </a:solidFill>
          <a:ln w="12700">
            <a:solidFill>
              <a:srgbClr val="494985"/>
            </a:solidFill>
            <a:prstDash val="solid"/>
          </a:ln>
        </p:spPr>
      </p:sp>
      <p:sp>
        <p:nvSpPr>
          <p:cNvPr id="18" name="Text 15"/>
          <p:cNvSpPr txBox="1"/>
          <p:nvPr/>
        </p:nvSpPr>
        <p:spPr>
          <a:xfrm>
            <a:off x="8823960" y="1463040"/>
            <a:ext cx="2560320" cy="347472"/>
          </a:xfrm>
          <a:prstGeom prst="rect">
            <a:avLst/>
          </a:prstGeom>
          <a:noFill/>
          <a:ln/>
        </p:spPr>
        <p:txBody>
          <a:bodyPr wrap="square" lIns="0" tIns="0" rIns="0" bIns="0" rtlCol="0" anchor="ctr"/>
          <a:lstStyle/>
          <a:p>
            <a:pPr indent="0" marL="0">
              <a:buNone/>
            </a:pPr>
            <a:r>
              <a:rPr lang="en-US" sz="1500" b="1" dirty="0">
                <a:solidFill>
                  <a:srgbClr val="494985"/>
                </a:solidFill>
                <a:latin typeface="Quicksand" pitchFamily="34" charset="0"/>
                <a:ea typeface="Quicksand" pitchFamily="34" charset="-122"/>
                <a:cs typeface="Quicksand" pitchFamily="34" charset="-120"/>
              </a:rPr>
              <a:t>Key</a:t>
            </a:r>
            <a:endParaRPr lang="en-US" sz="1500" dirty="0"/>
          </a:p>
        </p:txBody>
      </p:sp>
      <p:sp>
        <p:nvSpPr>
          <p:cNvPr id="19" name="Text 16"/>
          <p:cNvSpPr txBox="1"/>
          <p:nvPr/>
        </p:nvSpPr>
        <p:spPr>
          <a:xfrm>
            <a:off x="8823960" y="1874520"/>
            <a:ext cx="2560320" cy="3154680"/>
          </a:xfrm>
          <a:prstGeom prst="rect">
            <a:avLst/>
          </a:prstGeom>
          <a:noFill/>
          <a:ln/>
        </p:spPr>
        <p:txBody>
          <a:bodyPr wrap="square" lIns="0" tIns="0" rIns="0" bIns="0" rtlCol="0" anchor="t"/>
          <a:lstStyle/>
          <a:p>
            <a:pPr marL="228600" indent="-228600">
              <a:spcAft>
                <a:spcPts val="500"/>
              </a:spcAft>
              <a:buSzPct val="100000"/>
              <a:buChar char="•"/>
            </a:pPr>
            <a:r>
              <a:rPr lang="en-US" sz="1250" dirty="0">
                <a:solidFill>
                  <a:srgbClr val="202124"/>
                </a:solidFill>
                <a:latin typeface="Quicksand" pitchFamily="34" charset="0"/>
                <a:ea typeface="Quicksand" pitchFamily="34" charset="-122"/>
                <a:cs typeface="Quicksand" pitchFamily="34" charset="-120"/>
              </a:rPr>
              <a:t>- private: only code inside the class can use it</a:t>
            </a:r>
            <a:endParaRPr lang="en-US" sz="1250" dirty="0"/>
          </a:p>
          <a:p>
            <a:pPr marL="228600" indent="-228600">
              <a:spcAft>
                <a:spcPts val="500"/>
              </a:spcAft>
              <a:buSzPct val="100000"/>
              <a:buChar char="•"/>
            </a:pPr>
            <a:r>
              <a:rPr lang="en-US" sz="1250" dirty="0">
                <a:solidFill>
                  <a:srgbClr val="202124"/>
                </a:solidFill>
                <a:latin typeface="Quicksand" pitchFamily="34" charset="0"/>
                <a:ea typeface="Quicksand" pitchFamily="34" charset="-122"/>
                <a:cs typeface="Quicksand" pitchFamily="34" charset="-120"/>
              </a:rPr>
              <a:t>+ public: code outside the class can use it</a:t>
            </a:r>
            <a:endParaRPr lang="en-US" sz="1250" dirty="0"/>
          </a:p>
          <a:p>
            <a:pPr marL="228600" indent="-228600">
              <a:spcAft>
                <a:spcPts val="500"/>
              </a:spcAft>
              <a:buSzPct val="100000"/>
              <a:buChar char="•"/>
            </a:pPr>
            <a:r>
              <a:rPr lang="en-US" sz="1250" dirty="0">
                <a:solidFill>
                  <a:srgbClr val="202124"/>
                </a:solidFill>
                <a:latin typeface="Quicksand" pitchFamily="34" charset="0"/>
                <a:ea typeface="Quicksand" pitchFamily="34" charset="-122"/>
                <a:cs typeface="Quicksand" pitchFamily="34" charset="-120"/>
              </a:rPr>
              <a:t>New is the constructor</a:t>
            </a:r>
            <a:endParaRPr lang="en-US" sz="1250" dirty="0"/>
          </a:p>
          <a:p>
            <a:pPr marL="228600" indent="-228600">
              <a:spcAft>
                <a:spcPts val="500"/>
              </a:spcAft>
              <a:buSzPct val="100000"/>
              <a:buChar char="•"/>
            </a:pPr>
            <a:r>
              <a:rPr lang="en-US" sz="1250" dirty="0">
                <a:solidFill>
                  <a:srgbClr val="202124"/>
                </a:solidFill>
                <a:latin typeface="Quicksand" pitchFamily="34" charset="0"/>
                <a:ea typeface="Quicksand" pitchFamily="34" charset="-122"/>
                <a:cs typeface="Quicksand" pitchFamily="34" charset="-120"/>
              </a:rPr>
              <a:t>Get... are getters, Set... are setters</a:t>
            </a:r>
            <a:endParaRPr lang="en-US" sz="1250" dirty="0"/>
          </a:p>
        </p:txBody>
      </p:sp>
      <p:sp>
        <p:nvSpPr>
          <p:cNvPr id="20" name="Text 17"/>
          <p:cNvSpPr txBox="1"/>
          <p:nvPr/>
        </p:nvSpPr>
        <p:spPr>
          <a:xfrm>
            <a:off x="1188720" y="5349240"/>
            <a:ext cx="10332720" cy="4114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Attributes are usually private; methods are usually public.</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Encapsulation and data hiding</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11</a:t>
            </a:r>
            <a:endParaRPr lang="en-US" sz="1350" dirty="0"/>
          </a:p>
        </p:txBody>
      </p:sp>
      <p:sp>
        <p:nvSpPr>
          <p:cNvPr id="7" name="Shape 4"/>
          <p:cNvSpPr/>
          <p:nvPr/>
        </p:nvSpPr>
        <p:spPr>
          <a:xfrm>
            <a:off x="868680" y="1371600"/>
            <a:ext cx="4937760" cy="4023360"/>
          </a:xfrm>
          <a:prstGeom prst="ellipse">
            <a:avLst/>
          </a:prstGeom>
          <a:solidFill>
            <a:srgbClr val="E3F2E8"/>
          </a:solidFill>
          <a:ln w="31750">
            <a:solidFill>
              <a:srgbClr val="2E7D5B"/>
            </a:solidFill>
            <a:prstDash val="solid"/>
          </a:ln>
        </p:spPr>
      </p:sp>
      <p:sp>
        <p:nvSpPr>
          <p:cNvPr id="8" name="Shape 5"/>
          <p:cNvSpPr/>
          <p:nvPr/>
        </p:nvSpPr>
        <p:spPr>
          <a:xfrm>
            <a:off x="1965960" y="2286000"/>
            <a:ext cx="2743200" cy="2194560"/>
          </a:xfrm>
          <a:prstGeom prst="ellipse">
            <a:avLst/>
          </a:prstGeom>
          <a:solidFill>
            <a:srgbClr val="FFFFFF"/>
          </a:solidFill>
          <a:ln w="25400">
            <a:solidFill>
              <a:srgbClr val="B3261E"/>
            </a:solidFill>
            <a:prstDash val="dash"/>
          </a:ln>
        </p:spPr>
      </p:sp>
      <p:sp>
        <p:nvSpPr>
          <p:cNvPr id="9" name="Text 6"/>
          <p:cNvSpPr/>
          <p:nvPr/>
        </p:nvSpPr>
        <p:spPr>
          <a:xfrm>
            <a:off x="2057400" y="2926080"/>
            <a:ext cx="2560320" cy="914400"/>
          </a:xfrm>
          <a:prstGeom prst="rect">
            <a:avLst/>
          </a:prstGeom>
          <a:noFill/>
          <a:ln/>
        </p:spPr>
        <p:txBody>
          <a:bodyPr wrap="square" lIns="0" tIns="0" rIns="0" bIns="0" rtlCol="0" anchor="ctr"/>
          <a:lstStyle/>
          <a:p>
            <a:pPr algn="ctr" indent="0" marL="0">
              <a:buNone/>
            </a:pPr>
            <a:r>
              <a:rPr lang="en-US" sz="1300" b="1" dirty="0">
                <a:solidFill>
                  <a:srgbClr val="B3261E"/>
                </a:solidFill>
                <a:latin typeface="Quicksand" pitchFamily="34" charset="0"/>
                <a:ea typeface="Quicksand" pitchFamily="34" charset="-122"/>
                <a:cs typeface="Quicksand" pitchFamily="34" charset="-120"/>
              </a:rPr>
              <a:t>Private data</a:t>
            </a:r>
            <a:endParaRPr lang="en-US" sz="1300" dirty="0"/>
          </a:p>
          <a:p>
            <a:pPr algn="ctr" indent="0" marL="0">
              <a:buNone/>
            </a:pPr>
            <a:r>
              <a:rPr lang="en-US" sz="1300" dirty="0">
                <a:solidFill>
                  <a:srgbClr val="202124"/>
                </a:solidFill>
                <a:latin typeface="Quicksand" pitchFamily="34" charset="0"/>
                <a:ea typeface="Quicksand" pitchFamily="34" charset="-122"/>
                <a:cs typeface="Quicksand" pitchFamily="34" charset="-120"/>
              </a:rPr>
              <a:t>Name, Score, Lives</a:t>
            </a:r>
            <a:endParaRPr lang="en-US" sz="1300" dirty="0"/>
          </a:p>
        </p:txBody>
      </p:sp>
      <p:sp>
        <p:nvSpPr>
          <p:cNvPr id="10" name="Text 7"/>
          <p:cNvSpPr/>
          <p:nvPr/>
        </p:nvSpPr>
        <p:spPr>
          <a:xfrm>
            <a:off x="1463040" y="1691640"/>
            <a:ext cx="1417320" cy="384048"/>
          </a:xfrm>
          <a:prstGeom prst="roundRect">
            <a:avLst>
              <a:gd name="adj" fmla="val 14286"/>
            </a:avLst>
          </a:prstGeom>
          <a:solidFill>
            <a:srgbClr val="FFD84D"/>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Roboto Mono" pitchFamily="34" charset="0"/>
                <a:ea typeface="Roboto Mono" pitchFamily="34" charset="-122"/>
                <a:cs typeface="Roboto Mono" pitchFamily="34" charset="-120"/>
              </a:rPr>
              <a:t>GetName()</a:t>
            </a:r>
            <a:endParaRPr lang="en-US" sz="1100" dirty="0"/>
          </a:p>
        </p:txBody>
      </p:sp>
      <p:sp>
        <p:nvSpPr>
          <p:cNvPr id="11" name="Text 8"/>
          <p:cNvSpPr/>
          <p:nvPr/>
        </p:nvSpPr>
        <p:spPr>
          <a:xfrm>
            <a:off x="3977640" y="1691640"/>
            <a:ext cx="1417320" cy="384048"/>
          </a:xfrm>
          <a:prstGeom prst="roundRect">
            <a:avLst>
              <a:gd name="adj" fmla="val 14286"/>
            </a:avLst>
          </a:prstGeom>
          <a:solidFill>
            <a:srgbClr val="FFD84D"/>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Roboto Mono" pitchFamily="34" charset="0"/>
                <a:ea typeface="Roboto Mono" pitchFamily="34" charset="-122"/>
                <a:cs typeface="Roboto Mono" pitchFamily="34" charset="-120"/>
              </a:rPr>
              <a:t>GetScore()</a:t>
            </a:r>
            <a:endParaRPr lang="en-US" sz="1100" dirty="0"/>
          </a:p>
        </p:txBody>
      </p:sp>
      <p:sp>
        <p:nvSpPr>
          <p:cNvPr id="12" name="Text 9"/>
          <p:cNvSpPr/>
          <p:nvPr/>
        </p:nvSpPr>
        <p:spPr>
          <a:xfrm>
            <a:off x="1143000" y="4572000"/>
            <a:ext cx="1417320" cy="384048"/>
          </a:xfrm>
          <a:prstGeom prst="roundRect">
            <a:avLst>
              <a:gd name="adj" fmla="val 14286"/>
            </a:avLst>
          </a:prstGeom>
          <a:solidFill>
            <a:srgbClr val="FFD84D"/>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Roboto Mono" pitchFamily="34" charset="0"/>
                <a:ea typeface="Roboto Mono" pitchFamily="34" charset="-122"/>
                <a:cs typeface="Roboto Mono" pitchFamily="34" charset="-120"/>
              </a:rPr>
              <a:t>SetLives()</a:t>
            </a:r>
            <a:endParaRPr lang="en-US" sz="1100" dirty="0"/>
          </a:p>
        </p:txBody>
      </p:sp>
      <p:sp>
        <p:nvSpPr>
          <p:cNvPr id="13" name="Text 10"/>
          <p:cNvSpPr/>
          <p:nvPr/>
        </p:nvSpPr>
        <p:spPr>
          <a:xfrm>
            <a:off x="3977640" y="4572000"/>
            <a:ext cx="1417320" cy="384048"/>
          </a:xfrm>
          <a:prstGeom prst="roundRect">
            <a:avLst>
              <a:gd name="adj" fmla="val 14286"/>
            </a:avLst>
          </a:prstGeom>
          <a:solidFill>
            <a:srgbClr val="FFD84D"/>
          </a:solidFill>
          <a:ln w="12700">
            <a:solidFill>
              <a:srgbClr val="494985"/>
            </a:solidFill>
          </a:ln>
        </p:spPr>
        <p:txBody>
          <a:bodyPr wrap="square" lIns="0" tIns="0" rIns="0" bIns="0" rtlCol="0" anchor="ctr"/>
          <a:lstStyle/>
          <a:p>
            <a:pPr algn="ctr" indent="0" marL="0">
              <a:buNone/>
            </a:pPr>
            <a:r>
              <a:rPr lang="en-US" sz="1100" b="1" dirty="0">
                <a:solidFill>
                  <a:srgbClr val="202124"/>
                </a:solidFill>
                <a:latin typeface="Roboto Mono" pitchFamily="34" charset="0"/>
                <a:ea typeface="Roboto Mono" pitchFamily="34" charset="-122"/>
                <a:cs typeface="Roboto Mono" pitchFamily="34" charset="-120"/>
              </a:rPr>
              <a:t>AddPoints()</a:t>
            </a:r>
            <a:endParaRPr lang="en-US" sz="1100" dirty="0"/>
          </a:p>
        </p:txBody>
      </p:sp>
      <p:sp>
        <p:nvSpPr>
          <p:cNvPr id="14" name="Text 11"/>
          <p:cNvSpPr txBox="1"/>
          <p:nvPr/>
        </p:nvSpPr>
        <p:spPr>
          <a:xfrm>
            <a:off x="868680" y="5486400"/>
            <a:ext cx="4937760" cy="274320"/>
          </a:xfrm>
          <a:prstGeom prst="rect">
            <a:avLst/>
          </a:prstGeom>
          <a:noFill/>
          <a:ln/>
        </p:spPr>
        <p:txBody>
          <a:bodyPr wrap="square" lIns="0" tIns="0" rIns="0" bIns="0" rtlCol="0" anchor="ctr"/>
          <a:lstStyle/>
          <a:p>
            <a:pPr algn="ctr" indent="0" marL="0">
              <a:buNone/>
            </a:pPr>
            <a:r>
              <a:rPr lang="en-US" sz="1250" i="1" dirty="0">
                <a:solidFill>
                  <a:srgbClr val="2E7D5B"/>
                </a:solidFill>
                <a:latin typeface="Quicksand" pitchFamily="34" charset="0"/>
                <a:ea typeface="Quicksand" pitchFamily="34" charset="-122"/>
                <a:cs typeface="Quicksand" pitchFamily="34" charset="-120"/>
              </a:rPr>
              <a:t>public methods are the only way in</a:t>
            </a:r>
            <a:endParaRPr lang="en-US" sz="1250" dirty="0"/>
          </a:p>
        </p:txBody>
      </p:sp>
      <p:sp>
        <p:nvSpPr>
          <p:cNvPr id="15" name="Shape 12"/>
          <p:cNvSpPr/>
          <p:nvPr/>
        </p:nvSpPr>
        <p:spPr>
          <a:xfrm>
            <a:off x="6217920" y="1371600"/>
            <a:ext cx="5303520" cy="1691640"/>
          </a:xfrm>
          <a:prstGeom prst="rect">
            <a:avLst/>
          </a:prstGeom>
          <a:solidFill>
            <a:srgbClr val="F6F5FC"/>
          </a:solidFill>
          <a:ln w="12700">
            <a:solidFill>
              <a:srgbClr val="F6F5FC"/>
            </a:solidFill>
            <a:prstDash val="solid"/>
          </a:ln>
        </p:spPr>
      </p:sp>
      <p:sp>
        <p:nvSpPr>
          <p:cNvPr id="16" name="Shape 13"/>
          <p:cNvSpPr/>
          <p:nvPr/>
        </p:nvSpPr>
        <p:spPr>
          <a:xfrm>
            <a:off x="6217920" y="1371600"/>
            <a:ext cx="73152" cy="1691640"/>
          </a:xfrm>
          <a:prstGeom prst="rect">
            <a:avLst/>
          </a:prstGeom>
          <a:solidFill>
            <a:srgbClr val="2E7D5B"/>
          </a:solidFill>
          <a:ln w="12700">
            <a:solidFill>
              <a:srgbClr val="2E7D5B"/>
            </a:solidFill>
            <a:prstDash val="solid"/>
          </a:ln>
        </p:spPr>
      </p:sp>
      <p:sp>
        <p:nvSpPr>
          <p:cNvPr id="17" name="Text 14"/>
          <p:cNvSpPr txBox="1"/>
          <p:nvPr/>
        </p:nvSpPr>
        <p:spPr>
          <a:xfrm>
            <a:off x="6446520" y="1463040"/>
            <a:ext cx="4937760" cy="347472"/>
          </a:xfrm>
          <a:prstGeom prst="rect">
            <a:avLst/>
          </a:prstGeom>
          <a:noFill/>
          <a:ln/>
        </p:spPr>
        <p:txBody>
          <a:bodyPr wrap="square" lIns="0" tIns="0" rIns="0" bIns="0" rtlCol="0" anchor="ctr"/>
          <a:lstStyle/>
          <a:p>
            <a:pPr indent="0" marL="0">
              <a:buNone/>
            </a:pPr>
            <a:r>
              <a:rPr lang="en-US" sz="1500" b="1" dirty="0">
                <a:solidFill>
                  <a:srgbClr val="2E7D5B"/>
                </a:solidFill>
                <a:latin typeface="Quicksand" pitchFamily="34" charset="0"/>
                <a:ea typeface="Quicksand" pitchFamily="34" charset="-122"/>
                <a:cs typeface="Quicksand" pitchFamily="34" charset="-120"/>
              </a:rPr>
              <a:t>Encapsulation</a:t>
            </a:r>
            <a:endParaRPr lang="en-US" sz="1500" dirty="0"/>
          </a:p>
        </p:txBody>
      </p:sp>
      <p:sp>
        <p:nvSpPr>
          <p:cNvPr id="18" name="Text 15"/>
          <p:cNvSpPr txBox="1"/>
          <p:nvPr/>
        </p:nvSpPr>
        <p:spPr>
          <a:xfrm>
            <a:off x="6446520" y="1874520"/>
            <a:ext cx="4937760" cy="1097280"/>
          </a:xfrm>
          <a:prstGeom prst="rect">
            <a:avLst/>
          </a:prstGeom>
          <a:noFill/>
          <a:ln/>
        </p:spPr>
        <p:txBody>
          <a:bodyPr wrap="square" lIns="0" tIns="0" rIns="0" bIns="0" rtlCol="0" anchor="t"/>
          <a:lstStyle/>
          <a:p>
            <a:pPr indent="0" marL="0">
              <a:spcAft>
                <a:spcPts val="600"/>
              </a:spcAft>
              <a:buNone/>
            </a:pPr>
            <a:r>
              <a:rPr lang="en-US" sz="1350" dirty="0">
                <a:solidFill>
                  <a:srgbClr val="202124"/>
                </a:solidFill>
                <a:latin typeface="Quicksand" pitchFamily="34" charset="0"/>
                <a:ea typeface="Quicksand" pitchFamily="34" charset="-122"/>
                <a:cs typeface="Quicksand" pitchFamily="34" charset="-120"/>
              </a:rPr>
              <a:t>Putting the data (attributes) and the methods that use it together as a single unit: a class.</a:t>
            </a:r>
            <a:endParaRPr lang="en-US" sz="1350" dirty="0"/>
          </a:p>
        </p:txBody>
      </p:sp>
      <p:sp>
        <p:nvSpPr>
          <p:cNvPr id="19" name="Shape 16"/>
          <p:cNvSpPr/>
          <p:nvPr/>
        </p:nvSpPr>
        <p:spPr>
          <a:xfrm>
            <a:off x="6217920" y="3246120"/>
            <a:ext cx="5303520" cy="1691640"/>
          </a:xfrm>
          <a:prstGeom prst="rect">
            <a:avLst/>
          </a:prstGeom>
          <a:solidFill>
            <a:srgbClr val="F6F5FC"/>
          </a:solidFill>
          <a:ln w="12700">
            <a:solidFill>
              <a:srgbClr val="F6F5FC"/>
            </a:solidFill>
            <a:prstDash val="solid"/>
          </a:ln>
        </p:spPr>
      </p:sp>
      <p:sp>
        <p:nvSpPr>
          <p:cNvPr id="20" name="Shape 17"/>
          <p:cNvSpPr/>
          <p:nvPr/>
        </p:nvSpPr>
        <p:spPr>
          <a:xfrm>
            <a:off x="6217920" y="3246120"/>
            <a:ext cx="73152" cy="1691640"/>
          </a:xfrm>
          <a:prstGeom prst="rect">
            <a:avLst/>
          </a:prstGeom>
          <a:solidFill>
            <a:srgbClr val="B3261E"/>
          </a:solidFill>
          <a:ln w="12700">
            <a:solidFill>
              <a:srgbClr val="B3261E"/>
            </a:solidFill>
            <a:prstDash val="solid"/>
          </a:ln>
        </p:spPr>
      </p:sp>
      <p:sp>
        <p:nvSpPr>
          <p:cNvPr id="21" name="Text 18"/>
          <p:cNvSpPr txBox="1"/>
          <p:nvPr/>
        </p:nvSpPr>
        <p:spPr>
          <a:xfrm>
            <a:off x="6446520" y="3337560"/>
            <a:ext cx="4937760" cy="347472"/>
          </a:xfrm>
          <a:prstGeom prst="rect">
            <a:avLst/>
          </a:prstGeom>
          <a:noFill/>
          <a:ln/>
        </p:spPr>
        <p:txBody>
          <a:bodyPr wrap="square" lIns="0" tIns="0" rIns="0" bIns="0" rtlCol="0" anchor="ctr"/>
          <a:lstStyle/>
          <a:p>
            <a:pPr indent="0" marL="0">
              <a:buNone/>
            </a:pPr>
            <a:r>
              <a:rPr lang="en-US" sz="1500" b="1" dirty="0">
                <a:solidFill>
                  <a:srgbClr val="B3261E"/>
                </a:solidFill>
                <a:latin typeface="Quicksand" pitchFamily="34" charset="0"/>
                <a:ea typeface="Quicksand" pitchFamily="34" charset="-122"/>
                <a:cs typeface="Quicksand" pitchFamily="34" charset="-120"/>
              </a:rPr>
              <a:t>Data hiding</a:t>
            </a:r>
            <a:endParaRPr lang="en-US" sz="1500" dirty="0"/>
          </a:p>
        </p:txBody>
      </p:sp>
      <p:sp>
        <p:nvSpPr>
          <p:cNvPr id="22" name="Text 19"/>
          <p:cNvSpPr txBox="1"/>
          <p:nvPr/>
        </p:nvSpPr>
        <p:spPr>
          <a:xfrm>
            <a:off x="6446520" y="3749040"/>
            <a:ext cx="4937760" cy="1097280"/>
          </a:xfrm>
          <a:prstGeom prst="rect">
            <a:avLst/>
          </a:prstGeom>
          <a:noFill/>
          <a:ln/>
        </p:spPr>
        <p:txBody>
          <a:bodyPr wrap="square" lIns="0" tIns="0" rIns="0" bIns="0" rtlCol="0" anchor="t"/>
          <a:lstStyle/>
          <a:p>
            <a:pPr indent="0" marL="0">
              <a:spcAft>
                <a:spcPts val="600"/>
              </a:spcAft>
              <a:buNone/>
            </a:pPr>
            <a:r>
              <a:rPr lang="en-US" sz="1350" dirty="0">
                <a:solidFill>
                  <a:srgbClr val="202124"/>
                </a:solidFill>
                <a:latin typeface="Quicksand" pitchFamily="34" charset="0"/>
                <a:ea typeface="Quicksand" pitchFamily="34" charset="-122"/>
                <a:cs typeface="Quicksand" pitchFamily="34" charset="-120"/>
              </a:rPr>
              <a:t>Making attributes private, so other code can only reach them through public methods. This protects the data's integrity.</a:t>
            </a:r>
            <a:endParaRPr lang="en-US" sz="1350" dirty="0"/>
          </a:p>
        </p:txBody>
      </p:sp>
      <p:sp>
        <p:nvSpPr>
          <p:cNvPr id="23" name="Text 20"/>
          <p:cNvSpPr txBox="1"/>
          <p:nvPr/>
        </p:nvSpPr>
        <p:spPr>
          <a:xfrm>
            <a:off x="6217920" y="5120640"/>
            <a:ext cx="5303520" cy="64008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Why? A setter can check a value before storing it - so Lives can never be set to -7.</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Writing a class in VB.NET</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12</a:t>
            </a:r>
            <a:endParaRPr lang="en-US" sz="1350" dirty="0"/>
          </a:p>
        </p:txBody>
      </p:sp>
      <p:sp>
        <p:nvSpPr>
          <p:cNvPr id="7" name="Shape 4"/>
          <p:cNvSpPr/>
          <p:nvPr/>
        </p:nvSpPr>
        <p:spPr>
          <a:xfrm>
            <a:off x="777240" y="1234440"/>
            <a:ext cx="5852160" cy="44805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325880"/>
            <a:ext cx="5577840" cy="4297680"/>
          </a:xfrm>
          <a:prstGeom prst="rect">
            <a:avLst/>
          </a:prstGeom>
          <a:noFill/>
          <a:ln/>
        </p:spPr>
        <p:txBody>
          <a:bodyPr wrap="square" lIns="0" tIns="0" rIns="0" bIns="0" rtlCol="0" anchor="t"/>
          <a:lstStyle/>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Module Module1</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Class Player</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Private Name As String</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Private Score As Integer</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Private Lives As Integer</a:t>
            </a:r>
            <a:endParaRPr lang="en-US" sz="1300" dirty="0"/>
          </a:p>
          <a:p>
            <a:pPr indent="0" marL="0">
              <a:lnSpc>
                <a:spcPct val="105000"/>
              </a:lnSpc>
              <a:buNone/>
            </a:pPr>
            <a:r>
              <a:rPr lang="en-US" sz="1300" dirty="0">
                <a:solidFill>
                  <a:srgbClr val="666666"/>
                </a:solidFill>
                <a:latin typeface="Roboto Mono" pitchFamily="34" charset="0"/>
                <a:ea typeface="Roboto Mono" pitchFamily="34" charset="-122"/>
                <a:cs typeface="Roboto Mono" pitchFamily="34" charset="-120"/>
              </a:rPr>
              <a:t>        ' constructor and methods go here</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End Class</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Sub Main()</a:t>
            </a:r>
            <a:endParaRPr lang="en-US" sz="1300" dirty="0"/>
          </a:p>
          <a:p>
            <a:pPr indent="0" marL="0">
              <a:lnSpc>
                <a:spcPct val="105000"/>
              </a:lnSpc>
              <a:buNone/>
            </a:pPr>
            <a:r>
              <a:rPr lang="en-US" sz="1300" dirty="0">
                <a:solidFill>
                  <a:srgbClr val="666666"/>
                </a:solidFill>
                <a:latin typeface="Roboto Mono" pitchFamily="34" charset="0"/>
                <a:ea typeface="Roboto Mono" pitchFamily="34" charset="-122"/>
                <a:cs typeface="Roboto Mono" pitchFamily="34" charset="-120"/>
              </a:rPr>
              <a:t>        ' create and use objects here</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End Sub</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End Module</a:t>
            </a:r>
            <a:endParaRPr lang="en-US" sz="1300" dirty="0"/>
          </a:p>
        </p:txBody>
      </p:sp>
      <p:sp>
        <p:nvSpPr>
          <p:cNvPr id="9" name="Shape 6"/>
          <p:cNvSpPr/>
          <p:nvPr/>
        </p:nvSpPr>
        <p:spPr>
          <a:xfrm>
            <a:off x="6949440" y="1234440"/>
            <a:ext cx="4572000" cy="1280160"/>
          </a:xfrm>
          <a:prstGeom prst="rect">
            <a:avLst/>
          </a:prstGeom>
          <a:solidFill>
            <a:srgbClr val="F6F5FC"/>
          </a:solidFill>
          <a:ln w="12700">
            <a:solidFill>
              <a:srgbClr val="F6F5FC"/>
            </a:solidFill>
            <a:prstDash val="solid"/>
          </a:ln>
        </p:spPr>
      </p:sp>
      <p:sp>
        <p:nvSpPr>
          <p:cNvPr id="10" name="Text 7"/>
          <p:cNvSpPr/>
          <p:nvPr/>
        </p:nvSpPr>
        <p:spPr>
          <a:xfrm>
            <a:off x="7086600" y="13716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8"/>
          <p:cNvSpPr txBox="1"/>
          <p:nvPr/>
        </p:nvSpPr>
        <p:spPr>
          <a:xfrm>
            <a:off x="7607808" y="1344168"/>
            <a:ext cx="37947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Class ... End Class</a:t>
            </a:r>
            <a:endParaRPr lang="en-US" sz="1500" dirty="0"/>
          </a:p>
        </p:txBody>
      </p:sp>
      <p:sp>
        <p:nvSpPr>
          <p:cNvPr id="12" name="Text 9"/>
          <p:cNvSpPr txBox="1"/>
          <p:nvPr/>
        </p:nvSpPr>
        <p:spPr>
          <a:xfrm>
            <a:off x="7607808" y="1737360"/>
            <a:ext cx="3794760" cy="7132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Defines the template. Put it inside the module, outside Sub Main.</a:t>
            </a:r>
            <a:endParaRPr lang="en-US" sz="1250" dirty="0"/>
          </a:p>
        </p:txBody>
      </p:sp>
      <p:sp>
        <p:nvSpPr>
          <p:cNvPr id="13" name="Shape 10"/>
          <p:cNvSpPr/>
          <p:nvPr/>
        </p:nvSpPr>
        <p:spPr>
          <a:xfrm>
            <a:off x="6949440" y="2697480"/>
            <a:ext cx="4572000" cy="1325880"/>
          </a:xfrm>
          <a:prstGeom prst="rect">
            <a:avLst/>
          </a:prstGeom>
          <a:solidFill>
            <a:srgbClr val="F6F5FC"/>
          </a:solidFill>
          <a:ln w="12700">
            <a:solidFill>
              <a:srgbClr val="F6F5FC"/>
            </a:solidFill>
            <a:prstDash val="solid"/>
          </a:ln>
        </p:spPr>
      </p:sp>
      <p:sp>
        <p:nvSpPr>
          <p:cNvPr id="14" name="Text 11"/>
          <p:cNvSpPr/>
          <p:nvPr/>
        </p:nvSpPr>
        <p:spPr>
          <a:xfrm>
            <a:off x="7086600" y="28346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5" name="Text 12"/>
          <p:cNvSpPr txBox="1"/>
          <p:nvPr/>
        </p:nvSpPr>
        <p:spPr>
          <a:xfrm>
            <a:off x="7607808" y="2807208"/>
            <a:ext cx="37947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Private attributes</a:t>
            </a:r>
            <a:endParaRPr lang="en-US" sz="1500" dirty="0"/>
          </a:p>
        </p:txBody>
      </p:sp>
      <p:sp>
        <p:nvSpPr>
          <p:cNvPr id="16" name="Text 13"/>
          <p:cNvSpPr txBox="1"/>
          <p:nvPr/>
        </p:nvSpPr>
        <p:spPr>
          <a:xfrm>
            <a:off x="7607808" y="3200400"/>
            <a:ext cx="3794760" cy="7589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Private instead of Dim: only code inside the class can read or change them (data hiding).</a:t>
            </a:r>
            <a:endParaRPr lang="en-US" sz="1250" dirty="0"/>
          </a:p>
        </p:txBody>
      </p:sp>
      <p:sp>
        <p:nvSpPr>
          <p:cNvPr id="17" name="Shape 14"/>
          <p:cNvSpPr/>
          <p:nvPr/>
        </p:nvSpPr>
        <p:spPr>
          <a:xfrm>
            <a:off x="6949440" y="4206240"/>
            <a:ext cx="4572000" cy="1325880"/>
          </a:xfrm>
          <a:prstGeom prst="rect">
            <a:avLst/>
          </a:prstGeom>
          <a:solidFill>
            <a:srgbClr val="F6F5FC"/>
          </a:solidFill>
          <a:ln w="12700">
            <a:solidFill>
              <a:srgbClr val="F6F5FC"/>
            </a:solidFill>
            <a:prstDash val="solid"/>
          </a:ln>
        </p:spPr>
      </p:sp>
      <p:sp>
        <p:nvSpPr>
          <p:cNvPr id="18" name="Text 15"/>
          <p:cNvSpPr/>
          <p:nvPr/>
        </p:nvSpPr>
        <p:spPr>
          <a:xfrm>
            <a:off x="7086600" y="43434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9" name="Text 16"/>
          <p:cNvSpPr txBox="1"/>
          <p:nvPr/>
        </p:nvSpPr>
        <p:spPr>
          <a:xfrm>
            <a:off x="7607808" y="4315968"/>
            <a:ext cx="37947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Methods are Public</a:t>
            </a:r>
            <a:endParaRPr lang="en-US" sz="1500" dirty="0"/>
          </a:p>
        </p:txBody>
      </p:sp>
      <p:sp>
        <p:nvSpPr>
          <p:cNvPr id="20" name="Text 17"/>
          <p:cNvSpPr txBox="1"/>
          <p:nvPr/>
        </p:nvSpPr>
        <p:spPr>
          <a:xfrm>
            <a:off x="7607808" y="4709160"/>
            <a:ext cx="3794760" cy="7589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Constructor, getters and setters are Public so the main program can call them.</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The constructor</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13</a:t>
            </a:r>
            <a:endParaRPr lang="en-US" sz="1350" dirty="0"/>
          </a:p>
        </p:txBody>
      </p:sp>
      <p:sp>
        <p:nvSpPr>
          <p:cNvPr id="7" name="Shape 4"/>
          <p:cNvSpPr/>
          <p:nvPr/>
        </p:nvSpPr>
        <p:spPr>
          <a:xfrm>
            <a:off x="777240" y="1234440"/>
            <a:ext cx="5852160" cy="37490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325880"/>
            <a:ext cx="5577840" cy="3566160"/>
          </a:xfrm>
          <a:prstGeom prst="rect">
            <a:avLst/>
          </a:prstGeom>
          <a:noFill/>
          <a:ln/>
        </p:spPr>
        <p:txBody>
          <a:bodyPr wrap="square" lIns="0" tIns="0" rIns="0" bIns="0" rtlCol="0" anchor="t"/>
          <a:lstStyle/>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Class Player</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Private Name As String</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Private Score As Integer</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Private Lives As Integer</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Public Sub New(PName As String)</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Name = PName</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Score = 0</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Lives = 3</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End Sub</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End Class</a:t>
            </a:r>
            <a:endParaRPr lang="en-US" sz="1300" dirty="0"/>
          </a:p>
        </p:txBody>
      </p:sp>
      <p:sp>
        <p:nvSpPr>
          <p:cNvPr id="9" name="Shape 6"/>
          <p:cNvSpPr/>
          <p:nvPr/>
        </p:nvSpPr>
        <p:spPr>
          <a:xfrm>
            <a:off x="777240" y="5166360"/>
            <a:ext cx="5852160" cy="5486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0" name="Text 7"/>
          <p:cNvSpPr txBox="1"/>
          <p:nvPr/>
        </p:nvSpPr>
        <p:spPr>
          <a:xfrm>
            <a:off x="914400" y="5257800"/>
            <a:ext cx="5577840" cy="365760"/>
          </a:xfrm>
          <a:prstGeom prst="rect">
            <a:avLst/>
          </a:prstGeom>
          <a:noFill/>
          <a:ln/>
        </p:spPr>
        <p:txBody>
          <a:bodyPr wrap="square" lIns="0" tIns="0" rIns="0" bIns="0" rtlCol="0" anchor="t"/>
          <a:lstStyle/>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Dim P1 As New Player("Ava")</a:t>
            </a:r>
            <a:endParaRPr lang="en-US" sz="1300" dirty="0"/>
          </a:p>
        </p:txBody>
      </p:sp>
      <p:sp>
        <p:nvSpPr>
          <p:cNvPr id="11" name="Shape 8"/>
          <p:cNvSpPr/>
          <p:nvPr/>
        </p:nvSpPr>
        <p:spPr>
          <a:xfrm>
            <a:off x="6949440" y="1234440"/>
            <a:ext cx="4572000" cy="1280160"/>
          </a:xfrm>
          <a:prstGeom prst="rect">
            <a:avLst/>
          </a:prstGeom>
          <a:solidFill>
            <a:srgbClr val="F6F5FC"/>
          </a:solidFill>
          <a:ln w="12700">
            <a:solidFill>
              <a:srgbClr val="F6F5FC"/>
            </a:solidFill>
            <a:prstDash val="solid"/>
          </a:ln>
        </p:spPr>
      </p:sp>
      <p:sp>
        <p:nvSpPr>
          <p:cNvPr id="12" name="Text 9"/>
          <p:cNvSpPr/>
          <p:nvPr/>
        </p:nvSpPr>
        <p:spPr>
          <a:xfrm>
            <a:off x="7086600" y="13716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3" name="Text 10"/>
          <p:cNvSpPr txBox="1"/>
          <p:nvPr/>
        </p:nvSpPr>
        <p:spPr>
          <a:xfrm>
            <a:off x="7607808" y="1344168"/>
            <a:ext cx="37947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Sub New</a:t>
            </a:r>
            <a:endParaRPr lang="en-US" sz="1500" dirty="0"/>
          </a:p>
        </p:txBody>
      </p:sp>
      <p:sp>
        <p:nvSpPr>
          <p:cNvPr id="14" name="Text 11"/>
          <p:cNvSpPr txBox="1"/>
          <p:nvPr/>
        </p:nvSpPr>
        <p:spPr>
          <a:xfrm>
            <a:off x="7607808" y="1737360"/>
            <a:ext cx="3794760" cy="7132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The constructor is always called New. It runs automatically when an object is created.</a:t>
            </a:r>
            <a:endParaRPr lang="en-US" sz="1250" dirty="0"/>
          </a:p>
        </p:txBody>
      </p:sp>
      <p:sp>
        <p:nvSpPr>
          <p:cNvPr id="15" name="Shape 12"/>
          <p:cNvSpPr/>
          <p:nvPr/>
        </p:nvSpPr>
        <p:spPr>
          <a:xfrm>
            <a:off x="6949440" y="2697480"/>
            <a:ext cx="4572000" cy="1097280"/>
          </a:xfrm>
          <a:prstGeom prst="rect">
            <a:avLst/>
          </a:prstGeom>
          <a:solidFill>
            <a:srgbClr val="F6F5FC"/>
          </a:solidFill>
          <a:ln w="12700">
            <a:solidFill>
              <a:srgbClr val="F6F5FC"/>
            </a:solidFill>
            <a:prstDash val="solid"/>
          </a:ln>
        </p:spPr>
      </p:sp>
      <p:sp>
        <p:nvSpPr>
          <p:cNvPr id="16" name="Text 13"/>
          <p:cNvSpPr/>
          <p:nvPr/>
        </p:nvSpPr>
        <p:spPr>
          <a:xfrm>
            <a:off x="7086600" y="28346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7" name="Text 14"/>
          <p:cNvSpPr txBox="1"/>
          <p:nvPr/>
        </p:nvSpPr>
        <p:spPr>
          <a:xfrm>
            <a:off x="7607808" y="2807208"/>
            <a:ext cx="37947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Parameters</a:t>
            </a:r>
            <a:endParaRPr lang="en-US" sz="1500" dirty="0"/>
          </a:p>
        </p:txBody>
      </p:sp>
      <p:sp>
        <p:nvSpPr>
          <p:cNvPr id="18" name="Text 15"/>
          <p:cNvSpPr txBox="1"/>
          <p:nvPr/>
        </p:nvSpPr>
        <p:spPr>
          <a:xfrm>
            <a:off x="7607808" y="3200400"/>
            <a:ext cx="3794760" cy="5303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Values passed in (PName) are copied into the attributes.</a:t>
            </a:r>
            <a:endParaRPr lang="en-US" sz="1250" dirty="0"/>
          </a:p>
        </p:txBody>
      </p:sp>
      <p:sp>
        <p:nvSpPr>
          <p:cNvPr id="19" name="Shape 16"/>
          <p:cNvSpPr/>
          <p:nvPr/>
        </p:nvSpPr>
        <p:spPr>
          <a:xfrm>
            <a:off x="6949440" y="3977640"/>
            <a:ext cx="4572000" cy="1005840"/>
          </a:xfrm>
          <a:prstGeom prst="rect">
            <a:avLst/>
          </a:prstGeom>
          <a:solidFill>
            <a:srgbClr val="F6F5FC"/>
          </a:solidFill>
          <a:ln w="12700">
            <a:solidFill>
              <a:srgbClr val="F6F5FC"/>
            </a:solidFill>
            <a:prstDash val="solid"/>
          </a:ln>
        </p:spPr>
      </p:sp>
      <p:sp>
        <p:nvSpPr>
          <p:cNvPr id="20" name="Text 17"/>
          <p:cNvSpPr/>
          <p:nvPr/>
        </p:nvSpPr>
        <p:spPr>
          <a:xfrm>
            <a:off x="7086600" y="41148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21" name="Text 18"/>
          <p:cNvSpPr txBox="1"/>
          <p:nvPr/>
        </p:nvSpPr>
        <p:spPr>
          <a:xfrm>
            <a:off x="7607808" y="4087368"/>
            <a:ext cx="37947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Defaults</a:t>
            </a:r>
            <a:endParaRPr lang="en-US" sz="1500" dirty="0"/>
          </a:p>
        </p:txBody>
      </p:sp>
      <p:sp>
        <p:nvSpPr>
          <p:cNvPr id="22" name="Text 19"/>
          <p:cNvSpPr txBox="1"/>
          <p:nvPr/>
        </p:nvSpPr>
        <p:spPr>
          <a:xfrm>
            <a:off x="7607808" y="4480560"/>
            <a:ext cx="3794760" cy="43891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Every new player starts with Score 0 and 3 lives.</a:t>
            </a:r>
            <a:endParaRPr lang="en-US" sz="1250" dirty="0"/>
          </a:p>
        </p:txBody>
      </p:sp>
      <p:sp>
        <p:nvSpPr>
          <p:cNvPr id="23" name="Text 20"/>
          <p:cNvSpPr txBox="1"/>
          <p:nvPr/>
        </p:nvSpPr>
        <p:spPr>
          <a:xfrm>
            <a:off x="6949440" y="5166360"/>
            <a:ext cx="4572000" cy="548640"/>
          </a:xfrm>
          <a:prstGeom prst="rect">
            <a:avLst/>
          </a:prstGeom>
          <a:noFill/>
          <a:ln/>
        </p:spPr>
        <p:txBody>
          <a:bodyPr wrap="square" lIns="0" tIns="0" rIns="0" bIns="0" rtlCol="0" anchor="t"/>
          <a:lstStyle/>
          <a:p>
            <a:pPr indent="0" marL="0">
              <a:buNone/>
            </a:pPr>
            <a:r>
              <a:rPr lang="en-US" sz="1350" b="1" dirty="0">
                <a:solidFill>
                  <a:srgbClr val="494985"/>
                </a:solidFill>
                <a:latin typeface="Quicksand" pitchFamily="34" charset="0"/>
                <a:ea typeface="Quicksand" pitchFamily="34" charset="-122"/>
                <a:cs typeface="Quicksand" pitchFamily="34" charset="-120"/>
              </a:rPr>
              <a:t>Quick check: what happens with  Dim P3 As New Player() ?</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Getters and setters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14</a:t>
            </a:r>
            <a:endParaRPr lang="en-US" sz="1350" dirty="0"/>
          </a:p>
        </p:txBody>
      </p:sp>
      <p:sp>
        <p:nvSpPr>
          <p:cNvPr id="7" name="Shape 4"/>
          <p:cNvSpPr/>
          <p:nvPr/>
        </p:nvSpPr>
        <p:spPr>
          <a:xfrm>
            <a:off x="777240" y="1188720"/>
            <a:ext cx="6309360" cy="47091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280160"/>
            <a:ext cx="6035040" cy="4526280"/>
          </a:xfrm>
          <a:prstGeom prst="rect">
            <a:avLst/>
          </a:prstGeom>
          <a:noFill/>
          <a:ln/>
        </p:spPr>
        <p:txBody>
          <a:bodyPr wrap="square" lIns="0" tIns="0" rIns="0" bIns="0" rtlCol="0" anchor="t"/>
          <a:lstStyle/>
          <a:p>
            <a:pPr indent="0" marL="0">
              <a:lnSpc>
                <a:spcPct val="105000"/>
              </a:lnSpc>
              <a:buNone/>
            </a:pPr>
            <a:r>
              <a:rPr lang="en-US" sz="1200" b="1" dirty="0">
                <a:solidFill>
                  <a:srgbClr val="494985"/>
                </a:solidFill>
                <a:latin typeface="Roboto Mono" pitchFamily="34" charset="0"/>
                <a:ea typeface="Roboto Mono" pitchFamily="34" charset="-122"/>
                <a:cs typeface="Roboto Mono" pitchFamily="34" charset="-120"/>
              </a:rPr>
              <a:t>        Public Function GetName() As String</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Return Name</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End Function</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a:t>
            </a:r>
            <a:endParaRPr lang="en-US" sz="1200" dirty="0"/>
          </a:p>
          <a:p>
            <a:pPr indent="0" marL="0">
              <a:lnSpc>
                <a:spcPct val="105000"/>
              </a:lnSpc>
              <a:buNone/>
            </a:pPr>
            <a:r>
              <a:rPr lang="en-US" sz="1200" b="1" dirty="0">
                <a:solidFill>
                  <a:srgbClr val="494985"/>
                </a:solidFill>
                <a:latin typeface="Roboto Mono" pitchFamily="34" charset="0"/>
                <a:ea typeface="Roboto Mono" pitchFamily="34" charset="-122"/>
                <a:cs typeface="Roboto Mono" pitchFamily="34" charset="-120"/>
              </a:rPr>
              <a:t>        Public Function GetScore() As Integer</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Return Score</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End Function</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a:t>
            </a:r>
            <a:endParaRPr lang="en-US" sz="1200" dirty="0"/>
          </a:p>
          <a:p>
            <a:pPr indent="0" marL="0">
              <a:lnSpc>
                <a:spcPct val="105000"/>
              </a:lnSpc>
              <a:buNone/>
            </a:pPr>
            <a:r>
              <a:rPr lang="en-US" sz="1200" b="1" dirty="0">
                <a:solidFill>
                  <a:srgbClr val="494985"/>
                </a:solidFill>
                <a:latin typeface="Roboto Mono" pitchFamily="34" charset="0"/>
                <a:ea typeface="Roboto Mono" pitchFamily="34" charset="-122"/>
                <a:cs typeface="Roboto Mono" pitchFamily="34" charset="-120"/>
              </a:rPr>
              <a:t>        Public Sub SetLives(NewLives As Integer)</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If NewLives &gt;= 0 And NewLives &lt;= 5 Then</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Lives = NewLives</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End If</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End Sub</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a:t>
            </a:r>
            <a:endParaRPr lang="en-US" sz="1200" dirty="0"/>
          </a:p>
          <a:p>
            <a:pPr indent="0" marL="0">
              <a:lnSpc>
                <a:spcPct val="105000"/>
              </a:lnSpc>
              <a:buNone/>
            </a:pPr>
            <a:r>
              <a:rPr lang="en-US" sz="1200" b="1" dirty="0">
                <a:solidFill>
                  <a:srgbClr val="494985"/>
                </a:solidFill>
                <a:latin typeface="Roboto Mono" pitchFamily="34" charset="0"/>
                <a:ea typeface="Roboto Mono" pitchFamily="34" charset="-122"/>
                <a:cs typeface="Roboto Mono" pitchFamily="34" charset="-120"/>
              </a:rPr>
              <a:t>        Public Sub AddPoints(Points As Integer)</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Score = Score + Points</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End Sub</a:t>
            </a:r>
            <a:endParaRPr lang="en-US" sz="1200" dirty="0"/>
          </a:p>
        </p:txBody>
      </p:sp>
      <p:sp>
        <p:nvSpPr>
          <p:cNvPr id="9" name="Shape 6"/>
          <p:cNvSpPr/>
          <p:nvPr/>
        </p:nvSpPr>
        <p:spPr>
          <a:xfrm>
            <a:off x="7315200" y="1188720"/>
            <a:ext cx="4206240" cy="1143000"/>
          </a:xfrm>
          <a:prstGeom prst="rect">
            <a:avLst/>
          </a:prstGeom>
          <a:solidFill>
            <a:srgbClr val="F6F5FC"/>
          </a:solidFill>
          <a:ln w="12700">
            <a:solidFill>
              <a:srgbClr val="F6F5FC"/>
            </a:solidFill>
            <a:prstDash val="solid"/>
          </a:ln>
        </p:spPr>
      </p:sp>
      <p:sp>
        <p:nvSpPr>
          <p:cNvPr id="10" name="Text 7"/>
          <p:cNvSpPr/>
          <p:nvPr/>
        </p:nvSpPr>
        <p:spPr>
          <a:xfrm>
            <a:off x="7452360" y="13258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8"/>
          <p:cNvSpPr txBox="1"/>
          <p:nvPr/>
        </p:nvSpPr>
        <p:spPr>
          <a:xfrm>
            <a:off x="7973568" y="1298448"/>
            <a:ext cx="34290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Getter = Function</a:t>
            </a:r>
            <a:endParaRPr lang="en-US" sz="1500" dirty="0"/>
          </a:p>
        </p:txBody>
      </p:sp>
      <p:sp>
        <p:nvSpPr>
          <p:cNvPr id="12" name="Text 9"/>
          <p:cNvSpPr txBox="1"/>
          <p:nvPr/>
        </p:nvSpPr>
        <p:spPr>
          <a:xfrm>
            <a:off x="7973568" y="1691640"/>
            <a:ext cx="3429000" cy="5760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Returns the value of one private attribute. Has a return type.</a:t>
            </a:r>
            <a:endParaRPr lang="en-US" sz="1250" dirty="0"/>
          </a:p>
        </p:txBody>
      </p:sp>
      <p:sp>
        <p:nvSpPr>
          <p:cNvPr id="13" name="Shape 10"/>
          <p:cNvSpPr/>
          <p:nvPr/>
        </p:nvSpPr>
        <p:spPr>
          <a:xfrm>
            <a:off x="7315200" y="2468880"/>
            <a:ext cx="4206240" cy="1143000"/>
          </a:xfrm>
          <a:prstGeom prst="rect">
            <a:avLst/>
          </a:prstGeom>
          <a:solidFill>
            <a:srgbClr val="F6F5FC"/>
          </a:solidFill>
          <a:ln w="12700">
            <a:solidFill>
              <a:srgbClr val="F6F5FC"/>
            </a:solidFill>
            <a:prstDash val="solid"/>
          </a:ln>
        </p:spPr>
      </p:sp>
      <p:sp>
        <p:nvSpPr>
          <p:cNvPr id="14" name="Text 11"/>
          <p:cNvSpPr/>
          <p:nvPr/>
        </p:nvSpPr>
        <p:spPr>
          <a:xfrm>
            <a:off x="7452360" y="26060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5" name="Text 12"/>
          <p:cNvSpPr txBox="1"/>
          <p:nvPr/>
        </p:nvSpPr>
        <p:spPr>
          <a:xfrm>
            <a:off x="7973568" y="2578608"/>
            <a:ext cx="34290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Setter = Sub</a:t>
            </a:r>
            <a:endParaRPr lang="en-US" sz="1500" dirty="0"/>
          </a:p>
        </p:txBody>
      </p:sp>
      <p:sp>
        <p:nvSpPr>
          <p:cNvPr id="16" name="Text 13"/>
          <p:cNvSpPr txBox="1"/>
          <p:nvPr/>
        </p:nvSpPr>
        <p:spPr>
          <a:xfrm>
            <a:off x="7973568" y="2971800"/>
            <a:ext cx="3429000" cy="5760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Takes the new value as a parameter and stores it in the attribute.</a:t>
            </a:r>
            <a:endParaRPr lang="en-US" sz="1250" dirty="0"/>
          </a:p>
        </p:txBody>
      </p:sp>
      <p:sp>
        <p:nvSpPr>
          <p:cNvPr id="17" name="Shape 14"/>
          <p:cNvSpPr/>
          <p:nvPr/>
        </p:nvSpPr>
        <p:spPr>
          <a:xfrm>
            <a:off x="7315200" y="3749040"/>
            <a:ext cx="4206240" cy="1005840"/>
          </a:xfrm>
          <a:prstGeom prst="rect">
            <a:avLst/>
          </a:prstGeom>
          <a:solidFill>
            <a:srgbClr val="F6F5FC"/>
          </a:solidFill>
          <a:ln w="12700">
            <a:solidFill>
              <a:srgbClr val="F6F5FC"/>
            </a:solidFill>
            <a:prstDash val="solid"/>
          </a:ln>
        </p:spPr>
      </p:sp>
      <p:sp>
        <p:nvSpPr>
          <p:cNvPr id="18" name="Text 15"/>
          <p:cNvSpPr/>
          <p:nvPr/>
        </p:nvSpPr>
        <p:spPr>
          <a:xfrm>
            <a:off x="7452360" y="38862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9" name="Text 16"/>
          <p:cNvSpPr txBox="1"/>
          <p:nvPr/>
        </p:nvSpPr>
        <p:spPr>
          <a:xfrm>
            <a:off x="7973568" y="3858768"/>
            <a:ext cx="34290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Validation</a:t>
            </a:r>
            <a:endParaRPr lang="en-US" sz="1500" dirty="0"/>
          </a:p>
        </p:txBody>
      </p:sp>
      <p:sp>
        <p:nvSpPr>
          <p:cNvPr id="20" name="Text 17"/>
          <p:cNvSpPr txBox="1"/>
          <p:nvPr/>
        </p:nvSpPr>
        <p:spPr>
          <a:xfrm>
            <a:off x="7973568" y="4251960"/>
            <a:ext cx="3429000" cy="43891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The setter can reject bad values: lives must be 0 to 5.</a:t>
            </a:r>
            <a:endParaRPr lang="en-US" sz="1250" dirty="0"/>
          </a:p>
        </p:txBody>
      </p:sp>
      <p:sp>
        <p:nvSpPr>
          <p:cNvPr id="21" name="Shape 18"/>
          <p:cNvSpPr/>
          <p:nvPr/>
        </p:nvSpPr>
        <p:spPr>
          <a:xfrm>
            <a:off x="7315200" y="4892040"/>
            <a:ext cx="4206240" cy="1005840"/>
          </a:xfrm>
          <a:prstGeom prst="rect">
            <a:avLst/>
          </a:prstGeom>
          <a:solidFill>
            <a:srgbClr val="F6F5FC"/>
          </a:solidFill>
          <a:ln w="12700">
            <a:solidFill>
              <a:srgbClr val="F6F5FC"/>
            </a:solidFill>
            <a:prstDash val="solid"/>
          </a:ln>
        </p:spPr>
      </p:sp>
      <p:sp>
        <p:nvSpPr>
          <p:cNvPr id="22" name="Text 19"/>
          <p:cNvSpPr/>
          <p:nvPr/>
        </p:nvSpPr>
        <p:spPr>
          <a:xfrm>
            <a:off x="7452360" y="50292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23" name="Text 20"/>
          <p:cNvSpPr txBox="1"/>
          <p:nvPr/>
        </p:nvSpPr>
        <p:spPr>
          <a:xfrm>
            <a:off x="7973568" y="5001768"/>
            <a:ext cx="342900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Other methods</a:t>
            </a:r>
            <a:endParaRPr lang="en-US" sz="1500" dirty="0"/>
          </a:p>
        </p:txBody>
      </p:sp>
      <p:sp>
        <p:nvSpPr>
          <p:cNvPr id="24" name="Text 21"/>
          <p:cNvSpPr txBox="1"/>
          <p:nvPr/>
        </p:nvSpPr>
        <p:spPr>
          <a:xfrm>
            <a:off x="7973568" y="5394960"/>
            <a:ext cx="3429000" cy="43891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AddPoints changes Score in a controlled way.</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Creating and using objects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15</a:t>
            </a:r>
            <a:endParaRPr lang="en-US" sz="1350" dirty="0"/>
          </a:p>
        </p:txBody>
      </p:sp>
      <p:sp>
        <p:nvSpPr>
          <p:cNvPr id="7" name="Shape 4"/>
          <p:cNvSpPr/>
          <p:nvPr/>
        </p:nvSpPr>
        <p:spPr>
          <a:xfrm>
            <a:off x="777240" y="1234440"/>
            <a:ext cx="6583680" cy="246888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325880"/>
            <a:ext cx="6309360" cy="2286000"/>
          </a:xfrm>
          <a:prstGeom prst="rect">
            <a:avLst/>
          </a:prstGeom>
          <a:noFill/>
          <a:ln/>
        </p:spPr>
        <p:txBody>
          <a:bodyPr wrap="square" lIns="0" tIns="0" rIns="0" bIns="0" rtlCol="0" anchor="t"/>
          <a:lstStyle/>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Sub Main()</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Dim P1 As New Player("Ava")</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Dim P2 As New Player("Ben")</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P1.AddPoints(50)</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P2.AddPoints(20)</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Console.WriteLine(P1.GetName() &amp; " " &amp; P1.GetScore())</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End Sub</a:t>
            </a:r>
            <a:endParaRPr lang="en-US" sz="1300" dirty="0"/>
          </a:p>
        </p:txBody>
      </p:sp>
      <p:sp>
        <p:nvSpPr>
          <p:cNvPr id="9" name="Shape 6"/>
          <p:cNvSpPr/>
          <p:nvPr/>
        </p:nvSpPr>
        <p:spPr>
          <a:xfrm>
            <a:off x="7635240" y="1234440"/>
            <a:ext cx="3886200" cy="1188720"/>
          </a:xfrm>
          <a:prstGeom prst="rect">
            <a:avLst/>
          </a:prstGeom>
          <a:solidFill>
            <a:srgbClr val="F6F5FC"/>
          </a:solidFill>
          <a:ln w="12700">
            <a:solidFill>
              <a:srgbClr val="F6F5FC"/>
            </a:solidFill>
            <a:prstDash val="solid"/>
          </a:ln>
        </p:spPr>
      </p:sp>
      <p:sp>
        <p:nvSpPr>
          <p:cNvPr id="10" name="Text 7"/>
          <p:cNvSpPr/>
          <p:nvPr/>
        </p:nvSpPr>
        <p:spPr>
          <a:xfrm>
            <a:off x="7772400" y="13716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8"/>
          <p:cNvSpPr txBox="1"/>
          <p:nvPr/>
        </p:nvSpPr>
        <p:spPr>
          <a:xfrm>
            <a:off x="8293608" y="1344168"/>
            <a:ext cx="31089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New creates the object</a:t>
            </a:r>
            <a:endParaRPr lang="en-US" sz="1500" dirty="0"/>
          </a:p>
        </p:txBody>
      </p:sp>
      <p:sp>
        <p:nvSpPr>
          <p:cNvPr id="12" name="Text 9"/>
          <p:cNvSpPr txBox="1"/>
          <p:nvPr/>
        </p:nvSpPr>
        <p:spPr>
          <a:xfrm>
            <a:off x="8293608" y="1737360"/>
            <a:ext cx="3108960" cy="62179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Dim P1 As New Player("Ava") declares P1 AND runs the constructor</a:t>
            </a:r>
            <a:endParaRPr lang="en-US" sz="1200" dirty="0"/>
          </a:p>
        </p:txBody>
      </p:sp>
      <p:sp>
        <p:nvSpPr>
          <p:cNvPr id="13" name="Shape 10"/>
          <p:cNvSpPr/>
          <p:nvPr/>
        </p:nvSpPr>
        <p:spPr>
          <a:xfrm>
            <a:off x="7635240" y="2560320"/>
            <a:ext cx="3886200" cy="1143000"/>
          </a:xfrm>
          <a:prstGeom prst="rect">
            <a:avLst/>
          </a:prstGeom>
          <a:solidFill>
            <a:srgbClr val="F6F5FC"/>
          </a:solidFill>
          <a:ln w="12700">
            <a:solidFill>
              <a:srgbClr val="F6F5FC"/>
            </a:solidFill>
            <a:prstDash val="solid"/>
          </a:ln>
        </p:spPr>
      </p:sp>
      <p:sp>
        <p:nvSpPr>
          <p:cNvPr id="14" name="Text 11"/>
          <p:cNvSpPr/>
          <p:nvPr/>
        </p:nvSpPr>
        <p:spPr>
          <a:xfrm>
            <a:off x="7772400" y="26974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5" name="Text 12"/>
          <p:cNvSpPr txBox="1"/>
          <p:nvPr/>
        </p:nvSpPr>
        <p:spPr>
          <a:xfrm>
            <a:off x="8293608" y="2670048"/>
            <a:ext cx="31089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Dot notation</a:t>
            </a:r>
            <a:endParaRPr lang="en-US" sz="1500" dirty="0"/>
          </a:p>
        </p:txBody>
      </p:sp>
      <p:sp>
        <p:nvSpPr>
          <p:cNvPr id="16" name="Text 13"/>
          <p:cNvSpPr txBox="1"/>
          <p:nvPr/>
        </p:nvSpPr>
        <p:spPr>
          <a:xfrm>
            <a:off x="8293608" y="3063240"/>
            <a:ext cx="3108960" cy="576072"/>
          </a:xfrm>
          <a:prstGeom prst="rect">
            <a:avLst/>
          </a:prstGeom>
          <a:noFill/>
          <a:ln/>
        </p:spPr>
        <p:txBody>
          <a:bodyPr wrap="square" lIns="0" tIns="0" rIns="0" bIns="0" rtlCol="0" anchor="t"/>
          <a:lstStyle/>
          <a:p>
            <a:pPr indent="0" marL="0">
              <a:buNone/>
            </a:pPr>
            <a:r>
              <a:rPr lang="en-US" sz="1200" dirty="0">
                <a:solidFill>
                  <a:srgbClr val="202124"/>
                </a:solidFill>
                <a:latin typeface="Quicksand" pitchFamily="34" charset="0"/>
                <a:ea typeface="Quicksand" pitchFamily="34" charset="-122"/>
                <a:cs typeface="Quicksand" pitchFamily="34" charset="-120"/>
              </a:rPr>
              <a:t>P1.AddPoints(50) calls the method on P1 only - P2 is unchanged</a:t>
            </a:r>
            <a:endParaRPr lang="en-US" sz="1200" dirty="0"/>
          </a:p>
        </p:txBody>
      </p:sp>
      <p:sp>
        <p:nvSpPr>
          <p:cNvPr id="17" name="Text 14"/>
          <p:cNvSpPr txBox="1"/>
          <p:nvPr/>
        </p:nvSpPr>
        <p:spPr>
          <a:xfrm>
            <a:off x="777240" y="3886200"/>
            <a:ext cx="6583680" cy="274320"/>
          </a:xfrm>
          <a:prstGeom prst="rect">
            <a:avLst/>
          </a:prstGeom>
          <a:noFill/>
          <a:ln/>
        </p:spPr>
        <p:txBody>
          <a:bodyPr wrap="square" lIns="0" tIns="0" rIns="0" bIns="0" rtlCol="0" anchor="ctr"/>
          <a:lstStyle/>
          <a:p>
            <a:pPr algn="l" indent="0" marL="0">
              <a:buNone/>
            </a:pPr>
            <a:r>
              <a:rPr lang="en-US" sz="1400" i="1" dirty="0">
                <a:solidFill>
                  <a:srgbClr val="494985"/>
                </a:solidFill>
                <a:latin typeface="Quicksand" pitchFamily="34" charset="0"/>
                <a:ea typeface="Quicksand" pitchFamily="34" charset="-122"/>
                <a:cs typeface="Quicksand" pitchFamily="34" charset="-120"/>
              </a:rPr>
              <a:t>Spot the error: what is wrong with each line?</a:t>
            </a:r>
            <a:endParaRPr lang="en-US" sz="1400" dirty="0"/>
          </a:p>
        </p:txBody>
      </p:sp>
      <p:sp>
        <p:nvSpPr>
          <p:cNvPr id="18" name="Shape 15"/>
          <p:cNvSpPr/>
          <p:nvPr/>
        </p:nvSpPr>
        <p:spPr>
          <a:xfrm>
            <a:off x="777240" y="4251960"/>
            <a:ext cx="6583680" cy="160020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9" name="Text 16"/>
          <p:cNvSpPr txBox="1"/>
          <p:nvPr/>
        </p:nvSpPr>
        <p:spPr>
          <a:xfrm>
            <a:off x="914400" y="4343400"/>
            <a:ext cx="6309360" cy="1417320"/>
          </a:xfrm>
          <a:prstGeom prst="rect">
            <a:avLst/>
          </a:prstGeom>
          <a:noFill/>
          <a:ln/>
        </p:spPr>
        <p:txBody>
          <a:bodyPr wrap="square" lIns="0" tIns="0" rIns="0" bIns="0" rtlCol="0" anchor="t"/>
          <a:lstStyle/>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1  P1.Score = 100</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2  Console.WriteLine(P1.Name)</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3  Console.WriteLine(P1.GetScore(10))</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4  Dim P3 As Player</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5  P3.AddPoints(5)</a:t>
            </a:r>
            <a:endParaRPr lang="en-US" sz="1300" dirty="0"/>
          </a:p>
        </p:txBody>
      </p:sp>
      <p:sp>
        <p:nvSpPr>
          <p:cNvPr id="20" name="Text 17"/>
          <p:cNvSpPr txBox="1"/>
          <p:nvPr/>
        </p:nvSpPr>
        <p:spPr>
          <a:xfrm>
            <a:off x="7635240" y="4251960"/>
            <a:ext cx="3886200" cy="1097280"/>
          </a:xfrm>
          <a:prstGeom prst="rect">
            <a:avLst/>
          </a:prstGeom>
          <a:noFill/>
          <a:ln/>
        </p:spPr>
        <p:txBody>
          <a:bodyPr wrap="square" lIns="0" tIns="0" rIns="0" bIns="0" rtlCol="0" anchor="t"/>
          <a:lstStyle/>
          <a:p>
            <a:pPr indent="0" marL="0">
              <a:buNone/>
            </a:pPr>
            <a:r>
              <a:rPr lang="en-US" sz="1400" b="1" dirty="0">
                <a:solidFill>
                  <a:srgbClr val="B3261E"/>
                </a:solidFill>
                <a:latin typeface="Quicksand" pitchFamily="34" charset="0"/>
                <a:ea typeface="Quicksand" pitchFamily="34" charset="-122"/>
                <a:cs typeface="Quicksand" pitchFamily="34" charset="-120"/>
              </a:rPr>
              <a:t>Private attributes cannot be used outside the class: use the getters and setters.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Trace it: predict the output</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16</a:t>
            </a:r>
            <a:endParaRPr lang="en-US" sz="1350" dirty="0"/>
          </a:p>
        </p:txBody>
      </p:sp>
      <p:sp>
        <p:nvSpPr>
          <p:cNvPr id="7" name="Shape 4"/>
          <p:cNvSpPr/>
          <p:nvPr/>
        </p:nvSpPr>
        <p:spPr>
          <a:xfrm>
            <a:off x="777240" y="1234440"/>
            <a:ext cx="6126480" cy="31089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325880"/>
            <a:ext cx="5852160" cy="2926080"/>
          </a:xfrm>
          <a:prstGeom prst="rect">
            <a:avLst/>
          </a:prstGeom>
          <a:noFill/>
          <a:ln/>
        </p:spPr>
        <p:txBody>
          <a:bodyPr wrap="square" lIns="0" tIns="0" rIns="0" bIns="0" rtlCol="0" anchor="t"/>
          <a:lstStyle/>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Dim P1 As New Player("Ava")</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Dim P2 As New Player("Ben")</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P1.AddPoints(50)</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P2.AddPoints(20)</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P1.AddPoints(15)</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P2.SetLives(9)</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P1.SetLives(1)</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Console.WriteLine(P1.GetName() &amp; " " &amp; P1.GetScore())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Console.WriteLine(P2.GetName() &amp; " " &amp; P2.GetScore())</a:t>
            </a:r>
            <a:endParaRPr lang="en-US" sz="12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178040" y="1234440"/>
          <a:ext cx="4343400" cy="914400"/>
        </p:xfrm>
        <a:graphic>
          <a:graphicData uri="http://schemas.openxmlformats.org/drawingml/2006/table">
            <a:tbl>
              <a:tblPr/>
              <a:tblGrid>
                <a:gridCol w="1051560"/>
                <a:gridCol w="822960"/>
                <a:gridCol w="822960"/>
                <a:gridCol w="822960"/>
                <a:gridCol w="822960"/>
              </a:tblGrid>
              <a:tr h="411480">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After line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P1 Score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P1 Lives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P2 Score</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P2 Lives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114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1-2</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114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50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4</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50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20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114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5</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65</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20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114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6</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65</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20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1148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7</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65</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1</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20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10" name="Shape 6"/>
          <p:cNvSpPr/>
          <p:nvPr/>
        </p:nvSpPr>
        <p:spPr>
          <a:xfrm>
            <a:off x="7178040" y="4343400"/>
            <a:ext cx="4343400" cy="86868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1" name="Text 7"/>
          <p:cNvSpPr txBox="1"/>
          <p:nvPr/>
        </p:nvSpPr>
        <p:spPr>
          <a:xfrm>
            <a:off x="7315200" y="4434840"/>
            <a:ext cx="4069080" cy="685800"/>
          </a:xfrm>
          <a:prstGeom prst="rect">
            <a:avLst/>
          </a:prstGeom>
          <a:noFill/>
          <a:ln/>
        </p:spPr>
        <p:txBody>
          <a:bodyPr wrap="square" lIns="0" tIns="0" rIns="0" bIns="0" rtlCol="0" anchor="t"/>
          <a:lstStyle/>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Ava 65</a:t>
            </a:r>
            <a:endParaRPr lang="en-US" sz="1400" dirty="0"/>
          </a:p>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Ben 20</a:t>
            </a:r>
            <a:endParaRPr lang="en-US" sz="1400" dirty="0"/>
          </a:p>
        </p:txBody>
      </p:sp>
      <p:sp>
        <p:nvSpPr>
          <p:cNvPr id="12" name="Text 8"/>
          <p:cNvSpPr txBox="1"/>
          <p:nvPr/>
        </p:nvSpPr>
        <p:spPr>
          <a:xfrm>
            <a:off x="7178040" y="5257800"/>
            <a:ext cx="4343400" cy="274320"/>
          </a:xfrm>
          <a:prstGeom prst="rect">
            <a:avLst/>
          </a:prstGeom>
          <a:noFill/>
          <a:ln/>
        </p:spPr>
        <p:txBody>
          <a:bodyPr wrap="square" lIns="0" tIns="0" rIns="0" bIns="0" rtlCol="0" anchor="ctr"/>
          <a:lstStyle/>
          <a:p>
            <a:pPr algn="ctr" indent="0" marL="0">
              <a:buNone/>
            </a:pPr>
            <a:r>
              <a:rPr lang="en-US" sz="1200" i="1" dirty="0">
                <a:solidFill>
                  <a:srgbClr val="666666"/>
                </a:solidFill>
                <a:latin typeface="Quicksand" pitchFamily="34" charset="0"/>
                <a:ea typeface="Quicksand" pitchFamily="34" charset="-122"/>
                <a:cs typeface="Quicksand" pitchFamily="34" charset="-120"/>
              </a:rPr>
              <a:t>Output</a:t>
            </a:r>
            <a:endParaRPr lang="en-US" sz="1200" dirty="0"/>
          </a:p>
        </p:txBody>
      </p:sp>
      <p:sp>
        <p:nvSpPr>
          <p:cNvPr id="13" name="Text 9"/>
          <p:cNvSpPr txBox="1"/>
          <p:nvPr/>
        </p:nvSpPr>
        <p:spPr>
          <a:xfrm>
            <a:off x="777240" y="4572000"/>
            <a:ext cx="612648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Why does Ben still have 3 lives after line 6?</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Classes in Cambridge pseudocode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17</a:t>
            </a:r>
            <a:endParaRPr lang="en-US" sz="1350" dirty="0"/>
          </a:p>
        </p:txBody>
      </p:sp>
      <p:sp>
        <p:nvSpPr>
          <p:cNvPr id="7" name="Shape 4"/>
          <p:cNvSpPr/>
          <p:nvPr/>
        </p:nvSpPr>
        <p:spPr>
          <a:xfrm>
            <a:off x="777240" y="1234440"/>
            <a:ext cx="6035040" cy="452628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325880"/>
            <a:ext cx="5760720" cy="4343400"/>
          </a:xfrm>
          <a:prstGeom prst="rect">
            <a:avLst/>
          </a:prstGeom>
          <a:noFill/>
          <a:ln/>
        </p:spPr>
        <p:txBody>
          <a:bodyPr wrap="square" lIns="0" tIns="0" rIns="0" bIns="0" rtlCol="0" anchor="t"/>
          <a:lstStyle/>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CLASS Player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PRIVATE Name : STRING</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PRIVATE Score : INTEGER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PUBLIC PROCEDURE NEW(PName : STRING)</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Name ← PName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Score ← 0</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ENDPROCEDURE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PUBLIC FUNCTION GetScore() RETURNS INTEGER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RETURN Score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ENDFUNCTION</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ENDCLASS</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DECLARE P1 : Player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P1 ← NEW Player("Ava")</a:t>
            </a:r>
            <a:endParaRPr lang="en-US" sz="1250" dirty="0"/>
          </a:p>
        </p:txBody>
      </p:sp>
      <p:sp>
        <p:nvSpPr>
          <p:cNvPr id="9" name="Shape 6"/>
          <p:cNvSpPr/>
          <p:nvPr/>
        </p:nvSpPr>
        <p:spPr>
          <a:xfrm>
            <a:off x="7040880" y="1234440"/>
            <a:ext cx="4480560" cy="452628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0" name="Text 7"/>
          <p:cNvSpPr txBox="1"/>
          <p:nvPr/>
        </p:nvSpPr>
        <p:spPr>
          <a:xfrm>
            <a:off x="7178040" y="1325880"/>
            <a:ext cx="4206240" cy="4343400"/>
          </a:xfrm>
          <a:prstGeom prst="rect">
            <a:avLst/>
          </a:prstGeom>
          <a:noFill/>
          <a:ln/>
        </p:spPr>
        <p:txBody>
          <a:bodyPr wrap="square" lIns="0" tIns="0" rIns="0" bIns="0" rtlCol="0" anchor="t"/>
          <a:lstStyle/>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Class Player</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Private Name As String</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Private Score As Integer</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Public Sub New(PName As String)</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Name = PName</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Score = 0</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Sub</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Public Function GetScore() As Integer</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Return Score</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Function</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End Class</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Dim P1 As Player</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P1 = New Player("Ava")</a:t>
            </a:r>
            <a:endParaRPr lang="en-US" sz="1100" dirty="0"/>
          </a:p>
        </p:txBody>
      </p:sp>
      <p:sp>
        <p:nvSpPr>
          <p:cNvPr id="11" name="Text 8"/>
          <p:cNvSpPr txBox="1"/>
          <p:nvPr/>
        </p:nvSpPr>
        <p:spPr>
          <a:xfrm>
            <a:off x="777240" y="5806440"/>
            <a:ext cx="6035040" cy="274320"/>
          </a:xfrm>
          <a:prstGeom prst="rect">
            <a:avLst/>
          </a:prstGeom>
          <a:noFill/>
          <a:ln/>
        </p:spPr>
        <p:txBody>
          <a:bodyPr wrap="square" lIns="0" tIns="0" rIns="0" bIns="0" rtlCol="0" anchor="ctr"/>
          <a:lstStyle/>
          <a:p>
            <a:pPr algn="ctr" indent="0" marL="0">
              <a:buNone/>
            </a:pPr>
            <a:r>
              <a:rPr lang="en-US" sz="1200" i="1" dirty="0">
                <a:solidFill>
                  <a:srgbClr val="666666"/>
                </a:solidFill>
                <a:latin typeface="Quicksand" pitchFamily="34" charset="0"/>
                <a:ea typeface="Quicksand" pitchFamily="34" charset="-122"/>
                <a:cs typeface="Quicksand" pitchFamily="34" charset="-120"/>
              </a:rPr>
              <a:t>Pseudocode</a:t>
            </a:r>
            <a:endParaRPr lang="en-US" sz="1200" dirty="0"/>
          </a:p>
        </p:txBody>
      </p:sp>
      <p:sp>
        <p:nvSpPr>
          <p:cNvPr id="12" name="Text 9"/>
          <p:cNvSpPr txBox="1"/>
          <p:nvPr/>
        </p:nvSpPr>
        <p:spPr>
          <a:xfrm>
            <a:off x="7040880" y="5806440"/>
            <a:ext cx="4480560" cy="274320"/>
          </a:xfrm>
          <a:prstGeom prst="rect">
            <a:avLst/>
          </a:prstGeom>
          <a:noFill/>
          <a:ln/>
        </p:spPr>
        <p:txBody>
          <a:bodyPr wrap="square" lIns="0" tIns="0" rIns="0" bIns="0" rtlCol="0" anchor="ctr"/>
          <a:lstStyle/>
          <a:p>
            <a:pPr algn="ctr" indent="0" marL="0">
              <a:buNone/>
            </a:pPr>
            <a:r>
              <a:rPr lang="en-US" sz="1200" i="1" dirty="0">
                <a:solidFill>
                  <a:srgbClr val="666666"/>
                </a:solidFill>
                <a:latin typeface="Quicksand" pitchFamily="34" charset="0"/>
                <a:ea typeface="Quicksand" pitchFamily="34" charset="-122"/>
                <a:cs typeface="Quicksand" pitchFamily="34" charset="-120"/>
              </a:rPr>
              <a:t>VB.NET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How examiners mark a class (Paper 4)</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Exam focus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18</a:t>
            </a:r>
            <a:endParaRPr lang="en-US" sz="1350" dirty="0"/>
          </a:p>
        </p:txBody>
      </p:sp>
      <p:sp>
        <p:nvSpPr>
          <p:cNvPr id="7" name="Shape 4"/>
          <p:cNvSpPr/>
          <p:nvPr/>
        </p:nvSpPr>
        <p:spPr>
          <a:xfrm>
            <a:off x="777240" y="1188720"/>
            <a:ext cx="6309360" cy="475488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914400" y="1280160"/>
            <a:ext cx="6035040" cy="4572000"/>
          </a:xfrm>
          <a:prstGeom prst="rect">
            <a:avLst/>
          </a:prstGeom>
          <a:noFill/>
          <a:ln/>
        </p:spPr>
        <p:txBody>
          <a:bodyPr wrap="square" lIns="0" tIns="0" rIns="0" bIns="0" rtlCol="0" anchor="t"/>
          <a:lstStyle/>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Class Picture</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Private Description As String</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Private Width As Integer</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Private Height As Integer</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Private FrameColour As String</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Public Sub New(DescriptionP As String, WidthP As Integer,</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HeightP As Integer, FrameColourP As String)</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Description = DescriptionP</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Width = WidthP</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Height = HeightP</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FrameColour = FrameColourP</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End Sub</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Public Function GetDescription() As String</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Return Description</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End Function</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Public Sub SetDescription(DescriptionP As String)</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Description = DescriptionP</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    End Sub</a:t>
            </a:r>
            <a:endParaRPr lang="en-US" sz="1200" dirty="0"/>
          </a:p>
          <a:p>
            <a:pPr indent="0" marL="0">
              <a:lnSpc>
                <a:spcPct val="105000"/>
              </a:lnSpc>
              <a:buNone/>
            </a:pPr>
            <a:r>
              <a:rPr lang="en-US" sz="1200" dirty="0">
                <a:solidFill>
                  <a:srgbClr val="1D1D1D"/>
                </a:solidFill>
                <a:latin typeface="Roboto Mono" pitchFamily="34" charset="0"/>
                <a:ea typeface="Roboto Mono" pitchFamily="34" charset="-122"/>
                <a:cs typeface="Roboto Mono" pitchFamily="34" charset="-120"/>
              </a:rPr>
              <a:t>End Class</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315200" y="1188720"/>
          <a:ext cx="4206240" cy="914400"/>
        </p:xfrm>
        <a:graphic>
          <a:graphicData uri="http://schemas.openxmlformats.org/drawingml/2006/table">
            <a:tbl>
              <a:tblPr/>
              <a:tblGrid>
                <a:gridCol w="777240"/>
                <a:gridCol w="3429000"/>
              </a:tblGrid>
              <a:tr h="457200">
                <a:tc>
                  <a:txBody>
                    <a:bodyPr/>
                    <a:lstStyle/>
                    <a:p>
                      <a:pPr indent="0" marL="0">
                        <a:buNone/>
                      </a:pPr>
                      <a:r>
                        <a:rPr lang="en-US" sz="1150" b="1" dirty="0">
                          <a:solidFill>
                            <a:srgbClr val="FFFFFF"/>
                          </a:solidFill>
                          <a:latin typeface="Quicksand" pitchFamily="34" charset="0"/>
                          <a:ea typeface="Quicksand" pitchFamily="34" charset="-122"/>
                          <a:cs typeface="Quicksand" pitchFamily="34" charset="-120"/>
                        </a:rPr>
                        <a:t>Part</a:t>
                      </a:r>
                      <a:endParaRPr lang="en-US" sz="11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150" b="1" dirty="0">
                          <a:solidFill>
                            <a:srgbClr val="FFFFFF"/>
                          </a:solidFill>
                          <a:latin typeface="Quicksand" pitchFamily="34" charset="0"/>
                          <a:ea typeface="Quicksand" pitchFamily="34" charset="-122"/>
                          <a:cs typeface="Quicksand" pitchFamily="34" charset="-120"/>
                        </a:rPr>
                        <a:t>Official marking points</a:t>
                      </a:r>
                      <a:endParaRPr lang="en-US" sz="11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57200">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(a) [5]</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Class declared and closed;  attributes with correct data types ...  ... as private;  constructor (and close) with four parameters ...  ... parameters assigned to attributes</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(b) [3]</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One get method with no parameter ...  ... returning the correct attribute;  the other 3 get methods</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(c) [2]</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100" dirty="0">
                          <a:solidFill>
                            <a:srgbClr val="202124"/>
                          </a:solidFill>
                          <a:latin typeface="Quicksand" pitchFamily="34" charset="0"/>
                          <a:ea typeface="Quicksand" pitchFamily="34" charset="-122"/>
                          <a:cs typeface="Quicksand" pitchFamily="34" charset="-120"/>
                        </a:rPr>
                        <a:t>Set method (procedure) taking a parameter, no return ...  ... assigning the parameter to the correct attribute</a:t>
                      </a:r>
                      <a:endParaRPr lang="en-US" sz="11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10" name="Text 6"/>
          <p:cNvSpPr txBox="1"/>
          <p:nvPr/>
        </p:nvSpPr>
        <p:spPr>
          <a:xfrm>
            <a:off x="7315200" y="4937760"/>
            <a:ext cx="4206240" cy="914400"/>
          </a:xfrm>
          <a:prstGeom prst="rect">
            <a:avLst/>
          </a:prstGeom>
          <a:noFill/>
          <a:ln/>
        </p:spPr>
        <p:txBody>
          <a:bodyPr wrap="square" lIns="0" tIns="0" rIns="0" bIns="0" rtlCol="0" anchor="t"/>
          <a:lstStyle/>
          <a:p>
            <a:pPr indent="0" marL="0">
              <a:buNone/>
            </a:pPr>
            <a:r>
              <a:rPr lang="en-US" sz="1350" b="1" dirty="0">
                <a:solidFill>
                  <a:srgbClr val="B3261E"/>
                </a:solidFill>
                <a:latin typeface="Quicksand" pitchFamily="34" charset="0"/>
                <a:ea typeface="Quicksand" pitchFamily="34" charset="-122"/>
                <a:cs typeface="Quicksand" pitchFamily="34" charset="-120"/>
              </a:rPr>
              <a:t>Getters: no parameter, Return (not output). Setters: one parameter, no return.</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Exam focus: OOP terms (Paper 3)</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Exam focus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19</a:t>
            </a:r>
            <a:endParaRPr lang="en-US" sz="1350" dirty="0"/>
          </a:p>
        </p:txBody>
      </p:sp>
      <p:sp>
        <p:nvSpPr>
          <p:cNvPr id="7" name="Text 4"/>
          <p:cNvSpPr txBox="1"/>
          <p:nvPr/>
        </p:nvSpPr>
        <p:spPr>
          <a:xfrm>
            <a:off x="777240" y="1234440"/>
            <a:ext cx="10698480" cy="411480"/>
          </a:xfrm>
          <a:prstGeom prst="rect">
            <a:avLst/>
          </a:prstGeom>
          <a:noFill/>
          <a:ln/>
        </p:spPr>
        <p:txBody>
          <a:bodyPr wrap="square" lIns="0" tIns="0" rIns="0" bIns="0" rtlCol="0" anchor="t"/>
          <a:lstStyle/>
          <a:p>
            <a:pPr indent="0" marL="0">
              <a:spcAft>
                <a:spcPts val="600"/>
              </a:spcAft>
              <a:buNone/>
            </a:pPr>
            <a:r>
              <a:rPr lang="en-US" sz="1500" b="1" dirty="0">
                <a:solidFill>
                  <a:srgbClr val="494985"/>
                </a:solidFill>
                <a:latin typeface="Quicksand" pitchFamily="34" charset="0"/>
                <a:ea typeface="Quicksand" pitchFamily="34" charset="-122"/>
                <a:cs typeface="Quicksand" pitchFamily="34" charset="-120"/>
              </a:rPr>
              <a:t>9618/32 May/June 2023 Q4   </a:t>
            </a:r>
            <a:r>
              <a:rPr lang="en-US" sz="1500" dirty="0">
                <a:solidFill>
                  <a:srgbClr val="202124"/>
                </a:solidFill>
                <a:latin typeface="Quicksand" pitchFamily="34" charset="0"/>
                <a:ea typeface="Quicksand" pitchFamily="34" charset="-122"/>
                <a:cs typeface="Quicksand" pitchFamily="34" charset="-120"/>
              </a:rPr>
              <a:t>Draw one line from each OOP term to its most appropriate description.  [4]</a:t>
            </a:r>
            <a:endParaRPr lang="en-US" sz="15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98480" cy="914400"/>
        </p:xfrm>
        <a:graphic>
          <a:graphicData uri="http://schemas.openxmlformats.org/drawingml/2006/table">
            <a:tbl>
              <a:tblPr/>
              <a:tblGrid>
                <a:gridCol w="2194560"/>
                <a:gridCol w="8503920"/>
              </a:tblGrid>
              <a:tr h="457200">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Term</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Official description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572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Encapsulation</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The process of putting data and methods together as a single unit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Getters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Methods used to return the value of a property</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Setters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Methods used to update the value of a property</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Polymorphism</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Allows methods to be redefined for derived classes  (next lesson)</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350" dirty="0">
                          <a:solidFill>
                            <a:srgbClr val="666666"/>
                          </a:solidFill>
                          <a:latin typeface="Quicksand" pitchFamily="34" charset="0"/>
                          <a:ea typeface="Quicksand" pitchFamily="34" charset="-122"/>
                          <a:cs typeface="Quicksand" pitchFamily="34" charset="-120"/>
                        </a:rPr>
                        <a:t>Distractor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666666"/>
                          </a:solidFill>
                          <a:latin typeface="Quicksand" pitchFamily="34" charset="0"/>
                          <a:ea typeface="Quicksand" pitchFamily="34" charset="-122"/>
                          <a:cs typeface="Quicksand" pitchFamily="34" charset="-120"/>
                        </a:rPr>
                        <a:t>Enables the defining of a new class that inherits from a parent class (that is inheritance)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9" name="Shape 5"/>
          <p:cNvSpPr/>
          <p:nvPr/>
        </p:nvSpPr>
        <p:spPr>
          <a:xfrm>
            <a:off x="777240" y="4617720"/>
            <a:ext cx="3474720" cy="1143000"/>
          </a:xfrm>
          <a:prstGeom prst="rect">
            <a:avLst/>
          </a:prstGeom>
          <a:solidFill>
            <a:srgbClr val="F6F5FC"/>
          </a:solidFill>
          <a:ln w="12700">
            <a:solidFill>
              <a:srgbClr val="F6F5FC"/>
            </a:solidFill>
            <a:prstDash val="solid"/>
          </a:ln>
        </p:spPr>
      </p:sp>
      <p:sp>
        <p:nvSpPr>
          <p:cNvPr id="10" name="Text 6"/>
          <p:cNvSpPr/>
          <p:nvPr/>
        </p:nvSpPr>
        <p:spPr>
          <a:xfrm>
            <a:off x="914400" y="47548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7"/>
          <p:cNvSpPr txBox="1"/>
          <p:nvPr/>
        </p:nvSpPr>
        <p:spPr>
          <a:xfrm>
            <a:off x="1435608" y="4727448"/>
            <a:ext cx="26974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Use the key nouns</a:t>
            </a:r>
            <a:endParaRPr lang="en-US" sz="1500" dirty="0"/>
          </a:p>
        </p:txBody>
      </p:sp>
      <p:sp>
        <p:nvSpPr>
          <p:cNvPr id="12" name="Text 8"/>
          <p:cNvSpPr txBox="1"/>
          <p:nvPr/>
        </p:nvSpPr>
        <p:spPr>
          <a:xfrm>
            <a:off x="1435608" y="5120640"/>
            <a:ext cx="2697480" cy="5760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property / attribute, method, class, object</a:t>
            </a:r>
            <a:endParaRPr lang="en-US" sz="1250" dirty="0"/>
          </a:p>
        </p:txBody>
      </p:sp>
      <p:sp>
        <p:nvSpPr>
          <p:cNvPr id="13" name="Shape 9"/>
          <p:cNvSpPr/>
          <p:nvPr/>
        </p:nvSpPr>
        <p:spPr>
          <a:xfrm>
            <a:off x="4389120" y="4617720"/>
            <a:ext cx="3474720" cy="1143000"/>
          </a:xfrm>
          <a:prstGeom prst="rect">
            <a:avLst/>
          </a:prstGeom>
          <a:solidFill>
            <a:srgbClr val="F6F5FC"/>
          </a:solidFill>
          <a:ln w="12700">
            <a:solidFill>
              <a:srgbClr val="F6F5FC"/>
            </a:solidFill>
            <a:prstDash val="solid"/>
          </a:ln>
        </p:spPr>
      </p:sp>
      <p:sp>
        <p:nvSpPr>
          <p:cNvPr id="14" name="Text 10"/>
          <p:cNvSpPr/>
          <p:nvPr/>
        </p:nvSpPr>
        <p:spPr>
          <a:xfrm>
            <a:off x="4526280" y="47548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5" name="Text 11"/>
          <p:cNvSpPr txBox="1"/>
          <p:nvPr/>
        </p:nvSpPr>
        <p:spPr>
          <a:xfrm>
            <a:off x="5047488" y="4727448"/>
            <a:ext cx="26974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Don't define a word with itself</a:t>
            </a:r>
            <a:endParaRPr lang="en-US" sz="1500" dirty="0"/>
          </a:p>
        </p:txBody>
      </p:sp>
      <p:sp>
        <p:nvSpPr>
          <p:cNvPr id="16" name="Text 12"/>
          <p:cNvSpPr txBox="1"/>
          <p:nvPr/>
        </p:nvSpPr>
        <p:spPr>
          <a:xfrm>
            <a:off x="5047488" y="5120640"/>
            <a:ext cx="2697480" cy="5760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"A getter gets..." earns nothing - say what it returns</a:t>
            </a:r>
            <a:endParaRPr lang="en-US" sz="1250" dirty="0"/>
          </a:p>
        </p:txBody>
      </p:sp>
      <p:sp>
        <p:nvSpPr>
          <p:cNvPr id="17" name="Shape 13"/>
          <p:cNvSpPr/>
          <p:nvPr/>
        </p:nvSpPr>
        <p:spPr>
          <a:xfrm>
            <a:off x="8001000" y="4617720"/>
            <a:ext cx="3474720" cy="1143000"/>
          </a:xfrm>
          <a:prstGeom prst="rect">
            <a:avLst/>
          </a:prstGeom>
          <a:solidFill>
            <a:srgbClr val="F6F5FC"/>
          </a:solidFill>
          <a:ln w="12700">
            <a:solidFill>
              <a:srgbClr val="F6F5FC"/>
            </a:solidFill>
            <a:prstDash val="solid"/>
          </a:ln>
        </p:spPr>
      </p:sp>
      <p:sp>
        <p:nvSpPr>
          <p:cNvPr id="18" name="Text 14"/>
          <p:cNvSpPr/>
          <p:nvPr/>
        </p:nvSpPr>
        <p:spPr>
          <a:xfrm>
            <a:off x="8138160" y="47548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9" name="Text 15"/>
          <p:cNvSpPr txBox="1"/>
          <p:nvPr/>
        </p:nvSpPr>
        <p:spPr>
          <a:xfrm>
            <a:off x="8659368" y="4727448"/>
            <a:ext cx="26974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Private = only the class</a:t>
            </a:r>
            <a:endParaRPr lang="en-US" sz="1500" dirty="0"/>
          </a:p>
        </p:txBody>
      </p:sp>
      <p:sp>
        <p:nvSpPr>
          <p:cNvPr id="20" name="Text 16"/>
          <p:cNvSpPr txBox="1"/>
          <p:nvPr/>
        </p:nvSpPr>
        <p:spPr>
          <a:xfrm>
            <a:off x="8659368" y="5120640"/>
            <a:ext cx="2697480" cy="5760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Attributes can only be accessed by the class's own methods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Guided practice and pacing</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6</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20</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77240" y="1234440"/>
          <a:ext cx="10698480" cy="914400"/>
        </p:xfrm>
        <a:graphic>
          <a:graphicData uri="http://schemas.openxmlformats.org/drawingml/2006/table">
            <a:tbl>
              <a:tblPr/>
              <a:tblGrid>
                <a:gridCol w="1645920"/>
                <a:gridCol w="1371600"/>
                <a:gridCol w="7680960"/>
              </a:tblGrid>
              <a:tr h="512064">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Time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Slides</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Worksheet</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1206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0-5 min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2</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Task 1  Starter: four ways to write a program</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5-15 min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4-7</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Task 2(a)  Paradigms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15-25 min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8-11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Task 2(b)  Class, object and OOP key words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25-40 min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12-17</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Task 3  Read and trace a class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40-55 min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Task 4  Complete the class;  start Task 5  Write a class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1206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55-60 min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22</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Exit question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Homework</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18-19</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Finish Task 5;  Task 6  Real exam questions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Text 4"/>
          <p:cNvSpPr txBox="1"/>
          <p:nvPr/>
        </p:nvSpPr>
        <p:spPr>
          <a:xfrm>
            <a:off x="777240" y="5532120"/>
            <a:ext cx="10698480" cy="4114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Check your work against the answer key when your teacher shares it.</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Common misconceptions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21</a:t>
            </a:r>
            <a:endParaRPr lang="en-US" sz="13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77240" y="1234440"/>
          <a:ext cx="10698480" cy="914400"/>
        </p:xfrm>
        <a:graphic>
          <a:graphicData uri="http://schemas.openxmlformats.org/drawingml/2006/table">
            <a:tbl>
              <a:tblPr/>
              <a:tblGrid>
                <a:gridCol w="4023360"/>
                <a:gridCol w="6675120"/>
              </a:tblGrid>
              <a:tr h="548640">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Misconception</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Why it is wrong</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4864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A class and an object are the same thing</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A class is the template; an object is one instance made from it, with its own data</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Encapsulation just means making things private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Encapsulation is putting data and methods together in a class; making attributes private is data hiding</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Attributes should be Public so the program can use them</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Make attributes Private and give public getters/setters - this protects the data</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The constructor is called Constructor or has the class name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In VB.NET the constructor is always Sub New; it runs when New creates the object</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A getter can output the value with Console.WriteLine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A getter must Return the value - and it takes no parameter</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A setter can ask the user for the new value</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A setter takes the value as a parameter; no input inside the method</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4864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Dim P As Player creates an object</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It only declares a variable. New Player(...) creates the object</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4864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Declarative code tells the computer how to find the answer</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It states facts, rules and a goal; the language works out how</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Exit question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22</a:t>
            </a:r>
            <a:endParaRPr lang="en-US" sz="1350" dirty="0"/>
          </a:p>
        </p:txBody>
      </p:sp>
      <p:sp>
        <p:nvSpPr>
          <p:cNvPr id="7" name="Text 4"/>
          <p:cNvSpPr txBox="1"/>
          <p:nvPr/>
        </p:nvSpPr>
        <p:spPr>
          <a:xfrm>
            <a:off x="777240" y="1325880"/>
            <a:ext cx="10698480" cy="457200"/>
          </a:xfrm>
          <a:prstGeom prst="rect">
            <a:avLst/>
          </a:prstGeom>
          <a:noFill/>
          <a:ln/>
        </p:spPr>
        <p:txBody>
          <a:bodyPr wrap="square" lIns="0" tIns="0" rIns="0" bIns="0" rtlCol="0" anchor="t"/>
          <a:lstStyle/>
          <a:p>
            <a:pPr indent="0" marL="0">
              <a:spcAft>
                <a:spcPts val="600"/>
              </a:spcAft>
              <a:buNone/>
            </a:pPr>
            <a:r>
              <a:rPr lang="en-US" sz="1800" b="1" dirty="0">
                <a:solidFill>
                  <a:srgbClr val="494985"/>
                </a:solidFill>
                <a:latin typeface="Quicksand" pitchFamily="34" charset="0"/>
                <a:ea typeface="Quicksand" pitchFamily="34" charset="-122"/>
                <a:cs typeface="Quicksand" pitchFamily="34" charset="-120"/>
              </a:rPr>
              <a:t>On a sticky note or mini-whiteboard:</a:t>
            </a:r>
            <a:endParaRPr lang="en-US" sz="1800" dirty="0"/>
          </a:p>
        </p:txBody>
      </p:sp>
      <p:sp>
        <p:nvSpPr>
          <p:cNvPr id="8" name="Shape 5"/>
          <p:cNvSpPr/>
          <p:nvPr/>
        </p:nvSpPr>
        <p:spPr>
          <a:xfrm>
            <a:off x="777240" y="1965960"/>
            <a:ext cx="10698480" cy="1097280"/>
          </a:xfrm>
          <a:prstGeom prst="rect">
            <a:avLst/>
          </a:prstGeom>
          <a:solidFill>
            <a:srgbClr val="F6F5FC"/>
          </a:solidFill>
          <a:ln w="12700">
            <a:solidFill>
              <a:srgbClr val="F6F5FC"/>
            </a:solidFill>
            <a:prstDash val="solid"/>
          </a:ln>
        </p:spPr>
      </p:sp>
      <p:sp>
        <p:nvSpPr>
          <p:cNvPr id="9" name="Text 6"/>
          <p:cNvSpPr/>
          <p:nvPr/>
        </p:nvSpPr>
        <p:spPr>
          <a:xfrm>
            <a:off x="914400" y="21031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a</a:t>
            </a:r>
            <a:endParaRPr lang="en-US" sz="1400" dirty="0"/>
          </a:p>
        </p:txBody>
      </p:sp>
      <p:sp>
        <p:nvSpPr>
          <p:cNvPr id="10" name="Text 7"/>
          <p:cNvSpPr txBox="1"/>
          <p:nvPr/>
        </p:nvSpPr>
        <p:spPr>
          <a:xfrm>
            <a:off x="1435608" y="2075688"/>
            <a:ext cx="992124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Class vs object</a:t>
            </a:r>
            <a:endParaRPr lang="en-US" sz="1700" dirty="0"/>
          </a:p>
        </p:txBody>
      </p:sp>
      <p:sp>
        <p:nvSpPr>
          <p:cNvPr id="11" name="Text 8"/>
          <p:cNvSpPr txBox="1"/>
          <p:nvPr/>
        </p:nvSpPr>
        <p:spPr>
          <a:xfrm>
            <a:off x="1435608" y="2468880"/>
            <a:ext cx="9921240" cy="530352"/>
          </a:xfrm>
          <a:prstGeom prst="rect">
            <a:avLst/>
          </a:prstGeom>
          <a:noFill/>
          <a:ln/>
        </p:spPr>
        <p:txBody>
          <a:bodyPr wrap="square" lIns="0" tIns="0" rIns="0" bIns="0" rtlCol="0" anchor="t"/>
          <a:lstStyle/>
          <a:p>
            <a:pPr indent="0" marL="0">
              <a:buNone/>
            </a:pPr>
            <a:r>
              <a:rPr lang="en-US" sz="1500" dirty="0">
                <a:solidFill>
                  <a:srgbClr val="202124"/>
                </a:solidFill>
                <a:latin typeface="Quicksand" pitchFamily="34" charset="0"/>
                <a:ea typeface="Quicksand" pitchFamily="34" charset="-122"/>
                <a:cs typeface="Quicksand" pitchFamily="34" charset="-120"/>
              </a:rPr>
              <a:t>Explain the difference between a class and an object.  [2]</a:t>
            </a:r>
            <a:endParaRPr lang="en-US" sz="1500" dirty="0"/>
          </a:p>
        </p:txBody>
      </p:sp>
      <p:sp>
        <p:nvSpPr>
          <p:cNvPr id="12" name="Shape 9"/>
          <p:cNvSpPr/>
          <p:nvPr/>
        </p:nvSpPr>
        <p:spPr>
          <a:xfrm>
            <a:off x="777240" y="3246120"/>
            <a:ext cx="10698480" cy="1097280"/>
          </a:xfrm>
          <a:prstGeom prst="rect">
            <a:avLst/>
          </a:prstGeom>
          <a:solidFill>
            <a:srgbClr val="F6F5FC"/>
          </a:solidFill>
          <a:ln w="12700">
            <a:solidFill>
              <a:srgbClr val="F6F5FC"/>
            </a:solidFill>
            <a:prstDash val="solid"/>
          </a:ln>
        </p:spPr>
      </p:sp>
      <p:sp>
        <p:nvSpPr>
          <p:cNvPr id="13" name="Text 10"/>
          <p:cNvSpPr/>
          <p:nvPr/>
        </p:nvSpPr>
        <p:spPr>
          <a:xfrm>
            <a:off x="914400" y="33832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b</a:t>
            </a:r>
            <a:endParaRPr lang="en-US" sz="1400" dirty="0"/>
          </a:p>
        </p:txBody>
      </p:sp>
      <p:sp>
        <p:nvSpPr>
          <p:cNvPr id="14" name="Text 11"/>
          <p:cNvSpPr txBox="1"/>
          <p:nvPr/>
        </p:nvSpPr>
        <p:spPr>
          <a:xfrm>
            <a:off x="1435608" y="3355848"/>
            <a:ext cx="992124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Encapsulation</a:t>
            </a:r>
            <a:endParaRPr lang="en-US" sz="1700" dirty="0"/>
          </a:p>
        </p:txBody>
      </p:sp>
      <p:sp>
        <p:nvSpPr>
          <p:cNvPr id="15" name="Text 12"/>
          <p:cNvSpPr txBox="1"/>
          <p:nvPr/>
        </p:nvSpPr>
        <p:spPr>
          <a:xfrm>
            <a:off x="1435608" y="3749040"/>
            <a:ext cx="9921240" cy="530352"/>
          </a:xfrm>
          <a:prstGeom prst="rect">
            <a:avLst/>
          </a:prstGeom>
          <a:noFill/>
          <a:ln/>
        </p:spPr>
        <p:txBody>
          <a:bodyPr wrap="square" lIns="0" tIns="0" rIns="0" bIns="0" rtlCol="0" anchor="t"/>
          <a:lstStyle/>
          <a:p>
            <a:pPr indent="0" marL="0">
              <a:buNone/>
            </a:pPr>
            <a:r>
              <a:rPr lang="en-US" sz="1500" dirty="0">
                <a:solidFill>
                  <a:srgbClr val="202124"/>
                </a:solidFill>
                <a:latin typeface="Quicksand" pitchFamily="34" charset="0"/>
                <a:ea typeface="Quicksand" pitchFamily="34" charset="-122"/>
                <a:cs typeface="Quicksand" pitchFamily="34" charset="-120"/>
              </a:rPr>
              <a:t>State one feature of encapsulation.  [1]</a:t>
            </a:r>
            <a:endParaRPr lang="en-US" sz="1500" dirty="0"/>
          </a:p>
        </p:txBody>
      </p:sp>
      <p:sp>
        <p:nvSpPr>
          <p:cNvPr id="16" name="Shape 13"/>
          <p:cNvSpPr/>
          <p:nvPr/>
        </p:nvSpPr>
        <p:spPr>
          <a:xfrm>
            <a:off x="777240" y="4526280"/>
            <a:ext cx="10698480" cy="1097280"/>
          </a:xfrm>
          <a:prstGeom prst="rect">
            <a:avLst/>
          </a:prstGeom>
          <a:solidFill>
            <a:srgbClr val="F6F5FC"/>
          </a:solidFill>
          <a:ln w="12700">
            <a:solidFill>
              <a:srgbClr val="F6F5FC"/>
            </a:solidFill>
            <a:prstDash val="solid"/>
          </a:ln>
        </p:spPr>
      </p:sp>
      <p:sp>
        <p:nvSpPr>
          <p:cNvPr id="17" name="Text 14"/>
          <p:cNvSpPr/>
          <p:nvPr/>
        </p:nvSpPr>
        <p:spPr>
          <a:xfrm>
            <a:off x="914400" y="46634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c</a:t>
            </a:r>
            <a:endParaRPr lang="en-US" sz="1400" dirty="0"/>
          </a:p>
        </p:txBody>
      </p:sp>
      <p:sp>
        <p:nvSpPr>
          <p:cNvPr id="18" name="Text 15"/>
          <p:cNvSpPr txBox="1"/>
          <p:nvPr/>
        </p:nvSpPr>
        <p:spPr>
          <a:xfrm>
            <a:off x="1435608" y="4636008"/>
            <a:ext cx="9921240" cy="411480"/>
          </a:xfrm>
          <a:prstGeom prst="rect">
            <a:avLst/>
          </a:prstGeom>
          <a:noFill/>
          <a:ln/>
        </p:spPr>
        <p:txBody>
          <a:bodyPr wrap="square" lIns="0" tIns="0" rIns="0" bIns="0" rtlCol="0" anchor="ctr"/>
          <a:lstStyle/>
          <a:p>
            <a:pPr indent="0" marL="0">
              <a:buNone/>
            </a:pPr>
            <a:r>
              <a:rPr lang="en-US" sz="1700" b="1" dirty="0">
                <a:solidFill>
                  <a:srgbClr val="202124"/>
                </a:solidFill>
                <a:latin typeface="Quicksand" pitchFamily="34" charset="0"/>
                <a:ea typeface="Quicksand" pitchFamily="34" charset="-122"/>
                <a:cs typeface="Quicksand" pitchFamily="34" charset="-120"/>
              </a:rPr>
              <a:t>Write a getter</a:t>
            </a:r>
            <a:endParaRPr lang="en-US" sz="1700" dirty="0"/>
          </a:p>
        </p:txBody>
      </p:sp>
      <p:sp>
        <p:nvSpPr>
          <p:cNvPr id="19" name="Text 16"/>
          <p:cNvSpPr txBox="1"/>
          <p:nvPr/>
        </p:nvSpPr>
        <p:spPr>
          <a:xfrm>
            <a:off x="1435608" y="5029200"/>
            <a:ext cx="9921240" cy="530352"/>
          </a:xfrm>
          <a:prstGeom prst="rect">
            <a:avLst/>
          </a:prstGeom>
          <a:noFill/>
          <a:ln/>
        </p:spPr>
        <p:txBody>
          <a:bodyPr wrap="square" lIns="0" tIns="0" rIns="0" bIns="0" rtlCol="0" anchor="t"/>
          <a:lstStyle/>
          <a:p>
            <a:pPr indent="0" marL="0">
              <a:buNone/>
            </a:pPr>
            <a:r>
              <a:rPr lang="en-US" sz="1500" dirty="0">
                <a:solidFill>
                  <a:srgbClr val="202124"/>
                </a:solidFill>
                <a:latin typeface="Quicksand" pitchFamily="34" charset="0"/>
                <a:ea typeface="Quicksand" pitchFamily="34" charset="-122"/>
                <a:cs typeface="Quicksand" pitchFamily="34" charset="-120"/>
              </a:rPr>
              <a:t>Write the VB.NET getter GetLives() for the Player class.  [2]</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Summary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23</a:t>
            </a:r>
            <a:endParaRPr lang="en-US" sz="1350" dirty="0"/>
          </a:p>
        </p:txBody>
      </p:sp>
      <p:sp>
        <p:nvSpPr>
          <p:cNvPr id="7" name="Text 4"/>
          <p:cNvSpPr txBox="1"/>
          <p:nvPr/>
        </p:nvSpPr>
        <p:spPr>
          <a:xfrm>
            <a:off x="841248" y="1371600"/>
            <a:ext cx="10241280" cy="3566160"/>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Described the low-level, imperative, object-oriented and declarative paradigms</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Explained that a class is a template and an object is an instance of it</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Used the terms attribute, method, encapsulation and data hiding</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Read a class diagram and wrote a VB.NET class with private attributes, a constructor, getters and setters</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Created objects with New and traced what happens to each one</a:t>
            </a:r>
            <a:endParaRPr lang="en-US" sz="1700" dirty="0"/>
          </a:p>
        </p:txBody>
      </p:sp>
      <p:sp>
        <p:nvSpPr>
          <p:cNvPr id="8" name="Text 5"/>
          <p:cNvSpPr txBox="1"/>
          <p:nvPr/>
        </p:nvSpPr>
        <p:spPr>
          <a:xfrm>
            <a:off x="841248" y="5120640"/>
            <a:ext cx="10241280" cy="548640"/>
          </a:xfrm>
          <a:prstGeom prst="rect">
            <a:avLst/>
          </a:prstGeom>
          <a:noFill/>
          <a:ln/>
        </p:spPr>
        <p:txBody>
          <a:bodyPr wrap="square" lIns="0" tIns="0" rIns="0" bIns="0" rtlCol="0" anchor="t"/>
          <a:lstStyle/>
          <a:p>
            <a:pPr indent="0" marL="0">
              <a:buNone/>
            </a:pPr>
            <a:r>
              <a:rPr lang="en-US" sz="1600" b="1" dirty="0">
                <a:solidFill>
                  <a:srgbClr val="494985"/>
                </a:solidFill>
                <a:latin typeface="Quicksand" pitchFamily="34" charset="0"/>
                <a:ea typeface="Quicksand" pitchFamily="34" charset="-122"/>
                <a:cs typeface="Quicksand" pitchFamily="34" charset="-120"/>
              </a:rPr>
              <a:t>Next lesson: inheritance and polymorphism - building new classes from Player.</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Classes and programming paradigms</dc:title>
  <dc:subject>PptxGenJS Presentation</dc:subject>
  <dc:creator>PptxGenJS</dc:creator>
  <cp:lastModifiedBy>PptxGenJS</cp:lastModifiedBy>
  <cp:revision>1</cp:revision>
  <dcterms:created xsi:type="dcterms:W3CDTF">2026-10-23T05:18:10Z</dcterms:created>
  <dcterms:modified xsi:type="dcterms:W3CDTF">2026-10-23T05:18:10Z</dcterms:modified>
</cp:coreProperties>
</file>