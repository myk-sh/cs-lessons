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ADT lesson in the series. Built around the four binary tree questions from 9618 Paper 4 (Nov 2022, June 2024, June 2025, Nov 2025) and their published mark schemes. Main representation: 2D array (Nov 2022, Nov 2025). OOP versions (June 2024, June 2025) are covered on slides 16-17.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True. 2 True (in an ordered tree; Cambridge sends equal values right, e.g. June 2025). 3 False - RootPointer says where the root is. 4 True. 5 False - a new node is always added as a new leaf; nothing moves.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each part on the diagram. A leaf has no children (both pointers -1). Each node is the root of its own subtree - this is what makes recursion so natural for trees.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it live on the board: insert 10, 11, 5, 1, 20, 7, 15 in that order. For every insert, start at the root and ask "smaller or not?" at each node. The highlighted path shows where 15 goes. Same data as June 2024 Q2(c).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Sorted input gives a "stick": every node goes right, so the tree is really a linked list and searching checks every node. Random order tends to give a bushy tree where each comparison discards about half of what is left.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Nov 2025 layout (TreeArray, 50 nodes). Nov 2022 used the same idea with ArrayNodes(19, 2). Column order matters: 0 = left, 1 = data, 2 = right. Mark scheme for (a), 3 marks: global 2D array 50 x 3; all elements -1; RootPointer -1 and FreeNode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be able to go both ways: draw the tree from a table, and fill in a table from a tree. Note node 0 is the root here only because 10 was inserted first - always check RootPointer.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steps map directly onto the Nov 2025 mark scheme points. The new node is always stored at FreeNode - only the parent's pointer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structure as the Nov 2025 mark scheme model answer: a CurrentNode index and a Placed flag. June 2024 used a Previous index and a Direction variable instead - both are fine. Use Else (not ElseIf &gt;) for the right branch: the June 2024 model answer only tested &lt; and &gt;, so a duplicate value would loop forever.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Tree before the call holds 10, 11, 5, 1, 20, 7 (indexes 0-5), so FreeNode = 6. Reveal one row at a time. Only one existing value changes: TreeArray(4,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Memory trick: the name says where the ROOT goes - PRE (first), IN (in the middle), POST (last). The left subtree is always visited before the right. In-order on an ordered tree gives ascending order - that is why June 2025 asked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Matches the outline Cambridge gives (Nov 2022 PostOrder, June 2025 OutputInOrder): check left is not -1 and recurse, output, check right is not -1 and recurse. The Nov 2022 mark scheme accepted either the node or its index as the parameter; passing the index is simplest in VB.NET. Called with InOrder(RootPointer) - assumes the tree is not empty.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back to the stacks lesson: each call is pushed onto the call stack and popped when it returns - that is how the program "remembers" to come back to node 5 and node 10. Nodes are labelled by their data here for readability; the real parameter is the index.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Nov 2022 Q3(c), 5 marks: 1 mark per completed statement (the exam gave pseudocode with four gaps) plus 1 for the rest. Note: the published VB.NET answer left out the Root = -1 check, which crashes when the value is not in the tree - a good discussion point. Call with SearchValue(RootPointer,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recent paper used one of these. The algorithm is identical - only the syntax for "follow the left pointer"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June 2025 marks: Node class and constructor 4, three get methods 3, SetLeft/SetRight 3, OutputInOrder 5. VB.NET uses Nothing for null and "IsNot Nothing" to test for a child. Attributes are Private, so the traversal must use the get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the published mark scheme for 9618/42 Nov 2025 Q3(b): 9 marking points, maximum 7 marks. Wording here is summarised. Note that the full check and the empty-tree check are separate marks - students often forget the empty tree.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June 2025 (9618/41) Q3(d) OutputInOrder, 5 marks. Nov 2022 (9618/41) Q3(d) PostOrder was worth 7 with the same ideas split more finely (checking left, recursive call left, checking right, recursive call right, output, all three in the correct order). The Nov 2022 scheme accepted the node or its index as the parameter.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Tasks 1-5 on paper, Task 6 at the computer. Task 6 follows the Nov 2025 question closely, uses the June 2024 test data, and adds the Nov 2022 search - the marks shown come from those mark schemes.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tree 50 (30 (20, 40), 70 (60, -)). Pre-order 50 30 20 40 70 60. Post-order 20 40 30 60 70 50. 40 is stored at index 4; TreeArray(1, 2) = 4 (the right pointer of 30).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7900416" y="0"/>
            <a:ext cx="4288536" cy="6858000"/>
          </a:xfrm>
          <a:prstGeom prst="rect">
            <a:avLst/>
          </a:prstGeom>
          <a:solidFill>
            <a:srgbClr val="FFD84D"/>
          </a:solidFill>
          <a:ln w="12700">
            <a:solidFill>
              <a:srgbClr val="FFD84D"/>
            </a:solidFill>
            <a:prstDash val="solid"/>
          </a:ln>
        </p:spPr>
      </p:sp>
      <p:sp>
        <p:nvSpPr>
          <p:cNvPr id="3" name="Text 1"/>
          <p:cNvSpPr txBox="1"/>
          <p:nvPr/>
        </p:nvSpPr>
        <p:spPr>
          <a:xfrm>
            <a:off x="667512" y="2560320"/>
            <a:ext cx="7004304" cy="914400"/>
          </a:xfrm>
          <a:prstGeom prst="rect">
            <a:avLst/>
          </a:prstGeom>
          <a:noFill/>
          <a:ln/>
        </p:spPr>
        <p:txBody>
          <a:bodyPr wrap="square" lIns="0" tIns="0" rIns="0" bIns="0" rtlCol="0" anchor="b"/>
          <a:lstStyle/>
          <a:p>
            <a:pPr indent="0" marL="0">
              <a:buNone/>
            </a:pPr>
            <a:r>
              <a:rPr lang="en-US" sz="5400" b="1" dirty="0">
                <a:solidFill>
                  <a:srgbClr val="202124"/>
                </a:solidFill>
                <a:latin typeface="Quicksand" pitchFamily="34" charset="0"/>
                <a:ea typeface="Quicksand" pitchFamily="34" charset="-122"/>
                <a:cs typeface="Quicksand" pitchFamily="34" charset="-120"/>
              </a:rPr>
              <a:t>Binary trees</a:t>
            </a:r>
            <a:endParaRPr lang="en-US" sz="5400" dirty="0"/>
          </a:p>
        </p:txBody>
      </p:sp>
      <p:sp>
        <p:nvSpPr>
          <p:cNvPr id="4" name="Text 2"/>
          <p:cNvSpPr txBox="1"/>
          <p:nvPr/>
        </p:nvSpPr>
        <p:spPr>
          <a:xfrm>
            <a:off x="667512" y="3547872"/>
            <a:ext cx="7004304" cy="411480"/>
          </a:xfrm>
          <a:prstGeom prst="rect">
            <a:avLst/>
          </a:prstGeom>
          <a:noFill/>
          <a:ln/>
        </p:spPr>
        <p:txBody>
          <a:bodyPr wrap="square" lIns="0" tIns="0" rIns="0" bIns="0" rtlCol="0" anchor="ctr"/>
          <a:lstStyle/>
          <a:p>
            <a:pPr indent="0" marL="0">
              <a:buNone/>
            </a:pPr>
            <a:r>
              <a:rPr lang="en-US" sz="2000" dirty="0">
                <a:solidFill>
                  <a:srgbClr val="666666"/>
                </a:solidFill>
                <a:latin typeface="Quicksand" pitchFamily="34" charset="0"/>
                <a:ea typeface="Quicksand" pitchFamily="34" charset="-122"/>
                <a:cs typeface="Quicksand" pitchFamily="34" charset="-120"/>
              </a:rPr>
              <a:t>Y13 - Cambridge International 9618</a:t>
            </a:r>
            <a:endParaRPr lang="en-US" sz="2000" dirty="0"/>
          </a:p>
        </p:txBody>
      </p:sp>
      <p:sp>
        <p:nvSpPr>
          <p:cNvPr id="5" name="Shape 3"/>
          <p:cNvSpPr/>
          <p:nvPr/>
        </p:nvSpPr>
        <p:spPr>
          <a:xfrm>
            <a:off x="667512" y="4050792"/>
            <a:ext cx="1719072" cy="54864"/>
          </a:xfrm>
          <a:prstGeom prst="rect">
            <a:avLst/>
          </a:prstGeom>
          <a:solidFill>
            <a:srgbClr val="494985"/>
          </a:solidFill>
          <a:ln w="12700">
            <a:solidFill>
              <a:srgbClr val="494985"/>
            </a:solidFill>
            <a:prstDash val="solid"/>
          </a:ln>
        </p:spPr>
      </p:sp>
      <p:sp>
        <p:nvSpPr>
          <p:cNvPr id="6" name="Text 4"/>
          <p:cNvSpPr txBox="1"/>
          <p:nvPr/>
        </p:nvSpPr>
        <p:spPr>
          <a:xfrm>
            <a:off x="11247120" y="6400800"/>
            <a:ext cx="548640" cy="274320"/>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True or False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Starter activity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a:t>
            </a:r>
            <a:endParaRPr lang="en-US" sz="1350" dirty="0"/>
          </a:p>
        </p:txBody>
      </p:sp>
      <p:sp>
        <p:nvSpPr>
          <p:cNvPr id="7" name="Text 4"/>
          <p:cNvSpPr txBox="1"/>
          <p:nvPr/>
        </p:nvSpPr>
        <p:spPr>
          <a:xfrm>
            <a:off x="841248" y="1188720"/>
            <a:ext cx="9144000" cy="3657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Choose whether each statement is True or False.</a:t>
            </a:r>
            <a:endParaRPr lang="en-US" sz="1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950976" y="1691640"/>
          <a:ext cx="10287000" cy="914400"/>
        </p:xfrm>
        <a:graphic>
          <a:graphicData uri="http://schemas.openxmlformats.org/drawingml/2006/table">
            <a:tbl>
              <a:tblPr/>
              <a:tblGrid>
                <a:gridCol w="8092440"/>
                <a:gridCol w="1097280"/>
                <a:gridCol w="1097280"/>
              </a:tblGrid>
              <a:tr h="566928">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Statement</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True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False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Each node in a binary tree has at most two children.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In an ordered binary tree, every value in a node's left subtree is smaller than that node.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root node is always stored at index 0 of the array.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An in-order traversal of an ordered binary tree outputs the data in ascending order.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Adding a node means shuffling existing nodes to make room for it.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 will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Objectives</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3</a:t>
            </a:r>
            <a:endParaRPr lang="en-US" sz="1350" dirty="0"/>
          </a:p>
        </p:txBody>
      </p:sp>
      <p:sp>
        <p:nvSpPr>
          <p:cNvPr id="6" name="Text 4"/>
          <p:cNvSpPr txBox="1"/>
          <p:nvPr/>
        </p:nvSpPr>
        <p:spPr>
          <a:xfrm>
            <a:off x="841248" y="1463040"/>
            <a:ext cx="10241280" cy="384048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Use the vocabulary of binary trees: root, parent, child, leaf, subtree</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Build an ordered binary tree by hand and store it in a 2D array with left and right pointers</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Write and trace VB.NET code to add a node, following the pointers to the correct parent</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Write and trace recursive pre-order, in-order and post-order traversals and a recursive search</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Recognise the OOP versions of the tree and apply real 9618 mark schemes to your code</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What is a binary tree?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4</a:t>
            </a:r>
            <a:endParaRPr lang="en-US" sz="1350" dirty="0"/>
          </a:p>
        </p:txBody>
      </p:sp>
      <p:sp>
        <p:nvSpPr>
          <p:cNvPr id="7" name="Text 4"/>
          <p:cNvSpPr txBox="1"/>
          <p:nvPr/>
        </p:nvSpPr>
        <p:spPr>
          <a:xfrm>
            <a:off x="877824" y="1234440"/>
            <a:ext cx="10332720" cy="731520"/>
          </a:xfrm>
          <a:prstGeom prst="rect">
            <a:avLst/>
          </a:prstGeom>
          <a:noFill/>
          <a:ln/>
        </p:spPr>
        <p:txBody>
          <a:bodyPr wrap="square" lIns="0" tIns="0" rIns="0" bIns="0" rtlCol="0" anchor="t"/>
          <a:lstStyle/>
          <a:p>
            <a:pPr indent="0" marL="0">
              <a:buNone/>
            </a:pPr>
            <a:r>
              <a:rPr lang="en-US" sz="1600" b="1" dirty="0">
                <a:solidFill>
                  <a:srgbClr val="202124"/>
                </a:solidFill>
                <a:latin typeface="Quicksand" pitchFamily="34" charset="0"/>
                <a:ea typeface="Quicksand" pitchFamily="34" charset="-122"/>
                <a:cs typeface="Quicksand" pitchFamily="34" charset="-120"/>
              </a:rPr>
              <a:t>A binary tree is a hierarchical data structure: each node holds data and up to two pointers, one to a left child and one to a right child.</a:t>
            </a:r>
            <a:endParaRPr lang="en-US" sz="1600" dirty="0"/>
          </a:p>
        </p:txBody>
      </p:sp>
      <p:sp>
        <p:nvSpPr>
          <p:cNvPr id="8" name="Shape 5"/>
          <p:cNvSpPr/>
          <p:nvPr/>
        </p:nvSpPr>
        <p:spPr>
          <a:xfrm flipH="1">
            <a:off x="2125980" y="2720340"/>
            <a:ext cx="1303020" cy="502920"/>
          </a:xfrm>
          <a:prstGeom prst="line">
            <a:avLst/>
          </a:prstGeom>
          <a:noFill/>
          <a:ln w="19050">
            <a:solidFill>
              <a:srgbClr val="9A9AB5"/>
            </a:solidFill>
            <a:prstDash val="solid"/>
          </a:ln>
        </p:spPr>
      </p:sp>
      <p:sp>
        <p:nvSpPr>
          <p:cNvPr id="9" name="Shape 6"/>
          <p:cNvSpPr/>
          <p:nvPr/>
        </p:nvSpPr>
        <p:spPr>
          <a:xfrm>
            <a:off x="3429000" y="2720340"/>
            <a:ext cx="1303020" cy="502920"/>
          </a:xfrm>
          <a:prstGeom prst="line">
            <a:avLst/>
          </a:prstGeom>
          <a:noFill/>
          <a:ln w="19050">
            <a:solidFill>
              <a:srgbClr val="9A9AB5"/>
            </a:solidFill>
            <a:prstDash val="solid"/>
          </a:ln>
        </p:spPr>
      </p:sp>
      <p:sp>
        <p:nvSpPr>
          <p:cNvPr id="10" name="Shape 7"/>
          <p:cNvSpPr/>
          <p:nvPr/>
        </p:nvSpPr>
        <p:spPr>
          <a:xfrm flipH="1">
            <a:off x="1474470" y="3634740"/>
            <a:ext cx="651510" cy="502920"/>
          </a:xfrm>
          <a:prstGeom prst="line">
            <a:avLst/>
          </a:prstGeom>
          <a:noFill/>
          <a:ln w="19050">
            <a:solidFill>
              <a:srgbClr val="9A9AB5"/>
            </a:solidFill>
            <a:prstDash val="solid"/>
          </a:ln>
        </p:spPr>
      </p:sp>
      <p:sp>
        <p:nvSpPr>
          <p:cNvPr id="11" name="Shape 8"/>
          <p:cNvSpPr/>
          <p:nvPr/>
        </p:nvSpPr>
        <p:spPr>
          <a:xfrm>
            <a:off x="2125980" y="3634740"/>
            <a:ext cx="651510" cy="502920"/>
          </a:xfrm>
          <a:prstGeom prst="line">
            <a:avLst/>
          </a:prstGeom>
          <a:noFill/>
          <a:ln w="19050">
            <a:solidFill>
              <a:srgbClr val="9A9AB5"/>
            </a:solidFill>
            <a:prstDash val="solid"/>
          </a:ln>
        </p:spPr>
      </p:sp>
      <p:sp>
        <p:nvSpPr>
          <p:cNvPr id="12" name="Shape 9"/>
          <p:cNvSpPr/>
          <p:nvPr/>
        </p:nvSpPr>
        <p:spPr>
          <a:xfrm>
            <a:off x="4732020" y="3634740"/>
            <a:ext cx="781812" cy="502920"/>
          </a:xfrm>
          <a:prstGeom prst="line">
            <a:avLst/>
          </a:prstGeom>
          <a:noFill/>
          <a:ln w="19050">
            <a:solidFill>
              <a:srgbClr val="9A9AB5"/>
            </a:solidFill>
            <a:prstDash val="solid"/>
          </a:ln>
        </p:spPr>
      </p:sp>
      <p:sp>
        <p:nvSpPr>
          <p:cNvPr id="13" name="Shape 10"/>
          <p:cNvSpPr/>
          <p:nvPr/>
        </p:nvSpPr>
        <p:spPr>
          <a:xfrm flipH="1">
            <a:off x="4905756" y="4549140"/>
            <a:ext cx="608076" cy="502920"/>
          </a:xfrm>
          <a:prstGeom prst="line">
            <a:avLst/>
          </a:prstGeom>
          <a:noFill/>
          <a:ln w="19050">
            <a:solidFill>
              <a:srgbClr val="9A9AB5"/>
            </a:solidFill>
            <a:prstDash val="solid"/>
          </a:ln>
        </p:spPr>
      </p:sp>
      <p:sp>
        <p:nvSpPr>
          <p:cNvPr id="14" name="Text 11"/>
          <p:cNvSpPr/>
          <p:nvPr/>
        </p:nvSpPr>
        <p:spPr>
          <a:xfrm>
            <a:off x="3086100" y="230886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10</a:t>
            </a:r>
            <a:endParaRPr lang="en-US" sz="1500" dirty="0"/>
          </a:p>
        </p:txBody>
      </p:sp>
      <p:sp>
        <p:nvSpPr>
          <p:cNvPr id="15" name="Text 12"/>
          <p:cNvSpPr txBox="1"/>
          <p:nvPr/>
        </p:nvSpPr>
        <p:spPr>
          <a:xfrm>
            <a:off x="2514600" y="2747772"/>
            <a:ext cx="1828800" cy="256032"/>
          </a:xfrm>
          <a:prstGeom prst="rect">
            <a:avLst/>
          </a:prstGeom>
          <a:noFill/>
          <a:ln/>
        </p:spPr>
        <p:txBody>
          <a:bodyPr wrap="square" lIns="0" tIns="0" rIns="0" bIns="0" rtlCol="0" anchor="ctr"/>
          <a:lstStyle/>
          <a:p>
            <a:pPr algn="ctr" indent="0" marL="0">
              <a:buNone/>
            </a:pPr>
            <a:r>
              <a:rPr lang="en-US" sz="1050" i="1" dirty="0">
                <a:solidFill>
                  <a:srgbClr val="666666"/>
                </a:solidFill>
                <a:latin typeface="Quicksand" pitchFamily="34" charset="0"/>
                <a:ea typeface="Quicksand" pitchFamily="34" charset="-122"/>
                <a:cs typeface="Quicksand" pitchFamily="34" charset="-120"/>
              </a:rPr>
              <a:t>root</a:t>
            </a:r>
            <a:endParaRPr lang="en-US" sz="1050" dirty="0"/>
          </a:p>
        </p:txBody>
      </p:sp>
      <p:sp>
        <p:nvSpPr>
          <p:cNvPr id="16" name="Text 13"/>
          <p:cNvSpPr/>
          <p:nvPr/>
        </p:nvSpPr>
        <p:spPr>
          <a:xfrm>
            <a:off x="1783080" y="322326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5</a:t>
            </a:r>
            <a:endParaRPr lang="en-US" sz="1500" dirty="0"/>
          </a:p>
        </p:txBody>
      </p:sp>
      <p:sp>
        <p:nvSpPr>
          <p:cNvPr id="17" name="Text 14"/>
          <p:cNvSpPr txBox="1"/>
          <p:nvPr/>
        </p:nvSpPr>
        <p:spPr>
          <a:xfrm>
            <a:off x="1211580" y="3662172"/>
            <a:ext cx="1828800" cy="256032"/>
          </a:xfrm>
          <a:prstGeom prst="rect">
            <a:avLst/>
          </a:prstGeom>
          <a:noFill/>
          <a:ln/>
        </p:spPr>
        <p:txBody>
          <a:bodyPr wrap="square" lIns="0" tIns="0" rIns="0" bIns="0" rtlCol="0" anchor="ctr"/>
          <a:lstStyle/>
          <a:p>
            <a:pPr algn="ctr" indent="0" marL="0">
              <a:buNone/>
            </a:pPr>
            <a:r>
              <a:rPr lang="en-US" sz="1050" i="1" dirty="0">
                <a:solidFill>
                  <a:srgbClr val="666666"/>
                </a:solidFill>
                <a:latin typeface="Quicksand" pitchFamily="34" charset="0"/>
                <a:ea typeface="Quicksand" pitchFamily="34" charset="-122"/>
                <a:cs typeface="Quicksand" pitchFamily="34" charset="-120"/>
              </a:rPr>
              <a:t>parent</a:t>
            </a:r>
            <a:endParaRPr lang="en-US" sz="1050" dirty="0"/>
          </a:p>
        </p:txBody>
      </p:sp>
      <p:sp>
        <p:nvSpPr>
          <p:cNvPr id="18" name="Text 15"/>
          <p:cNvSpPr/>
          <p:nvPr/>
        </p:nvSpPr>
        <p:spPr>
          <a:xfrm>
            <a:off x="4389120" y="322326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11</a:t>
            </a:r>
            <a:endParaRPr lang="en-US" sz="1500" dirty="0"/>
          </a:p>
        </p:txBody>
      </p:sp>
      <p:sp>
        <p:nvSpPr>
          <p:cNvPr id="19" name="Text 16"/>
          <p:cNvSpPr/>
          <p:nvPr/>
        </p:nvSpPr>
        <p:spPr>
          <a:xfrm>
            <a:off x="1131570" y="413766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1</a:t>
            </a:r>
            <a:endParaRPr lang="en-US" sz="1500" dirty="0"/>
          </a:p>
        </p:txBody>
      </p:sp>
      <p:sp>
        <p:nvSpPr>
          <p:cNvPr id="20" name="Text 17"/>
          <p:cNvSpPr txBox="1"/>
          <p:nvPr/>
        </p:nvSpPr>
        <p:spPr>
          <a:xfrm>
            <a:off x="560070" y="4576572"/>
            <a:ext cx="1828800" cy="256032"/>
          </a:xfrm>
          <a:prstGeom prst="rect">
            <a:avLst/>
          </a:prstGeom>
          <a:noFill/>
          <a:ln/>
        </p:spPr>
        <p:txBody>
          <a:bodyPr wrap="square" lIns="0" tIns="0" rIns="0" bIns="0" rtlCol="0" anchor="ctr"/>
          <a:lstStyle/>
          <a:p>
            <a:pPr algn="ctr" indent="0" marL="0">
              <a:buNone/>
            </a:pPr>
            <a:r>
              <a:rPr lang="en-US" sz="1050" i="1" dirty="0">
                <a:solidFill>
                  <a:srgbClr val="666666"/>
                </a:solidFill>
                <a:latin typeface="Quicksand" pitchFamily="34" charset="0"/>
                <a:ea typeface="Quicksand" pitchFamily="34" charset="-122"/>
                <a:cs typeface="Quicksand" pitchFamily="34" charset="-120"/>
              </a:rPr>
              <a:t>leaf</a:t>
            </a:r>
            <a:endParaRPr lang="en-US" sz="1050" dirty="0"/>
          </a:p>
        </p:txBody>
      </p:sp>
      <p:sp>
        <p:nvSpPr>
          <p:cNvPr id="21" name="Text 18"/>
          <p:cNvSpPr/>
          <p:nvPr/>
        </p:nvSpPr>
        <p:spPr>
          <a:xfrm>
            <a:off x="2434590" y="413766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7</a:t>
            </a:r>
            <a:endParaRPr lang="en-US" sz="1500" dirty="0"/>
          </a:p>
        </p:txBody>
      </p:sp>
      <p:sp>
        <p:nvSpPr>
          <p:cNvPr id="22" name="Text 19"/>
          <p:cNvSpPr txBox="1"/>
          <p:nvPr/>
        </p:nvSpPr>
        <p:spPr>
          <a:xfrm>
            <a:off x="1863090" y="4576572"/>
            <a:ext cx="1828800" cy="256032"/>
          </a:xfrm>
          <a:prstGeom prst="rect">
            <a:avLst/>
          </a:prstGeom>
          <a:noFill/>
          <a:ln/>
        </p:spPr>
        <p:txBody>
          <a:bodyPr wrap="square" lIns="0" tIns="0" rIns="0" bIns="0" rtlCol="0" anchor="ctr"/>
          <a:lstStyle/>
          <a:p>
            <a:pPr algn="ctr" indent="0" marL="0">
              <a:buNone/>
            </a:pPr>
            <a:r>
              <a:rPr lang="en-US" sz="1050" i="1" dirty="0">
                <a:solidFill>
                  <a:srgbClr val="666666"/>
                </a:solidFill>
                <a:latin typeface="Quicksand" pitchFamily="34" charset="0"/>
                <a:ea typeface="Quicksand" pitchFamily="34" charset="-122"/>
                <a:cs typeface="Quicksand" pitchFamily="34" charset="-120"/>
              </a:rPr>
              <a:t>leaf</a:t>
            </a:r>
            <a:endParaRPr lang="en-US" sz="1050" dirty="0"/>
          </a:p>
        </p:txBody>
      </p:sp>
      <p:sp>
        <p:nvSpPr>
          <p:cNvPr id="23" name="Text 20"/>
          <p:cNvSpPr/>
          <p:nvPr/>
        </p:nvSpPr>
        <p:spPr>
          <a:xfrm>
            <a:off x="5170932" y="413766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20</a:t>
            </a:r>
            <a:endParaRPr lang="en-US" sz="1500" dirty="0"/>
          </a:p>
        </p:txBody>
      </p:sp>
      <p:sp>
        <p:nvSpPr>
          <p:cNvPr id="24" name="Text 21"/>
          <p:cNvSpPr/>
          <p:nvPr/>
        </p:nvSpPr>
        <p:spPr>
          <a:xfrm>
            <a:off x="4562856" y="505206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15</a:t>
            </a:r>
            <a:endParaRPr lang="en-US" sz="1500" dirty="0"/>
          </a:p>
        </p:txBody>
      </p:sp>
      <p:sp>
        <p:nvSpPr>
          <p:cNvPr id="25" name="Text 22"/>
          <p:cNvSpPr txBox="1"/>
          <p:nvPr/>
        </p:nvSpPr>
        <p:spPr>
          <a:xfrm>
            <a:off x="3991356" y="5490972"/>
            <a:ext cx="1828800" cy="256032"/>
          </a:xfrm>
          <a:prstGeom prst="rect">
            <a:avLst/>
          </a:prstGeom>
          <a:noFill/>
          <a:ln/>
        </p:spPr>
        <p:txBody>
          <a:bodyPr wrap="square" lIns="0" tIns="0" rIns="0" bIns="0" rtlCol="0" anchor="ctr"/>
          <a:lstStyle/>
          <a:p>
            <a:pPr algn="ctr" indent="0" marL="0">
              <a:buNone/>
            </a:pPr>
            <a:r>
              <a:rPr lang="en-US" sz="1050" i="1" dirty="0">
                <a:solidFill>
                  <a:srgbClr val="666666"/>
                </a:solidFill>
                <a:latin typeface="Quicksand" pitchFamily="34" charset="0"/>
                <a:ea typeface="Quicksand" pitchFamily="34" charset="-122"/>
                <a:cs typeface="Quicksand" pitchFamily="34" charset="-120"/>
              </a:rPr>
              <a:t>leaf</a:t>
            </a:r>
            <a:endParaRPr lang="en-US" sz="1050" dirty="0"/>
          </a:p>
        </p:txBody>
      </p:sp>
      <p:sp>
        <p:nvSpPr>
          <p:cNvPr id="26" name="Shape 23"/>
          <p:cNvSpPr/>
          <p:nvPr/>
        </p:nvSpPr>
        <p:spPr>
          <a:xfrm>
            <a:off x="6766560" y="2148840"/>
            <a:ext cx="4754880" cy="868680"/>
          </a:xfrm>
          <a:prstGeom prst="rect">
            <a:avLst/>
          </a:prstGeom>
          <a:solidFill>
            <a:srgbClr val="F6F5FC"/>
          </a:solidFill>
          <a:ln w="12700">
            <a:solidFill>
              <a:srgbClr val="F6F5FC"/>
            </a:solidFill>
            <a:prstDash val="solid"/>
          </a:ln>
        </p:spPr>
      </p:sp>
      <p:sp>
        <p:nvSpPr>
          <p:cNvPr id="27" name="Text 24"/>
          <p:cNvSpPr/>
          <p:nvPr/>
        </p:nvSpPr>
        <p:spPr>
          <a:xfrm>
            <a:off x="6903720" y="22860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28" name="Text 25"/>
          <p:cNvSpPr txBox="1"/>
          <p:nvPr/>
        </p:nvSpPr>
        <p:spPr>
          <a:xfrm>
            <a:off x="7424928" y="2258568"/>
            <a:ext cx="3977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Root</a:t>
            </a:r>
            <a:endParaRPr lang="en-US" sz="1500" dirty="0"/>
          </a:p>
        </p:txBody>
      </p:sp>
      <p:sp>
        <p:nvSpPr>
          <p:cNvPr id="29" name="Text 26"/>
          <p:cNvSpPr txBox="1"/>
          <p:nvPr/>
        </p:nvSpPr>
        <p:spPr>
          <a:xfrm>
            <a:off x="7424928" y="2651760"/>
            <a:ext cx="3977640" cy="3017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The top node. RootPointer stores its index.</a:t>
            </a:r>
            <a:endParaRPr lang="en-US" sz="1250" dirty="0"/>
          </a:p>
        </p:txBody>
      </p:sp>
      <p:sp>
        <p:nvSpPr>
          <p:cNvPr id="30" name="Shape 27"/>
          <p:cNvSpPr/>
          <p:nvPr/>
        </p:nvSpPr>
        <p:spPr>
          <a:xfrm>
            <a:off x="6766560" y="3108960"/>
            <a:ext cx="4754880" cy="868680"/>
          </a:xfrm>
          <a:prstGeom prst="rect">
            <a:avLst/>
          </a:prstGeom>
          <a:solidFill>
            <a:srgbClr val="F6F5FC"/>
          </a:solidFill>
          <a:ln w="12700">
            <a:solidFill>
              <a:srgbClr val="F6F5FC"/>
            </a:solidFill>
            <a:prstDash val="solid"/>
          </a:ln>
        </p:spPr>
      </p:sp>
      <p:sp>
        <p:nvSpPr>
          <p:cNvPr id="31" name="Text 28"/>
          <p:cNvSpPr/>
          <p:nvPr/>
        </p:nvSpPr>
        <p:spPr>
          <a:xfrm>
            <a:off x="6903720" y="32461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32" name="Text 29"/>
          <p:cNvSpPr txBox="1"/>
          <p:nvPr/>
        </p:nvSpPr>
        <p:spPr>
          <a:xfrm>
            <a:off x="7424928" y="3218688"/>
            <a:ext cx="3977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Parent and child</a:t>
            </a:r>
            <a:endParaRPr lang="en-US" sz="1500" dirty="0"/>
          </a:p>
        </p:txBody>
      </p:sp>
      <p:sp>
        <p:nvSpPr>
          <p:cNvPr id="33" name="Text 30"/>
          <p:cNvSpPr txBox="1"/>
          <p:nvPr/>
        </p:nvSpPr>
        <p:spPr>
          <a:xfrm>
            <a:off x="7424928" y="3611880"/>
            <a:ext cx="3977640" cy="3017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 node points to at most two children: left and right.</a:t>
            </a:r>
            <a:endParaRPr lang="en-US" sz="1250" dirty="0"/>
          </a:p>
        </p:txBody>
      </p:sp>
      <p:sp>
        <p:nvSpPr>
          <p:cNvPr id="34" name="Shape 31"/>
          <p:cNvSpPr/>
          <p:nvPr/>
        </p:nvSpPr>
        <p:spPr>
          <a:xfrm>
            <a:off x="6766560" y="4069080"/>
            <a:ext cx="4754880" cy="868680"/>
          </a:xfrm>
          <a:prstGeom prst="rect">
            <a:avLst/>
          </a:prstGeom>
          <a:solidFill>
            <a:srgbClr val="F6F5FC"/>
          </a:solidFill>
          <a:ln w="12700">
            <a:solidFill>
              <a:srgbClr val="F6F5FC"/>
            </a:solidFill>
            <a:prstDash val="solid"/>
          </a:ln>
        </p:spPr>
      </p:sp>
      <p:sp>
        <p:nvSpPr>
          <p:cNvPr id="35" name="Text 32"/>
          <p:cNvSpPr/>
          <p:nvPr/>
        </p:nvSpPr>
        <p:spPr>
          <a:xfrm>
            <a:off x="6903720" y="42062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36" name="Text 33"/>
          <p:cNvSpPr txBox="1"/>
          <p:nvPr/>
        </p:nvSpPr>
        <p:spPr>
          <a:xfrm>
            <a:off x="7424928" y="4178808"/>
            <a:ext cx="3977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Leaf</a:t>
            </a:r>
            <a:endParaRPr lang="en-US" sz="1500" dirty="0"/>
          </a:p>
        </p:txBody>
      </p:sp>
      <p:sp>
        <p:nvSpPr>
          <p:cNvPr id="37" name="Text 34"/>
          <p:cNvSpPr txBox="1"/>
          <p:nvPr/>
        </p:nvSpPr>
        <p:spPr>
          <a:xfrm>
            <a:off x="7424928" y="4572000"/>
            <a:ext cx="3977640" cy="3017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 node with no children - both pointers are -1.</a:t>
            </a:r>
            <a:endParaRPr lang="en-US" sz="1250" dirty="0"/>
          </a:p>
        </p:txBody>
      </p:sp>
      <p:sp>
        <p:nvSpPr>
          <p:cNvPr id="38" name="Shape 35"/>
          <p:cNvSpPr/>
          <p:nvPr/>
        </p:nvSpPr>
        <p:spPr>
          <a:xfrm>
            <a:off x="6766560" y="5029200"/>
            <a:ext cx="4754880" cy="868680"/>
          </a:xfrm>
          <a:prstGeom prst="rect">
            <a:avLst/>
          </a:prstGeom>
          <a:solidFill>
            <a:srgbClr val="F6F5FC"/>
          </a:solidFill>
          <a:ln w="12700">
            <a:solidFill>
              <a:srgbClr val="F6F5FC"/>
            </a:solidFill>
            <a:prstDash val="solid"/>
          </a:ln>
        </p:spPr>
      </p:sp>
      <p:sp>
        <p:nvSpPr>
          <p:cNvPr id="39" name="Text 36"/>
          <p:cNvSpPr/>
          <p:nvPr/>
        </p:nvSpPr>
        <p:spPr>
          <a:xfrm>
            <a:off x="6903720" y="516636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40" name="Text 37"/>
          <p:cNvSpPr txBox="1"/>
          <p:nvPr/>
        </p:nvSpPr>
        <p:spPr>
          <a:xfrm>
            <a:off x="7424928" y="5138928"/>
            <a:ext cx="3977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Subtree</a:t>
            </a:r>
            <a:endParaRPr lang="en-US" sz="1500" dirty="0"/>
          </a:p>
        </p:txBody>
      </p:sp>
      <p:sp>
        <p:nvSpPr>
          <p:cNvPr id="41" name="Text 38"/>
          <p:cNvSpPr txBox="1"/>
          <p:nvPr/>
        </p:nvSpPr>
        <p:spPr>
          <a:xfrm>
            <a:off x="7424928" y="5532120"/>
            <a:ext cx="3977640" cy="3017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Any node plus everything below it is a tree too.</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Building an ordered binary tree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5</a:t>
            </a:r>
            <a:endParaRPr lang="en-US" sz="1350" dirty="0"/>
          </a:p>
        </p:txBody>
      </p:sp>
      <p:sp>
        <p:nvSpPr>
          <p:cNvPr id="7" name="Text 4"/>
          <p:cNvSpPr txBox="1"/>
          <p:nvPr/>
        </p:nvSpPr>
        <p:spPr>
          <a:xfrm>
            <a:off x="877824" y="1234440"/>
            <a:ext cx="10332720" cy="640080"/>
          </a:xfrm>
          <a:prstGeom prst="rect">
            <a:avLst/>
          </a:prstGeom>
          <a:noFill/>
          <a:ln/>
        </p:spPr>
        <p:txBody>
          <a:bodyPr wrap="square" lIns="0" tIns="0" rIns="0" bIns="0" rtlCol="0" anchor="t"/>
          <a:lstStyle/>
          <a:p>
            <a:pPr indent="0" marL="0">
              <a:buNone/>
            </a:pPr>
            <a:r>
              <a:rPr lang="en-US" sz="1600" b="1" dirty="0">
                <a:solidFill>
                  <a:srgbClr val="202124"/>
                </a:solidFill>
                <a:latin typeface="Quicksand" pitchFamily="34" charset="0"/>
                <a:ea typeface="Quicksand" pitchFamily="34" charset="-122"/>
                <a:cs typeface="Quicksand" pitchFamily="34" charset="-120"/>
              </a:rPr>
              <a:t>Rule: start at the root. Smaller - go left. Greater than or equal - go right. Repeat until you reach an empty spot.</a:t>
            </a:r>
            <a:endParaRPr lang="en-US" sz="1600" dirty="0"/>
          </a:p>
        </p:txBody>
      </p:sp>
      <p:sp>
        <p:nvSpPr>
          <p:cNvPr id="8" name="Text 5"/>
          <p:cNvSpPr txBox="1"/>
          <p:nvPr/>
        </p:nvSpPr>
        <p:spPr>
          <a:xfrm>
            <a:off x="877824" y="2057400"/>
            <a:ext cx="5486400" cy="365760"/>
          </a:xfrm>
          <a:prstGeom prst="rect">
            <a:avLst/>
          </a:prstGeom>
          <a:noFill/>
          <a:ln/>
        </p:spPr>
        <p:txBody>
          <a:bodyPr wrap="square" lIns="0" tIns="0" rIns="0" bIns="0" rtlCol="0" anchor="t"/>
          <a:lstStyle/>
          <a:p>
            <a:pPr indent="0" marL="0">
              <a:spcAft>
                <a:spcPts val="600"/>
              </a:spcAft>
              <a:buNone/>
            </a:pPr>
            <a:r>
              <a:rPr lang="en-US" sz="1600" b="1" dirty="0">
                <a:solidFill>
                  <a:srgbClr val="494985"/>
                </a:solidFill>
                <a:latin typeface="Quicksand" pitchFamily="34" charset="0"/>
                <a:ea typeface="Quicksand" pitchFamily="34" charset="-122"/>
                <a:cs typeface="Quicksand" pitchFamily="34" charset="-120"/>
              </a:rPr>
              <a:t>Insert in this order: 10, 11, 5, 1, 20, 7, 15</a:t>
            </a:r>
            <a:endParaRPr lang="en-US" sz="1600" dirty="0"/>
          </a:p>
        </p:txBody>
      </p:sp>
      <p:sp>
        <p:nvSpPr>
          <p:cNvPr id="9" name="Shape 6"/>
          <p:cNvSpPr/>
          <p:nvPr/>
        </p:nvSpPr>
        <p:spPr>
          <a:xfrm flipH="1">
            <a:off x="2125980" y="3040380"/>
            <a:ext cx="1303020" cy="502920"/>
          </a:xfrm>
          <a:prstGeom prst="line">
            <a:avLst/>
          </a:prstGeom>
          <a:noFill/>
          <a:ln w="19050">
            <a:solidFill>
              <a:srgbClr val="9A9AB5"/>
            </a:solidFill>
            <a:prstDash val="solid"/>
          </a:ln>
        </p:spPr>
      </p:sp>
      <p:sp>
        <p:nvSpPr>
          <p:cNvPr id="10" name="Shape 7"/>
          <p:cNvSpPr/>
          <p:nvPr/>
        </p:nvSpPr>
        <p:spPr>
          <a:xfrm>
            <a:off x="3429000" y="3040380"/>
            <a:ext cx="1303020" cy="502920"/>
          </a:xfrm>
          <a:prstGeom prst="line">
            <a:avLst/>
          </a:prstGeom>
          <a:noFill/>
          <a:ln w="38100">
            <a:solidFill>
              <a:srgbClr val="494985"/>
            </a:solidFill>
            <a:prstDash val="solid"/>
          </a:ln>
        </p:spPr>
      </p:sp>
      <p:sp>
        <p:nvSpPr>
          <p:cNvPr id="11" name="Shape 8"/>
          <p:cNvSpPr/>
          <p:nvPr/>
        </p:nvSpPr>
        <p:spPr>
          <a:xfrm flipH="1">
            <a:off x="1474470" y="3954780"/>
            <a:ext cx="651510" cy="502920"/>
          </a:xfrm>
          <a:prstGeom prst="line">
            <a:avLst/>
          </a:prstGeom>
          <a:noFill/>
          <a:ln w="19050">
            <a:solidFill>
              <a:srgbClr val="9A9AB5"/>
            </a:solidFill>
            <a:prstDash val="solid"/>
          </a:ln>
        </p:spPr>
      </p:sp>
      <p:sp>
        <p:nvSpPr>
          <p:cNvPr id="12" name="Shape 9"/>
          <p:cNvSpPr/>
          <p:nvPr/>
        </p:nvSpPr>
        <p:spPr>
          <a:xfrm>
            <a:off x="2125980" y="3954780"/>
            <a:ext cx="651510" cy="502920"/>
          </a:xfrm>
          <a:prstGeom prst="line">
            <a:avLst/>
          </a:prstGeom>
          <a:noFill/>
          <a:ln w="19050">
            <a:solidFill>
              <a:srgbClr val="9A9AB5"/>
            </a:solidFill>
            <a:prstDash val="solid"/>
          </a:ln>
        </p:spPr>
      </p:sp>
      <p:sp>
        <p:nvSpPr>
          <p:cNvPr id="13" name="Shape 10"/>
          <p:cNvSpPr/>
          <p:nvPr/>
        </p:nvSpPr>
        <p:spPr>
          <a:xfrm>
            <a:off x="4732020" y="3954780"/>
            <a:ext cx="781812" cy="502920"/>
          </a:xfrm>
          <a:prstGeom prst="line">
            <a:avLst/>
          </a:prstGeom>
          <a:noFill/>
          <a:ln w="38100">
            <a:solidFill>
              <a:srgbClr val="494985"/>
            </a:solidFill>
            <a:prstDash val="solid"/>
          </a:ln>
        </p:spPr>
      </p:sp>
      <p:sp>
        <p:nvSpPr>
          <p:cNvPr id="14" name="Shape 11"/>
          <p:cNvSpPr/>
          <p:nvPr/>
        </p:nvSpPr>
        <p:spPr>
          <a:xfrm flipH="1">
            <a:off x="4905756" y="4869180"/>
            <a:ext cx="608076" cy="502920"/>
          </a:xfrm>
          <a:prstGeom prst="line">
            <a:avLst/>
          </a:prstGeom>
          <a:noFill/>
          <a:ln w="38100">
            <a:solidFill>
              <a:srgbClr val="494985"/>
            </a:solidFill>
            <a:prstDash val="solid"/>
          </a:ln>
        </p:spPr>
      </p:sp>
      <p:sp>
        <p:nvSpPr>
          <p:cNvPr id="15" name="Text 12"/>
          <p:cNvSpPr/>
          <p:nvPr/>
        </p:nvSpPr>
        <p:spPr>
          <a:xfrm>
            <a:off x="3086100" y="262890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10</a:t>
            </a:r>
            <a:endParaRPr lang="en-US" sz="1500" dirty="0"/>
          </a:p>
        </p:txBody>
      </p:sp>
      <p:sp>
        <p:nvSpPr>
          <p:cNvPr id="16" name="Text 13"/>
          <p:cNvSpPr/>
          <p:nvPr/>
        </p:nvSpPr>
        <p:spPr>
          <a:xfrm>
            <a:off x="1783080" y="354330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5</a:t>
            </a:r>
            <a:endParaRPr lang="en-US" sz="1500" dirty="0"/>
          </a:p>
        </p:txBody>
      </p:sp>
      <p:sp>
        <p:nvSpPr>
          <p:cNvPr id="17" name="Text 14"/>
          <p:cNvSpPr/>
          <p:nvPr/>
        </p:nvSpPr>
        <p:spPr>
          <a:xfrm>
            <a:off x="4389120" y="354330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11</a:t>
            </a:r>
            <a:endParaRPr lang="en-US" sz="1500" dirty="0"/>
          </a:p>
        </p:txBody>
      </p:sp>
      <p:sp>
        <p:nvSpPr>
          <p:cNvPr id="18" name="Text 15"/>
          <p:cNvSpPr/>
          <p:nvPr/>
        </p:nvSpPr>
        <p:spPr>
          <a:xfrm>
            <a:off x="1131570" y="445770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1</a:t>
            </a:r>
            <a:endParaRPr lang="en-US" sz="1500" dirty="0"/>
          </a:p>
        </p:txBody>
      </p:sp>
      <p:sp>
        <p:nvSpPr>
          <p:cNvPr id="19" name="Text 16"/>
          <p:cNvSpPr/>
          <p:nvPr/>
        </p:nvSpPr>
        <p:spPr>
          <a:xfrm>
            <a:off x="2434590" y="445770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7</a:t>
            </a:r>
            <a:endParaRPr lang="en-US" sz="1500" dirty="0"/>
          </a:p>
        </p:txBody>
      </p:sp>
      <p:sp>
        <p:nvSpPr>
          <p:cNvPr id="20" name="Text 17"/>
          <p:cNvSpPr/>
          <p:nvPr/>
        </p:nvSpPr>
        <p:spPr>
          <a:xfrm>
            <a:off x="5170932" y="4457700"/>
            <a:ext cx="68580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20</a:t>
            </a:r>
            <a:endParaRPr lang="en-US" sz="1500" dirty="0"/>
          </a:p>
        </p:txBody>
      </p:sp>
      <p:sp>
        <p:nvSpPr>
          <p:cNvPr id="21" name="Text 18"/>
          <p:cNvSpPr/>
          <p:nvPr/>
        </p:nvSpPr>
        <p:spPr>
          <a:xfrm>
            <a:off x="4562856" y="5372100"/>
            <a:ext cx="685800" cy="411480"/>
          </a:xfrm>
          <a:prstGeom prst="roundRect">
            <a:avLst>
              <a:gd name="adj" fmla="val 17778"/>
            </a:avLst>
          </a:prstGeom>
          <a:solidFill>
            <a:srgbClr val="FFD84D"/>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15</a:t>
            </a:r>
            <a:endParaRPr lang="en-US" sz="1500" dirty="0"/>
          </a:p>
        </p:txBody>
      </p:sp>
      <p:sp>
        <p:nvSpPr>
          <p:cNvPr id="22" name="Shape 19"/>
          <p:cNvSpPr/>
          <p:nvPr/>
        </p:nvSpPr>
        <p:spPr>
          <a:xfrm>
            <a:off x="6766560" y="2103120"/>
            <a:ext cx="4754880" cy="914400"/>
          </a:xfrm>
          <a:prstGeom prst="rect">
            <a:avLst/>
          </a:prstGeom>
          <a:solidFill>
            <a:srgbClr val="F6F5FC"/>
          </a:solidFill>
          <a:ln w="12700">
            <a:solidFill>
              <a:srgbClr val="F6F5FC"/>
            </a:solidFill>
            <a:prstDash val="solid"/>
          </a:ln>
        </p:spPr>
      </p:sp>
      <p:sp>
        <p:nvSpPr>
          <p:cNvPr id="23" name="Text 20"/>
          <p:cNvSpPr/>
          <p:nvPr/>
        </p:nvSpPr>
        <p:spPr>
          <a:xfrm>
            <a:off x="6903720" y="22402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24" name="Text 21"/>
          <p:cNvSpPr txBox="1"/>
          <p:nvPr/>
        </p:nvSpPr>
        <p:spPr>
          <a:xfrm>
            <a:off x="7424928" y="2212848"/>
            <a:ext cx="3977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15 vs 10</a:t>
            </a:r>
            <a:endParaRPr lang="en-US" sz="1500" dirty="0"/>
          </a:p>
        </p:txBody>
      </p:sp>
      <p:sp>
        <p:nvSpPr>
          <p:cNvPr id="25" name="Text 22"/>
          <p:cNvSpPr txBox="1"/>
          <p:nvPr/>
        </p:nvSpPr>
        <p:spPr>
          <a:xfrm>
            <a:off x="7424928" y="2606040"/>
            <a:ext cx="3977640" cy="3474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15 is not smaller, so go right to 11.</a:t>
            </a:r>
            <a:endParaRPr lang="en-US" sz="1250" dirty="0"/>
          </a:p>
        </p:txBody>
      </p:sp>
      <p:sp>
        <p:nvSpPr>
          <p:cNvPr id="26" name="Shape 23"/>
          <p:cNvSpPr/>
          <p:nvPr/>
        </p:nvSpPr>
        <p:spPr>
          <a:xfrm>
            <a:off x="6766560" y="3154680"/>
            <a:ext cx="4754880" cy="914400"/>
          </a:xfrm>
          <a:prstGeom prst="rect">
            <a:avLst/>
          </a:prstGeom>
          <a:solidFill>
            <a:srgbClr val="F6F5FC"/>
          </a:solidFill>
          <a:ln w="12700">
            <a:solidFill>
              <a:srgbClr val="F6F5FC"/>
            </a:solidFill>
            <a:prstDash val="solid"/>
          </a:ln>
        </p:spPr>
      </p:sp>
      <p:sp>
        <p:nvSpPr>
          <p:cNvPr id="27" name="Text 24"/>
          <p:cNvSpPr/>
          <p:nvPr/>
        </p:nvSpPr>
        <p:spPr>
          <a:xfrm>
            <a:off x="6903720" y="329184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28" name="Text 25"/>
          <p:cNvSpPr txBox="1"/>
          <p:nvPr/>
        </p:nvSpPr>
        <p:spPr>
          <a:xfrm>
            <a:off x="7424928" y="3264408"/>
            <a:ext cx="3977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15 vs 11</a:t>
            </a:r>
            <a:endParaRPr lang="en-US" sz="1500" dirty="0"/>
          </a:p>
        </p:txBody>
      </p:sp>
      <p:sp>
        <p:nvSpPr>
          <p:cNvPr id="29" name="Text 26"/>
          <p:cNvSpPr txBox="1"/>
          <p:nvPr/>
        </p:nvSpPr>
        <p:spPr>
          <a:xfrm>
            <a:off x="7424928" y="3657600"/>
            <a:ext cx="3977640" cy="3474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Not smaller, so go right to 20.</a:t>
            </a:r>
            <a:endParaRPr lang="en-US" sz="1250" dirty="0"/>
          </a:p>
        </p:txBody>
      </p:sp>
      <p:sp>
        <p:nvSpPr>
          <p:cNvPr id="30" name="Shape 27"/>
          <p:cNvSpPr/>
          <p:nvPr/>
        </p:nvSpPr>
        <p:spPr>
          <a:xfrm>
            <a:off x="6766560" y="4206240"/>
            <a:ext cx="4754880" cy="914400"/>
          </a:xfrm>
          <a:prstGeom prst="rect">
            <a:avLst/>
          </a:prstGeom>
          <a:solidFill>
            <a:srgbClr val="F6F5FC"/>
          </a:solidFill>
          <a:ln w="12700">
            <a:solidFill>
              <a:srgbClr val="F6F5FC"/>
            </a:solidFill>
            <a:prstDash val="solid"/>
          </a:ln>
        </p:spPr>
      </p:sp>
      <p:sp>
        <p:nvSpPr>
          <p:cNvPr id="31" name="Text 28"/>
          <p:cNvSpPr/>
          <p:nvPr/>
        </p:nvSpPr>
        <p:spPr>
          <a:xfrm>
            <a:off x="6903720" y="434340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32" name="Text 29"/>
          <p:cNvSpPr txBox="1"/>
          <p:nvPr/>
        </p:nvSpPr>
        <p:spPr>
          <a:xfrm>
            <a:off x="7424928" y="4315968"/>
            <a:ext cx="3977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15 vs 20</a:t>
            </a:r>
            <a:endParaRPr lang="en-US" sz="1500" dirty="0"/>
          </a:p>
        </p:txBody>
      </p:sp>
      <p:sp>
        <p:nvSpPr>
          <p:cNvPr id="33" name="Text 30"/>
          <p:cNvSpPr txBox="1"/>
          <p:nvPr/>
        </p:nvSpPr>
        <p:spPr>
          <a:xfrm>
            <a:off x="7424928" y="4709160"/>
            <a:ext cx="3977640" cy="34747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Smaller, so go left - it is empty, so 15 goes here.</a:t>
            </a:r>
            <a:endParaRPr lang="en-US" sz="1250" dirty="0"/>
          </a:p>
        </p:txBody>
      </p:sp>
      <p:sp>
        <p:nvSpPr>
          <p:cNvPr id="34" name="Text 31"/>
          <p:cNvSpPr txBox="1"/>
          <p:nvPr/>
        </p:nvSpPr>
        <p:spPr>
          <a:xfrm>
            <a:off x="6766560" y="5349240"/>
            <a:ext cx="4754880" cy="54864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Nothing moves. A new value always becomes a new leaf.</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Think, pair, share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1</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6</a:t>
            </a:r>
            <a:endParaRPr lang="en-US" sz="1350" dirty="0"/>
          </a:p>
        </p:txBody>
      </p:sp>
      <p:sp>
        <p:nvSpPr>
          <p:cNvPr id="7" name="Text 4"/>
          <p:cNvSpPr txBox="1"/>
          <p:nvPr/>
        </p:nvSpPr>
        <p:spPr>
          <a:xfrm>
            <a:off x="877824" y="1399032"/>
            <a:ext cx="10003536" cy="731520"/>
          </a:xfrm>
          <a:prstGeom prst="rect">
            <a:avLst/>
          </a:prstGeom>
          <a:noFill/>
          <a:ln/>
        </p:spPr>
        <p:txBody>
          <a:bodyPr wrap="square" lIns="0" tIns="0" rIns="0" bIns="0" rtlCol="0" anchor="t"/>
          <a:lstStyle/>
          <a:p>
            <a:pPr indent="0" marL="0">
              <a:spcAft>
                <a:spcPts val="600"/>
              </a:spcAft>
              <a:buNone/>
            </a:pPr>
            <a:r>
              <a:rPr lang="en-US" sz="1800" dirty="0">
                <a:solidFill>
                  <a:srgbClr val="202124"/>
                </a:solidFill>
                <a:latin typeface="Quicksand" pitchFamily="34" charset="0"/>
                <a:ea typeface="Quicksand" pitchFamily="34" charset="-122"/>
                <a:cs typeface="Quicksand" pitchFamily="34" charset="-120"/>
              </a:rPr>
              <a:t>Insert the SAME seven values in sorted order: 1, 5, 7, 10, 11, 15, 20.</a:t>
            </a:r>
            <a:endParaRPr lang="en-US" sz="1800" dirty="0"/>
          </a:p>
        </p:txBody>
      </p:sp>
      <p:sp>
        <p:nvSpPr>
          <p:cNvPr id="8" name="Text 5"/>
          <p:cNvSpPr txBox="1"/>
          <p:nvPr/>
        </p:nvSpPr>
        <p:spPr>
          <a:xfrm>
            <a:off x="877824" y="2377440"/>
            <a:ext cx="10003536" cy="1463040"/>
          </a:xfrm>
          <a:prstGeom prst="rect">
            <a:avLst/>
          </a:prstGeom>
          <a:noFill/>
          <a:ln/>
        </p:spPr>
        <p:txBody>
          <a:bodyPr wrap="square" lIns="0" tIns="0" rIns="0" bIns="0" rtlCol="0" anchor="t"/>
          <a:lstStyle/>
          <a:p>
            <a:pPr indent="0" marL="0">
              <a:spcAft>
                <a:spcPts val="600"/>
              </a:spcAft>
              <a:buNone/>
            </a:pPr>
            <a:r>
              <a:rPr lang="en-US" sz="1800" dirty="0">
                <a:solidFill>
                  <a:srgbClr val="202124"/>
                </a:solidFill>
                <a:latin typeface="Quicksand" pitchFamily="34" charset="0"/>
                <a:ea typeface="Quicksand" pitchFamily="34" charset="-122"/>
                <a:cs typeface="Quicksand" pitchFamily="34" charset="-120"/>
              </a:rPr>
              <a:t>With a partner: sketch the tree you get. How many comparisons does it take to find 20 in this tree, compared with the tree on the last slide? What does this tell you about the order data is inserted in?</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Storing a tree in a 2D array</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7</a:t>
            </a:r>
            <a:endParaRPr lang="en-US" sz="1350" dirty="0"/>
          </a:p>
        </p:txBody>
      </p:sp>
      <p:sp>
        <p:nvSpPr>
          <p:cNvPr id="7" name="Shape 4"/>
          <p:cNvSpPr/>
          <p:nvPr/>
        </p:nvSpPr>
        <p:spPr>
          <a:xfrm>
            <a:off x="704088" y="1252728"/>
            <a:ext cx="5486400" cy="356616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841248" y="1344168"/>
            <a:ext cx="5212080" cy="3383280"/>
          </a:xfrm>
          <a:prstGeom prst="rect">
            <a:avLst/>
          </a:prstGeom>
          <a:noFill/>
          <a:ln/>
        </p:spPr>
        <p:txBody>
          <a:bodyPr wrap="square" lIns="0" tIns="0" rIns="0" bIns="0" rtlCol="0" anchor="t"/>
          <a:lstStyle/>
          <a:p>
            <a:pPr indent="0" marL="0">
              <a:lnSpc>
                <a:spcPct val="105000"/>
              </a:lnSpc>
              <a:buNone/>
            </a:pPr>
            <a:r>
              <a:rPr lang="en-US" sz="1600" dirty="0">
                <a:solidFill>
                  <a:srgbClr val="1D1D1D"/>
                </a:solidFill>
                <a:latin typeface="Roboto Mono" pitchFamily="34" charset="0"/>
                <a:ea typeface="Roboto Mono" pitchFamily="34" charset="-122"/>
                <a:cs typeface="Roboto Mono" pitchFamily="34" charset="-120"/>
              </a:rPr>
              <a:t>Dim TreeArray(49, 2) As Integer</a:t>
            </a:r>
            <a:endParaRPr lang="en-US" sz="1600" dirty="0"/>
          </a:p>
          <a:p>
            <a:pPr indent="0" marL="0">
              <a:lnSpc>
                <a:spcPct val="105000"/>
              </a:lnSpc>
              <a:buNone/>
            </a:pPr>
            <a:r>
              <a:rPr lang="en-US" sz="1600" dirty="0">
                <a:solidFill>
                  <a:srgbClr val="1D1D1D"/>
                </a:solidFill>
                <a:latin typeface="Roboto Mono" pitchFamily="34" charset="0"/>
                <a:ea typeface="Roboto Mono" pitchFamily="34" charset="-122"/>
                <a:cs typeface="Roboto Mono" pitchFamily="34" charset="-120"/>
              </a:rPr>
              <a:t>Dim RootPointer As Integer = -1</a:t>
            </a:r>
            <a:endParaRPr lang="en-US" sz="1600" dirty="0"/>
          </a:p>
          <a:p>
            <a:pPr indent="0" marL="0">
              <a:lnSpc>
                <a:spcPct val="105000"/>
              </a:lnSpc>
              <a:buNone/>
            </a:pPr>
            <a:r>
              <a:rPr lang="en-US" sz="1600" dirty="0">
                <a:solidFill>
                  <a:srgbClr val="1D1D1D"/>
                </a:solidFill>
                <a:latin typeface="Roboto Mono" pitchFamily="34" charset="0"/>
                <a:ea typeface="Roboto Mono" pitchFamily="34" charset="-122"/>
                <a:cs typeface="Roboto Mono" pitchFamily="34" charset="-120"/>
              </a:rPr>
              <a:t>Dim FreeNode As Integer = 0</a:t>
            </a:r>
            <a:endParaRPr lang="en-US" sz="1600" dirty="0"/>
          </a:p>
          <a:p>
            <a:pPr indent="0" marL="0">
              <a:lnSpc>
                <a:spcPct val="105000"/>
              </a:lnSpc>
              <a:buNone/>
            </a:pPr>
            <a:r>
              <a:rPr lang="en-US" sz="1600" dirty="0">
                <a:solidFill>
                  <a:srgbClr val="1D1D1D"/>
                </a:solidFill>
                <a:latin typeface="Roboto Mono" pitchFamily="34" charset="0"/>
                <a:ea typeface="Roboto Mono" pitchFamily="34" charset="-122"/>
                <a:cs typeface="Roboto Mono" pitchFamily="34" charset="-120"/>
              </a:rPr>
              <a:t> </a:t>
            </a:r>
            <a:endParaRPr lang="en-US" sz="1600" dirty="0"/>
          </a:p>
          <a:p>
            <a:pPr indent="0" marL="0">
              <a:lnSpc>
                <a:spcPct val="105000"/>
              </a:lnSpc>
              <a:buNone/>
            </a:pPr>
            <a:r>
              <a:rPr lang="en-US" sz="1600" dirty="0">
                <a:solidFill>
                  <a:srgbClr val="666666"/>
                </a:solidFill>
                <a:latin typeface="Roboto Mono" pitchFamily="34" charset="0"/>
                <a:ea typeface="Roboto Mono" pitchFamily="34" charset="-122"/>
                <a:cs typeface="Roboto Mono" pitchFamily="34" charset="-120"/>
              </a:rPr>
              <a:t>' In Main: every value starts as -1</a:t>
            </a:r>
            <a:endParaRPr lang="en-US" sz="1600" dirty="0"/>
          </a:p>
          <a:p>
            <a:pPr indent="0" marL="0">
              <a:lnSpc>
                <a:spcPct val="105000"/>
              </a:lnSpc>
              <a:buNone/>
            </a:pPr>
            <a:r>
              <a:rPr lang="en-US" sz="1600" dirty="0">
                <a:solidFill>
                  <a:srgbClr val="1D1D1D"/>
                </a:solidFill>
                <a:latin typeface="Roboto Mono" pitchFamily="34" charset="0"/>
                <a:ea typeface="Roboto Mono" pitchFamily="34" charset="-122"/>
                <a:cs typeface="Roboto Mono" pitchFamily="34" charset="-120"/>
              </a:rPr>
              <a:t>For Index As Integer = 0 To 49</a:t>
            </a:r>
            <a:endParaRPr lang="en-US" sz="1600" dirty="0"/>
          </a:p>
          <a:p>
            <a:pPr indent="0" marL="0">
              <a:lnSpc>
                <a:spcPct val="105000"/>
              </a:lnSpc>
              <a:buNone/>
            </a:pPr>
            <a:r>
              <a:rPr lang="en-US" sz="1600" dirty="0">
                <a:solidFill>
                  <a:srgbClr val="1D1D1D"/>
                </a:solidFill>
                <a:latin typeface="Roboto Mono" pitchFamily="34" charset="0"/>
                <a:ea typeface="Roboto Mono" pitchFamily="34" charset="-122"/>
                <a:cs typeface="Roboto Mono" pitchFamily="34" charset="-120"/>
              </a:rPr>
              <a:t>    TreeArray(Index, 0) = -1</a:t>
            </a:r>
            <a:endParaRPr lang="en-US" sz="1600" dirty="0"/>
          </a:p>
          <a:p>
            <a:pPr indent="0" marL="0">
              <a:lnSpc>
                <a:spcPct val="105000"/>
              </a:lnSpc>
              <a:buNone/>
            </a:pPr>
            <a:r>
              <a:rPr lang="en-US" sz="1600" dirty="0">
                <a:solidFill>
                  <a:srgbClr val="1D1D1D"/>
                </a:solidFill>
                <a:latin typeface="Roboto Mono" pitchFamily="34" charset="0"/>
                <a:ea typeface="Roboto Mono" pitchFamily="34" charset="-122"/>
                <a:cs typeface="Roboto Mono" pitchFamily="34" charset="-120"/>
              </a:rPr>
              <a:t>    TreeArray(Index, 1) = -1</a:t>
            </a:r>
            <a:endParaRPr lang="en-US" sz="1600" dirty="0"/>
          </a:p>
          <a:p>
            <a:pPr indent="0" marL="0">
              <a:lnSpc>
                <a:spcPct val="105000"/>
              </a:lnSpc>
              <a:buNone/>
            </a:pPr>
            <a:r>
              <a:rPr lang="en-US" sz="1600" dirty="0">
                <a:solidFill>
                  <a:srgbClr val="1D1D1D"/>
                </a:solidFill>
                <a:latin typeface="Roboto Mono" pitchFamily="34" charset="0"/>
                <a:ea typeface="Roboto Mono" pitchFamily="34" charset="-122"/>
                <a:cs typeface="Roboto Mono" pitchFamily="34" charset="-120"/>
              </a:rPr>
              <a:t>    TreeArray(Index, 2) = -1</a:t>
            </a:r>
            <a:endParaRPr lang="en-US" sz="1600" dirty="0"/>
          </a:p>
          <a:p>
            <a:pPr indent="0" marL="0">
              <a:lnSpc>
                <a:spcPct val="105000"/>
              </a:lnSpc>
              <a:buNone/>
            </a:pPr>
            <a:r>
              <a:rPr lang="en-US" sz="1600" dirty="0">
                <a:solidFill>
                  <a:srgbClr val="1D1D1D"/>
                </a:solidFill>
                <a:latin typeface="Roboto Mono" pitchFamily="34" charset="0"/>
                <a:ea typeface="Roboto Mono" pitchFamily="34" charset="-122"/>
                <a:cs typeface="Roboto Mono" pitchFamily="34" charset="-120"/>
              </a:rPr>
              <a:t>Next</a:t>
            </a:r>
            <a:endParaRPr lang="en-US" sz="1600" dirty="0"/>
          </a:p>
        </p:txBody>
      </p:sp>
      <p:sp>
        <p:nvSpPr>
          <p:cNvPr id="9" name="Shape 6"/>
          <p:cNvSpPr/>
          <p:nvPr/>
        </p:nvSpPr>
        <p:spPr>
          <a:xfrm>
            <a:off x="6492240" y="1252728"/>
            <a:ext cx="5029200" cy="1051560"/>
          </a:xfrm>
          <a:prstGeom prst="rect">
            <a:avLst/>
          </a:prstGeom>
          <a:solidFill>
            <a:srgbClr val="F6F5FC"/>
          </a:solidFill>
          <a:ln w="12700">
            <a:solidFill>
              <a:srgbClr val="F6F5FC"/>
            </a:solidFill>
            <a:prstDash val="solid"/>
          </a:ln>
        </p:spPr>
      </p:sp>
      <p:sp>
        <p:nvSpPr>
          <p:cNvPr id="10" name="Text 7"/>
          <p:cNvSpPr/>
          <p:nvPr/>
        </p:nvSpPr>
        <p:spPr>
          <a:xfrm>
            <a:off x="6629400" y="1389888"/>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8"/>
          <p:cNvSpPr txBox="1"/>
          <p:nvPr/>
        </p:nvSpPr>
        <p:spPr>
          <a:xfrm>
            <a:off x="7150608" y="1362456"/>
            <a:ext cx="42519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Column 0 = left pointer</a:t>
            </a:r>
            <a:endParaRPr lang="en-US" sz="1500" dirty="0"/>
          </a:p>
        </p:txBody>
      </p:sp>
      <p:sp>
        <p:nvSpPr>
          <p:cNvPr id="12" name="Text 9"/>
          <p:cNvSpPr txBox="1"/>
          <p:nvPr/>
        </p:nvSpPr>
        <p:spPr>
          <a:xfrm>
            <a:off x="7150608" y="1755648"/>
            <a:ext cx="4251960" cy="4846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Index of the left child, or -1 if there is none.</a:t>
            </a:r>
            <a:endParaRPr lang="en-US" sz="1250" dirty="0"/>
          </a:p>
        </p:txBody>
      </p:sp>
      <p:sp>
        <p:nvSpPr>
          <p:cNvPr id="13" name="Shape 10"/>
          <p:cNvSpPr/>
          <p:nvPr/>
        </p:nvSpPr>
        <p:spPr>
          <a:xfrm>
            <a:off x="6492240" y="2441448"/>
            <a:ext cx="5029200" cy="1051560"/>
          </a:xfrm>
          <a:prstGeom prst="rect">
            <a:avLst/>
          </a:prstGeom>
          <a:solidFill>
            <a:srgbClr val="F6F5FC"/>
          </a:solidFill>
          <a:ln w="12700">
            <a:solidFill>
              <a:srgbClr val="F6F5FC"/>
            </a:solidFill>
            <a:prstDash val="solid"/>
          </a:ln>
        </p:spPr>
      </p:sp>
      <p:sp>
        <p:nvSpPr>
          <p:cNvPr id="14" name="Text 11"/>
          <p:cNvSpPr/>
          <p:nvPr/>
        </p:nvSpPr>
        <p:spPr>
          <a:xfrm>
            <a:off x="6629400" y="2578608"/>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5" name="Text 12"/>
          <p:cNvSpPr txBox="1"/>
          <p:nvPr/>
        </p:nvSpPr>
        <p:spPr>
          <a:xfrm>
            <a:off x="7150608" y="2551176"/>
            <a:ext cx="42519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Column 1 = data</a:t>
            </a:r>
            <a:endParaRPr lang="en-US" sz="1500" dirty="0"/>
          </a:p>
        </p:txBody>
      </p:sp>
      <p:sp>
        <p:nvSpPr>
          <p:cNvPr id="16" name="Text 13"/>
          <p:cNvSpPr txBox="1"/>
          <p:nvPr/>
        </p:nvSpPr>
        <p:spPr>
          <a:xfrm>
            <a:off x="7150608" y="2944368"/>
            <a:ext cx="4251960" cy="4846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The value stored in the node.</a:t>
            </a:r>
            <a:endParaRPr lang="en-US" sz="1250" dirty="0"/>
          </a:p>
        </p:txBody>
      </p:sp>
      <p:sp>
        <p:nvSpPr>
          <p:cNvPr id="17" name="Shape 14"/>
          <p:cNvSpPr/>
          <p:nvPr/>
        </p:nvSpPr>
        <p:spPr>
          <a:xfrm>
            <a:off x="6492240" y="3630168"/>
            <a:ext cx="5029200" cy="1051560"/>
          </a:xfrm>
          <a:prstGeom prst="rect">
            <a:avLst/>
          </a:prstGeom>
          <a:solidFill>
            <a:srgbClr val="F6F5FC"/>
          </a:solidFill>
          <a:ln w="12700">
            <a:solidFill>
              <a:srgbClr val="F6F5FC"/>
            </a:solidFill>
            <a:prstDash val="solid"/>
          </a:ln>
        </p:spPr>
      </p:sp>
      <p:sp>
        <p:nvSpPr>
          <p:cNvPr id="18" name="Text 15"/>
          <p:cNvSpPr/>
          <p:nvPr/>
        </p:nvSpPr>
        <p:spPr>
          <a:xfrm>
            <a:off x="6629400" y="3767328"/>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9" name="Text 16"/>
          <p:cNvSpPr txBox="1"/>
          <p:nvPr/>
        </p:nvSpPr>
        <p:spPr>
          <a:xfrm>
            <a:off x="7150608" y="3739896"/>
            <a:ext cx="42519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Column 2 = right pointer</a:t>
            </a:r>
            <a:endParaRPr lang="en-US" sz="1500" dirty="0"/>
          </a:p>
        </p:txBody>
      </p:sp>
      <p:sp>
        <p:nvSpPr>
          <p:cNvPr id="20" name="Text 17"/>
          <p:cNvSpPr txBox="1"/>
          <p:nvPr/>
        </p:nvSpPr>
        <p:spPr>
          <a:xfrm>
            <a:off x="7150608" y="4133088"/>
            <a:ext cx="4251960" cy="48463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Index of the right child, or -1 if there is none.</a:t>
            </a:r>
            <a:endParaRPr lang="en-US" sz="1250" dirty="0"/>
          </a:p>
        </p:txBody>
      </p:sp>
      <p:sp>
        <p:nvSpPr>
          <p:cNvPr id="21" name="Text 18"/>
          <p:cNvSpPr txBox="1"/>
          <p:nvPr/>
        </p:nvSpPr>
        <p:spPr>
          <a:xfrm>
            <a:off x="704088" y="5212080"/>
            <a:ext cx="10789920" cy="73152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RootPointer = index of the root (-1 = empty tree). FreeNode = the next unused row. Nodes are never deleted, so FreeNode only goes up.</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From the table to the tree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2</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8</a:t>
            </a:r>
            <a:endParaRPr lang="en-US" sz="1350" dirty="0"/>
          </a:p>
        </p:txBody>
      </p:sp>
      <p:sp>
        <p:nvSpPr>
          <p:cNvPr id="7" name="Text 4"/>
          <p:cNvSpPr txBox="1"/>
          <p:nvPr/>
        </p:nvSpPr>
        <p:spPr>
          <a:xfrm>
            <a:off x="822960" y="1188720"/>
            <a:ext cx="4572000" cy="365760"/>
          </a:xfrm>
          <a:prstGeom prst="rect">
            <a:avLst/>
          </a:prstGeom>
          <a:noFill/>
          <a:ln/>
        </p:spPr>
        <p:txBody>
          <a:bodyPr wrap="square" lIns="0" tIns="0" rIns="0" bIns="0" rtlCol="0" anchor="t"/>
          <a:lstStyle/>
          <a:p>
            <a:pPr indent="0" marL="0">
              <a:spcAft>
                <a:spcPts val="600"/>
              </a:spcAft>
              <a:buNone/>
            </a:pPr>
            <a:r>
              <a:rPr lang="en-US" sz="1600" b="1" dirty="0">
                <a:solidFill>
                  <a:srgbClr val="494985"/>
                </a:solidFill>
                <a:latin typeface="Quicksand" pitchFamily="34" charset="0"/>
                <a:ea typeface="Quicksand" pitchFamily="34" charset="-122"/>
                <a:cs typeface="Quicksand" pitchFamily="34" charset="-120"/>
              </a:rPr>
              <a:t>RootPointer = 0     FreeNode = 7</a:t>
            </a:r>
            <a:endParaRPr lang="en-US" sz="1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822960" y="1691640"/>
          <a:ext cx="4937760" cy="914400"/>
        </p:xfrm>
        <a:graphic>
          <a:graphicData uri="http://schemas.openxmlformats.org/drawingml/2006/table">
            <a:tbl>
              <a:tblPr/>
              <a:tblGrid>
                <a:gridCol w="1097280"/>
                <a:gridCol w="1280160"/>
                <a:gridCol w="1280160"/>
                <a:gridCol w="1280160"/>
              </a:tblGrid>
              <a:tr h="429768">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Index</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Left (0)</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Data (1)</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50" b="1" dirty="0">
                          <a:solidFill>
                            <a:srgbClr val="FFFFFF"/>
                          </a:solidFill>
                          <a:latin typeface="Quicksand" pitchFamily="34" charset="0"/>
                          <a:ea typeface="Quicksand" pitchFamily="34" charset="-122"/>
                          <a:cs typeface="Quicksand" pitchFamily="34" charset="-120"/>
                        </a:rPr>
                        <a:t>Right (2)</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297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2</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10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297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11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4</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97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2</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3</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5</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5</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297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3</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97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4</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6</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20</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297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5</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7</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97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6</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b="1" dirty="0">
                          <a:solidFill>
                            <a:srgbClr val="202124"/>
                          </a:solidFill>
                          <a:latin typeface="Quicksand" pitchFamily="34" charset="0"/>
                          <a:ea typeface="Quicksand" pitchFamily="34" charset="-122"/>
                          <a:cs typeface="Quicksand" pitchFamily="34" charset="-120"/>
                        </a:rPr>
                        <a:t>15</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29768">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7</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A0A0A8"/>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00" dirty="0">
                          <a:solidFill>
                            <a:srgbClr val="202124"/>
                          </a:solidFill>
                          <a:latin typeface="Quicksand" pitchFamily="34" charset="0"/>
                          <a:ea typeface="Quicksand" pitchFamily="34" charset="-122"/>
                          <a:cs typeface="Quicksand" pitchFamily="34" charset="-120"/>
                        </a:rPr>
                        <a:t>-1</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bl>
          </a:graphicData>
        </a:graphic>
      </p:graphicFrame>
      <p:sp>
        <p:nvSpPr>
          <p:cNvPr id="9" name="Shape 5"/>
          <p:cNvSpPr/>
          <p:nvPr/>
        </p:nvSpPr>
        <p:spPr>
          <a:xfrm flipH="1">
            <a:off x="7635240" y="2125980"/>
            <a:ext cx="1234440" cy="502920"/>
          </a:xfrm>
          <a:prstGeom prst="line">
            <a:avLst/>
          </a:prstGeom>
          <a:noFill/>
          <a:ln w="19050">
            <a:solidFill>
              <a:srgbClr val="9A9AB5"/>
            </a:solidFill>
            <a:prstDash val="solid"/>
          </a:ln>
        </p:spPr>
      </p:sp>
      <p:sp>
        <p:nvSpPr>
          <p:cNvPr id="10" name="Shape 6"/>
          <p:cNvSpPr/>
          <p:nvPr/>
        </p:nvSpPr>
        <p:spPr>
          <a:xfrm>
            <a:off x="8869680" y="2125980"/>
            <a:ext cx="1234440" cy="502920"/>
          </a:xfrm>
          <a:prstGeom prst="line">
            <a:avLst/>
          </a:prstGeom>
          <a:noFill/>
          <a:ln w="19050">
            <a:solidFill>
              <a:srgbClr val="9A9AB5"/>
            </a:solidFill>
            <a:prstDash val="solid"/>
          </a:ln>
        </p:spPr>
      </p:sp>
      <p:sp>
        <p:nvSpPr>
          <p:cNvPr id="11" name="Shape 7"/>
          <p:cNvSpPr/>
          <p:nvPr/>
        </p:nvSpPr>
        <p:spPr>
          <a:xfrm flipH="1">
            <a:off x="7018020" y="3040380"/>
            <a:ext cx="617220" cy="502920"/>
          </a:xfrm>
          <a:prstGeom prst="line">
            <a:avLst/>
          </a:prstGeom>
          <a:noFill/>
          <a:ln w="19050">
            <a:solidFill>
              <a:srgbClr val="9A9AB5"/>
            </a:solidFill>
            <a:prstDash val="solid"/>
          </a:ln>
        </p:spPr>
      </p:sp>
      <p:sp>
        <p:nvSpPr>
          <p:cNvPr id="12" name="Shape 8"/>
          <p:cNvSpPr/>
          <p:nvPr/>
        </p:nvSpPr>
        <p:spPr>
          <a:xfrm>
            <a:off x="7635240" y="3040380"/>
            <a:ext cx="617220" cy="502920"/>
          </a:xfrm>
          <a:prstGeom prst="line">
            <a:avLst/>
          </a:prstGeom>
          <a:noFill/>
          <a:ln w="19050">
            <a:solidFill>
              <a:srgbClr val="9A9AB5"/>
            </a:solidFill>
            <a:prstDash val="solid"/>
          </a:ln>
        </p:spPr>
      </p:sp>
      <p:sp>
        <p:nvSpPr>
          <p:cNvPr id="13" name="Shape 9"/>
          <p:cNvSpPr/>
          <p:nvPr/>
        </p:nvSpPr>
        <p:spPr>
          <a:xfrm>
            <a:off x="10104120" y="3040380"/>
            <a:ext cx="740664" cy="502920"/>
          </a:xfrm>
          <a:prstGeom prst="line">
            <a:avLst/>
          </a:prstGeom>
          <a:noFill/>
          <a:ln w="19050">
            <a:solidFill>
              <a:srgbClr val="9A9AB5"/>
            </a:solidFill>
            <a:prstDash val="solid"/>
          </a:ln>
        </p:spPr>
      </p:sp>
      <p:sp>
        <p:nvSpPr>
          <p:cNvPr id="14" name="Shape 10"/>
          <p:cNvSpPr/>
          <p:nvPr/>
        </p:nvSpPr>
        <p:spPr>
          <a:xfrm flipH="1">
            <a:off x="10268712" y="3954780"/>
            <a:ext cx="576072" cy="502920"/>
          </a:xfrm>
          <a:prstGeom prst="line">
            <a:avLst/>
          </a:prstGeom>
          <a:noFill/>
          <a:ln w="19050">
            <a:solidFill>
              <a:srgbClr val="9A9AB5"/>
            </a:solidFill>
            <a:prstDash val="solid"/>
          </a:ln>
        </p:spPr>
      </p:sp>
      <p:sp>
        <p:nvSpPr>
          <p:cNvPr id="15" name="Text 11"/>
          <p:cNvSpPr/>
          <p:nvPr/>
        </p:nvSpPr>
        <p:spPr>
          <a:xfrm>
            <a:off x="8549640" y="1714500"/>
            <a:ext cx="64008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10</a:t>
            </a:r>
            <a:endParaRPr lang="en-US" sz="1500" dirty="0"/>
          </a:p>
        </p:txBody>
      </p:sp>
      <p:sp>
        <p:nvSpPr>
          <p:cNvPr id="16" name="Text 12"/>
          <p:cNvSpPr/>
          <p:nvPr/>
        </p:nvSpPr>
        <p:spPr>
          <a:xfrm>
            <a:off x="7315200" y="2628900"/>
            <a:ext cx="64008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5</a:t>
            </a:r>
            <a:endParaRPr lang="en-US" sz="1500" dirty="0"/>
          </a:p>
        </p:txBody>
      </p:sp>
      <p:sp>
        <p:nvSpPr>
          <p:cNvPr id="17" name="Text 13"/>
          <p:cNvSpPr/>
          <p:nvPr/>
        </p:nvSpPr>
        <p:spPr>
          <a:xfrm>
            <a:off x="9784080" y="2628900"/>
            <a:ext cx="64008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11</a:t>
            </a:r>
            <a:endParaRPr lang="en-US" sz="1500" dirty="0"/>
          </a:p>
        </p:txBody>
      </p:sp>
      <p:sp>
        <p:nvSpPr>
          <p:cNvPr id="18" name="Text 14"/>
          <p:cNvSpPr/>
          <p:nvPr/>
        </p:nvSpPr>
        <p:spPr>
          <a:xfrm>
            <a:off x="6697980" y="3543300"/>
            <a:ext cx="64008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1</a:t>
            </a:r>
            <a:endParaRPr lang="en-US" sz="1500" dirty="0"/>
          </a:p>
        </p:txBody>
      </p:sp>
      <p:sp>
        <p:nvSpPr>
          <p:cNvPr id="19" name="Text 15"/>
          <p:cNvSpPr/>
          <p:nvPr/>
        </p:nvSpPr>
        <p:spPr>
          <a:xfrm>
            <a:off x="7932420" y="3543300"/>
            <a:ext cx="64008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7</a:t>
            </a:r>
            <a:endParaRPr lang="en-US" sz="1500" dirty="0"/>
          </a:p>
        </p:txBody>
      </p:sp>
      <p:sp>
        <p:nvSpPr>
          <p:cNvPr id="20" name="Text 16"/>
          <p:cNvSpPr/>
          <p:nvPr/>
        </p:nvSpPr>
        <p:spPr>
          <a:xfrm>
            <a:off x="10524744" y="3543300"/>
            <a:ext cx="64008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20</a:t>
            </a:r>
            <a:endParaRPr lang="en-US" sz="1500" dirty="0"/>
          </a:p>
        </p:txBody>
      </p:sp>
      <p:sp>
        <p:nvSpPr>
          <p:cNvPr id="21" name="Text 17"/>
          <p:cNvSpPr/>
          <p:nvPr/>
        </p:nvSpPr>
        <p:spPr>
          <a:xfrm>
            <a:off x="9948672" y="4457700"/>
            <a:ext cx="640080" cy="411480"/>
          </a:xfrm>
          <a:prstGeom prst="roundRect">
            <a:avLst>
              <a:gd name="adj" fmla="val 17778"/>
            </a:avLst>
          </a:prstGeom>
          <a:solidFill>
            <a:srgbClr val="E9E8F5"/>
          </a:solidFill>
          <a:ln w="15875">
            <a:solidFill>
              <a:srgbClr val="494985"/>
            </a:solidFill>
          </a:ln>
        </p:spPr>
        <p:txBody>
          <a:bodyPr wrap="square" lIns="0" tIns="0" rIns="0" bIns="0" rtlCol="0" anchor="ctr"/>
          <a:lstStyle/>
          <a:p>
            <a:pPr algn="ctr" indent="0" marL="0">
              <a:buNone/>
            </a:pPr>
            <a:r>
              <a:rPr lang="en-US" sz="1500" b="1" dirty="0">
                <a:solidFill>
                  <a:srgbClr val="202124"/>
                </a:solidFill>
                <a:latin typeface="Quicksand" pitchFamily="34" charset="0"/>
                <a:ea typeface="Quicksand" pitchFamily="34" charset="-122"/>
                <a:cs typeface="Quicksand" pitchFamily="34" charset="-120"/>
              </a:rPr>
              <a:t>15</a:t>
            </a:r>
            <a:endParaRPr lang="en-US" sz="1500" dirty="0"/>
          </a:p>
        </p:txBody>
      </p:sp>
      <p:sp>
        <p:nvSpPr>
          <p:cNvPr id="22" name="Text 18"/>
          <p:cNvSpPr txBox="1"/>
          <p:nvPr/>
        </p:nvSpPr>
        <p:spPr>
          <a:xfrm>
            <a:off x="6217920" y="5440680"/>
            <a:ext cx="5303520" cy="6400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Row 0 says: 10 has left child at index 2 (5) and right child at index 1 (11).</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Adding a node: the algorithm</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9</a:t>
            </a:r>
            <a:endParaRPr lang="en-US" sz="1350" dirty="0"/>
          </a:p>
        </p:txBody>
      </p:sp>
      <p:sp>
        <p:nvSpPr>
          <p:cNvPr id="7" name="Shape 4"/>
          <p:cNvSpPr/>
          <p:nvPr/>
        </p:nvSpPr>
        <p:spPr>
          <a:xfrm>
            <a:off x="877824" y="1280160"/>
            <a:ext cx="5029200" cy="1325880"/>
          </a:xfrm>
          <a:prstGeom prst="rect">
            <a:avLst/>
          </a:prstGeom>
          <a:solidFill>
            <a:srgbClr val="F6F5FC"/>
          </a:solidFill>
          <a:ln w="12700">
            <a:solidFill>
              <a:srgbClr val="F6F5FC"/>
            </a:solidFill>
            <a:prstDash val="solid"/>
          </a:ln>
        </p:spPr>
      </p:sp>
      <p:sp>
        <p:nvSpPr>
          <p:cNvPr id="8" name="Text 5"/>
          <p:cNvSpPr/>
          <p:nvPr/>
        </p:nvSpPr>
        <p:spPr>
          <a:xfrm>
            <a:off x="1014984"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9" name="Text 6"/>
          <p:cNvSpPr txBox="1"/>
          <p:nvPr/>
        </p:nvSpPr>
        <p:spPr>
          <a:xfrm>
            <a:off x="1536192" y="1389888"/>
            <a:ext cx="42519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Is the tree full?</a:t>
            </a:r>
            <a:endParaRPr lang="en-US" sz="1500" dirty="0"/>
          </a:p>
        </p:txBody>
      </p:sp>
      <p:sp>
        <p:nvSpPr>
          <p:cNvPr id="10" name="Text 7"/>
          <p:cNvSpPr txBox="1"/>
          <p:nvPr/>
        </p:nvSpPr>
        <p:spPr>
          <a:xfrm>
            <a:off x="1536192" y="1783080"/>
            <a:ext cx="4251960" cy="758952"/>
          </a:xfrm>
          <a:prstGeom prst="rect">
            <a:avLst/>
          </a:prstGeom>
          <a:noFill/>
          <a:ln/>
        </p:spPr>
        <p:txBody>
          <a:bodyPr wrap="square" lIns="0" tIns="0" rIns="0" bIns="0" rtlCol="0" anchor="t"/>
          <a:lstStyle/>
          <a:p>
            <a:pPr indent="0" marL="0">
              <a:buNone/>
            </a:pPr>
            <a:r>
              <a:rPr lang="en-US" sz="1400" dirty="0">
                <a:solidFill>
                  <a:srgbClr val="202124"/>
                </a:solidFill>
                <a:latin typeface="Quicksand" pitchFamily="34" charset="0"/>
                <a:ea typeface="Quicksand" pitchFamily="34" charset="-122"/>
                <a:cs typeface="Quicksand" pitchFamily="34" charset="-120"/>
              </a:rPr>
              <a:t>If FreeNode = 50, output "The tree is full" and stop.</a:t>
            </a:r>
            <a:endParaRPr lang="en-US" sz="1400" dirty="0"/>
          </a:p>
        </p:txBody>
      </p:sp>
      <p:sp>
        <p:nvSpPr>
          <p:cNvPr id="11" name="Shape 8"/>
          <p:cNvSpPr/>
          <p:nvPr/>
        </p:nvSpPr>
        <p:spPr>
          <a:xfrm>
            <a:off x="6217920" y="1280160"/>
            <a:ext cx="5303520" cy="1325880"/>
          </a:xfrm>
          <a:prstGeom prst="rect">
            <a:avLst/>
          </a:prstGeom>
          <a:solidFill>
            <a:srgbClr val="F6F5FC"/>
          </a:solidFill>
          <a:ln w="12700">
            <a:solidFill>
              <a:srgbClr val="F6F5FC"/>
            </a:solidFill>
            <a:prstDash val="solid"/>
          </a:ln>
        </p:spPr>
      </p:sp>
      <p:sp>
        <p:nvSpPr>
          <p:cNvPr id="12" name="Text 9"/>
          <p:cNvSpPr/>
          <p:nvPr/>
        </p:nvSpPr>
        <p:spPr>
          <a:xfrm>
            <a:off x="6355080" y="141732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3" name="Text 10"/>
          <p:cNvSpPr txBox="1"/>
          <p:nvPr/>
        </p:nvSpPr>
        <p:spPr>
          <a:xfrm>
            <a:off x="6876288" y="1389888"/>
            <a:ext cx="45262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Store the new node</a:t>
            </a:r>
            <a:endParaRPr lang="en-US" sz="1500" dirty="0"/>
          </a:p>
        </p:txBody>
      </p:sp>
      <p:sp>
        <p:nvSpPr>
          <p:cNvPr id="14" name="Text 11"/>
          <p:cNvSpPr txBox="1"/>
          <p:nvPr/>
        </p:nvSpPr>
        <p:spPr>
          <a:xfrm>
            <a:off x="6876288" y="1783080"/>
            <a:ext cx="4526280" cy="758952"/>
          </a:xfrm>
          <a:prstGeom prst="rect">
            <a:avLst/>
          </a:prstGeom>
          <a:noFill/>
          <a:ln/>
        </p:spPr>
        <p:txBody>
          <a:bodyPr wrap="square" lIns="0" tIns="0" rIns="0" bIns="0" rtlCol="0" anchor="t"/>
          <a:lstStyle/>
          <a:p>
            <a:pPr indent="0" marL="0">
              <a:buNone/>
            </a:pPr>
            <a:r>
              <a:rPr lang="en-US" sz="1400" dirty="0">
                <a:solidFill>
                  <a:srgbClr val="202124"/>
                </a:solidFill>
                <a:latin typeface="Quicksand" pitchFamily="34" charset="0"/>
                <a:ea typeface="Quicksand" pitchFamily="34" charset="-122"/>
                <a:cs typeface="Quicksand" pitchFamily="34" charset="-120"/>
              </a:rPr>
              <a:t>At row FreeNode: left = -1, data = the value, right = -1.</a:t>
            </a:r>
            <a:endParaRPr lang="en-US" sz="1400" dirty="0"/>
          </a:p>
        </p:txBody>
      </p:sp>
      <p:sp>
        <p:nvSpPr>
          <p:cNvPr id="15" name="Shape 12"/>
          <p:cNvSpPr/>
          <p:nvPr/>
        </p:nvSpPr>
        <p:spPr>
          <a:xfrm>
            <a:off x="877824" y="2788920"/>
            <a:ext cx="5029200" cy="1325880"/>
          </a:xfrm>
          <a:prstGeom prst="rect">
            <a:avLst/>
          </a:prstGeom>
          <a:solidFill>
            <a:srgbClr val="F6F5FC"/>
          </a:solidFill>
          <a:ln w="12700">
            <a:solidFill>
              <a:srgbClr val="F6F5FC"/>
            </a:solidFill>
            <a:prstDash val="solid"/>
          </a:ln>
        </p:spPr>
      </p:sp>
      <p:sp>
        <p:nvSpPr>
          <p:cNvPr id="16" name="Text 13"/>
          <p:cNvSpPr/>
          <p:nvPr/>
        </p:nvSpPr>
        <p:spPr>
          <a:xfrm>
            <a:off x="1014984" y="29260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7" name="Text 14"/>
          <p:cNvSpPr txBox="1"/>
          <p:nvPr/>
        </p:nvSpPr>
        <p:spPr>
          <a:xfrm>
            <a:off x="1536192" y="2898648"/>
            <a:ext cx="425196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Empty tree? It becomes the root</a:t>
            </a:r>
            <a:endParaRPr lang="en-US" sz="1500" dirty="0"/>
          </a:p>
        </p:txBody>
      </p:sp>
      <p:sp>
        <p:nvSpPr>
          <p:cNvPr id="18" name="Text 15"/>
          <p:cNvSpPr txBox="1"/>
          <p:nvPr/>
        </p:nvSpPr>
        <p:spPr>
          <a:xfrm>
            <a:off x="1536192" y="3291840"/>
            <a:ext cx="4251960" cy="758952"/>
          </a:xfrm>
          <a:prstGeom prst="rect">
            <a:avLst/>
          </a:prstGeom>
          <a:noFill/>
          <a:ln/>
        </p:spPr>
        <p:txBody>
          <a:bodyPr wrap="square" lIns="0" tIns="0" rIns="0" bIns="0" rtlCol="0" anchor="t"/>
          <a:lstStyle/>
          <a:p>
            <a:pPr indent="0" marL="0">
              <a:buNone/>
            </a:pPr>
            <a:r>
              <a:rPr lang="en-US" sz="1400" dirty="0">
                <a:solidFill>
                  <a:srgbClr val="202124"/>
                </a:solidFill>
                <a:latin typeface="Quicksand" pitchFamily="34" charset="0"/>
                <a:ea typeface="Quicksand" pitchFamily="34" charset="-122"/>
                <a:cs typeface="Quicksand" pitchFamily="34" charset="-120"/>
              </a:rPr>
              <a:t>If RootPointer = -1, set RootPointer to this node.</a:t>
            </a:r>
            <a:endParaRPr lang="en-US" sz="1400" dirty="0"/>
          </a:p>
        </p:txBody>
      </p:sp>
      <p:sp>
        <p:nvSpPr>
          <p:cNvPr id="19" name="Shape 16"/>
          <p:cNvSpPr/>
          <p:nvPr/>
        </p:nvSpPr>
        <p:spPr>
          <a:xfrm>
            <a:off x="6217920" y="2788920"/>
            <a:ext cx="5303520" cy="1325880"/>
          </a:xfrm>
          <a:prstGeom prst="rect">
            <a:avLst/>
          </a:prstGeom>
          <a:solidFill>
            <a:srgbClr val="F6F5FC"/>
          </a:solidFill>
          <a:ln w="12700">
            <a:solidFill>
              <a:srgbClr val="F6F5FC"/>
            </a:solidFill>
            <a:prstDash val="solid"/>
          </a:ln>
        </p:spPr>
      </p:sp>
      <p:sp>
        <p:nvSpPr>
          <p:cNvPr id="20" name="Text 17"/>
          <p:cNvSpPr/>
          <p:nvPr/>
        </p:nvSpPr>
        <p:spPr>
          <a:xfrm>
            <a:off x="6355080" y="2926080"/>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4</a:t>
            </a:r>
            <a:endParaRPr lang="en-US" sz="1400" dirty="0"/>
          </a:p>
        </p:txBody>
      </p:sp>
      <p:sp>
        <p:nvSpPr>
          <p:cNvPr id="21" name="Text 18"/>
          <p:cNvSpPr txBox="1"/>
          <p:nvPr/>
        </p:nvSpPr>
        <p:spPr>
          <a:xfrm>
            <a:off x="6876288" y="2898648"/>
            <a:ext cx="452628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Otherwise walk down from the root</a:t>
            </a:r>
            <a:endParaRPr lang="en-US" sz="1500" dirty="0"/>
          </a:p>
        </p:txBody>
      </p:sp>
      <p:sp>
        <p:nvSpPr>
          <p:cNvPr id="22" name="Text 19"/>
          <p:cNvSpPr txBox="1"/>
          <p:nvPr/>
        </p:nvSpPr>
        <p:spPr>
          <a:xfrm>
            <a:off x="6876288" y="3291840"/>
            <a:ext cx="4526280" cy="758952"/>
          </a:xfrm>
          <a:prstGeom prst="rect">
            <a:avLst/>
          </a:prstGeom>
          <a:noFill/>
          <a:ln/>
        </p:spPr>
        <p:txBody>
          <a:bodyPr wrap="square" lIns="0" tIns="0" rIns="0" bIns="0" rtlCol="0" anchor="t"/>
          <a:lstStyle/>
          <a:p>
            <a:pPr indent="0" marL="0">
              <a:buNone/>
            </a:pPr>
            <a:r>
              <a:rPr lang="en-US" sz="1400" dirty="0">
                <a:solidFill>
                  <a:srgbClr val="202124"/>
                </a:solidFill>
                <a:latin typeface="Quicksand" pitchFamily="34" charset="0"/>
                <a:ea typeface="Quicksand" pitchFamily="34" charset="-122"/>
                <a:cs typeface="Quicksand" pitchFamily="34" charset="-120"/>
              </a:rPr>
              <a:t>Smaller: look left; otherwise look right. If that pointer is -1, point it at the new node. If not, move there and repeat.</a:t>
            </a:r>
            <a:endParaRPr lang="en-US" sz="1400" dirty="0"/>
          </a:p>
        </p:txBody>
      </p:sp>
      <p:sp>
        <p:nvSpPr>
          <p:cNvPr id="23" name="Text 20"/>
          <p:cNvSpPr txBox="1"/>
          <p:nvPr/>
        </p:nvSpPr>
        <p:spPr>
          <a:xfrm>
            <a:off x="877824" y="4434840"/>
            <a:ext cx="1060704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Finally, add 1 to FreeNode - whichever branch you took.</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Writing AddNode() in VB.NET</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10</a:t>
            </a:r>
            <a:endParaRPr lang="en-US" sz="1350" dirty="0"/>
          </a:p>
        </p:txBody>
      </p:sp>
      <p:sp>
        <p:nvSpPr>
          <p:cNvPr id="7" name="Shape 4"/>
          <p:cNvSpPr/>
          <p:nvPr/>
        </p:nvSpPr>
        <p:spPr>
          <a:xfrm>
            <a:off x="704088" y="1188720"/>
            <a:ext cx="5257800" cy="48920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841248" y="1280160"/>
            <a:ext cx="4983480" cy="470916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Sub AddNode(ByVal NodeData As Integer)</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If FreeNode = 50 Then</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Console.WriteLine("The tree is full")</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Exit Sub</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End If</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TreeArray(FreeNode, 0) = -1</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TreeArray(FreeNode, 1) = NodeData</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TreeArray(FreeNode, 2) = -1</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If RootPointer = -1 Then</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RootPointer = FreeNode</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Else</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Dim CurrentNode As Integer = RootPointer</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Dim Placed As Boolean = False</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While Not Placed</a:t>
            </a:r>
            <a:endParaRPr lang="en-US" sz="1300" dirty="0"/>
          </a:p>
          <a:p>
            <a:pPr indent="0" marL="0">
              <a:lnSpc>
                <a:spcPct val="105000"/>
              </a:lnSpc>
              <a:buNone/>
            </a:pPr>
            <a:r>
              <a:rPr lang="en-US" sz="1300" dirty="0">
                <a:solidFill>
                  <a:srgbClr val="666666"/>
                </a:solidFill>
                <a:latin typeface="Roboto Mono" pitchFamily="34" charset="0"/>
                <a:ea typeface="Roboto Mono" pitchFamily="34" charset="-122"/>
                <a:cs typeface="Roboto Mono" pitchFamily="34" charset="-120"/>
              </a:rPr>
              <a:t>            ' ... continued on the right</a:t>
            </a:r>
            <a:endParaRPr lang="en-US" sz="1300" dirty="0"/>
          </a:p>
        </p:txBody>
      </p:sp>
      <p:sp>
        <p:nvSpPr>
          <p:cNvPr id="9" name="Shape 6"/>
          <p:cNvSpPr/>
          <p:nvPr/>
        </p:nvSpPr>
        <p:spPr>
          <a:xfrm>
            <a:off x="6144768" y="1188720"/>
            <a:ext cx="5349240" cy="48920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0" name="Text 7"/>
          <p:cNvSpPr txBox="1"/>
          <p:nvPr/>
        </p:nvSpPr>
        <p:spPr>
          <a:xfrm>
            <a:off x="6281928" y="1280160"/>
            <a:ext cx="5074920" cy="4709160"/>
          </a:xfrm>
          <a:prstGeom prst="rect">
            <a:avLst/>
          </a:prstGeom>
          <a:noFill/>
          <a:ln/>
        </p:spPr>
        <p:txBody>
          <a:bodyPr wrap="square" lIns="0" tIns="0" rIns="0" bIns="0" rtlCol="0" anchor="t"/>
          <a:lstStyle/>
          <a:p>
            <a:pPr indent="0" marL="0">
              <a:lnSpc>
                <a:spcPct val="105000"/>
              </a:lnSpc>
              <a:buNone/>
            </a:pPr>
            <a:r>
              <a:rPr lang="en-US" sz="1100" b="1" dirty="0">
                <a:solidFill>
                  <a:srgbClr val="494985"/>
                </a:solidFill>
                <a:latin typeface="Roboto Mono" pitchFamily="34" charset="0"/>
                <a:ea typeface="Roboto Mono" pitchFamily="34" charset="-122"/>
                <a:cs typeface="Roboto Mono" pitchFamily="34" charset="-120"/>
              </a:rPr>
              <a:t>            If NodeData &lt; TreeArray(CurrentNode, 1) Then</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If TreeArray(CurrentNode, 0) = -1 Then</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TreeArray(CurrentNode, 0) = FreeNode</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Placed = True</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Else</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CurrentNode = TreeArray(CurrentNode, 0)</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If</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Else</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If TreeArray(CurrentNode, 2) = -1 Then</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TreeArray(CurrentNode, 2) = FreeNode</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Placed = True</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Else</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CurrentNode = TreeArray(CurrentNode, 2)</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If</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If</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While</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    End If</a:t>
            </a:r>
            <a:endParaRPr lang="en-US" sz="1100" dirty="0"/>
          </a:p>
          <a:p>
            <a:pPr indent="0" marL="0">
              <a:lnSpc>
                <a:spcPct val="105000"/>
              </a:lnSpc>
              <a:buNone/>
            </a:pPr>
            <a:r>
              <a:rPr lang="en-US" sz="1100" b="1" dirty="0">
                <a:solidFill>
                  <a:srgbClr val="494985"/>
                </a:solidFill>
                <a:latin typeface="Roboto Mono" pitchFamily="34" charset="0"/>
                <a:ea typeface="Roboto Mono" pitchFamily="34" charset="-122"/>
                <a:cs typeface="Roboto Mono" pitchFamily="34" charset="-120"/>
              </a:rPr>
              <a:t>    FreeNode = FreeNode + 1</a:t>
            </a:r>
            <a:endParaRPr lang="en-US" sz="1100" dirty="0"/>
          </a:p>
          <a:p>
            <a:pPr indent="0" marL="0">
              <a:lnSpc>
                <a:spcPct val="105000"/>
              </a:lnSpc>
              <a:buNone/>
            </a:pPr>
            <a:r>
              <a:rPr lang="en-US" sz="1100" dirty="0">
                <a:solidFill>
                  <a:srgbClr val="1D1D1D"/>
                </a:solidFill>
                <a:latin typeface="Roboto Mono" pitchFamily="34" charset="0"/>
                <a:ea typeface="Roboto Mono" pitchFamily="34" charset="-122"/>
                <a:cs typeface="Roboto Mono" pitchFamily="34" charset="-120"/>
              </a:rPr>
              <a:t>End Sub</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Tracing AddNode(15)</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3</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11</a:t>
            </a:r>
            <a:endParaRPr lang="en-US" sz="1350" dirty="0"/>
          </a:p>
        </p:txBody>
      </p:sp>
      <p:sp>
        <p:nvSpPr>
          <p:cNvPr id="7" name="Text 4"/>
          <p:cNvSpPr txBox="1"/>
          <p:nvPr/>
        </p:nvSpPr>
        <p:spPr>
          <a:xfrm>
            <a:off x="877824" y="1252728"/>
            <a:ext cx="10332720" cy="64008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Before the call: the tree holds 10, 11, 5, 1, 20, 7 (indexes 0 to 5), so FreeNode = 6. Row 6 is set to -1, 15, -1.</a:t>
            </a:r>
            <a:endParaRPr lang="en-US" sz="16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96112" y="2011680"/>
          <a:ext cx="10387584" cy="914400"/>
        </p:xfrm>
        <a:graphic>
          <a:graphicData uri="http://schemas.openxmlformats.org/drawingml/2006/table">
            <a:tbl>
              <a:tblPr/>
              <a:tblGrid>
                <a:gridCol w="1645920"/>
                <a:gridCol w="1463040"/>
                <a:gridCol w="1463040"/>
                <a:gridCol w="2011680"/>
                <a:gridCol w="3803904"/>
              </a:tblGrid>
              <a:tr h="50292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CurrentNode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Data there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15 &lt; Data?</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Pointer checked</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Action</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0</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10</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No</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right = 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not -1, so CurrentNode = 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No</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right = 4</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not -1, so CurrentNode = 4</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4</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20</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Yes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left = -1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b="1" dirty="0">
                          <a:solidFill>
                            <a:srgbClr val="202124"/>
                          </a:solidFill>
                          <a:latin typeface="Quicksand" pitchFamily="34" charset="0"/>
                          <a:ea typeface="Quicksand" pitchFamily="34" charset="-122"/>
                          <a:cs typeface="Quicksand" pitchFamily="34" charset="-120"/>
                        </a:rPr>
                        <a:t>TreeArray(4, 0) = 6, Placed = True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9" name="Text 5"/>
          <p:cNvSpPr txBox="1"/>
          <p:nvPr/>
        </p:nvSpPr>
        <p:spPr>
          <a:xfrm>
            <a:off x="896112" y="4206240"/>
            <a:ext cx="10332720" cy="6400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After the loop: FreeNode = 7. Row 6 holds -1, 15, -1 and row 4's left pointer now points to it.</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Three ways to traverse a tree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12</a:t>
            </a:r>
            <a:endParaRPr lang="en-US" sz="135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896112" y="1325880"/>
          <a:ext cx="6675120" cy="914400"/>
        </p:xfrm>
        <a:graphic>
          <a:graphicData uri="http://schemas.openxmlformats.org/drawingml/2006/table">
            <a:tbl>
              <a:tblPr/>
              <a:tblGrid>
                <a:gridCol w="1645920"/>
                <a:gridCol w="2103120"/>
                <a:gridCol w="2926080"/>
              </a:tblGrid>
              <a:tr h="566928">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Traversal</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Order of visiting</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Output for our tree</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66928">
                <a:tc>
                  <a:txBody>
                    <a:bodyPr/>
                    <a:lstStyle/>
                    <a:p>
                      <a:pPr indent="0" marL="0">
                        <a:buNone/>
                      </a:pPr>
                      <a:r>
                        <a:rPr lang="en-US" sz="1400" b="1" dirty="0">
                          <a:solidFill>
                            <a:srgbClr val="202124"/>
                          </a:solidFill>
                          <a:latin typeface="Quicksand" pitchFamily="34" charset="0"/>
                          <a:ea typeface="Quicksand" pitchFamily="34" charset="-122"/>
                          <a:cs typeface="Quicksand" pitchFamily="34" charset="-120"/>
                        </a:rPr>
                        <a:t>Pre-order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root, left, right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10, 5, 1, 7, 11, 20, 15</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66928">
                <a:tc>
                  <a:txBody>
                    <a:bodyPr/>
                    <a:lstStyle/>
                    <a:p>
                      <a:pPr indent="0" marL="0">
                        <a:buNone/>
                      </a:pPr>
                      <a:r>
                        <a:rPr lang="en-US" sz="1400" b="1" dirty="0">
                          <a:solidFill>
                            <a:srgbClr val="202124"/>
                          </a:solidFill>
                          <a:latin typeface="Quicksand" pitchFamily="34" charset="0"/>
                          <a:ea typeface="Quicksand" pitchFamily="34" charset="-122"/>
                          <a:cs typeface="Quicksand" pitchFamily="34" charset="-120"/>
                        </a:rPr>
                        <a:t>In-order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left, root, right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1, 5, 7, 10, 11, 15, 20</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66928">
                <a:tc>
                  <a:txBody>
                    <a:bodyPr/>
                    <a:lstStyle/>
                    <a:p>
                      <a:pPr indent="0" marL="0">
                        <a:buNone/>
                      </a:pPr>
                      <a:r>
                        <a:rPr lang="en-US" sz="1400" b="1" dirty="0">
                          <a:solidFill>
                            <a:srgbClr val="202124"/>
                          </a:solidFill>
                          <a:latin typeface="Quicksand" pitchFamily="34" charset="0"/>
                          <a:ea typeface="Quicksand" pitchFamily="34" charset="-122"/>
                          <a:cs typeface="Quicksand" pitchFamily="34" charset="-120"/>
                        </a:rPr>
                        <a:t>Post-order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left, right, root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1, 7, 5, 15, 20, 11, 10</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Shape 4"/>
          <p:cNvSpPr/>
          <p:nvPr/>
        </p:nvSpPr>
        <p:spPr>
          <a:xfrm flipH="1">
            <a:off x="8622792" y="1783080"/>
            <a:ext cx="987552" cy="502920"/>
          </a:xfrm>
          <a:prstGeom prst="line">
            <a:avLst/>
          </a:prstGeom>
          <a:noFill/>
          <a:ln w="19050">
            <a:solidFill>
              <a:srgbClr val="9A9AB5"/>
            </a:solidFill>
            <a:prstDash val="solid"/>
          </a:ln>
        </p:spPr>
      </p:sp>
      <p:sp>
        <p:nvSpPr>
          <p:cNvPr id="9" name="Shape 5"/>
          <p:cNvSpPr/>
          <p:nvPr/>
        </p:nvSpPr>
        <p:spPr>
          <a:xfrm>
            <a:off x="9610344" y="1783080"/>
            <a:ext cx="987552" cy="502920"/>
          </a:xfrm>
          <a:prstGeom prst="line">
            <a:avLst/>
          </a:prstGeom>
          <a:noFill/>
          <a:ln w="19050">
            <a:solidFill>
              <a:srgbClr val="9A9AB5"/>
            </a:solidFill>
            <a:prstDash val="solid"/>
          </a:ln>
        </p:spPr>
      </p:sp>
      <p:sp>
        <p:nvSpPr>
          <p:cNvPr id="10" name="Shape 6"/>
          <p:cNvSpPr/>
          <p:nvPr/>
        </p:nvSpPr>
        <p:spPr>
          <a:xfrm flipH="1">
            <a:off x="8129016" y="2651760"/>
            <a:ext cx="493776" cy="502920"/>
          </a:xfrm>
          <a:prstGeom prst="line">
            <a:avLst/>
          </a:prstGeom>
          <a:noFill/>
          <a:ln w="19050">
            <a:solidFill>
              <a:srgbClr val="9A9AB5"/>
            </a:solidFill>
            <a:prstDash val="solid"/>
          </a:ln>
        </p:spPr>
      </p:sp>
      <p:sp>
        <p:nvSpPr>
          <p:cNvPr id="11" name="Shape 7"/>
          <p:cNvSpPr/>
          <p:nvPr/>
        </p:nvSpPr>
        <p:spPr>
          <a:xfrm>
            <a:off x="8622792" y="2651760"/>
            <a:ext cx="493776" cy="502920"/>
          </a:xfrm>
          <a:prstGeom prst="line">
            <a:avLst/>
          </a:prstGeom>
          <a:noFill/>
          <a:ln w="19050">
            <a:solidFill>
              <a:srgbClr val="9A9AB5"/>
            </a:solidFill>
            <a:prstDash val="solid"/>
          </a:ln>
        </p:spPr>
      </p:sp>
      <p:sp>
        <p:nvSpPr>
          <p:cNvPr id="12" name="Shape 8"/>
          <p:cNvSpPr/>
          <p:nvPr/>
        </p:nvSpPr>
        <p:spPr>
          <a:xfrm>
            <a:off x="10597896" y="2651760"/>
            <a:ext cx="592531" cy="502920"/>
          </a:xfrm>
          <a:prstGeom prst="line">
            <a:avLst/>
          </a:prstGeom>
          <a:noFill/>
          <a:ln w="19050">
            <a:solidFill>
              <a:srgbClr val="9A9AB5"/>
            </a:solidFill>
            <a:prstDash val="solid"/>
          </a:ln>
        </p:spPr>
      </p:sp>
      <p:sp>
        <p:nvSpPr>
          <p:cNvPr id="13" name="Shape 9"/>
          <p:cNvSpPr/>
          <p:nvPr/>
        </p:nvSpPr>
        <p:spPr>
          <a:xfrm flipH="1">
            <a:off x="10729570" y="3520440"/>
            <a:ext cx="460858" cy="502920"/>
          </a:xfrm>
          <a:prstGeom prst="line">
            <a:avLst/>
          </a:prstGeom>
          <a:noFill/>
          <a:ln w="19050">
            <a:solidFill>
              <a:srgbClr val="9A9AB5"/>
            </a:solidFill>
            <a:prstDash val="solid"/>
          </a:ln>
        </p:spPr>
      </p:sp>
      <p:sp>
        <p:nvSpPr>
          <p:cNvPr id="14" name="Text 10"/>
          <p:cNvSpPr/>
          <p:nvPr/>
        </p:nvSpPr>
        <p:spPr>
          <a:xfrm>
            <a:off x="9326880" y="1417320"/>
            <a:ext cx="566928" cy="365760"/>
          </a:xfrm>
          <a:prstGeom prst="roundRect">
            <a:avLst>
              <a:gd name="adj" fmla="val 20000"/>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10</a:t>
            </a:r>
            <a:endParaRPr lang="en-US" sz="1300" dirty="0"/>
          </a:p>
        </p:txBody>
      </p:sp>
      <p:sp>
        <p:nvSpPr>
          <p:cNvPr id="15" name="Text 11"/>
          <p:cNvSpPr/>
          <p:nvPr/>
        </p:nvSpPr>
        <p:spPr>
          <a:xfrm>
            <a:off x="8339328" y="2286000"/>
            <a:ext cx="566928" cy="365760"/>
          </a:xfrm>
          <a:prstGeom prst="roundRect">
            <a:avLst>
              <a:gd name="adj" fmla="val 20000"/>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5</a:t>
            </a:r>
            <a:endParaRPr lang="en-US" sz="1300" dirty="0"/>
          </a:p>
        </p:txBody>
      </p:sp>
      <p:sp>
        <p:nvSpPr>
          <p:cNvPr id="16" name="Text 12"/>
          <p:cNvSpPr/>
          <p:nvPr/>
        </p:nvSpPr>
        <p:spPr>
          <a:xfrm>
            <a:off x="10314432" y="2286000"/>
            <a:ext cx="566928" cy="365760"/>
          </a:xfrm>
          <a:prstGeom prst="roundRect">
            <a:avLst>
              <a:gd name="adj" fmla="val 20000"/>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11</a:t>
            </a:r>
            <a:endParaRPr lang="en-US" sz="1300" dirty="0"/>
          </a:p>
        </p:txBody>
      </p:sp>
      <p:sp>
        <p:nvSpPr>
          <p:cNvPr id="17" name="Text 13"/>
          <p:cNvSpPr/>
          <p:nvPr/>
        </p:nvSpPr>
        <p:spPr>
          <a:xfrm>
            <a:off x="7845552" y="3154680"/>
            <a:ext cx="566928" cy="365760"/>
          </a:xfrm>
          <a:prstGeom prst="roundRect">
            <a:avLst>
              <a:gd name="adj" fmla="val 20000"/>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1</a:t>
            </a:r>
            <a:endParaRPr lang="en-US" sz="1300" dirty="0"/>
          </a:p>
        </p:txBody>
      </p:sp>
      <p:sp>
        <p:nvSpPr>
          <p:cNvPr id="18" name="Text 14"/>
          <p:cNvSpPr/>
          <p:nvPr/>
        </p:nvSpPr>
        <p:spPr>
          <a:xfrm>
            <a:off x="8833104" y="3154680"/>
            <a:ext cx="566928" cy="365760"/>
          </a:xfrm>
          <a:prstGeom prst="roundRect">
            <a:avLst>
              <a:gd name="adj" fmla="val 20000"/>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7</a:t>
            </a:r>
            <a:endParaRPr lang="en-US" sz="1300" dirty="0"/>
          </a:p>
        </p:txBody>
      </p:sp>
      <p:sp>
        <p:nvSpPr>
          <p:cNvPr id="19" name="Text 15"/>
          <p:cNvSpPr/>
          <p:nvPr/>
        </p:nvSpPr>
        <p:spPr>
          <a:xfrm>
            <a:off x="10906963" y="3154680"/>
            <a:ext cx="566928" cy="365760"/>
          </a:xfrm>
          <a:prstGeom prst="roundRect">
            <a:avLst>
              <a:gd name="adj" fmla="val 20000"/>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20</a:t>
            </a:r>
            <a:endParaRPr lang="en-US" sz="1300" dirty="0"/>
          </a:p>
        </p:txBody>
      </p:sp>
      <p:sp>
        <p:nvSpPr>
          <p:cNvPr id="20" name="Text 16"/>
          <p:cNvSpPr/>
          <p:nvPr/>
        </p:nvSpPr>
        <p:spPr>
          <a:xfrm>
            <a:off x="10446106" y="4023360"/>
            <a:ext cx="566928" cy="365760"/>
          </a:xfrm>
          <a:prstGeom prst="roundRect">
            <a:avLst>
              <a:gd name="adj" fmla="val 20000"/>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15</a:t>
            </a:r>
            <a:endParaRPr lang="en-US" sz="1300" dirty="0"/>
          </a:p>
        </p:txBody>
      </p:sp>
      <p:sp>
        <p:nvSpPr>
          <p:cNvPr id="21" name="Text 17"/>
          <p:cNvSpPr txBox="1"/>
          <p:nvPr/>
        </p:nvSpPr>
        <p:spPr>
          <a:xfrm>
            <a:off x="896112" y="3931920"/>
            <a:ext cx="6675120" cy="82296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The name tells you where the ROOT goes: pre = first, in = middle, post = last. Left always comes before right.</a:t>
            </a:r>
            <a:endParaRPr lang="en-US" sz="1500" dirty="0"/>
          </a:p>
        </p:txBody>
      </p:sp>
      <p:sp>
        <p:nvSpPr>
          <p:cNvPr id="22" name="Text 18"/>
          <p:cNvSpPr txBox="1"/>
          <p:nvPr/>
        </p:nvSpPr>
        <p:spPr>
          <a:xfrm>
            <a:off x="896112" y="4892040"/>
            <a:ext cx="6675120" cy="457200"/>
          </a:xfrm>
          <a:prstGeom prst="rect">
            <a:avLst/>
          </a:prstGeom>
          <a:noFill/>
          <a:ln/>
        </p:spPr>
        <p:txBody>
          <a:bodyPr wrap="square" lIns="0" tIns="0" rIns="0" bIns="0" rtlCol="0" anchor="t"/>
          <a:lstStyle/>
          <a:p>
            <a:pPr indent="0" marL="0">
              <a:buNone/>
            </a:pPr>
            <a:r>
              <a:rPr lang="en-US" sz="1500" b="1" dirty="0">
                <a:solidFill>
                  <a:srgbClr val="202124"/>
                </a:solidFill>
                <a:latin typeface="Quicksand" pitchFamily="34" charset="0"/>
                <a:ea typeface="Quicksand" pitchFamily="34" charset="-122"/>
                <a:cs typeface="Quicksand" pitchFamily="34" charset="-120"/>
              </a:rPr>
              <a:t>In-order on an ordered tree always gives ascending order.</a:t>
            </a:r>
            <a:endParaRPr lang="en-US" sz="15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Writing a recursive traversal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13</a:t>
            </a:r>
            <a:endParaRPr lang="en-US" sz="1350" dirty="0"/>
          </a:p>
        </p:txBody>
      </p:sp>
      <p:sp>
        <p:nvSpPr>
          <p:cNvPr id="7" name="Shape 4"/>
          <p:cNvSpPr/>
          <p:nvPr/>
        </p:nvSpPr>
        <p:spPr>
          <a:xfrm>
            <a:off x="704088" y="1252728"/>
            <a:ext cx="6675120" cy="42062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841248" y="1344168"/>
            <a:ext cx="6400800" cy="4023360"/>
          </a:xfrm>
          <a:prstGeom prst="rect">
            <a:avLst/>
          </a:prstGeom>
          <a:noFill/>
          <a:ln/>
        </p:spPr>
        <p:txBody>
          <a:bodyPr wrap="square" lIns="0" tIns="0" rIns="0" bIns="0" rtlCol="0" anchor="t"/>
          <a:lstStyle/>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Sub InOrder(ByVal Root As Integer)</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a:t>
            </a:r>
            <a:endParaRPr lang="en-US" sz="1400" dirty="0"/>
          </a:p>
          <a:p>
            <a:pPr indent="0" marL="0">
              <a:lnSpc>
                <a:spcPct val="105000"/>
              </a:lnSpc>
              <a:buNone/>
            </a:pPr>
            <a:r>
              <a:rPr lang="en-US" sz="1400" b="1" dirty="0">
                <a:solidFill>
                  <a:srgbClr val="494985"/>
                </a:solidFill>
                <a:latin typeface="Roboto Mono" pitchFamily="34" charset="0"/>
                <a:ea typeface="Roboto Mono" pitchFamily="34" charset="-122"/>
                <a:cs typeface="Roboto Mono" pitchFamily="34" charset="-120"/>
              </a:rPr>
              <a:t>    If TreeArray(Root, 0) &lt;&gt; -1 Then</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InOrder(TreeArray(Root, 0))</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End If</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a:t>
            </a:r>
            <a:endParaRPr lang="en-US" sz="1400" dirty="0"/>
          </a:p>
          <a:p>
            <a:pPr indent="0" marL="0">
              <a:lnSpc>
                <a:spcPct val="105000"/>
              </a:lnSpc>
              <a:buNone/>
            </a:pPr>
            <a:r>
              <a:rPr lang="en-US" sz="1400" b="1" dirty="0">
                <a:solidFill>
                  <a:srgbClr val="494985"/>
                </a:solidFill>
                <a:latin typeface="Roboto Mono" pitchFamily="34" charset="0"/>
                <a:ea typeface="Roboto Mono" pitchFamily="34" charset="-122"/>
                <a:cs typeface="Roboto Mono" pitchFamily="34" charset="-120"/>
              </a:rPr>
              <a:t>    Console.WriteLine(TreeArray(Root, 1))</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a:t>
            </a:r>
            <a:endParaRPr lang="en-US" sz="1400" dirty="0"/>
          </a:p>
          <a:p>
            <a:pPr indent="0" marL="0">
              <a:lnSpc>
                <a:spcPct val="105000"/>
              </a:lnSpc>
              <a:buNone/>
            </a:pPr>
            <a:r>
              <a:rPr lang="en-US" sz="1400" b="1" dirty="0">
                <a:solidFill>
                  <a:srgbClr val="494985"/>
                </a:solidFill>
                <a:latin typeface="Roboto Mono" pitchFamily="34" charset="0"/>
                <a:ea typeface="Roboto Mono" pitchFamily="34" charset="-122"/>
                <a:cs typeface="Roboto Mono" pitchFamily="34" charset="-120"/>
              </a:rPr>
              <a:t>    If TreeArray(Root, 2) &lt;&gt; -1 Then</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InOrder(TreeArray(Root, 2))</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End If</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 </a:t>
            </a:r>
            <a:endParaRPr lang="en-US" sz="1400" dirty="0"/>
          </a:p>
          <a:p>
            <a:pPr indent="0" marL="0">
              <a:lnSpc>
                <a:spcPct val="105000"/>
              </a:lnSpc>
              <a:buNone/>
            </a:pPr>
            <a:r>
              <a:rPr lang="en-US" sz="1400" dirty="0">
                <a:solidFill>
                  <a:srgbClr val="1D1D1D"/>
                </a:solidFill>
                <a:latin typeface="Roboto Mono" pitchFamily="34" charset="0"/>
                <a:ea typeface="Roboto Mono" pitchFamily="34" charset="-122"/>
                <a:cs typeface="Roboto Mono" pitchFamily="34" charset="-120"/>
              </a:rPr>
              <a:t>End Sub</a:t>
            </a:r>
            <a:endParaRPr lang="en-US" sz="1400" dirty="0"/>
          </a:p>
        </p:txBody>
      </p:sp>
      <p:sp>
        <p:nvSpPr>
          <p:cNvPr id="9" name="Shape 6"/>
          <p:cNvSpPr/>
          <p:nvPr/>
        </p:nvSpPr>
        <p:spPr>
          <a:xfrm>
            <a:off x="7680960" y="1252728"/>
            <a:ext cx="3840480" cy="1097280"/>
          </a:xfrm>
          <a:prstGeom prst="rect">
            <a:avLst/>
          </a:prstGeom>
          <a:solidFill>
            <a:srgbClr val="F6F5FC"/>
          </a:solidFill>
          <a:ln w="12700">
            <a:solidFill>
              <a:srgbClr val="F6F5FC"/>
            </a:solidFill>
            <a:prstDash val="solid"/>
          </a:ln>
        </p:spPr>
      </p:sp>
      <p:sp>
        <p:nvSpPr>
          <p:cNvPr id="10" name="Text 7"/>
          <p:cNvSpPr/>
          <p:nvPr/>
        </p:nvSpPr>
        <p:spPr>
          <a:xfrm>
            <a:off x="7818120" y="1389888"/>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8"/>
          <p:cNvSpPr txBox="1"/>
          <p:nvPr/>
        </p:nvSpPr>
        <p:spPr>
          <a:xfrm>
            <a:off x="8339328" y="1362456"/>
            <a:ext cx="30632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Visit the left subtree</a:t>
            </a:r>
            <a:endParaRPr lang="en-US" sz="1500" dirty="0"/>
          </a:p>
        </p:txBody>
      </p:sp>
      <p:sp>
        <p:nvSpPr>
          <p:cNvPr id="12" name="Text 9"/>
          <p:cNvSpPr txBox="1"/>
          <p:nvPr/>
        </p:nvSpPr>
        <p:spPr>
          <a:xfrm>
            <a:off x="8339328" y="1755648"/>
            <a:ext cx="3063240" cy="5303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Only if the left pointer is not -1: call InOrder on it.</a:t>
            </a:r>
            <a:endParaRPr lang="en-US" sz="1250" dirty="0"/>
          </a:p>
        </p:txBody>
      </p:sp>
      <p:sp>
        <p:nvSpPr>
          <p:cNvPr id="13" name="Shape 10"/>
          <p:cNvSpPr/>
          <p:nvPr/>
        </p:nvSpPr>
        <p:spPr>
          <a:xfrm>
            <a:off x="7680960" y="2487168"/>
            <a:ext cx="3840480" cy="1097280"/>
          </a:xfrm>
          <a:prstGeom prst="rect">
            <a:avLst/>
          </a:prstGeom>
          <a:solidFill>
            <a:srgbClr val="F6F5FC"/>
          </a:solidFill>
          <a:ln w="12700">
            <a:solidFill>
              <a:srgbClr val="F6F5FC"/>
            </a:solidFill>
            <a:prstDash val="solid"/>
          </a:ln>
        </p:spPr>
      </p:sp>
      <p:sp>
        <p:nvSpPr>
          <p:cNvPr id="14" name="Text 11"/>
          <p:cNvSpPr/>
          <p:nvPr/>
        </p:nvSpPr>
        <p:spPr>
          <a:xfrm>
            <a:off x="7818120" y="2624328"/>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5" name="Text 12"/>
          <p:cNvSpPr txBox="1"/>
          <p:nvPr/>
        </p:nvSpPr>
        <p:spPr>
          <a:xfrm>
            <a:off x="8339328" y="2596896"/>
            <a:ext cx="30632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Output this node</a:t>
            </a:r>
            <a:endParaRPr lang="en-US" sz="1500" dirty="0"/>
          </a:p>
        </p:txBody>
      </p:sp>
      <p:sp>
        <p:nvSpPr>
          <p:cNvPr id="16" name="Text 13"/>
          <p:cNvSpPr txBox="1"/>
          <p:nvPr/>
        </p:nvSpPr>
        <p:spPr>
          <a:xfrm>
            <a:off x="8339328" y="2990088"/>
            <a:ext cx="3063240" cy="5303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Move this line to change the traversal.</a:t>
            </a:r>
            <a:endParaRPr lang="en-US" sz="1250" dirty="0"/>
          </a:p>
        </p:txBody>
      </p:sp>
      <p:sp>
        <p:nvSpPr>
          <p:cNvPr id="17" name="Shape 14"/>
          <p:cNvSpPr/>
          <p:nvPr/>
        </p:nvSpPr>
        <p:spPr>
          <a:xfrm>
            <a:off x="7680960" y="3721608"/>
            <a:ext cx="3840480" cy="1097280"/>
          </a:xfrm>
          <a:prstGeom prst="rect">
            <a:avLst/>
          </a:prstGeom>
          <a:solidFill>
            <a:srgbClr val="F6F5FC"/>
          </a:solidFill>
          <a:ln w="12700">
            <a:solidFill>
              <a:srgbClr val="F6F5FC"/>
            </a:solidFill>
            <a:prstDash val="solid"/>
          </a:ln>
        </p:spPr>
      </p:sp>
      <p:sp>
        <p:nvSpPr>
          <p:cNvPr id="18" name="Text 15"/>
          <p:cNvSpPr/>
          <p:nvPr/>
        </p:nvSpPr>
        <p:spPr>
          <a:xfrm>
            <a:off x="7818120" y="3858768"/>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9" name="Text 16"/>
          <p:cNvSpPr txBox="1"/>
          <p:nvPr/>
        </p:nvSpPr>
        <p:spPr>
          <a:xfrm>
            <a:off x="8339328" y="3831336"/>
            <a:ext cx="30632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Visit the right subtree</a:t>
            </a:r>
            <a:endParaRPr lang="en-US" sz="1500" dirty="0"/>
          </a:p>
        </p:txBody>
      </p:sp>
      <p:sp>
        <p:nvSpPr>
          <p:cNvPr id="20" name="Text 17"/>
          <p:cNvSpPr txBox="1"/>
          <p:nvPr/>
        </p:nvSpPr>
        <p:spPr>
          <a:xfrm>
            <a:off x="8339328" y="4224528"/>
            <a:ext cx="3063240" cy="5303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Only if the right pointer is not -1.</a:t>
            </a:r>
            <a:endParaRPr lang="en-US" sz="1250" dirty="0"/>
          </a:p>
        </p:txBody>
      </p:sp>
      <p:sp>
        <p:nvSpPr>
          <p:cNvPr id="21" name="Text 18"/>
          <p:cNvSpPr txBox="1"/>
          <p:nvPr/>
        </p:nvSpPr>
        <p:spPr>
          <a:xfrm>
            <a:off x="704088" y="5623560"/>
            <a:ext cx="10789920" cy="4114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Move the output line to the top for pre-order, or to the bottom for post-order.</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Tracing the recursion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14</a:t>
            </a:r>
            <a:endParaRPr lang="en-US" sz="1350" dirty="0"/>
          </a:p>
        </p:txBody>
      </p:sp>
      <p:sp>
        <p:nvSpPr>
          <p:cNvPr id="7" name="Text 4"/>
          <p:cNvSpPr txBox="1"/>
          <p:nvPr/>
        </p:nvSpPr>
        <p:spPr>
          <a:xfrm>
            <a:off x="877824" y="1188720"/>
            <a:ext cx="7315200" cy="365760"/>
          </a:xfrm>
          <a:prstGeom prst="rect">
            <a:avLst/>
          </a:prstGeom>
          <a:noFill/>
          <a:ln/>
        </p:spPr>
        <p:txBody>
          <a:bodyPr wrap="square" lIns="0" tIns="0" rIns="0" bIns="0" rtlCol="0" anchor="t"/>
          <a:lstStyle/>
          <a:p>
            <a:pPr indent="0" marL="0">
              <a:spcAft>
                <a:spcPts val="600"/>
              </a:spcAft>
              <a:buNone/>
            </a:pPr>
            <a:r>
              <a:rPr lang="en-US" sz="1600" dirty="0">
                <a:solidFill>
                  <a:srgbClr val="202124"/>
                </a:solidFill>
                <a:latin typeface="Quicksand" pitchFamily="34" charset="0"/>
                <a:ea typeface="Quicksand" pitchFamily="34" charset="-122"/>
                <a:cs typeface="Quicksand" pitchFamily="34" charset="-120"/>
              </a:rPr>
              <a:t>InOrder on the tree 10, 5, 11, 1, 7 (nodes labelled by their data):</a:t>
            </a:r>
            <a:endParaRPr lang="en-US" sz="16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2960" y="1645920"/>
          <a:ext cx="8229600" cy="914400"/>
        </p:xfrm>
        <a:graphic>
          <a:graphicData uri="http://schemas.openxmlformats.org/drawingml/2006/table">
            <a:tbl>
              <a:tblPr/>
              <a:tblGrid>
                <a:gridCol w="731520"/>
                <a:gridCol w="1554480"/>
                <a:gridCol w="4206240"/>
                <a:gridCol w="1737360"/>
              </a:tblGrid>
              <a:tr h="457200">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Step</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Call</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What happens</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300" b="1" dirty="0">
                          <a:solidFill>
                            <a:srgbClr val="FFFFFF"/>
                          </a:solidFill>
                          <a:latin typeface="Quicksand" pitchFamily="34" charset="0"/>
                          <a:ea typeface="Quicksand" pitchFamily="34" charset="-122"/>
                          <a:cs typeface="Quicksand" pitchFamily="34" charset="-120"/>
                        </a:rPr>
                        <a:t>Output so far</a:t>
                      </a:r>
                      <a:endParaRPr lang="en-US" sz="13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5720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InOrder(10)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left exists, so call InOrder(5)</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2</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InOrder(5)</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left exists, so call InOrder(1)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3</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InOrder(1)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no left; output 1; no right; return</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4</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back in (5)</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output 5; right exists, so call InOrder(7)</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1 5</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5</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InOrder(7)</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no left; output 7; no right; return</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1 5 7</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5720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6</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back in (10)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output 10; right exists, so call InOrder(11)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1 5 7 10</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57200">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7</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InOrder(11)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output 11; return. All calls finished</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250" dirty="0">
                          <a:solidFill>
                            <a:srgbClr val="202124"/>
                          </a:solidFill>
                          <a:latin typeface="Quicksand" pitchFamily="34" charset="0"/>
                          <a:ea typeface="Quicksand" pitchFamily="34" charset="-122"/>
                          <a:cs typeface="Quicksand" pitchFamily="34" charset="-120"/>
                        </a:rPr>
                        <a:t>1 5 7 10 11</a:t>
                      </a:r>
                      <a:endParaRPr lang="en-US" sz="12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9" name="Shape 5"/>
          <p:cNvSpPr/>
          <p:nvPr/>
        </p:nvSpPr>
        <p:spPr>
          <a:xfrm flipH="1">
            <a:off x="9912096" y="2112264"/>
            <a:ext cx="603504" cy="530352"/>
          </a:xfrm>
          <a:prstGeom prst="line">
            <a:avLst/>
          </a:prstGeom>
          <a:noFill/>
          <a:ln w="19050">
            <a:solidFill>
              <a:srgbClr val="9A9AB5"/>
            </a:solidFill>
            <a:prstDash val="solid"/>
          </a:ln>
        </p:spPr>
      </p:sp>
      <p:sp>
        <p:nvSpPr>
          <p:cNvPr id="10" name="Shape 6"/>
          <p:cNvSpPr/>
          <p:nvPr/>
        </p:nvSpPr>
        <p:spPr>
          <a:xfrm>
            <a:off x="10515600" y="2112264"/>
            <a:ext cx="603504" cy="530352"/>
          </a:xfrm>
          <a:prstGeom prst="line">
            <a:avLst/>
          </a:prstGeom>
          <a:noFill/>
          <a:ln w="19050">
            <a:solidFill>
              <a:srgbClr val="9A9AB5"/>
            </a:solidFill>
            <a:prstDash val="solid"/>
          </a:ln>
        </p:spPr>
      </p:sp>
      <p:sp>
        <p:nvSpPr>
          <p:cNvPr id="11" name="Shape 7"/>
          <p:cNvSpPr/>
          <p:nvPr/>
        </p:nvSpPr>
        <p:spPr>
          <a:xfrm flipH="1">
            <a:off x="9509760" y="3026664"/>
            <a:ext cx="402336" cy="530352"/>
          </a:xfrm>
          <a:prstGeom prst="line">
            <a:avLst/>
          </a:prstGeom>
          <a:noFill/>
          <a:ln w="19050">
            <a:solidFill>
              <a:srgbClr val="9A9AB5"/>
            </a:solidFill>
            <a:prstDash val="solid"/>
          </a:ln>
        </p:spPr>
      </p:sp>
      <p:sp>
        <p:nvSpPr>
          <p:cNvPr id="12" name="Shape 8"/>
          <p:cNvSpPr/>
          <p:nvPr/>
        </p:nvSpPr>
        <p:spPr>
          <a:xfrm>
            <a:off x="9912096" y="3026664"/>
            <a:ext cx="402336" cy="530352"/>
          </a:xfrm>
          <a:prstGeom prst="line">
            <a:avLst/>
          </a:prstGeom>
          <a:noFill/>
          <a:ln w="19050">
            <a:solidFill>
              <a:srgbClr val="9A9AB5"/>
            </a:solidFill>
            <a:prstDash val="solid"/>
          </a:ln>
        </p:spPr>
      </p:sp>
      <p:sp>
        <p:nvSpPr>
          <p:cNvPr id="13" name="Text 9"/>
          <p:cNvSpPr/>
          <p:nvPr/>
        </p:nvSpPr>
        <p:spPr>
          <a:xfrm>
            <a:off x="10241280" y="1728216"/>
            <a:ext cx="548640"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10</a:t>
            </a:r>
            <a:endParaRPr lang="en-US" sz="1300" dirty="0"/>
          </a:p>
        </p:txBody>
      </p:sp>
      <p:sp>
        <p:nvSpPr>
          <p:cNvPr id="14" name="Text 10"/>
          <p:cNvSpPr/>
          <p:nvPr/>
        </p:nvSpPr>
        <p:spPr>
          <a:xfrm>
            <a:off x="9637776" y="2642616"/>
            <a:ext cx="548640"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5</a:t>
            </a:r>
            <a:endParaRPr lang="en-US" sz="1300" dirty="0"/>
          </a:p>
        </p:txBody>
      </p:sp>
      <p:sp>
        <p:nvSpPr>
          <p:cNvPr id="15" name="Text 11"/>
          <p:cNvSpPr/>
          <p:nvPr/>
        </p:nvSpPr>
        <p:spPr>
          <a:xfrm>
            <a:off x="10844784" y="2642616"/>
            <a:ext cx="548640"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11</a:t>
            </a:r>
            <a:endParaRPr lang="en-US" sz="1300" dirty="0"/>
          </a:p>
        </p:txBody>
      </p:sp>
      <p:sp>
        <p:nvSpPr>
          <p:cNvPr id="16" name="Text 12"/>
          <p:cNvSpPr/>
          <p:nvPr/>
        </p:nvSpPr>
        <p:spPr>
          <a:xfrm>
            <a:off x="9235440" y="3557016"/>
            <a:ext cx="548640"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1</a:t>
            </a:r>
            <a:endParaRPr lang="en-US" sz="1300" dirty="0"/>
          </a:p>
        </p:txBody>
      </p:sp>
      <p:sp>
        <p:nvSpPr>
          <p:cNvPr id="17" name="Text 13"/>
          <p:cNvSpPr/>
          <p:nvPr/>
        </p:nvSpPr>
        <p:spPr>
          <a:xfrm>
            <a:off x="10040112" y="3557016"/>
            <a:ext cx="548640" cy="384048"/>
          </a:xfrm>
          <a:prstGeom prst="roundRect">
            <a:avLst>
              <a:gd name="adj" fmla="val 19048"/>
            </a:avLst>
          </a:prstGeom>
          <a:solidFill>
            <a:srgbClr val="E9E8F5"/>
          </a:solidFill>
          <a:ln w="15875">
            <a:solidFill>
              <a:srgbClr val="494985"/>
            </a:solidFill>
          </a:ln>
        </p:spPr>
        <p:txBody>
          <a:bodyPr wrap="square" lIns="0" tIns="0" rIns="0" bIns="0" rtlCol="0" anchor="ctr"/>
          <a:lstStyle/>
          <a:p>
            <a:pPr algn="ctr" indent="0" marL="0">
              <a:buNone/>
            </a:pPr>
            <a:r>
              <a:rPr lang="en-US" sz="1300" b="1" dirty="0">
                <a:solidFill>
                  <a:srgbClr val="202124"/>
                </a:solidFill>
                <a:latin typeface="Quicksand" pitchFamily="34" charset="0"/>
                <a:ea typeface="Quicksand" pitchFamily="34" charset="-122"/>
                <a:cs typeface="Quicksand" pitchFamily="34" charset="-120"/>
              </a:rPr>
              <a:t>7</a:t>
            </a:r>
            <a:endParaRPr lang="en-US" sz="1300" dirty="0"/>
          </a:p>
        </p:txBody>
      </p:sp>
      <p:sp>
        <p:nvSpPr>
          <p:cNvPr id="18" name="Text 14"/>
          <p:cNvSpPr txBox="1"/>
          <p:nvPr/>
        </p:nvSpPr>
        <p:spPr>
          <a:xfrm>
            <a:off x="9235440" y="4206240"/>
            <a:ext cx="2377440" cy="1188720"/>
          </a:xfrm>
          <a:prstGeom prst="rect">
            <a:avLst/>
          </a:prstGeom>
          <a:noFill/>
          <a:ln/>
        </p:spPr>
        <p:txBody>
          <a:bodyPr wrap="square" lIns="0" tIns="0" rIns="0" bIns="0" rtlCol="0" anchor="t"/>
          <a:lstStyle/>
          <a:p>
            <a:pPr indent="0" marL="0">
              <a:buNone/>
            </a:pPr>
            <a:r>
              <a:rPr lang="en-US" sz="1300" b="1" dirty="0">
                <a:solidFill>
                  <a:srgbClr val="494985"/>
                </a:solidFill>
                <a:latin typeface="Quicksand" pitchFamily="34" charset="0"/>
                <a:ea typeface="Quicksand" pitchFamily="34" charset="-122"/>
                <a:cs typeface="Quicksand" pitchFamily="34" charset="-120"/>
              </a:rPr>
              <a:t>Each call waits on the call stack until the call it made returns.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Searching recursively: SearchValue()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4</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15</a:t>
            </a:r>
            <a:endParaRPr lang="en-US" sz="1350" dirty="0"/>
          </a:p>
        </p:txBody>
      </p:sp>
      <p:sp>
        <p:nvSpPr>
          <p:cNvPr id="7" name="Shape 4"/>
          <p:cNvSpPr/>
          <p:nvPr/>
        </p:nvSpPr>
        <p:spPr>
          <a:xfrm>
            <a:off x="704088" y="1252728"/>
            <a:ext cx="6949440" cy="429768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841248" y="1344168"/>
            <a:ext cx="6675120" cy="4114800"/>
          </a:xfrm>
          <a:prstGeom prst="rect">
            <a:avLst/>
          </a:prstGeom>
          <a:noFill/>
          <a:ln/>
        </p:spPr>
        <p:txBody>
          <a:bodyPr wrap="square" lIns="0" tIns="0" rIns="0" bIns="0" rtlCol="0" anchor="t"/>
          <a:lstStyle/>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Function SearchValue(ByVal Root As Integer, _</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ByVal ValueToFind As Integer) As Integer</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If Root = -1 Then</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Return -1</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End If</a:t>
            </a:r>
            <a:endParaRPr lang="en-US" sz="1300" dirty="0"/>
          </a:p>
          <a:p>
            <a:pPr indent="0" marL="0">
              <a:lnSpc>
                <a:spcPct val="105000"/>
              </a:lnSpc>
              <a:buNone/>
            </a:pPr>
            <a:r>
              <a:rPr lang="en-US" sz="1300" b="1" dirty="0">
                <a:solidFill>
                  <a:srgbClr val="494985"/>
                </a:solidFill>
                <a:latin typeface="Roboto Mono" pitchFamily="34" charset="0"/>
                <a:ea typeface="Roboto Mono" pitchFamily="34" charset="-122"/>
                <a:cs typeface="Roboto Mono" pitchFamily="34" charset="-120"/>
              </a:rPr>
              <a:t>    If TreeArray(Root, 1) = ValueToFind Then</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Return Root</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End If</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If TreeArray(Root, 1) &gt; ValueToFind Then</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Return SearchValue(TreeArray(Root, 0), ValueToFind)</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Else</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Return SearchValue(TreeArray(Root, 2), ValueToFind)</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    End If</a:t>
            </a:r>
            <a:endParaRPr lang="en-US" sz="1300" dirty="0"/>
          </a:p>
          <a:p>
            <a:pPr indent="0" marL="0">
              <a:lnSpc>
                <a:spcPct val="105000"/>
              </a:lnSpc>
              <a:buNone/>
            </a:pPr>
            <a:r>
              <a:rPr lang="en-US" sz="1300" dirty="0">
                <a:solidFill>
                  <a:srgbClr val="1D1D1D"/>
                </a:solidFill>
                <a:latin typeface="Roboto Mono" pitchFamily="34" charset="0"/>
                <a:ea typeface="Roboto Mono" pitchFamily="34" charset="-122"/>
                <a:cs typeface="Roboto Mono" pitchFamily="34" charset="-120"/>
              </a:rPr>
              <a:t>End Function</a:t>
            </a:r>
            <a:endParaRPr lang="en-US" sz="1300" dirty="0"/>
          </a:p>
        </p:txBody>
      </p:sp>
      <p:sp>
        <p:nvSpPr>
          <p:cNvPr id="9" name="Shape 6"/>
          <p:cNvSpPr/>
          <p:nvPr/>
        </p:nvSpPr>
        <p:spPr>
          <a:xfrm>
            <a:off x="7909560" y="1252728"/>
            <a:ext cx="3611880" cy="1097280"/>
          </a:xfrm>
          <a:prstGeom prst="rect">
            <a:avLst/>
          </a:prstGeom>
          <a:solidFill>
            <a:srgbClr val="F6F5FC"/>
          </a:solidFill>
          <a:ln w="12700">
            <a:solidFill>
              <a:srgbClr val="F6F5FC"/>
            </a:solidFill>
            <a:prstDash val="solid"/>
          </a:ln>
        </p:spPr>
      </p:sp>
      <p:sp>
        <p:nvSpPr>
          <p:cNvPr id="10" name="Text 7"/>
          <p:cNvSpPr/>
          <p:nvPr/>
        </p:nvSpPr>
        <p:spPr>
          <a:xfrm>
            <a:off x="8046720" y="1389888"/>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1</a:t>
            </a:r>
            <a:endParaRPr lang="en-US" sz="1400" dirty="0"/>
          </a:p>
        </p:txBody>
      </p:sp>
      <p:sp>
        <p:nvSpPr>
          <p:cNvPr id="11" name="Text 8"/>
          <p:cNvSpPr txBox="1"/>
          <p:nvPr/>
        </p:nvSpPr>
        <p:spPr>
          <a:xfrm>
            <a:off x="8567928" y="1362456"/>
            <a:ext cx="2834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Base case: not found</a:t>
            </a:r>
            <a:endParaRPr lang="en-US" sz="1500" dirty="0"/>
          </a:p>
        </p:txBody>
      </p:sp>
      <p:sp>
        <p:nvSpPr>
          <p:cNvPr id="12" name="Text 9"/>
          <p:cNvSpPr txBox="1"/>
          <p:nvPr/>
        </p:nvSpPr>
        <p:spPr>
          <a:xfrm>
            <a:off x="8567928" y="1755648"/>
            <a:ext cx="2834640" cy="5303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Ran off the tree (-1): return -1.</a:t>
            </a:r>
            <a:endParaRPr lang="en-US" sz="1250" dirty="0"/>
          </a:p>
        </p:txBody>
      </p:sp>
      <p:sp>
        <p:nvSpPr>
          <p:cNvPr id="13" name="Shape 10"/>
          <p:cNvSpPr/>
          <p:nvPr/>
        </p:nvSpPr>
        <p:spPr>
          <a:xfrm>
            <a:off x="7909560" y="2487168"/>
            <a:ext cx="3611880" cy="1097280"/>
          </a:xfrm>
          <a:prstGeom prst="rect">
            <a:avLst/>
          </a:prstGeom>
          <a:solidFill>
            <a:srgbClr val="F6F5FC"/>
          </a:solidFill>
          <a:ln w="12700">
            <a:solidFill>
              <a:srgbClr val="F6F5FC"/>
            </a:solidFill>
            <a:prstDash val="solid"/>
          </a:ln>
        </p:spPr>
      </p:sp>
      <p:sp>
        <p:nvSpPr>
          <p:cNvPr id="14" name="Text 11"/>
          <p:cNvSpPr/>
          <p:nvPr/>
        </p:nvSpPr>
        <p:spPr>
          <a:xfrm>
            <a:off x="8046720" y="2624328"/>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2</a:t>
            </a:r>
            <a:endParaRPr lang="en-US" sz="1400" dirty="0"/>
          </a:p>
        </p:txBody>
      </p:sp>
      <p:sp>
        <p:nvSpPr>
          <p:cNvPr id="15" name="Text 12"/>
          <p:cNvSpPr txBox="1"/>
          <p:nvPr/>
        </p:nvSpPr>
        <p:spPr>
          <a:xfrm>
            <a:off x="8567928" y="2596896"/>
            <a:ext cx="2834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Base case: found</a:t>
            </a:r>
            <a:endParaRPr lang="en-US" sz="1500" dirty="0"/>
          </a:p>
        </p:txBody>
      </p:sp>
      <p:sp>
        <p:nvSpPr>
          <p:cNvPr id="16" name="Text 13"/>
          <p:cNvSpPr txBox="1"/>
          <p:nvPr/>
        </p:nvSpPr>
        <p:spPr>
          <a:xfrm>
            <a:off x="8567928" y="2990088"/>
            <a:ext cx="2834640" cy="5303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Return the INDEX, not the data.</a:t>
            </a:r>
            <a:endParaRPr lang="en-US" sz="1250" dirty="0"/>
          </a:p>
        </p:txBody>
      </p:sp>
      <p:sp>
        <p:nvSpPr>
          <p:cNvPr id="17" name="Shape 14"/>
          <p:cNvSpPr/>
          <p:nvPr/>
        </p:nvSpPr>
        <p:spPr>
          <a:xfrm>
            <a:off x="7909560" y="3721608"/>
            <a:ext cx="3611880" cy="1097280"/>
          </a:xfrm>
          <a:prstGeom prst="rect">
            <a:avLst/>
          </a:prstGeom>
          <a:solidFill>
            <a:srgbClr val="F6F5FC"/>
          </a:solidFill>
          <a:ln w="12700">
            <a:solidFill>
              <a:srgbClr val="F6F5FC"/>
            </a:solidFill>
            <a:prstDash val="solid"/>
          </a:ln>
        </p:spPr>
      </p:sp>
      <p:sp>
        <p:nvSpPr>
          <p:cNvPr id="18" name="Text 15"/>
          <p:cNvSpPr/>
          <p:nvPr/>
        </p:nvSpPr>
        <p:spPr>
          <a:xfrm>
            <a:off x="8046720" y="3858768"/>
            <a:ext cx="384048" cy="384048"/>
          </a:xfrm>
          <a:prstGeom prst="ellipse">
            <a:avLst/>
          </a:prstGeom>
          <a:solidFill>
            <a:srgbClr val="494985"/>
          </a:solidFill>
          <a:ln>
            <a:solidFill>
              <a:srgbClr val="494985"/>
            </a:solidFill>
          </a:ln>
        </p:spPr>
        <p:txBody>
          <a:bodyPr wrap="square" lIns="0" tIns="0" rIns="0" bIns="0" rtlCol="0" anchor="ctr"/>
          <a:lstStyle/>
          <a:p>
            <a:pPr algn="ctr" indent="0" marL="0">
              <a:buNone/>
            </a:pPr>
            <a:r>
              <a:rPr lang="en-US" sz="1400" b="1" dirty="0">
                <a:solidFill>
                  <a:srgbClr val="FFFFFF"/>
                </a:solidFill>
                <a:latin typeface="Quicksand" pitchFamily="34" charset="0"/>
                <a:ea typeface="Quicksand" pitchFamily="34" charset="-122"/>
                <a:cs typeface="Quicksand" pitchFamily="34" charset="-120"/>
              </a:rPr>
              <a:t>3</a:t>
            </a:r>
            <a:endParaRPr lang="en-US" sz="1400" dirty="0"/>
          </a:p>
        </p:txBody>
      </p:sp>
      <p:sp>
        <p:nvSpPr>
          <p:cNvPr id="19" name="Text 16"/>
          <p:cNvSpPr txBox="1"/>
          <p:nvPr/>
        </p:nvSpPr>
        <p:spPr>
          <a:xfrm>
            <a:off x="8567928" y="3831336"/>
            <a:ext cx="2834640" cy="411480"/>
          </a:xfrm>
          <a:prstGeom prst="rect">
            <a:avLst/>
          </a:prstGeom>
          <a:noFill/>
          <a:ln/>
        </p:spPr>
        <p:txBody>
          <a:bodyPr wrap="square" lIns="0" tIns="0" rIns="0" bIns="0" rtlCol="0" anchor="ctr"/>
          <a:lstStyle/>
          <a:p>
            <a:pPr indent="0" marL="0">
              <a:buNone/>
            </a:pPr>
            <a:r>
              <a:rPr lang="en-US" sz="1500" b="1" dirty="0">
                <a:solidFill>
                  <a:srgbClr val="202124"/>
                </a:solidFill>
                <a:latin typeface="Quicksand" pitchFamily="34" charset="0"/>
                <a:ea typeface="Quicksand" pitchFamily="34" charset="-122"/>
                <a:cs typeface="Quicksand" pitchFamily="34" charset="-120"/>
              </a:rPr>
              <a:t>Recursive case</a:t>
            </a:r>
            <a:endParaRPr lang="en-US" sz="1500" dirty="0"/>
          </a:p>
        </p:txBody>
      </p:sp>
      <p:sp>
        <p:nvSpPr>
          <p:cNvPr id="20" name="Text 17"/>
          <p:cNvSpPr txBox="1"/>
          <p:nvPr/>
        </p:nvSpPr>
        <p:spPr>
          <a:xfrm>
            <a:off x="8567928" y="4224528"/>
            <a:ext cx="2834640" cy="530352"/>
          </a:xfrm>
          <a:prstGeom prst="rect">
            <a:avLst/>
          </a:prstGeom>
          <a:noFill/>
          <a:ln/>
        </p:spPr>
        <p:txBody>
          <a:bodyPr wrap="square" lIns="0" tIns="0" rIns="0" bIns="0" rtlCol="0" anchor="t"/>
          <a:lstStyle/>
          <a:p>
            <a:pPr indent="0" marL="0">
              <a:buNone/>
            </a:pPr>
            <a:r>
              <a:rPr lang="en-US" sz="1250" dirty="0">
                <a:solidFill>
                  <a:srgbClr val="202124"/>
                </a:solidFill>
                <a:latin typeface="Quicksand" pitchFamily="34" charset="0"/>
                <a:ea typeface="Quicksand" pitchFamily="34" charset="-122"/>
                <a:cs typeface="Quicksand" pitchFamily="34" charset="-120"/>
              </a:rPr>
              <a:t>Search only ONE subtree - the other half is ignored.</a:t>
            </a:r>
            <a:endParaRPr lang="en-US" sz="1250" dirty="0"/>
          </a:p>
        </p:txBody>
      </p:sp>
      <p:sp>
        <p:nvSpPr>
          <p:cNvPr id="21" name="Text 18"/>
          <p:cNvSpPr txBox="1"/>
          <p:nvPr/>
        </p:nvSpPr>
        <p:spPr>
          <a:xfrm>
            <a:off x="704088" y="5669280"/>
            <a:ext cx="1078992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Searching our tree for 15 visits indexes 0, 1, 4, 6 and returns 6. Searching for 12 visits the same nodes and returns -1.</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Three ways Cambridge stores a tree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16</a:t>
            </a:r>
            <a:endParaRPr lang="en-US" sz="135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22960" y="1325880"/>
          <a:ext cx="10515600" cy="914400"/>
        </p:xfrm>
        <a:graphic>
          <a:graphicData uri="http://schemas.openxmlformats.org/drawingml/2006/table">
            <a:tbl>
              <a:tblPr/>
              <a:tblGrid>
                <a:gridCol w="2377440"/>
                <a:gridCol w="2560320"/>
                <a:gridCol w="2834640"/>
                <a:gridCol w="2743200"/>
              </a:tblGrid>
              <a:tr h="530352">
                <a:tc>
                  <a:txBody>
                    <a:bodyPr/>
                    <a:lstStyle/>
                    <a:p>
                      <a:pPr indent="0" marL="0">
                        <a:buNone/>
                      </a:pP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2D array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OOP: array of Node objects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OOP: nodes point to nodes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30352">
                <a:tc>
                  <a:txBody>
                    <a:bodyPr/>
                    <a:lstStyle/>
                    <a:p>
                      <a:pPr indent="0" marL="0">
                        <a:buNone/>
                      </a:pPr>
                      <a:r>
                        <a:rPr lang="en-US" sz="1350" b="1" dirty="0">
                          <a:solidFill>
                            <a:srgbClr val="202124"/>
                          </a:solidFill>
                          <a:latin typeface="Quicksand" pitchFamily="34" charset="0"/>
                          <a:ea typeface="Quicksand" pitchFamily="34" charset="-122"/>
                          <a:cs typeface="Quicksand" pitchFamily="34" charset="-120"/>
                        </a:rPr>
                        <a:t>Papers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Nov 2022, Nov 2025</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June 2024</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June 2025</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350" b="1" dirty="0">
                          <a:solidFill>
                            <a:srgbClr val="202124"/>
                          </a:solidFill>
                          <a:latin typeface="Quicksand" pitchFamily="34" charset="0"/>
                          <a:ea typeface="Quicksand" pitchFamily="34" charset="-122"/>
                          <a:cs typeface="Quicksand" pitchFamily="34" charset="-120"/>
                        </a:rPr>
                        <a:t>A child pointer is...</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an index in column 0 or 2</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an index, via GetLeft()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a Node object, via GetLeft()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30352">
                <a:tc>
                  <a:txBody>
                    <a:bodyPr/>
                    <a:lstStyle/>
                    <a:p>
                      <a:pPr indent="0" marL="0">
                        <a:buNone/>
                      </a:pPr>
                      <a:r>
                        <a:rPr lang="en-US" sz="1350" b="1" dirty="0">
                          <a:solidFill>
                            <a:srgbClr val="202124"/>
                          </a:solidFill>
                          <a:latin typeface="Quicksand" pitchFamily="34" charset="0"/>
                          <a:ea typeface="Quicksand" pitchFamily="34" charset="-122"/>
                          <a:cs typeface="Quicksand" pitchFamily="34" charset="-120"/>
                        </a:rPr>
                        <a:t>Null / no child</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Nothing</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30352">
                <a:tc>
                  <a:txBody>
                    <a:bodyPr/>
                    <a:lstStyle/>
                    <a:p>
                      <a:pPr indent="0" marL="0">
                        <a:buNone/>
                      </a:pPr>
                      <a:r>
                        <a:rPr lang="en-US" sz="1350" b="1" dirty="0">
                          <a:solidFill>
                            <a:srgbClr val="202124"/>
                          </a:solidFill>
                          <a:latin typeface="Quicksand" pitchFamily="34" charset="0"/>
                          <a:ea typeface="Quicksand" pitchFamily="34" charset="-122"/>
                          <a:cs typeface="Quicksand" pitchFamily="34" charset="-120"/>
                        </a:rPr>
                        <a:t>Go left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TreeArray(Current, 0)</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Tree(Current).GetLeft()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Current.GetLeft()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30352">
                <a:tc>
                  <a:txBody>
                    <a:bodyPr/>
                    <a:lstStyle/>
                    <a:p>
                      <a:pPr indent="0" marL="0">
                        <a:buNone/>
                      </a:pPr>
                      <a:r>
                        <a:rPr lang="en-US" sz="1350" b="1" dirty="0">
                          <a:solidFill>
                            <a:srgbClr val="202124"/>
                          </a:solidFill>
                          <a:latin typeface="Quicksand" pitchFamily="34" charset="0"/>
                          <a:ea typeface="Quicksand" pitchFamily="34" charset="-122"/>
                          <a:cs typeface="Quicksand" pitchFamily="34" charset="-120"/>
                        </a:rPr>
                        <a:t>Check for no child</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-1</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-1</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Is Nothing</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8" name="Text 4"/>
          <p:cNvSpPr txBox="1"/>
          <p:nvPr/>
        </p:nvSpPr>
        <p:spPr>
          <a:xfrm>
            <a:off x="822960" y="4800600"/>
            <a:ext cx="10515600" cy="45720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Same algorithm every time. Only the way you "follow a pointer" changes.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The OOP version (June 2025)</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5</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17</a:t>
            </a:r>
            <a:endParaRPr lang="en-US" sz="1350" dirty="0"/>
          </a:p>
        </p:txBody>
      </p:sp>
      <p:sp>
        <p:nvSpPr>
          <p:cNvPr id="7" name="Shape 4"/>
          <p:cNvSpPr/>
          <p:nvPr/>
        </p:nvSpPr>
        <p:spPr>
          <a:xfrm>
            <a:off x="704088" y="1188720"/>
            <a:ext cx="4937760" cy="489204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8" name="Text 5"/>
          <p:cNvSpPr txBox="1"/>
          <p:nvPr/>
        </p:nvSpPr>
        <p:spPr>
          <a:xfrm>
            <a:off x="841248" y="1280160"/>
            <a:ext cx="4663440" cy="470916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Class Node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Private NodeData As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Private LeftNode As Node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Private RightNode As Node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Sub New(ByVal pNodeData As Integer)</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NodeData = pNodeData</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LeftNode = Nothing</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RightNode = Nothing</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 Sub</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Function GetLeft() As Node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Return LeftNode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 Function</a:t>
            </a:r>
            <a:endParaRPr lang="en-US" sz="1250" dirty="0"/>
          </a:p>
          <a:p>
            <a:pPr indent="0" marL="0">
              <a:lnSpc>
                <a:spcPct val="105000"/>
              </a:lnSpc>
              <a:buNone/>
            </a:pPr>
            <a:r>
              <a:rPr lang="en-US" sz="1250" dirty="0">
                <a:solidFill>
                  <a:srgbClr val="666666"/>
                </a:solidFill>
                <a:latin typeface="Roboto Mono" pitchFamily="34" charset="0"/>
                <a:ea typeface="Roboto Mono" pitchFamily="34" charset="-122"/>
                <a:cs typeface="Roboto Mono" pitchFamily="34" charset="-120"/>
              </a:rPr>
              <a:t>    ' GetRight, GetData, SetLeft, SetRight</a:t>
            </a:r>
            <a:endParaRPr lang="en-US" sz="1250" dirty="0"/>
          </a:p>
          <a:p>
            <a:pPr indent="0" marL="0">
              <a:lnSpc>
                <a:spcPct val="105000"/>
              </a:lnSpc>
              <a:buNone/>
            </a:pPr>
            <a:r>
              <a:rPr lang="en-US" sz="1250" dirty="0">
                <a:solidFill>
                  <a:srgbClr val="666666"/>
                </a:solidFill>
                <a:latin typeface="Roboto Mono" pitchFamily="34" charset="0"/>
                <a:ea typeface="Roboto Mono" pitchFamily="34" charset="-122"/>
                <a:cs typeface="Roboto Mono" pitchFamily="34" charset="-120"/>
              </a:rPr>
              <a:t>    ' follow the same pattern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End Class</a:t>
            </a:r>
            <a:endParaRPr lang="en-US" sz="1250" dirty="0"/>
          </a:p>
        </p:txBody>
      </p:sp>
      <p:sp>
        <p:nvSpPr>
          <p:cNvPr id="9" name="Shape 6"/>
          <p:cNvSpPr/>
          <p:nvPr/>
        </p:nvSpPr>
        <p:spPr>
          <a:xfrm>
            <a:off x="5852160" y="1188720"/>
            <a:ext cx="5669280" cy="3840480"/>
          </a:xfrm>
          <a:prstGeom prst="rect">
            <a:avLst/>
          </a:prstGeom>
          <a:solidFill>
            <a:srgbClr val="F7F7F9"/>
          </a:solidFill>
          <a:ln w="9525">
            <a:solidFill>
              <a:srgbClr val="E4E4EC"/>
            </a:solidFill>
            <a:prstDash val="solid"/>
          </a:ln>
          <a:effectLst>
            <a:outerShdw sx="100000" sy="100000" kx="0" ky="0" algn="bl" rotWithShape="0" blurRad="50800" dist="25400" dir="5400000">
              <a:srgbClr val="000000">
                <a:alpha val="12000"/>
              </a:srgbClr>
            </a:outerShdw>
          </a:effectLst>
        </p:spPr>
      </p:sp>
      <p:sp>
        <p:nvSpPr>
          <p:cNvPr id="10" name="Text 7"/>
          <p:cNvSpPr txBox="1"/>
          <p:nvPr/>
        </p:nvSpPr>
        <p:spPr>
          <a:xfrm>
            <a:off x="5989320" y="1280160"/>
            <a:ext cx="5394960" cy="3657600"/>
          </a:xfrm>
          <a:prstGeom prst="rect">
            <a:avLst/>
          </a:prstGeom>
          <a:noFill/>
          <a:ln/>
        </p:spPr>
        <p:txBody>
          <a:bodyPr wrap="square" lIns="0" tIns="0" rIns="0" bIns="0" rtlCol="0" anchor="t"/>
          <a:lstStyle/>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Sub OutputInOrder(ByVal RootNode As Node)</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    If RootNode.GetLeft() IsNot Nothing Then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OutputInOrder(RootNode.GetLeft())</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 If</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Console.WriteLine(RootNode.GetData())</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b="1" dirty="0">
                <a:solidFill>
                  <a:srgbClr val="494985"/>
                </a:solidFill>
                <a:latin typeface="Roboto Mono" pitchFamily="34" charset="0"/>
                <a:ea typeface="Roboto Mono" pitchFamily="34" charset="-122"/>
                <a:cs typeface="Roboto Mono" pitchFamily="34" charset="-120"/>
              </a:rPr>
              <a:t>    If RootNode.GetRight() IsNot Nothing Then</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OutputInOrder(RootNode.GetRight())</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End If</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 </a:t>
            </a:r>
            <a:endParaRPr lang="en-US" sz="1250" dirty="0"/>
          </a:p>
          <a:p>
            <a:pPr indent="0" marL="0">
              <a:lnSpc>
                <a:spcPct val="105000"/>
              </a:lnSpc>
              <a:buNone/>
            </a:pPr>
            <a:r>
              <a:rPr lang="en-US" sz="1250" dirty="0">
                <a:solidFill>
                  <a:srgbClr val="1D1D1D"/>
                </a:solidFill>
                <a:latin typeface="Roboto Mono" pitchFamily="34" charset="0"/>
                <a:ea typeface="Roboto Mono" pitchFamily="34" charset="-122"/>
                <a:cs typeface="Roboto Mono" pitchFamily="34" charset="-120"/>
              </a:rPr>
              <a:t>End Sub</a:t>
            </a:r>
            <a:endParaRPr lang="en-US" sz="1250" dirty="0"/>
          </a:p>
        </p:txBody>
      </p:sp>
      <p:sp>
        <p:nvSpPr>
          <p:cNvPr id="11" name="Text 8"/>
          <p:cNvSpPr txBox="1"/>
          <p:nvPr/>
        </p:nvSpPr>
        <p:spPr>
          <a:xfrm>
            <a:off x="5852160" y="5212080"/>
            <a:ext cx="5669280" cy="868680"/>
          </a:xfrm>
          <a:prstGeom prst="rect">
            <a:avLst/>
          </a:prstGeom>
          <a:noFill/>
          <a:ln/>
        </p:spPr>
        <p:txBody>
          <a:bodyPr wrap="square" lIns="0" tIns="0" rIns="0" bIns="0" rtlCol="0" anchor="t"/>
          <a:lstStyle/>
          <a:p>
            <a:pPr indent="0" marL="0">
              <a:buNone/>
            </a:pPr>
            <a:r>
              <a:rPr lang="en-US" sz="1400" b="1" dirty="0">
                <a:solidFill>
                  <a:srgbClr val="494985"/>
                </a:solidFill>
                <a:latin typeface="Quicksand" pitchFamily="34" charset="0"/>
                <a:ea typeface="Quicksand" pitchFamily="34" charset="-122"/>
                <a:cs typeface="Quicksand" pitchFamily="34" charset="-120"/>
              </a:rPr>
              <a:t>Compare with slide 13: identical shape. -1 has become Nothing and the array look-ups have become get methods.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How examiners mark AddNode()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18</a:t>
            </a:r>
            <a:endParaRPr lang="en-US" sz="1350" dirty="0"/>
          </a:p>
        </p:txBody>
      </p:sp>
      <p:sp>
        <p:nvSpPr>
          <p:cNvPr id="7" name="Text 4"/>
          <p:cNvSpPr txBox="1"/>
          <p:nvPr/>
        </p:nvSpPr>
        <p:spPr>
          <a:xfrm>
            <a:off x="841248" y="1188720"/>
            <a:ext cx="10332720" cy="402336"/>
          </a:xfrm>
          <a:prstGeom prst="rect">
            <a:avLst/>
          </a:prstGeom>
          <a:noFill/>
          <a:ln/>
        </p:spPr>
        <p:txBody>
          <a:bodyPr wrap="square" lIns="0" tIns="0" rIns="0" bIns="0" rtlCol="0" anchor="t"/>
          <a:lstStyle/>
          <a:p>
            <a:pPr indent="0" marL="0">
              <a:spcAft>
                <a:spcPts val="600"/>
              </a:spcAft>
              <a:buNone/>
            </a:pPr>
            <a:r>
              <a:rPr lang="en-US" sz="1500" b="1" dirty="0">
                <a:solidFill>
                  <a:srgbClr val="202124"/>
                </a:solidFill>
                <a:latin typeface="Quicksand" pitchFamily="34" charset="0"/>
                <a:ea typeface="Quicksand" pitchFamily="34" charset="-122"/>
                <a:cs typeface="Quicksand" pitchFamily="34" charset="-120"/>
              </a:rPr>
              <a:t>Nov 2025 (9618/42) Q3(b): 1 mark per point, maximum 7 from 9.</a:t>
            </a:r>
            <a:endParaRPr lang="en-US" sz="15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896112" y="1645920"/>
          <a:ext cx="10387584" cy="914400"/>
        </p:xfrm>
        <a:graphic>
          <a:graphicData uri="http://schemas.openxmlformats.org/drawingml/2006/table">
            <a:tbl>
              <a:tblPr/>
              <a:tblGrid>
                <a:gridCol w="731520"/>
                <a:gridCol w="9656064"/>
              </a:tblGrid>
              <a:tr h="429768">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00" b="1" dirty="0">
                          <a:solidFill>
                            <a:srgbClr val="FFFFFF"/>
                          </a:solidFill>
                          <a:latin typeface="Quicksand" pitchFamily="34" charset="0"/>
                          <a:ea typeface="Quicksand" pitchFamily="34" charset="-122"/>
                          <a:cs typeface="Quicksand" pitchFamily="34" charset="-120"/>
                        </a:rPr>
                        <a:t>Marking point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42976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1</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Procedure header taking an integer parameter, and storing it at TreeArray(FreeNode, 1)</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2976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2</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Checking if the tree is full (FreeNode = 50) and outputting "The tree is full"</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976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3</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Checking if the tree is empty (RootPointer = -1) and, if so, setting RootPointer</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2976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4</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Otherwise, comparing the parameter with the data at the root</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976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5</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if less than, accessing the left node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2976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6</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if greater than (or equal), accessing the right node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976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7</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 repeating until the position is found</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42976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8</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Updating the correct pointer of the parent node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429768">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9</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350" dirty="0">
                          <a:solidFill>
                            <a:srgbClr val="202124"/>
                          </a:solidFill>
                          <a:latin typeface="Quicksand" pitchFamily="34" charset="0"/>
                          <a:ea typeface="Quicksand" pitchFamily="34" charset="-122"/>
                          <a:cs typeface="Quicksand" pitchFamily="34" charset="-120"/>
                        </a:rPr>
                        <a:t>Incrementing FreeNode</a:t>
                      </a:r>
                      <a:endParaRPr lang="en-US" sz="13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Marking a recursive traversal</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19</a:t>
            </a:r>
            <a:endParaRPr lang="en-US" sz="1350" dirty="0"/>
          </a:p>
        </p:txBody>
      </p:sp>
      <p:sp>
        <p:nvSpPr>
          <p:cNvPr id="7" name="Text 4"/>
          <p:cNvSpPr txBox="1"/>
          <p:nvPr/>
        </p:nvSpPr>
        <p:spPr>
          <a:xfrm>
            <a:off x="841248" y="1188720"/>
            <a:ext cx="10332720" cy="402336"/>
          </a:xfrm>
          <a:prstGeom prst="rect">
            <a:avLst/>
          </a:prstGeom>
          <a:noFill/>
          <a:ln/>
        </p:spPr>
        <p:txBody>
          <a:bodyPr wrap="square" lIns="0" tIns="0" rIns="0" bIns="0" rtlCol="0" anchor="t"/>
          <a:lstStyle/>
          <a:p>
            <a:pPr indent="0" marL="0">
              <a:spcAft>
                <a:spcPts val="600"/>
              </a:spcAft>
              <a:buNone/>
            </a:pPr>
            <a:r>
              <a:rPr lang="en-US" sz="1500" b="1" dirty="0">
                <a:solidFill>
                  <a:srgbClr val="202124"/>
                </a:solidFill>
                <a:latin typeface="Quicksand" pitchFamily="34" charset="0"/>
                <a:ea typeface="Quicksand" pitchFamily="34" charset="-122"/>
                <a:cs typeface="Quicksand" pitchFamily="34" charset="-120"/>
              </a:rPr>
              <a:t>June 2025 (9618/41) Q3(d) OutputInOrder(): 5 marks.</a:t>
            </a:r>
            <a:endParaRPr lang="en-US" sz="15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896112" y="1691640"/>
          <a:ext cx="10387584" cy="914400"/>
        </p:xfrm>
        <a:graphic>
          <a:graphicData uri="http://schemas.openxmlformats.org/drawingml/2006/table">
            <a:tbl>
              <a:tblPr/>
              <a:tblGrid>
                <a:gridCol w="914400"/>
                <a:gridCol w="9473184"/>
              </a:tblGrid>
              <a:tr h="502920">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Mark</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Marking point</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Procedure header taking a node as its parameter, and it is recursive</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Checking whether the left node is null, and a recursive call if it is not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Outputting the node's data</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Checking whether the right node is null, and a recursive call if it is not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502920">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1</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All three in the correct order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
        <p:nvSpPr>
          <p:cNvPr id="9" name="Text 5"/>
          <p:cNvSpPr txBox="1"/>
          <p:nvPr/>
        </p:nvSpPr>
        <p:spPr>
          <a:xfrm>
            <a:off x="896112" y="4892040"/>
            <a:ext cx="10332720" cy="73152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The last mark is only for getting the ORDER right - so learn which traversal is which. Nov 2022 PostOrder() was worth 7 marks with the same ideas.</a:t>
            </a:r>
            <a:endParaRPr lang="en-US" sz="15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Guided practice</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Activity 6</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20</a:t>
            </a:r>
            <a:endParaRPr lang="en-US" sz="1350" dirty="0"/>
          </a:p>
        </p:txBody>
      </p:sp>
      <p:sp>
        <p:nvSpPr>
          <p:cNvPr id="7" name="Text 4"/>
          <p:cNvSpPr txBox="1"/>
          <p:nvPr/>
        </p:nvSpPr>
        <p:spPr>
          <a:xfrm>
            <a:off x="877824" y="1298448"/>
            <a:ext cx="10296144" cy="4389120"/>
          </a:xfrm>
          <a:prstGeom prst="rect">
            <a:avLst/>
          </a:prstGeom>
          <a:noFill/>
          <a:ln/>
        </p:spPr>
        <p:txBody>
          <a:bodyPr wrap="square" lIns="0" tIns="0" rIns="0" bIns="0" rtlCol="0" anchor="t"/>
          <a:lstStyle/>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Turn to the worksheet - tasks get progressively harder, just like Cambridge exam questions</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Task 2: draw a tree from the Nov 2022 table, write its traversals, trace AddNode() and a search</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Task 3: complete the missing parts of SearchValue()</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Task 4: write PostOrder() from a specification (Nov 2022, 7 marks)</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Task 5: find and fix two bugs in a broken AddNode()</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Task 6 (at the computer): build and test a complete binary tree program</a:t>
            </a:r>
            <a:endParaRPr lang="en-US" sz="1700" dirty="0"/>
          </a:p>
          <a:p>
            <a:pPr marL="228600" indent="-228600">
              <a:spcAft>
                <a:spcPts val="1200"/>
              </a:spcAft>
              <a:buSzPct val="100000"/>
              <a:buChar char="•"/>
            </a:pPr>
            <a:r>
              <a:rPr lang="en-US" sz="1700" dirty="0">
                <a:solidFill>
                  <a:srgbClr val="202124"/>
                </a:solidFill>
                <a:latin typeface="Quicksand" pitchFamily="34" charset="0"/>
                <a:ea typeface="Quicksand" pitchFamily="34" charset="-122"/>
                <a:cs typeface="Quicksand" pitchFamily="34" charset="-120"/>
              </a:rPr>
              <a:t>Check your work against the answer key when your teacher shares it</a:t>
            </a:r>
            <a:endParaRPr lang="en-US" sz="17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Common misconceptions</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21</a:t>
            </a:r>
            <a:endParaRPr lang="en-US" sz="135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704088" y="1280160"/>
          <a:ext cx="10789920" cy="914400"/>
        </p:xfrm>
        <a:graphic>
          <a:graphicData uri="http://schemas.openxmlformats.org/drawingml/2006/table">
            <a:tbl>
              <a:tblPr/>
              <a:tblGrid>
                <a:gridCol w="4480560"/>
                <a:gridCol w="6309360"/>
              </a:tblGrid>
              <a:tr h="658368">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Misconception</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c>
                  <a:txBody>
                    <a:bodyPr/>
                    <a:lstStyle/>
                    <a:p>
                      <a:pPr indent="0" marL="0">
                        <a:buNone/>
                      </a:pPr>
                      <a:r>
                        <a:rPr lang="en-US" sz="1450" b="1" dirty="0">
                          <a:solidFill>
                            <a:srgbClr val="FFFFFF"/>
                          </a:solidFill>
                          <a:latin typeface="Quicksand" pitchFamily="34" charset="0"/>
                          <a:ea typeface="Quicksand" pitchFamily="34" charset="-122"/>
                          <a:cs typeface="Quicksand" pitchFamily="34" charset="-120"/>
                        </a:rPr>
                        <a:t>Why it is wrong</a:t>
                      </a:r>
                      <a:endParaRPr lang="en-US" sz="145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94985"/>
                    </a:solidFill>
                  </a:tcPr>
                </a:tc>
              </a:tr>
              <a:tr h="65836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root is always at index 0."</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RootPointer says where the root is. Always start from it.</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5836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"In-order means the order the data was inserted."</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In-order visits left, root, right - on an ordered tree that gives ascending order.</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5836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"Adding a node moves other nodes down."</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new node goes in at FreeNode; only its parent's pointer changes.</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r h="65836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"A recursive procedure also needs a loop."</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The recursive calls do the repeating. It needs a base case (a -1 / Nothing check) to stop.</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FFFFF"/>
                    </a:solidFill>
                  </a:tcPr>
                </a:tc>
              </a:tr>
              <a:tr h="658368">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"Equal values can go either way."</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c>
                  <a:txBody>
                    <a:bodyPr/>
                    <a:lstStyle/>
                    <a:p>
                      <a:pPr indent="0" marL="0">
                        <a:buNone/>
                      </a:pPr>
                      <a:r>
                        <a:rPr lang="en-US" sz="1400" dirty="0">
                          <a:solidFill>
                            <a:srgbClr val="202124"/>
                          </a:solidFill>
                          <a:latin typeface="Quicksand" pitchFamily="34" charset="0"/>
                          <a:ea typeface="Quicksand" pitchFamily="34" charset="-122"/>
                          <a:cs typeface="Quicksand" pitchFamily="34" charset="-120"/>
                        </a:rPr>
                        <a:t>Follow the question. Cambridge has sent equal values right ("greater than or equal").</a:t>
                      </a:r>
                      <a:endParaRPr lang="en-US" sz="1400" dirty="0">
                        <a:latin typeface="Quicksand" charset="0"/>
                        <a:ea typeface="Quicksand" charset="0"/>
                        <a:cs typeface="Quicksand" charset="0"/>
                      </a:endParaRPr>
                    </a:p>
                  </a:txBody>
                  <a:tcPr marL="91440" marR="91440" marT="36576" marB="36576"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6F5FC"/>
                    </a:solidFill>
                  </a:tcPr>
                </a:tc>
              </a:tr>
            </a:tbl>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Exit question</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Plenary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22</a:t>
            </a:r>
            <a:endParaRPr lang="en-US" sz="1350" dirty="0"/>
          </a:p>
        </p:txBody>
      </p:sp>
      <p:sp>
        <p:nvSpPr>
          <p:cNvPr id="7" name="Text 4"/>
          <p:cNvSpPr txBox="1"/>
          <p:nvPr/>
        </p:nvSpPr>
        <p:spPr>
          <a:xfrm>
            <a:off x="877824" y="1463040"/>
            <a:ext cx="10296144" cy="548640"/>
          </a:xfrm>
          <a:prstGeom prst="rect">
            <a:avLst/>
          </a:prstGeom>
          <a:noFill/>
          <a:ln/>
        </p:spPr>
        <p:txBody>
          <a:bodyPr wrap="square" lIns="0" tIns="0" rIns="0" bIns="0" rtlCol="0" anchor="t"/>
          <a:lstStyle/>
          <a:p>
            <a:pPr indent="0" marL="0">
              <a:buNone/>
            </a:pPr>
            <a:r>
              <a:rPr lang="en-US" sz="1800" b="1" dirty="0">
                <a:solidFill>
                  <a:srgbClr val="202124"/>
                </a:solidFill>
                <a:latin typeface="Quicksand" pitchFamily="34" charset="0"/>
                <a:ea typeface="Quicksand" pitchFamily="34" charset="-122"/>
                <a:cs typeface="Quicksand" pitchFamily="34" charset="-120"/>
              </a:rPr>
              <a:t>These values are added to an empty tree, in order: 50, 30, 70, 20, 40, 60.</a:t>
            </a:r>
            <a:endParaRPr lang="en-US" sz="1800" dirty="0"/>
          </a:p>
        </p:txBody>
      </p:sp>
      <p:sp>
        <p:nvSpPr>
          <p:cNvPr id="8" name="Text 5"/>
          <p:cNvSpPr txBox="1"/>
          <p:nvPr/>
        </p:nvSpPr>
        <p:spPr>
          <a:xfrm>
            <a:off x="877824" y="2240280"/>
            <a:ext cx="10296144" cy="457200"/>
          </a:xfrm>
          <a:prstGeom prst="rect">
            <a:avLst/>
          </a:prstGeom>
          <a:noFill/>
          <a:ln/>
        </p:spPr>
        <p:txBody>
          <a:bodyPr wrap="square" lIns="0" tIns="0" rIns="0" bIns="0" rtlCol="0" anchor="t"/>
          <a:lstStyle/>
          <a:p>
            <a:pPr indent="0" marL="0">
              <a:buNone/>
            </a:pPr>
            <a:r>
              <a:rPr lang="en-US" sz="1800" b="1" dirty="0">
                <a:solidFill>
                  <a:srgbClr val="202124"/>
                </a:solidFill>
                <a:latin typeface="Quicksand" pitchFamily="34" charset="0"/>
                <a:ea typeface="Quicksand" pitchFamily="34" charset="-122"/>
                <a:cs typeface="Quicksand" pitchFamily="34" charset="-120"/>
              </a:rPr>
              <a:t>1. Draw the tree.</a:t>
            </a:r>
            <a:endParaRPr lang="en-US" sz="1800" dirty="0"/>
          </a:p>
        </p:txBody>
      </p:sp>
      <p:sp>
        <p:nvSpPr>
          <p:cNvPr id="9" name="Text 6"/>
          <p:cNvSpPr txBox="1"/>
          <p:nvPr/>
        </p:nvSpPr>
        <p:spPr>
          <a:xfrm>
            <a:off x="877824" y="2834640"/>
            <a:ext cx="10296144" cy="457200"/>
          </a:xfrm>
          <a:prstGeom prst="rect">
            <a:avLst/>
          </a:prstGeom>
          <a:noFill/>
          <a:ln/>
        </p:spPr>
        <p:txBody>
          <a:bodyPr wrap="square" lIns="0" tIns="0" rIns="0" bIns="0" rtlCol="0" anchor="t"/>
          <a:lstStyle/>
          <a:p>
            <a:pPr indent="0" marL="0">
              <a:buNone/>
            </a:pPr>
            <a:r>
              <a:rPr lang="en-US" sz="1800" b="1" dirty="0">
                <a:solidFill>
                  <a:srgbClr val="202124"/>
                </a:solidFill>
                <a:latin typeface="Quicksand" pitchFamily="34" charset="0"/>
                <a:ea typeface="Quicksand" pitchFamily="34" charset="-122"/>
                <a:cs typeface="Quicksand" pitchFamily="34" charset="-120"/>
              </a:rPr>
              <a:t>2. Write the pre-order and post-order traversals.</a:t>
            </a:r>
            <a:endParaRPr lang="en-US" sz="1800" dirty="0"/>
          </a:p>
        </p:txBody>
      </p:sp>
      <p:sp>
        <p:nvSpPr>
          <p:cNvPr id="10" name="Text 7"/>
          <p:cNvSpPr txBox="1"/>
          <p:nvPr/>
        </p:nvSpPr>
        <p:spPr>
          <a:xfrm>
            <a:off x="877824" y="3429000"/>
            <a:ext cx="10296144" cy="731520"/>
          </a:xfrm>
          <a:prstGeom prst="rect">
            <a:avLst/>
          </a:prstGeom>
          <a:noFill/>
          <a:ln/>
        </p:spPr>
        <p:txBody>
          <a:bodyPr wrap="square" lIns="0" tIns="0" rIns="0" bIns="0" rtlCol="0" anchor="t"/>
          <a:lstStyle/>
          <a:p>
            <a:pPr indent="0" marL="0">
              <a:buNone/>
            </a:pPr>
            <a:r>
              <a:rPr lang="en-US" sz="1800" b="1" dirty="0">
                <a:solidFill>
                  <a:srgbClr val="202124"/>
                </a:solidFill>
                <a:latin typeface="Quicksand" pitchFamily="34" charset="0"/>
                <a:ea typeface="Quicksand" pitchFamily="34" charset="-122"/>
                <a:cs typeface="Quicksand" pitchFamily="34" charset="-120"/>
              </a:rPr>
              <a:t>3. At which index of TreeArray is 40 stored, and which array element points to it?</a:t>
            </a:r>
            <a:endParaRPr lang="en-US" sz="1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667512" y="347472"/>
            <a:ext cx="7955280" cy="548640"/>
          </a:xfrm>
          <a:prstGeom prst="rect">
            <a:avLst/>
          </a:prstGeom>
          <a:noFill/>
          <a:ln/>
        </p:spPr>
        <p:txBody>
          <a:bodyPr wrap="square" lIns="0" tIns="0" rIns="0" bIns="0" rtlCol="0" anchor="ctr"/>
          <a:lstStyle/>
          <a:p>
            <a:pPr indent="0" marL="0">
              <a:buNone/>
            </a:pPr>
            <a:r>
              <a:rPr lang="en-US" sz="2600" b="1" dirty="0">
                <a:solidFill>
                  <a:srgbClr val="202124"/>
                </a:solidFill>
                <a:latin typeface="Quicksand" pitchFamily="34" charset="0"/>
                <a:ea typeface="Quicksand" pitchFamily="34" charset="-122"/>
                <a:cs typeface="Quicksand" pitchFamily="34" charset="-120"/>
              </a:rPr>
              <a:t>In this lesson, you</a:t>
            </a:r>
            <a:endParaRPr lang="en-US" sz="2600" dirty="0"/>
          </a:p>
        </p:txBody>
      </p:sp>
      <p:sp>
        <p:nvSpPr>
          <p:cNvPr id="3" name="Shape 1"/>
          <p:cNvSpPr/>
          <p:nvPr/>
        </p:nvSpPr>
        <p:spPr>
          <a:xfrm>
            <a:off x="667512" y="932688"/>
            <a:ext cx="1719072" cy="54864"/>
          </a:xfrm>
          <a:prstGeom prst="rect">
            <a:avLst/>
          </a:prstGeom>
          <a:solidFill>
            <a:srgbClr val="FFD84D"/>
          </a:solidFill>
          <a:ln w="12700">
            <a:solidFill>
              <a:srgbClr val="FFD84D"/>
            </a:solidFill>
            <a:prstDash val="solid"/>
          </a:ln>
        </p:spPr>
      </p:sp>
      <p:sp>
        <p:nvSpPr>
          <p:cNvPr id="4" name="Text 2"/>
          <p:cNvSpPr/>
          <p:nvPr/>
        </p:nvSpPr>
        <p:spPr>
          <a:xfrm>
            <a:off x="8823960" y="292608"/>
            <a:ext cx="2706624" cy="320040"/>
          </a:xfrm>
          <a:prstGeom prst="roundRect">
            <a:avLst>
              <a:gd name="adj" fmla="val 142857"/>
            </a:avLst>
          </a:prstGeom>
          <a:solidFill>
            <a:srgbClr val="FFFFFF"/>
          </a:solidFill>
          <a:ln w="15875">
            <a:solidFill>
              <a:srgbClr val="494985"/>
            </a:solidFill>
          </a:ln>
          <a:effectLst>
            <a:outerShdw sx="100000" sy="100000" kx="0" ky="0" algn="bl" rotWithShape="0" blurRad="38100" dist="19050" dir="5400000">
              <a:srgbClr val="000000">
                <a:alpha val="18000"/>
              </a:srgbClr>
            </a:outerShdw>
          </a:effectLst>
        </p:spPr>
        <p:txBody>
          <a:bodyPr wrap="square" lIns="0" tIns="0" rIns="0" bIns="0" rtlCol="0" anchor="ctr"/>
          <a:lstStyle/>
          <a:p>
            <a:pPr algn="ctr" indent="0" marL="0">
              <a:buNone/>
            </a:pPr>
            <a:r>
              <a:rPr lang="en-US" sz="1350" b="1" dirty="0">
                <a:solidFill>
                  <a:srgbClr val="494985"/>
                </a:solidFill>
                <a:latin typeface="Quicksand" pitchFamily="34" charset="0"/>
                <a:ea typeface="Quicksand" pitchFamily="34" charset="-122"/>
                <a:cs typeface="Quicksand" pitchFamily="34" charset="-120"/>
              </a:rPr>
              <a:t>Summary</a:t>
            </a:r>
            <a:endParaRPr lang="en-US" sz="1350" dirty="0"/>
          </a:p>
        </p:txBody>
      </p:sp>
      <p:sp>
        <p:nvSpPr>
          <p:cNvPr id="5" name="Text 3"/>
          <p:cNvSpPr txBox="1"/>
          <p:nvPr/>
        </p:nvSpPr>
        <p:spPr>
          <a:xfrm>
            <a:off x="10917936" y="6263640"/>
            <a:ext cx="612648" cy="283464"/>
          </a:xfrm>
          <a:prstGeom prst="rect">
            <a:avLst/>
          </a:prstGeom>
          <a:noFill/>
          <a:ln/>
        </p:spPr>
        <p:txBody>
          <a:bodyPr wrap="square" lIns="0" tIns="0" rIns="0" bIns="0" rtlCol="0" anchor="ctr"/>
          <a:lstStyle/>
          <a:p>
            <a:pPr algn="r" indent="0" marL="0">
              <a:buNone/>
            </a:pPr>
            <a:r>
              <a:rPr lang="en-US" sz="1350" b="1" dirty="0">
                <a:solidFill>
                  <a:srgbClr val="202124"/>
                </a:solidFill>
                <a:latin typeface="Quicksand" pitchFamily="34" charset="0"/>
                <a:ea typeface="Quicksand" pitchFamily="34" charset="-122"/>
                <a:cs typeface="Quicksand" pitchFamily="34" charset="-120"/>
              </a:rPr>
              <a:t>23</a:t>
            </a:r>
            <a:endParaRPr lang="en-US" sz="1350" dirty="0"/>
          </a:p>
        </p:txBody>
      </p:sp>
      <p:sp>
        <p:nvSpPr>
          <p:cNvPr id="6" name="Text 4"/>
          <p:cNvSpPr txBox="1"/>
          <p:nvPr/>
        </p:nvSpPr>
        <p:spPr>
          <a:xfrm>
            <a:off x="877824" y="1417320"/>
            <a:ext cx="10296144" cy="347472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Used the vocabulary of binary trees and built ordered trees by hand</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Stored a tree in a 2D array with left pointer, data and right pointer columns</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Wrote and traced AddNode(), following pointers to the correct parent</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Wrote and traced recursive traversals and a recursive search</a:t>
            </a:r>
            <a:endParaRPr lang="en-US" sz="1800" dirty="0"/>
          </a:p>
          <a:p>
            <a:pPr marL="228600" indent="-228600">
              <a:spcAft>
                <a:spcPts val="1400"/>
              </a:spcAft>
              <a:buSzPct val="100000"/>
              <a:buChar char="•"/>
            </a:pPr>
            <a:r>
              <a:rPr lang="en-US" sz="1800" dirty="0">
                <a:solidFill>
                  <a:srgbClr val="202124"/>
                </a:solidFill>
                <a:latin typeface="Quicksand" pitchFamily="34" charset="0"/>
                <a:ea typeface="Quicksand" pitchFamily="34" charset="-122"/>
                <a:cs typeface="Quicksand" pitchFamily="34" charset="-120"/>
              </a:rPr>
              <a:t>Compared the array and OOP versions and applied real 9618 mark schemes</a:t>
            </a:r>
            <a:endParaRPr lang="en-US" sz="1800" dirty="0"/>
          </a:p>
        </p:txBody>
      </p:sp>
      <p:sp>
        <p:nvSpPr>
          <p:cNvPr id="7" name="Text 5"/>
          <p:cNvSpPr txBox="1"/>
          <p:nvPr/>
        </p:nvSpPr>
        <p:spPr>
          <a:xfrm>
            <a:off x="877824" y="4937760"/>
            <a:ext cx="10296144" cy="640080"/>
          </a:xfrm>
          <a:prstGeom prst="rect">
            <a:avLst/>
          </a:prstGeom>
          <a:noFill/>
          <a:ln/>
        </p:spPr>
        <p:txBody>
          <a:bodyPr wrap="square" lIns="0" tIns="0" rIns="0" bIns="0" rtlCol="0" anchor="t"/>
          <a:lstStyle/>
          <a:p>
            <a:pPr indent="0" marL="0">
              <a:buNone/>
            </a:pPr>
            <a:r>
              <a:rPr lang="en-US" sz="1500" b="1" dirty="0">
                <a:solidFill>
                  <a:srgbClr val="494985"/>
                </a:solidFill>
                <a:latin typeface="Quicksand" pitchFamily="34" charset="0"/>
                <a:ea typeface="Quicksand" pitchFamily="34" charset="-122"/>
                <a:cs typeface="Quicksand" pitchFamily="34" charset="-120"/>
              </a:rPr>
              <a:t>Revision: stacks, queues, linked lists and binary trees all follow pointers - choose the ADT that fits the problem.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Binary trees</dc:title>
  <dc:subject>PptxGenJS Presentation</dc:subject>
  <dc:creator>PptxGenJS</dc:creator>
  <cp:lastModifiedBy>PptxGenJS</cp:lastModifiedBy>
  <cp:revision>1</cp:revision>
  <dcterms:created xsi:type="dcterms:W3CDTF">2026-09-30T01:57:43Z</dcterms:created>
  <dcterms:modified xsi:type="dcterms:W3CDTF">2026-09-30T01:57:43Z</dcterms:modified>
</cp:coreProperties>
</file>