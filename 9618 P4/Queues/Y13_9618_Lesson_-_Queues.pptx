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94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900000" y="0"/>
            <a:ext cx="4292000" cy="6858000"/>
          </a:xfrm>
          <a:prstGeom prst="rect">
            <a:avLst/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6750" y="2700000"/>
            <a:ext cx="700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202124"/>
                </a:solidFill>
                <a:latin typeface="Quicksand"/>
              </a:rPr>
              <a:t>Queues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3550000"/>
            <a:ext cx="70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666666"/>
                </a:solidFill>
                <a:latin typeface="Quicksand"/>
              </a:rPr>
              <a:t>Y13 - Cambridge International 9618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4000000"/>
            <a:ext cx="1714500" cy="57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66750" y="4050000"/>
            <a:ext cx="1714500" cy="57150"/>
          </a:xfrm>
          <a:prstGeom prst="rect">
            <a:avLst/>
          </a:prstGeom>
          <a:solidFill>
            <a:srgbClr val="4949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42000" y="6458000"/>
            <a:ext cx="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50" b="1" i="0">
                <a:solidFill>
                  <a:srgbClr val="202124"/>
                </a:solidFill>
                <a:latin typeface="Quicksa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50" y="381000"/>
            <a:ext cx="7810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02124"/>
                </a:solidFill>
                <a:latin typeface="Quicksand"/>
              </a:rPr>
              <a:t>True or False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66750" y="933450"/>
            <a:ext cx="1714500" cy="57150"/>
          </a:xfrm>
          <a:prstGeom prst="rect">
            <a:avLst/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20150" y="292100"/>
            <a:ext cx="2705100" cy="32385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4949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50" b="1" i="0">
                <a:solidFill>
                  <a:srgbClr val="494985"/>
                </a:solidFill>
                <a:latin typeface="Quicksand"/>
              </a:rPr>
              <a:t>Starter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5650" y="6134100"/>
            <a:ext cx="6096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50" b="1" i="0">
                <a:solidFill>
                  <a:srgbClr val="494985"/>
                </a:solidFill>
                <a:latin typeface="Quicksand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150000"/>
            <a:ext cx="89535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202124"/>
                </a:solidFill>
                <a:latin typeface="Quicksand"/>
              </a:rPr>
              <a:t>Choose whether each statement is True or False.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52500" y="1650000"/>
          <a:ext cx="10287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Quicksand"/>
                        </a:rPr>
                        <a:t>Statement</a:t>
                      </a:r>
                    </a:p>
                  </a:txBody>
                  <a:tcPr marT="36000" marB="36000" anchor="ctr"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Quicksand"/>
                        </a:rPr>
                        <a:t>True</a:t>
                      </a:r>
                    </a:p>
                  </a:txBody>
                  <a:tcPr marT="36000" marB="36000" anchor="ctr"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Quicksand"/>
                        </a:rPr>
                        <a:t>False</a:t>
                      </a:r>
                    </a:p>
                  </a:txBody>
                  <a:tcPr marT="36000" marB="36000" anchor="ctr">
                    <a:solidFill>
                      <a:srgbClr val="4949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A queue follows First In First Out (FIFO).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A stack and a queue both remove items from the same end they were added.</a:t>
                      </a:r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In an array-based queue, the tail pointer shows where the next item will be added.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A linear queue can waste array space even when the queue is not full of data.</a:t>
                      </a:r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A circular queue solves this by wrapping the tail pointer back to index 0.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50" y="381000"/>
            <a:ext cx="7810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02124"/>
                </a:solidFill>
                <a:latin typeface="Quicksand"/>
              </a:rPr>
              <a:t>In this lesson, you will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666750" y="933450"/>
            <a:ext cx="1714500" cy="57150"/>
          </a:xfrm>
          <a:prstGeom prst="rect">
            <a:avLst/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20150" y="292100"/>
            <a:ext cx="2705100" cy="32385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4949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50" b="1" i="0">
                <a:solidFill>
                  <a:srgbClr val="494985"/>
                </a:solidFill>
                <a:latin typeface="Quicksand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5650" y="6134100"/>
            <a:ext cx="6096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50" b="1" i="0">
                <a:solidFill>
                  <a:srgbClr val="494985"/>
                </a:solidFill>
                <a:latin typeface="Quicksand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500000"/>
            <a:ext cx="10200000" cy="3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2000" b="0" i="0">
                <a:solidFill>
                  <a:srgbClr val="202124"/>
                </a:solidFill>
                <a:latin typeface="Quicksand"/>
              </a:rPr>
              <a:t>•  Explain what a queue is and where FIFO structures are used</a:t>
            </a:r>
          </a:p>
          <a:p>
            <a:pPr>
              <a:spcAft>
                <a:spcPts val="1800"/>
              </a:spcAft>
            </a:pPr>
            <a:r>
              <a:rPr sz="2000" b="0" i="0">
                <a:solidFill>
                  <a:srgbClr val="202124"/>
                </a:solidFill>
                <a:latin typeface="Quicksand"/>
              </a:rPr>
              <a:t>•  Describe how a linear queue is implemented using an array and head/tail pointers</a:t>
            </a:r>
          </a:p>
          <a:p>
            <a:pPr>
              <a:spcAft>
                <a:spcPts val="1800"/>
              </a:spcAft>
            </a:pPr>
            <a:r>
              <a:rPr sz="2000" b="0" i="0">
                <a:solidFill>
                  <a:srgbClr val="202124"/>
                </a:solidFill>
                <a:latin typeface="Quicksand"/>
              </a:rPr>
              <a:t>•  Explain why a circular queue is more efficient than a linear queue</a:t>
            </a:r>
          </a:p>
          <a:p>
            <a:pPr>
              <a:spcAft>
                <a:spcPts val="1800"/>
              </a:spcAft>
            </a:pPr>
            <a:r>
              <a:rPr sz="2000" b="0" i="0">
                <a:solidFill>
                  <a:srgbClr val="202124"/>
                </a:solidFill>
                <a:latin typeface="Quicksand"/>
              </a:rPr>
              <a:t>•  Write and trace VB.NET code for Enqueue() and Dequeue()</a:t>
            </a:r>
          </a:p>
          <a:p>
            <a:pPr>
              <a:spcAft>
                <a:spcPts val="1800"/>
              </a:spcAft>
            </a:pPr>
            <a:r>
              <a:rPr sz="2000" b="0" i="0">
                <a:solidFill>
                  <a:srgbClr val="202124"/>
                </a:solidFill>
                <a:latin typeface="Quicksand"/>
              </a:rPr>
              <a:t>•  Apply the official 9618 mark scheme to your own queue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50" y="381000"/>
            <a:ext cx="7810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02124"/>
                </a:solidFill>
                <a:latin typeface="Quicksand"/>
              </a:rPr>
              <a:t>What is a queue?</a:t>
            </a:r>
          </a:p>
        </p:txBody>
      </p:sp>
      <p:sp>
        <p:nvSpPr>
          <p:cNvPr id="3" name="Rectangle 2"/>
          <p:cNvSpPr/>
          <p:nvPr/>
        </p:nvSpPr>
        <p:spPr>
          <a:xfrm>
            <a:off x="666750" y="933450"/>
            <a:ext cx="1714500" cy="57150"/>
          </a:xfrm>
          <a:prstGeom prst="rect">
            <a:avLst/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20150" y="292100"/>
            <a:ext cx="2705100" cy="32385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4949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50" b="1" i="0">
                <a:solidFill>
                  <a:srgbClr val="494985"/>
                </a:solidFill>
                <a:latin typeface="Quicksand"/>
              </a:rPr>
              <a:t>Activity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5650" y="6134100"/>
            <a:ext cx="6096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50" b="1" i="0">
                <a:solidFill>
                  <a:srgbClr val="494985"/>
                </a:solidFill>
                <a:latin typeface="Quicksand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1300000"/>
            <a:ext cx="1000125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02124"/>
                </a:solidFill>
                <a:latin typeface="Quicksand"/>
              </a:rPr>
              <a:t>A queue is a linear data structure that adds items at the back and removes items from the front: First In, First Out (FIFO).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00150" y="2250000"/>
          <a:ext cx="9810750" cy="2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1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Quicksand"/>
                        </a:rPr>
                        <a:t>Everyday example</a:t>
                      </a:r>
                    </a:p>
                  </a:txBody>
                  <a:tcPr marT="36000" marB="36000" anchor="ctr"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Quicksand"/>
                        </a:rPr>
                        <a:t>What plays the role of the queue?</a:t>
                      </a:r>
                    </a:p>
                  </a:txBody>
                  <a:tcPr marT="36000" marB="36000" anchor="ctr">
                    <a:solidFill>
                      <a:srgbClr val="4949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People waiting to buy tickets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First person in line is served first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A print queue on a school network</a:t>
                      </a:r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Documents print in the order they were sent</a:t>
                      </a:r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A bank of messages waiting to be processed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Oldest message is handled first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Customers on hold to a call centre</a:t>
                      </a:r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Longest-waiting caller is answered first</a:t>
                      </a:r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50" y="381000"/>
            <a:ext cx="7810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02124"/>
                </a:solidFill>
                <a:latin typeface="Quicksand"/>
              </a:rPr>
              <a:t>Think, pair, share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66750" y="933450"/>
            <a:ext cx="1714500" cy="57150"/>
          </a:xfrm>
          <a:prstGeom prst="rect">
            <a:avLst/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20150" y="292100"/>
            <a:ext cx="2705100" cy="32385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4949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50" b="1" i="0">
                <a:solidFill>
                  <a:srgbClr val="494985"/>
                </a:solidFill>
                <a:latin typeface="Quicksand"/>
              </a:rPr>
              <a:t>Activity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5650" y="6134100"/>
            <a:ext cx="6096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50" b="1" i="0">
                <a:solidFill>
                  <a:srgbClr val="494985"/>
                </a:solidFill>
                <a:latin typeface="Quicksand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1400000"/>
            <a:ext cx="10001250" cy="1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202124"/>
                </a:solidFill>
                <a:latin typeface="Quicksand"/>
              </a:rPr>
              <a:t>A queue removes items from the front. A stack removes items from the top (Last In, First Out).</a:t>
            </a:r>
          </a:p>
          <a:p>
            <a:pPr algn="l">
              <a:lnSpc>
                <a:spcPct val="120000"/>
              </a:lnSpc>
            </a:pPr>
            <a:endParaRPr sz="1900" b="0" i="0">
              <a:solidFill>
                <a:srgbClr val="202124"/>
              </a:solidFill>
              <a:latin typeface="Quicksand"/>
            </a:endParaRPr>
          </a:p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202124"/>
                </a:solidFill>
                <a:latin typeface="Quicksand"/>
              </a:rPr>
              <a:t>With a partner: give one real example where a stack (LIFO) would be the wrong structure to use instead of a queue, and explain why.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50" y="381000"/>
            <a:ext cx="7810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02124"/>
                </a:solidFill>
                <a:latin typeface="Quicksand"/>
              </a:rPr>
              <a:t>Linear queue: an array with two pointers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66750" y="933450"/>
            <a:ext cx="1714500" cy="57150"/>
          </a:xfrm>
          <a:prstGeom prst="rect">
            <a:avLst/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20150" y="292100"/>
            <a:ext cx="2705100" cy="32385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4949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50" b="1" i="0">
                <a:solidFill>
                  <a:srgbClr val="494985"/>
                </a:solidFill>
                <a:latin typeface="Quicksand"/>
              </a:rPr>
              <a:t>Activity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5650" y="6134100"/>
            <a:ext cx="6096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50" b="1" i="0">
                <a:solidFill>
                  <a:srgbClr val="494985"/>
                </a:solidFill>
                <a:latin typeface="Quicksand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1250000"/>
            <a:ext cx="10300000" cy="1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50" b="0" i="0">
                <a:solidFill>
                  <a:srgbClr val="202124"/>
                </a:solidFill>
                <a:latin typeface="Quicksand"/>
              </a:rPr>
              <a:t>•  QueueArray stores the data items in a fixed-size 1D array</a:t>
            </a:r>
          </a:p>
          <a:p>
            <a:pPr>
              <a:spcAft>
                <a:spcPts val="1000"/>
              </a:spcAft>
            </a:pPr>
            <a:r>
              <a:rPr sz="1750" b="0" i="0">
                <a:solidFill>
                  <a:srgbClr val="202124"/>
                </a:solidFill>
                <a:latin typeface="Quicksand"/>
              </a:rPr>
              <a:t>•  HeadPointer holds the index of the front item (the next one to leave)</a:t>
            </a:r>
          </a:p>
          <a:p>
            <a:pPr>
              <a:spcAft>
                <a:spcPts val="1000"/>
              </a:spcAft>
            </a:pPr>
            <a:r>
              <a:rPr sz="1750" b="0" i="0">
                <a:solidFill>
                  <a:srgbClr val="202124"/>
                </a:solidFill>
                <a:latin typeface="Quicksand"/>
              </a:rPr>
              <a:t>•  TailPointer holds the index of the next free space (where a new item will be added)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876300" y="3050000"/>
            <a:ext cx="10300000" cy="1050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1D"/>
                </a:solidFill>
                <a:latin typeface="Roboto Mono"/>
              </a:rPr>
              <a:t>Dim QueueArray(9) As String      ' 10 spaces, index 0 to 9</a:t>
            </a:r>
          </a:p>
          <a:p>
            <a:pPr>
              <a:lnSpc>
                <a:spcPct val="105000"/>
              </a:lnSpc>
            </a:pPr>
            <a:r>
              <a:rPr sz="1500" b="0" i="0">
                <a:solidFill>
                  <a:srgbClr val="1D1D1D"/>
                </a:solidFill>
                <a:latin typeface="Roboto Mono"/>
              </a:rPr>
              <a:t>Dim HeadPointer As Integer = 0</a:t>
            </a:r>
          </a:p>
          <a:p>
            <a:pPr>
              <a:lnSpc>
                <a:spcPct val="105000"/>
              </a:lnSpc>
            </a:pPr>
            <a:r>
              <a:rPr sz="1500" b="0" i="0">
                <a:solidFill>
                  <a:srgbClr val="1D1D1D"/>
                </a:solidFill>
                <a:latin typeface="Roboto Mono"/>
              </a:rPr>
              <a:t>Dim TailPointer As Integer = 0</a:t>
            </a:r>
          </a:p>
          <a:p>
            <a:pPr>
              <a:lnSpc>
                <a:spcPct val="105000"/>
              </a:lnSpc>
            </a:pPr>
            <a:r>
              <a:rPr sz="1500" b="0" i="0">
                <a:solidFill>
                  <a:srgbClr val="1D1D1D"/>
                </a:solidFill>
                <a:latin typeface="Roboto Mono"/>
              </a:rPr>
              <a:t>Dim NumberItems As Integer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4300000"/>
            <a:ext cx="103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494985"/>
                </a:solidFill>
                <a:latin typeface="Quicksand"/>
              </a:rPr>
              <a:t>Enqueue: store DataToAdd at QueueArray(TailPointer), then TailPointer += 1</a:t>
            </a:r>
          </a:p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494985"/>
                </a:solidFill>
                <a:latin typeface="Quicksand"/>
              </a:rPr>
              <a:t>Dequeue: return QueueArray(HeadPointer), then HeadPointer +=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50" y="381000"/>
            <a:ext cx="7810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02124"/>
                </a:solidFill>
                <a:latin typeface="Quicksand"/>
              </a:rPr>
              <a:t>The problem with a linear queue</a:t>
            </a:r>
          </a:p>
        </p:txBody>
      </p:sp>
      <p:sp>
        <p:nvSpPr>
          <p:cNvPr id="3" name="Rectangle 2"/>
          <p:cNvSpPr/>
          <p:nvPr/>
        </p:nvSpPr>
        <p:spPr>
          <a:xfrm>
            <a:off x="666750" y="933450"/>
            <a:ext cx="1714500" cy="57150"/>
          </a:xfrm>
          <a:prstGeom prst="rect">
            <a:avLst/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20150" y="292100"/>
            <a:ext cx="2705100" cy="32385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4949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50" b="1" i="0">
                <a:solidFill>
                  <a:srgbClr val="494985"/>
                </a:solidFill>
                <a:latin typeface="Quicksand"/>
              </a:rPr>
              <a:t>Activity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5650" y="6134100"/>
            <a:ext cx="6096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50" b="1" i="0">
                <a:solidFill>
                  <a:srgbClr val="494985"/>
                </a:solidFill>
                <a:latin typeface="Quicksand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1250000"/>
            <a:ext cx="103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202124"/>
                </a:solidFill>
                <a:latin typeface="Quicksand"/>
              </a:rPr>
              <a:t>A queue of size 5 enqueues A, B, C, then dequeues twice, then tries to enqueue D and 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00000" y="1900000"/>
          <a:ext cx="10192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9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Quicksand"/>
                        </a:rPr>
                        <a:t>Operation</a:t>
                      </a:r>
                    </a:p>
                  </a:txBody>
                  <a:tcPr marT="36000" marB="36000" anchor="ctr"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Quicksand"/>
                        </a:rPr>
                        <a:t>Head</a:t>
                      </a:r>
                    </a:p>
                  </a:txBody>
                  <a:tcPr marT="36000" marB="36000" anchor="ctr"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Quicksand"/>
                        </a:rPr>
                        <a:t>Tail</a:t>
                      </a:r>
                    </a:p>
                  </a:txBody>
                  <a:tcPr marT="36000" marB="36000" anchor="ctr"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Quicksand"/>
                        </a:rPr>
                        <a:t>Array contents (index 0-4)</a:t>
                      </a:r>
                    </a:p>
                  </a:txBody>
                  <a:tcPr marT="36000" marB="36000" anchor="ctr">
                    <a:solidFill>
                      <a:srgbClr val="4949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Enqueue A, B, C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0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3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A, B, C, _, _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Dequeue (x2)</a:t>
                      </a:r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2</a:t>
                      </a:r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3</a:t>
                      </a:r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_, _, C, _, _</a:t>
                      </a:r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Enqueue D, E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2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5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_, _, C, D, E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Enqueue F</a:t>
                      </a:r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2</a:t>
                      </a:r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5</a:t>
                      </a:r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REJECTED - TailPointer = 5 is out of range!</a:t>
                      </a:r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76300" y="4850000"/>
            <a:ext cx="103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494985"/>
                </a:solidFill>
                <a:latin typeface="Quicksand"/>
              </a:rPr>
              <a:t>Only 2 items are actually stored, yet the queue reports as full. The wasted space at index 0 and 1 is never reused.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50" y="381000"/>
            <a:ext cx="7810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02124"/>
                </a:solidFill>
                <a:latin typeface="Quicksand"/>
              </a:rPr>
              <a:t>Circular queue: wrap the pointers around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66750" y="933450"/>
            <a:ext cx="1714500" cy="57150"/>
          </a:xfrm>
          <a:prstGeom prst="rect">
            <a:avLst/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20150" y="292100"/>
            <a:ext cx="2705100" cy="32385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4949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50" b="1" i="0">
                <a:solidFill>
                  <a:srgbClr val="494985"/>
                </a:solidFill>
                <a:latin typeface="Quicksand"/>
              </a:rPr>
              <a:t>Activity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5650" y="6134100"/>
            <a:ext cx="6096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50" b="1" i="0">
                <a:solidFill>
                  <a:srgbClr val="494985"/>
                </a:solidFill>
                <a:latin typeface="Quicksand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1250000"/>
            <a:ext cx="103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124"/>
                </a:solidFill>
                <a:latin typeface="Quicksand"/>
              </a:rPr>
              <a:t>A circular queue treats the array as if index 0 follows the last index, reusing freed space at the front.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76300" y="2050000"/>
            <a:ext cx="10300000" cy="1150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lnSpc>
                <a:spcPct val="105000"/>
              </a:lnSpc>
            </a:pPr>
            <a:endParaRPr lang="en-GB" sz="1550" b="0" i="0" dirty="0">
              <a:solidFill>
                <a:srgbClr val="1D1D1D"/>
              </a:solidFill>
              <a:latin typeface="Roboto Mono"/>
            </a:endParaRPr>
          </a:p>
          <a:p>
            <a:pPr algn="ctr">
              <a:lnSpc>
                <a:spcPct val="105000"/>
              </a:lnSpc>
            </a:pPr>
            <a:endParaRPr lang="en-GB" sz="1550" b="0" i="0" dirty="0">
              <a:solidFill>
                <a:srgbClr val="1D1D1D"/>
              </a:solidFill>
              <a:latin typeface="Roboto Mono"/>
            </a:endParaRPr>
          </a:p>
          <a:p>
            <a:pPr>
              <a:lnSpc>
                <a:spcPct val="105000"/>
              </a:lnSpc>
            </a:pPr>
            <a:r>
              <a:rPr lang="en-GB" sz="1550" dirty="0">
                <a:solidFill>
                  <a:srgbClr val="1D1D1D"/>
                </a:solidFill>
                <a:latin typeface="Roboto Mono"/>
              </a:rPr>
              <a:t>If </a:t>
            </a:r>
            <a:r>
              <a:rPr lang="en-GB" sz="1550" dirty="0" err="1">
                <a:solidFill>
                  <a:srgbClr val="1D1D1D"/>
                </a:solidFill>
                <a:latin typeface="Roboto Mono"/>
              </a:rPr>
              <a:t>TailPointer</a:t>
            </a:r>
            <a:r>
              <a:rPr lang="en-GB" sz="1550" dirty="0">
                <a:solidFill>
                  <a:srgbClr val="1D1D1D"/>
                </a:solidFill>
                <a:latin typeface="Roboto Mono"/>
              </a:rPr>
              <a:t> &gt;= </a:t>
            </a:r>
            <a:r>
              <a:rPr lang="en-GB" sz="1550" dirty="0" err="1">
                <a:solidFill>
                  <a:srgbClr val="1D1D1D"/>
                </a:solidFill>
                <a:latin typeface="Roboto Mono"/>
              </a:rPr>
              <a:t>MaxSize</a:t>
            </a:r>
            <a:r>
              <a:rPr lang="en-GB" sz="1550">
                <a:solidFill>
                  <a:srgbClr val="1D1D1D"/>
                </a:solidFill>
                <a:latin typeface="Roboto Mono"/>
              </a:rPr>
              <a:t> - 1 Then</a:t>
            </a:r>
            <a:endParaRPr lang="en-GB" sz="1550" dirty="0">
              <a:solidFill>
                <a:srgbClr val="1D1D1D"/>
              </a:solidFill>
              <a:latin typeface="Roboto Mono"/>
            </a:endParaRPr>
          </a:p>
          <a:p>
            <a:pPr algn="ctr">
              <a:lnSpc>
                <a:spcPct val="105000"/>
              </a:lnSpc>
            </a:pPr>
            <a:r>
              <a:rPr sz="1550" b="0" i="0" dirty="0" err="1">
                <a:solidFill>
                  <a:srgbClr val="1D1D1D"/>
                </a:solidFill>
                <a:latin typeface="Roboto Mono"/>
              </a:rPr>
              <a:t>TailPointer</a:t>
            </a:r>
            <a:r>
              <a:rPr sz="1550" b="0" i="0" dirty="0">
                <a:solidFill>
                  <a:srgbClr val="1D1D1D"/>
                </a:solidFill>
                <a:latin typeface="Roboto Mono"/>
              </a:rPr>
              <a:t> = 0        ' wrap back to the start</a:t>
            </a:r>
          </a:p>
          <a:p>
            <a:pPr>
              <a:lnSpc>
                <a:spcPct val="105000"/>
              </a:lnSpc>
            </a:pPr>
            <a:r>
              <a:rPr sz="1550" b="0" i="0" dirty="0">
                <a:solidFill>
                  <a:srgbClr val="1D1D1D"/>
                </a:solidFill>
                <a:latin typeface="Roboto Mono"/>
              </a:rPr>
              <a:t>Else</a:t>
            </a:r>
          </a:p>
          <a:p>
            <a:pPr>
              <a:lnSpc>
                <a:spcPct val="105000"/>
              </a:lnSpc>
            </a:pPr>
            <a:r>
              <a:rPr sz="1550" b="0" i="0" dirty="0">
                <a:solidFill>
                  <a:srgbClr val="1D1D1D"/>
                </a:solidFill>
                <a:latin typeface="Roboto Mono"/>
              </a:rPr>
              <a:t>    </a:t>
            </a:r>
            <a:r>
              <a:rPr sz="1550" b="0" i="0" dirty="0" err="1">
                <a:solidFill>
                  <a:srgbClr val="1D1D1D"/>
                </a:solidFill>
                <a:latin typeface="Roboto Mono"/>
              </a:rPr>
              <a:t>TailPointer</a:t>
            </a:r>
            <a:r>
              <a:rPr sz="1550" b="0" i="0" dirty="0">
                <a:solidFill>
                  <a:srgbClr val="1D1D1D"/>
                </a:solidFill>
                <a:latin typeface="Roboto Mono"/>
              </a:rPr>
              <a:t> = </a:t>
            </a:r>
            <a:r>
              <a:rPr sz="1550" b="0" i="0" dirty="0" err="1">
                <a:solidFill>
                  <a:srgbClr val="1D1D1D"/>
                </a:solidFill>
                <a:latin typeface="Roboto Mono"/>
              </a:rPr>
              <a:t>TailPointer</a:t>
            </a:r>
            <a:r>
              <a:rPr sz="1550" b="0" i="0" dirty="0">
                <a:solidFill>
                  <a:srgbClr val="1D1D1D"/>
                </a:solidFill>
                <a:latin typeface="Roboto Mono"/>
              </a:rPr>
              <a:t> + 1</a:t>
            </a:r>
          </a:p>
          <a:p>
            <a:pPr>
              <a:lnSpc>
                <a:spcPct val="105000"/>
              </a:lnSpc>
            </a:pPr>
            <a:r>
              <a:rPr sz="1550" b="0" i="0" dirty="0">
                <a:solidFill>
                  <a:srgbClr val="1D1D1D"/>
                </a:solidFill>
                <a:latin typeface="Roboto Mono"/>
              </a:rPr>
              <a:t>End 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450000"/>
            <a:ext cx="10300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50" b="0" i="0">
                <a:solidFill>
                  <a:srgbClr val="202124"/>
                </a:solidFill>
                <a:latin typeface="Quicksand"/>
              </a:rPr>
              <a:t>•  Exactly the same wraparound rule is applied to HeadPointer on Dequeue()</a:t>
            </a:r>
          </a:p>
          <a:p>
            <a:pPr>
              <a:spcAft>
                <a:spcPts val="1000"/>
              </a:spcAft>
            </a:pPr>
            <a:r>
              <a:rPr sz="1650" b="0" i="0">
                <a:solidFill>
                  <a:srgbClr val="202124"/>
                </a:solidFill>
                <a:latin typeface="Quicksand"/>
              </a:rPr>
              <a:t>•  A NumberItems counter tells us if the queue is genuinely full or empty (Head and Tail alone cannot, because they can be equal in both cases)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50" y="381000"/>
            <a:ext cx="7810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02124"/>
                </a:solidFill>
                <a:latin typeface="Quicksand"/>
              </a:rPr>
              <a:t>Tracing a circular queue</a:t>
            </a:r>
          </a:p>
        </p:txBody>
      </p:sp>
      <p:sp>
        <p:nvSpPr>
          <p:cNvPr id="3" name="Rectangle 2"/>
          <p:cNvSpPr/>
          <p:nvPr/>
        </p:nvSpPr>
        <p:spPr>
          <a:xfrm>
            <a:off x="666750" y="933450"/>
            <a:ext cx="1714500" cy="57150"/>
          </a:xfrm>
          <a:prstGeom prst="rect">
            <a:avLst/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20150" y="292100"/>
            <a:ext cx="2705100" cy="32385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4949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50" b="1" i="0">
                <a:solidFill>
                  <a:srgbClr val="494985"/>
                </a:solidFill>
                <a:latin typeface="Quicksand"/>
              </a:rPr>
              <a:t>Activity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5650" y="6134100"/>
            <a:ext cx="6096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50" b="1" i="0">
                <a:solidFill>
                  <a:srgbClr val="494985"/>
                </a:solidFill>
                <a:latin typeface="Quicksand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1250000"/>
            <a:ext cx="103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202124"/>
                </a:solidFill>
                <a:latin typeface="Quicksand"/>
              </a:rPr>
              <a:t>The same size-5 circular queue: Head=2, Tail=5 wraps to Tail=0. NumberItems = 2.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00000" y="1900000"/>
          <a:ext cx="1059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0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Quicksand"/>
                        </a:rPr>
                        <a:t>Operation</a:t>
                      </a:r>
                    </a:p>
                  </a:txBody>
                  <a:tcPr marT="36000" marB="36000" anchor="ctr"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Quicksand"/>
                        </a:rPr>
                        <a:t>Head</a:t>
                      </a:r>
                    </a:p>
                  </a:txBody>
                  <a:tcPr marT="36000" marB="36000" anchor="ctr"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Quicksand"/>
                        </a:rPr>
                        <a:t>Tail</a:t>
                      </a:r>
                    </a:p>
                  </a:txBody>
                  <a:tcPr marT="36000" marB="36000" anchor="ctr"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Quicksand"/>
                        </a:rPr>
                        <a:t>NumberItems</a:t>
                      </a:r>
                    </a:p>
                  </a:txBody>
                  <a:tcPr marT="36000" marB="36000" anchor="ctr"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Quicksand"/>
                        </a:rPr>
                        <a:t>Array contents</a:t>
                      </a:r>
                    </a:p>
                  </a:txBody>
                  <a:tcPr marT="36000" marB="36000" anchor="ctr">
                    <a:solidFill>
                      <a:srgbClr val="4949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Start (after A,B,C in; A,B out)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2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3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1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_, _, C, _, _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Enqueue D, E</a:t>
                      </a:r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2</a:t>
                      </a:r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0</a:t>
                      </a:r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3</a:t>
                      </a:r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E, _, C, D, _</a:t>
                      </a:r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Enqueue F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2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1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4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202124"/>
                          </a:solidFill>
                          <a:latin typeface="Quicksand"/>
                        </a:rPr>
                        <a:t>E, F, C, D, _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76300" y="4650000"/>
            <a:ext cx="103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494985"/>
                </a:solidFill>
                <a:latin typeface="Quicksand"/>
              </a:rPr>
              <a:t>F is accepted! Index 0 and 1 have been reused - this is the whole point of a circular queue.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50" y="381000"/>
            <a:ext cx="7810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02124"/>
                </a:solidFill>
                <a:latin typeface="Quicksand"/>
              </a:rPr>
              <a:t>Writing Enqueue() in VB.NET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66750" y="933450"/>
            <a:ext cx="1714500" cy="57150"/>
          </a:xfrm>
          <a:prstGeom prst="rect">
            <a:avLst/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20150" y="292100"/>
            <a:ext cx="2705100" cy="32385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4949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50" b="1" i="0">
                <a:solidFill>
                  <a:srgbClr val="494985"/>
                </a:solidFill>
                <a:latin typeface="Quicksand"/>
              </a:rPr>
              <a:t>Activity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5650" y="6134100"/>
            <a:ext cx="6096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50" b="1" i="0">
                <a:solidFill>
                  <a:srgbClr val="494985"/>
                </a:solidFill>
                <a:latin typeface="Quicksand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1250000"/>
            <a:ext cx="10792000" cy="4650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Function Enqueue(ByRef QueueArray() As String, ByRef HeadPointer As Integer, _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                  ByRef TailPointer As Integer, ByRef NumberItems As Integer, _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                  ByVal DataToAdd As String) As Boolean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    If NumberItems = 10 Then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        Return False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    End If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    QueueArray(TailPointer) = DataToAdd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    If TailPointer &gt;= 9 Then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        TailPointer = 0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    Else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        TailPointer = TailPointer + 1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    End If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    NumberItems = NumberItems + 1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    Return True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End Function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50" y="381000"/>
            <a:ext cx="7810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02124"/>
                </a:solidFill>
                <a:latin typeface="Quicksand"/>
              </a:rPr>
              <a:t>Writing Dequeue() in VB.NET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66750" y="933450"/>
            <a:ext cx="1714500" cy="57150"/>
          </a:xfrm>
          <a:prstGeom prst="rect">
            <a:avLst/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20150" y="292100"/>
            <a:ext cx="2705100" cy="32385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4949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50" b="1" i="0">
                <a:solidFill>
                  <a:srgbClr val="494985"/>
                </a:solidFill>
                <a:latin typeface="Quicksand"/>
              </a:rPr>
              <a:t>Activity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5650" y="6134100"/>
            <a:ext cx="6096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50" b="1" i="0">
                <a:solidFill>
                  <a:srgbClr val="494985"/>
                </a:solidFill>
                <a:latin typeface="Quicksand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1250000"/>
            <a:ext cx="10792000" cy="4650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Function Dequeue(ByRef QueueArray() As String, ByRef HeadPointer As Integer, _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                   ByRef TailPointer As Integer, ByRef NumberItems As Integer) As String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    If NumberItems = 0 Then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        Return "False"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    End If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    Dim DataRemoved As String = QueueArray(HeadPointer)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    If HeadPointer &gt;= 9 Then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        HeadPointer = 0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    Else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        HeadPointer = HeadPointer + 1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    End If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    NumberItems = NumberItems - 1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    Return DataRemoved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1D1D1D"/>
                </a:solidFill>
                <a:latin typeface="Roboto Mono"/>
              </a:rPr>
              <a:t>End Function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50" y="381000"/>
            <a:ext cx="7810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02124"/>
                </a:solidFill>
                <a:latin typeface="Quicksand"/>
              </a:rPr>
              <a:t>How Cambridge examiners mark this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66750" y="933450"/>
            <a:ext cx="1714500" cy="57150"/>
          </a:xfrm>
          <a:prstGeom prst="rect">
            <a:avLst/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20150" y="292100"/>
            <a:ext cx="2705100" cy="32385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4949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50" b="1" i="0">
                <a:solidFill>
                  <a:srgbClr val="494985"/>
                </a:solidFill>
                <a:latin typeface="Quicksand"/>
              </a:rPr>
              <a:t>Activity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5650" y="6134100"/>
            <a:ext cx="6096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50" b="1" i="0">
                <a:solidFill>
                  <a:srgbClr val="494985"/>
                </a:solidFill>
                <a:latin typeface="Quicksand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150000"/>
            <a:ext cx="10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202124"/>
                </a:solidFill>
                <a:latin typeface="Quicksand"/>
              </a:rPr>
              <a:t>Real 9618 Paper 4 mark scheme (2022), adapted to VB.NET - Enqueue() is worth 7 marks: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00000" y="1650000"/>
          <a:ext cx="10392000" cy="3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Quicksand"/>
                        </a:rPr>
                        <a:t>Mark</a:t>
                      </a:r>
                    </a:p>
                  </a:txBody>
                  <a:tcPr marT="36000" marB="36000" anchor="ctr"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Quicksand"/>
                        </a:rPr>
                        <a:t>What the examiner is looking for</a:t>
                      </a:r>
                    </a:p>
                  </a:txBody>
                  <a:tcPr marT="36000" marB="36000" anchor="ctr">
                    <a:solidFill>
                      <a:srgbClr val="4949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124"/>
                          </a:solidFill>
                          <a:latin typeface="Quicksand"/>
                        </a:rPr>
                        <a:t>1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124"/>
                          </a:solidFill>
                          <a:latin typeface="Quicksand"/>
                        </a:rPr>
                        <a:t>Function header (parameters) and matching End Function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124"/>
                          </a:solidFill>
                          <a:latin typeface="Quicksand"/>
                        </a:rPr>
                        <a:t>1</a:t>
                      </a:r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124"/>
                          </a:solidFill>
                          <a:latin typeface="Quicksand"/>
                        </a:rPr>
                        <a:t>Checks IF NumberItems = MaxSize (the full condition)</a:t>
                      </a:r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124"/>
                          </a:solidFill>
                          <a:latin typeface="Quicksand"/>
                        </a:rPr>
                        <a:t>1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124"/>
                          </a:solidFill>
                          <a:latin typeface="Quicksand"/>
                        </a:rPr>
                        <a:t>Returns False when full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124"/>
                          </a:solidFill>
                          <a:latin typeface="Quicksand"/>
                        </a:rPr>
                        <a:t>1</a:t>
                      </a:r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124"/>
                          </a:solidFill>
                          <a:latin typeface="Quicksand"/>
                        </a:rPr>
                        <a:t>Stores DataToAdd at QueueArray(TailPointer)</a:t>
                      </a:r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124"/>
                          </a:solidFill>
                          <a:latin typeface="Quicksand"/>
                        </a:rPr>
                        <a:t>1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124"/>
                          </a:solidFill>
                          <a:latin typeface="Quicksand"/>
                        </a:rPr>
                        <a:t>Correct wraparound: TailPointer = 0 when at the last index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124"/>
                          </a:solidFill>
                          <a:latin typeface="Quicksand"/>
                        </a:rPr>
                        <a:t>1</a:t>
                      </a:r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124"/>
                          </a:solidFill>
                          <a:latin typeface="Quicksand"/>
                        </a:rPr>
                        <a:t>Increments TailPointer otherwise</a:t>
                      </a:r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124"/>
                          </a:solidFill>
                          <a:latin typeface="Quicksand"/>
                        </a:rPr>
                        <a:t>1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124"/>
                          </a:solidFill>
                          <a:latin typeface="Quicksand"/>
                        </a:rPr>
                        <a:t>Increments NumberItems and Returns True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50" y="381000"/>
            <a:ext cx="7810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02124"/>
                </a:solidFill>
                <a:latin typeface="Quicksand"/>
              </a:rPr>
              <a:t>Guided practice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66750" y="933450"/>
            <a:ext cx="1714500" cy="57150"/>
          </a:xfrm>
          <a:prstGeom prst="rect">
            <a:avLst/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20150" y="292100"/>
            <a:ext cx="2705100" cy="32385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4949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50" b="1" i="0">
                <a:solidFill>
                  <a:srgbClr val="494985"/>
                </a:solidFill>
                <a:latin typeface="Quicksand"/>
              </a:rPr>
              <a:t>Activity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5650" y="6134100"/>
            <a:ext cx="6096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50" b="1" i="0">
                <a:solidFill>
                  <a:srgbClr val="494985"/>
                </a:solidFill>
                <a:latin typeface="Quicksand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1300000"/>
            <a:ext cx="10300000" cy="3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0" i="0">
                <a:solidFill>
                  <a:srgbClr val="202124"/>
                </a:solidFill>
                <a:latin typeface="Quicksand"/>
              </a:rPr>
              <a:t>•  Turn to the worksheet - Tasks 1 to 5 get progressively harder, just like Cambridge exam questions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202124"/>
                </a:solidFill>
                <a:latin typeface="Quicksand"/>
              </a:rPr>
              <a:t>•  Task 2: trace a queue by hand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202124"/>
                </a:solidFill>
                <a:latin typeface="Quicksand"/>
              </a:rPr>
              <a:t>•  Task 3: complete missing lines of a VB.NET Enqueue() function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202124"/>
                </a:solidFill>
                <a:latin typeface="Quicksand"/>
              </a:rPr>
              <a:t>•  Task 4: write a full Dequeue() function from a specification (like a real Paper 4 question)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202124"/>
                </a:solidFill>
                <a:latin typeface="Quicksand"/>
              </a:rPr>
              <a:t>•  Task 5 (Extension): find and fix two bugs in a broken circular queue implementation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202124"/>
                </a:solidFill>
                <a:latin typeface="Quicksand"/>
              </a:rPr>
              <a:t>•  Use the mark scheme on the last page to self-check your answers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50" y="381000"/>
            <a:ext cx="7810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02124"/>
                </a:solidFill>
                <a:latin typeface="Quicksand"/>
              </a:rPr>
              <a:t>Common misconceptions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66750" y="933450"/>
            <a:ext cx="1714500" cy="57150"/>
          </a:xfrm>
          <a:prstGeom prst="rect">
            <a:avLst/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20150" y="292100"/>
            <a:ext cx="2705100" cy="32385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4949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50" b="1" i="0">
                <a:solidFill>
                  <a:srgbClr val="494985"/>
                </a:solidFill>
                <a:latin typeface="Quicksand"/>
              </a:rPr>
              <a:t>Plenary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5650" y="6134100"/>
            <a:ext cx="6096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50" b="1" i="0">
                <a:solidFill>
                  <a:srgbClr val="494985"/>
                </a:solidFill>
                <a:latin typeface="Quicksand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00000" y="1650000"/>
          <a:ext cx="10792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Quicksand"/>
                        </a:rPr>
                        <a:t>Misconception</a:t>
                      </a:r>
                    </a:p>
                  </a:txBody>
                  <a:tcPr marT="36000" marB="36000" anchor="ctr"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Quicksand"/>
                        </a:rPr>
                        <a:t>Why it is wrong</a:t>
                      </a:r>
                    </a:p>
                  </a:txBody>
                  <a:tcPr marT="36000" marB="36000" anchor="ctr">
                    <a:solidFill>
                      <a:srgbClr val="4949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202124"/>
                          </a:solidFill>
                          <a:latin typeface="Quicksand"/>
                        </a:rPr>
                        <a:t>"A queue and a stack are basically the same thing."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202124"/>
                          </a:solidFill>
                          <a:latin typeface="Quicksand"/>
                        </a:rPr>
                        <a:t>A queue removes from the front (FIFO); a stack removes from the top (LIFO).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202124"/>
                          </a:solidFill>
                          <a:latin typeface="Quicksand"/>
                        </a:rPr>
                        <a:t>"If Head = Tail, the queue must be empty."</a:t>
                      </a:r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202124"/>
                          </a:solidFill>
                          <a:latin typeface="Quicksand"/>
                        </a:rPr>
                        <a:t>Head = Tail also happens when the queue is completely full - you need NumberItems to tell the difference.</a:t>
                      </a:r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202124"/>
                          </a:solidFill>
                          <a:latin typeface="Quicksand"/>
                        </a:rPr>
                        <a:t>"A circular queue is a different array shape."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202124"/>
                          </a:solidFill>
                          <a:latin typeface="Quicksand"/>
                        </a:rPr>
                        <a:t>It is the same 1D array; only the pointer arithmetic wraps around using MOD or an IF check.</a:t>
                      </a:r>
                    </a:p>
                  </a:txBody>
                  <a:tcPr marT="36000" marB="36000" anchor="ctr">
                    <a:solidFill>
                      <a:srgbClr val="F6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202124"/>
                          </a:solidFill>
                          <a:latin typeface="Quicksand"/>
                        </a:rPr>
                        <a:t>"Dequeue deletes the data from the array."</a:t>
                      </a:r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202124"/>
                          </a:solidFill>
                          <a:latin typeface="Quicksand"/>
                        </a:rPr>
                        <a:t>Dequeue only moves HeadPointer forward - the old data is simply overwritten later by Enqueue.</a:t>
                      </a:r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50" y="381000"/>
            <a:ext cx="7810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02124"/>
                </a:solidFill>
                <a:latin typeface="Quicksand"/>
              </a:rPr>
              <a:t>Exit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66750" y="933450"/>
            <a:ext cx="1714500" cy="57150"/>
          </a:xfrm>
          <a:prstGeom prst="rect">
            <a:avLst/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20150" y="292100"/>
            <a:ext cx="2705100" cy="32385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4949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50" b="1" i="0">
                <a:solidFill>
                  <a:srgbClr val="494985"/>
                </a:solidFill>
                <a:latin typeface="Quicksand"/>
              </a:rPr>
              <a:t>Plenary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5650" y="6134100"/>
            <a:ext cx="6096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50" b="1" i="0">
                <a:solidFill>
                  <a:srgbClr val="494985"/>
                </a:solidFill>
                <a:latin typeface="Quicksand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1700000"/>
            <a:ext cx="10300000" cy="2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202124"/>
                </a:solidFill>
                <a:latin typeface="Quicksand"/>
              </a:rPr>
              <a:t>A circular queue of size 8 has HeadPointer = 6 and TailPointer = 6, with NumberItems = 8.</a:t>
            </a:r>
          </a:p>
          <a:p>
            <a:pPr algn="l">
              <a:lnSpc>
                <a:spcPct val="130000"/>
              </a:lnSpc>
            </a:pPr>
            <a:endParaRPr sz="2000" b="1" i="0">
              <a:solidFill>
                <a:srgbClr val="202124"/>
              </a:solidFill>
              <a:latin typeface="Quicksand"/>
            </a:endParaRPr>
          </a:p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202124"/>
                </a:solidFill>
                <a:latin typeface="Quicksand"/>
              </a:rPr>
              <a:t>Is the queue empty or full? Explain how you know, and state what Enqueue() should return if it is called now.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50" y="381000"/>
            <a:ext cx="7810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02124"/>
                </a:solidFill>
                <a:latin typeface="Quicksand"/>
              </a:rPr>
              <a:t>In this lesson,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666750" y="933450"/>
            <a:ext cx="1714500" cy="57150"/>
          </a:xfrm>
          <a:prstGeom prst="rect">
            <a:avLst/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20150" y="292100"/>
            <a:ext cx="2705100" cy="32385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4949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50" b="1" i="0">
                <a:solidFill>
                  <a:srgbClr val="494985"/>
                </a:solidFill>
                <a:latin typeface="Quicksand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5650" y="6134100"/>
            <a:ext cx="6096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50" b="1" i="0">
                <a:solidFill>
                  <a:srgbClr val="494985"/>
                </a:solidFill>
                <a:latin typeface="Quicksand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1400000"/>
            <a:ext cx="10300000" cy="3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900" b="0" i="0">
                <a:solidFill>
                  <a:srgbClr val="202124"/>
                </a:solidFill>
                <a:latin typeface="Quicksand"/>
              </a:rPr>
              <a:t>•  Defined a queue as a FIFO structure and identified real-world examples</a:t>
            </a:r>
          </a:p>
          <a:p>
            <a:pPr>
              <a:spcAft>
                <a:spcPts val="1400"/>
              </a:spcAft>
            </a:pPr>
            <a:r>
              <a:rPr sz="1900" b="0" i="0">
                <a:solidFill>
                  <a:srgbClr val="202124"/>
                </a:solidFill>
                <a:latin typeface="Quicksand"/>
              </a:rPr>
              <a:t>•  Implemented a linear queue using an array and Head/Tail pointers</a:t>
            </a:r>
          </a:p>
          <a:p>
            <a:pPr>
              <a:spcAft>
                <a:spcPts val="1400"/>
              </a:spcAft>
            </a:pPr>
            <a:r>
              <a:rPr sz="1900" b="0" i="0">
                <a:solidFill>
                  <a:srgbClr val="202124"/>
                </a:solidFill>
                <a:latin typeface="Quicksand"/>
              </a:rPr>
              <a:t>•  Explained why a circular queue reuses space that a linear queue wastes</a:t>
            </a:r>
          </a:p>
          <a:p>
            <a:pPr>
              <a:spcAft>
                <a:spcPts val="1400"/>
              </a:spcAft>
            </a:pPr>
            <a:r>
              <a:rPr sz="1900" b="0" i="0">
                <a:solidFill>
                  <a:srgbClr val="202124"/>
                </a:solidFill>
                <a:latin typeface="Quicksand"/>
              </a:rPr>
              <a:t>•  Wrote and annotated VB.NET code for Enqueue() and Dequeue()</a:t>
            </a:r>
          </a:p>
          <a:p>
            <a:pPr>
              <a:spcAft>
                <a:spcPts val="1400"/>
              </a:spcAft>
            </a:pPr>
            <a:r>
              <a:rPr sz="1900" b="0" i="0">
                <a:solidFill>
                  <a:srgbClr val="202124"/>
                </a:solidFill>
                <a:latin typeface="Quicksand"/>
              </a:rPr>
              <a:t>•  Applied real Cambridge 9618 mark scheme criteria to your own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4900000"/>
            <a:ext cx="103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494985"/>
                </a:solidFill>
                <a:latin typeface="Quicksand"/>
              </a:rPr>
              <a:t>Next lesson: stacks, and choosing the right ADT for a given problem.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1434</Words>
  <Application>Microsoft Office PowerPoint</Application>
  <PresentationFormat>Widescreen</PresentationFormat>
  <Paragraphs>220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Quicksand</vt:lpstr>
      <vt:lpstr>Roboto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Mykhailo Shapkin (Teacher-US)</cp:lastModifiedBy>
  <cp:revision>2</cp:revision>
  <dcterms:created xsi:type="dcterms:W3CDTF">2013-01-27T09:14:16Z</dcterms:created>
  <dcterms:modified xsi:type="dcterms:W3CDTF">2026-09-11T08:12:03Z</dcterms:modified>
  <cp:category/>
</cp:coreProperties>
</file>