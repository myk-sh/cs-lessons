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follows the same structure as the queues lesson: retrieval, concept, trace by hand, read code, mark scheme, then worksheet (trace, fill the gaps, write from spec, debug, build it at the computer).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True. 2 False - Push adds to the TOP. 3 True. 4 True (with the next-free-space convention). 5 False - a stack only needs one pointer because items are added and removed at the same end. Q4 is a good one to revisit on slide 9, where the other pointer convention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out the call stack example - students met it with recursion. Ask: what happens if the call stack runs out of space? (stack overflow)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Expected: a printer using a stack would print the most recently sent job first - the first person could wait forever if new jobs keep arriving (starvation). A stack is better for undo/back/recursion, where the most recent item is the one you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only ONE pointer. In this convention StackPointer is the next free space, so it also equals the number of items in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before revealing each row and ask students to predict. Key point: 7 overwrites the old 2 at index 2 - Pop never deleted it. Items come off in reverse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two checks are worth marks in every stack question. Link back to the queue lesson: the queue needed NumberItems; here StackPointer does that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 wording to look for: "points to the next available space" (June 2022, June 2023, Nov 2023) versus "stores the index of the last element" (June 2025, Nov 2025). Revisit starter statement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Globals are declared at module level, outside Sub Main - this is how Cambridge phrases it ("global data structures"). Ask: what would happen if the two middle lines were swapped?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matches June 2022 Q1(e): Pop returns -1 if the stack is empty. Common error: reading StackData(StackPointer) before decrementing - that reads the empty space above the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logic, different pointer meaning. Compare line by line with slides 10-11: the full test is now 29 (size - 1), and the order of "move pointer" and "store/read" is reversed. Stack of 30 integers, Pop returns -999 when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Push() was worth 6 marks in 9618 Paper 4, June 2022 (Q1c). These are the typical marking points for that style of question, written for VB.NET. Emphasise that the header (parameter + return type) and the full check are "easy" marks students often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June 2022 Q1(d) asked for exactly this (5 marks): input 11 numbers, message for added / not added, then output the stack. The 11th number tests the full condition. OutputStack is the procedure from part (b): loop 0 to 9, then output StackPointer.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Tasks 1-5 on paper (about 25 minutes), Task 6 at the computer. The Task 6 test data is the real June 2022 data, so students can compare their output with the expected output in the mark scheme.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after Push A, Push B -&gt; TopOfStack = 1. Pop removes B -&gt; 0. Push C -&gt; 1, Push D -&gt; 2. TopOfStack = 2 and the next Pop returns D. Full would be TopOfStack = 7 for a stack of size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0416" y="0"/>
            <a:ext cx="4288536" cy="6858000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67512" y="2560320"/>
            <a:ext cx="7004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3547872"/>
            <a:ext cx="7004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Y13 - Cambridge International 9618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" y="4050792"/>
            <a:ext cx="1719072" cy="54864"/>
          </a:xfrm>
          <a:prstGeom prst="rect">
            <a:avLst/>
          </a:prstGeom>
          <a:solidFill>
            <a:srgbClr val="494985"/>
          </a:solidFill>
          <a:ln w="12700">
            <a:solidFill>
              <a:srgbClr val="4949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True or False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Starter activity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Choose whether each statement is True or False.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" y="1691640"/>
          <a:ext cx="10287000" cy="914400"/>
        </p:xfrm>
        <a:graphic>
          <a:graphicData uri="http://schemas.openxmlformats.org/drawingml/2006/table">
            <a:tbl>
              <a:tblPr/>
              <a:tblGrid>
                <a:gridCol w="8092440"/>
                <a:gridCol w="1097280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Statement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True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False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 stack follows Last In First Out (LIFO).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Push adds a new item to the bottom of the stack.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Pop removes the item that was added most recently.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If StackPointer holds the next free space and equals 0, the stack is empty.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Like a queue, a stack needs a head pointer and a tail pointer.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this lesson, you will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1463040"/>
            <a:ext cx="10241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Explain what a stack is and where LIFO structures are used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Describe how a stack is implemented using a 1D array and a single top pointer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 Push() and Pop() operations by hand, including full and empty stacks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Recognise the two pointer conventions used in 9618 exam questions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Write and test VB.NET code for Push() and Pop() and a main program that uses them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What is a stack?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344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stack is a linear data structure where items are added and removed at the same end (the top): Last In, First Out (LIFO).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97864" y="2148840"/>
          <a:ext cx="98115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239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Everyday / computing example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Why LIFO fits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Undo button in a word processor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most recent change is the first one undone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Back button in a web browser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last page visited is the first one returned to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call stack (procedure calls, recursion)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most recently called procedure must finish first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Reversing a string or a list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Items come off in the opposite order they went on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Evaluating expressions (e.g. Reverse Polish)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The two most recent operands are the ones used next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Think, pair, share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1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5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3258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queue adds at one end and removes from the other (FIFO). A stack adds and removes at the same end (LIFO).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4688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With a partner: explain what would go wrong if the school printer used a stack instead of a queue. Then give one situation where a stack is the better choice, and say why.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Queue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1783080"/>
            <a:ext cx="640080" cy="50292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03920" y="1783080"/>
            <a:ext cx="640080" cy="50292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0" y="1783080"/>
            <a:ext cx="640080" cy="50292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784080" y="1783080"/>
            <a:ext cx="640080" cy="50292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 flipH="1">
            <a:off x="7360920" y="2029968"/>
            <a:ext cx="45720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 flipH="1">
            <a:off x="10469880" y="2029968"/>
            <a:ext cx="457200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17804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out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60704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22376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503920" y="3429000"/>
            <a:ext cx="1005840" cy="45720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03920" y="3886200"/>
            <a:ext cx="1005840" cy="45720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03920" y="4343400"/>
            <a:ext cx="1005840" cy="45720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503920" y="4800600"/>
            <a:ext cx="1005840" cy="457200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012680" y="3063240"/>
            <a:ext cx="914" cy="548640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 flipV="1">
            <a:off x="10378440" y="3063240"/>
            <a:ext cx="914" cy="548640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10515600" y="3200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and out at the top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stack: an array with one pointer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6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801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StackData stores the items in a fixed-size 1D array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Index 0 is the bottom of the stack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StackPointer holds the index of the next free space, so it also tells you how many items are stored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77824" y="3017520"/>
            <a:ext cx="6583680" cy="77724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014984" y="31089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StackData(9) As Integer    ' 10 spaces, index 0 to 9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StackPointer As Integer = 0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0690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Push: store DataToPush at StackData(StackPointer), then StackPointer += 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48463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Pop: StackPointer -= 1, then return StackData(StackPointer)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0" y="2816352"/>
            <a:ext cx="1188720" cy="384048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818120" y="28163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2432304"/>
            <a:ext cx="1188720" cy="384048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243230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0" y="2048256"/>
            <a:ext cx="1188720" cy="384048"/>
          </a:xfrm>
          <a:prstGeom prst="rect">
            <a:avLst/>
          </a:prstGeom>
          <a:solidFill>
            <a:srgbClr val="E9E8F5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2124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818120" y="204825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0" y="1664208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818120" y="166420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0" y="128016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128016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flipH="1">
            <a:off x="9491472" y="1856232"/>
            <a:ext cx="566928" cy="914"/>
          </a:xfrm>
          <a:prstGeom prst="line">
            <a:avLst/>
          </a:prstGeom>
          <a:noFill/>
          <a:ln w="25400">
            <a:solidFill>
              <a:srgbClr val="49498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10104120" y="16733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StackPointer = 3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After Push 4, Push 9, Push 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Tracing a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7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52728"/>
            <a:ext cx="10296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stack of size 5 (StackPointer = next free space) starts empty with StackPointer = 0.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6696" y="1828800"/>
          <a:ext cx="10195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2011680"/>
                <a:gridCol w="3246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Operation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StackPointer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Value returned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Array contents (index 0-4)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Push 4, Push 9, Push 2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3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4, 9, 2, _, _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Pop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2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4, 9, _, _, _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Push 7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3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4, 9, 7, _, _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Pop, Pop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7 then 9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4, _, _, _, _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7824" y="4572000"/>
            <a:ext cx="1029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Items come off in reverse order. Push 7 reused index 2 - the old value 2 was simply overwritten, because Pop never deleted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Full and empty: the boundary checks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8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325880"/>
          <a:ext cx="1038758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453542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Situation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Test (StackPointer = next free space)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What goes wrong without the check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 is empty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StackPointer = 0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Pop reads index -1: run-time error (stack underflow)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 is full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StackPointer = 10  (the array size)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Push writes to index 10: run-time error (stack overflow)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96112" y="3383280"/>
            <a:ext cx="502920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33272" y="352044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4930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Push() checks FULL first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388620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If full, return False (or output a message) and do not change anything.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54496" y="3383280"/>
            <a:ext cx="5029200" cy="118872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91656" y="352044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912864" y="34930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Pop() checks EMPTY first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912864" y="3886200"/>
            <a:ext cx="4251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If empty, return the rogue value the question asks for (e.g. -1, "-1", -999 or "No data").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96112" y="4892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Read the question: the rogue value changes from paper to paper.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Two pointer conventions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9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234440"/>
          <a:ext cx="9966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11880"/>
                <a:gridCol w="3611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Next free space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Last item stored (top of stack)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Example identifier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StackPointer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TopOfStack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Initial value (empty)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0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-1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Empty when...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StackPointer = 0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TopOfStack = -1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Full when (size 10)...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StackPointer = 10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TopOfStack = 9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Push order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store, then add 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add 1, then store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Pop order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subtract 1, then read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read, then subtract 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Seen in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June 2022, June 2023, Nov 2023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June 2025, Nov 2025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97280" y="52578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Look for the phrase "next available space" or "index of the last element" before you write any code.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Writing Push() in VB.NET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4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10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6675120" cy="466344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6400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' Global declarations - at module level, outside any Sub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StackData(9) As Integer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StackPointer As Integer = 0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Function Push(ByVal DataToPush As Integer) As Boolean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StackPointer = 10 Then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Return False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StackData(StackPointer) = DataToPush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StackPointer = StackPointer + 1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Return True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Function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80960" y="1252728"/>
            <a:ext cx="3840480" cy="10515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38988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39328" y="136245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Check if full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39328" y="175564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StackPointer = 10 means every space 0-9 is used.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80960" y="2441448"/>
            <a:ext cx="3840480" cy="10515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57860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39328" y="255117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Store at the pointer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339328" y="294436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StackPointer is the next free space, so store there.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80960" y="3630168"/>
            <a:ext cx="3840480" cy="10515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376732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373989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Move the pointer up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413308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next free space is now one higher.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680960" y="4818888"/>
            <a:ext cx="3840480" cy="10515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495604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339328" y="492861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Report success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339328" y="532180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Return True so the caller can output a message.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Writing Pop() in VB.NET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4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11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6675120" cy="347472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Function Pop() As Integer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StackPointer = 0 Then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Return -1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StackPointer = StackPointer - 1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Return StackData(StackPointer)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Function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80960" y="1252728"/>
            <a:ext cx="3840480" cy="10515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138988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39328" y="136245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Check if empty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39328" y="175564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StackPointer = 0 means there is nothing to pop.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680960" y="2441448"/>
            <a:ext cx="3840480" cy="10515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257860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339328" y="255117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Move the pointer down first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339328" y="294436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top item is one BELOW the next free space.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680960" y="3630168"/>
            <a:ext cx="3840480" cy="10515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376732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373989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Return the top item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4133088"/>
            <a:ext cx="30632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data stays in the array - it will be overwritten later.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" y="49834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Quick check: StackData holds 4, 9, 7 and StackPointer = 3. What does Pop() return, and what is StackPointer afterwards?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TopOfStack version (Nov 2025 style)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4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12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5257800" cy="416052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4983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Stack(29) As Integer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TopOfStack As Integer = -1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Function Push(ByVal Value As Integer) _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  As Boolean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TopOfStack = 29 Then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Return False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TopOfStack = TopOfStack + 1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Stack(TopOfStack) = Value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Return True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Function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36208" y="1252728"/>
            <a:ext cx="5257800" cy="416052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373368" y="1344168"/>
            <a:ext cx="49834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Function Pop() As Integer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If TopOfStack = -1 Then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Return -999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If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Dim Value As Integer = Stack(TopOfStack)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TopOfStack = TopOfStack - 1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Return Value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Function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4088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Spot the differences with slides 10 and 11: the full test, the empty test, and the order of the two highlighted lines.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How Cambridge examiners mark this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13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118872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Push() was worth 6 marks in June 2022 (next-free-space convention). Typical marking points: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691640"/>
          <a:ext cx="1038758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473184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Mark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What the examiner is looking for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Function header taking an Integer parameter, returning Boolean, with matching End Function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Checks whether the stack is full: IF StackPointer = 10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Returns False when the stack is full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Otherwise stores the parameter at StackData(StackPointer)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Increments StackPointer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1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Returns True after a successful push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From functions to a full program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14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04088" y="1252728"/>
            <a:ext cx="7589520" cy="402336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1344168"/>
            <a:ext cx="7315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Sub Main()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For Count As Integer = 1 To 11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Console.Write("Enter a number: 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Dim Number As Integer = Integer.Parse(Console.ReadLine())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If Push(Number) Then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Console.WriteLine(Number &amp; " added to the stack")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Else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    Console.WriteLine(Number &amp; " not added - the stack is full")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End If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Next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OutputStack()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Console.ReadLine()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Sub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49640" y="1252728"/>
            <a:ext cx="2971800" cy="160020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0" y="1389888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208008" y="136245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Call and test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208008" y="1755648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If Push(Number) Then runs the function AND uses its Boolean result.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549640" y="3017520"/>
            <a:ext cx="2971800" cy="160020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3154680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208008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Why 11 inputs?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208008" y="3520440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 11th number proves your full check works - examiners look for that message.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" y="5486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Always test the boundary: one more item than the stack can hold, and one more Pop than it has items.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Guided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Activity 5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15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298448"/>
            <a:ext cx="1029614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Turn to the worksheet - tasks get progressively harder, just like Cambridge exam questions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2: trace a stack by hand, using both pointer conventions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3: complete the missing lines of a VB.NET Push() function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4: write a full Pop() function from a specification (like a real Paper 4 question)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5: find and fix two bugs in a broken Pop()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Task 6 (at the computer): build and test a complete stack program, then check your output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Check your work against the answer key when your teacher shares it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Common misconceptions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Plenary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16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64922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Misconception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Why it is wrong</a:t>
                      </a:r>
                      <a:endParaRPr lang="en-US" sz="145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498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"Pop deletes the item from the array."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Pop only moves the pointer. The value stays until a later Push overwrites it.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"StackPointer always points at the top item."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Only in the TopOfStack convention. Often it points to the next FREE space - read the question.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"A stack needs a head and a tail pointer."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Items enter and leave at the same end, so one pointer is enough.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5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"If the stack is full, Push can just do nothing."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02124"/>
                          </a:solidFill>
                          <a:latin typeface="Quicksand" pitchFamily="34" charset="0"/>
                          <a:ea typeface="Quicksand" pitchFamily="34" charset="-122"/>
                          <a:cs typeface="Quicksand" pitchFamily="34" charset="-120"/>
                        </a:rPr>
                        <a:t>It must report failure (return False / output a message) - that check earns marks.</a:t>
                      </a:r>
                      <a:endParaRPr lang="en-US" sz="1400" dirty="0">
                        <a:latin typeface="Quicksand" charset="0"/>
                        <a:ea typeface="Quicksand" charset="0"/>
                        <a:cs typeface="Quicksand" charset="0"/>
                      </a:endParaRPr>
                    </a:p>
                  </a:txBody>
                  <a:tcPr marL="91440" marR="91440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Exit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Plenary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17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1554480"/>
            <a:ext cx="10296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stack of size 8 uses TopOfStack (the index of the last item stored), initialised to -1.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2377440"/>
            <a:ext cx="10296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These operations happen in order: Push("A"), Push("B"), Pop(), Push("C"), Push("D").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20040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State the final value of TopOfStack and what the next Pop() will return. What value of TopOfStack would mean the stack is full?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this lesson, you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Summary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18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1417320"/>
            <a:ext cx="102961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Defined a stack as a LIFO structure and identified real-world and computing uses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Implemented a stack using a 1D array and a single top pointer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Traced Push() and Pop() by hand, including the full and empty boundary cases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Compared the "next free space" and "TopOfStack" pointer conventions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Wrote, tested and self-marked VB.NET code for Push(), Pop() and a main program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4937760"/>
            <a:ext cx="10296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Next lesson: linked lists - storing data in any order and linking it with pointers.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subject>PptxGenJS Presentation</dc:subject>
  <dc:creator>PptxGenJS</dc:creator>
  <cp:lastModifiedBy>PptxGenJS</cp:lastModifiedBy>
  <cp:revision>1</cp:revision>
  <dcterms:created xsi:type="dcterms:W3CDTF">2026-09-30T01:57:43Z</dcterms:created>
  <dcterms:modified xsi:type="dcterms:W3CDTF">2026-09-30T01:57:43Z</dcterms:modified>
</cp:coreProperties>
</file>