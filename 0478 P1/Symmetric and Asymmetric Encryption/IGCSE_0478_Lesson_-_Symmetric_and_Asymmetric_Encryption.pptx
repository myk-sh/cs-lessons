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scenario: data passes through networks operated by others. Ask what happens if somebody copies the message. Teach concepts before exam questions. 60-minute selected route; full pack with follow-up practice.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Internet_cafe_golden_princess.jpg
Author: Larry D. Moore
Source: https://commons.wikimedia.org/wiki/File:Internet_cafe_golden_princess.jpg
Licence: https://creativecommons.org/licenses/by/4.0/
Resized/recompressed; aspect-preserving crop in slide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original retrieval from the existing packet-switching lesson. Choose (a), (b), (c) in five minutes. Header fields: originator/destination/packet number. Routers decide next hop. Checksums detect errors, not confidentiality.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protects confidentiality when data is copied/intercepted. Sensitive examples: medical, bank, legal details. Photograph depicts historical paper medical records, not a particular encryption implementation.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US_Navy_041019-N-5821P-019_Airman_Lauren_Thurgood_of_Las_Vegas,_Nev.,_pulls_patient_medical_records_in_the_inpatient_ward_aboard_the_conventionally_powered_aircraft_carrier_USS_Kitty_Hawk.jpg
Author: U.S. Navy photo by Photographer's Mate 3rd Class Jason T. Poplin
Source: https://commons.wikimedia.org/wiki/File:US_Navy_041019-N-5821P-019_Airman_Lauren_Thurgood_of_Las_Vegas%2C_Nev.%2C_pulls_patient_medical_records_in_the_inpatient_ward_aboard_the_conventionally_powered_aircraft_carrier_USS_Kitty_Hawk.jpg
Licence: https://commons.wikimedia.org/wiki/File:US_Navy_041019-N-5821P-019_Airman_Lauren_Thurgood_of_Las_Vegas%2C_Nev.%2C_pulls_patient_medical_records_in_the_inpatient_ward_aboard_the_conventionally_powered_aircraft_carrier_USS_Kitty_Hawk.jpg#Licensing
Resized/recompressed; aspect-preserving crop in slide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Plaintext is the original intelligible data. Ciphertext is the encrypted data. Both plain text/plaintext and cipher text/ciphertext used in papers. The phone photograph represents a device sending a message, not the example’s actual sender.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Samsung_Galaxy_S6_edge_(17448278539).jpg
Author: Maurizio Pesce from Milan, Italia
Source: https://commons.wikimedia.org/wiki/File:Samsung_Galaxy_S6_edge_%2817448278539%29.jpg
Licence: https://creativecommons.org/licenses/by/2.0/
Resized/recompressed; aspect-preserving crop in slide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 = method/procedure. Key = value supplied to the algorithm. Avoid the inaccurate 2025 Q6(a) phrasing calling the encryption key a type of algorithm. Key examples are illustrative; real cryptographic keys are not passwords by definition.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Lenovo_Ideapad_3_20240401_121836.jpg
Author: Nasenber3
Source: https://commons.wikimedia.org/wiki/File:Lenovo_Ideapad_3_20240401_121836.jpg
Licence: https://creativecommons.org/licenses/by-sa/4.0/
Resized/recompressed; uncropped aspect-preserving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key3; worksheet uses different plaintext and key4. Wrap after Z. Caesar cipher is a visual demonstration only, not recommended security. Spaces preserved.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same key value3; encrypt shift forward3, decrypt shift backward3. The reversed operation does not mean that this toy cipher uses a second secret key. Real algorithms are more complex.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encryption algorithm uses a shared secret key. Sender and receiver both know it. Same key encrypts/decrypts. Do not introduce exam allocations here.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 key distribution is a problem if a secret is sent over an insecure channel. Teach protected transfer/established secure methods, not sending a secret beside the ciphertext in plaintext. Photo is representative routing hardware.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TP-Link_AX1500_Wi-Fi_6_Router_Front.jpg
Author: Abhi25t
Source: https://commons.wikimedia.org/wiki/File:TP-Link_AX1500_Wi-Fi_6_Router_Front.jpg
Licence: https://creativecommons.org/licenses/by-sa/4.0/
Resized/recompressed; uncropped aspect-preserving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encryption does not stop packets being captured. Distinguish confidentiality from checksum error detection. Show simplified network flow, not actual cryptographic protocol.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key can be shared; private key kept by owner. Keys mathematically linked; deriving private from public should be computationally infeasible with suitable cryptography. Do not repeat textbook’s absolute claim that neither key can be derived from the other. Photograph is representative remote working.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Child_playing_while_parent_works_on_laptop_at_home_during_daytime.jpg
Author: Shixart1985
Source: https://commons.wikimedia.org/wiki/File:Child_playing_while_parent_works_on_laptop_at_home_during_daytime.jpg
Licence: https://creativecommons.org/licenses/by/2.0/
Resized/recompressed; uncropped aspect-preserving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confidentiality example Aisha→Ben. Ben creates matching public/private keys. Aisha obtains Ben’s public key. She encrypts with it; Ben decrypts with his private. For real applications, authenticate whose public key it is; authenticity mechanisms outside core.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receiver’s public key to encrypt and receiver’s matching private key to decrypt. This is confidentiality, not digital signatures. Names differ from worksheet Maya/Leo.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prompt answer in notes, ask who owns keys when Ben replies to Aisha: Aisha publishes her public key; Ben uses Aisha public to encrypt; Aisha decrypts with her own private. Both need own pairs for two-way confidentiality.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actual methods, not universal security ranking. Symmetric shared secret; asymmetric public/private pair. Real systems often combine methods; this is contextual note, not required 0478 mechanism.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of ATM represents sensitive financial data, not a claimed particular cryptographic implementation. Ask original unmarked checks before exam framing; answer notes: encryption protects confidentiality, not interception; chosen recipient public key; recipient private to decrypt.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Photo: ATM_750x1300.jpg
Author: Rfc1394 at English Wikipedia Later versions were uploaded by Awyong Jeffrey Mordecai Salleh at en.wikipedia .
Source: https://commons.wikimedia.org/wiki/File:ATM_750x1300.jpg
Licence: https://commons.wikimedia.org/wiki/File:ATM_750x1300.jpg#Licensing
Resized/recompressed; uncropped aspect-preserving placement. No subject alterations. Representative hardware/settings; hypothetical lesson capabilities are not certified for the pictured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and original understanding checks completed. Tasks2–5 selected exam/original practice; Task6 follows as original repair bank. 17 published marks +34 suggested marks overall. Full pack not required in one hour.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Task2: define terms, answer cited purpose question and explain why interception is not prevented. Attempt before feedback.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Feb/Mar 2024 Q7(a)(i)
QP: https://pastpapers.papacambridge.com/directories/CAIE/CAIE-pastpapers/upload/0478_m24_qp_12.pdf
MS: https://pastpapers.papacambridge.com/directories/CAIE/CAIE-pastpapers/upload/0478_m24_ms_12.pdf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after the matching question has been attempted. These are model routes; retain accepted alternatives in the teacher key. Encryption does not stop interception. Explain unreadability, rather than claiming interception is prevented.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Feb/Mar 2024 Q7(a)(i)
QP: https://pastpapers.papacambridge.com/directories/CAIE/CAIE-pastpapers/upload/0478_m24_qp_12.pdf
MS: https://pastpapers.papacambridge.com/directories/CAIE/CAIE-pastpapers/upload/0478_m24_ms_12.pdf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Task3(a) before feedback. Task3(b) toy cipher uses different values from teaching example.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May/June 2024 Q2(c)(i)
QP: https://pastpapers.papacambridge.com/directories/CAIE/CAIE-pastpapers/upload/0478_s24_qp_12.pdf
MS: https://pastpapers.papacambridge.com/directories/CAIE/CAIE-pastpapers/upload/0478_s24_ms_12.pdf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after the matching question has been attempted. These are model routes; retain accepted alternatives in the teacher key. One mark requires the same-key idea; award up to three other accepted points. A key is a value used by the algorithm, not the algorithm itself.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May/June 2024 Q2(c)(i)
QP: https://pastpapers.papacambridge.com/directories/CAIE/CAIE-pastpapers/upload/0478_s24_qp_12.pdf
MS: https://pastpapers.papacambridge.com/directories/CAIE/CAIE-pastpapers/upload/0478_s24_ms_12.pdf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Task4(a) four-gap paragraph is printed on worksheet/booklet. Then annotate the different Maya/Leo direction scenario independently. Do not show matching answer until attempted.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0478/11 May/June 2024 Q7
QP: https://pastpapers.papacambridge.com/directories/CAIE/CAIE-pastpapers/upload/0478_s24_qp_11.pdf
MS: https://pastpapers.papacambridge.com/directories/CAIE/CAIE-pastpapers/upload/0478_s24_ms_11.pdf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after the matching question has been attempted. These are model routes; retain accepted alternatives in the teacher key. For confidential transmission, encrypt with the recipient’s public key and decrypt with the recipient’s private key.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0478/11 May/June 2024 Q7
QP: https://pastpapers.papacambridge.com/directories/CAIE/CAIE-pastpapers/upload/0478_s24_qp_11.pdf
MS: https://pastpapers.papacambridge.com/directories/CAIE/CAIE-pastpapers/upload/0478_s24_ms_11.pdf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Task5 has comparison, similarity, reason for asymmetric, a one-selection MC item and naming the other method. Use remaining parts as follow-up if time short.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Feb/Mar 2024 Q7(a)(ii)
QP: https://pastpapers.papacambridge.com/directories/CAIE/CAIE-pastpapers/upload/0478_m24_qp_12.pdf
MS: https://pastpapers.papacambridge.com/directories/CAIE/CAIE-pastpapers/upload/0478_m24_ms_12.pdf
0478/13 Oct/Nov 2024 Q2(g)(ii)
QP: https://pastpapers.papacambridge.com/directories/CAIE/CAIE-pastpapers/upload/0478_w24_qp_13.pdf
MS: https://pastpapers.papacambridge.com/directories/CAIE/CAIE-pastpapers/upload/0478_w24_ms_13.pdf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after the matching question has been attempted. These are model routes; retain accepted alternatives in the teacher key. Maximum four accepted points. Use explicit contrasts and correct key roles; do not call the symmetric secret key a public key.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0478/12 Feb/Mar 2024 Q7(a)(ii)
QP: https://pastpapers.papacambridge.com/directories/CAIE/CAIE-pastpapers/upload/0478_m24_qp_12.pdf
MS: https://pastpapers.papacambridge.com/directories/CAIE/CAIE-pastpapers/upload/0478_m24_ms_12.pdf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Task6 original claim repairs with suggested marks. Answers: encryption does not prevent interception; symmetric same key; encrypt for recipient with their public; public alone cannot decrypt ciphertext encrypted for owner. Do before sharing teacher key.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exit answers in notes: senderSam needsPriya publickey; Priyaprivate decrypt; symmetricshareonekeybothends; encryptioncannotstopinterception.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Commons photographs. Resized/recompressed; some aspect-preserving crops. No subject alterations. Full photographer names/URLs included here and in notes.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Commons photographs. Resized/recompressed; some aspect-preserving crops. No subject alterations. Full photographer names/URLs included here and in notes.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PDFcorepp63–66;2026–28official0478 2.3 purpose andsym/asym. Eightselectedparts17marks. SeeEncryption_Exam_Coverage.md forofficiallinks, allocations and wording issues.
Core source: teacher-supplied Hodder extract, printed pp.63–66, and Cambridge 0478 section 2.3. Eight practice parts are adapted from published 2024–2025 questions; 17 official marks retained. Original activities use suggested marks. The textbook quantum extension is outside this core lesson.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ommons.wikimedia.org/wiki/File:Internet_cafe_golden_princess.jpg" TargetMode="External"/><Relationship Id="rId2" Type="http://schemas.openxmlformats.org/officeDocument/2006/relationships/hyperlink" Target="https://creativecommons.org/licenses/by/4.0/" TargetMode="External"/><Relationship Id="rId3" Type="http://schemas.openxmlformats.org/officeDocument/2006/relationships/hyperlink" Target="https://commons.wikimedia.org/wiki/File:US_Navy_041019-N-5821P-019_Airman_Lauren_Thurgood_of_Las_Vegas%2C_Nev.%2C_pulls_patient_medical_records_in_the_inpatient_ward_aboard_the_conventionally_powered_aircraft_carrier_USS_Kitty_Hawk.jpg" TargetMode="External"/><Relationship Id="rId4" Type="http://schemas.openxmlformats.org/officeDocument/2006/relationships/hyperlink" Target="https://commons.wikimedia.org/wiki/File:US_Navy_041019-N-5821P-019_Airman_Lauren_Thurgood_of_Las_Vegas%2C_Nev.%2C_pulls_patient_medical_records_in_the_inpatient_ward_aboard_the_conventionally_powered_aircraft_carrier_USS_Kitty_Hawk.jpg#Licensing" TargetMode="External"/><Relationship Id="rId5" Type="http://schemas.openxmlformats.org/officeDocument/2006/relationships/hyperlink" Target="https://commons.wikimedia.org/wiki/File:Samsung_Galaxy_S6_edge_%2817448278539%29.jpg" TargetMode="External"/><Relationship Id="rId6" Type="http://schemas.openxmlformats.org/officeDocument/2006/relationships/hyperlink" Target="https://creativecommons.org/licenses/by/2.0/" TargetMode="External"/><Relationship Id="rId7" Type="http://schemas.openxmlformats.org/officeDocument/2006/relationships/hyperlink" Target="https://commons.wikimedia.org/wiki/File:TP-Link_AX1500_Wi-Fi_6_Router_Front.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Lenovo_Ideapad_3_20240401_121836.jpg" TargetMode="External"/><Relationship Id="rId10" Type="http://schemas.openxmlformats.org/officeDocument/2006/relationships/hyperlink" Target="https://creativecommons.org/licenses/by-sa/4.0/" TargetMode="External"/><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ommons.wikimedia.org/wiki/File:ATM_750x1300.jpg" TargetMode="External"/><Relationship Id="rId2" Type="http://schemas.openxmlformats.org/officeDocument/2006/relationships/hyperlink" Target="https://commons.wikimedia.org/wiki/File:ATM_750x1300.jpg#Licensing" TargetMode="External"/><Relationship Id="rId3" Type="http://schemas.openxmlformats.org/officeDocument/2006/relationships/hyperlink" Target="https://commons.wikimedia.org/wiki/File:Child_playing_while_parent_works_on_laptop_at_home_during_daytime.jpg" TargetMode="External"/><Relationship Id="rId4" Type="http://schemas.openxmlformats.org/officeDocument/2006/relationships/hyperlink" Target="https://creativecommons.org/licenses/by/2.0/" TargetMode="External"/><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341"/>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CECBDC"/>
                </a:solidFill>
                <a:latin typeface="Quicksand" pitchFamily="34" charset="0"/>
                <a:ea typeface="Quicksand" pitchFamily="34" charset="-122"/>
                <a:cs typeface="Quicksand" pitchFamily="34" charset="-120"/>
              </a:rPr>
              <a:t>EXPLORE · UNDERSTAND · APPLY</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FFFFFF"/>
                </a:solidFill>
                <a:latin typeface="Quicksand" pitchFamily="34" charset="0"/>
                <a:ea typeface="Quicksand" pitchFamily="34" charset="-122"/>
                <a:cs typeface="Quicksand" pitchFamily="34" charset="-120"/>
              </a:rPr>
              <a:t>Symmetric and asymmetric encryption</a:t>
            </a:r>
            <a:endParaRPr lang="en-US" sz="3200" dirty="0"/>
          </a:p>
        </p:txBody>
      </p:sp>
      <p:sp>
        <p:nvSpPr>
          <p:cNvPr id="4" name="Shape 2"/>
          <p:cNvSpPr/>
          <p:nvPr/>
        </p:nvSpPr>
        <p:spPr>
          <a:xfrm>
            <a:off x="594360" y="6355080"/>
            <a:ext cx="10972800" cy="0"/>
          </a:xfrm>
          <a:prstGeom prst="line">
            <a:avLst/>
          </a:prstGeom>
          <a:noFill/>
          <a:ln w="8890">
            <a:solidFill>
              <a:srgbClr val="66627B"/>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CECBDC"/>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FFFFFF"/>
                </a:solidFill>
                <a:latin typeface="Quicksand" pitchFamily="34" charset="0"/>
                <a:ea typeface="Quicksand" pitchFamily="34" charset="-122"/>
                <a:cs typeface="Quicksand" pitchFamily="34" charset="-120"/>
              </a:rPr>
              <a:t>01</a:t>
            </a:r>
            <a:endParaRPr lang="en-US" sz="1100" dirty="0"/>
          </a:p>
        </p:txBody>
      </p:sp>
      <p:pic>
        <p:nvPicPr>
          <p:cNvPr id="8" name="Image 0" descr="Internet cafe golden princess.jpg">    </p:cNvPr>
          <p:cNvPicPr>
            <a:picLocks noChangeAspect="1"/>
          </p:cNvPicPr>
          <p:nvPr/>
        </p:nvPicPr>
        <p:blipFill>
          <a:blip r:embed="rId1"/>
          <a:srcRect l="0" r="0" t="0" b="-18667"/>
          <a:stretch/>
        </p:blipFill>
        <p:spPr>
          <a:xfrm>
            <a:off x="6035040" y="1783080"/>
            <a:ext cx="5532120" cy="4160520"/>
          </a:xfrm>
          <a:prstGeom prst="rect">
            <a:avLst/>
          </a:prstGeom>
        </p:spPr>
      </p:pic>
      <p:sp>
        <p:nvSpPr>
          <p:cNvPr id="9" name="Text 5"/>
          <p:cNvSpPr txBox="1"/>
          <p:nvPr/>
        </p:nvSpPr>
        <p:spPr>
          <a:xfrm>
            <a:off x="6035040" y="6007608"/>
            <a:ext cx="5532120" cy="246888"/>
          </a:xfrm>
          <a:prstGeom prst="rect">
            <a:avLst/>
          </a:prstGeom>
          <a:noFill/>
          <a:ln/>
        </p:spPr>
        <p:txBody>
          <a:bodyPr wrap="square" lIns="0" tIns="0" rIns="0" bIns="0" rtlCol="0" anchor="t"/>
          <a:lstStyle/>
          <a:p>
            <a:pPr indent="0" marL="0">
              <a:buNone/>
            </a:pPr>
            <a:r>
              <a:rPr lang="en-US" sz="900" dirty="0">
                <a:solidFill>
                  <a:srgbClr val="CECBDC"/>
                </a:solidFill>
                <a:latin typeface="Quicksand" pitchFamily="34" charset="0"/>
                <a:ea typeface="Quicksand" pitchFamily="34" charset="-122"/>
                <a:cs typeface="Quicksand" pitchFamily="34" charset="-120"/>
              </a:rPr>
              <a:t>Larry D. Moore · CC BY 4.0</a:t>
            </a:r>
            <a:endParaRPr lang="en-US" sz="900" dirty="0"/>
          </a:p>
        </p:txBody>
      </p:sp>
      <p:sp>
        <p:nvSpPr>
          <p:cNvPr id="11" name="Text 6"/>
          <p:cNvSpPr txBox="1"/>
          <p:nvPr/>
        </p:nvSpPr>
        <p:spPr>
          <a:xfrm>
            <a:off x="594360" y="2057400"/>
            <a:ext cx="4937760" cy="1463040"/>
          </a:xfrm>
          <a:prstGeom prst="rect">
            <a:avLst/>
          </a:prstGeom>
          <a:noFill/>
          <a:ln/>
        </p:spPr>
        <p:txBody>
          <a:bodyPr wrap="square" lIns="0" tIns="0" rIns="0" bIns="0" rtlCol="0" anchor="t"/>
          <a:lstStyle/>
          <a:p>
            <a:pPr indent="0" marL="0">
              <a:buNone/>
            </a:pPr>
            <a:r>
              <a:rPr lang="en-US" sz="3300" b="1" dirty="0">
                <a:solidFill>
                  <a:srgbClr val="FFFFFF"/>
                </a:solidFill>
                <a:latin typeface="Quicksand" pitchFamily="34" charset="0"/>
                <a:ea typeface="Quicksand" pitchFamily="34" charset="-122"/>
                <a:cs typeface="Quicksand" pitchFamily="34" charset="-120"/>
              </a:rPr>
              <a:t>Your message crosses</a:t>
            </a:r>
            <a:endParaRPr lang="en-US" sz="3300" dirty="0"/>
          </a:p>
          <a:p>
            <a:pPr indent="0" marL="0">
              <a:buNone/>
            </a:pPr>
            <a:r>
              <a:rPr lang="en-US" sz="3300" b="1" dirty="0">
                <a:solidFill>
                  <a:srgbClr val="FFFFFF"/>
                </a:solidFill>
                <a:latin typeface="Quicksand" pitchFamily="34" charset="0"/>
                <a:ea typeface="Quicksand" pitchFamily="34" charset="-122"/>
                <a:cs typeface="Quicksand" pitchFamily="34" charset="-120"/>
              </a:rPr>
              <a:t>other people’s networks.</a:t>
            </a:r>
            <a:endParaRPr lang="en-US" sz="3300" dirty="0"/>
          </a:p>
        </p:txBody>
      </p:sp>
      <p:sp>
        <p:nvSpPr>
          <p:cNvPr id="12" name="Text 7"/>
          <p:cNvSpPr txBox="1"/>
          <p:nvPr/>
        </p:nvSpPr>
        <p:spPr>
          <a:xfrm>
            <a:off x="594360" y="4206240"/>
            <a:ext cx="4846320" cy="1005840"/>
          </a:xfrm>
          <a:prstGeom prst="rect">
            <a:avLst/>
          </a:prstGeom>
          <a:noFill/>
          <a:ln/>
        </p:spPr>
        <p:txBody>
          <a:bodyPr wrap="square" lIns="0" tIns="0" rIns="0" bIns="0" rtlCol="0" anchor="t"/>
          <a:lstStyle/>
          <a:p>
            <a:pPr indent="0" marL="0">
              <a:buNone/>
            </a:pPr>
            <a:r>
              <a:rPr lang="en-US" sz="2700" dirty="0">
                <a:solidFill>
                  <a:srgbClr val="DCD9E9"/>
                </a:solidFill>
                <a:latin typeface="Quicksand" pitchFamily="34" charset="0"/>
                <a:ea typeface="Quicksand" pitchFamily="34" charset="-122"/>
                <a:cs typeface="Quicksand" pitchFamily="34" charset="-120"/>
              </a:rPr>
              <a:t>Who should be able</a:t>
            </a:r>
            <a:endParaRPr lang="en-US" sz="2700" dirty="0"/>
          </a:p>
          <a:p>
            <a:pPr indent="0" marL="0">
              <a:buNone/>
            </a:pPr>
            <a:r>
              <a:rPr lang="en-US" sz="2700" dirty="0">
                <a:solidFill>
                  <a:srgbClr val="DCD9E9"/>
                </a:solidFill>
                <a:latin typeface="Quicksand" pitchFamily="34" charset="0"/>
                <a:ea typeface="Quicksand" pitchFamily="34" charset="-122"/>
                <a:cs typeface="Quicksand" pitchFamily="34" charset="-120"/>
              </a:rPr>
              <a:t>to understand it?</a:t>
            </a:r>
            <a:endParaRPr lang="en-US" sz="2700" dirty="0"/>
          </a:p>
        </p:txBody>
      </p:sp>
      <p:sp>
        <p:nvSpPr>
          <p:cNvPr id="13" name="Text 8"/>
          <p:cNvSpPr txBox="1"/>
          <p:nvPr/>
        </p:nvSpPr>
        <p:spPr>
          <a:xfrm>
            <a:off x="594360" y="5705856"/>
            <a:ext cx="4937760" cy="365760"/>
          </a:xfrm>
          <a:prstGeom prst="rect">
            <a:avLst/>
          </a:prstGeom>
          <a:noFill/>
          <a:ln/>
        </p:spPr>
        <p:txBody>
          <a:bodyPr wrap="square" lIns="0" tIns="0" rIns="0" bIns="0" rtlCol="0" anchor="t"/>
          <a:lstStyle/>
          <a:p>
            <a:pPr indent="0" marL="0">
              <a:buNone/>
            </a:pPr>
            <a:r>
              <a:rPr lang="en-US" sz="1100" b="1" dirty="0">
                <a:solidFill>
                  <a:srgbClr val="FFD84D"/>
                </a:solidFill>
                <a:latin typeface="Quicksand" pitchFamily="34" charset="0"/>
                <a:ea typeface="Quicksand" pitchFamily="34" charset="-122"/>
                <a:cs typeface="Quicksand" pitchFamily="34" charset="-120"/>
              </a:rPr>
              <a:t>2.3  /  PLAINTEXT · CIPHERTEXT · KEYS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STARTER · DATA TRANSMISSION</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Recall: how does a message travel?</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02</a:t>
            </a:r>
            <a:endParaRPr lang="en-US" sz="1100" dirty="0"/>
          </a:p>
        </p:txBody>
      </p:sp>
      <p:sp>
        <p:nvSpPr>
          <p:cNvPr id="8" name="Shape 5"/>
          <p:cNvSpPr/>
          <p:nvPr/>
        </p:nvSpPr>
        <p:spPr>
          <a:xfrm>
            <a:off x="594360" y="1828800"/>
            <a:ext cx="3383280" cy="1645920"/>
          </a:xfrm>
          <a:prstGeom prst="rect">
            <a:avLst/>
          </a:prstGeom>
          <a:solidFill>
            <a:srgbClr val="EFEEF5"/>
          </a:solidFill>
          <a:ln w="12700">
            <a:solidFill>
              <a:srgbClr val="EFEEF5"/>
            </a:solidFill>
            <a:prstDash val="solid"/>
          </a:ln>
        </p:spPr>
      </p:sp>
      <p:sp>
        <p:nvSpPr>
          <p:cNvPr id="9" name="Text 6"/>
          <p:cNvSpPr txBox="1"/>
          <p:nvPr/>
        </p:nvSpPr>
        <p:spPr>
          <a:xfrm>
            <a:off x="777240" y="1965960"/>
            <a:ext cx="30175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A</a:t>
            </a:r>
            <a:endParaRPr lang="en-US" sz="2200" dirty="0"/>
          </a:p>
        </p:txBody>
      </p:sp>
      <p:sp>
        <p:nvSpPr>
          <p:cNvPr id="10" name="Text 7"/>
          <p:cNvSpPr txBox="1"/>
          <p:nvPr/>
        </p:nvSpPr>
        <p:spPr>
          <a:xfrm>
            <a:off x="777240" y="2532888"/>
            <a:ext cx="3017520" cy="8229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Name packet part 1.</a:t>
            </a:r>
            <a:endParaRPr lang="en-US" sz="2100" dirty="0"/>
          </a:p>
        </p:txBody>
      </p:sp>
      <p:sp>
        <p:nvSpPr>
          <p:cNvPr id="11" name="Shape 8"/>
          <p:cNvSpPr/>
          <p:nvPr/>
        </p:nvSpPr>
        <p:spPr>
          <a:xfrm>
            <a:off x="4389120" y="1828800"/>
            <a:ext cx="3383280" cy="1645920"/>
          </a:xfrm>
          <a:prstGeom prst="rect">
            <a:avLst/>
          </a:prstGeom>
          <a:solidFill>
            <a:srgbClr val="EFEEF5"/>
          </a:solidFill>
          <a:ln w="12700">
            <a:solidFill>
              <a:srgbClr val="EFEEF5"/>
            </a:solidFill>
            <a:prstDash val="solid"/>
          </a:ln>
        </p:spPr>
      </p:sp>
      <p:sp>
        <p:nvSpPr>
          <p:cNvPr id="12" name="Text 9"/>
          <p:cNvSpPr txBox="1"/>
          <p:nvPr/>
        </p:nvSpPr>
        <p:spPr>
          <a:xfrm>
            <a:off x="4572000" y="1965960"/>
            <a:ext cx="30175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B</a:t>
            </a:r>
            <a:endParaRPr lang="en-US" sz="2200" dirty="0"/>
          </a:p>
        </p:txBody>
      </p:sp>
      <p:sp>
        <p:nvSpPr>
          <p:cNvPr id="13" name="Text 10"/>
          <p:cNvSpPr txBox="1"/>
          <p:nvPr/>
        </p:nvSpPr>
        <p:spPr>
          <a:xfrm>
            <a:off x="4572000" y="2532888"/>
            <a:ext cx="3017520" cy="8229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Name packet part 2.</a:t>
            </a:r>
            <a:endParaRPr lang="en-US" sz="2100" dirty="0"/>
          </a:p>
        </p:txBody>
      </p:sp>
      <p:sp>
        <p:nvSpPr>
          <p:cNvPr id="14" name="Shape 11"/>
          <p:cNvSpPr/>
          <p:nvPr/>
        </p:nvSpPr>
        <p:spPr>
          <a:xfrm>
            <a:off x="8183880" y="1828800"/>
            <a:ext cx="3383280" cy="1645920"/>
          </a:xfrm>
          <a:prstGeom prst="rect">
            <a:avLst/>
          </a:prstGeom>
          <a:solidFill>
            <a:srgbClr val="EFEEF5"/>
          </a:solidFill>
          <a:ln w="12700">
            <a:solidFill>
              <a:srgbClr val="EFEEF5"/>
            </a:solidFill>
            <a:prstDash val="solid"/>
          </a:ln>
        </p:spPr>
      </p:sp>
      <p:sp>
        <p:nvSpPr>
          <p:cNvPr id="15" name="Text 12"/>
          <p:cNvSpPr txBox="1"/>
          <p:nvPr/>
        </p:nvSpPr>
        <p:spPr>
          <a:xfrm>
            <a:off x="8366760" y="1965960"/>
            <a:ext cx="30175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C</a:t>
            </a:r>
            <a:endParaRPr lang="en-US" sz="2200" dirty="0"/>
          </a:p>
        </p:txBody>
      </p:sp>
      <p:sp>
        <p:nvSpPr>
          <p:cNvPr id="16" name="Text 13"/>
          <p:cNvSpPr txBox="1"/>
          <p:nvPr/>
        </p:nvSpPr>
        <p:spPr>
          <a:xfrm>
            <a:off x="8366760" y="2532888"/>
            <a:ext cx="3017520" cy="8229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Name packet part 3.</a:t>
            </a:r>
            <a:endParaRPr lang="en-US" sz="2100" dirty="0"/>
          </a:p>
        </p:txBody>
      </p:sp>
      <p:sp>
        <p:nvSpPr>
          <p:cNvPr id="17" name="Text 14"/>
          <p:cNvSpPr txBox="1"/>
          <p:nvPr/>
        </p:nvSpPr>
        <p:spPr>
          <a:xfrm>
            <a:off x="731520" y="4023360"/>
            <a:ext cx="5303520" cy="640080"/>
          </a:xfrm>
          <a:prstGeom prst="rect">
            <a:avLst/>
          </a:prstGeom>
          <a:noFill/>
          <a:ln/>
        </p:spPr>
        <p:txBody>
          <a:bodyPr wrap="square" lIns="0" tIns="0" rIns="0" bIns="0" rtlCol="0" anchor="t"/>
          <a:lstStyle/>
          <a:p>
            <a:pPr indent="0" marL="0">
              <a:buNone/>
            </a:pPr>
            <a:r>
              <a:rPr lang="en-US" sz="2700" b="1" dirty="0">
                <a:solidFill>
                  <a:srgbClr val="252341"/>
                </a:solidFill>
                <a:latin typeface="Quicksand" pitchFamily="34" charset="0"/>
                <a:ea typeface="Quicksand" pitchFamily="34" charset="-122"/>
                <a:cs typeface="Quicksand" pitchFamily="34" charset="-120"/>
              </a:rPr>
              <a:t>What routes the packet?</a:t>
            </a:r>
            <a:endParaRPr lang="en-US" sz="2700" dirty="0"/>
          </a:p>
        </p:txBody>
      </p:sp>
      <p:sp>
        <p:nvSpPr>
          <p:cNvPr id="18" name="Text 15"/>
          <p:cNvSpPr txBox="1"/>
          <p:nvPr/>
        </p:nvSpPr>
        <p:spPr>
          <a:xfrm>
            <a:off x="6355080" y="4023360"/>
            <a:ext cx="5212080" cy="640080"/>
          </a:xfrm>
          <a:prstGeom prst="rect">
            <a:avLst/>
          </a:prstGeom>
          <a:noFill/>
          <a:ln/>
        </p:spPr>
        <p:txBody>
          <a:bodyPr wrap="square" lIns="0" tIns="0" rIns="0" bIns="0" rtlCol="0" anchor="t"/>
          <a:lstStyle/>
          <a:p>
            <a:pPr indent="0" marL="0">
              <a:buNone/>
            </a:pPr>
            <a:r>
              <a:rPr lang="en-US" sz="2700" b="1" dirty="0">
                <a:solidFill>
                  <a:srgbClr val="252341"/>
                </a:solidFill>
                <a:latin typeface="Quicksand" pitchFamily="34" charset="0"/>
                <a:ea typeface="Quicksand" pitchFamily="34" charset="-122"/>
                <a:cs typeface="Quicksand" pitchFamily="34" charset="-120"/>
              </a:rPr>
              <a:t>What helps reassemble it?</a:t>
            </a:r>
            <a:endParaRPr lang="en-US" sz="2700" dirty="0"/>
          </a:p>
        </p:txBody>
      </p:sp>
      <p:sp>
        <p:nvSpPr>
          <p:cNvPr id="19" name="Text 16"/>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 correctly delivered packet can still contain data that somebody else can read.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PURPOSE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Some information should stay confidential</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03</a:t>
            </a:r>
            <a:endParaRPr lang="en-US" sz="1100" dirty="0"/>
          </a:p>
        </p:txBody>
      </p:sp>
      <p:pic>
        <p:nvPicPr>
          <p:cNvPr id="8" name="Image 0" descr="US Navy 041019-N-5821P-019 Airman Lauren Thurgood of Las Vegas, Nev., pulls patient medical records in the inpatient ward aboard the conventionally powered aircraft carrier USS Kitty Hawk.jpg">    </p:cNvPr>
          <p:cNvPicPr>
            <a:picLocks noChangeAspect="1"/>
          </p:cNvPicPr>
          <p:nvPr/>
        </p:nvPicPr>
        <p:blipFill>
          <a:blip r:embed="rId1"/>
          <a:srcRect l="0" r="0" t="0" b="1891"/>
          <a:stretch/>
        </p:blipFill>
        <p:spPr>
          <a:xfrm>
            <a:off x="594360" y="1783080"/>
            <a:ext cx="5577840" cy="3566160"/>
          </a:xfrm>
          <a:prstGeom prst="rect">
            <a:avLst/>
          </a:prstGeom>
        </p:spPr>
      </p:pic>
      <p:sp>
        <p:nvSpPr>
          <p:cNvPr id="9" name="Text 5"/>
          <p:cNvSpPr txBox="1"/>
          <p:nvPr/>
        </p:nvSpPr>
        <p:spPr>
          <a:xfrm>
            <a:off x="594360" y="5413248"/>
            <a:ext cx="5577840"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Jason T. Poplin / US Navy · Public domain</a:t>
            </a:r>
            <a:endParaRPr lang="en-US" sz="900" dirty="0"/>
          </a:p>
        </p:txBody>
      </p:sp>
      <p:sp>
        <p:nvSpPr>
          <p:cNvPr id="11" name="Text 6"/>
          <p:cNvSpPr txBox="1"/>
          <p:nvPr/>
        </p:nvSpPr>
        <p:spPr>
          <a:xfrm>
            <a:off x="6720840" y="1874520"/>
            <a:ext cx="4846320" cy="1051560"/>
          </a:xfrm>
          <a:prstGeom prst="rect">
            <a:avLst/>
          </a:prstGeom>
          <a:noFill/>
          <a:ln/>
        </p:spPr>
        <p:txBody>
          <a:bodyPr wrap="square" lIns="0" tIns="0" rIns="0" bIns="0" rtlCol="0" anchor="t"/>
          <a:lstStyle/>
          <a:p>
            <a:pPr indent="0" marL="0">
              <a:buNone/>
            </a:pPr>
            <a:r>
              <a:rPr lang="en-US" sz="2900" b="1" dirty="0">
                <a:solidFill>
                  <a:srgbClr val="252341"/>
                </a:solidFill>
                <a:latin typeface="Quicksand" pitchFamily="34" charset="0"/>
                <a:ea typeface="Quicksand" pitchFamily="34" charset="-122"/>
                <a:cs typeface="Quicksand" pitchFamily="34" charset="-120"/>
              </a:rPr>
              <a:t>A medical summary</a:t>
            </a:r>
            <a:endParaRPr lang="en-US" sz="2900" dirty="0"/>
          </a:p>
          <a:p>
            <a:pPr indent="0" marL="0">
              <a:buNone/>
            </a:pPr>
            <a:r>
              <a:rPr lang="en-US" sz="2900" b="1" dirty="0">
                <a:solidFill>
                  <a:srgbClr val="252341"/>
                </a:solidFill>
                <a:latin typeface="Quicksand" pitchFamily="34" charset="0"/>
                <a:ea typeface="Quicksand" pitchFamily="34" charset="-122"/>
                <a:cs typeface="Quicksand" pitchFamily="34" charset="-120"/>
              </a:rPr>
              <a:t>is being transmitted.</a:t>
            </a:r>
            <a:endParaRPr lang="en-US" sz="2900" dirty="0"/>
          </a:p>
        </p:txBody>
      </p:sp>
      <p:sp>
        <p:nvSpPr>
          <p:cNvPr id="12" name="Text 7"/>
          <p:cNvSpPr txBox="1"/>
          <p:nvPr/>
        </p:nvSpPr>
        <p:spPr>
          <a:xfrm>
            <a:off x="6720840" y="3474720"/>
            <a:ext cx="4846320" cy="141732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Encryption makes the data</a:t>
            </a:r>
            <a:endParaRPr lang="en-US" sz="2400" dirty="0"/>
          </a:p>
          <a:p>
            <a:pPr indent="0" marL="0">
              <a:buNone/>
            </a:pPr>
            <a:r>
              <a:rPr lang="en-US" sz="2400" dirty="0">
                <a:solidFill>
                  <a:srgbClr val="252341"/>
                </a:solidFill>
                <a:latin typeface="Quicksand" pitchFamily="34" charset="0"/>
                <a:ea typeface="Quicksand" pitchFamily="34" charset="-122"/>
                <a:cs typeface="Quicksand" pitchFamily="34" charset="-120"/>
              </a:rPr>
              <a:t>unintelligible to someone</a:t>
            </a:r>
            <a:endParaRPr lang="en-US" sz="2400" dirty="0"/>
          </a:p>
          <a:p>
            <a:pPr indent="0" marL="0">
              <a:buNone/>
            </a:pPr>
            <a:r>
              <a:rPr lang="en-US" sz="2400" dirty="0">
                <a:solidFill>
                  <a:srgbClr val="252341"/>
                </a:solidFill>
                <a:latin typeface="Quicksand" pitchFamily="34" charset="0"/>
                <a:ea typeface="Quicksand" pitchFamily="34" charset="-122"/>
                <a:cs typeface="Quicksand" pitchFamily="34" charset="-120"/>
              </a:rPr>
              <a:t>without the appropriate key.</a:t>
            </a:r>
            <a:endParaRPr lang="en-US" sz="2400" dirty="0"/>
          </a:p>
        </p:txBody>
      </p:sp>
      <p:sp>
        <p:nvSpPr>
          <p:cNvPr id="13"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It protects the meaning of intercepted data. It does not prevent the interception itself.</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VOCABULARY</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Before and after encryption</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04</a:t>
            </a:r>
            <a:endParaRPr lang="en-US" sz="1100" dirty="0"/>
          </a:p>
        </p:txBody>
      </p:sp>
      <p:pic>
        <p:nvPicPr>
          <p:cNvPr id="8" name="Image 0" descr="Samsung Galaxy S6 edge (17448278539).jpg">    </p:cNvPr>
          <p:cNvPicPr>
            <a:picLocks noChangeAspect="1"/>
          </p:cNvPicPr>
          <p:nvPr/>
        </p:nvPicPr>
        <p:blipFill>
          <a:blip r:embed="rId1"/>
          <a:srcRect l="0" r="0" t="0" b="7000"/>
          <a:stretch/>
        </p:blipFill>
        <p:spPr>
          <a:xfrm>
            <a:off x="594360" y="1783080"/>
            <a:ext cx="4572000" cy="2834640"/>
          </a:xfrm>
          <a:prstGeom prst="rect">
            <a:avLst/>
          </a:prstGeom>
        </p:spPr>
      </p:pic>
      <p:sp>
        <p:nvSpPr>
          <p:cNvPr id="9" name="Text 5"/>
          <p:cNvSpPr txBox="1"/>
          <p:nvPr/>
        </p:nvSpPr>
        <p:spPr>
          <a:xfrm>
            <a:off x="594360" y="4681728"/>
            <a:ext cx="4572000"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Maurizio Pesce · CC BY 2.0</a:t>
            </a:r>
            <a:endParaRPr lang="en-US" sz="900" dirty="0"/>
          </a:p>
        </p:txBody>
      </p:sp>
      <p:sp>
        <p:nvSpPr>
          <p:cNvPr id="11" name="Shape 6"/>
          <p:cNvSpPr/>
          <p:nvPr/>
        </p:nvSpPr>
        <p:spPr>
          <a:xfrm>
            <a:off x="5715000" y="1783080"/>
            <a:ext cx="5852160" cy="1280160"/>
          </a:xfrm>
          <a:prstGeom prst="rect">
            <a:avLst/>
          </a:prstGeom>
          <a:solidFill>
            <a:srgbClr val="EFEEF5"/>
          </a:solidFill>
          <a:ln w="12700">
            <a:solidFill>
              <a:srgbClr val="EFEEF5"/>
            </a:solidFill>
            <a:prstDash val="solid"/>
          </a:ln>
        </p:spPr>
      </p:sp>
      <p:sp>
        <p:nvSpPr>
          <p:cNvPr id="12" name="Text 7"/>
          <p:cNvSpPr txBox="1"/>
          <p:nvPr/>
        </p:nvSpPr>
        <p:spPr>
          <a:xfrm>
            <a:off x="5897880" y="1920240"/>
            <a:ext cx="54864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PLAINTEXT</a:t>
            </a:r>
            <a:endParaRPr lang="en-US" sz="2200" dirty="0"/>
          </a:p>
        </p:txBody>
      </p:sp>
      <p:sp>
        <p:nvSpPr>
          <p:cNvPr id="13" name="Text 8"/>
          <p:cNvSpPr txBox="1"/>
          <p:nvPr/>
        </p:nvSpPr>
        <p:spPr>
          <a:xfrm>
            <a:off x="5897880" y="2487168"/>
            <a:ext cx="548640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MEET AT NINE</a:t>
            </a:r>
            <a:endParaRPr lang="en-US" sz="2100" dirty="0"/>
          </a:p>
        </p:txBody>
      </p:sp>
      <p:sp>
        <p:nvSpPr>
          <p:cNvPr id="14" name="Shape 9"/>
          <p:cNvSpPr/>
          <p:nvPr/>
        </p:nvSpPr>
        <p:spPr>
          <a:xfrm>
            <a:off x="5715000" y="3566160"/>
            <a:ext cx="5852160" cy="1280160"/>
          </a:xfrm>
          <a:prstGeom prst="rect">
            <a:avLst/>
          </a:prstGeom>
          <a:solidFill>
            <a:srgbClr val="EFEEF5"/>
          </a:solidFill>
          <a:ln w="12700">
            <a:solidFill>
              <a:srgbClr val="EFEEF5"/>
            </a:solidFill>
            <a:prstDash val="solid"/>
          </a:ln>
        </p:spPr>
      </p:sp>
      <p:sp>
        <p:nvSpPr>
          <p:cNvPr id="15" name="Text 10"/>
          <p:cNvSpPr txBox="1"/>
          <p:nvPr/>
        </p:nvSpPr>
        <p:spPr>
          <a:xfrm>
            <a:off x="5897880" y="3703320"/>
            <a:ext cx="54864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CIPHERTEXT</a:t>
            </a:r>
            <a:endParaRPr lang="en-US" sz="2200" dirty="0"/>
          </a:p>
        </p:txBody>
      </p:sp>
      <p:sp>
        <p:nvSpPr>
          <p:cNvPr id="16" name="Text 11"/>
          <p:cNvSpPr txBox="1"/>
          <p:nvPr/>
        </p:nvSpPr>
        <p:spPr>
          <a:xfrm>
            <a:off x="5897880" y="4270248"/>
            <a:ext cx="548640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PHHW DW QLQH</a:t>
            </a:r>
            <a:endParaRPr lang="en-US" sz="2100" dirty="0"/>
          </a:p>
        </p:txBody>
      </p:sp>
      <p:sp>
        <p:nvSpPr>
          <p:cNvPr id="17" name="Text 12"/>
          <p:cNvSpPr txBox="1"/>
          <p:nvPr/>
        </p:nvSpPr>
        <p:spPr>
          <a:xfrm>
            <a:off x="594360" y="4983480"/>
            <a:ext cx="4572000" cy="365760"/>
          </a:xfrm>
          <a:prstGeom prst="rect">
            <a:avLst/>
          </a:prstGeom>
          <a:noFill/>
          <a:ln/>
        </p:spPr>
        <p:txBody>
          <a:bodyPr wrap="square" lIns="0" tIns="0" rIns="0" bIns="0" rtlCol="0" anchor="t"/>
          <a:lstStyle/>
          <a:p>
            <a:pPr algn="ctr" indent="0" marL="0">
              <a:buNone/>
            </a:pPr>
            <a:r>
              <a:rPr lang="en-US" sz="2000" b="1" dirty="0">
                <a:solidFill>
                  <a:srgbClr val="494985"/>
                </a:solidFill>
                <a:latin typeface="Quicksand" pitchFamily="34" charset="0"/>
                <a:ea typeface="Quicksand" pitchFamily="34" charset="-122"/>
                <a:cs typeface="Quicksand" pitchFamily="34" charset="-120"/>
              </a:rPr>
              <a:t>A message sent from a phone</a:t>
            </a:r>
            <a:endParaRPr lang="en-US" sz="2000" dirty="0"/>
          </a:p>
        </p:txBody>
      </p:sp>
      <p:sp>
        <p:nvSpPr>
          <p:cNvPr id="18" name="Text 13"/>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example uses a simple letter shift so we can see the transformation. It is not a secure cipher.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MECHANISM</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An algorithm and a key do different jobs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05</a:t>
            </a:r>
            <a:endParaRPr lang="en-US" sz="1100" dirty="0"/>
          </a:p>
        </p:txBody>
      </p:sp>
      <p:pic>
        <p:nvPicPr>
          <p:cNvPr id="8" name="Image 0" descr="Lenovo Ideapad 3 20240401 121836.jpg">    </p:cNvPr>
          <p:cNvPicPr>
            <a:picLocks noChangeAspect="1"/>
          </p:cNvPicPr>
          <p:nvPr/>
        </p:nvPicPr>
        <p:blipFill>
          <a:blip r:embed="rId1"/>
          <a:stretch>
            <a:fillRect/>
          </a:stretch>
        </p:blipFill>
        <p:spPr>
          <a:xfrm>
            <a:off x="982980" y="1783080"/>
            <a:ext cx="3520440" cy="3520440"/>
          </a:xfrm>
          <a:prstGeom prst="rect">
            <a:avLst/>
          </a:prstGeom>
        </p:spPr>
      </p:pic>
      <p:sp>
        <p:nvSpPr>
          <p:cNvPr id="9" name="Text 5"/>
          <p:cNvSpPr txBox="1"/>
          <p:nvPr/>
        </p:nvSpPr>
        <p:spPr>
          <a:xfrm>
            <a:off x="982980" y="5367528"/>
            <a:ext cx="3520440"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Nasenber3 · CC BY-SA 4.0</a:t>
            </a:r>
            <a:endParaRPr lang="en-US" sz="900" dirty="0"/>
          </a:p>
        </p:txBody>
      </p:sp>
      <p:sp>
        <p:nvSpPr>
          <p:cNvPr id="11" name="Shape 6"/>
          <p:cNvSpPr/>
          <p:nvPr/>
        </p:nvSpPr>
        <p:spPr>
          <a:xfrm>
            <a:off x="5440680" y="1783080"/>
            <a:ext cx="6126480" cy="1417320"/>
          </a:xfrm>
          <a:prstGeom prst="rect">
            <a:avLst/>
          </a:prstGeom>
          <a:solidFill>
            <a:srgbClr val="EFEEF5"/>
          </a:solidFill>
          <a:ln w="12700">
            <a:solidFill>
              <a:srgbClr val="EFEEF5"/>
            </a:solidFill>
            <a:prstDash val="solid"/>
          </a:ln>
        </p:spPr>
      </p:sp>
      <p:sp>
        <p:nvSpPr>
          <p:cNvPr id="12" name="Text 7"/>
          <p:cNvSpPr txBox="1"/>
          <p:nvPr/>
        </p:nvSpPr>
        <p:spPr>
          <a:xfrm>
            <a:off x="5623560" y="1920240"/>
            <a:ext cx="57607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ALGORITHM</a:t>
            </a:r>
            <a:endParaRPr lang="en-US" sz="2200" dirty="0"/>
          </a:p>
        </p:txBody>
      </p:sp>
      <p:sp>
        <p:nvSpPr>
          <p:cNvPr id="13" name="Text 8"/>
          <p:cNvSpPr txBox="1"/>
          <p:nvPr/>
        </p:nvSpPr>
        <p:spPr>
          <a:xfrm>
            <a:off x="5623560" y="2487168"/>
            <a:ext cx="5760720" cy="5943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Shift each letter through the alphabet.</a:t>
            </a:r>
            <a:endParaRPr lang="en-US" sz="2100" dirty="0"/>
          </a:p>
        </p:txBody>
      </p:sp>
      <p:sp>
        <p:nvSpPr>
          <p:cNvPr id="14" name="Shape 9"/>
          <p:cNvSpPr/>
          <p:nvPr/>
        </p:nvSpPr>
        <p:spPr>
          <a:xfrm>
            <a:off x="5440680" y="3611880"/>
            <a:ext cx="6126480" cy="1417320"/>
          </a:xfrm>
          <a:prstGeom prst="rect">
            <a:avLst/>
          </a:prstGeom>
          <a:solidFill>
            <a:srgbClr val="EFEEF5"/>
          </a:solidFill>
          <a:ln w="12700">
            <a:solidFill>
              <a:srgbClr val="EFEEF5"/>
            </a:solidFill>
            <a:prstDash val="solid"/>
          </a:ln>
        </p:spPr>
      </p:sp>
      <p:sp>
        <p:nvSpPr>
          <p:cNvPr id="15" name="Text 10"/>
          <p:cNvSpPr txBox="1"/>
          <p:nvPr/>
        </p:nvSpPr>
        <p:spPr>
          <a:xfrm>
            <a:off x="5623560" y="3749040"/>
            <a:ext cx="57607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KEY</a:t>
            </a:r>
            <a:endParaRPr lang="en-US" sz="2200" dirty="0"/>
          </a:p>
        </p:txBody>
      </p:sp>
      <p:sp>
        <p:nvSpPr>
          <p:cNvPr id="16" name="Text 11"/>
          <p:cNvSpPr txBox="1"/>
          <p:nvPr/>
        </p:nvSpPr>
        <p:spPr>
          <a:xfrm>
            <a:off x="5623560" y="4315968"/>
            <a:ext cx="5760720" cy="5943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How far to shift: 3 places.</a:t>
            </a:r>
            <a:endParaRPr lang="en-US" sz="2100" dirty="0"/>
          </a:p>
        </p:txBody>
      </p:sp>
      <p:sp>
        <p:nvSpPr>
          <p:cNvPr id="17" name="Text 12"/>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Same method + a different key → a different ciphertext.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EXPLORE · TOY CIPHER</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Try a transformation you can follow</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920240"/>
          <a:ext cx="10972800" cy="914400"/>
        </p:xfrm>
        <a:graphic>
          <a:graphicData uri="http://schemas.openxmlformats.org/drawingml/2006/table">
            <a:tbl>
              <a:tblPr/>
              <a:tblGrid>
                <a:gridCol w="3291840"/>
                <a:gridCol w="1920240"/>
                <a:gridCol w="1920240"/>
                <a:gridCol w="1920240"/>
                <a:gridCol w="1920240"/>
              </a:tblGrid>
              <a:tr h="914400">
                <a:tc>
                  <a:txBody>
                    <a:bodyPr/>
                    <a:lstStyle/>
                    <a:p>
                      <a:pPr indent="0" marL="0">
                        <a:buNone/>
                      </a:pPr>
                      <a:r>
                        <a:rPr lang="en-US" sz="2550" b="1" dirty="0">
                          <a:solidFill>
                            <a:srgbClr val="FFFFFF"/>
                          </a:solidFill>
                          <a:latin typeface="Quicksand" pitchFamily="34" charset="0"/>
                          <a:ea typeface="Quicksand" pitchFamily="34" charset="-122"/>
                          <a:cs typeface="Quicksand" pitchFamily="34" charset="-120"/>
                        </a:rPr>
                        <a:t>Plain letter</a:t>
                      </a:r>
                      <a:endParaRPr lang="en-US" sz="2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550" b="1" dirty="0">
                          <a:solidFill>
                            <a:srgbClr val="FFFFFF"/>
                          </a:solidFill>
                          <a:latin typeface="Quicksand" pitchFamily="34" charset="0"/>
                          <a:ea typeface="Quicksand" pitchFamily="34" charset="-122"/>
                          <a:cs typeface="Quicksand" pitchFamily="34" charset="-120"/>
                        </a:rPr>
                        <a:t>M</a:t>
                      </a:r>
                      <a:endParaRPr lang="en-US" sz="2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550" b="1" dirty="0">
                          <a:solidFill>
                            <a:srgbClr val="FFFFFF"/>
                          </a:solidFill>
                          <a:latin typeface="Quicksand" pitchFamily="34" charset="0"/>
                          <a:ea typeface="Quicksand" pitchFamily="34" charset="-122"/>
                          <a:cs typeface="Quicksand" pitchFamily="34" charset="-120"/>
                        </a:rPr>
                        <a:t>E</a:t>
                      </a:r>
                      <a:endParaRPr lang="en-US" sz="2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550" b="1" dirty="0">
                          <a:solidFill>
                            <a:srgbClr val="FFFFFF"/>
                          </a:solidFill>
                          <a:latin typeface="Quicksand" pitchFamily="34" charset="0"/>
                          <a:ea typeface="Quicksand" pitchFamily="34" charset="-122"/>
                          <a:cs typeface="Quicksand" pitchFamily="34" charset="-120"/>
                        </a:rPr>
                        <a:t>E</a:t>
                      </a:r>
                      <a:endParaRPr lang="en-US" sz="2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550" b="1" dirty="0">
                          <a:solidFill>
                            <a:srgbClr val="FFFFFF"/>
                          </a:solidFill>
                          <a:latin typeface="Quicksand" pitchFamily="34" charset="0"/>
                          <a:ea typeface="Quicksand" pitchFamily="34" charset="-122"/>
                          <a:cs typeface="Quicksand" pitchFamily="34" charset="-120"/>
                        </a:rPr>
                        <a:t>T</a:t>
                      </a:r>
                      <a:endParaRPr lang="en-US" sz="25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914400">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Shift forward</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+3</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+3</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+3</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+3</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914400">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Cipher letter</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P</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H</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H</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500" dirty="0">
                          <a:solidFill>
                            <a:srgbClr val="202124"/>
                          </a:solidFill>
                          <a:latin typeface="Quicksand" pitchFamily="34" charset="0"/>
                          <a:ea typeface="Quicksand" pitchFamily="34" charset="-122"/>
                          <a:cs typeface="Quicksand" pitchFamily="34" charset="-120"/>
                        </a:rPr>
                        <a:t>W</a:t>
                      </a:r>
                      <a:endParaRPr lang="en-US" sz="25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731520" y="5029200"/>
            <a:ext cx="10698480" cy="457200"/>
          </a:xfrm>
          <a:prstGeom prst="rect">
            <a:avLst/>
          </a:prstGeom>
          <a:noFill/>
          <a:ln/>
        </p:spPr>
        <p:txBody>
          <a:bodyPr wrap="square" lIns="0" tIns="0" rIns="0" bIns="0" rtlCol="0" anchor="t"/>
          <a:lstStyle/>
          <a:p>
            <a:pPr algn="ctr" indent="0" marL="0">
              <a:buNone/>
            </a:pPr>
            <a:r>
              <a:rPr lang="en-US" sz="3000" b="1" dirty="0">
                <a:solidFill>
                  <a:srgbClr val="494985"/>
                </a:solidFill>
                <a:latin typeface="Quicksand" pitchFamily="34" charset="0"/>
                <a:ea typeface="Quicksand" pitchFamily="34" charset="-122"/>
                <a:cs typeface="Quicksand" pitchFamily="34" charset="-120"/>
              </a:rPr>
              <a:t>MEET  →  PHHW</a:t>
            </a:r>
            <a:endParaRPr lang="en-US" sz="3000" dirty="0"/>
          </a:p>
        </p:txBody>
      </p:sp>
      <p:sp>
        <p:nvSpPr>
          <p:cNvPr id="10" name="Text 6"/>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Now reverse the operation. What should happen to P, H, H and W?</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RECOVER THE PLAINTEXT</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Decryption reverses the transformation</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07</a:t>
            </a:r>
            <a:endParaRPr lang="en-US" sz="1100" dirty="0"/>
          </a:p>
        </p:txBody>
      </p:sp>
      <p:sp>
        <p:nvSpPr>
          <p:cNvPr id="8" name="Shape 5"/>
          <p:cNvSpPr/>
          <p:nvPr/>
        </p:nvSpPr>
        <p:spPr>
          <a:xfrm>
            <a:off x="594360" y="1965960"/>
            <a:ext cx="5212080" cy="1463040"/>
          </a:xfrm>
          <a:prstGeom prst="rect">
            <a:avLst/>
          </a:prstGeom>
          <a:solidFill>
            <a:srgbClr val="EFEEF5"/>
          </a:solidFill>
          <a:ln w="12700">
            <a:solidFill>
              <a:srgbClr val="EFEEF5"/>
            </a:solidFill>
            <a:prstDash val="solid"/>
          </a:ln>
        </p:spPr>
      </p:sp>
      <p:sp>
        <p:nvSpPr>
          <p:cNvPr id="9" name="Text 6"/>
          <p:cNvSpPr txBox="1"/>
          <p:nvPr/>
        </p:nvSpPr>
        <p:spPr>
          <a:xfrm>
            <a:off x="777240" y="2103120"/>
            <a:ext cx="48463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ENCRYPT</a:t>
            </a:r>
            <a:endParaRPr lang="en-US" sz="2200" dirty="0"/>
          </a:p>
        </p:txBody>
      </p:sp>
      <p:sp>
        <p:nvSpPr>
          <p:cNvPr id="10" name="Text 7"/>
          <p:cNvSpPr txBox="1"/>
          <p:nvPr/>
        </p:nvSpPr>
        <p:spPr>
          <a:xfrm>
            <a:off x="777240" y="2670048"/>
            <a:ext cx="4846320" cy="64008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MEET → PHHW</a:t>
            </a:r>
            <a:endParaRPr lang="en-US" sz="2100" dirty="0"/>
          </a:p>
        </p:txBody>
      </p:sp>
      <p:sp>
        <p:nvSpPr>
          <p:cNvPr id="11" name="Shape 8"/>
          <p:cNvSpPr/>
          <p:nvPr/>
        </p:nvSpPr>
        <p:spPr>
          <a:xfrm>
            <a:off x="6355080" y="1965960"/>
            <a:ext cx="5212080" cy="1463040"/>
          </a:xfrm>
          <a:prstGeom prst="rect">
            <a:avLst/>
          </a:prstGeom>
          <a:solidFill>
            <a:srgbClr val="EFEEF5"/>
          </a:solidFill>
          <a:ln w="12700">
            <a:solidFill>
              <a:srgbClr val="EFEEF5"/>
            </a:solidFill>
            <a:prstDash val="solid"/>
          </a:ln>
        </p:spPr>
      </p:sp>
      <p:sp>
        <p:nvSpPr>
          <p:cNvPr id="12" name="Text 9"/>
          <p:cNvSpPr txBox="1"/>
          <p:nvPr/>
        </p:nvSpPr>
        <p:spPr>
          <a:xfrm>
            <a:off x="6537960" y="2103120"/>
            <a:ext cx="48463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DECRYPT</a:t>
            </a:r>
            <a:endParaRPr lang="en-US" sz="2200" dirty="0"/>
          </a:p>
        </p:txBody>
      </p:sp>
      <p:sp>
        <p:nvSpPr>
          <p:cNvPr id="13" name="Text 10"/>
          <p:cNvSpPr txBox="1"/>
          <p:nvPr/>
        </p:nvSpPr>
        <p:spPr>
          <a:xfrm>
            <a:off x="6537960" y="2670048"/>
            <a:ext cx="4846320" cy="64008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PHHW → MEET</a:t>
            </a:r>
            <a:endParaRPr lang="en-US" sz="2100" dirty="0"/>
          </a:p>
        </p:txBody>
      </p:sp>
      <p:sp>
        <p:nvSpPr>
          <p:cNvPr id="14" name="Shape 11"/>
          <p:cNvSpPr/>
          <p:nvPr/>
        </p:nvSpPr>
        <p:spPr>
          <a:xfrm>
            <a:off x="1828800" y="3886200"/>
            <a:ext cx="2743200" cy="594360"/>
          </a:xfrm>
          <a:prstGeom prst="rect">
            <a:avLst/>
          </a:prstGeom>
          <a:solidFill>
            <a:srgbClr val="494985"/>
          </a:solidFill>
          <a:ln w="12700">
            <a:solidFill>
              <a:srgbClr val="494985"/>
            </a:solidFill>
            <a:prstDash val="solid"/>
          </a:ln>
        </p:spPr>
      </p:sp>
      <p:sp>
        <p:nvSpPr>
          <p:cNvPr id="15" name="Text 12"/>
          <p:cNvSpPr txBox="1"/>
          <p:nvPr/>
        </p:nvSpPr>
        <p:spPr>
          <a:xfrm>
            <a:off x="1920240" y="4014216"/>
            <a:ext cx="25603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Key value: 3</a:t>
            </a:r>
            <a:endParaRPr lang="en-US" sz="1800" dirty="0"/>
          </a:p>
        </p:txBody>
      </p:sp>
      <p:sp>
        <p:nvSpPr>
          <p:cNvPr id="16" name="Shape 13"/>
          <p:cNvSpPr/>
          <p:nvPr/>
        </p:nvSpPr>
        <p:spPr>
          <a:xfrm>
            <a:off x="7589520" y="3886200"/>
            <a:ext cx="2743200" cy="594360"/>
          </a:xfrm>
          <a:prstGeom prst="rect">
            <a:avLst/>
          </a:prstGeom>
          <a:solidFill>
            <a:srgbClr val="494985"/>
          </a:solidFill>
          <a:ln w="12700">
            <a:solidFill>
              <a:srgbClr val="494985"/>
            </a:solidFill>
            <a:prstDash val="solid"/>
          </a:ln>
        </p:spPr>
      </p:sp>
      <p:sp>
        <p:nvSpPr>
          <p:cNvPr id="17" name="Text 14"/>
          <p:cNvSpPr txBox="1"/>
          <p:nvPr/>
        </p:nvSpPr>
        <p:spPr>
          <a:xfrm>
            <a:off x="7680960" y="4014216"/>
            <a:ext cx="25603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Key value: 3</a:t>
            </a:r>
            <a:endParaRPr lang="en-US" sz="1800" dirty="0"/>
          </a:p>
        </p:txBody>
      </p:sp>
      <p:sp>
        <p:nvSpPr>
          <p:cNvPr id="18" name="Text 15"/>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Same key value. The decryption algorithm reverses what encryption did.</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SYMMETRIC ENCRYPTION</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Symmetric: both ends use the same key</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08</a:t>
            </a:r>
            <a:endParaRPr lang="en-US" sz="1100" dirty="0"/>
          </a:p>
        </p:txBody>
      </p:sp>
      <p:sp>
        <p:nvSpPr>
          <p:cNvPr id="8" name="Shape 5"/>
          <p:cNvSpPr/>
          <p:nvPr/>
        </p:nvSpPr>
        <p:spPr>
          <a:xfrm>
            <a:off x="594360" y="1965960"/>
            <a:ext cx="4023360" cy="1463040"/>
          </a:xfrm>
          <a:prstGeom prst="rect">
            <a:avLst/>
          </a:prstGeom>
          <a:solidFill>
            <a:srgbClr val="EFEEF5"/>
          </a:solidFill>
          <a:ln w="12700">
            <a:solidFill>
              <a:srgbClr val="EFEEF5"/>
            </a:solidFill>
            <a:prstDash val="solid"/>
          </a:ln>
        </p:spPr>
      </p:sp>
      <p:sp>
        <p:nvSpPr>
          <p:cNvPr id="9" name="Text 6"/>
          <p:cNvSpPr txBox="1"/>
          <p:nvPr/>
        </p:nvSpPr>
        <p:spPr>
          <a:xfrm>
            <a:off x="777240" y="2103120"/>
            <a:ext cx="3657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SENDER</a:t>
            </a:r>
            <a:endParaRPr lang="en-US" sz="2200" dirty="0"/>
          </a:p>
        </p:txBody>
      </p:sp>
      <p:sp>
        <p:nvSpPr>
          <p:cNvPr id="10" name="Text 7"/>
          <p:cNvSpPr txBox="1"/>
          <p:nvPr/>
        </p:nvSpPr>
        <p:spPr>
          <a:xfrm>
            <a:off x="777240" y="2670048"/>
            <a:ext cx="3657600" cy="64008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Plaintext → ciphertext</a:t>
            </a:r>
            <a:endParaRPr lang="en-US" sz="2100" dirty="0"/>
          </a:p>
        </p:txBody>
      </p:sp>
      <p:sp>
        <p:nvSpPr>
          <p:cNvPr id="11" name="Shape 8"/>
          <p:cNvSpPr/>
          <p:nvPr/>
        </p:nvSpPr>
        <p:spPr>
          <a:xfrm>
            <a:off x="7543800" y="1965960"/>
            <a:ext cx="4023360" cy="1463040"/>
          </a:xfrm>
          <a:prstGeom prst="rect">
            <a:avLst/>
          </a:prstGeom>
          <a:solidFill>
            <a:srgbClr val="EFEEF5"/>
          </a:solidFill>
          <a:ln w="12700">
            <a:solidFill>
              <a:srgbClr val="EFEEF5"/>
            </a:solidFill>
            <a:prstDash val="solid"/>
          </a:ln>
        </p:spPr>
      </p:sp>
      <p:sp>
        <p:nvSpPr>
          <p:cNvPr id="12" name="Text 9"/>
          <p:cNvSpPr txBox="1"/>
          <p:nvPr/>
        </p:nvSpPr>
        <p:spPr>
          <a:xfrm>
            <a:off x="7726680" y="2103120"/>
            <a:ext cx="3657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RECEIVER</a:t>
            </a:r>
            <a:endParaRPr lang="en-US" sz="2200" dirty="0"/>
          </a:p>
        </p:txBody>
      </p:sp>
      <p:sp>
        <p:nvSpPr>
          <p:cNvPr id="13" name="Text 10"/>
          <p:cNvSpPr txBox="1"/>
          <p:nvPr/>
        </p:nvSpPr>
        <p:spPr>
          <a:xfrm>
            <a:off x="7726680" y="2670048"/>
            <a:ext cx="3657600" cy="64008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Ciphertext → plaintext</a:t>
            </a:r>
            <a:endParaRPr lang="en-US" sz="2100" dirty="0"/>
          </a:p>
        </p:txBody>
      </p:sp>
      <p:sp>
        <p:nvSpPr>
          <p:cNvPr id="14" name="Shape 11"/>
          <p:cNvSpPr/>
          <p:nvPr/>
        </p:nvSpPr>
        <p:spPr>
          <a:xfrm>
            <a:off x="4800600" y="2697480"/>
            <a:ext cx="2560320" cy="914"/>
          </a:xfrm>
          <a:prstGeom prst="line">
            <a:avLst/>
          </a:prstGeom>
          <a:noFill/>
          <a:ln w="25400">
            <a:solidFill>
              <a:srgbClr val="494985"/>
            </a:solidFill>
            <a:prstDash val="solid"/>
            <a:tailEnd type="triangle"/>
          </a:ln>
        </p:spPr>
      </p:sp>
      <p:sp>
        <p:nvSpPr>
          <p:cNvPr id="15" name="Text 12"/>
          <p:cNvSpPr txBox="1"/>
          <p:nvPr/>
        </p:nvSpPr>
        <p:spPr>
          <a:xfrm>
            <a:off x="4709160" y="3063240"/>
            <a:ext cx="2743200" cy="411480"/>
          </a:xfrm>
          <a:prstGeom prst="rect">
            <a:avLst/>
          </a:prstGeom>
          <a:noFill/>
          <a:ln/>
        </p:spPr>
        <p:txBody>
          <a:bodyPr wrap="square" lIns="0" tIns="0" rIns="0" bIns="0" rtlCol="0" anchor="t"/>
          <a:lstStyle/>
          <a:p>
            <a:pPr algn="ctr" indent="0" marL="0">
              <a:buNone/>
            </a:pPr>
            <a:r>
              <a:rPr lang="en-US" sz="1700" dirty="0">
                <a:solidFill>
                  <a:srgbClr val="252341"/>
                </a:solidFill>
                <a:latin typeface="Quicksand" pitchFamily="34" charset="0"/>
                <a:ea typeface="Quicksand" pitchFamily="34" charset="-122"/>
                <a:cs typeface="Quicksand" pitchFamily="34" charset="-120"/>
              </a:rPr>
              <a:t>Ciphertext travels</a:t>
            </a:r>
            <a:endParaRPr lang="en-US" sz="1700" dirty="0"/>
          </a:p>
        </p:txBody>
      </p:sp>
      <p:sp>
        <p:nvSpPr>
          <p:cNvPr id="16" name="Shape 13"/>
          <p:cNvSpPr/>
          <p:nvPr/>
        </p:nvSpPr>
        <p:spPr>
          <a:xfrm>
            <a:off x="777240" y="3977640"/>
            <a:ext cx="3657600" cy="594360"/>
          </a:xfrm>
          <a:prstGeom prst="rect">
            <a:avLst/>
          </a:prstGeom>
          <a:solidFill>
            <a:srgbClr val="494985"/>
          </a:solidFill>
          <a:ln w="12700">
            <a:solidFill>
              <a:srgbClr val="494985"/>
            </a:solidFill>
            <a:prstDash val="solid"/>
          </a:ln>
        </p:spPr>
      </p:sp>
      <p:sp>
        <p:nvSpPr>
          <p:cNvPr id="17" name="Text 14"/>
          <p:cNvSpPr txBox="1"/>
          <p:nvPr/>
        </p:nvSpPr>
        <p:spPr>
          <a:xfrm>
            <a:off x="868680" y="4105656"/>
            <a:ext cx="3474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Shared secret key K</a:t>
            </a:r>
            <a:endParaRPr lang="en-US" sz="1800" dirty="0"/>
          </a:p>
        </p:txBody>
      </p:sp>
      <p:sp>
        <p:nvSpPr>
          <p:cNvPr id="18" name="Shape 15"/>
          <p:cNvSpPr/>
          <p:nvPr/>
        </p:nvSpPr>
        <p:spPr>
          <a:xfrm>
            <a:off x="7726680" y="3977640"/>
            <a:ext cx="3657600" cy="594360"/>
          </a:xfrm>
          <a:prstGeom prst="rect">
            <a:avLst/>
          </a:prstGeom>
          <a:solidFill>
            <a:srgbClr val="494985"/>
          </a:solidFill>
          <a:ln w="12700">
            <a:solidFill>
              <a:srgbClr val="494985"/>
            </a:solidFill>
            <a:prstDash val="solid"/>
          </a:ln>
        </p:spPr>
      </p:sp>
      <p:sp>
        <p:nvSpPr>
          <p:cNvPr id="19" name="Text 16"/>
          <p:cNvSpPr txBox="1"/>
          <p:nvPr/>
        </p:nvSpPr>
        <p:spPr>
          <a:xfrm>
            <a:off x="7818120" y="4105656"/>
            <a:ext cx="3474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The SAME key K</a:t>
            </a:r>
            <a:endParaRPr lang="en-US" sz="1800" dirty="0"/>
          </a:p>
        </p:txBody>
      </p:sp>
      <p:sp>
        <p:nvSpPr>
          <p:cNvPr id="20" name="Text 17"/>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ciphertext may be copied. Keep the shared secret key protected.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KEY DISTRIBUTION</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The difficult part: sharing the secret</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09</a:t>
            </a:r>
            <a:endParaRPr lang="en-US" sz="1100" dirty="0"/>
          </a:p>
        </p:txBody>
      </p:sp>
      <p:pic>
        <p:nvPicPr>
          <p:cNvPr id="8" name="Image 0" descr="TP-Link AX1500 Wi-Fi 6 Router Front.jpg">    </p:cNvPr>
          <p:cNvPicPr>
            <a:picLocks noChangeAspect="1"/>
          </p:cNvPicPr>
          <p:nvPr/>
        </p:nvPicPr>
        <p:blipFill>
          <a:blip r:embed="rId1"/>
          <a:stretch>
            <a:fillRect/>
          </a:stretch>
        </p:blipFill>
        <p:spPr>
          <a:xfrm>
            <a:off x="772888" y="1783080"/>
            <a:ext cx="4672144" cy="3566160"/>
          </a:xfrm>
          <a:prstGeom prst="rect">
            <a:avLst/>
          </a:prstGeom>
        </p:spPr>
      </p:pic>
      <p:sp>
        <p:nvSpPr>
          <p:cNvPr id="9" name="Text 5"/>
          <p:cNvSpPr txBox="1"/>
          <p:nvPr/>
        </p:nvSpPr>
        <p:spPr>
          <a:xfrm>
            <a:off x="772888" y="5413248"/>
            <a:ext cx="4672144"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Abhi25t · CC BY-SA 4.0</a:t>
            </a:r>
            <a:endParaRPr lang="en-US" sz="900" dirty="0"/>
          </a:p>
        </p:txBody>
      </p:sp>
      <p:sp>
        <p:nvSpPr>
          <p:cNvPr id="11" name="Text 6"/>
          <p:cNvSpPr txBox="1"/>
          <p:nvPr/>
        </p:nvSpPr>
        <p:spPr>
          <a:xfrm>
            <a:off x="6217920" y="1874520"/>
            <a:ext cx="5349240" cy="685800"/>
          </a:xfrm>
          <a:prstGeom prst="rect">
            <a:avLst/>
          </a:prstGeom>
          <a:noFill/>
          <a:ln/>
        </p:spPr>
        <p:txBody>
          <a:bodyPr wrap="square" lIns="0" tIns="0" rIns="0" bIns="0" rtlCol="0" anchor="t"/>
          <a:lstStyle/>
          <a:p>
            <a:pPr indent="0" marL="0">
              <a:buNone/>
            </a:pPr>
            <a:r>
              <a:rPr lang="en-US" sz="2900" b="1" dirty="0">
                <a:solidFill>
                  <a:srgbClr val="252341"/>
                </a:solidFill>
                <a:latin typeface="Quicksand" pitchFamily="34" charset="0"/>
                <a:ea typeface="Quicksand" pitchFamily="34" charset="-122"/>
                <a:cs typeface="Quicksand" pitchFamily="34" charset="-120"/>
              </a:rPr>
              <a:t>Both people need K.</a:t>
            </a:r>
            <a:endParaRPr lang="en-US" sz="2900" dirty="0"/>
          </a:p>
        </p:txBody>
      </p:sp>
      <p:sp>
        <p:nvSpPr>
          <p:cNvPr id="12" name="Text 7"/>
          <p:cNvSpPr txBox="1"/>
          <p:nvPr/>
        </p:nvSpPr>
        <p:spPr>
          <a:xfrm>
            <a:off x="6217920" y="3063240"/>
            <a:ext cx="5349240" cy="1371600"/>
          </a:xfrm>
          <a:prstGeom prst="rect">
            <a:avLst/>
          </a:prstGeom>
          <a:noFill/>
          <a:ln/>
        </p:spPr>
        <p:txBody>
          <a:bodyPr wrap="square" lIns="0" tIns="0" rIns="0" bIns="0" rtlCol="0" anchor="t"/>
          <a:lstStyle/>
          <a:p>
            <a:pPr indent="0" marL="0">
              <a:buNone/>
            </a:pPr>
            <a:r>
              <a:rPr lang="en-US" sz="2500" dirty="0">
                <a:solidFill>
                  <a:srgbClr val="252341"/>
                </a:solidFill>
                <a:latin typeface="Quicksand" pitchFamily="34" charset="0"/>
                <a:ea typeface="Quicksand" pitchFamily="34" charset="-122"/>
                <a:cs typeface="Quicksand" pitchFamily="34" charset="-120"/>
              </a:rPr>
              <a:t>If an eavesdropper gets</a:t>
            </a:r>
            <a:endParaRPr lang="en-US" sz="2500" dirty="0"/>
          </a:p>
          <a:p>
            <a:pPr indent="0" marL="0">
              <a:buNone/>
            </a:pPr>
            <a:r>
              <a:rPr lang="en-US" sz="2500" dirty="0">
                <a:solidFill>
                  <a:srgbClr val="252341"/>
                </a:solidFill>
                <a:latin typeface="Quicksand" pitchFamily="34" charset="0"/>
                <a:ea typeface="Quicksand" pitchFamily="34" charset="-122"/>
                <a:cs typeface="Quicksand" pitchFamily="34" charset="-120"/>
              </a:rPr>
              <a:t>both the ciphertext and K,</a:t>
            </a:r>
            <a:endParaRPr lang="en-US" sz="2500" dirty="0"/>
          </a:p>
          <a:p>
            <a:pPr indent="0" marL="0">
              <a:buNone/>
            </a:pPr>
            <a:r>
              <a:rPr lang="en-US" sz="2500" dirty="0">
                <a:solidFill>
                  <a:srgbClr val="252341"/>
                </a:solidFill>
                <a:latin typeface="Quicksand" pitchFamily="34" charset="0"/>
                <a:ea typeface="Quicksand" pitchFamily="34" charset="-122"/>
                <a:cs typeface="Quicksand" pitchFamily="34" charset="-120"/>
              </a:rPr>
              <a:t>what can they recover?</a:t>
            </a:r>
            <a:endParaRPr lang="en-US" sz="2500" dirty="0"/>
          </a:p>
        </p:txBody>
      </p:sp>
      <p:sp>
        <p:nvSpPr>
          <p:cNvPr id="13"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key needs a protected way to reach the receiver; transmitting the secret openly defeats the protection.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APPLY · CONFIDENTIALITY</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Receiving a copy is not understanding it</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10</a:t>
            </a:r>
            <a:endParaRPr lang="en-US" sz="1100" dirty="0"/>
          </a:p>
        </p:txBody>
      </p:sp>
      <p:sp>
        <p:nvSpPr>
          <p:cNvPr id="8" name="Shape 5"/>
          <p:cNvSpPr/>
          <p:nvPr/>
        </p:nvSpPr>
        <p:spPr>
          <a:xfrm>
            <a:off x="594360" y="1920240"/>
            <a:ext cx="3108960" cy="1417320"/>
          </a:xfrm>
          <a:prstGeom prst="rect">
            <a:avLst/>
          </a:prstGeom>
          <a:solidFill>
            <a:srgbClr val="EFEEF5"/>
          </a:solidFill>
          <a:ln w="12700">
            <a:solidFill>
              <a:srgbClr val="EFEEF5"/>
            </a:solidFill>
            <a:prstDash val="solid"/>
          </a:ln>
        </p:spPr>
      </p:sp>
      <p:sp>
        <p:nvSpPr>
          <p:cNvPr id="9" name="Text 6"/>
          <p:cNvSpPr txBox="1"/>
          <p:nvPr/>
        </p:nvSpPr>
        <p:spPr>
          <a:xfrm>
            <a:off x="777240" y="2057400"/>
            <a:ext cx="27432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SENDER</a:t>
            </a:r>
            <a:endParaRPr lang="en-US" sz="2200" dirty="0"/>
          </a:p>
        </p:txBody>
      </p:sp>
      <p:sp>
        <p:nvSpPr>
          <p:cNvPr id="10" name="Text 7"/>
          <p:cNvSpPr txBox="1"/>
          <p:nvPr/>
        </p:nvSpPr>
        <p:spPr>
          <a:xfrm>
            <a:off x="777240" y="2624328"/>
            <a:ext cx="2743200" cy="5943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Encrypts the data</a:t>
            </a:r>
            <a:endParaRPr lang="en-US" sz="2100" dirty="0"/>
          </a:p>
        </p:txBody>
      </p:sp>
      <p:sp>
        <p:nvSpPr>
          <p:cNvPr id="11" name="Shape 8"/>
          <p:cNvSpPr/>
          <p:nvPr/>
        </p:nvSpPr>
        <p:spPr>
          <a:xfrm>
            <a:off x="4526280" y="1920240"/>
            <a:ext cx="3108960" cy="1417320"/>
          </a:xfrm>
          <a:prstGeom prst="rect">
            <a:avLst/>
          </a:prstGeom>
          <a:solidFill>
            <a:srgbClr val="EFEEF5"/>
          </a:solidFill>
          <a:ln w="12700">
            <a:solidFill>
              <a:srgbClr val="EFEEF5"/>
            </a:solidFill>
            <a:prstDash val="solid"/>
          </a:ln>
        </p:spPr>
      </p:sp>
      <p:sp>
        <p:nvSpPr>
          <p:cNvPr id="12" name="Text 9"/>
          <p:cNvSpPr txBox="1"/>
          <p:nvPr/>
        </p:nvSpPr>
        <p:spPr>
          <a:xfrm>
            <a:off x="4709160" y="2057400"/>
            <a:ext cx="27432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NETWORK</a:t>
            </a:r>
            <a:endParaRPr lang="en-US" sz="2200" dirty="0"/>
          </a:p>
        </p:txBody>
      </p:sp>
      <p:sp>
        <p:nvSpPr>
          <p:cNvPr id="13" name="Text 10"/>
          <p:cNvSpPr txBox="1"/>
          <p:nvPr/>
        </p:nvSpPr>
        <p:spPr>
          <a:xfrm>
            <a:off x="4709160" y="2624328"/>
            <a:ext cx="2743200" cy="5943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Carries ciphertext</a:t>
            </a:r>
            <a:endParaRPr lang="en-US" sz="2100" dirty="0"/>
          </a:p>
        </p:txBody>
      </p:sp>
      <p:sp>
        <p:nvSpPr>
          <p:cNvPr id="14" name="Shape 11"/>
          <p:cNvSpPr/>
          <p:nvPr/>
        </p:nvSpPr>
        <p:spPr>
          <a:xfrm>
            <a:off x="8458200" y="1920240"/>
            <a:ext cx="3108960" cy="1417320"/>
          </a:xfrm>
          <a:prstGeom prst="rect">
            <a:avLst/>
          </a:prstGeom>
          <a:solidFill>
            <a:srgbClr val="EFEEF5"/>
          </a:solidFill>
          <a:ln w="12700">
            <a:solidFill>
              <a:srgbClr val="EFEEF5"/>
            </a:solidFill>
            <a:prstDash val="solid"/>
          </a:ln>
        </p:spPr>
      </p:sp>
      <p:sp>
        <p:nvSpPr>
          <p:cNvPr id="15" name="Text 12"/>
          <p:cNvSpPr txBox="1"/>
          <p:nvPr/>
        </p:nvSpPr>
        <p:spPr>
          <a:xfrm>
            <a:off x="8641080" y="2057400"/>
            <a:ext cx="27432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RECEIVER</a:t>
            </a:r>
            <a:endParaRPr lang="en-US" sz="2200" dirty="0"/>
          </a:p>
        </p:txBody>
      </p:sp>
      <p:sp>
        <p:nvSpPr>
          <p:cNvPr id="16" name="Text 13"/>
          <p:cNvSpPr txBox="1"/>
          <p:nvPr/>
        </p:nvSpPr>
        <p:spPr>
          <a:xfrm>
            <a:off x="8641080" y="2624328"/>
            <a:ext cx="2743200" cy="59436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Decrypts with the key</a:t>
            </a:r>
            <a:endParaRPr lang="en-US" sz="2100" dirty="0"/>
          </a:p>
        </p:txBody>
      </p:sp>
      <p:sp>
        <p:nvSpPr>
          <p:cNvPr id="17" name="Shape 14"/>
          <p:cNvSpPr/>
          <p:nvPr/>
        </p:nvSpPr>
        <p:spPr>
          <a:xfrm>
            <a:off x="3794760" y="2560320"/>
            <a:ext cx="640080" cy="914"/>
          </a:xfrm>
          <a:prstGeom prst="line">
            <a:avLst/>
          </a:prstGeom>
          <a:noFill/>
          <a:ln w="25400">
            <a:solidFill>
              <a:srgbClr val="494985"/>
            </a:solidFill>
            <a:prstDash val="solid"/>
            <a:tailEnd type="triangle"/>
          </a:ln>
        </p:spPr>
      </p:sp>
      <p:sp>
        <p:nvSpPr>
          <p:cNvPr id="18" name="Shape 15"/>
          <p:cNvSpPr/>
          <p:nvPr/>
        </p:nvSpPr>
        <p:spPr>
          <a:xfrm>
            <a:off x="7726680" y="2560320"/>
            <a:ext cx="640080" cy="914"/>
          </a:xfrm>
          <a:prstGeom prst="line">
            <a:avLst/>
          </a:prstGeom>
          <a:noFill/>
          <a:ln w="25400">
            <a:solidFill>
              <a:srgbClr val="494985"/>
            </a:solidFill>
            <a:prstDash val="solid"/>
            <a:tailEnd type="triangle"/>
          </a:ln>
        </p:spPr>
      </p:sp>
      <p:sp>
        <p:nvSpPr>
          <p:cNvPr id="19" name="Shape 16"/>
          <p:cNvSpPr/>
          <p:nvPr/>
        </p:nvSpPr>
        <p:spPr>
          <a:xfrm>
            <a:off x="6080760" y="3566160"/>
            <a:ext cx="914" cy="548640"/>
          </a:xfrm>
          <a:prstGeom prst="line">
            <a:avLst/>
          </a:prstGeom>
          <a:noFill/>
          <a:ln w="25400">
            <a:solidFill>
              <a:srgbClr val="494985"/>
            </a:solidFill>
            <a:prstDash val="solid"/>
            <a:tailEnd type="triangle"/>
          </a:ln>
        </p:spPr>
      </p:sp>
      <p:sp>
        <p:nvSpPr>
          <p:cNvPr id="20" name="Shape 17"/>
          <p:cNvSpPr/>
          <p:nvPr/>
        </p:nvSpPr>
        <p:spPr>
          <a:xfrm>
            <a:off x="3291840" y="4251960"/>
            <a:ext cx="5577840" cy="1234440"/>
          </a:xfrm>
          <a:prstGeom prst="rect">
            <a:avLst/>
          </a:prstGeom>
          <a:solidFill>
            <a:srgbClr val="EFEEF5"/>
          </a:solidFill>
          <a:ln w="12700">
            <a:solidFill>
              <a:srgbClr val="EFEEF5"/>
            </a:solidFill>
            <a:prstDash val="solid"/>
          </a:ln>
        </p:spPr>
      </p:sp>
      <p:sp>
        <p:nvSpPr>
          <p:cNvPr id="21" name="Text 18"/>
          <p:cNvSpPr txBox="1"/>
          <p:nvPr/>
        </p:nvSpPr>
        <p:spPr>
          <a:xfrm>
            <a:off x="3474720" y="4389120"/>
            <a:ext cx="521208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EAVESDROPPER</a:t>
            </a:r>
            <a:endParaRPr lang="en-US" sz="2200" dirty="0"/>
          </a:p>
        </p:txBody>
      </p:sp>
      <p:sp>
        <p:nvSpPr>
          <p:cNvPr id="22" name="Text 19"/>
          <p:cNvSpPr txBox="1"/>
          <p:nvPr/>
        </p:nvSpPr>
        <p:spPr>
          <a:xfrm>
            <a:off x="3474720" y="4956048"/>
            <a:ext cx="5212080" cy="41148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May obtain a copy of ciphertext.</a:t>
            </a:r>
            <a:endParaRPr lang="en-US" sz="2100" dirty="0"/>
          </a:p>
        </p:txBody>
      </p:sp>
      <p:sp>
        <p:nvSpPr>
          <p:cNvPr id="23" name="Text 20"/>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 checksum checks whether data changed. Encryption protects the original meaning.</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ASYMMETRIC ENCRYPTION</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Asymmetric: a matching pair of keys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11</a:t>
            </a:r>
            <a:endParaRPr lang="en-US" sz="1100" dirty="0"/>
          </a:p>
        </p:txBody>
      </p:sp>
      <p:pic>
        <p:nvPicPr>
          <p:cNvPr id="8" name="Image 0" descr="Child playing while parent works on laptop at home during daytime.jpg">    </p:cNvPr>
          <p:cNvPicPr>
            <a:picLocks noChangeAspect="1"/>
          </p:cNvPicPr>
          <p:nvPr/>
        </p:nvPicPr>
        <p:blipFill>
          <a:blip r:embed="rId1"/>
          <a:stretch>
            <a:fillRect/>
          </a:stretch>
        </p:blipFill>
        <p:spPr>
          <a:xfrm>
            <a:off x="1301039" y="1783080"/>
            <a:ext cx="2381402" cy="3566160"/>
          </a:xfrm>
          <a:prstGeom prst="rect">
            <a:avLst/>
          </a:prstGeom>
        </p:spPr>
      </p:pic>
      <p:sp>
        <p:nvSpPr>
          <p:cNvPr id="9" name="Text 5"/>
          <p:cNvSpPr txBox="1"/>
          <p:nvPr/>
        </p:nvSpPr>
        <p:spPr>
          <a:xfrm>
            <a:off x="1301039" y="5413248"/>
            <a:ext cx="2381402"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Shixart1985 · CC BY 2.0</a:t>
            </a:r>
            <a:endParaRPr lang="en-US" sz="900" dirty="0"/>
          </a:p>
        </p:txBody>
      </p:sp>
      <p:sp>
        <p:nvSpPr>
          <p:cNvPr id="11" name="Shape 6"/>
          <p:cNvSpPr/>
          <p:nvPr/>
        </p:nvSpPr>
        <p:spPr>
          <a:xfrm>
            <a:off x="4937760" y="1783080"/>
            <a:ext cx="6629400" cy="1280160"/>
          </a:xfrm>
          <a:prstGeom prst="rect">
            <a:avLst/>
          </a:prstGeom>
          <a:solidFill>
            <a:srgbClr val="EFEEF5"/>
          </a:solidFill>
          <a:ln w="12700">
            <a:solidFill>
              <a:srgbClr val="EFEEF5"/>
            </a:solidFill>
            <a:prstDash val="solid"/>
          </a:ln>
        </p:spPr>
      </p:sp>
      <p:sp>
        <p:nvSpPr>
          <p:cNvPr id="12" name="Text 7"/>
          <p:cNvSpPr txBox="1"/>
          <p:nvPr/>
        </p:nvSpPr>
        <p:spPr>
          <a:xfrm>
            <a:off x="5120640" y="1920240"/>
            <a:ext cx="626364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PUBLIC KEY</a:t>
            </a:r>
            <a:endParaRPr lang="en-US" sz="2200" dirty="0"/>
          </a:p>
        </p:txBody>
      </p:sp>
      <p:sp>
        <p:nvSpPr>
          <p:cNvPr id="13" name="Text 8"/>
          <p:cNvSpPr txBox="1"/>
          <p:nvPr/>
        </p:nvSpPr>
        <p:spPr>
          <a:xfrm>
            <a:off x="5120640" y="2487168"/>
            <a:ext cx="626364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Made available to others.</a:t>
            </a:r>
            <a:endParaRPr lang="en-US" sz="2100" dirty="0"/>
          </a:p>
        </p:txBody>
      </p:sp>
      <p:sp>
        <p:nvSpPr>
          <p:cNvPr id="14" name="Shape 9"/>
          <p:cNvSpPr/>
          <p:nvPr/>
        </p:nvSpPr>
        <p:spPr>
          <a:xfrm>
            <a:off x="4937760" y="3520440"/>
            <a:ext cx="6629400" cy="1280160"/>
          </a:xfrm>
          <a:prstGeom prst="rect">
            <a:avLst/>
          </a:prstGeom>
          <a:solidFill>
            <a:srgbClr val="EFEEF5"/>
          </a:solidFill>
          <a:ln w="12700">
            <a:solidFill>
              <a:srgbClr val="EFEEF5"/>
            </a:solidFill>
            <a:prstDash val="solid"/>
          </a:ln>
        </p:spPr>
      </p:sp>
      <p:sp>
        <p:nvSpPr>
          <p:cNvPr id="15" name="Text 10"/>
          <p:cNvSpPr txBox="1"/>
          <p:nvPr/>
        </p:nvSpPr>
        <p:spPr>
          <a:xfrm>
            <a:off x="5120640" y="3657600"/>
            <a:ext cx="626364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PRIVATE KEY</a:t>
            </a:r>
            <a:endParaRPr lang="en-US" sz="2200" dirty="0"/>
          </a:p>
        </p:txBody>
      </p:sp>
      <p:sp>
        <p:nvSpPr>
          <p:cNvPr id="16" name="Text 11"/>
          <p:cNvSpPr txBox="1"/>
          <p:nvPr/>
        </p:nvSpPr>
        <p:spPr>
          <a:xfrm>
            <a:off x="5120640" y="4224528"/>
            <a:ext cx="626364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Kept secret by its owner.</a:t>
            </a:r>
            <a:endParaRPr lang="en-US" sz="2100" dirty="0"/>
          </a:p>
        </p:txBody>
      </p:sp>
      <p:sp>
        <p:nvSpPr>
          <p:cNvPr id="17" name="Text 12"/>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Publishing the public key does not mean publishing the private key.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KEY OWNERSHIP</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To Ben: use Ben’s key pair</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12</a:t>
            </a:r>
            <a:endParaRPr lang="en-US" sz="1100" dirty="0"/>
          </a:p>
        </p:txBody>
      </p:sp>
      <p:sp>
        <p:nvSpPr>
          <p:cNvPr id="8" name="Shape 5"/>
          <p:cNvSpPr/>
          <p:nvPr/>
        </p:nvSpPr>
        <p:spPr>
          <a:xfrm>
            <a:off x="594360" y="1920240"/>
            <a:ext cx="4023360" cy="1280160"/>
          </a:xfrm>
          <a:prstGeom prst="rect">
            <a:avLst/>
          </a:prstGeom>
          <a:solidFill>
            <a:srgbClr val="EFEEF5"/>
          </a:solidFill>
          <a:ln w="12700">
            <a:solidFill>
              <a:srgbClr val="EFEEF5"/>
            </a:solidFill>
            <a:prstDash val="solid"/>
          </a:ln>
        </p:spPr>
      </p:sp>
      <p:sp>
        <p:nvSpPr>
          <p:cNvPr id="9" name="Text 6"/>
          <p:cNvSpPr txBox="1"/>
          <p:nvPr/>
        </p:nvSpPr>
        <p:spPr>
          <a:xfrm>
            <a:off x="777240" y="2057400"/>
            <a:ext cx="3657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AISHA</a:t>
            </a:r>
            <a:endParaRPr lang="en-US" sz="2200" dirty="0"/>
          </a:p>
        </p:txBody>
      </p:sp>
      <p:sp>
        <p:nvSpPr>
          <p:cNvPr id="10" name="Text 7"/>
          <p:cNvSpPr txBox="1"/>
          <p:nvPr/>
        </p:nvSpPr>
        <p:spPr>
          <a:xfrm>
            <a:off x="777240" y="2624328"/>
            <a:ext cx="365760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Wants to send a file to Ben.</a:t>
            </a:r>
            <a:endParaRPr lang="en-US" sz="2100" dirty="0"/>
          </a:p>
        </p:txBody>
      </p:sp>
      <p:sp>
        <p:nvSpPr>
          <p:cNvPr id="11" name="Shape 8"/>
          <p:cNvSpPr/>
          <p:nvPr/>
        </p:nvSpPr>
        <p:spPr>
          <a:xfrm>
            <a:off x="7543800" y="1920240"/>
            <a:ext cx="4023360" cy="1280160"/>
          </a:xfrm>
          <a:prstGeom prst="rect">
            <a:avLst/>
          </a:prstGeom>
          <a:solidFill>
            <a:srgbClr val="EFEEF5"/>
          </a:solidFill>
          <a:ln w="12700">
            <a:solidFill>
              <a:srgbClr val="EFEEF5"/>
            </a:solidFill>
            <a:prstDash val="solid"/>
          </a:ln>
        </p:spPr>
      </p:sp>
      <p:sp>
        <p:nvSpPr>
          <p:cNvPr id="12" name="Text 9"/>
          <p:cNvSpPr txBox="1"/>
          <p:nvPr/>
        </p:nvSpPr>
        <p:spPr>
          <a:xfrm>
            <a:off x="7726680" y="2057400"/>
            <a:ext cx="3657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BEN</a:t>
            </a:r>
            <a:endParaRPr lang="en-US" sz="2200" dirty="0"/>
          </a:p>
        </p:txBody>
      </p:sp>
      <p:sp>
        <p:nvSpPr>
          <p:cNvPr id="13" name="Text 10"/>
          <p:cNvSpPr txBox="1"/>
          <p:nvPr/>
        </p:nvSpPr>
        <p:spPr>
          <a:xfrm>
            <a:off x="7726680" y="2624328"/>
            <a:ext cx="3657600" cy="45720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Owns the matching key pair.</a:t>
            </a:r>
            <a:endParaRPr lang="en-US" sz="2100" dirty="0"/>
          </a:p>
        </p:txBody>
      </p:sp>
      <p:sp>
        <p:nvSpPr>
          <p:cNvPr id="14" name="Shape 11"/>
          <p:cNvSpPr/>
          <p:nvPr/>
        </p:nvSpPr>
        <p:spPr>
          <a:xfrm>
            <a:off x="7726680" y="3520440"/>
            <a:ext cx="3657600" cy="594360"/>
          </a:xfrm>
          <a:prstGeom prst="rect">
            <a:avLst/>
          </a:prstGeom>
          <a:solidFill>
            <a:srgbClr val="494985"/>
          </a:solidFill>
          <a:ln w="12700">
            <a:solidFill>
              <a:srgbClr val="494985"/>
            </a:solidFill>
            <a:prstDash val="solid"/>
          </a:ln>
        </p:spPr>
      </p:sp>
      <p:sp>
        <p:nvSpPr>
          <p:cNvPr id="15" name="Text 12"/>
          <p:cNvSpPr txBox="1"/>
          <p:nvPr/>
        </p:nvSpPr>
        <p:spPr>
          <a:xfrm>
            <a:off x="7818120" y="3648456"/>
            <a:ext cx="3474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Ben’s PUBLIC key</a:t>
            </a:r>
            <a:endParaRPr lang="en-US" sz="1800" dirty="0"/>
          </a:p>
        </p:txBody>
      </p:sp>
      <p:sp>
        <p:nvSpPr>
          <p:cNvPr id="16" name="Shape 13"/>
          <p:cNvSpPr/>
          <p:nvPr/>
        </p:nvSpPr>
        <p:spPr>
          <a:xfrm flipH="1">
            <a:off x="4800600" y="3822192"/>
            <a:ext cx="2606040" cy="914"/>
          </a:xfrm>
          <a:prstGeom prst="line">
            <a:avLst/>
          </a:prstGeom>
          <a:noFill/>
          <a:ln w="25400">
            <a:solidFill>
              <a:srgbClr val="494985"/>
            </a:solidFill>
            <a:prstDash val="solid"/>
            <a:tailEnd type="triangle"/>
          </a:ln>
        </p:spPr>
      </p:sp>
      <p:sp>
        <p:nvSpPr>
          <p:cNvPr id="17" name="Text 14"/>
          <p:cNvSpPr txBox="1"/>
          <p:nvPr/>
        </p:nvSpPr>
        <p:spPr>
          <a:xfrm>
            <a:off x="4709160" y="4251960"/>
            <a:ext cx="2743200" cy="411480"/>
          </a:xfrm>
          <a:prstGeom prst="rect">
            <a:avLst/>
          </a:prstGeom>
          <a:noFill/>
          <a:ln/>
        </p:spPr>
        <p:txBody>
          <a:bodyPr wrap="square" lIns="0" tIns="0" rIns="0" bIns="0" rtlCol="0" anchor="t"/>
          <a:lstStyle/>
          <a:p>
            <a:pPr algn="ctr" indent="0" marL="0">
              <a:buNone/>
            </a:pPr>
            <a:r>
              <a:rPr lang="en-US" sz="1800" dirty="0">
                <a:solidFill>
                  <a:srgbClr val="252341"/>
                </a:solidFill>
                <a:latin typeface="Quicksand" pitchFamily="34" charset="0"/>
                <a:ea typeface="Quicksand" pitchFamily="34" charset="-122"/>
                <a:cs typeface="Quicksand" pitchFamily="34" charset="-120"/>
              </a:rPr>
              <a:t>May be shared</a:t>
            </a:r>
            <a:endParaRPr lang="en-US" sz="1800" dirty="0"/>
          </a:p>
        </p:txBody>
      </p:sp>
      <p:sp>
        <p:nvSpPr>
          <p:cNvPr id="18" name="Shape 15"/>
          <p:cNvSpPr/>
          <p:nvPr/>
        </p:nvSpPr>
        <p:spPr>
          <a:xfrm>
            <a:off x="7726680" y="4572000"/>
            <a:ext cx="3657600" cy="594360"/>
          </a:xfrm>
          <a:prstGeom prst="rect">
            <a:avLst/>
          </a:prstGeom>
          <a:solidFill>
            <a:srgbClr val="2E7D5B"/>
          </a:solidFill>
          <a:ln w="12700">
            <a:solidFill>
              <a:srgbClr val="2E7D5B"/>
            </a:solidFill>
            <a:prstDash val="solid"/>
          </a:ln>
        </p:spPr>
      </p:sp>
      <p:sp>
        <p:nvSpPr>
          <p:cNvPr id="19" name="Text 16"/>
          <p:cNvSpPr txBox="1"/>
          <p:nvPr/>
        </p:nvSpPr>
        <p:spPr>
          <a:xfrm>
            <a:off x="7818120" y="4700016"/>
            <a:ext cx="3474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Quicksand" pitchFamily="34" charset="0"/>
                <a:ea typeface="Quicksand" pitchFamily="34" charset="-122"/>
                <a:cs typeface="Quicksand" pitchFamily="34" charset="-120"/>
              </a:rPr>
              <a:t>Ben’s PRIVATE key</a:t>
            </a:r>
            <a:endParaRPr lang="en-US" sz="1800" dirty="0"/>
          </a:p>
        </p:txBody>
      </p:sp>
      <p:sp>
        <p:nvSpPr>
          <p:cNvPr id="20" name="Text 17"/>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Aisha needs Ben’s public key. She does not need Ben’s private key.</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UNDERSTAND · WORKED PROCESS</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Send ciphertext; keep the private key</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13</a:t>
            </a:r>
            <a:endParaRPr lang="en-US" sz="1100" dirty="0"/>
          </a:p>
        </p:txBody>
      </p:sp>
      <p:sp>
        <p:nvSpPr>
          <p:cNvPr id="8" name="Text 5"/>
          <p:cNvSpPr txBox="1"/>
          <p:nvPr/>
        </p:nvSpPr>
        <p:spPr>
          <a:xfrm>
            <a:off x="731520" y="178308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9" name="Text 6"/>
          <p:cNvSpPr txBox="1"/>
          <p:nvPr/>
        </p:nvSpPr>
        <p:spPr>
          <a:xfrm>
            <a:off x="1371600" y="1769364"/>
            <a:ext cx="10012680" cy="585216"/>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Ben creates a matching public/private key pair.</a:t>
            </a:r>
            <a:endParaRPr lang="en-US" sz="2200" dirty="0"/>
          </a:p>
        </p:txBody>
      </p:sp>
      <p:sp>
        <p:nvSpPr>
          <p:cNvPr id="10" name="Shape 7"/>
          <p:cNvSpPr/>
          <p:nvPr/>
        </p:nvSpPr>
        <p:spPr>
          <a:xfrm>
            <a:off x="1371600" y="2322576"/>
            <a:ext cx="10012680" cy="0"/>
          </a:xfrm>
          <a:prstGeom prst="line">
            <a:avLst/>
          </a:prstGeom>
          <a:noFill/>
          <a:ln w="8890">
            <a:solidFill>
              <a:srgbClr val="DDDBE5"/>
            </a:solidFill>
            <a:prstDash val="solid"/>
          </a:ln>
        </p:spPr>
      </p:sp>
      <p:sp>
        <p:nvSpPr>
          <p:cNvPr id="11" name="Text 8"/>
          <p:cNvSpPr txBox="1"/>
          <p:nvPr/>
        </p:nvSpPr>
        <p:spPr>
          <a:xfrm>
            <a:off x="731520" y="2478024"/>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2" name="Text 9"/>
          <p:cNvSpPr txBox="1"/>
          <p:nvPr/>
        </p:nvSpPr>
        <p:spPr>
          <a:xfrm>
            <a:off x="1371600" y="2464308"/>
            <a:ext cx="10012680" cy="585216"/>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Ben shares his public key with Aisha.</a:t>
            </a:r>
            <a:endParaRPr lang="en-US" sz="2200" dirty="0"/>
          </a:p>
        </p:txBody>
      </p:sp>
      <p:sp>
        <p:nvSpPr>
          <p:cNvPr id="13" name="Shape 10"/>
          <p:cNvSpPr/>
          <p:nvPr/>
        </p:nvSpPr>
        <p:spPr>
          <a:xfrm>
            <a:off x="1371600" y="3017520"/>
            <a:ext cx="10012680" cy="0"/>
          </a:xfrm>
          <a:prstGeom prst="line">
            <a:avLst/>
          </a:prstGeom>
          <a:noFill/>
          <a:ln w="8890">
            <a:solidFill>
              <a:srgbClr val="DDDBE5"/>
            </a:solidFill>
            <a:prstDash val="solid"/>
          </a:ln>
        </p:spPr>
      </p:sp>
      <p:sp>
        <p:nvSpPr>
          <p:cNvPr id="14" name="Text 11"/>
          <p:cNvSpPr txBox="1"/>
          <p:nvPr/>
        </p:nvSpPr>
        <p:spPr>
          <a:xfrm>
            <a:off x="731520" y="3172968"/>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5" name="Text 12"/>
          <p:cNvSpPr txBox="1"/>
          <p:nvPr/>
        </p:nvSpPr>
        <p:spPr>
          <a:xfrm>
            <a:off x="1371600" y="3159252"/>
            <a:ext cx="10012680" cy="585216"/>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Aisha encrypts the file using Ben’s public key.</a:t>
            </a:r>
            <a:endParaRPr lang="en-US" sz="2200" dirty="0"/>
          </a:p>
        </p:txBody>
      </p:sp>
      <p:sp>
        <p:nvSpPr>
          <p:cNvPr id="16" name="Shape 13"/>
          <p:cNvSpPr/>
          <p:nvPr/>
        </p:nvSpPr>
        <p:spPr>
          <a:xfrm>
            <a:off x="1371600" y="3712464"/>
            <a:ext cx="10012680" cy="0"/>
          </a:xfrm>
          <a:prstGeom prst="line">
            <a:avLst/>
          </a:prstGeom>
          <a:noFill/>
          <a:ln w="8890">
            <a:solidFill>
              <a:srgbClr val="DDDBE5"/>
            </a:solidFill>
            <a:prstDash val="solid"/>
          </a:ln>
        </p:spPr>
      </p:sp>
      <p:sp>
        <p:nvSpPr>
          <p:cNvPr id="17" name="Text 14"/>
          <p:cNvSpPr txBox="1"/>
          <p:nvPr/>
        </p:nvSpPr>
        <p:spPr>
          <a:xfrm>
            <a:off x="731520" y="3867912"/>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04</a:t>
            </a:r>
            <a:endParaRPr lang="en-US" sz="1600" dirty="0"/>
          </a:p>
        </p:txBody>
      </p:sp>
      <p:sp>
        <p:nvSpPr>
          <p:cNvPr id="18" name="Text 15"/>
          <p:cNvSpPr txBox="1"/>
          <p:nvPr/>
        </p:nvSpPr>
        <p:spPr>
          <a:xfrm>
            <a:off x="1371600" y="3854196"/>
            <a:ext cx="10012680" cy="585216"/>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She sends the ciphertext to Ben.</a:t>
            </a:r>
            <a:endParaRPr lang="en-US" sz="2200" dirty="0"/>
          </a:p>
        </p:txBody>
      </p:sp>
      <p:sp>
        <p:nvSpPr>
          <p:cNvPr id="19" name="Shape 16"/>
          <p:cNvSpPr/>
          <p:nvPr/>
        </p:nvSpPr>
        <p:spPr>
          <a:xfrm>
            <a:off x="1371600" y="4407408"/>
            <a:ext cx="10012680" cy="0"/>
          </a:xfrm>
          <a:prstGeom prst="line">
            <a:avLst/>
          </a:prstGeom>
          <a:noFill/>
          <a:ln w="8890">
            <a:solidFill>
              <a:srgbClr val="DDDBE5"/>
            </a:solidFill>
            <a:prstDash val="solid"/>
          </a:ln>
        </p:spPr>
      </p:sp>
      <p:sp>
        <p:nvSpPr>
          <p:cNvPr id="20" name="Text 17"/>
          <p:cNvSpPr txBox="1"/>
          <p:nvPr/>
        </p:nvSpPr>
        <p:spPr>
          <a:xfrm>
            <a:off x="731520" y="4562856"/>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05</a:t>
            </a:r>
            <a:endParaRPr lang="en-US" sz="1600" dirty="0"/>
          </a:p>
        </p:txBody>
      </p:sp>
      <p:sp>
        <p:nvSpPr>
          <p:cNvPr id="21" name="Text 18"/>
          <p:cNvSpPr txBox="1"/>
          <p:nvPr/>
        </p:nvSpPr>
        <p:spPr>
          <a:xfrm>
            <a:off x="1371600" y="4549140"/>
            <a:ext cx="10012680" cy="585216"/>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Ben decrypts it using his private key.</a:t>
            </a:r>
            <a:endParaRPr lang="en-US" sz="2200" dirty="0"/>
          </a:p>
        </p:txBody>
      </p:sp>
      <p:sp>
        <p:nvSpPr>
          <p:cNvPr id="22" name="Text 19"/>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private key stays with Ben throughout the exchange.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APPLY · TWO-WAY MESSAGES</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A reply needs the other person’s keys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14</a:t>
            </a:r>
            <a:endParaRPr lang="en-US" sz="1100" dirty="0"/>
          </a:p>
        </p:txBody>
      </p:sp>
      <p:sp>
        <p:nvSpPr>
          <p:cNvPr id="8" name="Shape 5"/>
          <p:cNvSpPr/>
          <p:nvPr/>
        </p:nvSpPr>
        <p:spPr>
          <a:xfrm>
            <a:off x="594360" y="1874520"/>
            <a:ext cx="5212080" cy="1828800"/>
          </a:xfrm>
          <a:prstGeom prst="rect">
            <a:avLst/>
          </a:prstGeom>
          <a:solidFill>
            <a:srgbClr val="EFEEF5"/>
          </a:solidFill>
          <a:ln w="12700">
            <a:solidFill>
              <a:srgbClr val="EFEEF5"/>
            </a:solidFill>
            <a:prstDash val="solid"/>
          </a:ln>
        </p:spPr>
      </p:sp>
      <p:sp>
        <p:nvSpPr>
          <p:cNvPr id="9" name="Text 6"/>
          <p:cNvSpPr txBox="1"/>
          <p:nvPr/>
        </p:nvSpPr>
        <p:spPr>
          <a:xfrm>
            <a:off x="777240" y="2011680"/>
            <a:ext cx="48463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AISHA → BEN</a:t>
            </a:r>
            <a:endParaRPr lang="en-US" sz="2200" dirty="0"/>
          </a:p>
        </p:txBody>
      </p:sp>
      <p:sp>
        <p:nvSpPr>
          <p:cNvPr id="10" name="Text 7"/>
          <p:cNvSpPr txBox="1"/>
          <p:nvPr/>
        </p:nvSpPr>
        <p:spPr>
          <a:xfrm>
            <a:off x="777240" y="2578608"/>
            <a:ext cx="4846320" cy="100584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Ben’s public key encrypts.</a:t>
            </a:r>
            <a:endParaRPr lang="en-US" sz="2100" dirty="0"/>
          </a:p>
          <a:p>
            <a:pPr indent="0" marL="0">
              <a:buNone/>
            </a:pPr>
            <a:r>
              <a:rPr lang="en-US" sz="2100" dirty="0">
                <a:solidFill>
                  <a:srgbClr val="252341"/>
                </a:solidFill>
                <a:latin typeface="Quicksand" pitchFamily="34" charset="0"/>
                <a:ea typeface="Quicksand" pitchFamily="34" charset="-122"/>
                <a:cs typeface="Quicksand" pitchFamily="34" charset="-120"/>
              </a:rPr>
              <a:t>Ben’s private key decrypts.</a:t>
            </a:r>
            <a:endParaRPr lang="en-US" sz="2100" dirty="0"/>
          </a:p>
        </p:txBody>
      </p:sp>
      <p:sp>
        <p:nvSpPr>
          <p:cNvPr id="11" name="Shape 8"/>
          <p:cNvSpPr/>
          <p:nvPr/>
        </p:nvSpPr>
        <p:spPr>
          <a:xfrm>
            <a:off x="6355080" y="1874520"/>
            <a:ext cx="5212080" cy="1828800"/>
          </a:xfrm>
          <a:prstGeom prst="rect">
            <a:avLst/>
          </a:prstGeom>
          <a:solidFill>
            <a:srgbClr val="EFEEF5"/>
          </a:solidFill>
          <a:ln w="12700">
            <a:solidFill>
              <a:srgbClr val="EFEEF5"/>
            </a:solidFill>
            <a:prstDash val="solid"/>
          </a:ln>
        </p:spPr>
      </p:sp>
      <p:sp>
        <p:nvSpPr>
          <p:cNvPr id="12" name="Text 9"/>
          <p:cNvSpPr txBox="1"/>
          <p:nvPr/>
        </p:nvSpPr>
        <p:spPr>
          <a:xfrm>
            <a:off x="6537960" y="2011680"/>
            <a:ext cx="484632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BEN → AISHA</a:t>
            </a:r>
            <a:endParaRPr lang="en-US" sz="2200" dirty="0"/>
          </a:p>
        </p:txBody>
      </p:sp>
      <p:sp>
        <p:nvSpPr>
          <p:cNvPr id="13" name="Text 10"/>
          <p:cNvSpPr txBox="1"/>
          <p:nvPr/>
        </p:nvSpPr>
        <p:spPr>
          <a:xfrm>
            <a:off x="6537960" y="2578608"/>
            <a:ext cx="4846320" cy="100584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Whose public key encrypts?</a:t>
            </a:r>
            <a:endParaRPr lang="en-US" sz="2100" dirty="0"/>
          </a:p>
          <a:p>
            <a:pPr indent="0" marL="0">
              <a:buNone/>
            </a:pPr>
            <a:r>
              <a:rPr lang="en-US" sz="2100" dirty="0">
                <a:solidFill>
                  <a:srgbClr val="252341"/>
                </a:solidFill>
                <a:latin typeface="Quicksand" pitchFamily="34" charset="0"/>
                <a:ea typeface="Quicksand" pitchFamily="34" charset="-122"/>
                <a:cs typeface="Quicksand" pitchFamily="34" charset="-120"/>
              </a:rPr>
              <a:t>Whose private key decrypts?</a:t>
            </a:r>
            <a:endParaRPr lang="en-US" sz="2100" dirty="0"/>
          </a:p>
        </p:txBody>
      </p:sp>
      <p:sp>
        <p:nvSpPr>
          <p:cNvPr id="14" name="Text 11"/>
          <p:cNvSpPr txBox="1"/>
          <p:nvPr/>
        </p:nvSpPr>
        <p:spPr>
          <a:xfrm>
            <a:off x="731520" y="4709160"/>
            <a:ext cx="10698480" cy="640080"/>
          </a:xfrm>
          <a:prstGeom prst="rect">
            <a:avLst/>
          </a:prstGeom>
          <a:noFill/>
          <a:ln/>
        </p:spPr>
        <p:txBody>
          <a:bodyPr wrap="square" lIns="0" tIns="0" rIns="0" bIns="0" rtlCol="0" anchor="t"/>
          <a:lstStyle/>
          <a:p>
            <a:pPr algn="ctr" indent="0" marL="0">
              <a:buNone/>
            </a:pPr>
            <a:r>
              <a:rPr lang="en-US" sz="2900" b="1" dirty="0">
                <a:solidFill>
                  <a:srgbClr val="494985"/>
                </a:solidFill>
                <a:latin typeface="Quicksand" pitchFamily="34" charset="0"/>
                <a:ea typeface="Quicksand" pitchFamily="34" charset="-122"/>
                <a:cs typeface="Quicksand" pitchFamily="34" charset="-120"/>
              </a:rPr>
              <a:t>Follow the recipient, not the original sender.</a:t>
            </a:r>
            <a:endParaRPr lang="en-US" sz="2900" dirty="0"/>
          </a:p>
        </p:txBody>
      </p:sp>
      <p:sp>
        <p:nvSpPr>
          <p:cNvPr id="15" name="Text 12"/>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Explain the reply without using “the key” when its owner or type matters.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CONSOLIDATE · BEFORE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Same goal; different key arrangements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2286000"/>
                <a:gridCol w="4343400"/>
                <a:gridCol w="4343400"/>
              </a:tblGrid>
              <a:tr h="722376">
                <a:tc>
                  <a:txBody>
                    <a:bodyPr/>
                    <a:lstStyle/>
                    <a:p>
                      <a:pPr indent="0" marL="0">
                        <a:buNone/>
                      </a:pPr>
                      <a:r>
                        <a:rPr lang="en-US" sz="2050" b="1" dirty="0">
                          <a:solidFill>
                            <a:srgbClr val="FFFFFF"/>
                          </a:solidFill>
                          <a:latin typeface="Quicksand" pitchFamily="34" charset="0"/>
                          <a:ea typeface="Quicksand" pitchFamily="34" charset="-122"/>
                          <a:cs typeface="Quicksand" pitchFamily="34" charset="-120"/>
                        </a:rPr>
                        <a:t>Feature</a:t>
                      </a:r>
                      <a:endParaRPr lang="en-US" sz="2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050" b="1" dirty="0">
                          <a:solidFill>
                            <a:srgbClr val="FFFFFF"/>
                          </a:solidFill>
                          <a:latin typeface="Quicksand" pitchFamily="34" charset="0"/>
                          <a:ea typeface="Quicksand" pitchFamily="34" charset="-122"/>
                          <a:cs typeface="Quicksand" pitchFamily="34" charset="-120"/>
                        </a:rPr>
                        <a:t>Symmetric</a:t>
                      </a:r>
                      <a:endParaRPr lang="en-US" sz="2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050" b="1" dirty="0">
                          <a:solidFill>
                            <a:srgbClr val="FFFFFF"/>
                          </a:solidFill>
                          <a:latin typeface="Quicksand" pitchFamily="34" charset="0"/>
                          <a:ea typeface="Quicksand" pitchFamily="34" charset="-122"/>
                          <a:cs typeface="Quicksand" pitchFamily="34" charset="-120"/>
                        </a:rPr>
                        <a:t>Asymmetric</a:t>
                      </a:r>
                      <a:endParaRPr lang="en-US" sz="20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22376">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Keys</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One shared secret key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A public/private pair</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22376">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Encrypt</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Shared secret key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Recipient’s public key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22376">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Decrypt</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The same shared key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Recipient’s private key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22376">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Share / protect</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Both ends need the secret securely</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000" dirty="0">
                          <a:solidFill>
                            <a:srgbClr val="202124"/>
                          </a:solidFill>
                          <a:latin typeface="Quicksand" pitchFamily="34" charset="0"/>
                          <a:ea typeface="Quicksand" pitchFamily="34" charset="-122"/>
                          <a:cs typeface="Quicksand" pitchFamily="34" charset="-120"/>
                        </a:rPr>
                        <a:t>Share public; keep private secret</a:t>
                      </a:r>
                      <a:endParaRPr lang="en-US" sz="20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Both transform plaintext into ciphertext using an algorithm and key(s).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CHECK UNDERSTANDING</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Explain a new situation before practising</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16</a:t>
            </a:r>
            <a:endParaRPr lang="en-US" sz="1100" dirty="0"/>
          </a:p>
        </p:txBody>
      </p:sp>
      <p:pic>
        <p:nvPicPr>
          <p:cNvPr id="8" name="Image 0" descr="ATM 750x1300.jpg">    </p:cNvPr>
          <p:cNvPicPr>
            <a:picLocks noChangeAspect="1"/>
          </p:cNvPicPr>
          <p:nvPr/>
        </p:nvPicPr>
        <p:blipFill>
          <a:blip r:embed="rId1"/>
          <a:stretch>
            <a:fillRect/>
          </a:stretch>
        </p:blipFill>
        <p:spPr>
          <a:xfrm>
            <a:off x="1263957" y="1783080"/>
            <a:ext cx="2044086" cy="3566160"/>
          </a:xfrm>
          <a:prstGeom prst="rect">
            <a:avLst/>
          </a:prstGeom>
        </p:spPr>
      </p:pic>
      <p:sp>
        <p:nvSpPr>
          <p:cNvPr id="9" name="Text 5"/>
          <p:cNvSpPr txBox="1"/>
          <p:nvPr/>
        </p:nvSpPr>
        <p:spPr>
          <a:xfrm>
            <a:off x="1263957" y="5413248"/>
            <a:ext cx="2044086" cy="246888"/>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Rfc1394 · Public domain</a:t>
            </a:r>
            <a:endParaRPr lang="en-US" sz="900" dirty="0"/>
          </a:p>
        </p:txBody>
      </p:sp>
      <p:sp>
        <p:nvSpPr>
          <p:cNvPr id="11" name="Text 6"/>
          <p:cNvSpPr txBox="1"/>
          <p:nvPr/>
        </p:nvSpPr>
        <p:spPr>
          <a:xfrm>
            <a:off x="4572000" y="187452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12" name="Text 7"/>
          <p:cNvSpPr txBox="1"/>
          <p:nvPr/>
        </p:nvSpPr>
        <p:spPr>
          <a:xfrm>
            <a:off x="5212080" y="1860804"/>
            <a:ext cx="6309360" cy="896112"/>
          </a:xfrm>
          <a:prstGeom prst="rect">
            <a:avLst/>
          </a:prstGeom>
          <a:noFill/>
          <a:ln/>
        </p:spPr>
        <p:txBody>
          <a:bodyPr wrap="square" lIns="0" tIns="0" rIns="0" bIns="0" rtlCol="0" anchor="t"/>
          <a:lstStyle/>
          <a:p>
            <a:pPr indent="0" marL="0">
              <a:buNone/>
            </a:pPr>
            <a:r>
              <a:rPr lang="en-US" sz="2300" dirty="0">
                <a:solidFill>
                  <a:srgbClr val="252341"/>
                </a:solidFill>
                <a:latin typeface="Quicksand" pitchFamily="34" charset="0"/>
                <a:ea typeface="Quicksand" pitchFamily="34" charset="-122"/>
                <a:cs typeface="Quicksand" pitchFamily="34" charset="-120"/>
              </a:rPr>
              <a:t>Someone captures transmitted account data. Does encryption prevent that copy?</a:t>
            </a:r>
            <a:endParaRPr lang="en-US" sz="2300" dirty="0"/>
          </a:p>
        </p:txBody>
      </p:sp>
      <p:sp>
        <p:nvSpPr>
          <p:cNvPr id="13" name="Shape 8"/>
          <p:cNvSpPr/>
          <p:nvPr/>
        </p:nvSpPr>
        <p:spPr>
          <a:xfrm>
            <a:off x="5212080" y="2724912"/>
            <a:ext cx="6309360" cy="0"/>
          </a:xfrm>
          <a:prstGeom prst="line">
            <a:avLst/>
          </a:prstGeom>
          <a:noFill/>
          <a:ln w="8890">
            <a:solidFill>
              <a:srgbClr val="DDDBE5"/>
            </a:solidFill>
            <a:prstDash val="solid"/>
          </a:ln>
        </p:spPr>
      </p:sp>
      <p:sp>
        <p:nvSpPr>
          <p:cNvPr id="14" name="Text 9"/>
          <p:cNvSpPr txBox="1"/>
          <p:nvPr/>
        </p:nvSpPr>
        <p:spPr>
          <a:xfrm>
            <a:off x="4572000" y="288036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5" name="Text 10"/>
          <p:cNvSpPr txBox="1"/>
          <p:nvPr/>
        </p:nvSpPr>
        <p:spPr>
          <a:xfrm>
            <a:off x="5212080" y="2866644"/>
            <a:ext cx="6309360" cy="896112"/>
          </a:xfrm>
          <a:prstGeom prst="rect">
            <a:avLst/>
          </a:prstGeom>
          <a:noFill/>
          <a:ln/>
        </p:spPr>
        <p:txBody>
          <a:bodyPr wrap="square" lIns="0" tIns="0" rIns="0" bIns="0" rtlCol="0" anchor="t"/>
          <a:lstStyle/>
          <a:p>
            <a:pPr indent="0" marL="0">
              <a:buNone/>
            </a:pPr>
            <a:r>
              <a:rPr lang="en-US" sz="2300" dirty="0">
                <a:solidFill>
                  <a:srgbClr val="252341"/>
                </a:solidFill>
                <a:latin typeface="Quicksand" pitchFamily="34" charset="0"/>
                <a:ea typeface="Quicksand" pitchFamily="34" charset="-122"/>
                <a:cs typeface="Quicksand" pitchFamily="34" charset="-120"/>
              </a:rPr>
              <a:t>A bank is the recipient. Whose public key is needed?</a:t>
            </a:r>
            <a:endParaRPr lang="en-US" sz="2300" dirty="0"/>
          </a:p>
        </p:txBody>
      </p:sp>
      <p:sp>
        <p:nvSpPr>
          <p:cNvPr id="16" name="Shape 11"/>
          <p:cNvSpPr/>
          <p:nvPr/>
        </p:nvSpPr>
        <p:spPr>
          <a:xfrm>
            <a:off x="5212080" y="3730752"/>
            <a:ext cx="6309360" cy="0"/>
          </a:xfrm>
          <a:prstGeom prst="line">
            <a:avLst/>
          </a:prstGeom>
          <a:noFill/>
          <a:ln w="8890">
            <a:solidFill>
              <a:srgbClr val="DDDBE5"/>
            </a:solidFill>
            <a:prstDash val="solid"/>
          </a:ln>
        </p:spPr>
      </p:sp>
      <p:sp>
        <p:nvSpPr>
          <p:cNvPr id="17" name="Text 12"/>
          <p:cNvSpPr txBox="1"/>
          <p:nvPr/>
        </p:nvSpPr>
        <p:spPr>
          <a:xfrm>
            <a:off x="4572000" y="388620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8" name="Text 13"/>
          <p:cNvSpPr txBox="1"/>
          <p:nvPr/>
        </p:nvSpPr>
        <p:spPr>
          <a:xfrm>
            <a:off x="5212080" y="3872484"/>
            <a:ext cx="6309360" cy="896112"/>
          </a:xfrm>
          <a:prstGeom prst="rect">
            <a:avLst/>
          </a:prstGeom>
          <a:noFill/>
          <a:ln/>
        </p:spPr>
        <p:txBody>
          <a:bodyPr wrap="square" lIns="0" tIns="0" rIns="0" bIns="0" rtlCol="0" anchor="t"/>
          <a:lstStyle/>
          <a:p>
            <a:pPr indent="0" marL="0">
              <a:buNone/>
            </a:pPr>
            <a:r>
              <a:rPr lang="en-US" sz="2300" dirty="0">
                <a:solidFill>
                  <a:srgbClr val="252341"/>
                </a:solidFill>
                <a:latin typeface="Quicksand" pitchFamily="34" charset="0"/>
                <a:ea typeface="Quicksand" pitchFamily="34" charset="-122"/>
                <a:cs typeface="Quicksand" pitchFamily="34" charset="-120"/>
              </a:rPr>
              <a:t>Who should keep the matching private key?</a:t>
            </a:r>
            <a:endParaRPr lang="en-US" sz="2300" dirty="0"/>
          </a:p>
        </p:txBody>
      </p:sp>
      <p:sp>
        <p:nvSpPr>
          <p:cNvPr id="19" name="Text 14"/>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Explain the mechanism. Then use its terms precisely.</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52341"/>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CECBDC"/>
                </a:solidFill>
                <a:latin typeface="Quicksand" pitchFamily="34" charset="0"/>
                <a:ea typeface="Quicksand" pitchFamily="34" charset="-122"/>
                <a:cs typeface="Quicksand" pitchFamily="34" charset="-120"/>
              </a:rPr>
              <a:t>EXAM PRACTICE · TRANSITION</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FFFFFF"/>
                </a:solidFill>
                <a:latin typeface="Quicksand" pitchFamily="34" charset="0"/>
                <a:ea typeface="Quicksand" pitchFamily="34" charset="-122"/>
                <a:cs typeface="Quicksand" pitchFamily="34" charset="-120"/>
              </a:rPr>
              <a:t>Now turn the ideas into clear answers</a:t>
            </a:r>
            <a:endParaRPr lang="en-US" sz="3200" dirty="0"/>
          </a:p>
        </p:txBody>
      </p:sp>
      <p:sp>
        <p:nvSpPr>
          <p:cNvPr id="4" name="Shape 2"/>
          <p:cNvSpPr/>
          <p:nvPr/>
        </p:nvSpPr>
        <p:spPr>
          <a:xfrm>
            <a:off x="594360" y="6355080"/>
            <a:ext cx="10972800" cy="0"/>
          </a:xfrm>
          <a:prstGeom prst="line">
            <a:avLst/>
          </a:prstGeom>
          <a:noFill/>
          <a:ln w="8890">
            <a:solidFill>
              <a:srgbClr val="66627B"/>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CECBDC"/>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FFFFFF"/>
                </a:solidFill>
                <a:latin typeface="Quicksand" pitchFamily="34" charset="0"/>
                <a:ea typeface="Quicksand" pitchFamily="34" charset="-122"/>
                <a:cs typeface="Quicksand" pitchFamily="34" charset="-120"/>
              </a:rPr>
              <a:t>17</a:t>
            </a:r>
            <a:endParaRPr lang="en-US" sz="1100" dirty="0"/>
          </a:p>
        </p:txBody>
      </p:sp>
      <p:sp>
        <p:nvSpPr>
          <p:cNvPr id="8" name="Text 5"/>
          <p:cNvSpPr txBox="1"/>
          <p:nvPr/>
        </p:nvSpPr>
        <p:spPr>
          <a:xfrm>
            <a:off x="731520" y="1920240"/>
            <a:ext cx="10698480" cy="2057400"/>
          </a:xfrm>
          <a:prstGeom prst="rect">
            <a:avLst/>
          </a:prstGeom>
          <a:noFill/>
          <a:ln/>
        </p:spPr>
        <p:txBody>
          <a:bodyPr wrap="square" lIns="0" tIns="0" rIns="0" bIns="0" rtlCol="0" anchor="t"/>
          <a:lstStyle/>
          <a:p>
            <a:pPr indent="0" marL="0">
              <a:buNone/>
            </a:pPr>
            <a:r>
              <a:rPr lang="en-US" sz="3600" b="1" dirty="0">
                <a:solidFill>
                  <a:srgbClr val="FFFFFF"/>
                </a:solidFill>
                <a:latin typeface="Quicksand" pitchFamily="34" charset="0"/>
                <a:ea typeface="Quicksand" pitchFamily="34" charset="-122"/>
                <a:cs typeface="Quicksand" pitchFamily="34" charset="-120"/>
              </a:rPr>
              <a:t>Name what changes.</a:t>
            </a:r>
            <a:endParaRPr lang="en-US" sz="3600" dirty="0"/>
          </a:p>
          <a:p>
            <a:pPr indent="0" marL="0">
              <a:buNone/>
            </a:pPr>
            <a:r>
              <a:rPr lang="en-US" sz="3600" b="1" dirty="0">
                <a:solidFill>
                  <a:srgbClr val="FFFFFF"/>
                </a:solidFill>
                <a:latin typeface="Quicksand" pitchFamily="34" charset="0"/>
                <a:ea typeface="Quicksand" pitchFamily="34" charset="-122"/>
                <a:cs typeface="Quicksand" pitchFamily="34" charset="-120"/>
              </a:rPr>
              <a:t>Explain which key is used.</a:t>
            </a:r>
            <a:endParaRPr lang="en-US" sz="3600" dirty="0"/>
          </a:p>
          <a:p>
            <a:pPr indent="0" marL="0">
              <a:buNone/>
            </a:pPr>
            <a:r>
              <a:rPr lang="en-US" sz="3600" b="1" dirty="0">
                <a:solidFill>
                  <a:srgbClr val="FFFFFF"/>
                </a:solidFill>
                <a:latin typeface="Quicksand" pitchFamily="34" charset="0"/>
                <a:ea typeface="Quicksand" pitchFamily="34" charset="-122"/>
                <a:cs typeface="Quicksand" pitchFamily="34" charset="-120"/>
              </a:rPr>
              <a:t>Identify who owns it.</a:t>
            </a:r>
            <a:endParaRPr lang="en-US" sz="3600" dirty="0"/>
          </a:p>
        </p:txBody>
      </p:sp>
      <p:sp>
        <p:nvSpPr>
          <p:cNvPr id="9" name="Text 6"/>
          <p:cNvSpPr txBox="1"/>
          <p:nvPr/>
        </p:nvSpPr>
        <p:spPr>
          <a:xfrm>
            <a:off x="731520" y="4663440"/>
            <a:ext cx="10698480" cy="822960"/>
          </a:xfrm>
          <a:prstGeom prst="rect">
            <a:avLst/>
          </a:prstGeom>
          <a:noFill/>
          <a:ln/>
        </p:spPr>
        <p:txBody>
          <a:bodyPr wrap="square" lIns="0" tIns="0" rIns="0" bIns="0" rtlCol="0" anchor="t"/>
          <a:lstStyle/>
          <a:p>
            <a:pPr indent="0" marL="0">
              <a:buNone/>
            </a:pPr>
            <a:r>
              <a:rPr lang="en-US" sz="2400" dirty="0">
                <a:solidFill>
                  <a:srgbClr val="DCD9E9"/>
                </a:solidFill>
                <a:latin typeface="Quicksand" pitchFamily="34" charset="0"/>
                <a:ea typeface="Quicksand" pitchFamily="34" charset="-122"/>
                <a:cs typeface="Quicksand" pitchFamily="34" charset="-120"/>
              </a:rPr>
              <a:t>Read the question’s scope.</a:t>
            </a:r>
            <a:endParaRPr lang="en-US" sz="2400" dirty="0"/>
          </a:p>
          <a:p>
            <a:pPr indent="0" marL="0">
              <a:buNone/>
            </a:pPr>
            <a:r>
              <a:rPr lang="en-US" sz="2400" dirty="0">
                <a:solidFill>
                  <a:srgbClr val="DCD9E9"/>
                </a:solidFill>
                <a:latin typeface="Quicksand" pitchFamily="34" charset="0"/>
                <a:ea typeface="Quicksand" pitchFamily="34" charset="-122"/>
                <a:cs typeface="Quicksand" pitchFamily="34" charset="-120"/>
              </a:rPr>
              <a:t>Give distinct ideas rather than repeating “secure”.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EXAM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Explain the purpose</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18</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Feb/Mar 2024 Q7(a)(i)</a:t>
            </a:r>
            <a:endParaRPr lang="en-US" sz="900" dirty="0"/>
          </a:p>
        </p:txBody>
      </p:sp>
      <p:sp>
        <p:nvSpPr>
          <p:cNvPr id="9" name="Text 6"/>
          <p:cNvSpPr txBox="1"/>
          <p:nvPr/>
        </p:nvSpPr>
        <p:spPr>
          <a:xfrm>
            <a:off x="731520" y="1828800"/>
            <a:ext cx="10698480" cy="292608"/>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QUESTION 1  /  1 MARK</a:t>
            </a:r>
            <a:endParaRPr lang="en-US" sz="1200" dirty="0"/>
          </a:p>
        </p:txBody>
      </p:sp>
      <p:sp>
        <p:nvSpPr>
          <p:cNvPr id="10" name="Text 7"/>
          <p:cNvSpPr txBox="1"/>
          <p:nvPr/>
        </p:nvSpPr>
        <p:spPr>
          <a:xfrm>
            <a:off x="731520" y="2267712"/>
            <a:ext cx="10698480" cy="91440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State the purpose of encrypting data before it is transmitted.</a:t>
            </a:r>
            <a:endParaRPr lang="en-US" sz="2400" dirty="0"/>
          </a:p>
        </p:txBody>
      </p:sp>
      <p:sp>
        <p:nvSpPr>
          <p:cNvPr id="11"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Attempt independently. Discuss the reasoning before checking the model answer.</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FEEDBACK · AFTER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Meaning can be protected after interception</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19</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Feb/Mar 2024 Q7(a)(i)</a:t>
            </a:r>
            <a:endParaRPr lang="en-US" sz="900" dirty="0"/>
          </a:p>
        </p:txBody>
      </p:sp>
      <p:sp>
        <p:nvSpPr>
          <p:cNvPr id="9" name="Text 6"/>
          <p:cNvSpPr txBox="1"/>
          <p:nvPr/>
        </p:nvSpPr>
        <p:spPr>
          <a:xfrm>
            <a:off x="731520" y="182880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10" name="Text 7"/>
          <p:cNvSpPr txBox="1"/>
          <p:nvPr/>
        </p:nvSpPr>
        <p:spPr>
          <a:xfrm>
            <a:off x="1371600" y="1815084"/>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The intercepted data cannot be understood without the appropriate key.</a:t>
            </a:r>
            <a:endParaRPr lang="en-US" sz="2200" dirty="0"/>
          </a:p>
        </p:txBody>
      </p:sp>
      <p:sp>
        <p:nvSpPr>
          <p:cNvPr id="11"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“It cannot be intercepted” confuses delivery with confidentiality.</a:t>
            </a:r>
            <a:endParaRPr lang="en-US" sz="1700" dirty="0"/>
          </a:p>
        </p:txBody>
      </p:sp>
      <p:sp>
        <p:nvSpPr>
          <p:cNvPr id="12" name="Shape 9"/>
          <p:cNvSpPr/>
          <p:nvPr/>
        </p:nvSpPr>
        <p:spPr>
          <a:xfrm>
            <a:off x="731520" y="3200400"/>
            <a:ext cx="5166360" cy="1371600"/>
          </a:xfrm>
          <a:prstGeom prst="rect">
            <a:avLst/>
          </a:prstGeom>
          <a:solidFill>
            <a:srgbClr val="EFEEF5"/>
          </a:solidFill>
          <a:ln w="12700">
            <a:solidFill>
              <a:srgbClr val="EFEEF5"/>
            </a:solidFill>
            <a:prstDash val="solid"/>
          </a:ln>
        </p:spPr>
      </p:sp>
      <p:sp>
        <p:nvSpPr>
          <p:cNvPr id="13" name="Text 10"/>
          <p:cNvSpPr txBox="1"/>
          <p:nvPr/>
        </p:nvSpPr>
        <p:spPr>
          <a:xfrm>
            <a:off x="914400" y="3337560"/>
            <a:ext cx="4800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INTERCEPTED</a:t>
            </a:r>
            <a:endParaRPr lang="en-US" sz="2200" dirty="0"/>
          </a:p>
        </p:txBody>
      </p:sp>
      <p:sp>
        <p:nvSpPr>
          <p:cNvPr id="14" name="Text 11"/>
          <p:cNvSpPr txBox="1"/>
          <p:nvPr/>
        </p:nvSpPr>
        <p:spPr>
          <a:xfrm>
            <a:off x="914400" y="3904488"/>
            <a:ext cx="4800600" cy="54864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Ciphertext can still be copied.</a:t>
            </a:r>
            <a:endParaRPr lang="en-US" sz="2100" dirty="0"/>
          </a:p>
        </p:txBody>
      </p:sp>
      <p:sp>
        <p:nvSpPr>
          <p:cNvPr id="15" name="Shape 12"/>
          <p:cNvSpPr/>
          <p:nvPr/>
        </p:nvSpPr>
        <p:spPr>
          <a:xfrm>
            <a:off x="6080760" y="3200400"/>
            <a:ext cx="5166360" cy="1371600"/>
          </a:xfrm>
          <a:prstGeom prst="rect">
            <a:avLst/>
          </a:prstGeom>
          <a:solidFill>
            <a:srgbClr val="EFEEF5"/>
          </a:solidFill>
          <a:ln w="12700">
            <a:solidFill>
              <a:srgbClr val="EFEEF5"/>
            </a:solidFill>
            <a:prstDash val="solid"/>
          </a:ln>
        </p:spPr>
      </p:sp>
      <p:sp>
        <p:nvSpPr>
          <p:cNvPr id="16" name="Text 13"/>
          <p:cNvSpPr txBox="1"/>
          <p:nvPr/>
        </p:nvSpPr>
        <p:spPr>
          <a:xfrm>
            <a:off x="6263640" y="3337560"/>
            <a:ext cx="4800600" cy="411480"/>
          </a:xfrm>
          <a:prstGeom prst="rect">
            <a:avLst/>
          </a:prstGeom>
          <a:noFill/>
          <a:ln/>
        </p:spPr>
        <p:txBody>
          <a:bodyPr wrap="square" lIns="0" tIns="0" rIns="0" bIns="0" rtlCol="0" anchor="t"/>
          <a:lstStyle/>
          <a:p>
            <a:pPr indent="0" marL="0">
              <a:buNone/>
            </a:pPr>
            <a:r>
              <a:rPr lang="en-US" sz="2200" b="1" dirty="0">
                <a:solidFill>
                  <a:srgbClr val="494985"/>
                </a:solidFill>
                <a:latin typeface="Quicksand" pitchFamily="34" charset="0"/>
                <a:ea typeface="Quicksand" pitchFamily="34" charset="-122"/>
                <a:cs typeface="Quicksand" pitchFamily="34" charset="-120"/>
              </a:rPr>
              <a:t>MEANING PROTECTED</a:t>
            </a:r>
            <a:endParaRPr lang="en-US" sz="2200" dirty="0"/>
          </a:p>
        </p:txBody>
      </p:sp>
      <p:sp>
        <p:nvSpPr>
          <p:cNvPr id="17" name="Text 14"/>
          <p:cNvSpPr txBox="1"/>
          <p:nvPr/>
        </p:nvSpPr>
        <p:spPr>
          <a:xfrm>
            <a:off x="6263640" y="3904488"/>
            <a:ext cx="4800600" cy="548640"/>
          </a:xfrm>
          <a:prstGeom prst="rect">
            <a:avLst/>
          </a:prstGeom>
          <a:noFill/>
          <a:ln/>
        </p:spPr>
        <p:txBody>
          <a:bodyPr wrap="square" lIns="0" tIns="0" rIns="0" bIns="0" rtlCol="0" anchor="t"/>
          <a:lstStyle/>
          <a:p>
            <a:pPr indent="0" marL="0">
              <a:buNone/>
            </a:pPr>
            <a:r>
              <a:rPr lang="en-US" sz="2100" dirty="0">
                <a:solidFill>
                  <a:srgbClr val="252341"/>
                </a:solidFill>
                <a:latin typeface="Quicksand" pitchFamily="34" charset="0"/>
                <a:ea typeface="Quicksand" pitchFamily="34" charset="-122"/>
                <a:cs typeface="Quicksand" pitchFamily="34" charset="-120"/>
              </a:rPr>
              <a:t>Original meaning stays protected.</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EXAM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Explain symmetric encryption</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20</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May/June 2024 Q2(c)(i)</a:t>
            </a:r>
            <a:endParaRPr lang="en-US" sz="900" dirty="0"/>
          </a:p>
        </p:txBody>
      </p:sp>
      <p:sp>
        <p:nvSpPr>
          <p:cNvPr id="9" name="Text 6"/>
          <p:cNvSpPr txBox="1"/>
          <p:nvPr/>
        </p:nvSpPr>
        <p:spPr>
          <a:xfrm>
            <a:off x="731520" y="1828800"/>
            <a:ext cx="10698480" cy="292608"/>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QUESTION 1  /  4 MARKS</a:t>
            </a:r>
            <a:endParaRPr lang="en-US" sz="1200" dirty="0"/>
          </a:p>
        </p:txBody>
      </p:sp>
      <p:sp>
        <p:nvSpPr>
          <p:cNvPr id="10" name="Text 7"/>
          <p:cNvSpPr txBox="1"/>
          <p:nvPr/>
        </p:nvSpPr>
        <p:spPr>
          <a:xfrm>
            <a:off x="731520" y="2267712"/>
            <a:ext cx="10698480" cy="91440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Explain how data is encrypted using symmetric encryption.</a:t>
            </a:r>
            <a:endParaRPr lang="en-US" sz="2400" dirty="0"/>
          </a:p>
        </p:txBody>
      </p:sp>
      <p:sp>
        <p:nvSpPr>
          <p:cNvPr id="11"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Attempt independently. Discuss the reasoning before checking the model answer.</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FEEDBACK · AFTER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The same-key point is essential</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21</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May/June 2024 Q2(c)(i)</a:t>
            </a:r>
            <a:endParaRPr lang="en-US" sz="900" dirty="0"/>
          </a:p>
        </p:txBody>
      </p:sp>
      <p:sp>
        <p:nvSpPr>
          <p:cNvPr id="9" name="Text 6"/>
          <p:cNvSpPr txBox="1"/>
          <p:nvPr/>
        </p:nvSpPr>
        <p:spPr>
          <a:xfrm>
            <a:off x="731520" y="182880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10" name="Text 7"/>
          <p:cNvSpPr txBox="1"/>
          <p:nvPr/>
        </p:nvSpPr>
        <p:spPr>
          <a:xfrm>
            <a:off x="1371600" y="1815084"/>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Plaintext is transformed into ciphertext.</a:t>
            </a:r>
            <a:endParaRPr lang="en-US" sz="2200" dirty="0"/>
          </a:p>
        </p:txBody>
      </p:sp>
      <p:sp>
        <p:nvSpPr>
          <p:cNvPr id="11" name="Shape 8"/>
          <p:cNvSpPr/>
          <p:nvPr/>
        </p:nvSpPr>
        <p:spPr>
          <a:xfrm>
            <a:off x="1371600" y="2578608"/>
            <a:ext cx="10012680" cy="0"/>
          </a:xfrm>
          <a:prstGeom prst="line">
            <a:avLst/>
          </a:prstGeom>
          <a:noFill/>
          <a:ln w="8890">
            <a:solidFill>
              <a:srgbClr val="DDDBE5"/>
            </a:solidFill>
            <a:prstDash val="solid"/>
          </a:ln>
        </p:spPr>
      </p:sp>
      <p:sp>
        <p:nvSpPr>
          <p:cNvPr id="12" name="Text 9"/>
          <p:cNvSpPr txBox="1"/>
          <p:nvPr/>
        </p:nvSpPr>
        <p:spPr>
          <a:xfrm>
            <a:off x="731520" y="2734056"/>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3" name="Text 10"/>
          <p:cNvSpPr txBox="1"/>
          <p:nvPr/>
        </p:nvSpPr>
        <p:spPr>
          <a:xfrm>
            <a:off x="1371600" y="2720340"/>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An encryption algorithm performs the transformation.</a:t>
            </a:r>
            <a:endParaRPr lang="en-US" sz="2200" dirty="0"/>
          </a:p>
        </p:txBody>
      </p:sp>
      <p:sp>
        <p:nvSpPr>
          <p:cNvPr id="14" name="Shape 11"/>
          <p:cNvSpPr/>
          <p:nvPr/>
        </p:nvSpPr>
        <p:spPr>
          <a:xfrm>
            <a:off x="1371600" y="3483864"/>
            <a:ext cx="10012680" cy="0"/>
          </a:xfrm>
          <a:prstGeom prst="line">
            <a:avLst/>
          </a:prstGeom>
          <a:noFill/>
          <a:ln w="8890">
            <a:solidFill>
              <a:srgbClr val="DDDBE5"/>
            </a:solidFill>
            <a:prstDash val="solid"/>
          </a:ln>
        </p:spPr>
      </p:sp>
      <p:sp>
        <p:nvSpPr>
          <p:cNvPr id="15" name="Text 12"/>
          <p:cNvSpPr txBox="1"/>
          <p:nvPr/>
        </p:nvSpPr>
        <p:spPr>
          <a:xfrm>
            <a:off x="731520" y="3639312"/>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6" name="Text 13"/>
          <p:cNvSpPr txBox="1"/>
          <p:nvPr/>
        </p:nvSpPr>
        <p:spPr>
          <a:xfrm>
            <a:off x="1371600" y="3625596"/>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The algorithm uses a shared secret key.</a:t>
            </a:r>
            <a:endParaRPr lang="en-US" sz="2200" dirty="0"/>
          </a:p>
        </p:txBody>
      </p:sp>
      <p:sp>
        <p:nvSpPr>
          <p:cNvPr id="17" name="Shape 14"/>
          <p:cNvSpPr/>
          <p:nvPr/>
        </p:nvSpPr>
        <p:spPr>
          <a:xfrm>
            <a:off x="1371600" y="4389120"/>
            <a:ext cx="10012680" cy="0"/>
          </a:xfrm>
          <a:prstGeom prst="line">
            <a:avLst/>
          </a:prstGeom>
          <a:noFill/>
          <a:ln w="8890">
            <a:solidFill>
              <a:srgbClr val="DDDBE5"/>
            </a:solidFill>
            <a:prstDash val="solid"/>
          </a:ln>
        </p:spPr>
      </p:sp>
      <p:sp>
        <p:nvSpPr>
          <p:cNvPr id="18" name="Text 15"/>
          <p:cNvSpPr txBox="1"/>
          <p:nvPr/>
        </p:nvSpPr>
        <p:spPr>
          <a:xfrm>
            <a:off x="731520" y="4544568"/>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04</a:t>
            </a:r>
            <a:endParaRPr lang="en-US" sz="1600" dirty="0"/>
          </a:p>
        </p:txBody>
      </p:sp>
      <p:sp>
        <p:nvSpPr>
          <p:cNvPr id="19" name="Text 16"/>
          <p:cNvSpPr txBox="1"/>
          <p:nvPr/>
        </p:nvSpPr>
        <p:spPr>
          <a:xfrm>
            <a:off x="1371600" y="4530852"/>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The receiver uses the SAME key to decrypt.</a:t>
            </a:r>
            <a:endParaRPr lang="en-US" sz="2200" dirty="0"/>
          </a:p>
        </p:txBody>
      </p:sp>
      <p:sp>
        <p:nvSpPr>
          <p:cNvPr id="20" name="Text 17"/>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scheme requires the same-key idea, plus up to three other accepted points.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EXAM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Choose the correct terms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22</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0478/11 May/June 2024 Q7</a:t>
            </a:r>
            <a:endParaRPr lang="en-US" sz="900" dirty="0"/>
          </a:p>
        </p:txBody>
      </p:sp>
      <p:sp>
        <p:nvSpPr>
          <p:cNvPr id="9" name="Text 6"/>
          <p:cNvSpPr txBox="1"/>
          <p:nvPr/>
        </p:nvSpPr>
        <p:spPr>
          <a:xfrm>
            <a:off x="731520" y="1828800"/>
            <a:ext cx="10698480" cy="292608"/>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QUESTION 1  /  4 MARKS</a:t>
            </a:r>
            <a:endParaRPr lang="en-US" sz="1200" dirty="0"/>
          </a:p>
        </p:txBody>
      </p:sp>
      <p:sp>
        <p:nvSpPr>
          <p:cNvPr id="10" name="Text 7"/>
          <p:cNvSpPr txBox="1"/>
          <p:nvPr/>
        </p:nvSpPr>
        <p:spPr>
          <a:xfrm>
            <a:off x="731520" y="2267712"/>
            <a:ext cx="10698480" cy="91440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Complete the asymmetric-encryption description using the word bank. Use each term at most once.</a:t>
            </a:r>
            <a:endParaRPr lang="en-US" sz="2400" dirty="0"/>
          </a:p>
        </p:txBody>
      </p:sp>
      <p:sp>
        <p:nvSpPr>
          <p:cNvPr id="11" name="Text 8"/>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Attempt independently. Discuss the reasoning before checking the model answer.</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FEEDBACK · AFTER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Check the four terms and their roles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23</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0478/11 May/June 2024 Q7</a:t>
            </a:r>
            <a:endParaRPr lang="en-US" sz="900" dirty="0"/>
          </a:p>
        </p:txBody>
      </p:sp>
      <p:sp>
        <p:nvSpPr>
          <p:cNvPr id="9" name="Text 6"/>
          <p:cNvSpPr txBox="1"/>
          <p:nvPr/>
        </p:nvSpPr>
        <p:spPr>
          <a:xfrm>
            <a:off x="731520" y="182880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10" name="Text 7"/>
          <p:cNvSpPr txBox="1"/>
          <p:nvPr/>
        </p:nvSpPr>
        <p:spPr>
          <a:xfrm>
            <a:off x="1371600" y="1815084"/>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Plaintext: original understandable data.</a:t>
            </a:r>
            <a:endParaRPr lang="en-US" sz="2200" dirty="0"/>
          </a:p>
        </p:txBody>
      </p:sp>
      <p:sp>
        <p:nvSpPr>
          <p:cNvPr id="11" name="Shape 8"/>
          <p:cNvSpPr/>
          <p:nvPr/>
        </p:nvSpPr>
        <p:spPr>
          <a:xfrm>
            <a:off x="1371600" y="2578608"/>
            <a:ext cx="10012680" cy="0"/>
          </a:xfrm>
          <a:prstGeom prst="line">
            <a:avLst/>
          </a:prstGeom>
          <a:noFill/>
          <a:ln w="8890">
            <a:solidFill>
              <a:srgbClr val="DDDBE5"/>
            </a:solidFill>
            <a:prstDash val="solid"/>
          </a:ln>
        </p:spPr>
      </p:sp>
      <p:sp>
        <p:nvSpPr>
          <p:cNvPr id="12" name="Text 9"/>
          <p:cNvSpPr txBox="1"/>
          <p:nvPr/>
        </p:nvSpPr>
        <p:spPr>
          <a:xfrm>
            <a:off x="731520" y="2734056"/>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3" name="Text 10"/>
          <p:cNvSpPr txBox="1"/>
          <p:nvPr/>
        </p:nvSpPr>
        <p:spPr>
          <a:xfrm>
            <a:off x="1371600" y="2720340"/>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Ciphertext: encrypted data.</a:t>
            </a:r>
            <a:endParaRPr lang="en-US" sz="2200" dirty="0"/>
          </a:p>
        </p:txBody>
      </p:sp>
      <p:sp>
        <p:nvSpPr>
          <p:cNvPr id="14" name="Shape 11"/>
          <p:cNvSpPr/>
          <p:nvPr/>
        </p:nvSpPr>
        <p:spPr>
          <a:xfrm>
            <a:off x="1371600" y="3483864"/>
            <a:ext cx="10012680" cy="0"/>
          </a:xfrm>
          <a:prstGeom prst="line">
            <a:avLst/>
          </a:prstGeom>
          <a:noFill/>
          <a:ln w="8890">
            <a:solidFill>
              <a:srgbClr val="DDDBE5"/>
            </a:solidFill>
            <a:prstDash val="solid"/>
          </a:ln>
        </p:spPr>
      </p:sp>
      <p:sp>
        <p:nvSpPr>
          <p:cNvPr id="15" name="Text 12"/>
          <p:cNvSpPr txBox="1"/>
          <p:nvPr/>
        </p:nvSpPr>
        <p:spPr>
          <a:xfrm>
            <a:off x="731520" y="3639312"/>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6" name="Text 13"/>
          <p:cNvSpPr txBox="1"/>
          <p:nvPr/>
        </p:nvSpPr>
        <p:spPr>
          <a:xfrm>
            <a:off x="1371600" y="3625596"/>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Public key: used to encrypt for its owner.</a:t>
            </a:r>
            <a:endParaRPr lang="en-US" sz="2200" dirty="0"/>
          </a:p>
        </p:txBody>
      </p:sp>
      <p:sp>
        <p:nvSpPr>
          <p:cNvPr id="17" name="Shape 14"/>
          <p:cNvSpPr/>
          <p:nvPr/>
        </p:nvSpPr>
        <p:spPr>
          <a:xfrm>
            <a:off x="1371600" y="4389120"/>
            <a:ext cx="10012680" cy="0"/>
          </a:xfrm>
          <a:prstGeom prst="line">
            <a:avLst/>
          </a:prstGeom>
          <a:noFill/>
          <a:ln w="8890">
            <a:solidFill>
              <a:srgbClr val="DDDBE5"/>
            </a:solidFill>
            <a:prstDash val="solid"/>
          </a:ln>
        </p:spPr>
      </p:sp>
      <p:sp>
        <p:nvSpPr>
          <p:cNvPr id="18" name="Text 15"/>
          <p:cNvSpPr txBox="1"/>
          <p:nvPr/>
        </p:nvSpPr>
        <p:spPr>
          <a:xfrm>
            <a:off x="731520" y="4544568"/>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04</a:t>
            </a:r>
            <a:endParaRPr lang="en-US" sz="1600" dirty="0"/>
          </a:p>
        </p:txBody>
      </p:sp>
      <p:sp>
        <p:nvSpPr>
          <p:cNvPr id="19" name="Text 16"/>
          <p:cNvSpPr txBox="1"/>
          <p:nvPr/>
        </p:nvSpPr>
        <p:spPr>
          <a:xfrm>
            <a:off x="1371600" y="4530852"/>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Private key: used by the recipient to decrypt.</a:t>
            </a:r>
            <a:endParaRPr lang="en-US" sz="2200" dirty="0"/>
          </a:p>
        </p:txBody>
      </p:sp>
      <p:sp>
        <p:nvSpPr>
          <p:cNvPr id="20" name="Text 17"/>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For a confidential message to Leo: Leo’s public key → Leo’s private key.</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EXAM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Make a comparison, not two vague claims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24</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Feb/Mar 2024 Q7(a)(ii) · 0478/13 Oct/Nov 2024 Q2(g)(ii)</a:t>
            </a:r>
            <a:endParaRPr lang="en-US" sz="900" dirty="0"/>
          </a:p>
        </p:txBody>
      </p:sp>
      <p:sp>
        <p:nvSpPr>
          <p:cNvPr id="9" name="Text 6"/>
          <p:cNvSpPr txBox="1"/>
          <p:nvPr/>
        </p:nvSpPr>
        <p:spPr>
          <a:xfrm>
            <a:off x="731520" y="1828800"/>
            <a:ext cx="10698480" cy="292608"/>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QUESTION 1  /  4 MARKS</a:t>
            </a:r>
            <a:endParaRPr lang="en-US" sz="1200" dirty="0"/>
          </a:p>
        </p:txBody>
      </p:sp>
      <p:sp>
        <p:nvSpPr>
          <p:cNvPr id="10" name="Text 7"/>
          <p:cNvSpPr txBox="1"/>
          <p:nvPr/>
        </p:nvSpPr>
        <p:spPr>
          <a:xfrm>
            <a:off x="731520" y="2267712"/>
            <a:ext cx="10698480" cy="91440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Describe the differences between symmetric and asymmetric encryption.</a:t>
            </a:r>
            <a:endParaRPr lang="en-US" sz="2400" dirty="0"/>
          </a:p>
        </p:txBody>
      </p:sp>
      <p:sp>
        <p:nvSpPr>
          <p:cNvPr id="11" name="Shape 8"/>
          <p:cNvSpPr/>
          <p:nvPr/>
        </p:nvSpPr>
        <p:spPr>
          <a:xfrm>
            <a:off x="731520" y="3200400"/>
            <a:ext cx="10698480" cy="0"/>
          </a:xfrm>
          <a:prstGeom prst="line">
            <a:avLst/>
          </a:prstGeom>
          <a:noFill/>
          <a:ln w="8890">
            <a:solidFill>
              <a:srgbClr val="DDDBE5"/>
            </a:solidFill>
            <a:prstDash val="solid"/>
          </a:ln>
        </p:spPr>
      </p:sp>
      <p:sp>
        <p:nvSpPr>
          <p:cNvPr id="12" name="Text 9"/>
          <p:cNvSpPr txBox="1"/>
          <p:nvPr/>
        </p:nvSpPr>
        <p:spPr>
          <a:xfrm>
            <a:off x="731520" y="3456432"/>
            <a:ext cx="10698480" cy="292608"/>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QUESTION 2  /  1 MARK</a:t>
            </a:r>
            <a:endParaRPr lang="en-US" sz="1200" dirty="0"/>
          </a:p>
        </p:txBody>
      </p:sp>
      <p:sp>
        <p:nvSpPr>
          <p:cNvPr id="13" name="Text 10"/>
          <p:cNvSpPr txBox="1"/>
          <p:nvPr/>
        </p:nvSpPr>
        <p:spPr>
          <a:xfrm>
            <a:off x="731520" y="3895344"/>
            <a:ext cx="10698480" cy="914400"/>
          </a:xfrm>
          <a:prstGeom prst="rect">
            <a:avLst/>
          </a:prstGeom>
          <a:noFill/>
          <a:ln/>
        </p:spPr>
        <p:txBody>
          <a:bodyPr wrap="square" lIns="0" tIns="0" rIns="0" bIns="0" rtlCol="0" anchor="t"/>
          <a:lstStyle/>
          <a:p>
            <a:pPr indent="0" marL="0">
              <a:buNone/>
            </a:pPr>
            <a:r>
              <a:rPr lang="en-US" sz="2400" dirty="0">
                <a:solidFill>
                  <a:srgbClr val="252341"/>
                </a:solidFill>
                <a:latin typeface="Quicksand" pitchFamily="34" charset="0"/>
                <a:ea typeface="Quicksand" pitchFamily="34" charset="-122"/>
                <a:cs typeface="Quicksand" pitchFamily="34" charset="-120"/>
              </a:rPr>
              <a:t>Give one similarity between symmetric and asymmetric encryption.</a:t>
            </a:r>
            <a:endParaRPr lang="en-US" sz="2400" dirty="0"/>
          </a:p>
        </p:txBody>
      </p:sp>
      <p:sp>
        <p:nvSpPr>
          <p:cNvPr id="14" name="Text 11"/>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Attempt independently. Discuss the reasoning before checking the model answer.</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FEEDBACK · AFTER PRACTICE</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State both the arrangement and its use</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25</a:t>
            </a:r>
            <a:endParaRPr lang="en-US" sz="1100" dirty="0"/>
          </a:p>
        </p:txBody>
      </p:sp>
      <p:sp>
        <p:nvSpPr>
          <p:cNvPr id="7" name="Text 5"/>
          <p:cNvSpPr txBox="1"/>
          <p:nvPr/>
        </p:nvSpPr>
        <p:spPr>
          <a:xfrm>
            <a:off x="594360" y="6144768"/>
            <a:ext cx="10607040" cy="164592"/>
          </a:xfrm>
          <a:prstGeom prst="rect">
            <a:avLst/>
          </a:prstGeom>
          <a:noFill/>
          <a:ln/>
        </p:spPr>
        <p:txBody>
          <a:bodyPr wrap="square" lIns="0" tIns="0" rIns="0" bIns="0" rtlCol="0" anchor="t"/>
          <a:lstStyle/>
          <a:p>
            <a:pPr indent="0" marL="0">
              <a:buNone/>
            </a:pPr>
            <a:r>
              <a:rPr lang="en-US" sz="900" dirty="0">
                <a:solidFill>
                  <a:srgbClr val="777584"/>
                </a:solidFill>
                <a:latin typeface="Quicksand" pitchFamily="34" charset="0"/>
                <a:ea typeface="Quicksand" pitchFamily="34" charset="-122"/>
                <a:cs typeface="Quicksand" pitchFamily="34" charset="-120"/>
              </a:rPr>
              <a:t>0478/12 Feb/Mar 2024 Q7(a)(ii)</a:t>
            </a:r>
            <a:endParaRPr lang="en-US" sz="900" dirty="0"/>
          </a:p>
        </p:txBody>
      </p:sp>
      <p:sp>
        <p:nvSpPr>
          <p:cNvPr id="9" name="Text 6"/>
          <p:cNvSpPr txBox="1"/>
          <p:nvPr/>
        </p:nvSpPr>
        <p:spPr>
          <a:xfrm>
            <a:off x="731520" y="182880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10" name="Text 7"/>
          <p:cNvSpPr txBox="1"/>
          <p:nvPr/>
        </p:nvSpPr>
        <p:spPr>
          <a:xfrm>
            <a:off x="1371600" y="1815084"/>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Symmetric uses one shared key.</a:t>
            </a:r>
            <a:endParaRPr lang="en-US" sz="2200" dirty="0"/>
          </a:p>
        </p:txBody>
      </p:sp>
      <p:sp>
        <p:nvSpPr>
          <p:cNvPr id="11" name="Shape 8"/>
          <p:cNvSpPr/>
          <p:nvPr/>
        </p:nvSpPr>
        <p:spPr>
          <a:xfrm>
            <a:off x="1371600" y="2578608"/>
            <a:ext cx="10012680" cy="0"/>
          </a:xfrm>
          <a:prstGeom prst="line">
            <a:avLst/>
          </a:prstGeom>
          <a:noFill/>
          <a:ln w="8890">
            <a:solidFill>
              <a:srgbClr val="DDDBE5"/>
            </a:solidFill>
            <a:prstDash val="solid"/>
          </a:ln>
        </p:spPr>
      </p:sp>
      <p:sp>
        <p:nvSpPr>
          <p:cNvPr id="12" name="Text 9"/>
          <p:cNvSpPr txBox="1"/>
          <p:nvPr/>
        </p:nvSpPr>
        <p:spPr>
          <a:xfrm>
            <a:off x="731520" y="2734056"/>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3" name="Text 10"/>
          <p:cNvSpPr txBox="1"/>
          <p:nvPr/>
        </p:nvSpPr>
        <p:spPr>
          <a:xfrm>
            <a:off x="1371600" y="2720340"/>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That same key is used to encrypt and decrypt.</a:t>
            </a:r>
            <a:endParaRPr lang="en-US" sz="2200" dirty="0"/>
          </a:p>
        </p:txBody>
      </p:sp>
      <p:sp>
        <p:nvSpPr>
          <p:cNvPr id="14" name="Shape 11"/>
          <p:cNvSpPr/>
          <p:nvPr/>
        </p:nvSpPr>
        <p:spPr>
          <a:xfrm>
            <a:off x="1371600" y="3483864"/>
            <a:ext cx="10012680" cy="0"/>
          </a:xfrm>
          <a:prstGeom prst="line">
            <a:avLst/>
          </a:prstGeom>
          <a:noFill/>
          <a:ln w="8890">
            <a:solidFill>
              <a:srgbClr val="DDDBE5"/>
            </a:solidFill>
            <a:prstDash val="solid"/>
          </a:ln>
        </p:spPr>
      </p:sp>
      <p:sp>
        <p:nvSpPr>
          <p:cNvPr id="15" name="Text 12"/>
          <p:cNvSpPr txBox="1"/>
          <p:nvPr/>
        </p:nvSpPr>
        <p:spPr>
          <a:xfrm>
            <a:off x="731520" y="3639312"/>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6" name="Text 13"/>
          <p:cNvSpPr txBox="1"/>
          <p:nvPr/>
        </p:nvSpPr>
        <p:spPr>
          <a:xfrm>
            <a:off x="1371600" y="3625596"/>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Asymmetric uses a different public/private pair.</a:t>
            </a:r>
            <a:endParaRPr lang="en-US" sz="2200" dirty="0"/>
          </a:p>
        </p:txBody>
      </p:sp>
      <p:sp>
        <p:nvSpPr>
          <p:cNvPr id="17" name="Shape 14"/>
          <p:cNvSpPr/>
          <p:nvPr/>
        </p:nvSpPr>
        <p:spPr>
          <a:xfrm>
            <a:off x="1371600" y="4389120"/>
            <a:ext cx="10012680" cy="0"/>
          </a:xfrm>
          <a:prstGeom prst="line">
            <a:avLst/>
          </a:prstGeom>
          <a:noFill/>
          <a:ln w="8890">
            <a:solidFill>
              <a:srgbClr val="DDDBE5"/>
            </a:solidFill>
            <a:prstDash val="solid"/>
          </a:ln>
        </p:spPr>
      </p:sp>
      <p:sp>
        <p:nvSpPr>
          <p:cNvPr id="18" name="Text 15"/>
          <p:cNvSpPr txBox="1"/>
          <p:nvPr/>
        </p:nvSpPr>
        <p:spPr>
          <a:xfrm>
            <a:off x="731520" y="4544568"/>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04</a:t>
            </a:r>
            <a:endParaRPr lang="en-US" sz="1600" dirty="0"/>
          </a:p>
        </p:txBody>
      </p:sp>
      <p:sp>
        <p:nvSpPr>
          <p:cNvPr id="19" name="Text 16"/>
          <p:cNvSpPr txBox="1"/>
          <p:nvPr/>
        </p:nvSpPr>
        <p:spPr>
          <a:xfrm>
            <a:off x="1371600" y="4530852"/>
            <a:ext cx="10012680" cy="795528"/>
          </a:xfrm>
          <a:prstGeom prst="rect">
            <a:avLst/>
          </a:prstGeom>
          <a:noFill/>
          <a:ln/>
        </p:spPr>
        <p:txBody>
          <a:bodyPr wrap="square" lIns="0" tIns="0" rIns="0" bIns="0" rtlCol="0" anchor="t"/>
          <a:lstStyle/>
          <a:p>
            <a:pPr indent="0" marL="0">
              <a:buNone/>
            </a:pPr>
            <a:r>
              <a:rPr lang="en-US" sz="2200" dirty="0">
                <a:solidFill>
                  <a:srgbClr val="252341"/>
                </a:solidFill>
                <a:latin typeface="Quicksand" pitchFamily="34" charset="0"/>
                <a:ea typeface="Quicksand" pitchFamily="34" charset="-122"/>
                <a:cs typeface="Quicksand" pitchFamily="34" charset="-120"/>
              </a:rPr>
              <a:t>Public encrypts; private decrypts in this confidentiality context.</a:t>
            </a:r>
            <a:endParaRPr lang="en-US" sz="2200" dirty="0"/>
          </a:p>
        </p:txBody>
      </p:sp>
      <p:sp>
        <p:nvSpPr>
          <p:cNvPr id="20" name="Text 17"/>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The four-mark scheme accepts four distinct points, including key sharing/ownership alternatives.</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APPLY · FOLLOW-UP</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Find the mistake; repair the mechanism</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26</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6858000"/>
                <a:gridCol w="4114800"/>
              </a:tblGrid>
              <a:tr h="758952">
                <a:tc>
                  <a:txBody>
                    <a:bodyPr/>
                    <a:lstStyle/>
                    <a:p>
                      <a:pPr indent="0" marL="0">
                        <a:buNone/>
                      </a:pPr>
                      <a:r>
                        <a:rPr lang="en-US" sz="2150" b="1" dirty="0">
                          <a:solidFill>
                            <a:srgbClr val="FFFFFF"/>
                          </a:solidFill>
                          <a:latin typeface="Quicksand" pitchFamily="34" charset="0"/>
                          <a:ea typeface="Quicksand" pitchFamily="34" charset="-122"/>
                          <a:cs typeface="Quicksand" pitchFamily="34" charset="-120"/>
                        </a:rPr>
                        <a:t>Claim</a:t>
                      </a:r>
                      <a:endParaRPr lang="en-US" sz="2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2150" b="1" dirty="0">
                          <a:solidFill>
                            <a:srgbClr val="FFFFFF"/>
                          </a:solidFill>
                          <a:latin typeface="Quicksand" pitchFamily="34" charset="0"/>
                          <a:ea typeface="Quicksand" pitchFamily="34" charset="-122"/>
                          <a:cs typeface="Quicksand" pitchFamily="34" charset="-120"/>
                        </a:rPr>
                        <a:t>Your job</a:t>
                      </a:r>
                      <a:endParaRPr lang="en-US" sz="2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58952">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“Encryption stops interception.”</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Separate copying data from understanding it.</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58952">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“Symmetric needs a different decryption key.”</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Explain same key vs reversed operation.</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58952">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“Encrypt for Leo with Maya’s public key.”</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Identify the recipient and correct owner.</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58952">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“Everyone who has Leo’s public key can decrypt.”</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2100" dirty="0">
                          <a:solidFill>
                            <a:srgbClr val="202124"/>
                          </a:solidFill>
                          <a:latin typeface="Quicksand" pitchFamily="34" charset="0"/>
                          <a:ea typeface="Quicksand" pitchFamily="34" charset="-122"/>
                          <a:cs typeface="Quicksand" pitchFamily="34" charset="-120"/>
                        </a:rPr>
                        <a:t>Identify which matching key must remain secret.</a:t>
                      </a:r>
                      <a:endParaRPr lang="en-US" sz="2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Use precise terms and ownership. Do not replace an error with another vague claim.</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PLENARY</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One file; one recipient; the right keys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27</a:t>
            </a:r>
            <a:endParaRPr lang="en-US" sz="1100" dirty="0"/>
          </a:p>
        </p:txBody>
      </p:sp>
      <p:sp>
        <p:nvSpPr>
          <p:cNvPr id="8" name="Text 5"/>
          <p:cNvSpPr txBox="1"/>
          <p:nvPr/>
        </p:nvSpPr>
        <p:spPr>
          <a:xfrm>
            <a:off x="731520" y="1920240"/>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01</a:t>
            </a:r>
            <a:endParaRPr lang="en-US" sz="1600" dirty="0"/>
          </a:p>
        </p:txBody>
      </p:sp>
      <p:sp>
        <p:nvSpPr>
          <p:cNvPr id="9" name="Text 6"/>
          <p:cNvSpPr txBox="1"/>
          <p:nvPr/>
        </p:nvSpPr>
        <p:spPr>
          <a:xfrm>
            <a:off x="1371600" y="1906524"/>
            <a:ext cx="10012680" cy="914400"/>
          </a:xfrm>
          <a:prstGeom prst="rect">
            <a:avLst/>
          </a:prstGeom>
          <a:noFill/>
          <a:ln/>
        </p:spPr>
        <p:txBody>
          <a:bodyPr wrap="square" lIns="0" tIns="0" rIns="0" bIns="0" rtlCol="0" anchor="t"/>
          <a:lstStyle/>
          <a:p>
            <a:pPr indent="0" marL="0">
              <a:buNone/>
            </a:pPr>
            <a:r>
              <a:rPr lang="en-US" sz="2500" dirty="0">
                <a:solidFill>
                  <a:srgbClr val="252341"/>
                </a:solidFill>
                <a:latin typeface="Quicksand" pitchFamily="34" charset="0"/>
                <a:ea typeface="Quicksand" pitchFamily="34" charset="-122"/>
                <a:cs typeface="Quicksand" pitchFamily="34" charset="-120"/>
              </a:rPr>
              <a:t>Sam sends a confidential file to Priya. Which key encrypts it?</a:t>
            </a:r>
            <a:endParaRPr lang="en-US" sz="2500" dirty="0"/>
          </a:p>
        </p:txBody>
      </p:sp>
      <p:sp>
        <p:nvSpPr>
          <p:cNvPr id="10" name="Shape 7"/>
          <p:cNvSpPr/>
          <p:nvPr/>
        </p:nvSpPr>
        <p:spPr>
          <a:xfrm>
            <a:off x="1371600" y="2788920"/>
            <a:ext cx="10012680" cy="0"/>
          </a:xfrm>
          <a:prstGeom prst="line">
            <a:avLst/>
          </a:prstGeom>
          <a:noFill/>
          <a:ln w="8890">
            <a:solidFill>
              <a:srgbClr val="DDDBE5"/>
            </a:solidFill>
            <a:prstDash val="solid"/>
          </a:ln>
        </p:spPr>
      </p:sp>
      <p:sp>
        <p:nvSpPr>
          <p:cNvPr id="11" name="Text 8"/>
          <p:cNvSpPr txBox="1"/>
          <p:nvPr/>
        </p:nvSpPr>
        <p:spPr>
          <a:xfrm>
            <a:off x="731520" y="2944368"/>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02</a:t>
            </a:r>
            <a:endParaRPr lang="en-US" sz="1600" dirty="0"/>
          </a:p>
        </p:txBody>
      </p:sp>
      <p:sp>
        <p:nvSpPr>
          <p:cNvPr id="12" name="Text 9"/>
          <p:cNvSpPr txBox="1"/>
          <p:nvPr/>
        </p:nvSpPr>
        <p:spPr>
          <a:xfrm>
            <a:off x="1371600" y="2930652"/>
            <a:ext cx="10012680" cy="914400"/>
          </a:xfrm>
          <a:prstGeom prst="rect">
            <a:avLst/>
          </a:prstGeom>
          <a:noFill/>
          <a:ln/>
        </p:spPr>
        <p:txBody>
          <a:bodyPr wrap="square" lIns="0" tIns="0" rIns="0" bIns="0" rtlCol="0" anchor="t"/>
          <a:lstStyle/>
          <a:p>
            <a:pPr indent="0" marL="0">
              <a:buNone/>
            </a:pPr>
            <a:r>
              <a:rPr lang="en-US" sz="2500" dirty="0">
                <a:solidFill>
                  <a:srgbClr val="252341"/>
                </a:solidFill>
                <a:latin typeface="Quicksand" pitchFamily="34" charset="0"/>
                <a:ea typeface="Quicksand" pitchFamily="34" charset="-122"/>
                <a:cs typeface="Quicksand" pitchFamily="34" charset="-120"/>
              </a:rPr>
              <a:t>Which key decrypts it, and who keeps it?</a:t>
            </a:r>
            <a:endParaRPr lang="en-US" sz="2500" dirty="0"/>
          </a:p>
        </p:txBody>
      </p:sp>
      <p:sp>
        <p:nvSpPr>
          <p:cNvPr id="13" name="Shape 10"/>
          <p:cNvSpPr/>
          <p:nvPr/>
        </p:nvSpPr>
        <p:spPr>
          <a:xfrm>
            <a:off x="1371600" y="3813048"/>
            <a:ext cx="10012680" cy="0"/>
          </a:xfrm>
          <a:prstGeom prst="line">
            <a:avLst/>
          </a:prstGeom>
          <a:noFill/>
          <a:ln w="8890">
            <a:solidFill>
              <a:srgbClr val="DDDBE5"/>
            </a:solidFill>
            <a:prstDash val="solid"/>
          </a:ln>
        </p:spPr>
      </p:sp>
      <p:sp>
        <p:nvSpPr>
          <p:cNvPr id="14" name="Text 11"/>
          <p:cNvSpPr txBox="1"/>
          <p:nvPr/>
        </p:nvSpPr>
        <p:spPr>
          <a:xfrm>
            <a:off x="731520" y="3968496"/>
            <a:ext cx="457200" cy="36576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03</a:t>
            </a:r>
            <a:endParaRPr lang="en-US" sz="1600" dirty="0"/>
          </a:p>
        </p:txBody>
      </p:sp>
      <p:sp>
        <p:nvSpPr>
          <p:cNvPr id="15" name="Text 12"/>
          <p:cNvSpPr txBox="1"/>
          <p:nvPr/>
        </p:nvSpPr>
        <p:spPr>
          <a:xfrm>
            <a:off x="1371600" y="3954780"/>
            <a:ext cx="10012680" cy="914400"/>
          </a:xfrm>
          <a:prstGeom prst="rect">
            <a:avLst/>
          </a:prstGeom>
          <a:noFill/>
          <a:ln/>
        </p:spPr>
        <p:txBody>
          <a:bodyPr wrap="square" lIns="0" tIns="0" rIns="0" bIns="0" rtlCol="0" anchor="t"/>
          <a:lstStyle/>
          <a:p>
            <a:pPr indent="0" marL="0">
              <a:buNone/>
            </a:pPr>
            <a:r>
              <a:rPr lang="en-US" sz="2500" dirty="0">
                <a:solidFill>
                  <a:srgbClr val="252341"/>
                </a:solidFill>
                <a:latin typeface="Quicksand" pitchFamily="34" charset="0"/>
                <a:ea typeface="Quicksand" pitchFamily="34" charset="-122"/>
                <a:cs typeface="Quicksand" pitchFamily="34" charset="-120"/>
              </a:rPr>
              <a:t>Would encrypting the file stop someone copying the transmitted data?</a:t>
            </a:r>
            <a:endParaRPr lang="en-US" sz="2500" dirty="0"/>
          </a:p>
        </p:txBody>
      </p:sp>
      <p:sp>
        <p:nvSpPr>
          <p:cNvPr id="16" name="Text 13"/>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If you can name the owner, type and job of each key, you can transfer the explanation.</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REFERENCES</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Photographs: sources and licences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28</a:t>
            </a:r>
            <a:endParaRPr lang="en-US" sz="1100" dirty="0"/>
          </a:p>
        </p:txBody>
      </p:sp>
      <p:sp>
        <p:nvSpPr>
          <p:cNvPr id="8" name="Text 5"/>
          <p:cNvSpPr txBox="1"/>
          <p:nvPr/>
        </p:nvSpPr>
        <p:spPr>
          <a:xfrm>
            <a:off x="594360" y="1691640"/>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CAFE · Larry D. Moore · CC BY 4.0</a:t>
            </a:r>
            <a:endParaRPr lang="en-US" sz="1200" dirty="0"/>
          </a:p>
        </p:txBody>
      </p:sp>
      <p:sp>
        <p:nvSpPr>
          <p:cNvPr id="9" name="Text 6">
            <a:hlinkClick r:id="rId1" tooltip=""/>
          </p:cNvPr>
          <p:cNvSpPr txBox="1"/>
          <p:nvPr/>
        </p:nvSpPr>
        <p:spPr>
          <a:xfrm>
            <a:off x="594360" y="2084832"/>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1"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0" name="Text 7">
            <a:hlinkClick r:id="rId2" tooltip=""/>
          </p:cNvPr>
          <p:cNvSpPr txBox="1"/>
          <p:nvPr/>
        </p:nvSpPr>
        <p:spPr>
          <a:xfrm>
            <a:off x="594360" y="2313432"/>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terms · CC BY 4.0</a:t>
            </a:r>
            <a:endParaRPr lang="en-US" sz="1000" dirty="0"/>
          </a:p>
        </p:txBody>
      </p:sp>
      <p:sp>
        <p:nvSpPr>
          <p:cNvPr id="11" name="Text 8"/>
          <p:cNvSpPr txBox="1"/>
          <p:nvPr/>
        </p:nvSpPr>
        <p:spPr>
          <a:xfrm>
            <a:off x="594360" y="2523744"/>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MEDICAL · U.S. Navy photo by Photographer's Mate 3rd Class Jason T. Poplin · Public domain</a:t>
            </a:r>
            <a:endParaRPr lang="en-US" sz="1200" dirty="0"/>
          </a:p>
        </p:txBody>
      </p:sp>
      <p:sp>
        <p:nvSpPr>
          <p:cNvPr id="12" name="Text 9">
            <a:hlinkClick r:id="rId3" tooltip=""/>
          </p:cNvPr>
          <p:cNvSpPr txBox="1"/>
          <p:nvPr/>
        </p:nvSpPr>
        <p:spPr>
          <a:xfrm>
            <a:off x="594360" y="2916936"/>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3"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3" name="Text 10">
            <a:hlinkClick r:id="rId4" tooltip=""/>
          </p:cNvPr>
          <p:cNvSpPr txBox="1"/>
          <p:nvPr/>
        </p:nvSpPr>
        <p:spPr>
          <a:xfrm>
            <a:off x="594360" y="3145536"/>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terms · Public domain</a:t>
            </a:r>
            <a:endParaRPr lang="en-US" sz="1000" dirty="0"/>
          </a:p>
        </p:txBody>
      </p:sp>
      <p:sp>
        <p:nvSpPr>
          <p:cNvPr id="14" name="Text 11"/>
          <p:cNvSpPr txBox="1"/>
          <p:nvPr/>
        </p:nvSpPr>
        <p:spPr>
          <a:xfrm>
            <a:off x="594360" y="3355848"/>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PHONE · Maurizio Pesce from Milan, Italia · CC BY 2.0</a:t>
            </a:r>
            <a:endParaRPr lang="en-US" sz="1200" dirty="0"/>
          </a:p>
        </p:txBody>
      </p:sp>
      <p:sp>
        <p:nvSpPr>
          <p:cNvPr id="15" name="Text 12">
            <a:hlinkClick r:id="rId5" tooltip=""/>
          </p:cNvPr>
          <p:cNvSpPr txBox="1"/>
          <p:nvPr/>
        </p:nvSpPr>
        <p:spPr>
          <a:xfrm>
            <a:off x="594360" y="3749040"/>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5"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6" name="Text 13">
            <a:hlinkClick r:id="rId6" tooltip=""/>
          </p:cNvPr>
          <p:cNvSpPr txBox="1"/>
          <p:nvPr/>
        </p:nvSpPr>
        <p:spPr>
          <a:xfrm>
            <a:off x="594360" y="3977640"/>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terms · CC BY 2.0</a:t>
            </a:r>
            <a:endParaRPr lang="en-US" sz="1000" dirty="0"/>
          </a:p>
        </p:txBody>
      </p:sp>
      <p:sp>
        <p:nvSpPr>
          <p:cNvPr id="17" name="Text 14"/>
          <p:cNvSpPr txBox="1"/>
          <p:nvPr/>
        </p:nvSpPr>
        <p:spPr>
          <a:xfrm>
            <a:off x="594360" y="4187952"/>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ROUTER · Abhi25t · CC BY-SA 4.0</a:t>
            </a:r>
            <a:endParaRPr lang="en-US" sz="1200" dirty="0"/>
          </a:p>
        </p:txBody>
      </p:sp>
      <p:sp>
        <p:nvSpPr>
          <p:cNvPr id="18" name="Text 15">
            <a:hlinkClick r:id="rId7" tooltip=""/>
          </p:cNvPr>
          <p:cNvSpPr txBox="1"/>
          <p:nvPr/>
        </p:nvSpPr>
        <p:spPr>
          <a:xfrm>
            <a:off x="594360" y="4581144"/>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7"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9" name="Text 16">
            <a:hlinkClick r:id="rId8" tooltip=""/>
          </p:cNvPr>
          <p:cNvSpPr txBox="1"/>
          <p:nvPr/>
        </p:nvSpPr>
        <p:spPr>
          <a:xfrm>
            <a:off x="594360" y="4809744"/>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terms · CC BY-SA 4.0</a:t>
            </a:r>
            <a:endParaRPr lang="en-US" sz="1000" dirty="0"/>
          </a:p>
        </p:txBody>
      </p:sp>
      <p:sp>
        <p:nvSpPr>
          <p:cNvPr id="20" name="Text 17"/>
          <p:cNvSpPr txBox="1"/>
          <p:nvPr/>
        </p:nvSpPr>
        <p:spPr>
          <a:xfrm>
            <a:off x="594360" y="5020056"/>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LAPTOP · Nasenber3 · CC BY-SA 4.0</a:t>
            </a:r>
            <a:endParaRPr lang="en-US" sz="1200" dirty="0"/>
          </a:p>
        </p:txBody>
      </p:sp>
      <p:sp>
        <p:nvSpPr>
          <p:cNvPr id="21" name="Text 18">
            <a:hlinkClick r:id="rId9" tooltip=""/>
          </p:cNvPr>
          <p:cNvSpPr txBox="1"/>
          <p:nvPr/>
        </p:nvSpPr>
        <p:spPr>
          <a:xfrm>
            <a:off x="594360" y="5413248"/>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9"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22" name="Text 19">
            <a:hlinkClick r:id="rId10" tooltip=""/>
          </p:cNvPr>
          <p:cNvSpPr txBox="1"/>
          <p:nvPr/>
        </p:nvSpPr>
        <p:spPr>
          <a:xfrm>
            <a:off x="594360" y="5641848"/>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terms · CC BY-SA 4.0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REFERENCES</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Photographs: sources and licences</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29</a:t>
            </a:r>
            <a:endParaRPr lang="en-US" sz="1100" dirty="0"/>
          </a:p>
        </p:txBody>
      </p:sp>
      <p:sp>
        <p:nvSpPr>
          <p:cNvPr id="8" name="Text 5"/>
          <p:cNvSpPr txBox="1"/>
          <p:nvPr/>
        </p:nvSpPr>
        <p:spPr>
          <a:xfrm>
            <a:off x="594360" y="1691640"/>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ATM · Rfc1394 at English Wikipedia Later versions were uploaded by Awyong Jeffrey Mordecai Salleh at en.wikipedia . · Public domain</a:t>
            </a:r>
            <a:endParaRPr lang="en-US" sz="1200" dirty="0"/>
          </a:p>
        </p:txBody>
      </p:sp>
      <p:sp>
        <p:nvSpPr>
          <p:cNvPr id="9" name="Text 6">
            <a:hlinkClick r:id="rId1" tooltip=""/>
          </p:cNvPr>
          <p:cNvSpPr txBox="1"/>
          <p:nvPr/>
        </p:nvSpPr>
        <p:spPr>
          <a:xfrm>
            <a:off x="594360" y="2084832"/>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1"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0" name="Text 7">
            <a:hlinkClick r:id="rId2" tooltip=""/>
          </p:cNvPr>
          <p:cNvSpPr txBox="1"/>
          <p:nvPr/>
        </p:nvSpPr>
        <p:spPr>
          <a:xfrm>
            <a:off x="594360" y="2313432"/>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terms · Public domain</a:t>
            </a:r>
            <a:endParaRPr lang="en-US" sz="1000" dirty="0"/>
          </a:p>
        </p:txBody>
      </p:sp>
      <p:sp>
        <p:nvSpPr>
          <p:cNvPr id="11" name="Text 8"/>
          <p:cNvSpPr txBox="1"/>
          <p:nvPr/>
        </p:nvSpPr>
        <p:spPr>
          <a:xfrm>
            <a:off x="594360" y="2523744"/>
            <a:ext cx="10972800" cy="347472"/>
          </a:xfrm>
          <a:prstGeom prst="rect">
            <a:avLst/>
          </a:prstGeom>
          <a:noFill/>
          <a:ln/>
        </p:spPr>
        <p:txBody>
          <a:bodyPr wrap="square" lIns="0" tIns="0" rIns="0" bIns="0" rtlCol="0" anchor="t"/>
          <a:lstStyle/>
          <a:p>
            <a:pPr indent="0" marL="0">
              <a:buNone/>
            </a:pPr>
            <a:r>
              <a:rPr lang="en-US" sz="1200" b="1" dirty="0">
                <a:solidFill>
                  <a:srgbClr val="494985"/>
                </a:solidFill>
                <a:latin typeface="Quicksand" pitchFamily="34" charset="0"/>
                <a:ea typeface="Quicksand" pitchFamily="34" charset="-122"/>
                <a:cs typeface="Quicksand" pitchFamily="34" charset="-120"/>
              </a:rPr>
              <a:t>REMOTE · Shixart1985 · CC BY 2.0</a:t>
            </a:r>
            <a:endParaRPr lang="en-US" sz="1200" dirty="0"/>
          </a:p>
        </p:txBody>
      </p:sp>
      <p:sp>
        <p:nvSpPr>
          <p:cNvPr id="12" name="Text 9">
            <a:hlinkClick r:id="rId3" tooltip=""/>
          </p:cNvPr>
          <p:cNvSpPr txBox="1"/>
          <p:nvPr/>
        </p:nvSpPr>
        <p:spPr>
          <a:xfrm>
            <a:off x="594360" y="2916936"/>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3" invalidUrl="" action="" tgtFrame="" tooltip="" history="1" highlightClick="0" endSnd="0">
                  <a:extLst>
                    <a:ext uri="{A12FA001-AC4F-418D-AE19-62706E023703}">
                      <ahyp:hlinkClr xmlns:ahyp="http://schemas.microsoft.com/office/drawing/2018/hyperlinkcolor" val="tx"/>
                    </a:ext>
                  </a:extLst>
                </a:hlinkClick>
              </a:rPr>
              <a:t>Photograph source · Wikimedia Commons</a:t>
            </a:r>
            <a:endParaRPr lang="en-US" sz="1000" dirty="0"/>
          </a:p>
        </p:txBody>
      </p:sp>
      <p:sp>
        <p:nvSpPr>
          <p:cNvPr id="13" name="Text 10">
            <a:hlinkClick r:id="rId4" tooltip=""/>
          </p:cNvPr>
          <p:cNvSpPr txBox="1"/>
          <p:nvPr/>
        </p:nvSpPr>
        <p:spPr>
          <a:xfrm>
            <a:off x="594360" y="3145536"/>
            <a:ext cx="10972800" cy="210312"/>
          </a:xfrm>
          <a:prstGeom prst="rect">
            <a:avLst/>
          </a:prstGeom>
          <a:noFill/>
          <a:ln/>
        </p:spPr>
        <p:txBody>
          <a:bodyPr wrap="square" lIns="0" tIns="0" rIns="0" bIns="0" rtlCol="0" anchor="t"/>
          <a:lstStyle/>
          <a:p>
            <a:pPr indent="0" marL="0">
              <a:buNone/>
            </a:pPr>
            <a:r>
              <a:rPr lang="en-US" sz="1000" u="sng" dirty="0">
                <a:solidFill>
                  <a:srgbClr val="777584"/>
                </a:solidFill>
                <a:latin typeface="Quicksand" pitchFamily="34" charset="0"/>
                <a:ea typeface="Quicksand" pitchFamily="34" charset="-122"/>
                <a:cs typeface="Quicksand"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terms · CC BY 2.0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txBox="1"/>
          <p:nvPr/>
        </p:nvSpPr>
        <p:spPr>
          <a:xfrm>
            <a:off x="594360" y="301752"/>
            <a:ext cx="10424160" cy="274320"/>
          </a:xfrm>
          <a:prstGeom prst="rect">
            <a:avLst/>
          </a:prstGeom>
          <a:noFill/>
          <a:ln/>
        </p:spPr>
        <p:txBody>
          <a:bodyPr wrap="square" lIns="0" tIns="0" rIns="0" bIns="0" rtlCol="0" anchor="t"/>
          <a:lstStyle/>
          <a:p>
            <a:pPr indent="0" marL="0">
              <a:buNone/>
            </a:pPr>
            <a:r>
              <a:rPr lang="en-US" sz="1100" b="1" spc="200" kern="0" dirty="0">
                <a:solidFill>
                  <a:srgbClr val="494985"/>
                </a:solidFill>
                <a:latin typeface="Quicksand" pitchFamily="34" charset="0"/>
                <a:ea typeface="Quicksand" pitchFamily="34" charset="-122"/>
                <a:cs typeface="Quicksand" pitchFamily="34" charset="-120"/>
              </a:rPr>
              <a:t>REFERENCES</a:t>
            </a:r>
            <a:endParaRPr lang="en-US" sz="1100" dirty="0"/>
          </a:p>
        </p:txBody>
      </p:sp>
      <p:sp>
        <p:nvSpPr>
          <p:cNvPr id="3" name="Text 1"/>
          <p:cNvSpPr txBox="1"/>
          <p:nvPr/>
        </p:nvSpPr>
        <p:spPr>
          <a:xfrm>
            <a:off x="594360" y="822960"/>
            <a:ext cx="10972800" cy="640080"/>
          </a:xfrm>
          <a:prstGeom prst="rect">
            <a:avLst/>
          </a:prstGeom>
          <a:noFill/>
          <a:ln/>
        </p:spPr>
        <p:txBody>
          <a:bodyPr wrap="square" lIns="0" tIns="0" rIns="0" bIns="0" rtlCol="0" anchor="t"/>
          <a:lstStyle/>
          <a:p>
            <a:pPr indent="0" marL="0">
              <a:buNone/>
            </a:pPr>
            <a:r>
              <a:rPr lang="en-US" sz="3200" b="1" dirty="0">
                <a:solidFill>
                  <a:srgbClr val="252341"/>
                </a:solidFill>
                <a:latin typeface="Quicksand" pitchFamily="34" charset="0"/>
                <a:ea typeface="Quicksand" pitchFamily="34" charset="-122"/>
                <a:cs typeface="Quicksand" pitchFamily="34" charset="-120"/>
              </a:rPr>
              <a:t>The scope and sources behind the lesson</a:t>
            </a:r>
            <a:endParaRPr lang="en-US" sz="3200" dirty="0"/>
          </a:p>
        </p:txBody>
      </p:sp>
      <p:sp>
        <p:nvSpPr>
          <p:cNvPr id="4" name="Shape 2"/>
          <p:cNvSpPr/>
          <p:nvPr/>
        </p:nvSpPr>
        <p:spPr>
          <a:xfrm>
            <a:off x="594360" y="6355080"/>
            <a:ext cx="10972800" cy="0"/>
          </a:xfrm>
          <a:prstGeom prst="line">
            <a:avLst/>
          </a:prstGeom>
          <a:noFill/>
          <a:ln w="8890">
            <a:solidFill>
              <a:srgbClr val="DDDBE5"/>
            </a:solidFill>
            <a:prstDash val="solid"/>
          </a:ln>
        </p:spPr>
      </p:sp>
      <p:sp>
        <p:nvSpPr>
          <p:cNvPr id="5" name="Text 3"/>
          <p:cNvSpPr txBox="1"/>
          <p:nvPr/>
        </p:nvSpPr>
        <p:spPr>
          <a:xfrm>
            <a:off x="594360" y="6473952"/>
            <a:ext cx="5486400" cy="164592"/>
          </a:xfrm>
          <a:prstGeom prst="rect">
            <a:avLst/>
          </a:prstGeom>
          <a:noFill/>
          <a:ln/>
        </p:spPr>
        <p:txBody>
          <a:bodyPr wrap="square" lIns="0" tIns="0" rIns="0" bIns="0" rtlCol="0" anchor="t"/>
          <a:lstStyle/>
          <a:p>
            <a:pPr indent="0" marL="0">
              <a:buNone/>
            </a:pPr>
            <a:r>
              <a:rPr lang="en-US" sz="800" dirty="0">
                <a:solidFill>
                  <a:srgbClr val="777584"/>
                </a:solidFill>
                <a:latin typeface="Quicksand" pitchFamily="34" charset="0"/>
                <a:ea typeface="Quicksand" pitchFamily="34" charset="-122"/>
                <a:cs typeface="Quicksand" pitchFamily="34" charset="-120"/>
              </a:rPr>
              <a:t>IGCSE 0478  /  ENCRYPTION</a:t>
            </a:r>
            <a:endParaRPr lang="en-US" sz="800" dirty="0"/>
          </a:p>
        </p:txBody>
      </p:sp>
      <p:sp>
        <p:nvSpPr>
          <p:cNvPr id="6" name="Text 4"/>
          <p:cNvSpPr txBox="1"/>
          <p:nvPr/>
        </p:nvSpPr>
        <p:spPr>
          <a:xfrm>
            <a:off x="11018520" y="6419088"/>
            <a:ext cx="530352" cy="228600"/>
          </a:xfrm>
          <a:prstGeom prst="rect">
            <a:avLst/>
          </a:prstGeom>
          <a:noFill/>
          <a:ln/>
        </p:spPr>
        <p:txBody>
          <a:bodyPr wrap="square" lIns="0" tIns="0" rIns="0" bIns="0" rtlCol="0" anchor="t"/>
          <a:lstStyle/>
          <a:p>
            <a:pPr algn="r" indent="0" marL="0">
              <a:buNone/>
            </a:pPr>
            <a:r>
              <a:rPr lang="en-US" sz="1100" dirty="0">
                <a:solidFill>
                  <a:srgbClr val="777584"/>
                </a:solidFill>
                <a:latin typeface="Quicksand" pitchFamily="34" charset="0"/>
                <a:ea typeface="Quicksand" pitchFamily="34" charset="-122"/>
                <a:cs typeface="Quicksand" pitchFamily="34" charset="-120"/>
              </a:rPr>
              <a:t>30</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4114800"/>
                <a:gridCol w="6858000"/>
              </a:tblGrid>
              <a:tr h="786384">
                <a:tc>
                  <a:txBody>
                    <a:bodyPr/>
                    <a:lstStyle/>
                    <a:p>
                      <a:pPr indent="0" marL="0">
                        <a:buNone/>
                      </a:pPr>
                      <a:r>
                        <a:rPr lang="en-US" sz="1950" b="1" dirty="0">
                          <a:solidFill>
                            <a:srgbClr val="FFFFFF"/>
                          </a:solidFill>
                          <a:latin typeface="Quicksand" pitchFamily="34" charset="0"/>
                          <a:ea typeface="Quicksand" pitchFamily="34" charset="-122"/>
                          <a:cs typeface="Quicksand" pitchFamily="34" charset="-120"/>
                        </a:rPr>
                        <a:t>Source</a:t>
                      </a:r>
                      <a:endParaRPr lang="en-US" sz="19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950" b="1" dirty="0">
                          <a:solidFill>
                            <a:srgbClr val="FFFFFF"/>
                          </a:solidFill>
                          <a:latin typeface="Quicksand" pitchFamily="34" charset="0"/>
                          <a:ea typeface="Quicksand" pitchFamily="34" charset="-122"/>
                          <a:cs typeface="Quicksand" pitchFamily="34" charset="-120"/>
                        </a:rPr>
                        <a:t>Use</a:t>
                      </a:r>
                      <a:endParaRPr lang="en-US" sz="19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786384">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Teacher-supplied Hodder extract, pp.63–66</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Purpose, terminology, shared key, public/private pair.</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86384">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0478 syllabus, section 2.3</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Encryption purpose and symmetric/asymmetric operation.</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86384">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2024–2025 published QPs and schemes</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Eight adapted parts retaining 17 official marks.</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786384">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Scope</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900" dirty="0">
                          <a:solidFill>
                            <a:srgbClr val="202124"/>
                          </a:solidFill>
                          <a:latin typeface="Quicksand" pitchFamily="34" charset="0"/>
                          <a:ea typeface="Quicksand" pitchFamily="34" charset="-122"/>
                          <a:cs typeface="Quicksand" pitchFamily="34" charset="-120"/>
                        </a:rPr>
                        <a:t>No quantum physics, RSA mathematics or digital-signature algorithms.</a:t>
                      </a:r>
                      <a:endParaRPr lang="en-US" sz="19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94360" y="5650992"/>
            <a:ext cx="10972800" cy="384048"/>
          </a:xfrm>
          <a:prstGeom prst="rect">
            <a:avLst/>
          </a:prstGeom>
          <a:noFill/>
          <a:ln/>
        </p:spPr>
        <p:txBody>
          <a:bodyPr wrap="square" lIns="0" tIns="0" rIns="0" bIns="0" rtlCol="0" anchor="t"/>
          <a:lstStyle/>
          <a:p>
            <a:pPr indent="0" marL="0">
              <a:buNone/>
            </a:pPr>
            <a:r>
              <a:rPr lang="en-US" sz="1700" b="1" dirty="0">
                <a:solidFill>
                  <a:srgbClr val="494985"/>
                </a:solidFill>
                <a:latin typeface="Quicksand" pitchFamily="34" charset="0"/>
                <a:ea typeface="Quicksand" pitchFamily="34" charset="-122"/>
                <a:cs typeface="Quicksand" pitchFamily="34" charset="-120"/>
              </a:rPr>
              <a:t>Original activities are marked as suggested; official questions retain their cited allocations.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Symmetric and asymmetric encryption</dc:title>
  <dc:subject>PptxGenJS Presentation</dc:subject>
  <dc:creator>PptxGenJS</dc:creator>
  <cp:lastModifiedBy>PptxGenJS</cp:lastModifiedBy>
  <cp:revision>1</cp:revision>
  <dcterms:created xsi:type="dcterms:W3CDTF">2026-10-12T04:34:15Z</dcterms:created>
  <dcterms:modified xsi:type="dcterms:W3CDTF">2026-10-12T04:34:15Z</dcterms:modified>
</cp:coreProperties>
</file>