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0478 syllabus 6.2: what robotics is, the characteristics of a robot, and the roles, advantages and disadvantages of robots in industry, transport, agriculture, medicine, domestic use and entertainment. Content follows the Hodder Cambridge IGCSE Computer Science textbook, section 6.2. Exam questions in the booklet are real 0478 Paper 1 questions (2023-2025) with official marking points in these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Booklet Task 1, closed book, 8 minutes, then swap and mark. Robotics questions always assume students can explain the sensor - microprocessor - actuator loop from 6.1.
ANSWERS
Q1 (6): acoustic = water dripping from a leak / glass breaking; humidity = moisture in a greenhouse; infra-red = person approaching automatic doors / motion; magnetic field = counting cars in a car park; level = refilling a water bowl or tank; proximity = robot vacuum avoiding furniture.
Q2 (1) 0478/13 Oct/Nov 2024 Q5(a): a system that can perform actions without human intervention.
Q3 (3) 0478/13 Oct/Nov 2024 Q5(b): receives data from the sensor; analyses it / checks whether it is within or outside a range; sends signals to trigger actions (actuators) based on the data.
Q4 (2) 0478/13 May/June 2024 Q6(b), any two: data collected without human intervention; faster than a human; accurate readings; continuous 24/7; can work in dangerous environments.
Re-teach threshold: fewer than 2/3 on Q3 -&gt; recap the 6.1 control loop before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(0478 Feb/March 2023 Q6(b), 2 marks): the design / the construction / the operation of robots (to perform tasks). Students need two of the three words. "Robot" comes from the Czech "robota" (forced labour), first used in the 1920 play R.U.R. Asimov's three laws are interesting context but are not examined.
Think-pair-share: is a search engine web crawler a robot? No: it is software only. The syllabus treats robots as physical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MARK SCHEME wording. 0478 May/June 2024 Q8(b), any three: mechanical structure/framework; electrical components; programmable; can move. 0478 May/June 2023 Q9(a) and the 2023 specimen Q6(a) give "mechanical structure" and ask for the other two: electrical components and programmable.
The textbook (6.2.2) words the list as: sense surroundings, movement, programmable (and its older activities say "perceived intelligence"). Students should write the mark scheme words. Sensing is credited as an example of electrical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electric fan - not a robot (it moves, but it is not programmable and has no sensors to decide what to do). Robot lawn mower - robot (frame and wheels, sensors and microprocessor, programmable). Autopilot software - not a robot on its own (software only), although the aircraft it flies is a robotic system. Prosthetic hand with sensors - robot (the textbook says modern prosthetic limbs meet all three characteristics). Students should justify each answer with the three characteristics, not with "it looks like 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from the textbook (6.2.2): robotics and AI are almost two separate fields. Many robots have no AI because they do the same repetitive task every time (welding, spraying). Robots that also have AI sit in the overlap: they can adapt, for example by using machine learning. Exam link: 0478 May/June 2025 Q8(e) and May/June 2024 Q8(f) ask for the name of the ability to "automatically adapt their own processes": machine learning. AI itself is lesson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6.2.2. Independent = autonomous: no direct human control, can replace human activity completely (Mars rover, autonomous vehicle). Dependent: a human interfaces directly with it through a computer or control panel, and it supplements rather than replaces human activity (car assembly plant where humans and robots work together; a surgeon controlling a surgical robot). Ask: is a robot vacuum independent or dependent? Independent once started. A remote-controlled drone? Dependent; an autonomous delivery drone is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6.2.3 (Industry). An end-effector is the attachment on the end of a robot arm that lets it do a particular task: spray gun, welding torch, gripper, cutter, suction cup. Changing the end-effector changes the job. Two ways to program: (1) a programmer writes a sequence of instructions; (2) a worker demonstrates the task, either guiding the arm by hand or wearing sensors on their own arm, and each movement is stored as an instruction. Once stored, every repeat is identical, giving a consistent product. Sensors stop it doing "stupid things", e.g. spraying when no car is present or when the paint has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Table 6.1. Official points that match: 0478 May/June 2023 Q9(b) advantages TO EMPLOYEES: don't need to lift heavy furniture; protected from dangerous tasks; can use their skills on other tasks; don't need to do repetitive tasks. Q9(c) disadvantage TO OWNERS: expensive to install/set up; high maintenance costs; may deskill the workforce; if it malfunctions production may stop. Point out that the question says WHO the advantage is for: "less cost" is an owner advantage, not an employee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6.2.3 (Transport). Sensors (radar, ultrasonics) and cameras are the car's eyes and ears; microprocessors process the data and send signals to actuators to change gear, apply the brakes and turn the steering wheel. Walk through the red light: recognise the sign, check its database, actuators brake and select park, keep monitoring, on green select first gear, release brakes, open throttle - while checking it is safe to move off. This is the same sensor - microprocessor - actuator answer chain students used in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Tables 6.3 and 6.4. Autonomous trains use LiDaR (light detection and ranging: lasers build a 3D image), proximity sensors on doors, infrared cameras and GPS; actuators control speed, braking and doors. Pilotless planes would use sensors for turbulence and cabin depressurisation, self-testing, GPS, and actuators for throttle, flaps and rudder. The repeated pattern across transport: advantages are safety (no human error), lower running costs and efficiency; disadvantages are cost, hacking, glitches and passenger reluctance.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6.2.3 (Agriculture). Five areas: harvesting/picking (e.g. Vegebot uses cameras to decide whether a lettuce is ready), weed control (AI tells weed from crop; GPS keeps it on course; an actuator works the blade), phenotyping (sensors and thermal cameras build a 3D model of the plant; machine learning spots disease), seed-planting and fertiliser drones, and autonomous devices that work alone (mowers, weeding, seeding). Official points on farm robots: 0478 May/June 2024 Q8(d) advantages - more accurate, no breaks, not bored by repetitive work, farmer can do other tasks, faster, safer, no wages; Q8(e) disadvantages - expensive, maintenance, takes jobs, deskilling, training, manual planting if it breaks, damage if faulty, cannot adapt to unexpected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6.2.3 (Medicine). Official points, 0478 May/June 2025 Q5(b) (a doctor controls a surgical robot from another location): (ii) advantages, any four - doctor doesn't need to travel, so any specialist in the world can operate / no waiting for travel / not tired / travel costs saved; more precise, so smaller incision and shorter recovery; safer or more hygienic, e.g. doctor not near an infectious patient; higher success rate. (iii) one disadvantage with expansion - connection lost or delayed so surgery stops; expensive so money not spent elsewhere; hacked and endangers the patient; data corrupted in transmission changing an instruction; hardware malfunction. (i) electrical components: sensors, microprocessors, actuators.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6.2.3. Domestic: autonomous vacuum cleaners and lawn mowers use proximity sensors and cameras to avoid obstacles, a microprocessor to control the device (and let the user program it), and actuators driving motors. Personal assistants such as Vector use a microprocessor plus cloud connectivity, a microphone for voice commands, an HD camera for face recognition, and proximity sensors to navigate. Entertainment: theme park robots, lighting and effects at music festivals, camera robots that keep shots steady (the film Gravity), stunt robots and precisely synchronised special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students attempt booklet Task 4. Official points, 0478 May/June 2024 Q8(c) (farm robot stops at a fence, any six): proximity sensor used; sensor continuously sends digitised data to the microprocessor; microprocessor compares the data to a stored value/range; if within range the robot continues; if outside, the microprocessor sends a signal to turn/stop the robot; using an actuator; the process repeats until turned off. 0478 Feb/March 2023 Q6(c) is the same pattern for 7 marks (move forward until an object is 10 cm or closer, then turn 90 degrees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students attempt Task 2 and Task 5. 0478 May/June 2023 Q9 (robots manufacture furniture): (a) other two characteristics: electrical components; programmable. (b) advantages to EMPLOYEES: no heavy lifting; protected from dangerous tasks; use skills on other tasks; no repetitive tasks. (c) disadvantage to OWNERS: expensive to install; high maintenance costs; may deskill the workforce; production stops if it malfunctions. 2023 specimen Q6(b) advantages of robots over humans: more efficient; more accurate; lift heavier equipment; replace humans in dangerous environments; lower running costs such as wages; consistent output; work 24 hours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Booklet tasks and their sources (answers on the exam focus slides and in these notes):
Task 2: robotics definition (Feb/March 2023 Q6(b)), characteristics (May/June 2023 Q9(a)), robot or not, matching terms (textbook Activity 6.9 Q2: no direct human control -&gt; autonomous; requires human interface -&gt; dependent robot; branch of computer science -&gt; robotics; attached to a robotic arm -&gt; end-effector; under microprocessor control operates pumps, wheels -&gt; actuator).
Task 3: classify independent/dependent; choose end-effectors.
Task 4: May/June 2024 Q8(a)-(c) farm robot; Feb/March 2024 Q6(a),(b)(ii),(c) self-driving tractor - (a) electrical components or programmable; (b)(ii) e.g. accelerometer for uneven ground, proximity for the end of the field, light for headlights; (c) set-up and maintenance cost, needs skilled workers, retraining, deskilling, unemployment, malfunction and failing to recognise a person.
Task 5: May/June 2023 Q9(b)(c); May/June 2025 Q8 (firmware: permanent instructions stored in ROM / software that controls the hardware; interrupts e.g. obstacle, emergency stop, battery low, hardware error, overheating; workers - no heavy lifting, fewer injuries, no repetitive tasks, new maintenance jobs; machine learning); May/June 2025 Q5(b) surgery.
Task 2(c) suggested: delivery drone - yes (frame and rotors, sensors/microprocessor/motors, programmable); electric toothbrush - no (moves but is not programmable and does not sense); website chatbot - no (software only, no mechanical structure); welding arm - yes; pool-cleaning robot - yes.
Task 3(a) suggested: Mars rover I (no direct human control); surgical robot D (surgeon interfaces through a console); vacuum I; bomb-disposal D (remote control); driverless train I; assembly-line arm D (supplements the worker). (b) welding torch/gun; spray gun; soft gripper or suction cup; cutter or laser. (c) a programmer writes a sequence of instructions; a worker guides the arm by hand and each movement is stored; or the worker wears sensors while spraying and the movements are recorded - then repeated identically. (d) they repeat the same programmed task and do not need to adapt. (e) machine learning (official).
Task 6 suggested: (a) cameras/lights photograph the wreck, sonar or proximity sensors keep a safe distance, pressure/depth sensors; the microprocessor processes sensor data and sends signals to actuators to steer thrusters, aim the camera and work the arm/gripper to collect a sample; repeated continuously. (b) navigation and avoiding rocks; photographing the surface to send back; locating and guiding the arm to soil samples. (c) + no risk to human life, works in extreme pressure/vacuum, works for long periods; - very expensive, cannot be repaired if it fails, communication delay or loss, cannot cope with the unexpected.
Task 6: textbook Activity 6.11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these after Task 5. Ask students which ones they wrote in Task 1 or Task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(based on the official points for Feb/March 2024 Q6(b)(i), 5 marks): an infra-red/proximity sensor continuously sends digitised readings to the microprocessor; the microprocessor compares the reading with the stored value of 1 metre; if a person is 1 metre or closer, it sends a signal to an actuator to stop the wheels; if not, no action and it keeps moving; the process repeats until the robot is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6.3 Artificial intelligence (expert systems and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Robotics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IGCSE Computer Science 0478  |  6.2</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147304" y="2144899"/>
            <a:ext cx="3822192" cy="2568203"/>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welder.png">    </p:cNvPr>
          <p:cNvPicPr>
            <a:picLocks noChangeAspect="1"/>
          </p:cNvPicPr>
          <p:nvPr/>
        </p:nvPicPr>
        <p:blipFill>
          <a:blip r:embed="rId1"/>
          <a:stretch>
            <a:fillRect/>
          </a:stretch>
        </p:blipFill>
        <p:spPr>
          <a:xfrm>
            <a:off x="8183880" y="2181475"/>
            <a:ext cx="3749040" cy="24950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test: automated systems (6.1)</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7863840" cy="914400"/>
        </p:xfrm>
        <a:graphic>
          <a:graphicData uri="http://schemas.openxmlformats.org/drawingml/2006/table">
            <a:tbl>
              <a:tblPr/>
              <a:tblGrid>
                <a:gridCol w="6766560"/>
                <a:gridCol w="109728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Booklet Task 1 covers...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Match six sensors to a suitable use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State what is meant by an automated system (Oct/Nov 2024)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Describe the role of the microprocessor (Oct/Nov 2024)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Give two benefits of sensors in an automated system (May/June 2024)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9015984" y="1377935"/>
            <a:ext cx="2587752" cy="172469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sweeper.png">    </p:cNvPr>
          <p:cNvPicPr>
            <a:picLocks noChangeAspect="1"/>
          </p:cNvPicPr>
          <p:nvPr/>
        </p:nvPicPr>
        <p:blipFill>
          <a:blip r:embed="rId1"/>
          <a:stretch>
            <a:fillRect/>
          </a:stretch>
        </p:blipFill>
        <p:spPr>
          <a:xfrm>
            <a:off x="9052560" y="1414511"/>
            <a:ext cx="2514600" cy="1651538"/>
          </a:xfrm>
          <a:prstGeom prst="rect">
            <a:avLst/>
          </a:prstGeom>
        </p:spPr>
      </p:pic>
      <p:sp>
        <p:nvSpPr>
          <p:cNvPr id="10" name="Shape 5"/>
          <p:cNvSpPr/>
          <p:nvPr/>
        </p:nvSpPr>
        <p:spPr>
          <a:xfrm>
            <a:off x="896112" y="4206240"/>
            <a:ext cx="7863840" cy="914400"/>
          </a:xfrm>
          <a:prstGeom prst="rect">
            <a:avLst/>
          </a:prstGeom>
          <a:solidFill>
            <a:srgbClr val="F6F5FC"/>
          </a:solidFill>
          <a:ln w="12700">
            <a:solidFill>
              <a:srgbClr val="F6F5FC"/>
            </a:solidFill>
            <a:prstDash val="solid"/>
          </a:ln>
        </p:spPr>
      </p:sp>
      <p:sp>
        <p:nvSpPr>
          <p:cNvPr id="11" name="Text 6"/>
          <p:cNvSpPr/>
          <p:nvPr/>
        </p:nvSpPr>
        <p:spPr>
          <a:xfrm>
            <a:off x="1033272" y="4343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2" name="Text 7"/>
          <p:cNvSpPr txBox="1"/>
          <p:nvPr/>
        </p:nvSpPr>
        <p:spPr>
          <a:xfrm>
            <a:off x="1554480" y="4315968"/>
            <a:ext cx="7086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Closed book</a:t>
            </a:r>
            <a:endParaRPr lang="en-US" sz="1500" dirty="0"/>
          </a:p>
        </p:txBody>
      </p:sp>
      <p:sp>
        <p:nvSpPr>
          <p:cNvPr id="13" name="Text 8"/>
          <p:cNvSpPr txBox="1"/>
          <p:nvPr/>
        </p:nvSpPr>
        <p:spPr>
          <a:xfrm>
            <a:off x="1554480" y="4709160"/>
            <a:ext cx="7086600" cy="3474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 notes or slides. 8 minutes, then swap and mark with your teacher.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20624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what is meant by robotics, and tell a physical robot apart from a software "bot"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characteristics of a robot in the words examiners credit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Classify robots as independent or dependent, and explain what an end-effector does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how a robot uses sensors, a microprocessor and actuators to carry out a task</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Give advantages and disadvantages of robots in industry, transport, agriculture, medicine, the home and entertainment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robotics?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77824" y="1234440"/>
            <a:ext cx="10424160" cy="64008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Robotics is a branch of computer science that brings together the design, construction and operation of robots.</a:t>
            </a:r>
            <a:endParaRPr lang="en-US" sz="1800" dirty="0"/>
          </a:p>
        </p:txBody>
      </p:sp>
      <p:sp>
        <p:nvSpPr>
          <p:cNvPr id="8" name="Shape 5"/>
          <p:cNvSpPr/>
          <p:nvPr/>
        </p:nvSpPr>
        <p:spPr>
          <a:xfrm>
            <a:off x="877824" y="2148840"/>
            <a:ext cx="3291840" cy="1143000"/>
          </a:xfrm>
          <a:prstGeom prst="rect">
            <a:avLst/>
          </a:prstGeom>
          <a:solidFill>
            <a:srgbClr val="F6F5FC"/>
          </a:solidFill>
          <a:ln w="12700">
            <a:solidFill>
              <a:srgbClr val="F6F5FC"/>
            </a:solidFill>
            <a:prstDash val="solid"/>
          </a:ln>
        </p:spPr>
      </p:sp>
      <p:sp>
        <p:nvSpPr>
          <p:cNvPr id="9" name="Text 6"/>
          <p:cNvSpPr/>
          <p:nvPr/>
        </p:nvSpPr>
        <p:spPr>
          <a:xfrm>
            <a:off x="1014984" y="2286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7"/>
          <p:cNvSpPr txBox="1"/>
          <p:nvPr/>
        </p:nvSpPr>
        <p:spPr>
          <a:xfrm>
            <a:off x="1536192" y="225856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Design</a:t>
            </a:r>
            <a:endParaRPr lang="en-US" sz="1500" dirty="0"/>
          </a:p>
        </p:txBody>
      </p:sp>
      <p:sp>
        <p:nvSpPr>
          <p:cNvPr id="11" name="Text 8"/>
          <p:cNvSpPr txBox="1"/>
          <p:nvPr/>
        </p:nvSpPr>
        <p:spPr>
          <a:xfrm>
            <a:off x="1536192" y="2651760"/>
            <a:ext cx="25146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Planning what the robot must do and how it will be built.</a:t>
            </a:r>
            <a:endParaRPr lang="en-US" sz="1250" dirty="0"/>
          </a:p>
        </p:txBody>
      </p:sp>
      <p:sp>
        <p:nvSpPr>
          <p:cNvPr id="12" name="Shape 9"/>
          <p:cNvSpPr/>
          <p:nvPr/>
        </p:nvSpPr>
        <p:spPr>
          <a:xfrm>
            <a:off x="877824" y="3429000"/>
            <a:ext cx="3291840" cy="1143000"/>
          </a:xfrm>
          <a:prstGeom prst="rect">
            <a:avLst/>
          </a:prstGeom>
          <a:solidFill>
            <a:srgbClr val="F6F5FC"/>
          </a:solidFill>
          <a:ln w="12700">
            <a:solidFill>
              <a:srgbClr val="F6F5FC"/>
            </a:solidFill>
            <a:prstDash val="solid"/>
          </a:ln>
        </p:spPr>
      </p:sp>
      <p:sp>
        <p:nvSpPr>
          <p:cNvPr id="13" name="Text 10"/>
          <p:cNvSpPr/>
          <p:nvPr/>
        </p:nvSpPr>
        <p:spPr>
          <a:xfrm>
            <a:off x="1014984" y="3566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1"/>
          <p:cNvSpPr txBox="1"/>
          <p:nvPr/>
        </p:nvSpPr>
        <p:spPr>
          <a:xfrm>
            <a:off x="1536192" y="353872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Construction</a:t>
            </a:r>
            <a:endParaRPr lang="en-US" sz="1500" dirty="0"/>
          </a:p>
        </p:txBody>
      </p:sp>
      <p:sp>
        <p:nvSpPr>
          <p:cNvPr id="15" name="Text 12"/>
          <p:cNvSpPr txBox="1"/>
          <p:nvPr/>
        </p:nvSpPr>
        <p:spPr>
          <a:xfrm>
            <a:off x="1536192" y="3931920"/>
            <a:ext cx="25146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Building the mechanical and electrical parts.</a:t>
            </a:r>
            <a:endParaRPr lang="en-US" sz="1250" dirty="0"/>
          </a:p>
        </p:txBody>
      </p:sp>
      <p:sp>
        <p:nvSpPr>
          <p:cNvPr id="16" name="Shape 13"/>
          <p:cNvSpPr/>
          <p:nvPr/>
        </p:nvSpPr>
        <p:spPr>
          <a:xfrm>
            <a:off x="877824" y="4709160"/>
            <a:ext cx="3291840" cy="1143000"/>
          </a:xfrm>
          <a:prstGeom prst="rect">
            <a:avLst/>
          </a:prstGeom>
          <a:solidFill>
            <a:srgbClr val="F6F5FC"/>
          </a:solidFill>
          <a:ln w="12700">
            <a:solidFill>
              <a:srgbClr val="F6F5FC"/>
            </a:solidFill>
            <a:prstDash val="solid"/>
          </a:ln>
        </p:spPr>
      </p:sp>
      <p:sp>
        <p:nvSpPr>
          <p:cNvPr id="17" name="Text 14"/>
          <p:cNvSpPr/>
          <p:nvPr/>
        </p:nvSpPr>
        <p:spPr>
          <a:xfrm>
            <a:off x="1014984" y="4846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5"/>
          <p:cNvSpPr txBox="1"/>
          <p:nvPr/>
        </p:nvSpPr>
        <p:spPr>
          <a:xfrm>
            <a:off x="1536192" y="481888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Operation</a:t>
            </a:r>
            <a:endParaRPr lang="en-US" sz="1500" dirty="0"/>
          </a:p>
        </p:txBody>
      </p:sp>
      <p:sp>
        <p:nvSpPr>
          <p:cNvPr id="19" name="Text 16"/>
          <p:cNvSpPr txBox="1"/>
          <p:nvPr/>
        </p:nvSpPr>
        <p:spPr>
          <a:xfrm>
            <a:off x="1536192" y="5212080"/>
            <a:ext cx="25146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Programming and running it to carry out tasks.</a:t>
            </a:r>
            <a:endParaRPr lang="en-US" sz="1250" dirty="0"/>
          </a:p>
        </p:txBody>
      </p:sp>
      <p:sp>
        <p:nvSpPr>
          <p:cNvPr id="20" name="Shape 17"/>
          <p:cNvSpPr/>
          <p:nvPr/>
        </p:nvSpPr>
        <p:spPr>
          <a:xfrm>
            <a:off x="4443984" y="2114156"/>
            <a:ext cx="3364992" cy="2263928"/>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1" name="Image 0" descr="figs/welder.png">    </p:cNvPr>
          <p:cNvPicPr>
            <a:picLocks noChangeAspect="1"/>
          </p:cNvPicPr>
          <p:nvPr/>
        </p:nvPicPr>
        <p:blipFill>
          <a:blip r:embed="rId1"/>
          <a:stretch>
            <a:fillRect/>
          </a:stretch>
        </p:blipFill>
        <p:spPr>
          <a:xfrm>
            <a:off x="4480560" y="2150732"/>
            <a:ext cx="3291840" cy="2190776"/>
          </a:xfrm>
          <a:prstGeom prst="rect">
            <a:avLst/>
          </a:prstGeom>
        </p:spPr>
      </p:pic>
      <p:sp>
        <p:nvSpPr>
          <p:cNvPr id="22" name="Text 18"/>
          <p:cNvSpPr txBox="1"/>
          <p:nvPr/>
        </p:nvSpPr>
        <p:spPr>
          <a:xfrm>
            <a:off x="4480560" y="4414660"/>
            <a:ext cx="329184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Physical robot: a robot welder</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046720" y="2148840"/>
          <a:ext cx="3520440" cy="914400"/>
        </p:xfrm>
        <a:graphic>
          <a:graphicData uri="http://schemas.openxmlformats.org/drawingml/2006/table">
            <a:tbl>
              <a:tblPr/>
              <a:tblGrid>
                <a:gridCol w="2148840"/>
                <a:gridCol w="1371600"/>
              </a:tblGrid>
              <a:tr h="566928">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Physical robot?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Robot?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Robot welder in a car factory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b="1" dirty="0">
                          <a:solidFill>
                            <a:srgbClr val="2E7D5B"/>
                          </a:solidFill>
                          <a:latin typeface="Quicksand" pitchFamily="34" charset="0"/>
                          <a:ea typeface="Quicksand" pitchFamily="34" charset="-122"/>
                          <a:cs typeface="Quicksand" pitchFamily="34" charset="-120"/>
                        </a:rPr>
                        <a:t>Yes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Robot vacuum cleaner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2E7D5B"/>
                          </a:solidFill>
                          <a:latin typeface="Quicksand" pitchFamily="34" charset="0"/>
                          <a:ea typeface="Quicksand" pitchFamily="34" charset="-122"/>
                          <a:cs typeface="Quicksand" pitchFamily="34" charset="-120"/>
                        </a:rPr>
                        <a:t>Yes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Search engine web crawler ("bot")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b="1" dirty="0">
                          <a:solidFill>
                            <a:srgbClr val="B3261E"/>
                          </a:solidFill>
                          <a:latin typeface="Quicksand" pitchFamily="34" charset="0"/>
                          <a:ea typeface="Quicksand" pitchFamily="34" charset="-122"/>
                          <a:cs typeface="Quicksand" pitchFamily="34" charset="-120"/>
                        </a:rPr>
                        <a:t>No: software only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Website chatbot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B3261E"/>
                          </a:solidFill>
                          <a:latin typeface="Quicksand" pitchFamily="34" charset="0"/>
                          <a:ea typeface="Quicksand" pitchFamily="34" charset="-122"/>
                          <a:cs typeface="Quicksand" pitchFamily="34" charset="-120"/>
                        </a:rPr>
                        <a:t>No: software only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4" name="Text 19"/>
          <p:cNvSpPr txBox="1"/>
          <p:nvPr/>
        </p:nvSpPr>
        <p:spPr>
          <a:xfrm>
            <a:off x="4480560" y="4937760"/>
            <a:ext cx="7086600" cy="54864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Think-pair-share: why is a web crawler called a "bot" if it is not a robot?</a:t>
            </a:r>
            <a:endParaRPr lang="en-US" sz="1400" dirty="0"/>
          </a:p>
        </p:txBody>
      </p:sp>
      <p:sp>
        <p:nvSpPr>
          <p:cNvPr id="25" name="Text 20"/>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Characteristics of a robot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Shape 4"/>
          <p:cNvSpPr/>
          <p:nvPr/>
        </p:nvSpPr>
        <p:spPr>
          <a:xfrm>
            <a:off x="877824" y="1280160"/>
            <a:ext cx="3429000" cy="1600200"/>
          </a:xfrm>
          <a:prstGeom prst="rect">
            <a:avLst/>
          </a:prstGeom>
          <a:solidFill>
            <a:srgbClr val="F6F5FC"/>
          </a:solidFill>
          <a:ln w="12700">
            <a:solidFill>
              <a:srgbClr val="F6F5FC"/>
            </a:solidFill>
            <a:prstDash val="solid"/>
          </a:ln>
        </p:spPr>
      </p:sp>
      <p:sp>
        <p:nvSpPr>
          <p:cNvPr id="8" name="Text 5"/>
          <p:cNvSpPr/>
          <p:nvPr/>
        </p:nvSpPr>
        <p:spPr>
          <a:xfrm>
            <a:off x="10149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89888"/>
            <a:ext cx="2651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Mechanical structure</a:t>
            </a:r>
            <a:endParaRPr lang="en-US" sz="1500" dirty="0"/>
          </a:p>
        </p:txBody>
      </p:sp>
      <p:sp>
        <p:nvSpPr>
          <p:cNvPr id="10" name="Text 7"/>
          <p:cNvSpPr txBox="1"/>
          <p:nvPr/>
        </p:nvSpPr>
        <p:spPr>
          <a:xfrm>
            <a:off x="1536192" y="1783080"/>
            <a:ext cx="2651760" cy="10332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physical framework that moves, grips or lifts: arms, joints, wheels, gears, pistons, end-effectors.</a:t>
            </a:r>
            <a:endParaRPr lang="en-US" sz="1300" dirty="0"/>
          </a:p>
        </p:txBody>
      </p:sp>
      <p:sp>
        <p:nvSpPr>
          <p:cNvPr id="11" name="Shape 8"/>
          <p:cNvSpPr/>
          <p:nvPr/>
        </p:nvSpPr>
        <p:spPr>
          <a:xfrm>
            <a:off x="4535424" y="1280160"/>
            <a:ext cx="3429000" cy="1600200"/>
          </a:xfrm>
          <a:prstGeom prst="rect">
            <a:avLst/>
          </a:prstGeom>
          <a:solidFill>
            <a:srgbClr val="F6F5FC"/>
          </a:solidFill>
          <a:ln w="12700">
            <a:solidFill>
              <a:srgbClr val="F6F5FC"/>
            </a:solidFill>
            <a:prstDash val="solid"/>
          </a:ln>
        </p:spPr>
      </p:sp>
      <p:sp>
        <p:nvSpPr>
          <p:cNvPr id="12" name="Text 9"/>
          <p:cNvSpPr/>
          <p:nvPr/>
        </p:nvSpPr>
        <p:spPr>
          <a:xfrm>
            <a:off x="46725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5193792" y="1389888"/>
            <a:ext cx="2651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Electrical components</a:t>
            </a:r>
            <a:endParaRPr lang="en-US" sz="1500" dirty="0"/>
          </a:p>
        </p:txBody>
      </p:sp>
      <p:sp>
        <p:nvSpPr>
          <p:cNvPr id="14" name="Text 11"/>
          <p:cNvSpPr txBox="1"/>
          <p:nvPr/>
        </p:nvSpPr>
        <p:spPr>
          <a:xfrm>
            <a:off x="5193792" y="1783080"/>
            <a:ext cx="2651760" cy="10332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Sensors to sense the surroundings, a microprocessor to process the data, actuators and motors to move.</a:t>
            </a:r>
            <a:endParaRPr lang="en-US" sz="1300" dirty="0"/>
          </a:p>
        </p:txBody>
      </p:sp>
      <p:sp>
        <p:nvSpPr>
          <p:cNvPr id="15" name="Shape 12"/>
          <p:cNvSpPr/>
          <p:nvPr/>
        </p:nvSpPr>
        <p:spPr>
          <a:xfrm>
            <a:off x="8193024" y="1280160"/>
            <a:ext cx="3429000" cy="1600200"/>
          </a:xfrm>
          <a:prstGeom prst="rect">
            <a:avLst/>
          </a:prstGeom>
          <a:solidFill>
            <a:srgbClr val="F6F5FC"/>
          </a:solidFill>
          <a:ln w="12700">
            <a:solidFill>
              <a:srgbClr val="F6F5FC"/>
            </a:solidFill>
            <a:prstDash val="solid"/>
          </a:ln>
        </p:spPr>
      </p:sp>
      <p:sp>
        <p:nvSpPr>
          <p:cNvPr id="16" name="Text 13"/>
          <p:cNvSpPr/>
          <p:nvPr/>
        </p:nvSpPr>
        <p:spPr>
          <a:xfrm>
            <a:off x="83301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8851392" y="1389888"/>
            <a:ext cx="2651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Programmable</a:t>
            </a:r>
            <a:endParaRPr lang="en-US" sz="1500" dirty="0"/>
          </a:p>
        </p:txBody>
      </p:sp>
      <p:sp>
        <p:nvSpPr>
          <p:cNvPr id="18" name="Text 15"/>
          <p:cNvSpPr txBox="1"/>
          <p:nvPr/>
        </p:nvSpPr>
        <p:spPr>
          <a:xfrm>
            <a:off x="8851392" y="1783080"/>
            <a:ext cx="2651760" cy="10332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controller (the "brain") follows stored instructions to decide what to do, often using sensor data.</a:t>
            </a:r>
            <a:endParaRPr lang="en-US" sz="1300" dirty="0"/>
          </a:p>
        </p:txBody>
      </p:sp>
      <p:sp>
        <p:nvSpPr>
          <p:cNvPr id="19" name="Shape 16"/>
          <p:cNvSpPr/>
          <p:nvPr/>
        </p:nvSpPr>
        <p:spPr>
          <a:xfrm>
            <a:off x="1076379" y="3118104"/>
            <a:ext cx="2620409" cy="25877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0" name="Image 0" descr="figs/rover.png">    </p:cNvPr>
          <p:cNvPicPr>
            <a:picLocks noChangeAspect="1"/>
          </p:cNvPicPr>
          <p:nvPr/>
        </p:nvPicPr>
        <p:blipFill>
          <a:blip r:embed="rId1"/>
          <a:stretch>
            <a:fillRect/>
          </a:stretch>
        </p:blipFill>
        <p:spPr>
          <a:xfrm>
            <a:off x="1112955" y="3154680"/>
            <a:ext cx="2547257" cy="2514600"/>
          </a:xfrm>
          <a:prstGeom prst="rect">
            <a:avLst/>
          </a:prstGeom>
        </p:spPr>
      </p:pic>
      <p:sp>
        <p:nvSpPr>
          <p:cNvPr id="21" name="Text 17"/>
          <p:cNvSpPr txBox="1"/>
          <p:nvPr/>
        </p:nvSpPr>
        <p:spPr>
          <a:xfrm>
            <a:off x="877824" y="5742432"/>
            <a:ext cx="301752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A Mars rover has all three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06240" y="3154680"/>
          <a:ext cx="7360920" cy="914400"/>
        </p:xfrm>
        <a:graphic>
          <a:graphicData uri="http://schemas.openxmlformats.org/drawingml/2006/table">
            <a:tbl>
              <a:tblPr/>
              <a:tblGrid>
                <a:gridCol w="4480560"/>
                <a:gridCol w="2880360"/>
              </a:tblGrid>
              <a:tr h="45720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Exam wording to use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Avoid writing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has a mechanical structure / framework"</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is made of metal"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has electrical components, such as sensors, a microprocessor and actuators"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has electricity"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is programmable"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is intelligent"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can move" (also credited)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looks like a human"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3" name="Text 18"/>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Robot or not?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txBox="1"/>
          <p:nvPr/>
        </p:nvSpPr>
        <p:spPr>
          <a:xfrm>
            <a:off x="877824" y="1234440"/>
            <a:ext cx="10515600" cy="45720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For each device, decide whether it is a robot. Justify your answer using the three characteristics.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77824" y="1874520"/>
          <a:ext cx="10652760" cy="914400"/>
        </p:xfrm>
        <a:graphic>
          <a:graphicData uri="http://schemas.openxmlformats.org/drawingml/2006/table">
            <a:tbl>
              <a:tblPr/>
              <a:tblGrid>
                <a:gridCol w="2971800"/>
                <a:gridCol w="2103120"/>
                <a:gridCol w="2103120"/>
                <a:gridCol w="1920240"/>
                <a:gridCol w="155448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Device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Mechanical structure?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Electrical components?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Programmable?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Robot?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Electric desk fan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Robot lawn mower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Autopilot software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Prosthetic hand with sensors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877824" y="4937760"/>
            <a:ext cx="1060704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device that moves is not automatically a robot, and a program that acts by itself is not a robot unless it has a physical body.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Robots and artificial intelligence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pic>
        <p:nvPicPr>
          <p:cNvPr id="7" name="Image 0" descr="figs/venn.png">    </p:cNvPr>
          <p:cNvPicPr>
            <a:picLocks noChangeAspect="1"/>
          </p:cNvPicPr>
          <p:nvPr/>
        </p:nvPicPr>
        <p:blipFill>
          <a:blip r:embed="rId1"/>
          <a:stretch>
            <a:fillRect/>
          </a:stretch>
        </p:blipFill>
        <p:spPr>
          <a:xfrm>
            <a:off x="877824" y="1341053"/>
            <a:ext cx="3931920" cy="3352934"/>
          </a:xfrm>
          <a:prstGeom prst="rect">
            <a:avLst/>
          </a:prstGeom>
        </p:spPr>
      </p:pic>
      <p:sp>
        <p:nvSpPr>
          <p:cNvPr id="8" name="Shape 4"/>
          <p:cNvSpPr/>
          <p:nvPr/>
        </p:nvSpPr>
        <p:spPr>
          <a:xfrm>
            <a:off x="5212080" y="1325880"/>
            <a:ext cx="6355080" cy="1188720"/>
          </a:xfrm>
          <a:prstGeom prst="rect">
            <a:avLst/>
          </a:prstGeom>
          <a:solidFill>
            <a:srgbClr val="F6F5FC"/>
          </a:solidFill>
          <a:ln w="12700">
            <a:solidFill>
              <a:srgbClr val="F6F5FC"/>
            </a:solidFill>
            <a:prstDash val="solid"/>
          </a:ln>
        </p:spPr>
      </p:sp>
      <p:sp>
        <p:nvSpPr>
          <p:cNvPr id="9" name="Text 5"/>
          <p:cNvSpPr/>
          <p:nvPr/>
        </p:nvSpPr>
        <p:spPr>
          <a:xfrm>
            <a:off x="534924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5870448" y="1435608"/>
            <a:ext cx="5577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Robot without AI</a:t>
            </a:r>
            <a:endParaRPr lang="en-US" sz="1500" dirty="0"/>
          </a:p>
        </p:txBody>
      </p:sp>
      <p:sp>
        <p:nvSpPr>
          <p:cNvPr id="11" name="Text 7"/>
          <p:cNvSpPr txBox="1"/>
          <p:nvPr/>
        </p:nvSpPr>
        <p:spPr>
          <a:xfrm>
            <a:off x="5870448" y="1828800"/>
            <a:ext cx="557784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factory welding arm repeats the same programmed movement thousands of times. It never changes its own instructions.</a:t>
            </a:r>
            <a:endParaRPr lang="en-US" sz="1250" dirty="0"/>
          </a:p>
        </p:txBody>
      </p:sp>
      <p:sp>
        <p:nvSpPr>
          <p:cNvPr id="12" name="Shape 8"/>
          <p:cNvSpPr/>
          <p:nvPr/>
        </p:nvSpPr>
        <p:spPr>
          <a:xfrm>
            <a:off x="5212080" y="2697480"/>
            <a:ext cx="6355080" cy="1188720"/>
          </a:xfrm>
          <a:prstGeom prst="rect">
            <a:avLst/>
          </a:prstGeom>
          <a:solidFill>
            <a:srgbClr val="F6F5FC"/>
          </a:solidFill>
          <a:ln w="12700">
            <a:solidFill>
              <a:srgbClr val="F6F5FC"/>
            </a:solidFill>
            <a:prstDash val="solid"/>
          </a:ln>
        </p:spPr>
      </p:sp>
      <p:sp>
        <p:nvSpPr>
          <p:cNvPr id="13" name="Text 9"/>
          <p:cNvSpPr/>
          <p:nvPr/>
        </p:nvSpPr>
        <p:spPr>
          <a:xfrm>
            <a:off x="5349240" y="2834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5870448" y="2807208"/>
            <a:ext cx="5577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Robot with AI</a:t>
            </a:r>
            <a:endParaRPr lang="en-US" sz="1500" dirty="0"/>
          </a:p>
        </p:txBody>
      </p:sp>
      <p:sp>
        <p:nvSpPr>
          <p:cNvPr id="15" name="Text 11"/>
          <p:cNvSpPr txBox="1"/>
          <p:nvPr/>
        </p:nvSpPr>
        <p:spPr>
          <a:xfrm>
            <a:off x="5870448" y="3200400"/>
            <a:ext cx="557784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weeding robot uses AI to tell a weed from a crop, and can learn from mistakes.</a:t>
            </a:r>
            <a:endParaRPr lang="en-US" sz="1250" dirty="0"/>
          </a:p>
        </p:txBody>
      </p:sp>
      <p:sp>
        <p:nvSpPr>
          <p:cNvPr id="16" name="Shape 12"/>
          <p:cNvSpPr/>
          <p:nvPr/>
        </p:nvSpPr>
        <p:spPr>
          <a:xfrm>
            <a:off x="5212080" y="4069080"/>
            <a:ext cx="6355080" cy="1188720"/>
          </a:xfrm>
          <a:prstGeom prst="rect">
            <a:avLst/>
          </a:prstGeom>
          <a:solidFill>
            <a:srgbClr val="F6F5FC"/>
          </a:solidFill>
          <a:ln w="12700">
            <a:solidFill>
              <a:srgbClr val="F6F5FC"/>
            </a:solidFill>
            <a:prstDash val="solid"/>
          </a:ln>
        </p:spPr>
      </p:sp>
      <p:sp>
        <p:nvSpPr>
          <p:cNvPr id="17" name="Text 13"/>
          <p:cNvSpPr/>
          <p:nvPr/>
        </p:nvSpPr>
        <p:spPr>
          <a:xfrm>
            <a:off x="5349240"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4"/>
          <p:cNvSpPr txBox="1"/>
          <p:nvPr/>
        </p:nvSpPr>
        <p:spPr>
          <a:xfrm>
            <a:off x="5870448" y="4178808"/>
            <a:ext cx="5577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Machine learning</a:t>
            </a:r>
            <a:endParaRPr lang="en-US" sz="1500" dirty="0"/>
          </a:p>
        </p:txBody>
      </p:sp>
      <p:sp>
        <p:nvSpPr>
          <p:cNvPr id="19" name="Text 15"/>
          <p:cNvSpPr txBox="1"/>
          <p:nvPr/>
        </p:nvSpPr>
        <p:spPr>
          <a:xfrm>
            <a:off x="5870448" y="4572000"/>
            <a:ext cx="557784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ability of a robot to automatically adapt its own processes and data. Exam questions often ask you to name it.</a:t>
            </a:r>
            <a:endParaRPr lang="en-US" sz="1250" dirty="0"/>
          </a:p>
        </p:txBody>
      </p:sp>
      <p:sp>
        <p:nvSpPr>
          <p:cNvPr id="20" name="Text 16"/>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Independent and dependent robots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986721" y="1289304"/>
            <a:ext cx="2342527" cy="23134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rover.png">    </p:cNvPr>
          <p:cNvPicPr>
            <a:picLocks noChangeAspect="1"/>
          </p:cNvPicPr>
          <p:nvPr/>
        </p:nvPicPr>
        <p:blipFill>
          <a:blip r:embed="rId1"/>
          <a:stretch>
            <a:fillRect/>
          </a:stretch>
        </p:blipFill>
        <p:spPr>
          <a:xfrm>
            <a:off x="1023297" y="1325880"/>
            <a:ext cx="2269375" cy="2240280"/>
          </a:xfrm>
          <a:prstGeom prst="rect">
            <a:avLst/>
          </a:prstGeom>
        </p:spPr>
      </p:pic>
      <p:sp>
        <p:nvSpPr>
          <p:cNvPr id="9" name="Shape 5"/>
          <p:cNvSpPr/>
          <p:nvPr/>
        </p:nvSpPr>
        <p:spPr>
          <a:xfrm>
            <a:off x="6236208" y="1383089"/>
            <a:ext cx="3182112" cy="2125863"/>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0" name="Image 1" descr="figs/dependent.png">    </p:cNvPr>
          <p:cNvPicPr>
            <a:picLocks noChangeAspect="1"/>
          </p:cNvPicPr>
          <p:nvPr/>
        </p:nvPicPr>
        <p:blipFill>
          <a:blip r:embed="rId2"/>
          <a:stretch>
            <a:fillRect/>
          </a:stretch>
        </p:blipFill>
        <p:spPr>
          <a:xfrm>
            <a:off x="6272784" y="1419665"/>
            <a:ext cx="3108960" cy="2052711"/>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77824" y="3794760"/>
          <a:ext cx="5029200" cy="914400"/>
        </p:xfrm>
        <a:graphic>
          <a:graphicData uri="http://schemas.openxmlformats.org/drawingml/2006/table">
            <a:tbl>
              <a:tblPr/>
              <a:tblGrid>
                <a:gridCol w="5029200"/>
              </a:tblGrid>
              <a:tr h="438912">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Independent robot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 direct human control: it is autonomous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Can replace the human activity completely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Example: Mars rover, autonomous car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72784" y="3794760"/>
          <a:ext cx="5257800" cy="914400"/>
        </p:xfrm>
        <a:graphic>
          <a:graphicData uri="http://schemas.openxmlformats.org/drawingml/2006/table">
            <a:tbl>
              <a:tblPr/>
              <a:tblGrid>
                <a:gridCol w="5257800"/>
              </a:tblGrid>
              <a:tr h="438912">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Dependent robot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human interfaces with it directly (computer or control panel)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Supplements, rather than replaces, the human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Example: robots and people building a car together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3" name="Text 6"/>
          <p:cNvSpPr txBox="1"/>
          <p:nvPr/>
        </p:nvSpPr>
        <p:spPr>
          <a:xfrm>
            <a:off x="3611880" y="2194560"/>
            <a:ext cx="2377440" cy="36576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Independent</a:t>
            </a:r>
            <a:endParaRPr lang="en-US" sz="1800" dirty="0"/>
          </a:p>
        </p:txBody>
      </p:sp>
      <p:sp>
        <p:nvSpPr>
          <p:cNvPr id="14" name="Text 7"/>
          <p:cNvSpPr txBox="1"/>
          <p:nvPr/>
        </p:nvSpPr>
        <p:spPr>
          <a:xfrm>
            <a:off x="9555480" y="2194560"/>
            <a:ext cx="2011680" cy="36576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Dependent</a:t>
            </a:r>
            <a:endParaRPr lang="en-US" sz="1800" dirty="0"/>
          </a:p>
        </p:txBody>
      </p:sp>
      <p:sp>
        <p:nvSpPr>
          <p:cNvPr id="15" name="Text 8"/>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End-effectors and programming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841248" y="1246508"/>
            <a:ext cx="4919472" cy="3313424"/>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spraygun.png">    </p:cNvPr>
          <p:cNvPicPr>
            <a:picLocks noChangeAspect="1"/>
          </p:cNvPicPr>
          <p:nvPr/>
        </p:nvPicPr>
        <p:blipFill>
          <a:blip r:embed="rId1"/>
          <a:stretch>
            <a:fillRect/>
          </a:stretch>
        </p:blipFill>
        <p:spPr>
          <a:xfrm>
            <a:off x="877824" y="1283084"/>
            <a:ext cx="4846320" cy="3240272"/>
          </a:xfrm>
          <a:prstGeom prst="rect">
            <a:avLst/>
          </a:prstGeom>
        </p:spPr>
      </p:pic>
      <p:sp>
        <p:nvSpPr>
          <p:cNvPr id="9" name="Text 5"/>
          <p:cNvSpPr txBox="1"/>
          <p:nvPr/>
        </p:nvSpPr>
        <p:spPr>
          <a:xfrm>
            <a:off x="877824" y="4596508"/>
            <a:ext cx="484632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Robot arm with a spray gun end-effector</a:t>
            </a:r>
            <a:endParaRPr lang="en-US" sz="1000" dirty="0"/>
          </a:p>
        </p:txBody>
      </p:sp>
      <p:sp>
        <p:nvSpPr>
          <p:cNvPr id="10" name="Text 6"/>
          <p:cNvSpPr txBox="1"/>
          <p:nvPr/>
        </p:nvSpPr>
        <p:spPr>
          <a:xfrm>
            <a:off x="877824" y="4892040"/>
            <a:ext cx="4846320" cy="9144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An end-effector is the tool attached to a robot arm so it can carry out a specific task: spraying, welding, cutting, gripping or lifting.</a:t>
            </a:r>
            <a:endParaRPr lang="en-US" sz="1400" dirty="0"/>
          </a:p>
        </p:txBody>
      </p:sp>
      <p:sp>
        <p:nvSpPr>
          <p:cNvPr id="11" name="Shape 7"/>
          <p:cNvSpPr/>
          <p:nvPr/>
        </p:nvSpPr>
        <p:spPr>
          <a:xfrm>
            <a:off x="6080760" y="1280160"/>
            <a:ext cx="5486400" cy="1188720"/>
          </a:xfrm>
          <a:prstGeom prst="rect">
            <a:avLst/>
          </a:prstGeom>
          <a:solidFill>
            <a:srgbClr val="F6F5FC"/>
          </a:solidFill>
          <a:ln w="12700">
            <a:solidFill>
              <a:srgbClr val="F6F5FC"/>
            </a:solidFill>
            <a:prstDash val="solid"/>
          </a:ln>
        </p:spPr>
      </p:sp>
      <p:sp>
        <p:nvSpPr>
          <p:cNvPr id="12" name="Text 8"/>
          <p:cNvSpPr/>
          <p:nvPr/>
        </p:nvSpPr>
        <p:spPr>
          <a:xfrm>
            <a:off x="621792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9"/>
          <p:cNvSpPr txBox="1"/>
          <p:nvPr/>
        </p:nvSpPr>
        <p:spPr>
          <a:xfrm>
            <a:off x="6739128" y="138988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Program a sequence</a:t>
            </a:r>
            <a:endParaRPr lang="en-US" sz="1500" dirty="0"/>
          </a:p>
        </p:txBody>
      </p:sp>
      <p:sp>
        <p:nvSpPr>
          <p:cNvPr id="14" name="Text 10"/>
          <p:cNvSpPr txBox="1"/>
          <p:nvPr/>
        </p:nvSpPr>
        <p:spPr>
          <a:xfrm>
            <a:off x="6739128" y="1783080"/>
            <a:ext cx="470916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programmer writes the list of instructions the arm follows, for example to spray a car body.</a:t>
            </a:r>
            <a:endParaRPr lang="en-US" sz="1250" dirty="0"/>
          </a:p>
        </p:txBody>
      </p:sp>
      <p:sp>
        <p:nvSpPr>
          <p:cNvPr id="15" name="Shape 11"/>
          <p:cNvSpPr/>
          <p:nvPr/>
        </p:nvSpPr>
        <p:spPr>
          <a:xfrm>
            <a:off x="6080760" y="2606040"/>
            <a:ext cx="5486400" cy="1188720"/>
          </a:xfrm>
          <a:prstGeom prst="rect">
            <a:avLst/>
          </a:prstGeom>
          <a:solidFill>
            <a:srgbClr val="F6F5FC"/>
          </a:solidFill>
          <a:ln w="12700">
            <a:solidFill>
              <a:srgbClr val="F6F5FC"/>
            </a:solidFill>
            <a:prstDash val="solid"/>
          </a:ln>
        </p:spPr>
      </p:sp>
      <p:sp>
        <p:nvSpPr>
          <p:cNvPr id="16" name="Text 12"/>
          <p:cNvSpPr/>
          <p:nvPr/>
        </p:nvSpPr>
        <p:spPr>
          <a:xfrm>
            <a:off x="6217920" y="2743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3"/>
          <p:cNvSpPr txBox="1"/>
          <p:nvPr/>
        </p:nvSpPr>
        <p:spPr>
          <a:xfrm>
            <a:off x="6739128" y="271576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Guide the arm</a:t>
            </a:r>
            <a:endParaRPr lang="en-US" sz="1500" dirty="0"/>
          </a:p>
        </p:txBody>
      </p:sp>
      <p:sp>
        <p:nvSpPr>
          <p:cNvPr id="18" name="Text 14"/>
          <p:cNvSpPr txBox="1"/>
          <p:nvPr/>
        </p:nvSpPr>
        <p:spPr>
          <a:xfrm>
            <a:off x="6739128" y="3108960"/>
            <a:ext cx="470916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worker moves the arm by hand while it sprays. Each movement is stored as an instruction.</a:t>
            </a:r>
            <a:endParaRPr lang="en-US" sz="1250" dirty="0"/>
          </a:p>
        </p:txBody>
      </p:sp>
      <p:sp>
        <p:nvSpPr>
          <p:cNvPr id="19" name="Shape 15"/>
          <p:cNvSpPr/>
          <p:nvPr/>
        </p:nvSpPr>
        <p:spPr>
          <a:xfrm>
            <a:off x="6080760" y="3931920"/>
            <a:ext cx="5486400" cy="1188720"/>
          </a:xfrm>
          <a:prstGeom prst="rect">
            <a:avLst/>
          </a:prstGeom>
          <a:solidFill>
            <a:srgbClr val="F6F5FC"/>
          </a:solidFill>
          <a:ln w="12700">
            <a:solidFill>
              <a:srgbClr val="F6F5FC"/>
            </a:solidFill>
            <a:prstDash val="solid"/>
          </a:ln>
        </p:spPr>
      </p:sp>
      <p:sp>
        <p:nvSpPr>
          <p:cNvPr id="20" name="Text 16"/>
          <p:cNvSpPr/>
          <p:nvPr/>
        </p:nvSpPr>
        <p:spPr>
          <a:xfrm>
            <a:off x="6217920" y="4069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1" name="Text 17"/>
          <p:cNvSpPr txBox="1"/>
          <p:nvPr/>
        </p:nvSpPr>
        <p:spPr>
          <a:xfrm>
            <a:off x="6739128" y="404164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Copy a worker</a:t>
            </a:r>
            <a:endParaRPr lang="en-US" sz="1500" dirty="0"/>
          </a:p>
        </p:txBody>
      </p:sp>
      <p:sp>
        <p:nvSpPr>
          <p:cNvPr id="22" name="Text 18"/>
          <p:cNvSpPr txBox="1"/>
          <p:nvPr/>
        </p:nvSpPr>
        <p:spPr>
          <a:xfrm>
            <a:off x="6739128" y="4434840"/>
            <a:ext cx="4709160" cy="6217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worker wears sensors and sprays the object. Position and rotation are recorded as instructions.</a:t>
            </a:r>
            <a:endParaRPr lang="en-US" sz="1250" dirty="0"/>
          </a:p>
        </p:txBody>
      </p:sp>
      <p:sp>
        <p:nvSpPr>
          <p:cNvPr id="23" name="Text 19"/>
          <p:cNvSpPr txBox="1"/>
          <p:nvPr/>
        </p:nvSpPr>
        <p:spPr>
          <a:xfrm>
            <a:off x="6080760" y="5303520"/>
            <a:ext cx="5486400" cy="4572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After that, every repeat is identical, so the product is consistent.</a:t>
            </a:r>
            <a:endParaRPr lang="en-US" sz="1400" dirty="0"/>
          </a:p>
        </p:txBody>
      </p:sp>
      <p:sp>
        <p:nvSpPr>
          <p:cNvPr id="24" name="Text 20"/>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Robots in industry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841248" y="1261241"/>
            <a:ext cx="4279392" cy="2872477"/>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welder.png">    </p:cNvPr>
          <p:cNvPicPr>
            <a:picLocks noChangeAspect="1"/>
          </p:cNvPicPr>
          <p:nvPr/>
        </p:nvPicPr>
        <p:blipFill>
          <a:blip r:embed="rId1"/>
          <a:stretch>
            <a:fillRect/>
          </a:stretch>
        </p:blipFill>
        <p:spPr>
          <a:xfrm>
            <a:off x="877824" y="1297817"/>
            <a:ext cx="4206240" cy="2799325"/>
          </a:xfrm>
          <a:prstGeom prst="rect">
            <a:avLst/>
          </a:prstGeom>
        </p:spPr>
      </p:pic>
      <p:sp>
        <p:nvSpPr>
          <p:cNvPr id="9" name="Text 5"/>
          <p:cNvSpPr txBox="1"/>
          <p:nvPr/>
        </p:nvSpPr>
        <p:spPr>
          <a:xfrm>
            <a:off x="877824" y="4170295"/>
            <a:ext cx="420624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Welding, paint spraying, microchips, bottling, warehouses</a:t>
            </a:r>
            <a:endParaRPr lang="en-US" sz="1000" dirty="0"/>
          </a:p>
        </p:txBody>
      </p:sp>
      <p:sp>
        <p:nvSpPr>
          <p:cNvPr id="10" name="Text 6"/>
          <p:cNvSpPr txBox="1"/>
          <p:nvPr/>
        </p:nvSpPr>
        <p:spPr>
          <a:xfrm>
            <a:off x="877824" y="4480560"/>
            <a:ext cx="4206240" cy="1280160"/>
          </a:xfrm>
          <a:prstGeom prst="rect">
            <a:avLst/>
          </a:prstGeom>
          <a:noFill/>
          <a:ln/>
        </p:spPr>
        <p:txBody>
          <a:bodyPr wrap="square" lIns="0" tIns="0" rIns="0" bIns="0" rtlCol="0" anchor="t"/>
          <a:lstStyle/>
          <a:p>
            <a:pPr indent="0" marL="0">
              <a:spcAft>
                <a:spcPts val="600"/>
              </a:spcAft>
              <a:buNone/>
            </a:pPr>
            <a:r>
              <a:rPr lang="en-US" sz="1400" dirty="0">
                <a:solidFill>
                  <a:srgbClr val="202124"/>
                </a:solidFill>
                <a:latin typeface="Quicksand" pitchFamily="34" charset="0"/>
                <a:ea typeface="Quicksand" pitchFamily="34" charset="-122"/>
                <a:cs typeface="Quicksand" pitchFamily="34" charset="-120"/>
              </a:rPr>
              <a:t>Robots do heavy lifting, welding, paint spraying, making microchips and electrical goods, and finding items in automatic warehouses.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40680" y="1280160"/>
          <a:ext cx="6126480" cy="914400"/>
        </p:xfrm>
        <a:graphic>
          <a:graphicData uri="http://schemas.openxmlformats.org/drawingml/2006/table">
            <a:tbl>
              <a:tblPr/>
              <a:tblGrid>
                <a:gridCol w="6126480"/>
              </a:tblGrid>
              <a:tr h="374904">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Work in conditions hazardous to humans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Work 24/7 without breaks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Cheaper in the long run (fewer wages)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More productive and more consistent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Better at boring, repetitive tasks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40680" y="3712464"/>
          <a:ext cx="6126480" cy="914400"/>
        </p:xfrm>
        <a:graphic>
          <a:graphicData uri="http://schemas.openxmlformats.org/drawingml/2006/table">
            <a:tbl>
              <a:tblPr/>
              <a:tblGrid>
                <a:gridCol w="6126480"/>
              </a:tblGrid>
              <a:tr h="374904">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Struggle with non-standard tasks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Unemployment in manual jobs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Deskilling of workers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74904">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to buy and set up</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3" name="Text 7"/>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Transport: autonomous cars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p:nvPr/>
        </p:nvSpPr>
        <p:spPr>
          <a:xfrm>
            <a:off x="877824" y="1371600"/>
            <a:ext cx="2377440" cy="960120"/>
          </a:xfrm>
          <a:prstGeom prst="roundRect">
            <a:avLst>
              <a:gd name="adj" fmla="val 7619"/>
            </a:avLst>
          </a:prstGeom>
          <a:solidFill>
            <a:srgbClr val="E3F2E8"/>
          </a:solidFill>
          <a:ln w="15875">
            <a:solidFill>
              <a:srgbClr val="494985"/>
            </a:solidFill>
          </a:ln>
        </p:spPr>
        <p:txBody>
          <a:bodyPr wrap="square" lIns="635" tIns="635" rIns="635" bIns="635"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Cameras, radar,</a:t>
            </a:r>
            <a:endParaRPr lang="en-US" sz="1400" dirty="0"/>
          </a:p>
          <a:p>
            <a:pPr algn="ctr" indent="0" marL="0">
              <a:buNone/>
            </a:pPr>
            <a:r>
              <a:rPr lang="en-US" sz="1400" b="1" dirty="0">
                <a:solidFill>
                  <a:srgbClr val="202124"/>
                </a:solidFill>
                <a:latin typeface="Quicksand" pitchFamily="34" charset="0"/>
                <a:ea typeface="Quicksand" pitchFamily="34" charset="-122"/>
                <a:cs typeface="Quicksand" pitchFamily="34" charset="-120"/>
              </a:rPr>
              <a:t>ultrasonic sensors</a:t>
            </a:r>
            <a:endParaRPr lang="en-US" sz="1400" dirty="0"/>
          </a:p>
        </p:txBody>
      </p:sp>
      <p:sp>
        <p:nvSpPr>
          <p:cNvPr id="8" name="Text 5"/>
          <p:cNvSpPr/>
          <p:nvPr/>
        </p:nvSpPr>
        <p:spPr>
          <a:xfrm>
            <a:off x="3712464" y="1371600"/>
            <a:ext cx="2377440" cy="960120"/>
          </a:xfrm>
          <a:prstGeom prst="roundRect">
            <a:avLst>
              <a:gd name="adj" fmla="val 7619"/>
            </a:avLst>
          </a:prstGeom>
          <a:solidFill>
            <a:srgbClr val="E9E8F5"/>
          </a:solidFill>
          <a:ln w="15875">
            <a:solidFill>
              <a:srgbClr val="494985"/>
            </a:solidFill>
          </a:ln>
        </p:spPr>
        <p:txBody>
          <a:bodyPr wrap="square" lIns="635" tIns="635" rIns="635" bIns="635"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Microprocessor</a:t>
            </a:r>
            <a:endParaRPr lang="en-US" sz="1400" dirty="0"/>
          </a:p>
          <a:p>
            <a:pPr algn="ctr" indent="0" marL="0">
              <a:buNone/>
            </a:pPr>
            <a:r>
              <a:rPr lang="en-US" sz="1400" b="1" dirty="0">
                <a:solidFill>
                  <a:srgbClr val="202124"/>
                </a:solidFill>
                <a:latin typeface="Quicksand" pitchFamily="34" charset="0"/>
                <a:ea typeface="Quicksand" pitchFamily="34" charset="-122"/>
                <a:cs typeface="Quicksand" pitchFamily="34" charset="-120"/>
              </a:rPr>
              <a:t>compares with database</a:t>
            </a:r>
            <a:endParaRPr lang="en-US" sz="1400" dirty="0"/>
          </a:p>
        </p:txBody>
      </p:sp>
      <p:sp>
        <p:nvSpPr>
          <p:cNvPr id="9" name="Text 6"/>
          <p:cNvSpPr/>
          <p:nvPr/>
        </p:nvSpPr>
        <p:spPr>
          <a:xfrm>
            <a:off x="6547104" y="1371600"/>
            <a:ext cx="2377440" cy="960120"/>
          </a:xfrm>
          <a:prstGeom prst="roundRect">
            <a:avLst>
              <a:gd name="adj" fmla="val 7619"/>
            </a:avLst>
          </a:prstGeom>
          <a:solidFill>
            <a:srgbClr val="FDE7D9"/>
          </a:solidFill>
          <a:ln w="15875">
            <a:solidFill>
              <a:srgbClr val="494985"/>
            </a:solidFill>
          </a:ln>
        </p:spPr>
        <p:txBody>
          <a:bodyPr wrap="square" lIns="635" tIns="635" rIns="635" bIns="635"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Actuators: brakes,</a:t>
            </a:r>
            <a:endParaRPr lang="en-US" sz="1400" dirty="0"/>
          </a:p>
          <a:p>
            <a:pPr algn="ctr" indent="0" marL="0">
              <a:buNone/>
            </a:pPr>
            <a:r>
              <a:rPr lang="en-US" sz="1400" b="1" dirty="0">
                <a:solidFill>
                  <a:srgbClr val="202124"/>
                </a:solidFill>
                <a:latin typeface="Quicksand" pitchFamily="34" charset="0"/>
                <a:ea typeface="Quicksand" pitchFamily="34" charset="-122"/>
                <a:cs typeface="Quicksand" pitchFamily="34" charset="-120"/>
              </a:rPr>
              <a:t>gears, steering</a:t>
            </a:r>
            <a:endParaRPr lang="en-US" sz="1400" dirty="0"/>
          </a:p>
        </p:txBody>
      </p:sp>
      <p:sp>
        <p:nvSpPr>
          <p:cNvPr id="10" name="Shape 7"/>
          <p:cNvSpPr/>
          <p:nvPr/>
        </p:nvSpPr>
        <p:spPr>
          <a:xfrm>
            <a:off x="3291840" y="1847088"/>
            <a:ext cx="384048" cy="914"/>
          </a:xfrm>
          <a:prstGeom prst="line">
            <a:avLst/>
          </a:prstGeom>
          <a:noFill/>
          <a:ln w="25400">
            <a:solidFill>
              <a:srgbClr val="494985"/>
            </a:solidFill>
            <a:prstDash val="solid"/>
            <a:tailEnd type="triangle"/>
          </a:ln>
        </p:spPr>
      </p:sp>
      <p:sp>
        <p:nvSpPr>
          <p:cNvPr id="11" name="Shape 8"/>
          <p:cNvSpPr/>
          <p:nvPr/>
        </p:nvSpPr>
        <p:spPr>
          <a:xfrm>
            <a:off x="6126480" y="1847088"/>
            <a:ext cx="384048" cy="914"/>
          </a:xfrm>
          <a:prstGeom prst="line">
            <a:avLst/>
          </a:prstGeom>
          <a:noFill/>
          <a:ln w="25400">
            <a:solidFill>
              <a:srgbClr val="494985"/>
            </a:solidFill>
            <a:prstDash val="solid"/>
            <a:tailEnd type="triangle"/>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77824" y="2651760"/>
          <a:ext cx="8046720" cy="914400"/>
        </p:xfrm>
        <a:graphic>
          <a:graphicData uri="http://schemas.openxmlformats.org/drawingml/2006/table">
            <a:tbl>
              <a:tblPr/>
              <a:tblGrid>
                <a:gridCol w="8046720"/>
              </a:tblGrid>
              <a:tr h="438912">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Approaching a red light, step by step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 Cameras recognise the red traffic light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 The microprocessor checks its database for the action to take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 It signals actuators to apply the brakes and select park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4. It keeps monitoring until the light turns green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 It selects first gear, releases the brakes and opens the throttle, once it is safe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9144000" y="1371600"/>
          <a:ext cx="2423160" cy="914400"/>
        </p:xfrm>
        <a:graphic>
          <a:graphicData uri="http://schemas.openxmlformats.org/drawingml/2006/table">
            <a:tbl>
              <a:tblPr/>
              <a:tblGrid>
                <a:gridCol w="2423160"/>
              </a:tblGrid>
              <a:tr h="502920">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Advantages</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Safer: human error removed</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Less congestion, shorter journeys</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Self-parking</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9144000" y="3566160"/>
          <a:ext cx="2423160" cy="914400"/>
        </p:xfrm>
        <a:graphic>
          <a:graphicData uri="http://schemas.openxmlformats.org/drawingml/2006/table">
            <a:tbl>
              <a:tblPr/>
              <a:tblGrid>
                <a:gridCol w="2423160"/>
              </a:tblGrid>
              <a:tr h="502920">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Disadvantages</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Expensive to set up</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Risk of hacking</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Software glitches; sensors fail in snow</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People reluctant; taxi jobs lost</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Transport: trains and planes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841248" y="1252090"/>
            <a:ext cx="4462272" cy="298222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train.png">    </p:cNvPr>
          <p:cNvPicPr>
            <a:picLocks noChangeAspect="1"/>
          </p:cNvPicPr>
          <p:nvPr/>
        </p:nvPicPr>
        <p:blipFill>
          <a:blip r:embed="rId1"/>
          <a:stretch>
            <a:fillRect/>
          </a:stretch>
        </p:blipFill>
        <p:spPr>
          <a:xfrm>
            <a:off x="877824" y="1288666"/>
            <a:ext cx="4389120" cy="2909068"/>
          </a:xfrm>
          <a:prstGeom prst="rect">
            <a:avLst/>
          </a:prstGeom>
        </p:spPr>
      </p:pic>
      <p:sp>
        <p:nvSpPr>
          <p:cNvPr id="9" name="Text 5"/>
          <p:cNvSpPr txBox="1"/>
          <p:nvPr/>
        </p:nvSpPr>
        <p:spPr>
          <a:xfrm>
            <a:off x="877824" y="4270886"/>
            <a:ext cx="438912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Autonomous train (London)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577840" y="1280160"/>
          <a:ext cx="5989320" cy="914400"/>
        </p:xfrm>
        <a:graphic>
          <a:graphicData uri="http://schemas.openxmlformats.org/drawingml/2006/table">
            <a:tbl>
              <a:tblPr/>
              <a:tblGrid>
                <a:gridCol w="2971800"/>
                <a:gridCol w="3017520"/>
              </a:tblGrid>
              <a:tr h="77724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Autonomous trains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Pilotless planes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772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LiDaR builds a 3D image of the track</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Sensors detect turbulence and loss of cabin pressure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Proximity sensors on doors, GPS for speed and position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GPS for navigation; actuators move throttle, flaps and rudder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 More punctual, lower running costs, safer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 Lower running costs, safer (most crashes are pilot error)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772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 Hacking, high set-up cost, passenger behaviour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 Hacking, emergencies, software glitches, reluctance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877824" y="4709160"/>
            <a:ext cx="4389120" cy="100584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Transport pattern: safer and cheaper to run, but expensive to set up, open to hacking, and people may not trust it.</a:t>
            </a:r>
            <a:endParaRPr lang="en-US" sz="1400" dirty="0"/>
          </a:p>
        </p:txBody>
      </p:sp>
      <p:sp>
        <p:nvSpPr>
          <p:cNvPr id="12" name="Text 7"/>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Agriculture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841248" y="1290092"/>
            <a:ext cx="4005072" cy="217469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drone.png">    </p:cNvPr>
          <p:cNvPicPr>
            <a:picLocks noChangeAspect="1"/>
          </p:cNvPicPr>
          <p:nvPr/>
        </p:nvPicPr>
        <p:blipFill>
          <a:blip r:embed="rId1"/>
          <a:stretch>
            <a:fillRect/>
          </a:stretch>
        </p:blipFill>
        <p:spPr>
          <a:xfrm>
            <a:off x="877824" y="1326668"/>
            <a:ext cx="3931920" cy="2101543"/>
          </a:xfrm>
          <a:prstGeom prst="rect">
            <a:avLst/>
          </a:prstGeom>
        </p:spPr>
      </p:pic>
      <p:sp>
        <p:nvSpPr>
          <p:cNvPr id="9" name="Text 5"/>
          <p:cNvSpPr txBox="1"/>
          <p:nvPr/>
        </p:nvSpPr>
        <p:spPr>
          <a:xfrm>
            <a:off x="877824" y="3501364"/>
            <a:ext cx="393192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Drones map fields, plant seeds and spread fertiliser</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120640" y="1280160"/>
          <a:ext cx="6446520" cy="914400"/>
        </p:xfrm>
        <a:graphic>
          <a:graphicData uri="http://schemas.openxmlformats.org/drawingml/2006/table">
            <a:tbl>
              <a:tblPr/>
              <a:tblGrid>
                <a:gridCol w="1645920"/>
                <a:gridCol w="4800600"/>
              </a:tblGrid>
              <a:tr h="566928">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Use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How sensors and actuators help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Harvesting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Cameras check whether fruit is ripe; an arm picks it without damage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Weed control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AI tells a weed from a crop; GPS keeps it in the row; an actuator works the blade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Phenotyping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Sensors and thermal cameras build a 3D model to check plant health</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Seed planting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Drones give a bird's eye view and plant and spray more accurately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877824" y="4023360"/>
          <a:ext cx="3931920" cy="914400"/>
        </p:xfrm>
        <a:graphic>
          <a:graphicData uri="http://schemas.openxmlformats.org/drawingml/2006/table">
            <a:tbl>
              <a:tblPr/>
              <a:tblGrid>
                <a:gridCol w="3931920"/>
              </a:tblGrid>
              <a:tr h="347472">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Advantages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47472">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More accurate, faster, less waste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47472">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Work without breaks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40" name="Table 2"/>
          <p:cNvGraphicFramePr>
            <a:graphicFrameLocks noGrp="1"/>
          </p:cNvGraphicFramePr>
          <p:nvPr>
            <p:extLst>
              <p:ext uri="{D42A27DB-BD31-4B8C-83A1-F6EECF244321}">
                <p14:modId xmlns:p14="http://schemas.microsoft.com/office/powerpoint/2010/main" val="1579011935"/>
              </p:ext>
            </p:extLst>
          </p:nvPr>
        </p:nvGraphicFramePr>
        <p:xfrm>
          <a:off x="877824" y="5248656"/>
          <a:ext cx="3931920" cy="914400"/>
        </p:xfrm>
        <a:graphic>
          <a:graphicData uri="http://schemas.openxmlformats.org/drawingml/2006/table">
            <a:tbl>
              <a:tblPr/>
              <a:tblGrid>
                <a:gridCol w="3931920"/>
              </a:tblGrid>
              <a:tr h="347472">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Disadvantages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47472">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Expensive; maintenance costs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47472">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Cannot adapt to the unexpected</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3" name="Text 6"/>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Medicine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6675120" cy="914400"/>
        </p:xfrm>
        <a:graphic>
          <a:graphicData uri="http://schemas.openxmlformats.org/drawingml/2006/table">
            <a:tbl>
              <a:tblPr/>
              <a:tblGrid>
                <a:gridCol w="2103120"/>
                <a:gridCol w="4572000"/>
              </a:tblGrid>
              <a:tr h="54864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Role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Why use a robot?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Surgery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Steadier and more precise: smaller cuts and faster recovery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Remote surgery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specialist anywhere in the world can operate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Taking blood samples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Finds a good vein; protects staff from infectious patients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Disinfecting rooms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Autonomous robots clean operating theatres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Microbots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Deliver a drug to one target site, so less damage to tissue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Prosthetic limbs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Sensors and actuators give a human-like grip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7863840" y="1280160"/>
            <a:ext cx="3703320" cy="1828800"/>
          </a:xfrm>
          <a:prstGeom prst="rect">
            <a:avLst/>
          </a:prstGeom>
          <a:solidFill>
            <a:srgbClr val="F6F5FC"/>
          </a:solidFill>
          <a:ln w="12700">
            <a:solidFill>
              <a:srgbClr val="F6F5FC"/>
            </a:solidFill>
            <a:prstDash val="solid"/>
          </a:ln>
        </p:spPr>
      </p:sp>
      <p:sp>
        <p:nvSpPr>
          <p:cNvPr id="9" name="Text 5"/>
          <p:cNvSpPr/>
          <p:nvPr/>
        </p:nvSpPr>
        <p:spPr>
          <a:xfrm>
            <a:off x="800100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8522208" y="1389888"/>
            <a:ext cx="29260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Point + expansion</a:t>
            </a:r>
            <a:endParaRPr lang="en-US" sz="1500" dirty="0"/>
          </a:p>
        </p:txBody>
      </p:sp>
      <p:sp>
        <p:nvSpPr>
          <p:cNvPr id="11" name="Text 7"/>
          <p:cNvSpPr txBox="1"/>
          <p:nvPr/>
        </p:nvSpPr>
        <p:spPr>
          <a:xfrm>
            <a:off x="8522208" y="1783080"/>
            <a:ext cx="2926080" cy="12618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2-mark "explain" answer is a point and why it matters in this scenario: "The connection could be lost... so the surgery cannot continue."</a:t>
            </a:r>
            <a:endParaRPr lang="en-US" sz="1300" dirty="0"/>
          </a:p>
        </p:txBody>
      </p:sp>
      <p:sp>
        <p:nvSpPr>
          <p:cNvPr id="12" name="Shape 8"/>
          <p:cNvSpPr/>
          <p:nvPr/>
        </p:nvSpPr>
        <p:spPr>
          <a:xfrm>
            <a:off x="7863840" y="3291840"/>
            <a:ext cx="3703320" cy="1828800"/>
          </a:xfrm>
          <a:prstGeom prst="rect">
            <a:avLst/>
          </a:prstGeom>
          <a:solidFill>
            <a:srgbClr val="F6F5FC"/>
          </a:solidFill>
          <a:ln w="12700">
            <a:solidFill>
              <a:srgbClr val="F6F5FC"/>
            </a:solidFill>
            <a:prstDash val="solid"/>
          </a:ln>
        </p:spPr>
      </p:sp>
      <p:sp>
        <p:nvSpPr>
          <p:cNvPr id="13" name="Text 9"/>
          <p:cNvSpPr/>
          <p:nvPr/>
        </p:nvSpPr>
        <p:spPr>
          <a:xfrm>
            <a:off x="8001000" y="3429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8522208" y="3401568"/>
            <a:ext cx="29260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Disadvantages</a:t>
            </a:r>
            <a:endParaRPr lang="en-US" sz="1500" dirty="0"/>
          </a:p>
        </p:txBody>
      </p:sp>
      <p:sp>
        <p:nvSpPr>
          <p:cNvPr id="15" name="Text 11"/>
          <p:cNvSpPr txBox="1"/>
          <p:nvPr/>
        </p:nvSpPr>
        <p:spPr>
          <a:xfrm>
            <a:off x="8522208" y="3794760"/>
            <a:ext cx="2926080" cy="126187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Expensive to buy and maintain; could be hacked; a malfunction or lost connection in the middle of surgery endangers the patient.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Domestic robots and entertainment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841248" y="1302865"/>
            <a:ext cx="2816352" cy="187483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sweeper.png">    </p:cNvPr>
          <p:cNvPicPr>
            <a:picLocks noChangeAspect="1"/>
          </p:cNvPicPr>
          <p:nvPr/>
        </p:nvPicPr>
        <p:blipFill>
          <a:blip r:embed="rId1"/>
          <a:stretch>
            <a:fillRect/>
          </a:stretch>
        </p:blipFill>
        <p:spPr>
          <a:xfrm>
            <a:off x="877824" y="1339441"/>
            <a:ext cx="2743200" cy="1801678"/>
          </a:xfrm>
          <a:prstGeom prst="rect">
            <a:avLst/>
          </a:prstGeom>
        </p:spPr>
      </p:pic>
      <p:sp>
        <p:nvSpPr>
          <p:cNvPr id="9" name="Shape 5"/>
          <p:cNvSpPr/>
          <p:nvPr/>
        </p:nvSpPr>
        <p:spPr>
          <a:xfrm>
            <a:off x="3816057" y="1243584"/>
            <a:ext cx="1969085" cy="199339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0" name="Image 1" descr="figs/vector.png">    </p:cNvPr>
          <p:cNvPicPr>
            <a:picLocks noChangeAspect="1"/>
          </p:cNvPicPr>
          <p:nvPr/>
        </p:nvPicPr>
        <p:blipFill>
          <a:blip r:embed="rId2"/>
          <a:stretch>
            <a:fillRect/>
          </a:stretch>
        </p:blipFill>
        <p:spPr>
          <a:xfrm>
            <a:off x="3852633" y="1280160"/>
            <a:ext cx="1895933" cy="19202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77824" y="3520440"/>
          <a:ext cx="4892040" cy="914400"/>
        </p:xfrm>
        <a:graphic>
          <a:graphicData uri="http://schemas.openxmlformats.org/drawingml/2006/table">
            <a:tbl>
              <a:tblPr/>
              <a:tblGrid>
                <a:gridCol w="4892040"/>
              </a:tblGrid>
              <a:tr h="566928">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In the home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Robot vacuum cleaners and lawn mowers: proximity sensors and cameras avoid obstacles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Personal assistants (Vector): microphone for voice, camera for faces, cloud connection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Pool cleaning, window cleaning, ironing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080760" y="1280160"/>
          <a:ext cx="5486400" cy="914400"/>
        </p:xfrm>
        <a:graphic>
          <a:graphicData uri="http://schemas.openxmlformats.org/drawingml/2006/table">
            <a:tbl>
              <a:tblPr/>
              <a:tblGrid>
                <a:gridCol w="5486400"/>
              </a:tblGrid>
              <a:tr h="64008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Entertainment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400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Theme parks: robots dressed as characters interact with visitors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400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Festivals: robots control lighting, lasers and animation in time with the music</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400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Film and TV: steady camera robots, stunt robots, special effects timed to the millisecond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3" name="Text 6"/>
          <p:cNvSpPr txBox="1"/>
          <p:nvPr/>
        </p:nvSpPr>
        <p:spPr>
          <a:xfrm>
            <a:off x="6080760" y="4206240"/>
            <a:ext cx="5486400" cy="8229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Domestic pattern: frees people from chores, but costly, and it can fail or be confused by an unusual room.</a:t>
            </a:r>
            <a:endParaRPr lang="en-US" sz="1400" dirty="0"/>
          </a:p>
        </p:txBody>
      </p:sp>
      <p:sp>
        <p:nvSpPr>
          <p:cNvPr id="14" name="Text 7"/>
          <p:cNvSpPr txBox="1"/>
          <p:nvPr/>
        </p:nvSpPr>
        <p:spPr>
          <a:xfrm>
            <a:off x="667512" y="6355080"/>
            <a:ext cx="7315200" cy="228600"/>
          </a:xfrm>
          <a:prstGeom prst="rect">
            <a:avLst/>
          </a:prstGeom>
          <a:noFill/>
          <a:ln/>
        </p:spPr>
        <p:txBody>
          <a:bodyPr wrap="square" lIns="0" tIns="0" rIns="0" bIns="0" rtlCol="0" anchor="ctr"/>
          <a:lstStyle/>
          <a:p>
            <a:pPr indent="0" marL="0">
              <a:buNone/>
            </a:pPr>
            <a:r>
              <a:rPr lang="en-US" sz="900" i="1" dirty="0">
                <a:solidFill>
                  <a:srgbClr val="666666"/>
                </a:solidFill>
                <a:latin typeface="Quicksand" pitchFamily="34" charset="0"/>
                <a:ea typeface="Quicksand" pitchFamily="34" charset="-122"/>
                <a:cs typeface="Quicksand" pitchFamily="34" charset="-120"/>
              </a:rPr>
              <a:t>Images: Hodder Cambridge IGCSE Computer Science, Chapter 6.2.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how a robot uses its sensors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877824" y="1325880"/>
            <a:ext cx="5257800" cy="1234440"/>
          </a:xfrm>
          <a:prstGeom prst="rect">
            <a:avLst/>
          </a:prstGeom>
          <a:solidFill>
            <a:srgbClr val="F6F5FC"/>
          </a:solidFill>
          <a:ln w="12700">
            <a:solidFill>
              <a:srgbClr val="F6F5FC"/>
            </a:solidFill>
            <a:prstDash val="solid"/>
          </a:ln>
        </p:spPr>
      </p:sp>
      <p:sp>
        <p:nvSpPr>
          <p:cNvPr id="8" name="Text 5"/>
          <p:cNvSpPr/>
          <p:nvPr/>
        </p:nvSpPr>
        <p:spPr>
          <a:xfrm>
            <a:off x="1014984"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4356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Name the sensor</a:t>
            </a:r>
            <a:endParaRPr lang="en-US" sz="1500" dirty="0"/>
          </a:p>
        </p:txBody>
      </p:sp>
      <p:sp>
        <p:nvSpPr>
          <p:cNvPr id="10" name="Text 7"/>
          <p:cNvSpPr txBox="1"/>
          <p:nvPr/>
        </p:nvSpPr>
        <p:spPr>
          <a:xfrm>
            <a:off x="1536192" y="18288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e.g. a proximity or infra-red sensor</a:t>
            </a:r>
            <a:endParaRPr lang="en-US" sz="1350" dirty="0"/>
          </a:p>
        </p:txBody>
      </p:sp>
      <p:sp>
        <p:nvSpPr>
          <p:cNvPr id="11" name="Shape 8"/>
          <p:cNvSpPr/>
          <p:nvPr/>
        </p:nvSpPr>
        <p:spPr>
          <a:xfrm>
            <a:off x="877824" y="2697480"/>
            <a:ext cx="5257800" cy="1234440"/>
          </a:xfrm>
          <a:prstGeom prst="rect">
            <a:avLst/>
          </a:prstGeom>
          <a:solidFill>
            <a:srgbClr val="F6F5FC"/>
          </a:solidFill>
          <a:ln w="12700">
            <a:solidFill>
              <a:srgbClr val="F6F5FC"/>
            </a:solidFill>
            <a:prstDash val="solid"/>
          </a:ln>
        </p:spPr>
      </p:sp>
      <p:sp>
        <p:nvSpPr>
          <p:cNvPr id="12" name="Text 9"/>
          <p:cNvSpPr/>
          <p:nvPr/>
        </p:nvSpPr>
        <p:spPr>
          <a:xfrm>
            <a:off x="1014984" y="2834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536192" y="28072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Continuous readings</a:t>
            </a:r>
            <a:endParaRPr lang="en-US" sz="1500" dirty="0"/>
          </a:p>
        </p:txBody>
      </p:sp>
      <p:sp>
        <p:nvSpPr>
          <p:cNvPr id="14" name="Text 11"/>
          <p:cNvSpPr txBox="1"/>
          <p:nvPr/>
        </p:nvSpPr>
        <p:spPr>
          <a:xfrm>
            <a:off x="1536192" y="32004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It continuously sends digitised data to the microprocessor</a:t>
            </a:r>
            <a:endParaRPr lang="en-US" sz="1350" dirty="0"/>
          </a:p>
        </p:txBody>
      </p:sp>
      <p:sp>
        <p:nvSpPr>
          <p:cNvPr id="15" name="Shape 12"/>
          <p:cNvSpPr/>
          <p:nvPr/>
        </p:nvSpPr>
        <p:spPr>
          <a:xfrm>
            <a:off x="877824" y="4069080"/>
            <a:ext cx="5257800" cy="1234440"/>
          </a:xfrm>
          <a:prstGeom prst="rect">
            <a:avLst/>
          </a:prstGeom>
          <a:solidFill>
            <a:srgbClr val="F6F5FC"/>
          </a:solidFill>
          <a:ln w="12700">
            <a:solidFill>
              <a:srgbClr val="F6F5FC"/>
            </a:solidFill>
            <a:prstDash val="solid"/>
          </a:ln>
        </p:spPr>
      </p:sp>
      <p:sp>
        <p:nvSpPr>
          <p:cNvPr id="16" name="Text 13"/>
          <p:cNvSpPr/>
          <p:nvPr/>
        </p:nvSpPr>
        <p:spPr>
          <a:xfrm>
            <a:off x="1014984"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536192" y="41788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Compare</a:t>
            </a:r>
            <a:endParaRPr lang="en-US" sz="1500" dirty="0"/>
          </a:p>
        </p:txBody>
      </p:sp>
      <p:sp>
        <p:nvSpPr>
          <p:cNvPr id="18" name="Text 15"/>
          <p:cNvSpPr txBox="1"/>
          <p:nvPr/>
        </p:nvSpPr>
        <p:spPr>
          <a:xfrm>
            <a:off x="1536192" y="45720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The microprocessor compares the data with a stored value or range</a:t>
            </a:r>
            <a:endParaRPr lang="en-US" sz="1350" dirty="0"/>
          </a:p>
        </p:txBody>
      </p:sp>
      <p:sp>
        <p:nvSpPr>
          <p:cNvPr id="19" name="Shape 16"/>
          <p:cNvSpPr/>
          <p:nvPr/>
        </p:nvSpPr>
        <p:spPr>
          <a:xfrm>
            <a:off x="6263640" y="1325880"/>
            <a:ext cx="5257800" cy="1234440"/>
          </a:xfrm>
          <a:prstGeom prst="rect">
            <a:avLst/>
          </a:prstGeom>
          <a:solidFill>
            <a:srgbClr val="F6F5FC"/>
          </a:solidFill>
          <a:ln w="12700">
            <a:solidFill>
              <a:srgbClr val="F6F5FC"/>
            </a:solidFill>
            <a:prstDash val="solid"/>
          </a:ln>
        </p:spPr>
      </p:sp>
      <p:sp>
        <p:nvSpPr>
          <p:cNvPr id="20" name="Text 17"/>
          <p:cNvSpPr/>
          <p:nvPr/>
        </p:nvSpPr>
        <p:spPr>
          <a:xfrm>
            <a:off x="640080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6922008" y="14356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Decide</a:t>
            </a:r>
            <a:endParaRPr lang="en-US" sz="1500" dirty="0"/>
          </a:p>
        </p:txBody>
      </p:sp>
      <p:sp>
        <p:nvSpPr>
          <p:cNvPr id="22" name="Text 19"/>
          <p:cNvSpPr txBox="1"/>
          <p:nvPr/>
        </p:nvSpPr>
        <p:spPr>
          <a:xfrm>
            <a:off x="6922008" y="18288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Inside the range: carry on. Outside: send a signal</a:t>
            </a:r>
            <a:endParaRPr lang="en-US" sz="1350" dirty="0"/>
          </a:p>
        </p:txBody>
      </p:sp>
      <p:sp>
        <p:nvSpPr>
          <p:cNvPr id="23" name="Shape 20"/>
          <p:cNvSpPr/>
          <p:nvPr/>
        </p:nvSpPr>
        <p:spPr>
          <a:xfrm>
            <a:off x="6263640" y="2697480"/>
            <a:ext cx="5257800" cy="1234440"/>
          </a:xfrm>
          <a:prstGeom prst="rect">
            <a:avLst/>
          </a:prstGeom>
          <a:solidFill>
            <a:srgbClr val="F6F5FC"/>
          </a:solidFill>
          <a:ln w="12700">
            <a:solidFill>
              <a:srgbClr val="F6F5FC"/>
            </a:solidFill>
            <a:prstDash val="solid"/>
          </a:ln>
        </p:spPr>
      </p:sp>
      <p:sp>
        <p:nvSpPr>
          <p:cNvPr id="24" name="Text 21"/>
          <p:cNvSpPr/>
          <p:nvPr/>
        </p:nvSpPr>
        <p:spPr>
          <a:xfrm>
            <a:off x="6400800" y="2834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5" name="Text 22"/>
          <p:cNvSpPr txBox="1"/>
          <p:nvPr/>
        </p:nvSpPr>
        <p:spPr>
          <a:xfrm>
            <a:off x="6922008" y="28072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Actuator acts</a:t>
            </a:r>
            <a:endParaRPr lang="en-US" sz="1500" dirty="0"/>
          </a:p>
        </p:txBody>
      </p:sp>
      <p:sp>
        <p:nvSpPr>
          <p:cNvPr id="26" name="Text 23"/>
          <p:cNvSpPr txBox="1"/>
          <p:nvPr/>
        </p:nvSpPr>
        <p:spPr>
          <a:xfrm>
            <a:off x="6922008" y="32004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An actuator stops, turns or moves the robot</a:t>
            </a:r>
            <a:endParaRPr lang="en-US" sz="1350" dirty="0"/>
          </a:p>
        </p:txBody>
      </p:sp>
      <p:sp>
        <p:nvSpPr>
          <p:cNvPr id="27" name="Shape 24"/>
          <p:cNvSpPr/>
          <p:nvPr/>
        </p:nvSpPr>
        <p:spPr>
          <a:xfrm>
            <a:off x="6263640" y="4069080"/>
            <a:ext cx="5257800" cy="1234440"/>
          </a:xfrm>
          <a:prstGeom prst="rect">
            <a:avLst/>
          </a:prstGeom>
          <a:solidFill>
            <a:srgbClr val="F6F5FC"/>
          </a:solidFill>
          <a:ln w="12700">
            <a:solidFill>
              <a:srgbClr val="F6F5FC"/>
            </a:solidFill>
            <a:prstDash val="solid"/>
          </a:ln>
        </p:spPr>
      </p:sp>
      <p:sp>
        <p:nvSpPr>
          <p:cNvPr id="28" name="Text 25"/>
          <p:cNvSpPr/>
          <p:nvPr/>
        </p:nvSpPr>
        <p:spPr>
          <a:xfrm>
            <a:off x="6400800"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6</a:t>
            </a:r>
            <a:endParaRPr lang="en-US" sz="1400" dirty="0"/>
          </a:p>
        </p:txBody>
      </p:sp>
      <p:sp>
        <p:nvSpPr>
          <p:cNvPr id="29" name="Text 26"/>
          <p:cNvSpPr txBox="1"/>
          <p:nvPr/>
        </p:nvSpPr>
        <p:spPr>
          <a:xfrm>
            <a:off x="6922008" y="4178808"/>
            <a:ext cx="4480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Repeat</a:t>
            </a:r>
            <a:endParaRPr lang="en-US" sz="1500" dirty="0"/>
          </a:p>
        </p:txBody>
      </p:sp>
      <p:sp>
        <p:nvSpPr>
          <p:cNvPr id="30" name="Text 27"/>
          <p:cNvSpPr txBox="1"/>
          <p:nvPr/>
        </p:nvSpPr>
        <p:spPr>
          <a:xfrm>
            <a:off x="6922008" y="4572000"/>
            <a:ext cx="4480560" cy="66751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The process repeats until the robot is switched off</a:t>
            </a:r>
            <a:endParaRPr lang="en-US" sz="1350" dirty="0"/>
          </a:p>
        </p:txBody>
      </p:sp>
      <p:sp>
        <p:nvSpPr>
          <p:cNvPr id="31" name="Text 28"/>
          <p:cNvSpPr txBox="1"/>
          <p:nvPr/>
        </p:nvSpPr>
        <p:spPr>
          <a:xfrm>
            <a:off x="877824" y="5577840"/>
            <a:ext cx="10607040" cy="45720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Use the numbers in the question: "compares the reading with the stored value of 10 cm".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advantages to whom?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10698480" cy="914400"/>
        </p:xfrm>
        <a:graphic>
          <a:graphicData uri="http://schemas.openxmlformats.org/drawingml/2006/table">
            <a:tbl>
              <a:tblPr/>
              <a:tblGrid>
                <a:gridCol w="4754880"/>
                <a:gridCol w="822960"/>
                <a:gridCol w="5120640"/>
              </a:tblGrid>
              <a:tr h="65836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0478 May/June 2023 Q9: robots manufacture furniture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Marks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Credited answers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One characteristic is that a robot is programmable. State two other characteristics.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Mechanical structure or framework; electrical components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(b) Give two advantages to company employees.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No heavy lifting; protected from danger; use skills elsewhere; no repetitive tasks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 Give one disadvantage to the company's owners.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Expensive to set up; maintenance costs; production stops if it breaks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77824" y="4160520"/>
            <a:ext cx="5212080" cy="1463040"/>
          </a:xfrm>
          <a:prstGeom prst="rect">
            <a:avLst/>
          </a:prstGeom>
          <a:solidFill>
            <a:srgbClr val="F6F5FC"/>
          </a:solidFill>
          <a:ln w="12700">
            <a:solidFill>
              <a:srgbClr val="F6F5FC"/>
            </a:solidFill>
            <a:prstDash val="solid"/>
          </a:ln>
        </p:spPr>
      </p:sp>
      <p:sp>
        <p:nvSpPr>
          <p:cNvPr id="9" name="Text 5"/>
          <p:cNvSpPr/>
          <p:nvPr/>
        </p:nvSpPr>
        <p:spPr>
          <a:xfrm>
            <a:off x="1014984"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1536192" y="4270248"/>
            <a:ext cx="4434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Read who it is for</a:t>
            </a:r>
            <a:endParaRPr lang="en-US" sz="1500" dirty="0"/>
          </a:p>
        </p:txBody>
      </p:sp>
      <p:sp>
        <p:nvSpPr>
          <p:cNvPr id="11" name="Text 7"/>
          <p:cNvSpPr txBox="1"/>
          <p:nvPr/>
        </p:nvSpPr>
        <p:spPr>
          <a:xfrm>
            <a:off x="1536192" y="4663440"/>
            <a:ext cx="4434840" cy="89611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Employees: safety, no heavy or boring work. Owners: cost, productivity, consistency. "Cheaper" is not an employee advantage.</a:t>
            </a:r>
            <a:endParaRPr lang="en-US" sz="1300" dirty="0"/>
          </a:p>
        </p:txBody>
      </p:sp>
      <p:sp>
        <p:nvSpPr>
          <p:cNvPr id="12" name="Shape 8"/>
          <p:cNvSpPr/>
          <p:nvPr/>
        </p:nvSpPr>
        <p:spPr>
          <a:xfrm>
            <a:off x="6364224" y="4160520"/>
            <a:ext cx="5212080" cy="1463040"/>
          </a:xfrm>
          <a:prstGeom prst="rect">
            <a:avLst/>
          </a:prstGeom>
          <a:solidFill>
            <a:srgbClr val="F6F5FC"/>
          </a:solidFill>
          <a:ln w="12700">
            <a:solidFill>
              <a:srgbClr val="F6F5FC"/>
            </a:solidFill>
            <a:prstDash val="solid"/>
          </a:ln>
        </p:spPr>
      </p:sp>
      <p:sp>
        <p:nvSpPr>
          <p:cNvPr id="13" name="Text 9"/>
          <p:cNvSpPr/>
          <p:nvPr/>
        </p:nvSpPr>
        <p:spPr>
          <a:xfrm>
            <a:off x="6501384"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7022592" y="4270248"/>
            <a:ext cx="4434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Name the context</a:t>
            </a:r>
            <a:endParaRPr lang="en-US" sz="1500" dirty="0"/>
          </a:p>
        </p:txBody>
      </p:sp>
      <p:sp>
        <p:nvSpPr>
          <p:cNvPr id="15" name="Text 11"/>
          <p:cNvSpPr txBox="1"/>
          <p:nvPr/>
        </p:nvSpPr>
        <p:spPr>
          <a:xfrm>
            <a:off x="7022592" y="4663440"/>
            <a:ext cx="4434840" cy="89611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"Workers don't need to lift heavy furniture" scores. "It is efficient" usually does not.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7</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10698480" cy="914400"/>
        </p:xfrm>
        <a:graphic>
          <a:graphicData uri="http://schemas.openxmlformats.org/drawingml/2006/table">
            <a:tbl>
              <a:tblPr/>
              <a:tblGrid>
                <a:gridCol w="3291840"/>
                <a:gridCol w="5669280"/>
                <a:gridCol w="173736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Booklet task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What you do</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Uses slides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2  Robot or not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Define robotics, characteristics, sort devices, match terms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3  Classify and apply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Independent or dependent? Choose end-effectors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7-9</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4  Exam questions: sensors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Real 0478 questions on robots that sense and act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11, 16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5  Exam questions: roles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Advantages and disadvantages in context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10-15, 17</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6  Extension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Robots exploring the sea bed and Mars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all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877824" y="5029200"/>
            <a:ext cx="106984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answers against the exam focus pages when your teacher tells you to.</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10698480" cy="914400"/>
        </p:xfrm>
        <a:graphic>
          <a:graphicData uri="http://schemas.openxmlformats.org/drawingml/2006/table">
            <a:tbl>
              <a:tblPr/>
              <a:tblGrid>
                <a:gridCol w="3840480"/>
                <a:gridCol w="6858000"/>
              </a:tblGrid>
              <a:tr h="603504">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Misconception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wrong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chatbot is a robot."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is software only. A robot is a physical machine.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"All robots have AI."</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Most repeat programmed tasks. Only robots that adapt use AI.</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"Anything that moves is a robot."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also needs electrical components and must be programmable.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sensor decides what to do."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sensor only measures. The microprocessor decides; the actuator acts.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"Robots are always more accurate."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They are more consistent, but struggle with non-standard tasks.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is cheaper" as an advantage to workers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Cost matters to the owner. Workers gain safety and less repetitive 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sp>
        <p:nvSpPr>
          <p:cNvPr id="7" name="Text 4"/>
          <p:cNvSpPr txBox="1"/>
          <p:nvPr/>
        </p:nvSpPr>
        <p:spPr>
          <a:xfrm>
            <a:off x="877824" y="1371600"/>
            <a:ext cx="10515600" cy="731520"/>
          </a:xfrm>
          <a:prstGeom prst="rect">
            <a:avLst/>
          </a:prstGeom>
          <a:noFill/>
          <a:ln/>
        </p:spPr>
        <p:txBody>
          <a:bodyPr wrap="square" lIns="0" tIns="0" rIns="0" bIns="0" rtlCol="0" anchor="t"/>
          <a:lstStyle/>
          <a:p>
            <a:pPr indent="0" marL="0">
              <a:spcAft>
                <a:spcPts val="600"/>
              </a:spcAft>
              <a:buNone/>
            </a:pPr>
            <a:r>
              <a:rPr lang="en-US" sz="2000" dirty="0">
                <a:solidFill>
                  <a:srgbClr val="202124"/>
                </a:solidFill>
                <a:latin typeface="Quicksand" pitchFamily="34" charset="0"/>
                <a:ea typeface="Quicksand" pitchFamily="34" charset="-122"/>
                <a:cs typeface="Quicksand" pitchFamily="34" charset="-120"/>
              </a:rPr>
              <a:t>A delivery robot moves along a hospital corridor. It must stop if a person is 1 metre or closer in front of it.</a:t>
            </a:r>
            <a:endParaRPr lang="en-US" sz="2000" dirty="0"/>
          </a:p>
        </p:txBody>
      </p:sp>
      <p:sp>
        <p:nvSpPr>
          <p:cNvPr id="8" name="Text 5"/>
          <p:cNvSpPr txBox="1"/>
          <p:nvPr/>
        </p:nvSpPr>
        <p:spPr>
          <a:xfrm>
            <a:off x="877824" y="2286000"/>
            <a:ext cx="10515600" cy="54864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Explain how a sensor, a microprocessor and an actuator are used to do this.   [5]</a:t>
            </a:r>
            <a:endParaRPr lang="en-US" sz="1800" dirty="0"/>
          </a:p>
        </p:txBody>
      </p:sp>
      <p:sp>
        <p:nvSpPr>
          <p:cNvPr id="9" name="Shape 6"/>
          <p:cNvSpPr/>
          <p:nvPr/>
        </p:nvSpPr>
        <p:spPr>
          <a:xfrm>
            <a:off x="4169664" y="3137089"/>
            <a:ext cx="3913632" cy="2595501"/>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0" name="Image 0" descr="figs/sweeper.png">    </p:cNvPr>
          <p:cNvPicPr>
            <a:picLocks noChangeAspect="1"/>
          </p:cNvPicPr>
          <p:nvPr/>
        </p:nvPicPr>
        <p:blipFill>
          <a:blip r:embed="rId1"/>
          <a:stretch>
            <a:fillRect/>
          </a:stretch>
        </p:blipFill>
        <p:spPr>
          <a:xfrm>
            <a:off x="4206240" y="3173665"/>
            <a:ext cx="3840480" cy="25223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841248" y="1463040"/>
            <a:ext cx="10241280" cy="38404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Defined robotics as the design, construction and operation of robots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Learned the three characteristics: mechanical structure, electrical components, programmable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Classified robots as independent or dependent, and saw how end-effectors change a robot's job</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the sensor, microprocessor, actuator chain to explain how robots act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Gave advantages and disadvantages in six areas, and for different people</a:t>
            </a:r>
            <a:endParaRPr lang="en-US" sz="1800" dirty="0"/>
          </a:p>
        </p:txBody>
      </p:sp>
      <p:sp>
        <p:nvSpPr>
          <p:cNvPr id="8" name="Text 5"/>
          <p:cNvSpPr txBox="1"/>
          <p:nvPr/>
        </p:nvSpPr>
        <p:spPr>
          <a:xfrm>
            <a:off x="841248" y="5486400"/>
            <a:ext cx="7315200" cy="45720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6.3 Artificial intelligence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Robotics</dc:title>
  <dc:subject>PptxGenJS Presentation</dc:subject>
  <dc:creator>PptxGenJS</dc:creator>
  <cp:lastModifiedBy>PptxGenJS</cp:lastModifiedBy>
  <cp:revision>1</cp:revision>
  <dcterms:created xsi:type="dcterms:W3CDTF">2026-10-09T03:39:00Z</dcterms:created>
  <dcterms:modified xsi:type="dcterms:W3CDTF">2026-10-09T03:39:00Z</dcterms:modified>
</cp:coreProperties>
</file>