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Photograph: Google_Home_sitting_on_table.jpg
Author: NDB Photos
Source: https://commons.wikimedia.org/wiki/File:Google_Home_sitting_on_table.jpg
Licence: https://creativecommons.org/licenses/by-sa/2.0/
Resized and JPEG recompressed; no subject alterations.
The photographed hardware illustrates the exam scenario; the lesson does not certify the pictured product has the hypothetical capabilities described.Exam-led revision: 21 Paper 1 papers and their published Cambridge mark schemes (2023–2025); 29 AI parts audited. Practice questions are adapted/paraphrased from the cited papers; official mark allocations retained. Model answers and teaching commentary are our own.
Core lesson: 60 minutes using selected questions. Full practice pack: roughly two periods plus feedback. Tasks 2–6 have verified official allocations. Task 1 is original robotics recall with suggested marks. Do not attempt all 75 marks in one hour.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Task 1, preferably (a),(b),(d) if short of time. Re-teach mechanical/electrical/programmed characteristics or the sensor–processor–actuator chain before AI.
Exam-led revision: 21 Paper 1 papers and their published Cambridge mark schemes (2023–2025); 29 AI parts audited. Practice questions are adapted/paraphrased from the cited papers; official mark allocations retained. Model answers and teaching commentary are our own.
Photograph: KUKA_Industrial_Robots_IR.jpg
Author: Mixabest
Source: https://commons.wikimedia.org/wiki/File:KUKA_Industrial_Robots_IR.jpg
Licence: https://creativecommons.org/licenses/by-sa/3.0/
Resized and JPEG recompressed; no subject alterations.
The photographed hardware illustrates the exam scenario; the lesson does not certify the pictured product has the hypothetical capabilities described.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 QPs and 21 published schemes checked; 18 papers with AI and 29 AI parts. All observed families covered, not a guarantee of future questions.
Exam-led revision: 21 Paper 1 papers and their published Cambridge mark schemes (2023–2025); 29 AI parts audited. Practice questions are adapted/paraphrased from the cited papers; official mark allocations retained. Model answers and teaching commentary are our own.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simulation phrase is ONE accepted idea, not two arbitrary marks. 2025 Q6(a) needs any three distinct features; 2024 Q10(a) needs any two. These are general feature points, not a promise that every AI system continuously learns.
Exam-led revision: 21 Paper 1 papers and their published Cambridge mark schemes (2023–2025); 29 AI parts audited. Practice questions are adapted/paraphrased from the cited papers; official mark allocations retained. Model answers and teaching commentary are our own.
0478/13 Oct/Nov 2025 Q6(a)
QP: https://pastpapers.papacambridge.com/directories/CAIE/CAIE-pastpapers/upload/0478_w25_qp_13.pdf
MS: https://pastpapers.papacambridge.com/directories/CAIE/CAIE-pastpapers/upload/0478_w25_ms_13.pdfPhotograph: KUKA_Industrial_Robots_IR.jpg
Author: Mixabest
Source: https://commons.wikimedia.org/wiki/File:KUKA_Industrial_Robots_IR.jpg
Licence: https://creativecommons.org/licenses/by-sa/3.0/
Resized and JPEG recompressed; no subject alterations.
The photographed hardware illustrates the exam scenario; the lesson does not certify the pictured product has the hypothetical capabilities described.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Attempt Task 2. In 2025 March Q6(a), learning is given and cannot be reused. Accept collection of data, rules, reasoning, adaptation. This mark scheme separates data from rules.
Exam-led revision: 21 Paper 1 papers and their published Cambridge mark schemes (2023–2025); 29 AI parts audited. Practice questions are adapted/paraphrased from the cited papers; official mark allocations retained. Model answers and teaching commentary are our own.
0478/12 Feb/Mar 2025 Q6(a)
QP: https://pastpapers.papacambridge.com/directories/CAIE/CAIE-pastpapers/upload/0478_m25_qp_12.pdf
MS: https://pastpapers.papacambridge.com/directories/CAIE/CAIE-pastpapers/upload/0478_m25_ms_12.pdf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only after the matching question has been attempted. Accepted ideas paraphrased from the published scheme; not every alternative is needed. Any three distinct ideas. “Computer” and “intelligent” alone do not create two separate points; do not just repeat “smart”.
Exam-led revision: 21 Paper 1 papers and their published Cambridge mark schemes (2023–2025); 29 AI parts audited. Practice questions are adapted/paraphrased from the cited papers; official mark allocations retained. Model answers and teaching commentary are our own.
0478/13 Oct/Nov 2025 Q6(a)
QP: https://pastpapers.papacambridge.com/directories/CAIE/CAIE-pastpapers/upload/0478_w25_qp_13.pdf
MS: https://pastpapers.papacambridge.com/directories/CAIE/CAIE-pastpapers/upload/0478_w25_ms_13.pdf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rule-based expert system models expert decision-making in a restricted domain. Use the garage photo as a representative scenario, not evidence that the photographed garage uses AI.
Exam-led revision: 21 Paper 1 papers and their published Cambridge mark schemes (2023–2025); 29 AI parts audited. Practice questions are adapted/paraphrased from the cited papers; official mark allocations retained. Model answers and teaching commentary are our own.
Photograph: Chery_A1_-_service_shop_in_Ukraine_(7).jpg
Author: ANT Berezhnyi
Source: https://commons.wikimedia.org/wiki/File:Chery_A1_-_service_shop_in_Ukraine_%287%29.jpg
Licence: https://creativecommons.org/licenses/by/3.0/
Resized and JPEG recompressed; no subject alterations.
The photographed hardware illustrates the exam scenario; the lesson does not certify the pictured product has the hypothetical capabilities described.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all four. “Interface” accepted; “rule base” and “rules base” synonymous. The inference engine both selects questions and draws conclusions.
Exam-led revision: 21 Paper 1 papers and their published Cambridge mark schemes (2023–2025); 29 AI parts audited. Practice questions are adapted/paraphrased from the cited papers; official mark allocations retained. Model answers and teaching commentary are our own.
0478/12 May/June 2023 Q9(a)
QP: https://pastpapers.papacambridge.com/directories/CAIE/CAIE-pastpapers/upload/0478_s23_qp_12.pdf
MS: https://pastpapers.papacambridge.com/directories/CAIE/CAIE-pastpapers/upload/0478_s23_ms_12.pdf
0478/13 May/June 2023 Q7(a)
QP: https://pastpapers.papacambridge.com/directories/CAIE/CAIE-pastpapers/upload/0478_s23_qp_13.pdf
MS: https://pastpapers.papacambridge.com/directories/CAIE/CAIE-pastpapers/upload/0478_s23_ms_13.pdf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 printer example to teach roles before the different garage cloze. Naming a database without the role misses the actual term.
Exam-led revision: 21 Paper 1 papers and their published Cambridge mark schemes (2023–2025); 29 AI parts audited. Practice questions are adapted/paraphrased from the cited papers; official mark allocations retained. Model answers and teaching commentary are our own.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Task 3 independently. The full task adds component identification and a cloze with distractors.
Exam-led revision: 21 Paper 1 papers and their published Cambridge mark schemes (2023–2025); 29 AI parts audited. Practice questions are adapted/paraphrased from the cited papers; official mark allocations retained. Model answers and teaching commentary are our own.
0478/12 May/June 2023 Q9(b)
QP: https://pastpapers.papacambridge.com/directories/CAIE/CAIE-pastpapers/upload/0478_s23_qp_12.pdf
MS: https://pastpapers.papacambridge.com/directories/CAIE/CAIE-pastpapers/upload/0478_s23_ms_12.pdf
0478/13 May/June 2023 Q7(b)
QP: https://pastpapers.papacambridge.com/directories/CAIE/CAIE-pastpapers/upload/0478_s23_qp_13.pdf
MS: https://pastpapers.papacambridge.com/directories/CAIE/CAIE-pastpapers/upload/0478_s23_ms_13.pdf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only after the matching question has been attempted. Accepted ideas paraphrased from the published scheme; not every alternative is needed. Any two. Naming the component without what it does is not a description.
Exam-led revision: 21 Paper 1 papers and their published Cambridge mark schemes (2023–2025); 29 AI parts audited. Practice questions are adapted/paraphrased from the cited papers; official mark allocations retained. Model answers and teaching commentary are our own.
0478/12 May/June 2023 Q9(b)
QP: https://pastpapers.papacambridge.com/directories/CAIE/CAIE-pastpapers/upload/0478_s23_qp_12.pdf
MS: https://pastpapers.papacambridge.com/directories/CAIE/CAIE-pastpapers/upload/0478_s23_ms_12.pdf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missing adaptive-questioning detail from 2024 Q10(b) and 2025 Q5(a). This is rule-based question selection, not automatically machine learning.
Exam-led revision: 21 Paper 1 papers and their published Cambridge mark schemes (2023–2025); 29 AI parts audited. Practice questions are adapted/paraphrased from the cited papers; official mark allocations retained. Model answers and teaching commentary are our own.
0478/12 May/June 2024 Q10(b)
QP: https://pastpapers.papacambridge.com/directories/CAIE/CAIE-pastpapers/upload/0478_s24_qp_12.pdf
MS: https://pastpapers.papacambridge.com/directories/CAIE/CAIE-pastpapers/upload/0478_s24_ms_12.pdf
0478/12 May/June 2025 Q5(a)
QP: https://pastpapers.papacambridge.com/directories/CAIE/CAIE-pastpapers/upload/0478_s25_qp_12.pdf
MS: https://pastpapers.papacambridge.com/directories/CAIE/CAIE-pastpapers/upload/0478_s25_ms_12.pdfPhotograph: Chery_A1_-_service_shop_in_Ukraine_(7).jpg
Author: ANT Berezhnyi
Source: https://commons.wikimedia.org/wiki/File:Chery_A1_-_service_shop_in_Ukraine_%287%29.jpg
Licence: https://creativecommons.org/licenses/by/3.0/
Resized and JPEG recompressed; no subject alterations.
The photographed hardware illustrates the exam scenario; the lesson does not certify the pictured product has the hypothetical capabilities described.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model uses a printer, not the worksheet braking-fault example. In the garage question any five scheme points earn full credit; there is no compulsory five-step wording.
Exam-led revision: 21 Paper 1 papers and their published Cambridge mark schemes (2023–2025); 29 AI parts audited. Practice questions are adapted/paraphrased from the cited papers; official mark allocations retained. Model answers and teaching commentary are our own.
0478/12 May/June 2024 Q10(b)
QP: https://pastpapers.papacambridge.com/directories/CAIE/CAIE-pastpapers/upload/0478_s24_qp_12.pdf
MS: https://pastpapers.papacambridge.com/directories/CAIE/CAIE-pastpapers/upload/0478_s24_ms_12.pdf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Task 4. Underline what the question has already supplied. Mark the second answer for deciding the diagnosis, not for re-describing input/output.
Exam-led revision: 21 Paper 1 papers and their published Cambridge mark schemes (2023–2025); 29 AI parts audited. Practice questions are adapted/paraphrased from the cited papers; official mark allocations retained. Model answers and teaching commentary are our own.
0478/12 May/June 2024 Q10(b)
QP: https://pastpapers.papacambridge.com/directories/CAIE/CAIE-pastpapers/upload/0478_s24_qp_12.pdf
MS: https://pastpapers.papacambridge.com/directories/CAIE/CAIE-pastpapers/upload/0478_s24_ms_12.pdf
0478/12 May/June 2025 Q5(a)
QP: https://pastpapers.papacambridge.com/directories/CAIE/CAIE-pastpapers/upload/0478_s25_qp_12.pdf
MS: https://pastpapers.papacambridge.com/directories/CAIE/CAIE-pastpapers/upload/0478_s25_ms_12.pdf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only after the matching question has been attempted. Accepted ideas paraphrased from the published scheme; not every alternative is needed. Any three. Input and output have been given; focus on processing. Do not assume that writing “the doctor types” again earns a point.
Exam-led revision: 21 Paper 1 papers and their published Cambridge mark schemes (2023–2025); 29 AI parts audited. Practice questions are adapted/paraphrased from the cited papers; official mark allocations retained. Model answers and teaching commentary are our own.
0478/12 May/June 2025 Q5(a)
QP: https://pastpapers.papacambridge.com/directories/CAIE/CAIE-pastpapers/upload/0478_s25_qp_12.pdf
MS: https://pastpapers.papacambridge.com/directories/CAIE/CAIE-pastpapers/upload/0478_s25_ms_12.pdf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 Q10(b) is a four-mark capability question. Teach AI subset, training, pattern analysis, data/process adaptation, feedback. In actual systems learning may occur in training/retraining; do not imply every prediction automatically retrains.
Exam-led revision: 21 Paper 1 papers and their published Cambridge mark schemes (2023–2025); 29 AI parts audited. Practice questions are adapted/paraphrased from the cited papers; official mark allocations retained. Model answers and teaching commentary are our own.
0478/13 Oct/Nov 2023 Q10(b)
QP: https://pastpapers.papacambridge.com/directories/CAIE/CAIE-pastpapers/upload/0478_w23_qp_13.pdf
MS: https://pastpapers.papacambridge.com/directories/CAIE/CAIE-pastpapers/upload/0478_w23_ms_13.pdfPhotograph: Google_Home_sitting_on_table.jpg
Author: NDB Photos
Source: https://commons.wikimedia.org/wiki/File:Google_Home_sitting_on_table.jpg
Licence: https://creativecommons.org/licenses/by-sa/2.0/
Resized and JPEG recompressed; no subject alterations.
The photographed hardware illustrates the exam scenario; the lesson does not certify the pictured product has the hypothetical capabilities described.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general mechanism. The scheme often accepts data collection, pattern analysis, successful/unsuccessful results, feedback and automatic process changes. Training/test separation is a useful check, not the only type of learning.
Exam-led revision: 21 Paper 1 papers and their published Cambridge mark schemes (2023–2025); 29 AI parts audited. Practice questions are adapted/paraphrased from the cited papers; official mark allocations retained. Model answers and teaching commentary are our own.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2023 Q10(b) accepts trained/supervised/unsupervised alternatives; define briefly without requiring university ML detail. Separate test data checks performance on unseen examples.
Exam-led revision: 21 Paper 1 papers and their published Cambridge mark schemes (2023–2025); 29 AI parts audited. Practice questions are adapted/paraphrased from the cited papers; official mark allocations retained. Model answers and teaching commentary are our own.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different worked delivery-route example from the worksheet vacuum/maze. Mechanism transfers to March 2023 maze and November 2024 plough.
Exam-led revision: 21 Paper 1 papers and their published Cambridge mark schemes (2023–2025); 29 AI parts audited. Practice questions are adapted/paraphrased from the cited papers; official mark allocations retained. Model answers and teaching commentary are our own.
0478/12 Oct/Nov 2024 Q8(c)
QP: https://pastpapers.papacambridge.com/directories/CAIE/CAIE-pastpapers/upload/0478_w24_qp_12.pdf
MS: https://pastpapers.papacambridge.com/directories/CAIE/CAIE-pastpapers/upload/0478_w24_ms_12.pdf
0478/12 Feb/Mar 2023 Q6(d)(ii)
QP: https://pastpapers.papacambridge.com/directories/CAIE/CAIE-pastpapers/upload/0478_m23_qp_12.pdf
MS: https://pastpapers.papacambridge.com/directories/CAIE/CAIE-pastpapers/upload/0478_m23_ms_12.pdfPhotograph: Neato_XV-11.jpg
Author: Autopilot
Source: https://commons.wikimedia.org/wiki/File:Neato_XV-11.jpg
Licence: https://creativecommons.org/licenses/by-sa/3.0/
Resized and JPEG recompressed; no subject alterations.
The photographed hardware illustrates the exam scenario; the lesson does not certify the pictured product has the hypothetical capabilities described.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example: fixed map is simplified; AI can store unsuccessful/successful actions and use experience to avoid mistakes later. This is a mechanism illustration, not a full ML implementation.
Exam-led revision: 21 Paper 1 papers and their published Cambridge mark schemes (2023–2025); 29 AI parts audited. Practice questions are adapted/paraphrased from the cited papers; official mark allocations retained. Model answers and teaching commentary are our own.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Task 5: first the general four-mark capabilities question, then apply the mechanism to vacuum and maze. Treat each distinct linked idea as potential credit.
Exam-led revision: 21 Paper 1 papers and their published Cambridge mark schemes (2023–2025); 29 AI parts audited. Practice questions are adapted/paraphrased from the cited papers; official mark allocations retained. Model answers and teaching commentary are our own.
0478/12 Oct/Nov 2024 Q8(c)
QP: https://pastpapers.papacambridge.com/directories/CAIE/CAIE-pastpapers/upload/0478_w24_qp_12.pdf
MS: https://pastpapers.papacambridge.com/directories/CAIE/CAIE-pastpapers/upload/0478_w24_ms_12.pdf
0478/12 Feb/Mar 2023 Q6(d)(ii)
QP: https://pastpapers.papacambridge.com/directories/CAIE/CAIE-pastpapers/upload/0478_m23_qp_12.pdf
MS: https://pastpapers.papacambridge.com/directories/CAIE/CAIE-pastpapers/upload/0478_m23_ms_12.pdf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only after the matching question has been attempted. Accepted ideas paraphrased from the published scheme; not every alternative is needed. Any three. Link specific data to a changed future action, rather than “cleans better”.
Exam-led revision: 21 Paper 1 papers and their published Cambridge mark schemes (2023–2025); 29 AI parts audited. Practice questions are adapted/paraphrased from the cited papers; official mark allocations retained. Model answers and teaching commentary are our own.
0478/12 Oct/Nov 2024 Q8(c)
QP: https://pastpapers.papacambridge.com/directories/CAIE/CAIE-pastpapers/upload/0478_w24_qp_12.pdf
MS: https://pastpapers.papacambridge.com/directories/CAIE/CAIE-pastpapers/upload/0478_w24_ms_12.pdf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Task 6 before showing worked-answer slides 25–29. For a second lesson, attempt the full bank then show feedback. Booklet omits matching answer slides.
Exam-led revision: 21 Paper 1 papers and their published Cambridge mark schemes (2023–2025); 29 AI parts audited. Practice questions are adapted/paraphrased from the cited papers; official mark allocations retained. Model answers and teaching commentary are our own.
Photograph: NOAA_weather_station_at_Wake_Island_harbor.jpg
Author: NOAA / US government (photographer uncredited)
Source: https://commons.wikimedia.org/wiki/File:NOAA_weather_station_at_Wake_Island_harbor.jpg
Licence: https://commons.wikimedia.org/wiki/Commons:Copyright_rules_by_territory/United_States#Federal_works
Resized and JPEG recompressed; no subject alterations.
The photographed hardware illustrates the exam scenario; the lesson does not certify the pictured product has the hypothetical capabilities described.Photograph: Google_Home_sitting_on_table.jpg
Author: NDB Photos
Source: https://commons.wikimedia.org/wiki/File:Google_Home_sitting_on_table.jpg
Licence: https://creativecommons.org/licenses/by-sa/2.0/
Resized and JPEG recompressed; no subject alterations.
The photographed hardware illustrates the exam scenario; the lesson does not certify the pictured product has the hypothetical capabilities described.Photograph: Neato_XV-11.jpg
Author: Autopilot
Source: https://commons.wikimedia.org/wiki/File:Neato_XV-11.jpg
Licence: https://creativecommons.org/licenses/by-sa/3.0/
Resized and JPEG recompressed; no subject alterations.
The photographed hardware illustrates the exam scenario; the lesson does not certify the pictured product has the hypothetical capabilities described.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Attempt Task 6(c) independently. Photo shows representative hardware. Correct answer must explain improving recognition, not simply microphone input.
Exam-led revision: 21 Paper 1 papers and their published Cambridge mark schemes (2023–2025); 29 AI parts audited. Practice questions are adapted/paraphrased from the cited papers; official mark allocations retained. Model answers and teaching commentary are our own.
0478/12 Oct/Nov 2025 Q7(c)
QP: https://pastpapers.papacambridge.com/directories/CAIE/CAIE-pastpapers/upload/0478_w25_qp_12.pdf
MS: https://pastpapers.papacambridge.com/directories/CAIE/CAIE-pastpapers/upload/0478_w25_ms_12.pdfPhotograph: Google_Home_sitting_on_table.jpg
Author: NDB Photos
Source: https://commons.wikimedia.org/wiki/File:Google_Home_sitting_on_table.jpg
Licence: https://creativecommons.org/licenses/by-sa/2.0/
Resized and JPEG recompressed; no subject alterations.
The photographed hardware illustrates the exam scenario; the lesson does not certify the pictured product has the hypothetical capabilities described.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only after the matching question has been attempted. Accepted ideas paraphrased from the published scheme; not every alternative is needed. Any three. Merely searching a database or matching keywords does not show learning.
Exam-led revision: 21 Paper 1 papers and their published Cambridge mark schemes (2023–2025); 29 AI parts audited. Practice questions are adapted/paraphrased from the cited papers; official mark allocations retained. Model answers and teaching commentary are our own.
0478/12 Feb/Mar 2025 Q6(b)
QP: https://pastpapers.papacambridge.com/directories/CAIE/CAIE-pastpapers/upload/0478_m25_qp_12.pdf
MS: https://pastpapers.papacambridge.com/directories/CAIE/CAIE-pastpapers/upload/0478_m25_ms_12.pdf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after Task 6(b). Official scheme accepts patterns/predictions/feedback and seasonal examples. Photo shows a NOAA station; the hypothetical exam ML capability is not asserted for that station.
Exam-led revision: 21 Paper 1 papers and their published Cambridge mark schemes (2023–2025); 29 AI parts audited. Practice questions are adapted/paraphrased from the cited papers; official mark allocations retained. Model answers and teaching commentary are our own.
0478/13 May/June 2025 Q6(f)(ii)
QP: https://pastpapers.papacambridge.com/directories/CAIE/CAIE-pastpapers/upload/0478_s25_qp_13.pdf
MS: https://pastpapers.papacambridge.com/directories/CAIE/CAIE-pastpapers/upload/0478_s25_ms_13.pdfPhotograph: NOAA_weather_station_at_Wake_Island_harbor.jpg
Author: NOAA / US government (photographer uncredited)
Source: https://commons.wikimedia.org/wiki/File:NOAA_weather_station_at_Wake_Island_harbor.jpg
Licence: https://commons.wikimedia.org/wiki/Commons:Copyright_rules_by_territory/United_States#Federal_works
Resized and JPEG recompressed; no subject alterations.
The photographed hardware illustrates the exam scenario; the lesson does not certify the pictured product has the hypothetical capabilities described.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after Task 6(c). Any four accepted points; this is a model route, not the only answer. Accept accents, alternatives, noise or recognition when linked to learning.
Exam-led revision: 21 Paper 1 papers and their published Cambridge mark schemes (2023–2025); 29 AI parts audited. Practice questions are adapted/paraphrased from the cited papers; official mark allocations retained. Model answers and teaching commentary are our own.
0478/12 Oct/Nov 2025 Q7(c)
QP: https://pastpapers.papacambridge.com/directories/CAIE/CAIE-pastpapers/upload/0478_w25_qp_12.pdf
MS: https://pastpapers.papacambridge.com/directories/CAIE/CAIE-pastpapers/upload/0478_w25_ms_12.pdfPhotograph: Google_Home_sitting_on_table.jpg
Author: NDB Photos
Source: https://commons.wikimedia.org/wiki/File:Google_Home_sitting_on_table.jpg
Licence: https://creativecommons.org/licenses/by-sa/2.0/
Resized and JPEG recompressed; no subject alterations.
The photographed hardware illustrates the exam scenario; the lesson does not certify the pictured product has the hypothetical capabilities described.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only after the matching question has been attempted. Accepted ideas paraphrased from the published scheme; not every alternative is needed. Any three. Better graphics and faster hardware do not explain intelligent movement.
Exam-led revision: 21 Paper 1 papers and their published Cambridge mark schemes (2023–2025); 29 AI parts audited. Practice questions are adapted/paraphrased from the cited papers; official mark allocations retained. Model answers and teaching commentary are our own.
0478/13 Oct/Nov 2025 Q6(b)
QP: https://pastpapers.papacambridge.com/directories/CAIE/CAIE-pastpapers/upload/0478_w25_qp_13.pdf
MS: https://pastpapers.papacambridge.com/directories/CAIE/CAIE-pastpapers/upload/0478_w25_ms_13.pdf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only after the matching question has been attempted. Accepted ideas paraphrased from the published scheme; not every alternative is needed. Give three distinct ways, not three rewordings of “find the route”.
Exam-led revision: 21 Paper 1 papers and their published Cambridge mark schemes (2023–2025); 29 AI parts audited. Practice questions are adapted/paraphrased from the cited papers; official mark allocations retained. Model answers and teaching commentary are our own.
0478/11 Oct/Nov 2025 Q5(e)
QP: https://pastpapers.papacambridge.com/directories/CAIE/CAIE-pastpapers/upload/0478_w25_qp_11.pdf
MS: https://pastpapers.papacambridge.com/directories/CAIE/CAIE-pastpapers/upload/0478_w25_ms_11.pdf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after independent practice. Answers should be relevant, distinct and sufficient for the mark ceiling. Models do not replace accepted alternatives.
Exam-led revision: 21 Paper 1 papers and their published Cambridge mark schemes (2023–2025); 29 AI parts audited. Practice questions are adapted/paraphrased from the cited papers; official mark allocations retained. Model answers and teaching commentary are our own.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Suggested diagnostic answers in notes: KB facts, RB rules; engine selects questions/applies rules; ML collects labelled object images, learns patterns, predicts classes, uses feedback to improve. These original exit questions have no claimed official marks.
Exam-led revision: 21 Paper 1 papers and their published Cambridge mark schemes (2023–2025); 29 AI parts audited. Practice questions are adapted/paraphrased from the cited papers; official mark allocations retained. Model answers and teaching commentary are our own.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actual photographs, from Wikimedia Commons. No AI-generated photographs are used. Photos are resized/recompressed only; no subject alterations. Source and licence links follow; full credit manifest is in the repo.
Exam-led revision: 21 Paper 1 papers and their published Cambridge mark schemes (2023–2025); 29 AI parts audited. Practice questions are adapted/paraphrased from the cited papers; official mark allocations retained. Model answers and teaching commentary are our own.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based on the supplied Hodder pp.241–249 and published Cambridge schemes. QPs and MS PDFs were downloaded from PapaCambridge and checked; links in notes and coverage audit. No neural-network internals required.
Exam-led revision: 21 Paper 1 papers and their published Cambridge mark schemes (2023–2025); 29 AI parts audited. Practice questions are adapted/paraphrased from the cited papers; official mark allocations retained. Model answers and teaching commentary are our own.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hyperlink" Target="https://commons.wikimedia.org/wiki/File:KUKA_Industrial_Robots_IR.jpg" TargetMode="External"/><Relationship Id="rId2" Type="http://schemas.openxmlformats.org/officeDocument/2006/relationships/hyperlink" Target="https://creativecommons.org/licenses/by-sa/3.0/" TargetMode="External"/><Relationship Id="rId3" Type="http://schemas.openxmlformats.org/officeDocument/2006/relationships/hyperlink" Target="https://commons.wikimedia.org/wiki/File:Neato_XV-11.jpg" TargetMode="External"/><Relationship Id="rId4" Type="http://schemas.openxmlformats.org/officeDocument/2006/relationships/hyperlink" Target="https://creativecommons.org/licenses/by-sa/3.0/" TargetMode="External"/><Relationship Id="rId5" Type="http://schemas.openxmlformats.org/officeDocument/2006/relationships/hyperlink" Target="https://commons.wikimedia.org/wiki/File:Google_Home_sitting_on_table.jpg" TargetMode="External"/><Relationship Id="rId6" Type="http://schemas.openxmlformats.org/officeDocument/2006/relationships/hyperlink" Target="https://creativecommons.org/licenses/by-sa/2.0/" TargetMode="External"/><Relationship Id="rId7" Type="http://schemas.openxmlformats.org/officeDocument/2006/relationships/hyperlink" Target="https://commons.wikimedia.org/wiki/File:NOAA_weather_station_at_Wake_Island_harbor.jpg" TargetMode="External"/><Relationship Id="rId8" Type="http://schemas.openxmlformats.org/officeDocument/2006/relationships/hyperlink" Target="https://commons.wikimedia.org/wiki/Commons:Copyright_rules_by_territory/United_States#Federal_works" TargetMode="External"/><Relationship Id="rId9" Type="http://schemas.openxmlformats.org/officeDocument/2006/relationships/hyperlink" Target="https://commons.wikimedia.org/wiki/File:Chery_A1_-_service_shop_in_Ukraine_%287%29.jpg" TargetMode="External"/><Relationship Id="rId10" Type="http://schemas.openxmlformats.org/officeDocument/2006/relationships/hyperlink" Target="https://creativecommons.org/licenses/by/3.0/" TargetMode="External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0"/>
            <a:ext cx="4325112" cy="6858000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187452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48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Artificial</a:t>
            </a:r>
            <a:endParaRPr lang="en-US" sz="4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48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intelligence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3858768"/>
            <a:ext cx="6492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IGCSE 0478 · Paper 1 · 6.3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4681728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5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From real systems to creditworthy answers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8129016" y="950976"/>
            <a:ext cx="3675888" cy="4361688"/>
          </a:xfrm>
          <a:prstGeom prst="roundRect">
            <a:avLst>
              <a:gd name="adj" fmla="val 2985"/>
            </a:avLst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7" name="Image 0" descr="Google Home sitting on tab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30743" y="1005840"/>
            <a:ext cx="3472434" cy="42519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83880" y="53492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NDB Photos · CC BY-SA 2.0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8165592" y="5715000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3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How does it learn your voice?</a:t>
            </a:r>
            <a:endParaRPr lang="en-US" sz="2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Recall: robotics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Starter · 6 min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76656" y="1499616"/>
            <a:ext cx="5961888" cy="3813048"/>
          </a:xfrm>
          <a:prstGeom prst="roundRect">
            <a:avLst>
              <a:gd name="adj" fmla="val 2878"/>
            </a:avLst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8" name="Image 0" descr="KUKA Industrial Robots I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2644" y="1554480"/>
            <a:ext cx="5569913" cy="3703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534924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Mixabest · CC BY-SA 3.0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6949440" y="1737360"/>
            <a:ext cx="4297680" cy="914400"/>
          </a:xfrm>
          <a:prstGeom prst="roundRect">
            <a:avLst>
              <a:gd name="adj" fmla="val 12000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077456" y="1892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7589520" y="1856232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Three robot characteristics</a:t>
            </a:r>
            <a:endParaRPr lang="en-US" sz="2000" dirty="0"/>
          </a:p>
        </p:txBody>
      </p:sp>
      <p:sp>
        <p:nvSpPr>
          <p:cNvPr id="14" name="Shape 9"/>
          <p:cNvSpPr/>
          <p:nvPr/>
        </p:nvSpPr>
        <p:spPr>
          <a:xfrm>
            <a:off x="6949440" y="2743200"/>
            <a:ext cx="4297680" cy="914400"/>
          </a:xfrm>
          <a:prstGeom prst="roundRect">
            <a:avLst>
              <a:gd name="adj" fmla="val 12000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077456" y="2898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7589520" y="2862072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Sensor → processor → actuator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6949440" y="3749040"/>
            <a:ext cx="4297680" cy="914400"/>
          </a:xfrm>
          <a:prstGeom prst="roundRect">
            <a:avLst>
              <a:gd name="adj" fmla="val 12000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077456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7589520" y="3867912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 safety decision at 1 metre</a:t>
            </a:r>
            <a:endParaRPr lang="en-US" sz="2000" dirty="0"/>
          </a:p>
        </p:txBody>
      </p:sp>
      <p:sp>
        <p:nvSpPr>
          <p:cNvPr id="20" name="Text 15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Closed book first. A robot repeating stored instructions need not use AI.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What the papers actually ask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Exam roadmap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3</a:t>
            </a:r>
            <a:endParaRPr lang="en-US" sz="13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08760"/>
          <a:ext cx="1078992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5836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50" b="1" dirty="0">
                          <a:solidFill>
                            <a:srgbClr val="FFFFFF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Question family</a:t>
                      </a:r>
                      <a:endParaRPr lang="en-US" sz="185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498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50" b="1" dirty="0">
                          <a:solidFill>
                            <a:srgbClr val="FFFFFF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Your answer must show</a:t>
                      </a:r>
                      <a:endParaRPr lang="en-US" sz="185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498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Define / identify characteristics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Distinct features; obey “other” and the given information.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Components / roles / cloze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Name accurately; distinguish facts, rules and applying them.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Explain expert-system operation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Questions → evidence → rule application → diagnosis.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Explain learning in a scenario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Specific data → patterns/results → changed future action.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Transfer to a new application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Weather, voice, search, routes or game behaviour.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Tasks 2–6 adapt 20 real past-paper parts. Use Task 6 as follow-up practice.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AI: what earns a definition mark?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Learn · Task 2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4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373368"/>
            <a:ext cx="10012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0478/13 Oct/Nov 2025 Q6(a)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76656" y="1499616"/>
            <a:ext cx="4864608" cy="3584448"/>
          </a:xfrm>
          <a:prstGeom prst="roundRect">
            <a:avLst>
              <a:gd name="adj" fmla="val 3061"/>
            </a:avLst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9" name="Image 0" descr="KUKA Industrial Robots I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11129"/>
            <a:ext cx="4754880" cy="316142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5120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Mixabest · CC BY-SA 3.0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5943600" y="1554480"/>
            <a:ext cx="5303520" cy="795528"/>
          </a:xfrm>
          <a:prstGeom prst="roundRect">
            <a:avLst>
              <a:gd name="adj" fmla="val 1379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071616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6583680" y="1673352"/>
            <a:ext cx="44348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Simulates intelligent behaviour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943600" y="2441448"/>
            <a:ext cx="5303520" cy="795528"/>
          </a:xfrm>
          <a:prstGeom prst="roundRect">
            <a:avLst>
              <a:gd name="adj" fmla="val 1379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071616" y="25968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583680" y="2560320"/>
            <a:ext cx="44348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Uses data and rules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5943600" y="3328416"/>
            <a:ext cx="5303520" cy="795528"/>
          </a:xfrm>
          <a:prstGeom prst="roundRect">
            <a:avLst>
              <a:gd name="adj" fmla="val 1379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071616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6583680" y="3447288"/>
            <a:ext cx="44348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Can reason / make decisions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5943600" y="4215384"/>
            <a:ext cx="5303520" cy="795528"/>
          </a:xfrm>
          <a:prstGeom prst="roundRect">
            <a:avLst>
              <a:gd name="adj" fmla="val 1379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071616" y="4370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4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6583680" y="4334256"/>
            <a:ext cx="44348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Can learn or adapt</a:t>
            </a:r>
            <a:endParaRPr lang="en-US" sz="2000" dirty="0"/>
          </a:p>
        </p:txBody>
      </p:sp>
      <p:sp>
        <p:nvSpPr>
          <p:cNvPr id="24" name="Text 19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“It is smart” is vague. Connect the word AI to a feature you can describe.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When the question says “OTHER”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Exam reading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5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373368"/>
            <a:ext cx="10012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0478/12 Feb/Mar 2025 Q6(a)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77240" y="155448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FF4C7"/>
          </a:solidFill>
          <a:ln w="12700">
            <a:solidFill>
              <a:srgbClr val="FFF4C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5840" y="177393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3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Given feature: learning. You must supply three OTHER features.</a:t>
            </a:r>
            <a:endParaRPr lang="en-US" sz="2300" dirty="0"/>
          </a:p>
        </p:txBody>
      </p:sp>
      <p:sp>
        <p:nvSpPr>
          <p:cNvPr id="10" name="Shape 7"/>
          <p:cNvSpPr/>
          <p:nvPr/>
        </p:nvSpPr>
        <p:spPr>
          <a:xfrm>
            <a:off x="777240" y="2651760"/>
            <a:ext cx="10607040" cy="777240"/>
          </a:xfrm>
          <a:prstGeom prst="roundRect">
            <a:avLst>
              <a:gd name="adj" fmla="val 14118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05256" y="2807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770632"/>
            <a:ext cx="9738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3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Read which feature has already been supplied.</a:t>
            </a:r>
            <a:endParaRPr lang="en-US" sz="2300" dirty="0"/>
          </a:p>
        </p:txBody>
      </p:sp>
      <p:sp>
        <p:nvSpPr>
          <p:cNvPr id="13" name="Shape 10"/>
          <p:cNvSpPr/>
          <p:nvPr/>
        </p:nvSpPr>
        <p:spPr>
          <a:xfrm>
            <a:off x="777240" y="3520440"/>
            <a:ext cx="10607040" cy="777240"/>
          </a:xfrm>
          <a:prstGeom prst="roundRect">
            <a:avLst>
              <a:gd name="adj" fmla="val 14118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05256" y="3675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3639312"/>
            <a:ext cx="9738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3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Cross it out in your mental list.</a:t>
            </a:r>
            <a:endParaRPr lang="en-US" sz="2300" dirty="0"/>
          </a:p>
        </p:txBody>
      </p:sp>
      <p:sp>
        <p:nvSpPr>
          <p:cNvPr id="16" name="Shape 13"/>
          <p:cNvSpPr/>
          <p:nvPr/>
        </p:nvSpPr>
        <p:spPr>
          <a:xfrm>
            <a:off x="777240" y="4389120"/>
            <a:ext cx="10607040" cy="777240"/>
          </a:xfrm>
          <a:prstGeom prst="roundRect">
            <a:avLst>
              <a:gd name="adj" fmla="val 14118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05256" y="4544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4507992"/>
            <a:ext cx="9738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3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Write three different remaining features.</a:t>
            </a:r>
            <a:endParaRPr lang="en-US" sz="23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Now attempt Task 2: definition, characteristics and recognising machine learning.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 three-mark answer: three ideas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Check after practice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6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373368"/>
            <a:ext cx="10012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0478/13 Oct/Nov 2025 Q6(a)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77240" y="155448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05256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1673352"/>
            <a:ext cx="9738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Computers simulate intelligent behaviour.  → one idea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77240" y="246888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05256" y="2624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417320" y="2587752"/>
            <a:ext cx="9738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They use data and rules for that data.  → another idea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777240" y="338328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5256" y="3538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3502152"/>
            <a:ext cx="9738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They can learn from experience.  → a third idea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“Computer” + “intelligent” is not automatically two marks. Check the actual mark scheme.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Expertise for a specific problem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Learn · Task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7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76656" y="1499616"/>
            <a:ext cx="6053328" cy="3813048"/>
          </a:xfrm>
          <a:prstGeom prst="roundRect">
            <a:avLst>
              <a:gd name="adj" fmla="val 2878"/>
            </a:avLst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8" name="Image 0" descr="Chery A1 - service shop in Ukraine (7)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554480"/>
            <a:ext cx="4937760" cy="3703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534924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ANT Berezhnyi · CC BY 3.0</a:t>
            </a:r>
            <a:endParaRPr lang="en-US" sz="1000" dirty="0"/>
          </a:p>
        </p:txBody>
      </p:sp>
      <p:sp>
        <p:nvSpPr>
          <p:cNvPr id="11" name="Text 6"/>
          <p:cNvSpPr txBox="1"/>
          <p:nvPr/>
        </p:nvSpPr>
        <p:spPr>
          <a:xfrm>
            <a:off x="7040880" y="1783080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9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 car’s brakes are faulty.</a:t>
            </a:r>
            <a:endParaRPr lang="en-US" sz="2900" dirty="0"/>
          </a:p>
        </p:txBody>
      </p:sp>
      <p:sp>
        <p:nvSpPr>
          <p:cNvPr id="12" name="Text 7"/>
          <p:cNvSpPr txBox="1"/>
          <p:nvPr/>
        </p:nvSpPr>
        <p:spPr>
          <a:xfrm>
            <a:off x="7040880" y="2926080"/>
            <a:ext cx="4297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3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What would a mechanic ask?</a:t>
            </a:r>
            <a:endParaRPr lang="en-US" sz="2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3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What facts would they need?</a:t>
            </a:r>
            <a:endParaRPr lang="en-US" sz="2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3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What rules connect them?</a:t>
            </a:r>
            <a:endParaRPr lang="en-US" sz="230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An expert system captures expertise in a domain; it does not “know everything”.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Four core components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Learn · Task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8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373368"/>
            <a:ext cx="10012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0478/12 May/June 2023 Q9(a) · 0478/13 May/June 2023 Q7(a)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31520" y="2423160"/>
            <a:ext cx="2743200" cy="1874520"/>
          </a:xfrm>
          <a:prstGeom prst="roundRect">
            <a:avLst>
              <a:gd name="adj" fmla="val 5854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86968" y="2606040"/>
            <a:ext cx="24323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Interface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886968" y="3337560"/>
            <a:ext cx="2432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Input answers; display questions and advice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4297680" y="2423160"/>
            <a:ext cx="3337560" cy="1874520"/>
          </a:xfrm>
          <a:prstGeom prst="roundRect">
            <a:avLst>
              <a:gd name="adj" fmla="val 5854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53128" y="2606040"/>
            <a:ext cx="30266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Inference engine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453128" y="3337560"/>
            <a:ext cx="3026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Choose questions; apply rules; decide</a:t>
            </a:r>
            <a:endParaRPr lang="en-US" sz="1900" dirty="0"/>
          </a:p>
        </p:txBody>
      </p:sp>
      <p:sp>
        <p:nvSpPr>
          <p:cNvPr id="14" name="Shape 11"/>
          <p:cNvSpPr/>
          <p:nvPr/>
        </p:nvSpPr>
        <p:spPr>
          <a:xfrm>
            <a:off x="8321040" y="1463040"/>
            <a:ext cx="3017520" cy="1600200"/>
          </a:xfrm>
          <a:prstGeom prst="roundRect">
            <a:avLst>
              <a:gd name="adj" fmla="val 6857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76488" y="1645920"/>
            <a:ext cx="2706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Knowledge base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8476488" y="2377440"/>
            <a:ext cx="2706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Stores expert facts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8321040" y="3840480"/>
            <a:ext cx="3017520" cy="1600200"/>
          </a:xfrm>
          <a:prstGeom prst="roundRect">
            <a:avLst>
              <a:gd name="adj" fmla="val 6857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76488" y="4023360"/>
            <a:ext cx="27066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Rule base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8476488" y="4754880"/>
            <a:ext cx="2706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Stores IF–THEN rules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3520440" y="2880360"/>
            <a:ext cx="685800" cy="914"/>
          </a:xfrm>
          <a:prstGeom prst="line">
            <a:avLst/>
          </a:prstGeom>
          <a:noFill/>
          <a:ln w="25400">
            <a:solidFill>
              <a:srgbClr val="494985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H="1">
            <a:off x="3520440" y="3840480"/>
            <a:ext cx="685800" cy="914"/>
          </a:xfrm>
          <a:prstGeom prst="line">
            <a:avLst/>
          </a:prstGeom>
          <a:noFill/>
          <a:ln w="25400">
            <a:solidFill>
              <a:srgbClr val="494985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 flipH="1">
            <a:off x="7680960" y="2514600"/>
            <a:ext cx="594360" cy="457200"/>
          </a:xfrm>
          <a:prstGeom prst="line">
            <a:avLst/>
          </a:prstGeom>
          <a:noFill/>
          <a:ln w="25400">
            <a:solidFill>
              <a:srgbClr val="494985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 flipH="1" flipV="1">
            <a:off x="7680960" y="3840480"/>
            <a:ext cx="594360" cy="594360"/>
          </a:xfrm>
          <a:prstGeom prst="line">
            <a:avLst/>
          </a:prstGeom>
          <a:noFill/>
          <a:ln w="25400">
            <a:solidFill>
              <a:srgbClr val="494985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Facts ≠ rules ≠ the component that applies rules.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Facts, rules and the engine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Learn · Task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9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00200"/>
          <a:ext cx="107899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589520"/>
              </a:tblGrid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50" b="1" dirty="0">
                          <a:solidFill>
                            <a:srgbClr val="FFFFFF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Component</a:t>
                      </a:r>
                      <a:endParaRPr lang="en-US" sz="195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498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50" b="1" dirty="0">
                          <a:solidFill>
                            <a:srgbClr val="FFFFFF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Printer-fault example</a:t>
                      </a:r>
                      <a:endParaRPr lang="en-US" sz="195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4985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Knowledge base</a:t>
                      </a:r>
                      <a:endParaRPr lang="en-US" sz="19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Stores facts about printer faults and symptoms.</a:t>
                      </a:r>
                      <a:endParaRPr lang="en-US" sz="19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Rule base</a:t>
                      </a:r>
                      <a:endParaRPr lang="en-US" sz="19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IF powered on AND tray empty THEN recommend loading paper.</a:t>
                      </a:r>
                      <a:endParaRPr lang="en-US" sz="19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Inference engine</a:t>
                      </a:r>
                      <a:endParaRPr lang="en-US" sz="19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Matches the answers to facts/rules and selects advice.</a:t>
                      </a:r>
                      <a:endParaRPr lang="en-US" sz="19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Interface</a:t>
                      </a:r>
                      <a:endParaRPr lang="en-US" sz="19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9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Asks about the tray and displays the recommendation.</a:t>
                      </a:r>
                      <a:endParaRPr lang="en-US" sz="19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For “identify”, give the name. For “describe”, explain the job.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Names are not the same as roles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Try independently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10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373368"/>
            <a:ext cx="10012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0478/12 May/June 2023 Q9(b) · 0478/13 May/June 2023 Q7(b)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31520" y="1508760"/>
            <a:ext cx="10652760" cy="1325880"/>
          </a:xfrm>
          <a:prstGeom prst="roundRect">
            <a:avLst>
              <a:gd name="adj" fmla="val 8276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96112" y="1691640"/>
            <a:ext cx="9784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Describe the role of the inference engine in an expert system.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0378440" y="23774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[2]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31520" y="3063240"/>
            <a:ext cx="10652760" cy="1325880"/>
          </a:xfrm>
          <a:prstGeom prst="roundRect">
            <a:avLst>
              <a:gd name="adj" fmla="val 8276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96112" y="3246120"/>
            <a:ext cx="9784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Describe the role of the rule base in an expert system.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0378440" y="39319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[2]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Write first. Then underline one distinct idea for each mark you are claiming.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How a two-mark role answer works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Check after practice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11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373368"/>
            <a:ext cx="10012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0478/12 May/June 2023 Q9(b)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77240" y="155448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05256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1673352"/>
            <a:ext cx="9738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It applies the stored rules to facts in the knowledge base.  → mechanism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77240" y="246888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05256" y="2624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417320" y="2587752"/>
            <a:ext cx="9738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It produces a diagnosis / decision from that evidence.  → result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Maximum 2: mechanism + result. Splitting one accepted idea into phrases adds no marks.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 next question depends on the answer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Expert-system process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12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373368"/>
            <a:ext cx="10012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0478/12 May/June 2024 Q10(b) · 0478/12 May/June 2025 Q5(a)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76656" y="1499616"/>
            <a:ext cx="4544568" cy="3584448"/>
          </a:xfrm>
          <a:prstGeom prst="roundRect">
            <a:avLst>
              <a:gd name="adj" fmla="val 3061"/>
            </a:avLst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9" name="Image 0" descr="Chery A1 - service shop in Ukraine (7)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28775"/>
            <a:ext cx="4434840" cy="332613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5120640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ANT Berezhnyi · CC BY 3.0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5532120" y="1554480"/>
            <a:ext cx="5715000" cy="914400"/>
          </a:xfrm>
          <a:prstGeom prst="roundRect">
            <a:avLst>
              <a:gd name="adj" fmla="val 12000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715000" y="178308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Question: does the brake pedal feel soft?</a:t>
            </a:r>
            <a:endParaRPr lang="en-US" sz="2200" dirty="0"/>
          </a:p>
        </p:txBody>
      </p:sp>
      <p:sp>
        <p:nvSpPr>
          <p:cNvPr id="14" name="Text 9"/>
          <p:cNvSpPr txBox="1"/>
          <p:nvPr/>
        </p:nvSpPr>
        <p:spPr>
          <a:xfrm>
            <a:off x="5669280" y="2834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YES</a:t>
            </a:r>
            <a:endParaRPr lang="en-US" sz="2100" dirty="0"/>
          </a:p>
        </p:txBody>
      </p:sp>
      <p:sp>
        <p:nvSpPr>
          <p:cNvPr id="15" name="Text 10"/>
          <p:cNvSpPr txBox="1"/>
          <p:nvPr/>
        </p:nvSpPr>
        <p:spPr>
          <a:xfrm>
            <a:off x="8823960" y="2834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NO</a:t>
            </a:r>
            <a:endParaRPr lang="en-US" sz="2100" dirty="0"/>
          </a:p>
        </p:txBody>
      </p:sp>
      <p:sp>
        <p:nvSpPr>
          <p:cNvPr id="16" name="Shape 11"/>
          <p:cNvSpPr/>
          <p:nvPr/>
        </p:nvSpPr>
        <p:spPr>
          <a:xfrm flipH="1">
            <a:off x="6583680" y="2606040"/>
            <a:ext cx="914400" cy="914400"/>
          </a:xfrm>
          <a:prstGeom prst="line">
            <a:avLst/>
          </a:prstGeom>
          <a:noFill/>
          <a:ln w="25400">
            <a:solidFill>
              <a:srgbClr val="494985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498080" y="2606040"/>
            <a:ext cx="2240280" cy="914400"/>
          </a:xfrm>
          <a:prstGeom prst="line">
            <a:avLst/>
          </a:prstGeom>
          <a:noFill/>
          <a:ln w="25400">
            <a:solidFill>
              <a:srgbClr val="494985"/>
            </a:solidFill>
            <a:prstDash val="solid"/>
            <a:tailEnd type="triangle"/>
          </a:ln>
        </p:spPr>
      </p:sp>
      <p:sp>
        <p:nvSpPr>
          <p:cNvPr id="18" name="Shape 13"/>
          <p:cNvSpPr/>
          <p:nvPr/>
        </p:nvSpPr>
        <p:spPr>
          <a:xfrm>
            <a:off x="5577840" y="3657600"/>
            <a:ext cx="2560320" cy="1280160"/>
          </a:xfrm>
          <a:prstGeom prst="roundRect">
            <a:avLst>
              <a:gd name="adj" fmla="val 8571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778240" y="3657600"/>
            <a:ext cx="2560320" cy="1280160"/>
          </a:xfrm>
          <a:prstGeom prst="roundRect">
            <a:avLst>
              <a:gd name="adj" fmla="val 8571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742432" y="388620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Ask about fluid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and leaks.</a:t>
            </a:r>
            <a:endParaRPr lang="en-US" sz="2000" dirty="0"/>
          </a:p>
        </p:txBody>
      </p:sp>
      <p:sp>
        <p:nvSpPr>
          <p:cNvPr id="21" name="Text 16"/>
          <p:cNvSpPr txBox="1"/>
          <p:nvPr/>
        </p:nvSpPr>
        <p:spPr>
          <a:xfrm>
            <a:off x="8942832" y="3886200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Ask about noise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and vibration.</a:t>
            </a:r>
            <a:endParaRPr lang="en-US" sz="2000" dirty="0"/>
          </a:p>
        </p:txBody>
      </p:sp>
      <p:sp>
        <p:nvSpPr>
          <p:cNvPr id="22" name="Text 17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 inference engine chooses follow-up questions using previous answers. Simplified example.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Turn a process into a five-mark answer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Answer structure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13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373368"/>
            <a:ext cx="10012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0478/12 May/June 2024 Q10(b)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77240" y="1508760"/>
            <a:ext cx="10607040" cy="694944"/>
          </a:xfrm>
          <a:prstGeom prst="roundRect">
            <a:avLst>
              <a:gd name="adj" fmla="val 15789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05256" y="16642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1627632"/>
            <a:ext cx="9738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User enters printer symptoms through the interface.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777240" y="2295144"/>
            <a:ext cx="10607040" cy="694944"/>
          </a:xfrm>
          <a:prstGeom prst="roundRect">
            <a:avLst>
              <a:gd name="adj" fmla="val 15789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05256" y="2450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417320" y="2414016"/>
            <a:ext cx="9738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Inference engine chooses questions from previous answers.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777240" y="3081528"/>
            <a:ext cx="10607040" cy="694944"/>
          </a:xfrm>
          <a:prstGeom prst="roundRect">
            <a:avLst>
              <a:gd name="adj" fmla="val 15789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5256" y="32369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3200400"/>
            <a:ext cx="9738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It compares evidence with facts in the knowledge base.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777240" y="3867912"/>
            <a:ext cx="10607040" cy="694944"/>
          </a:xfrm>
          <a:prstGeom prst="roundRect">
            <a:avLst>
              <a:gd name="adj" fmla="val 15789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05256" y="4023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4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417320" y="3986784"/>
            <a:ext cx="9738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It applies rules to decide a likely printer fault.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777240" y="4654296"/>
            <a:ext cx="10607040" cy="694944"/>
          </a:xfrm>
          <a:prstGeom prst="roundRect">
            <a:avLst>
              <a:gd name="adj" fmla="val 15789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05256" y="48097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1417320" y="4773168"/>
            <a:ext cx="9738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 interface displays the diagnosis / advice.</a:t>
            </a:r>
            <a:endParaRPr lang="en-US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Optional extra: an explanation system shows how the diagnosis was reached.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Full workflow or processing only?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Try independently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14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373368"/>
            <a:ext cx="10012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0478/12 May/June 2024 Q10(b) · 0478/12 May/June 2025 Q5(a)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31520" y="1508760"/>
            <a:ext cx="10652760" cy="1325880"/>
          </a:xfrm>
          <a:prstGeom prst="roundRect">
            <a:avLst>
              <a:gd name="adj" fmla="val 8276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96112" y="1691640"/>
            <a:ext cx="9784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 car with faulty brakes arrives at a garage. Explain how its expert system operates to help diagnose the fault.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0378440" y="23774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[5]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31520" y="3063240"/>
            <a:ext cx="10652760" cy="1325880"/>
          </a:xfrm>
          <a:prstGeom prst="roundRect">
            <a:avLst>
              <a:gd name="adj" fmla="val 8276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96112" y="3246120"/>
            <a:ext cx="9784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 doctor has already entered symptoms through an interface. A diagnosis will be output. Describe how the expert system DECIDES that diagnosis.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0378440" y="39319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[3]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Write first. Then underline one distinct idea for each mark you are claiming.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Do not spend marks on given information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Check after practice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15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373368"/>
            <a:ext cx="10012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0478/12 May/June 2025 Q5(a)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77240" y="155448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05256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1673352"/>
            <a:ext cx="9738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 inference engine is used to decide the diagnosis.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77240" y="246888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05256" y="2624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417320" y="2587752"/>
            <a:ext cx="9738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It chooses follow-up questions from earlier symptom answers.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777240" y="338328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5256" y="3538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3502152"/>
            <a:ext cx="9738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It matches symptoms to the knowledge base and applies rules.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 question already gives input and output. Explain the processing in between.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Machine learning: more than “it learns”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Learn · Task 5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16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373368"/>
            <a:ext cx="10012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0478/13 Oct/Nov 2023 Q10(b)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76656" y="1499616"/>
            <a:ext cx="4224528" cy="3630168"/>
          </a:xfrm>
          <a:prstGeom prst="roundRect">
            <a:avLst>
              <a:gd name="adj" fmla="val 3023"/>
            </a:avLst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9" name="Image 0" descr="Google Home sitting on tab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51407" y="1554480"/>
            <a:ext cx="2875026" cy="35204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516636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NDB Photos · CC BY-SA 2.0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5394960" y="1554480"/>
            <a:ext cx="5852160" cy="795528"/>
          </a:xfrm>
          <a:prstGeom prst="roundRect">
            <a:avLst>
              <a:gd name="adj" fmla="val 1379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522976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6035040" y="1673352"/>
            <a:ext cx="49834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 form of artificial intelligence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394960" y="2441448"/>
            <a:ext cx="5852160" cy="795528"/>
          </a:xfrm>
          <a:prstGeom prst="roundRect">
            <a:avLst>
              <a:gd name="adj" fmla="val 1379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522976" y="25968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035040" y="2560320"/>
            <a:ext cx="49834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Trained using examples / experience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5394960" y="3328416"/>
            <a:ext cx="5852160" cy="795528"/>
          </a:xfrm>
          <a:prstGeom prst="roundRect">
            <a:avLst>
              <a:gd name="adj" fmla="val 1379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522976" y="34838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6035040" y="3447288"/>
            <a:ext cx="49834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Can automatically adapt its own processes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5394960" y="4215384"/>
            <a:ext cx="5852160" cy="795528"/>
          </a:xfrm>
          <a:prstGeom prst="roundRect">
            <a:avLst>
              <a:gd name="adj" fmla="val 1379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522976" y="43708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4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6035040" y="4334256"/>
            <a:ext cx="498348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Can change its own data</a:t>
            </a:r>
            <a:endParaRPr lang="en-US" sz="2000" dirty="0"/>
          </a:p>
        </p:txBody>
      </p:sp>
      <p:sp>
        <p:nvSpPr>
          <p:cNvPr id="24" name="Text 19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Conventional expert rules can be fixed; a system can also combine expert rules with ML.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 learning-and-improvement loop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Learn · Task 5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17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731520" y="1828800"/>
            <a:ext cx="2487168" cy="2331720"/>
          </a:xfrm>
          <a:prstGeom prst="roundRect">
            <a:avLst>
              <a:gd name="adj" fmla="val 4706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210312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3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DATA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292608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Past examples / experience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3255264" y="2788920"/>
            <a:ext cx="201168" cy="914"/>
          </a:xfrm>
          <a:prstGeom prst="line">
            <a:avLst/>
          </a:prstGeom>
          <a:noFill/>
          <a:ln w="25400">
            <a:solidFill>
              <a:srgbClr val="494985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493008" y="1828800"/>
            <a:ext cx="2487168" cy="2331720"/>
          </a:xfrm>
          <a:prstGeom prst="roundRect">
            <a:avLst>
              <a:gd name="adj" fmla="val 4706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30168" y="210312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3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PATTERNS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3675888" y="292608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Find relationships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6016752" y="2788920"/>
            <a:ext cx="201168" cy="914"/>
          </a:xfrm>
          <a:prstGeom prst="line">
            <a:avLst/>
          </a:prstGeom>
          <a:noFill/>
          <a:ln w="25400">
            <a:solidFill>
              <a:srgbClr val="494985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6254496" y="1828800"/>
            <a:ext cx="2487168" cy="2331720"/>
          </a:xfrm>
          <a:prstGeom prst="roundRect">
            <a:avLst>
              <a:gd name="adj" fmla="val 4706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91656" y="210312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3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DECISION</a:t>
            </a:r>
            <a:endParaRPr lang="en-US" sz="2300" dirty="0"/>
          </a:p>
        </p:txBody>
      </p:sp>
      <p:sp>
        <p:nvSpPr>
          <p:cNvPr id="17" name="Text 14"/>
          <p:cNvSpPr txBox="1"/>
          <p:nvPr/>
        </p:nvSpPr>
        <p:spPr>
          <a:xfrm>
            <a:off x="6437376" y="292608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Predict or choose</a:t>
            </a:r>
            <a:endParaRPr lang="en-US" sz="2100" dirty="0"/>
          </a:p>
        </p:txBody>
      </p:sp>
      <p:sp>
        <p:nvSpPr>
          <p:cNvPr id="18" name="Shape 15"/>
          <p:cNvSpPr/>
          <p:nvPr/>
        </p:nvSpPr>
        <p:spPr>
          <a:xfrm>
            <a:off x="8778240" y="2788920"/>
            <a:ext cx="201168" cy="914"/>
          </a:xfrm>
          <a:prstGeom prst="line">
            <a:avLst/>
          </a:prstGeom>
          <a:noFill/>
          <a:ln w="25400">
            <a:solidFill>
              <a:srgbClr val="494985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9015984" y="1828800"/>
            <a:ext cx="2487168" cy="2331720"/>
          </a:xfrm>
          <a:prstGeom prst="roundRect">
            <a:avLst>
              <a:gd name="adj" fmla="val 4706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153144" y="210312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3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FEEDBACK</a:t>
            </a:r>
            <a:endParaRPr lang="en-US" sz="2300" dirty="0"/>
          </a:p>
        </p:txBody>
      </p:sp>
      <p:sp>
        <p:nvSpPr>
          <p:cNvPr id="21" name="Text 18"/>
          <p:cNvSpPr txBox="1"/>
          <p:nvPr/>
        </p:nvSpPr>
        <p:spPr>
          <a:xfrm>
            <a:off x="9198864" y="292608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Check success / failure</a:t>
            </a:r>
            <a:endParaRPr lang="en-US" sz="2100" dirty="0"/>
          </a:p>
        </p:txBody>
      </p:sp>
      <p:sp>
        <p:nvSpPr>
          <p:cNvPr id="22" name="Shape 19"/>
          <p:cNvSpPr/>
          <p:nvPr/>
        </p:nvSpPr>
        <p:spPr>
          <a:xfrm>
            <a:off x="10424160" y="4389120"/>
            <a:ext cx="914" cy="731520"/>
          </a:xfrm>
          <a:prstGeom prst="line">
            <a:avLst/>
          </a:prstGeom>
          <a:noFill/>
          <a:ln w="25400">
            <a:solidFill>
              <a:srgbClr val="494985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 flipH="1">
            <a:off x="1828800" y="5120640"/>
            <a:ext cx="8595360" cy="914"/>
          </a:xfrm>
          <a:prstGeom prst="line">
            <a:avLst/>
          </a:prstGeom>
          <a:noFill/>
          <a:ln w="25400">
            <a:solidFill>
              <a:srgbClr val="494985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 flipV="1">
            <a:off x="1828800" y="4389120"/>
            <a:ext cx="914" cy="731520"/>
          </a:xfrm>
          <a:prstGeom prst="line">
            <a:avLst/>
          </a:prstGeom>
          <a:noFill/>
          <a:ln w="25400">
            <a:solidFill>
              <a:srgbClr val="494985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286000" y="469087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Feedback → update data / processes → improve later decisions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Explain what changes in THIS scenario. “It gets better” alone is too vague.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Training and testing: keep them separate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Learning detail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18</a:t>
            </a:r>
            <a:endParaRPr lang="en-US" sz="13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08760"/>
          <a:ext cx="107899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498080"/>
              </a:tblGrid>
              <a:tr h="8321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50" b="1" dirty="0">
                          <a:solidFill>
                            <a:srgbClr val="FFFFFF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Method / stage</a:t>
                      </a:r>
                      <a:endParaRPr lang="en-US" sz="185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498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50" b="1" dirty="0">
                          <a:solidFill>
                            <a:srgbClr val="FFFFFF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What happens</a:t>
                      </a:r>
                      <a:endParaRPr lang="en-US" sz="185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4985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Supervised training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Examples include the desired output (e.g. voice → intended command).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Unsupervised training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Input is supplied; the system discovers patterns without supplied output labels.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Held-out testing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Use examples kept out of training; compare predictions with known outcomes.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</a:tr>
              <a:tr h="8321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Improvement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Use appropriate feedback; update and evaluate again.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These are alternatives or supporting checks—not a required list for every AI question.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Learning routes: make the change explicit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Learn · Task 5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19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373368"/>
            <a:ext cx="10012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0478/12 Oct/Nov 2024 Q8(c) · 0478/12 Feb/Mar 2023 Q6(d)(ii)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76656" y="1499616"/>
            <a:ext cx="5184648" cy="3538728"/>
          </a:xfrm>
          <a:prstGeom prst="roundRect">
            <a:avLst>
              <a:gd name="adj" fmla="val 3101"/>
            </a:avLst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9" name="Image 0" descr="Neato XV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554480"/>
            <a:ext cx="4572000" cy="34290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5074920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Autopilot · CC BY-SA 3.0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6263640" y="1737360"/>
            <a:ext cx="5074920" cy="914400"/>
          </a:xfrm>
          <a:prstGeom prst="roundRect">
            <a:avLst>
              <a:gd name="adj" fmla="val 12000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391656" y="1892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6903720" y="185623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Collect obstacle and route data.</a:t>
            </a:r>
            <a:endParaRPr lang="en-US" sz="2100" dirty="0"/>
          </a:p>
        </p:txBody>
      </p:sp>
      <p:sp>
        <p:nvSpPr>
          <p:cNvPr id="15" name="Shape 10"/>
          <p:cNvSpPr/>
          <p:nvPr/>
        </p:nvSpPr>
        <p:spPr>
          <a:xfrm>
            <a:off x="6263640" y="2743200"/>
            <a:ext cx="5074920" cy="914400"/>
          </a:xfrm>
          <a:prstGeom prst="roundRect">
            <a:avLst>
              <a:gd name="adj" fmla="val 12000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391656" y="2898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6903720" y="286207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Record which actions failed or succeeded.</a:t>
            </a:r>
            <a:endParaRPr lang="en-US" sz="2100" dirty="0"/>
          </a:p>
        </p:txBody>
      </p:sp>
      <p:sp>
        <p:nvSpPr>
          <p:cNvPr id="18" name="Shape 13"/>
          <p:cNvSpPr/>
          <p:nvPr/>
        </p:nvSpPr>
        <p:spPr>
          <a:xfrm>
            <a:off x="6263640" y="3749040"/>
            <a:ext cx="5074920" cy="914400"/>
          </a:xfrm>
          <a:prstGeom prst="roundRect">
            <a:avLst>
              <a:gd name="adj" fmla="val 12000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91656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6903720" y="386791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Use patterns to change the next route.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 sensor reading explains detection. Remembering and changing later behaviour explains learning.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From remembered failure to a new route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Visual trace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20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822960" y="1554480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89888" y="1554480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56816" y="1554480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523744" y="1554480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090672" y="1554480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57600" y="1554480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24528" y="1554480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22960" y="2121408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89888" y="2121408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956816" y="2121408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523744" y="2121408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090672" y="2121408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657600" y="2121408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24528" y="2121408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22960" y="2688336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389888" y="2688336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956816" y="2688336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523744" y="2688336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090672" y="2688336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657600" y="2688336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224528" y="2688336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2960" y="3255264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389888" y="3255264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956816" y="3255264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523744" y="3255264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090672" y="3255264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657600" y="3255264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4528" y="3255264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22960" y="3822192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389888" y="3822192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956816" y="3822192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523744" y="3822192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3090672" y="3822192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657600" y="3822192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224528" y="3822192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22960" y="4389120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389888" y="4389120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956816" y="4389120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523744" y="4389120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3090672" y="4389120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3657600" y="4389120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224528" y="4389120"/>
            <a:ext cx="566928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BEA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389888" y="2121408"/>
            <a:ext cx="566928" cy="566928"/>
          </a:xfrm>
          <a:prstGeom prst="rect">
            <a:avLst/>
          </a:prstGeom>
          <a:solidFill>
            <a:srgbClr val="494985"/>
          </a:solidFill>
          <a:ln w="12700">
            <a:solidFill>
              <a:srgbClr val="494985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956816" y="2121408"/>
            <a:ext cx="566928" cy="566928"/>
          </a:xfrm>
          <a:prstGeom prst="rect">
            <a:avLst/>
          </a:prstGeom>
          <a:solidFill>
            <a:srgbClr val="494985"/>
          </a:solidFill>
          <a:ln w="12700">
            <a:solidFill>
              <a:srgbClr val="494985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3090672" y="2121408"/>
            <a:ext cx="566928" cy="566928"/>
          </a:xfrm>
          <a:prstGeom prst="rect">
            <a:avLst/>
          </a:prstGeom>
          <a:solidFill>
            <a:srgbClr val="494985"/>
          </a:solidFill>
          <a:ln w="12700">
            <a:solidFill>
              <a:srgbClr val="494985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3090672" y="2688336"/>
            <a:ext cx="566928" cy="566928"/>
          </a:xfrm>
          <a:prstGeom prst="rect">
            <a:avLst/>
          </a:prstGeom>
          <a:solidFill>
            <a:srgbClr val="494985"/>
          </a:solidFill>
          <a:ln w="12700">
            <a:solidFill>
              <a:srgbClr val="494985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956816" y="3255264"/>
            <a:ext cx="566928" cy="566928"/>
          </a:xfrm>
          <a:prstGeom prst="rect">
            <a:avLst/>
          </a:prstGeom>
          <a:solidFill>
            <a:srgbClr val="494985"/>
          </a:solidFill>
          <a:ln w="12700">
            <a:solidFill>
              <a:srgbClr val="49498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2523744" y="3255264"/>
            <a:ext cx="566928" cy="566928"/>
          </a:xfrm>
          <a:prstGeom prst="rect">
            <a:avLst/>
          </a:prstGeom>
          <a:solidFill>
            <a:srgbClr val="494985"/>
          </a:solidFill>
          <a:ln w="12700">
            <a:solidFill>
              <a:srgbClr val="494985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56816" y="3822192"/>
            <a:ext cx="566928" cy="566928"/>
          </a:xfrm>
          <a:prstGeom prst="rect">
            <a:avLst/>
          </a:prstGeom>
          <a:solidFill>
            <a:srgbClr val="494985"/>
          </a:solidFill>
          <a:ln w="12700">
            <a:solidFill>
              <a:srgbClr val="494985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3657600" y="3822192"/>
            <a:ext cx="566928" cy="566928"/>
          </a:xfrm>
          <a:prstGeom prst="rect">
            <a:avLst/>
          </a:prstGeom>
          <a:solidFill>
            <a:srgbClr val="494985"/>
          </a:solidFill>
          <a:ln w="12700">
            <a:solidFill>
              <a:srgbClr val="494985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822960" y="5120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START</a:t>
            </a:r>
            <a:endParaRPr lang="en-US" sz="1600" dirty="0"/>
          </a:p>
        </p:txBody>
      </p:sp>
      <p:sp>
        <p:nvSpPr>
          <p:cNvPr id="58" name="Text 55"/>
          <p:cNvSpPr txBox="1"/>
          <p:nvPr/>
        </p:nvSpPr>
        <p:spPr>
          <a:xfrm>
            <a:off x="3749040" y="5120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GOAL</a:t>
            </a:r>
            <a:endParaRPr lang="en-US" sz="1600" dirty="0"/>
          </a:p>
        </p:txBody>
      </p:sp>
      <p:sp>
        <p:nvSpPr>
          <p:cNvPr id="59" name="Shape 56"/>
          <p:cNvSpPr/>
          <p:nvPr/>
        </p:nvSpPr>
        <p:spPr>
          <a:xfrm flipV="1">
            <a:off x="1097280" y="2971800"/>
            <a:ext cx="914" cy="1508760"/>
          </a:xfrm>
          <a:prstGeom prst="line">
            <a:avLst/>
          </a:prstGeom>
          <a:noFill/>
          <a:ln w="25400">
            <a:solidFill>
              <a:srgbClr val="494985"/>
            </a:solidFill>
            <a:prstDash val="solid"/>
            <a:tailEnd type="triangle"/>
          </a:ln>
        </p:spPr>
      </p:sp>
      <p:sp>
        <p:nvSpPr>
          <p:cNvPr id="60" name="Shape 57"/>
          <p:cNvSpPr/>
          <p:nvPr/>
        </p:nvSpPr>
        <p:spPr>
          <a:xfrm>
            <a:off x="1097280" y="2971800"/>
            <a:ext cx="1938528" cy="914"/>
          </a:xfrm>
          <a:prstGeom prst="line">
            <a:avLst/>
          </a:prstGeom>
          <a:noFill/>
          <a:ln w="25400">
            <a:solidFill>
              <a:srgbClr val="494985"/>
            </a:solidFill>
            <a:prstDash val="solid"/>
            <a:tailEnd type="triangle"/>
          </a:ln>
        </p:spPr>
      </p:sp>
      <p:sp>
        <p:nvSpPr>
          <p:cNvPr id="61" name="Shape 58"/>
          <p:cNvSpPr/>
          <p:nvPr/>
        </p:nvSpPr>
        <p:spPr>
          <a:xfrm>
            <a:off x="1097280" y="4526280"/>
            <a:ext cx="3429000" cy="914"/>
          </a:xfrm>
          <a:prstGeom prst="line">
            <a:avLst/>
          </a:prstGeom>
          <a:noFill/>
          <a:ln w="38100">
            <a:solidFill>
              <a:srgbClr val="2E7D5B"/>
            </a:solidFill>
            <a:prstDash val="solid"/>
            <a:tailEnd type="triangle"/>
          </a:ln>
        </p:spPr>
      </p:sp>
      <p:sp>
        <p:nvSpPr>
          <p:cNvPr id="62" name="Text 59"/>
          <p:cNvSpPr txBox="1"/>
          <p:nvPr/>
        </p:nvSpPr>
        <p:spPr>
          <a:xfrm>
            <a:off x="2907792" y="274320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3200" b="1" dirty="0">
                <a:solidFill>
                  <a:srgbClr val="B3261E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×</a:t>
            </a:r>
            <a:endParaRPr lang="en-US" sz="3200" dirty="0"/>
          </a:p>
        </p:txBody>
      </p:sp>
      <p:sp>
        <p:nvSpPr>
          <p:cNvPr id="63" name="Shape 60"/>
          <p:cNvSpPr/>
          <p:nvPr/>
        </p:nvSpPr>
        <p:spPr>
          <a:xfrm>
            <a:off x="5486400" y="1600200"/>
            <a:ext cx="5760720" cy="795528"/>
          </a:xfrm>
          <a:prstGeom prst="roundRect">
            <a:avLst>
              <a:gd name="adj" fmla="val 1379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5614416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</a:t>
            </a:r>
            <a:endParaRPr lang="en-US" sz="1700" dirty="0"/>
          </a:p>
        </p:txBody>
      </p:sp>
      <p:sp>
        <p:nvSpPr>
          <p:cNvPr id="65" name="Text 62"/>
          <p:cNvSpPr txBox="1"/>
          <p:nvPr/>
        </p:nvSpPr>
        <p:spPr>
          <a:xfrm>
            <a:off x="6126480" y="1719072"/>
            <a:ext cx="48920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Attempt A ends at an obstacle.</a:t>
            </a:r>
            <a:endParaRPr lang="en-US" sz="2000" dirty="0"/>
          </a:p>
        </p:txBody>
      </p:sp>
      <p:sp>
        <p:nvSpPr>
          <p:cNvPr id="66" name="Shape 63"/>
          <p:cNvSpPr/>
          <p:nvPr/>
        </p:nvSpPr>
        <p:spPr>
          <a:xfrm>
            <a:off x="5486400" y="2487168"/>
            <a:ext cx="5760720" cy="795528"/>
          </a:xfrm>
          <a:prstGeom prst="roundRect">
            <a:avLst>
              <a:gd name="adj" fmla="val 1379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5614416" y="2642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</a:t>
            </a:r>
            <a:endParaRPr lang="en-US" sz="1700" dirty="0"/>
          </a:p>
        </p:txBody>
      </p:sp>
      <p:sp>
        <p:nvSpPr>
          <p:cNvPr id="68" name="Text 65"/>
          <p:cNvSpPr txBox="1"/>
          <p:nvPr/>
        </p:nvSpPr>
        <p:spPr>
          <a:xfrm>
            <a:off x="6126480" y="2606040"/>
            <a:ext cx="48920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Store the unsuccessful action.</a:t>
            </a:r>
            <a:endParaRPr lang="en-US" sz="2000" dirty="0"/>
          </a:p>
        </p:txBody>
      </p:sp>
      <p:sp>
        <p:nvSpPr>
          <p:cNvPr id="69" name="Shape 66"/>
          <p:cNvSpPr/>
          <p:nvPr/>
        </p:nvSpPr>
        <p:spPr>
          <a:xfrm>
            <a:off x="5486400" y="3374136"/>
            <a:ext cx="5760720" cy="795528"/>
          </a:xfrm>
          <a:prstGeom prst="roundRect">
            <a:avLst>
              <a:gd name="adj" fmla="val 1379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5614416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3</a:t>
            </a:r>
            <a:endParaRPr lang="en-US" sz="1700" dirty="0"/>
          </a:p>
        </p:txBody>
      </p:sp>
      <p:sp>
        <p:nvSpPr>
          <p:cNvPr id="71" name="Text 68"/>
          <p:cNvSpPr txBox="1"/>
          <p:nvPr/>
        </p:nvSpPr>
        <p:spPr>
          <a:xfrm>
            <a:off x="6126480" y="3493008"/>
            <a:ext cx="48920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Try a different route next time.</a:t>
            </a:r>
            <a:endParaRPr lang="en-US" sz="2000" dirty="0"/>
          </a:p>
        </p:txBody>
      </p:sp>
      <p:sp>
        <p:nvSpPr>
          <p:cNvPr id="72" name="Shape 69"/>
          <p:cNvSpPr/>
          <p:nvPr/>
        </p:nvSpPr>
        <p:spPr>
          <a:xfrm>
            <a:off x="5486400" y="4261104"/>
            <a:ext cx="5760720" cy="795528"/>
          </a:xfrm>
          <a:prstGeom prst="roundRect">
            <a:avLst>
              <a:gd name="adj" fmla="val 1379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5614416" y="4416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4</a:t>
            </a:r>
            <a:endParaRPr lang="en-US" sz="1700" dirty="0"/>
          </a:p>
        </p:txBody>
      </p:sp>
      <p:sp>
        <p:nvSpPr>
          <p:cNvPr id="74" name="Text 71"/>
          <p:cNvSpPr txBox="1"/>
          <p:nvPr/>
        </p:nvSpPr>
        <p:spPr>
          <a:xfrm>
            <a:off x="6126480" y="4379976"/>
            <a:ext cx="489204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Reuse a successful route when suitable.</a:t>
            </a:r>
            <a:endParaRPr lang="en-US" sz="2000" dirty="0"/>
          </a:p>
        </p:txBody>
      </p:sp>
      <p:sp>
        <p:nvSpPr>
          <p:cNvPr id="75" name="Text 72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Collect → store success/failure → find patterns → alter the next action.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Apply the mechanism, not a slogan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Try independently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21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373368"/>
            <a:ext cx="10012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0478/12 Oct/Nov 2024 Q8(c) · 0478/12 Feb/Mar 2023 Q6(d)(ii)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31520" y="1508760"/>
            <a:ext cx="10652760" cy="1325880"/>
          </a:xfrm>
          <a:prstGeom prst="roundRect">
            <a:avLst>
              <a:gd name="adj" fmla="val 8276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96112" y="1691640"/>
            <a:ext cx="9784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Explain how a robot vacuum cleaner can use machine learning.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0378440" y="23774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[3]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31520" y="3063240"/>
            <a:ext cx="10652760" cy="1325880"/>
          </a:xfrm>
          <a:prstGeom prst="roundRect">
            <a:avLst>
              <a:gd name="adj" fmla="val 8276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96112" y="3246120"/>
            <a:ext cx="9784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 robot must navigate puzzles containing paths, obstacles and dead ends. Explain how its program can use AI.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0378440" y="39319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[4]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Write first. Then underline one distinct idea for each mark you are claiming.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 three-mark vacuum answer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Check after practice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22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373368"/>
            <a:ext cx="10012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0478/12 Oct/Nov 2024 Q8(c)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77240" y="155448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05256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1673352"/>
            <a:ext cx="9738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Collects data about obstacle locations while cleaning.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77240" y="246888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05256" y="2624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417320" y="2587752"/>
            <a:ext cx="9738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Uses this data to adapt its own route-planning process.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777240" y="338328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5256" y="3538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3502152"/>
            <a:ext cx="9738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Avoids known obstacles on later cleaning runs.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 sensing-and-motor description alone misses the learning between runs.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One mechanism, many exam scenarios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Task 6 · follow-up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23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76656" y="1499616"/>
            <a:ext cx="2944368" cy="3264408"/>
          </a:xfrm>
          <a:prstGeom prst="roundRect">
            <a:avLst>
              <a:gd name="adj" fmla="val 3727"/>
            </a:avLst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8" name="Image 0" descr="NOAA weather station at Wake Island harb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557020"/>
            <a:ext cx="2834640" cy="3149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480060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NOAA / US government (photographer uncredited) · Public domain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4059936" y="1499616"/>
            <a:ext cx="2944368" cy="3264408"/>
          </a:xfrm>
          <a:prstGeom prst="roundRect">
            <a:avLst>
              <a:gd name="adj" fmla="val 3727"/>
            </a:avLst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2" name="Image 1" descr="Google Home sitting on tabl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3959" y="1554480"/>
            <a:ext cx="2576322" cy="31546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114800" y="480060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NDB Photos · CC BY-SA 2.0</a:t>
            </a:r>
            <a:endParaRPr lang="en-US" sz="1000" dirty="0"/>
          </a:p>
        </p:txBody>
      </p:sp>
      <p:sp>
        <p:nvSpPr>
          <p:cNvPr id="15" name="Shape 8"/>
          <p:cNvSpPr/>
          <p:nvPr/>
        </p:nvSpPr>
        <p:spPr>
          <a:xfrm>
            <a:off x="7443216" y="1499616"/>
            <a:ext cx="3904488" cy="3264408"/>
          </a:xfrm>
          <a:prstGeom prst="roundRect">
            <a:avLst>
              <a:gd name="adj" fmla="val 3361"/>
            </a:avLst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16" name="Image 2" descr="Neato XV-1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708785"/>
            <a:ext cx="3794760" cy="284607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7498080" y="4800600"/>
            <a:ext cx="3794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Autopilot · CC BY-SA 3.0</a:t>
            </a:r>
            <a:endParaRPr lang="en-US" sz="1000" dirty="0"/>
          </a:p>
        </p:txBody>
      </p:sp>
      <p:sp>
        <p:nvSpPr>
          <p:cNvPr id="19" name="Text 10"/>
          <p:cNvSpPr txBox="1"/>
          <p:nvPr/>
        </p:nvSpPr>
        <p:spPr>
          <a:xfrm>
            <a:off x="731520" y="5120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Predict weather</a:t>
            </a:r>
            <a:endParaRPr lang="en-US" sz="2200" dirty="0"/>
          </a:p>
        </p:txBody>
      </p:sp>
      <p:sp>
        <p:nvSpPr>
          <p:cNvPr id="20" name="Text 11"/>
          <p:cNvSpPr txBox="1"/>
          <p:nvPr/>
        </p:nvSpPr>
        <p:spPr>
          <a:xfrm>
            <a:off x="4114800" y="5120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Recognise speech</a:t>
            </a:r>
            <a:endParaRPr lang="en-US" sz="2200" dirty="0"/>
          </a:p>
        </p:txBody>
      </p:sp>
      <p:sp>
        <p:nvSpPr>
          <p:cNvPr id="21" name="Text 12"/>
          <p:cNvSpPr txBox="1"/>
          <p:nvPr/>
        </p:nvSpPr>
        <p:spPr>
          <a:xfrm>
            <a:off x="7498080" y="512064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Choose a route</a:t>
            </a:r>
            <a:endParaRPr lang="en-US" sz="2200" dirty="0"/>
          </a:p>
        </p:txBody>
      </p:sp>
      <p:sp>
        <p:nvSpPr>
          <p:cNvPr id="22" name="Text 13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Always name the data, the pattern / feedback, and the changed prediction or action.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 smart speaker: four marks of explanation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Task 6(c)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24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373368"/>
            <a:ext cx="10012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0478/12 Oct/Nov 2025 Q7(c)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76656" y="1499616"/>
            <a:ext cx="4315968" cy="3630168"/>
          </a:xfrm>
          <a:prstGeom prst="roundRect">
            <a:avLst>
              <a:gd name="adj" fmla="val 3023"/>
            </a:avLst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9" name="Image 0" descr="Google Home sitting on tab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7127" y="1554480"/>
            <a:ext cx="2875026" cy="35204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516636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NDB Photos · CC BY-SA 2.0</a:t>
            </a:r>
            <a:endParaRPr lang="en-US" sz="1000" dirty="0"/>
          </a:p>
        </p:txBody>
      </p:sp>
      <p:sp>
        <p:nvSpPr>
          <p:cNvPr id="12" name="Text 7"/>
          <p:cNvSpPr txBox="1"/>
          <p:nvPr/>
        </p:nvSpPr>
        <p:spPr>
          <a:xfrm>
            <a:off x="5486400" y="1783080"/>
            <a:ext cx="5669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Explain how a smart speaker can use machine learning to improve voice-command input. [4]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5486400" y="3749040"/>
            <a:ext cx="5669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“The microphone records sound.”</a:t>
            </a:r>
            <a:endParaRPr lang="en-US" sz="2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Why is this not yet a learning answer?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What data would it collect? What could it learn? What could change next time?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Search results: feedback matters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Check after practice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25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373368"/>
            <a:ext cx="10012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0478/12 Feb/Mar 2025 Q6(b)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77240" y="155448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05256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1673352"/>
            <a:ext cx="9738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Record that a result was unsuitable / unhelpful.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77240" y="246888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05256" y="2624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417320" y="2587752"/>
            <a:ext cx="9738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Use this feedback to change its data or ranking rules.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777240" y="338328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5256" y="3538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3502152"/>
            <a:ext cx="9738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Return more relevant results in a later search.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Keyword matching alone does not explain machine learning. Show after Task 6(a).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Weather: patterns become predictions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Check after Task 6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26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373368"/>
            <a:ext cx="10012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0478/13 May/June 2025 Q6(f)(ii)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76656" y="1499616"/>
            <a:ext cx="4041648" cy="3630168"/>
          </a:xfrm>
          <a:prstGeom prst="roundRect">
            <a:avLst>
              <a:gd name="adj" fmla="val 3023"/>
            </a:avLst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9" name="Image 0" descr="NOAA weather station at Wake Island harb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3282" y="1554480"/>
            <a:ext cx="3168396" cy="35204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516636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NOAA / US government (photographer uncredited) · Public domain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5212080" y="1645920"/>
            <a:ext cx="6035040" cy="960120"/>
          </a:xfrm>
          <a:prstGeom prst="roundRect">
            <a:avLst>
              <a:gd name="adj" fmla="val 11429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340096" y="1801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5852160" y="1764792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Analyse historical weather for patterns.</a:t>
            </a:r>
            <a:endParaRPr lang="en-US" sz="2100" dirty="0"/>
          </a:p>
        </p:txBody>
      </p:sp>
      <p:sp>
        <p:nvSpPr>
          <p:cNvPr id="15" name="Shape 10"/>
          <p:cNvSpPr/>
          <p:nvPr/>
        </p:nvSpPr>
        <p:spPr>
          <a:xfrm>
            <a:off x="5212080" y="2697480"/>
            <a:ext cx="6035040" cy="960120"/>
          </a:xfrm>
          <a:prstGeom prst="roundRect">
            <a:avLst>
              <a:gd name="adj" fmla="val 11429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340096" y="2852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5852160" y="2816352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Use those patterns to predict future weather.</a:t>
            </a:r>
            <a:endParaRPr lang="en-US" sz="2100" dirty="0"/>
          </a:p>
        </p:txBody>
      </p:sp>
      <p:sp>
        <p:nvSpPr>
          <p:cNvPr id="18" name="Shape 13"/>
          <p:cNvSpPr/>
          <p:nvPr/>
        </p:nvSpPr>
        <p:spPr>
          <a:xfrm>
            <a:off x="5212080" y="3749040"/>
            <a:ext cx="6035040" cy="960120"/>
          </a:xfrm>
          <a:prstGeom prst="roundRect">
            <a:avLst>
              <a:gd name="adj" fmla="val 11429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340096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5852160" y="3867912"/>
            <a:ext cx="5166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1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Use feedback to revise later predictions.</a:t>
            </a:r>
            <a:endParaRPr lang="en-US" sz="2100" dirty="0"/>
          </a:p>
        </p:txBody>
      </p:sp>
      <p:sp>
        <p:nvSpPr>
          <p:cNvPr id="21" name="Text 16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“The temperature sensor collects readings” is only a starting point. Explain their use.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Voice input: explain the improvement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Check after Task 6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27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373368"/>
            <a:ext cx="10012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0478/12 Oct/Nov 2025 Q7(c)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676656" y="1499616"/>
            <a:ext cx="4041648" cy="3630168"/>
          </a:xfrm>
          <a:prstGeom prst="roundRect">
            <a:avLst>
              <a:gd name="adj" fmla="val 3023"/>
            </a:avLst>
          </a:prstGeom>
          <a:solidFill>
            <a:srgbClr val="F2F2F4"/>
          </a:solidFill>
          <a:ln w="12700">
            <a:solidFill>
              <a:srgbClr val="F2F2F4"/>
            </a:solidFill>
            <a:prstDash val="solid"/>
          </a:ln>
        </p:spPr>
      </p:sp>
      <p:pic>
        <p:nvPicPr>
          <p:cNvPr id="9" name="Image 0" descr="Google Home sitting on tab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9967" y="1554480"/>
            <a:ext cx="2875026" cy="35204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" y="516636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NDB Photos · CC BY-SA 2.0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5212080" y="1600200"/>
            <a:ext cx="6035040" cy="795528"/>
          </a:xfrm>
          <a:prstGeom prst="roundRect">
            <a:avLst>
              <a:gd name="adj" fmla="val 1379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5340096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5852160" y="1719072"/>
            <a:ext cx="51663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Gather samples of the user’s voice.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212080" y="2487168"/>
            <a:ext cx="6035040" cy="795528"/>
          </a:xfrm>
          <a:prstGeom prst="roundRect">
            <a:avLst>
              <a:gd name="adj" fmla="val 1379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340096" y="26426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5852160" y="2606040"/>
            <a:ext cx="51663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Identify pronunciation / accent patterns.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5212080" y="3374136"/>
            <a:ext cx="6035040" cy="795528"/>
          </a:xfrm>
          <a:prstGeom prst="roundRect">
            <a:avLst>
              <a:gd name="adj" fmla="val 1379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5340096" y="35295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5852160" y="3493008"/>
            <a:ext cx="51663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Record successful and failed commands.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5212080" y="4261104"/>
            <a:ext cx="6035040" cy="795528"/>
          </a:xfrm>
          <a:prstGeom prst="roundRect">
            <a:avLst>
              <a:gd name="adj" fmla="val 1379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340096" y="44165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4</a:t>
            </a:r>
            <a:endParaRPr lang="en-US" sz="1700" dirty="0"/>
          </a:p>
        </p:txBody>
      </p:sp>
      <p:sp>
        <p:nvSpPr>
          <p:cNvPr id="23" name="Text 18"/>
          <p:cNvSpPr txBox="1"/>
          <p:nvPr/>
        </p:nvSpPr>
        <p:spPr>
          <a:xfrm>
            <a:off x="5852160" y="4379976"/>
            <a:ext cx="51663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Adapt processes to recognise later commands.</a:t>
            </a:r>
            <a:endParaRPr lang="en-US" sz="2000" dirty="0"/>
          </a:p>
        </p:txBody>
      </p:sp>
      <p:sp>
        <p:nvSpPr>
          <p:cNvPr id="24" name="Text 19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Alternative credit: learn different phrasing, voices or background-noise patterns.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Game characters: respond to the player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Check after practice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28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373368"/>
            <a:ext cx="10012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0478/13 Oct/Nov 2025 Q6(b)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77240" y="155448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05256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1673352"/>
            <a:ext cx="9738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Collect data about the player’s actions.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77240" y="246888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05256" y="2624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417320" y="2587752"/>
            <a:ext cx="9738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Find patterns and predict the player’s next movement.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777240" y="338328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5256" y="3538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3502152"/>
            <a:ext cx="9738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Adapt the character’s response using that prediction.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Better graphics ≠ better AI. Show after Task 6(d).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“Give three ways”: keep them distinct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Check after practice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29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6373368"/>
            <a:ext cx="10012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0478/11 Oct/Nov 2025 Q5(e)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77240" y="155448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05256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417320" y="1673352"/>
            <a:ext cx="9738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Learn a route to a customer’s house.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77240" y="246888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905256" y="2624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417320" y="2587752"/>
            <a:ext cx="9738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Learn where obstacles occur on that route.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777240" y="3383280"/>
            <a:ext cx="10607040" cy="822960"/>
          </a:xfrm>
          <a:prstGeom prst="roundRect">
            <a:avLst>
              <a:gd name="adj" fmla="val 13333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05256" y="3538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417320" y="3502152"/>
            <a:ext cx="9738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Reason which areas are paths rather than roads.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Three repetitions of “learn the route” are not three different ways. Show after Task 6(e).</a:t>
            </a:r>
            <a:endParaRPr lang="en-US" sz="1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What weak answers leave out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Self-check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30</a:t>
            </a:r>
            <a:endParaRPr lang="en-US" sz="13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08760"/>
          <a:ext cx="1078992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630936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50" b="1" dirty="0">
                          <a:solidFill>
                            <a:srgbClr val="FFFFFF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Weak answer</a:t>
                      </a:r>
                      <a:endParaRPr lang="en-US" sz="185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498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50" b="1" dirty="0">
                          <a:solidFill>
                            <a:srgbClr val="FFFFFF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Repair it</a:t>
                      </a:r>
                      <a:endParaRPr lang="en-US" sz="185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498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“AI is smart.”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State a recognised feature and what it means.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“The database diagnoses it.”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Name the inference engine and how it uses facts/rules.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“The robot uses sensors.”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Add recorded experience and changed future behaviour.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“It learns and gets better.”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Name the data, pattern/feedback and specific improvement.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“It has AI, so it always learns.”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Fixed-rule expertise and learning can be separate or combined.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Check the command word, the marks, the given information and the application.</a:t>
            </a:r>
            <a:endParaRPr lang="en-US" sz="1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Exit: can you transfer the explanation?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Plenary · 3 min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31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777240" y="1691640"/>
            <a:ext cx="10607040" cy="1097280"/>
          </a:xfrm>
          <a:prstGeom prst="roundRect">
            <a:avLst>
              <a:gd name="adj" fmla="val 10000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05256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1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417320" y="1810512"/>
            <a:ext cx="9738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Facts, rules, applying rules: name the three components.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777240" y="2880360"/>
            <a:ext cx="10607040" cy="1097280"/>
          </a:xfrm>
          <a:prstGeom prst="roundRect">
            <a:avLst>
              <a:gd name="adj" fmla="val 10000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05256" y="3035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999232"/>
            <a:ext cx="9738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Why might input/output be irrelevant in a diagnosis question?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777240" y="4069080"/>
            <a:ext cx="10607040" cy="1097280"/>
          </a:xfrm>
          <a:prstGeom prst="roundRect">
            <a:avLst>
              <a:gd name="adj" fmla="val 10000"/>
            </a:avLst>
          </a:prstGeom>
          <a:solidFill>
            <a:srgbClr val="F6F5FC"/>
          </a:solidFill>
          <a:ln w="12700">
            <a:solidFill>
              <a:srgbClr val="F6F5F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05256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3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1417320" y="4187952"/>
            <a:ext cx="9738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400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A recycling camera misclassifies waste. Explain how learning could improve later classifications.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If you can explain a new example without “it is smart”, you can transfer the mechanism.</a:t>
            </a:r>
            <a:endParaRPr lang="en-US" sz="1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Photographs and source credits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References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32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37160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FACTORY · Mixabest · CC BY-SA 3.0</a:t>
            </a:r>
            <a:endParaRPr lang="en-US" sz="1700" dirty="0"/>
          </a:p>
        </p:txBody>
      </p:sp>
      <p:sp>
        <p:nvSpPr>
          <p:cNvPr id="8" name="Text 5">
            <a:hlinkClick r:id="rId1" tooltip=""/>
          </p:cNvPr>
          <p:cNvSpPr txBox="1"/>
          <p:nvPr/>
        </p:nvSpPr>
        <p:spPr>
          <a:xfrm>
            <a:off x="777240" y="1700784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u="sng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https://commons.wikimedia.org/wiki/File:KUKA_Industrial_Robots_IR.jpg</a:t>
            </a:r>
            <a:endParaRPr lang="en-US" sz="1000" dirty="0"/>
          </a:p>
        </p:txBody>
      </p:sp>
      <p:sp>
        <p:nvSpPr>
          <p:cNvPr id="9" name="Text 6">
            <a:hlinkClick r:id="rId2" tooltip=""/>
          </p:cNvPr>
          <p:cNvSpPr txBox="1"/>
          <p:nvPr/>
        </p:nvSpPr>
        <p:spPr>
          <a:xfrm>
            <a:off x="777240" y="1965960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00" u="sng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https://creativecommons.org/licenses/by-sa/3.0/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203704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VACUUM · Autopilot · CC BY-SA 3.0</a:t>
            </a:r>
            <a:endParaRPr lang="en-US" sz="1700" dirty="0"/>
          </a:p>
        </p:txBody>
      </p:sp>
      <p:sp>
        <p:nvSpPr>
          <p:cNvPr id="11" name="Text 8">
            <a:hlinkClick r:id="rId3" tooltip=""/>
          </p:cNvPr>
          <p:cNvSpPr txBox="1"/>
          <p:nvPr/>
        </p:nvSpPr>
        <p:spPr>
          <a:xfrm>
            <a:off x="777240" y="2532888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u="sng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https://commons.wikimedia.org/wiki/File:Neato_XV-11.jpg</a:t>
            </a:r>
            <a:endParaRPr lang="en-US" sz="1000" dirty="0"/>
          </a:p>
        </p:txBody>
      </p:sp>
      <p:sp>
        <p:nvSpPr>
          <p:cNvPr id="12" name="Text 9">
            <a:hlinkClick r:id="rId4" tooltip=""/>
          </p:cNvPr>
          <p:cNvSpPr txBox="1"/>
          <p:nvPr/>
        </p:nvSpPr>
        <p:spPr>
          <a:xfrm>
            <a:off x="777240" y="2798064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00" u="sng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https://creativecommons.org/licenses/by-sa/3.0/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03580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SPEAKER · NDB Photos · CC BY-SA 2.0</a:t>
            </a:r>
            <a:endParaRPr lang="en-US" sz="1700" dirty="0"/>
          </a:p>
        </p:txBody>
      </p:sp>
      <p:sp>
        <p:nvSpPr>
          <p:cNvPr id="14" name="Text 11">
            <a:hlinkClick r:id="rId5" tooltip=""/>
          </p:cNvPr>
          <p:cNvSpPr txBox="1"/>
          <p:nvPr/>
        </p:nvSpPr>
        <p:spPr>
          <a:xfrm>
            <a:off x="777240" y="336499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u="sng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https://commons.wikimedia.org/wiki/File:Google_Home_sitting_on_table.jpg</a:t>
            </a:r>
            <a:endParaRPr lang="en-US" sz="1000" dirty="0"/>
          </a:p>
        </p:txBody>
      </p:sp>
      <p:sp>
        <p:nvSpPr>
          <p:cNvPr id="15" name="Text 12">
            <a:hlinkClick r:id="rId6" tooltip=""/>
          </p:cNvPr>
          <p:cNvSpPr txBox="1"/>
          <p:nvPr/>
        </p:nvSpPr>
        <p:spPr>
          <a:xfrm>
            <a:off x="777240" y="3630168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00" u="sng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https://creativecommons.org/licenses/by-sa/2.0/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86791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WEATHER · NOAA / US government (photographer uncredited) · Public domain</a:t>
            </a:r>
            <a:endParaRPr lang="en-US" sz="1700" dirty="0"/>
          </a:p>
        </p:txBody>
      </p:sp>
      <p:sp>
        <p:nvSpPr>
          <p:cNvPr id="17" name="Text 14">
            <a:hlinkClick r:id="rId7" tooltip=""/>
          </p:cNvPr>
          <p:cNvSpPr txBox="1"/>
          <p:nvPr/>
        </p:nvSpPr>
        <p:spPr>
          <a:xfrm>
            <a:off x="777240" y="4197096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u="sng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https://commons.wikimedia.org/wiki/File:NOAA_weather_station_at_Wake_Island_harbor.jpg</a:t>
            </a:r>
            <a:endParaRPr lang="en-US" sz="1000" dirty="0"/>
          </a:p>
        </p:txBody>
      </p:sp>
      <p:sp>
        <p:nvSpPr>
          <p:cNvPr id="18" name="Text 15">
            <a:hlinkClick r:id="rId8" tooltip=""/>
          </p:cNvPr>
          <p:cNvSpPr txBox="1"/>
          <p:nvPr/>
        </p:nvSpPr>
        <p:spPr>
          <a:xfrm>
            <a:off x="777240" y="4462272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00" u="sng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https://commons.wikimedia.org/wiki/Commons:Copyright_rules_by_territory/United_States#Federal_works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700016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GARAGE · ANT Berezhnyi · CC BY 3.0</a:t>
            </a:r>
            <a:endParaRPr lang="en-US" sz="1700" dirty="0"/>
          </a:p>
        </p:txBody>
      </p:sp>
      <p:sp>
        <p:nvSpPr>
          <p:cNvPr id="20" name="Text 17">
            <a:hlinkClick r:id="rId9" tooltip=""/>
          </p:cNvPr>
          <p:cNvSpPr txBox="1"/>
          <p:nvPr/>
        </p:nvSpPr>
        <p:spPr>
          <a:xfrm>
            <a:off x="777240" y="5029200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000" u="sng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https://commons.wikimedia.org/wiki/File:Chery_A1_-_service_shop_in_Ukraine_%287%29.jpg</a:t>
            </a:r>
            <a:endParaRPr lang="en-US" sz="1000" dirty="0"/>
          </a:p>
        </p:txBody>
      </p:sp>
      <p:sp>
        <p:nvSpPr>
          <p:cNvPr id="21" name="Text 18">
            <a:hlinkClick r:id="rId10" tooltip=""/>
          </p:cNvPr>
          <p:cNvSpPr txBox="1"/>
          <p:nvPr/>
        </p:nvSpPr>
        <p:spPr>
          <a:xfrm>
            <a:off x="777240" y="5294376"/>
            <a:ext cx="10607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900" u="sng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https://creativecommons.org/licenses/by/3.0/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777240" y="57150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66666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Resized / JPEG recompressed. See AI_Exam_Coverage.md for the complete QP/MS audit.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7512" y="34747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Exam sources: use the exact marking scope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67512" y="932688"/>
            <a:ext cx="1719072" cy="54864"/>
          </a:xfrm>
          <a:prstGeom prst="rect">
            <a:avLst/>
          </a:prstGeom>
          <a:solidFill>
            <a:srgbClr val="FFD84D"/>
          </a:solidFill>
          <a:ln w="12700">
            <a:solidFill>
              <a:srgbClr val="FFD84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23960" y="292608"/>
            <a:ext cx="2706624" cy="320040"/>
          </a:xfrm>
          <a:prstGeom prst="roundRect">
            <a:avLst>
              <a:gd name="adj" fmla="val 142857"/>
            </a:avLst>
          </a:prstGeom>
          <a:solidFill>
            <a:srgbClr val="FFFFFF"/>
          </a:solidFill>
          <a:ln w="15875">
            <a:solidFill>
              <a:srgbClr val="494985"/>
            </a:solidFill>
          </a:ln>
          <a:effectLst>
            <a:outerShdw sx="100000" sy="100000" kx="0" ky="0" algn="bl" rotWithShape="0" blurRad="38100" dist="19050" dir="5400000">
              <a:srgbClr val="000000">
                <a:alpha val="18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References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10917936" y="6263640"/>
            <a:ext cx="6126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b="1" dirty="0">
                <a:solidFill>
                  <a:srgbClr val="202124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33</a:t>
            </a:r>
            <a:endParaRPr lang="en-US" sz="13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508760"/>
          <a:ext cx="1078992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4008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50" b="1" dirty="0">
                          <a:solidFill>
                            <a:srgbClr val="FFFFFF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Source</a:t>
                      </a:r>
                      <a:endParaRPr lang="en-US" sz="185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498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50" b="1" dirty="0">
                          <a:solidFill>
                            <a:srgbClr val="FFFFFF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Why it matters</a:t>
                      </a:r>
                      <a:endParaRPr lang="en-US" sz="185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94985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2023–2025: all 21 Paper 1 papers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29 relevant parts across 18 papers; 20 selected for practice.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Cambridge published mark schemes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Exact allocations, accepted alternatives and mark ceilings.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Teacher-supplied Hodder extract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Definitions and conceptual background, printed pp. 241–249.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C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Scope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202124"/>
                          </a:solidFill>
                          <a:latin typeface="Quicksand" pitchFamily="34" charset="0"/>
                          <a:ea typeface="Quicksand" pitchFamily="34" charset="-122"/>
                          <a:cs typeface="Quicksand" pitchFamily="34" charset="-120"/>
                        </a:rPr>
                        <a:t>Core 6.3 AI / expert systems / machine learning; robotics recall from 6.2.</a:t>
                      </a:r>
                      <a:endParaRPr lang="en-US" sz="1800" dirty="0">
                        <a:latin typeface="Quicksand" charset="0"/>
                        <a:ea typeface="Quicksand" charset="0"/>
                        <a:cs typeface="Quicksand" charset="0"/>
                      </a:endParaRPr>
                    </a:p>
                  </a:txBody>
                  <a:tcPr marL="91440" marR="91440" marT="36576" marB="36576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85800" y="57150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rgbClr val="494985"/>
                </a:solidFill>
                <a:latin typeface="Quicksand" pitchFamily="34" charset="0"/>
                <a:ea typeface="Quicksand" pitchFamily="34" charset="-122"/>
                <a:cs typeface="Quicksand" pitchFamily="34" charset="-120"/>
              </a:rPr>
              <a:t>Core lesson + follow-up bank. Use the separate teacher key to mark each part.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Artificial intelligence — exam-ready</dc:title>
  <dc:subject>PptxGenJS Presentation</dc:subject>
  <dc:creator>PptxGenJS</dc:creator>
  <cp:lastModifiedBy>PptxGenJS</cp:lastModifiedBy>
  <cp:revision>1</cp:revision>
  <dcterms:created xsi:type="dcterms:W3CDTF">2026-10-11T17:37:19Z</dcterms:created>
  <dcterms:modified xsi:type="dcterms:W3CDTF">2026-10-11T17:37:19Z</dcterms:modified>
</cp:coreProperties>
</file>