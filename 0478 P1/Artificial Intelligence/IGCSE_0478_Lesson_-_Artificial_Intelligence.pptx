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60-minute theory lesson after Robotics (6.2). Suggested timings: recall 6 min; AI 7 min; expert systems 18 min; ML 16 min; compare/exit 8 min; discussion buffer 5 min. Task 6 may be homework. Pause slides before practice; do not reveal answers from notes. Source: teacher-supplied Hodder Cambridge IGCSE Computer Science extract, section 6.3, printed pp. 241–249. Original diagrams and activities. Questions and marking points are suggested, not verified official Cambridge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Task 1 closed book before teaching AI. Use the separate key to review. If fewer than 2/3 on robot characteristics or 2/4 on the safety chain, recap those ideas. Total 15 suggested marks.
Source: teacher-supplied Hodder Cambridge IGCSE Computer Science extract, section 6.3, printed pp. 241–249. Original diagrams and activities. Questions and marking points are suggested, not verified official Cambridge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5 outcomes and how the tasks fit them.
Source: teacher-supplied Hodder Cambridge IGCSE Computer Science extract, section 6.3, printed pp. 241–249. Original diagrams and activities. Questions and marking points are suggested, not verified official Cambridge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simulation of intelligent human behaviour by a computer. Core characteristics: rules and data; ability to reason, learn and adapt to external stimuli. Not every AI system learns during use. Do not teach the textbook claim that every cognitive function can be replicated as established fact.
Source: teacher-supplied Hodder Cambridge IGCSE Computer Science extract, section 6.3, printed pp. 241–249. Original diagrams and activities. Questions and marking points are suggested, not verified official Cambridge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three examples. A fixed repeating robot program is automated but need not learn or adapt. Expert systems are AI even when their rules do not change. ML is one way to implement AI. Ask students to explain the basis of the decision rather than just say “smart”.
Source: teacher-supplied Hodder Cambridge IGCSE Computer Science extract, section 6.3, printed pp. 241–249. Original diagrams and activities. Questions and marking points are suggested, not verified official Cambridge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a containment diagram: expert systems and machine learning are approaches within AI, not synonyms for all AI. They can be combined; do not claim mutually exclusive technologies. Not all robots use AI, and AI can be software without a physical robot.
Source: teacher-supplied Hodder Cambridge IGCSE Computer Science extract, section 6.3, printed pp. 241–249. Original diagrams and activities. Questions and marking points are suggested, not verified official Cambridge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expert system mimics the knowledge and decision-making of a human expert in a particular domain. It has a restricted domain and is only as good as its knowledge, rules and input. Examples: equipment fault diagnosis, mineral prospecting, financial advice.
Source: teacher-supplied Hodder Cambridge IGCSE Computer Science extract, section 6.3, printed pp. 241–249. Original diagrams and activities. Questions and marking points are suggested, not verified official Cambridge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core components: user interface, knowledge base, rules base, inference engine. Explanation facility is useful supporting enrichment, not required as a fifth core item in Task 3(a). Diagram arrows show information flows, not a mandatory execution order.
Source: teacher-supplied Hodder Cambridge IGCSE Computer Science extract, section 6.3, printed pp. 241–249. Original diagrams and activities. Questions and marking points are suggested, not verified official Cambridge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demonstration uses a printer, separate from worksheet laptop cases. Facts: no paper, power light on. Rules: IF power off THEN check supply; IF power on AND no paper THEN load paper. No match should not be treated as proof of “no fault”.
Source: teacher-supplied Hodder Cambridge IGCSE Computer Science extract, section 6.3, printed pp. 241–249. Original diagrams and activities. Questions and marking points are suggested, not verified official Cambridge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rules: R1 power light off → check power cable; R2 power light on AND paper empty → load paper; R3 power light on AND paper present AND jam → clear jam. Given light on, paper empty, jam no: R2 matches. Do not substitute worksheet inputs.
Source: teacher-supplied Hodder Cambridge IGCSE Computer Science extract, section 6.3, printed pp. 241–249. Original diagrams and activities. Questions and marking points are suggested, not verified official Cambridge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after the worked trace. R2 matches because the light is on and tray empty. Explanation facility exposes those reasons. This does not guarantee correctness. Inputs might be wrong or rules missing. Pause for Task 3; then Task 4(a).
Source: teacher-supplied Hodder Cambridge IGCSE Computer Science extract, section 6.3, printed pp. 241–249. Original diagrams and activities. Questions and marking points are suggested, not verified official Cambridge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Gather expertise from humans/written sources; create facts in knowledge base and inference rules in rules base; develop engine and UI; test known cases and compare with expected conclusions. Test unmatched/conflicting rules too.
Source: teacher-supplied Hodder Cambridge IGCSE Computer Science extract, section 6.3, printed pp. 241–249. Original diagrams and activities. Questions and marking points are suggested, not verified official Cambridge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 each benefit with its limitation. Decision support not replacement of all expert responsibility. Expert systems usually do not learn by themselves. Do Task 4(b).
Source: teacher-supplied Hodder Cambridge IGCSE Computer Science extract, section 6.3, printed pp. 241–249. Original diagrams and activities. Questions and marking points are suggested, not verified official Cambridge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ML is a subset of AI. Algorithms are trained using examples to learn patterns and make predictions/decisions on new data, rather than explicitly programming every new case. Training does not imply continuous learning during every prediction. Labelled examples are one method (this lesson uses supervised learning), not a requirement of all ML.
Source: teacher-supplied Hodder Cambridge IGCSE Computer Science extract, section 6.3, printed pp. 241–249. Original diagrams and activities. Questions and marking points are suggested, not verified official Cambridge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held-out test examples separate from training. Using the same examples can hide memorisation and overstate performance. Example training emails are made up. Worksheet uses image classification rather than exact email data.
Source: teacher-supplied Hodder Cambridge IGCSE Computer Science extract, section 6.3, printed pp. 241–249. Original diagrams and activities. Questions and marking points are suggested, not verified official Cambridge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spam label is a prediction, not certainty. False positives: real email moved to spam. False negatives: spam reaches inbox. No statistical vocabulary required; focus impact and improvement.
Source: teacher-supplied Hodder Cambridge IGCSE Computer Science extract, section 6.3, printed pp. 241–249. Original diagrams and activities. Questions and marking points are suggested, not verified official Cambridge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 about unrepresentative examples, incorrect labels and unfamiliar input; do not promise that more data always fixes performance. Worksheet plant examples A/B/C test correct labels independently.
Source: teacher-supplied Hodder Cambridge IGCSE Computer Science extract, section 6.3, printed pp. 241–249. Original diagrams and activities. Questions and marking points are suggested, not verified official Cambridge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comparison of a conventional rule-based expert system with ML, not a claim that every expert system/ML implementation is identical. The approaches can be combined. Show after Tasks 3–5, not before classification practice.
Source: teacher-supplied Hodder Cambridge IGCSE Computer Science extract, section 6.3, printed pp. 241–249. Original diagrams and activities. Questions and marking points are suggested, not verified official Cambridge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marks are suggested, not verified official Cambridge allocations. Point + applied explanation. Example: available outside office hours → technicians can get advice on a night shift. Do not reveal Task 6 conclusions; model different printer scenario.
Source: teacher-supplied Hodder Cambridge IGCSE Computer Science extract, section 6.3, printed pp. 241–249. Original diagrams and activities. Questions and marking points are suggested, not verified official Cambridge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Task 6 independently before discussion. One scenario benefits from auditable fixed policy rules; the other requires learning visual patterns from many labelled images. Accept a justified hybrid. Do not require neural-network implementation.
Source: teacher-supplied Hodder Cambridge IGCSE Computer Science extract, section 6.3, printed pp. 241–249. Original diagrams and activities. Questions and marking points are suggested, not verified official Cambridge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corrections orally. Expected: not all robots AI; expert facts/rules need updates; prediction not proof; learning subset AI; more data only helps when suitable and correctly prepared. Notes hold answers, student booklet uses a question-only review slide.
Source: teacher-supplied Hodder Cambridge IGCSE Computer Science extract, section 6.3, printed pp. 241–249. Original diagrams and activities. Questions and marking points are suggested, not verified official Cambridge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answers: KB expert facts; RB IF–THEN rules; inference engine applies rules to facts; ML model trained from examples to predict labels; wrong input/rules or unrepresentative data can cause error. Use as diagnostic, not claimed Cambridge mark scheme.
Source: teacher-supplied Hodder Cambridge IGCSE Computer Science extract, section 6.3, printed pp. 241–249. Original diagrams and activities. Questions and marking points are suggested, not verified official Cambridge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1.png"/><Relationship Id="rId3" Type="http://schemas.openxmlformats.org/officeDocument/2006/relationships/image" Target="../media/image-14-3.png"/><Relationship Id="rId4"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1.png"/><Relationship Id="rId3" Type="http://schemas.openxmlformats.org/officeDocument/2006/relationships/image" Target="../media/image-15-1.png"/><Relationship Id="rId4" Type="http://schemas.openxmlformats.org/officeDocument/2006/relationships/image" Target="../media/image-15-1.png"/><Relationship Id="rId5" Type="http://schemas.openxmlformats.org/officeDocument/2006/relationships/image" Target="../media/image-15-1.png"/><Relationship Id="rId6" Type="http://schemas.openxmlformats.org/officeDocument/2006/relationships/image" Target="../media/image-15-1.png"/><Relationship Id="rId7" Type="http://schemas.openxmlformats.org/officeDocument/2006/relationships/image" Target="../media/image-15-1.png"/><Relationship Id="rId8" Type="http://schemas.openxmlformats.org/officeDocument/2006/relationships/image" Target="../media/image-15-1.png"/><Relationship Id="rId9" Type="http://schemas.openxmlformats.org/officeDocument/2006/relationships/image" Target="../media/image-15-1.png"/><Relationship Id="rId10" Type="http://schemas.openxmlformats.org/officeDocument/2006/relationships/image" Target="../media/image-15-1.png"/><Relationship Id="rId11" Type="http://schemas.openxmlformats.org/officeDocument/2006/relationships/image" Target="../media/image-15-11.png"/><Relationship Id="rId12" Type="http://schemas.openxmlformats.org/officeDocument/2006/relationships/slideLayout" Target="../slideLayouts/slideLayout1.xml"/><Relationship Id="rId1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2.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900416" y="0"/>
            <a:ext cx="4288536" cy="6858000"/>
          </a:xfrm>
          <a:prstGeom prst="rect">
            <a:avLst/>
          </a:prstGeom>
          <a:solidFill>
            <a:srgbClr val="FFD84D"/>
          </a:solidFill>
          <a:ln w="12700">
            <a:solidFill>
              <a:srgbClr val="FFD84D"/>
            </a:solidFill>
            <a:prstDash val="solid"/>
          </a:ln>
        </p:spPr>
      </p:sp>
      <p:sp>
        <p:nvSpPr>
          <p:cNvPr id="3" name="Text 1"/>
          <p:cNvSpPr txBox="1"/>
          <p:nvPr/>
        </p:nvSpPr>
        <p:spPr>
          <a:xfrm>
            <a:off x="667512" y="2148840"/>
            <a:ext cx="6858000" cy="1645920"/>
          </a:xfrm>
          <a:prstGeom prst="rect">
            <a:avLst/>
          </a:prstGeom>
          <a:noFill/>
          <a:ln/>
        </p:spPr>
        <p:txBody>
          <a:bodyPr wrap="square" lIns="0" tIns="0" rIns="0" bIns="0" rtlCol="0" anchor="t"/>
          <a:lstStyle/>
          <a:p>
            <a:pPr indent="0" marL="0">
              <a:spcAft>
                <a:spcPts val="600"/>
              </a:spcAft>
              <a:buNone/>
            </a:pPr>
            <a:r>
              <a:rPr lang="en-US" sz="4600" b="1" dirty="0">
                <a:solidFill>
                  <a:srgbClr val="202124"/>
                </a:solidFill>
                <a:latin typeface="Quicksand" pitchFamily="34" charset="0"/>
                <a:ea typeface="Quicksand" pitchFamily="34" charset="-122"/>
                <a:cs typeface="Quicksand" pitchFamily="34" charset="-120"/>
              </a:rPr>
              <a:t>Artificial</a:t>
            </a:r>
            <a:endParaRPr lang="en-US" sz="4600" dirty="0"/>
          </a:p>
          <a:p>
            <a:pPr indent="0" marL="0">
              <a:spcAft>
                <a:spcPts val="600"/>
              </a:spcAft>
              <a:buNone/>
            </a:pPr>
            <a:r>
              <a:rPr lang="en-US" sz="4600" b="1" dirty="0">
                <a:solidFill>
                  <a:srgbClr val="202124"/>
                </a:solidFill>
                <a:latin typeface="Quicksand" pitchFamily="34" charset="0"/>
                <a:ea typeface="Quicksand" pitchFamily="34" charset="-122"/>
                <a:cs typeface="Quicksand" pitchFamily="34" charset="-120"/>
              </a:rPr>
              <a:t>intelligence</a:t>
            </a:r>
            <a:endParaRPr lang="en-US" sz="4600" dirty="0"/>
          </a:p>
        </p:txBody>
      </p:sp>
      <p:sp>
        <p:nvSpPr>
          <p:cNvPr id="4" name="Text 2"/>
          <p:cNvSpPr txBox="1"/>
          <p:nvPr/>
        </p:nvSpPr>
        <p:spPr>
          <a:xfrm>
            <a:off x="685800" y="4041648"/>
            <a:ext cx="6583680" cy="457200"/>
          </a:xfrm>
          <a:prstGeom prst="rect">
            <a:avLst/>
          </a:prstGeom>
          <a:noFill/>
          <a:ln/>
        </p:spPr>
        <p:txBody>
          <a:bodyPr wrap="square" lIns="0" tIns="0" rIns="0" bIns="0" rtlCol="0" anchor="t"/>
          <a:lstStyle/>
          <a:p>
            <a:pPr indent="0" marL="0">
              <a:spcAft>
                <a:spcPts val="600"/>
              </a:spcAft>
              <a:buNone/>
            </a:pPr>
            <a:r>
              <a:rPr lang="en-US" sz="2000" dirty="0">
                <a:solidFill>
                  <a:srgbClr val="666666"/>
                </a:solidFill>
                <a:latin typeface="Quicksand" pitchFamily="34" charset="0"/>
                <a:ea typeface="Quicksand" pitchFamily="34" charset="-122"/>
                <a:cs typeface="Quicksand" pitchFamily="34" charset="-120"/>
              </a:rPr>
              <a:t>IGCSE 0478 · Paper 1 · 6.3</a:t>
            </a:r>
            <a:endParaRPr lang="en-US" sz="2000" dirty="0"/>
          </a:p>
        </p:txBody>
      </p:sp>
      <p:sp>
        <p:nvSpPr>
          <p:cNvPr id="5" name="Text 3"/>
          <p:cNvSpPr txBox="1"/>
          <p:nvPr/>
        </p:nvSpPr>
        <p:spPr>
          <a:xfrm>
            <a:off x="685800" y="4663440"/>
            <a:ext cx="6583680" cy="457200"/>
          </a:xfrm>
          <a:prstGeom prst="rect">
            <a:avLst/>
          </a:prstGeom>
          <a:noFill/>
          <a:ln/>
        </p:spPr>
        <p:txBody>
          <a:bodyPr wrap="square" lIns="0" tIns="0" rIns="0" bIns="0" rtlCol="0" anchor="t"/>
          <a:lstStyle/>
          <a:p>
            <a:pPr indent="0" marL="0">
              <a:spcAft>
                <a:spcPts val="600"/>
              </a:spcAft>
              <a:buNone/>
            </a:pPr>
            <a:r>
              <a:rPr lang="en-US" sz="2000" dirty="0">
                <a:solidFill>
                  <a:srgbClr val="494985"/>
                </a:solidFill>
                <a:latin typeface="Quicksand" pitchFamily="34" charset="0"/>
                <a:ea typeface="Quicksand" pitchFamily="34" charset="-122"/>
                <a:cs typeface="Quicksand" pitchFamily="34" charset="-120"/>
              </a:rPr>
              <a:t>Rules. Reasoning. Learning.</a:t>
            </a:r>
            <a:endParaRPr lang="en-US" sz="2000" dirty="0"/>
          </a:p>
        </p:txBody>
      </p:sp>
      <p:pic>
        <p:nvPicPr>
          <p:cNvPr id="6" name="Image 0" descr="brain circuit">    </p:cNvPr>
          <p:cNvPicPr>
            <a:picLocks noChangeAspect="1"/>
          </p:cNvPicPr>
          <p:nvPr/>
        </p:nvPicPr>
        <p:blipFill>
          <a:blip r:embed="rId1"/>
          <a:stretch>
            <a:fillRect/>
          </a:stretch>
        </p:blipFill>
        <p:spPr>
          <a:xfrm>
            <a:off x="8549640" y="1463040"/>
            <a:ext cx="2651760" cy="2651760"/>
          </a:xfrm>
          <a:prstGeom prst="rect">
            <a:avLst/>
          </a:prstGeom>
        </p:spPr>
      </p:pic>
      <p:sp>
        <p:nvSpPr>
          <p:cNvPr id="7" name="Shape 4"/>
          <p:cNvSpPr/>
          <p:nvPr/>
        </p:nvSpPr>
        <p:spPr>
          <a:xfrm>
            <a:off x="8321040" y="4526280"/>
            <a:ext cx="3291840" cy="365760"/>
          </a:xfrm>
          <a:prstGeom prst="roundRect">
            <a:avLst>
              <a:gd name="adj" fmla="val 37500"/>
            </a:avLst>
          </a:prstGeom>
          <a:solidFill>
            <a:srgbClr val="494985"/>
          </a:solidFill>
          <a:ln w="12700">
            <a:solidFill>
              <a:srgbClr val="494985"/>
            </a:solidFill>
            <a:prstDash val="solid"/>
          </a:ln>
        </p:spPr>
      </p:sp>
      <p:sp>
        <p:nvSpPr>
          <p:cNvPr id="8" name="Text 5"/>
          <p:cNvSpPr txBox="1"/>
          <p:nvPr/>
        </p:nvSpPr>
        <p:spPr>
          <a:xfrm>
            <a:off x="8394192" y="4581144"/>
            <a:ext cx="3145536" cy="256032"/>
          </a:xfrm>
          <a:prstGeom prst="rect">
            <a:avLst/>
          </a:prstGeom>
          <a:noFill/>
          <a:ln/>
        </p:spPr>
        <p:txBody>
          <a:bodyPr wrap="square" lIns="0" tIns="0" rIns="0" bIns="0" rtlCol="0" anchor="t"/>
          <a:lstStyle/>
          <a:p>
            <a:pPr algn="ctr" indent="0" marL="0">
              <a:spcAft>
                <a:spcPts val="600"/>
              </a:spcAft>
              <a:buNone/>
            </a:pPr>
            <a:r>
              <a:rPr lang="en-US" sz="1300" b="1" dirty="0">
                <a:solidFill>
                  <a:srgbClr val="FFFFFF"/>
                </a:solidFill>
                <a:latin typeface="Quicksand" pitchFamily="34" charset="0"/>
                <a:ea typeface="Quicksand" pitchFamily="34" charset="-122"/>
                <a:cs typeface="Quicksand" pitchFamily="34" charset="-120"/>
              </a:rPr>
              <a:t>EXPERT RULES</a:t>
            </a:r>
            <a:endParaRPr lang="en-US" sz="1300" dirty="0"/>
          </a:p>
        </p:txBody>
      </p:sp>
      <p:sp>
        <p:nvSpPr>
          <p:cNvPr id="9" name="Shape 6"/>
          <p:cNvSpPr/>
          <p:nvPr/>
        </p:nvSpPr>
        <p:spPr>
          <a:xfrm>
            <a:off x="8321040" y="5120640"/>
            <a:ext cx="3291840" cy="365760"/>
          </a:xfrm>
          <a:prstGeom prst="roundRect">
            <a:avLst>
              <a:gd name="adj" fmla="val 37500"/>
            </a:avLst>
          </a:prstGeom>
          <a:solidFill>
            <a:srgbClr val="494985"/>
          </a:solidFill>
          <a:ln w="12700">
            <a:solidFill>
              <a:srgbClr val="494985"/>
            </a:solidFill>
            <a:prstDash val="solid"/>
          </a:ln>
        </p:spPr>
      </p:sp>
      <p:sp>
        <p:nvSpPr>
          <p:cNvPr id="10" name="Text 7"/>
          <p:cNvSpPr txBox="1"/>
          <p:nvPr/>
        </p:nvSpPr>
        <p:spPr>
          <a:xfrm>
            <a:off x="8394192" y="5175504"/>
            <a:ext cx="3145536" cy="256032"/>
          </a:xfrm>
          <a:prstGeom prst="rect">
            <a:avLst/>
          </a:prstGeom>
          <a:noFill/>
          <a:ln/>
        </p:spPr>
        <p:txBody>
          <a:bodyPr wrap="square" lIns="0" tIns="0" rIns="0" bIns="0" rtlCol="0" anchor="t"/>
          <a:lstStyle/>
          <a:p>
            <a:pPr algn="ctr" indent="0" marL="0">
              <a:spcAft>
                <a:spcPts val="600"/>
              </a:spcAft>
              <a:buNone/>
            </a:pPr>
            <a:r>
              <a:rPr lang="en-US" sz="1300" b="1" dirty="0">
                <a:solidFill>
                  <a:srgbClr val="FFFFFF"/>
                </a:solidFill>
                <a:latin typeface="Quicksand" pitchFamily="34" charset="0"/>
                <a:ea typeface="Quicksand" pitchFamily="34" charset="-122"/>
                <a:cs typeface="Quicksand" pitchFamily="34" charset="-120"/>
              </a:rPr>
              <a:t>LEARNED PATTERNS</a:t>
            </a:r>
            <a:endParaRPr lang="en-US" sz="1300" dirty="0"/>
          </a:p>
        </p:txBody>
      </p:sp>
      <p:sp>
        <p:nvSpPr>
          <p:cNvPr id="11" name="Text 8"/>
          <p:cNvSpPr txBox="1"/>
          <p:nvPr/>
        </p:nvSpPr>
        <p:spPr>
          <a:xfrm>
            <a:off x="685800" y="5349240"/>
            <a:ext cx="6583680" cy="457200"/>
          </a:xfrm>
          <a:prstGeom prst="rect">
            <a:avLst/>
          </a:prstGeom>
          <a:noFill/>
          <a:ln/>
        </p:spPr>
        <p:txBody>
          <a:bodyPr wrap="square" lIns="0" tIns="0" rIns="0" bIns="0" rtlCol="0" anchor="t"/>
          <a:lstStyle/>
          <a:p>
            <a:pPr indent="0" marL="0">
              <a:spcAft>
                <a:spcPts val="600"/>
              </a:spcAft>
              <a:buNone/>
            </a:pPr>
            <a:r>
              <a:rPr lang="en-US" sz="1900" b="1" dirty="0">
                <a:solidFill>
                  <a:srgbClr val="494985"/>
                </a:solidFill>
                <a:latin typeface="Quicksand" pitchFamily="34" charset="0"/>
                <a:ea typeface="Quicksand" pitchFamily="34" charset="-122"/>
                <a:cs typeface="Quicksand" pitchFamily="34" charset="-120"/>
              </a:rPr>
              <a:t>How does a computer decide?</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Recall: robotics</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Starter · 6 min</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2</a:t>
            </a:r>
            <a:endParaRPr lang="en-US" sz="13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85800" y="1508760"/>
          <a:ext cx="10789920" cy="914400"/>
        </p:xfrm>
        <a:graphic>
          <a:graphicData uri="http://schemas.openxmlformats.org/drawingml/2006/table">
            <a:tbl>
              <a:tblPr/>
              <a:tblGrid>
                <a:gridCol w="9052560"/>
                <a:gridCol w="1737360"/>
              </a:tblGrid>
              <a:tr h="640080">
                <a:tc>
                  <a:txBody>
                    <a:bodyPr/>
                    <a:lstStyle/>
                    <a:p>
                      <a:pPr indent="0" marL="0">
                        <a:buNone/>
                      </a:pPr>
                      <a:r>
                        <a:rPr lang="en-US" sz="1850" b="1" dirty="0">
                          <a:solidFill>
                            <a:srgbClr val="FFFFFF"/>
                          </a:solidFill>
                          <a:latin typeface="Quicksand" pitchFamily="34" charset="0"/>
                          <a:ea typeface="Quicksand" pitchFamily="34" charset="-122"/>
                          <a:cs typeface="Quicksand" pitchFamily="34" charset="-120"/>
                        </a:rPr>
                        <a:t>Recall focus</a:t>
                      </a:r>
                      <a:endParaRPr lang="en-US" sz="18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c>
                  <a:txBody>
                    <a:bodyPr/>
                    <a:lstStyle/>
                    <a:p>
                      <a:pPr indent="0" marL="0">
                        <a:buNone/>
                      </a:pPr>
                      <a:r>
                        <a:rPr lang="en-US" sz="1850" b="1" dirty="0">
                          <a:solidFill>
                            <a:srgbClr val="FFFFFF"/>
                          </a:solidFill>
                          <a:latin typeface="Quicksand" pitchFamily="34" charset="0"/>
                          <a:ea typeface="Quicksand" pitchFamily="34" charset="-122"/>
                          <a:cs typeface="Quicksand" pitchFamily="34" charset="-120"/>
                        </a:rPr>
                        <a:t>Marks</a:t>
                      </a:r>
                      <a:endParaRPr lang="en-US" sz="18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r>
              <a:tr h="640080">
                <a:tc>
                  <a:txBody>
                    <a:bodyPr/>
                    <a:lstStyle/>
                    <a:p>
                      <a:pPr indent="0" marL="0">
                        <a:buNone/>
                      </a:pPr>
                      <a:r>
                        <a:rPr lang="en-US" sz="1800" dirty="0">
                          <a:solidFill>
                            <a:srgbClr val="202124"/>
                          </a:solidFill>
                          <a:latin typeface="Quicksand" pitchFamily="34" charset="0"/>
                          <a:ea typeface="Quicksand" pitchFamily="34" charset="-122"/>
                          <a:cs typeface="Quicksand" pitchFamily="34" charset="-120"/>
                        </a:rPr>
                        <a:t>Three characteristics of a robot</a:t>
                      </a:r>
                      <a:endParaRPr lang="en-US" sz="18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800" dirty="0">
                          <a:solidFill>
                            <a:srgbClr val="202124"/>
                          </a:solidFill>
                          <a:latin typeface="Quicksand" pitchFamily="34" charset="0"/>
                          <a:ea typeface="Quicksand" pitchFamily="34" charset="-122"/>
                          <a:cs typeface="Quicksand" pitchFamily="34" charset="-120"/>
                        </a:rPr>
                        <a:t>3</a:t>
                      </a:r>
                      <a:endParaRPr lang="en-US" sz="18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640080">
                <a:tc>
                  <a:txBody>
                    <a:bodyPr/>
                    <a:lstStyle/>
                    <a:p>
                      <a:pPr indent="0" marL="0">
                        <a:buNone/>
                      </a:pPr>
                      <a:r>
                        <a:rPr lang="en-US" sz="1800" dirty="0">
                          <a:solidFill>
                            <a:srgbClr val="202124"/>
                          </a:solidFill>
                          <a:latin typeface="Quicksand" pitchFamily="34" charset="0"/>
                          <a:ea typeface="Quicksand" pitchFamily="34" charset="-122"/>
                          <a:cs typeface="Quicksand" pitchFamily="34" charset="-120"/>
                        </a:rPr>
                        <a:t>Sensor → microprocessor → actuator</a:t>
                      </a:r>
                      <a:endParaRPr lang="en-US" sz="18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800" dirty="0">
                          <a:solidFill>
                            <a:srgbClr val="202124"/>
                          </a:solidFill>
                          <a:latin typeface="Quicksand" pitchFamily="34" charset="0"/>
                          <a:ea typeface="Quicksand" pitchFamily="34" charset="-122"/>
                          <a:cs typeface="Quicksand" pitchFamily="34" charset="-120"/>
                        </a:rPr>
                        <a:t>3</a:t>
                      </a:r>
                      <a:endParaRPr lang="en-US" sz="18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640080">
                <a:tc>
                  <a:txBody>
                    <a:bodyPr/>
                    <a:lstStyle/>
                    <a:p>
                      <a:pPr indent="0" marL="0">
                        <a:buNone/>
                      </a:pPr>
                      <a:r>
                        <a:rPr lang="en-US" sz="1800" dirty="0">
                          <a:solidFill>
                            <a:srgbClr val="202124"/>
                          </a:solidFill>
                          <a:latin typeface="Quicksand" pitchFamily="34" charset="0"/>
                          <a:ea typeface="Quicksand" pitchFamily="34" charset="-122"/>
                          <a:cs typeface="Quicksand" pitchFamily="34" charset="-120"/>
                        </a:rPr>
                        <a:t>A factory benefit and a drawback</a:t>
                      </a:r>
                      <a:endParaRPr lang="en-US" sz="18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800" dirty="0">
                          <a:solidFill>
                            <a:srgbClr val="202124"/>
                          </a:solidFill>
                          <a:latin typeface="Quicksand" pitchFamily="34" charset="0"/>
                          <a:ea typeface="Quicksand" pitchFamily="34" charset="-122"/>
                          <a:cs typeface="Quicksand" pitchFamily="34" charset="-120"/>
                        </a:rPr>
                        <a:t>4</a:t>
                      </a:r>
                      <a:endParaRPr lang="en-US" sz="18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640080">
                <a:tc>
                  <a:txBody>
                    <a:bodyPr/>
                    <a:lstStyle/>
                    <a:p>
                      <a:pPr indent="0" marL="0">
                        <a:buNone/>
                      </a:pPr>
                      <a:r>
                        <a:rPr lang="en-US" sz="1800" dirty="0">
                          <a:solidFill>
                            <a:srgbClr val="202124"/>
                          </a:solidFill>
                          <a:latin typeface="Quicksand" pitchFamily="34" charset="0"/>
                          <a:ea typeface="Quicksand" pitchFamily="34" charset="-122"/>
                          <a:cs typeface="Quicksand" pitchFamily="34" charset="-120"/>
                        </a:rPr>
                        <a:t>Stopping safely + autonomous meaning</a:t>
                      </a:r>
                      <a:endParaRPr lang="en-US" sz="18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800" dirty="0">
                          <a:solidFill>
                            <a:srgbClr val="202124"/>
                          </a:solidFill>
                          <a:latin typeface="Quicksand" pitchFamily="34" charset="0"/>
                          <a:ea typeface="Quicksand" pitchFamily="34" charset="-122"/>
                          <a:cs typeface="Quicksand" pitchFamily="34" charset="-120"/>
                        </a:rPr>
                        <a:t>5</a:t>
                      </a:r>
                      <a:endParaRPr lang="en-US" sz="18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685800" y="5623560"/>
            <a:ext cx="10698480" cy="438912"/>
          </a:xfrm>
          <a:prstGeom prst="rect">
            <a:avLst/>
          </a:prstGeom>
          <a:noFill/>
          <a:ln/>
        </p:spPr>
        <p:txBody>
          <a:bodyPr wrap="square" lIns="0" tIns="0" rIns="0" bIns="0" rtlCol="0" anchor="t"/>
          <a:lstStyle/>
          <a:p>
            <a:pPr indent="0" marL="0">
              <a:buNone/>
            </a:pPr>
            <a:r>
              <a:rPr lang="en-US" sz="1500" b="1" dirty="0">
                <a:solidFill>
                  <a:srgbClr val="494985"/>
                </a:solidFill>
                <a:latin typeface="Quicksand" pitchFamily="34" charset="0"/>
                <a:ea typeface="Quicksand" pitchFamily="34" charset="-122"/>
                <a:cs typeface="Quicksand" pitchFamily="34" charset="-120"/>
              </a:rPr>
              <a:t>Closed book first. AI is the next step—not a requirement for every robot.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In this lesson, you will</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Objectives</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3</a:t>
            </a:r>
            <a:endParaRPr lang="en-US" sz="1350" dirty="0"/>
          </a:p>
        </p:txBody>
      </p:sp>
      <p:sp>
        <p:nvSpPr>
          <p:cNvPr id="7" name="Shape 4"/>
          <p:cNvSpPr/>
          <p:nvPr/>
        </p:nvSpPr>
        <p:spPr>
          <a:xfrm>
            <a:off x="685800" y="1325880"/>
            <a:ext cx="10789920" cy="868680"/>
          </a:xfrm>
          <a:prstGeom prst="rect">
            <a:avLst/>
          </a:prstGeom>
          <a:solidFill>
            <a:srgbClr val="F6F5FC"/>
          </a:solidFill>
          <a:ln w="12700">
            <a:solidFill>
              <a:srgbClr val="F6F5FC"/>
            </a:solidFill>
            <a:prstDash val="solid"/>
          </a:ln>
        </p:spPr>
      </p:sp>
      <p:sp>
        <p:nvSpPr>
          <p:cNvPr id="8" name="Text 5"/>
          <p:cNvSpPr/>
          <p:nvPr/>
        </p:nvSpPr>
        <p:spPr>
          <a:xfrm>
            <a:off x="822960" y="1463040"/>
            <a:ext cx="384048" cy="384048"/>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400" b="1" dirty="0">
                <a:solidFill>
                  <a:srgbClr val="FFFFFF"/>
                </a:solidFill>
                <a:latin typeface="Quicksand" pitchFamily="34" charset="0"/>
                <a:ea typeface="Quicksand" pitchFamily="34" charset="-122"/>
                <a:cs typeface="Quicksand" pitchFamily="34" charset="-120"/>
              </a:rPr>
              <a:t>1</a:t>
            </a:r>
            <a:endParaRPr lang="en-US" sz="1400" dirty="0"/>
          </a:p>
        </p:txBody>
      </p:sp>
      <p:sp>
        <p:nvSpPr>
          <p:cNvPr id="9" name="Text 6"/>
          <p:cNvSpPr txBox="1"/>
          <p:nvPr/>
        </p:nvSpPr>
        <p:spPr>
          <a:xfrm>
            <a:off x="1344168" y="1435608"/>
            <a:ext cx="10012680" cy="411480"/>
          </a:xfrm>
          <a:prstGeom prst="rect">
            <a:avLst/>
          </a:prstGeom>
          <a:noFill/>
          <a:ln/>
        </p:spPr>
        <p:txBody>
          <a:bodyPr wrap="square" lIns="0" tIns="0" rIns="0" bIns="0" rtlCol="0" anchor="ctr"/>
          <a:lstStyle/>
          <a:p>
            <a:pPr indent="0" marL="0">
              <a:buNone/>
            </a:pPr>
            <a:r>
              <a:rPr lang="en-US" sz="1700" b="1" dirty="0">
                <a:solidFill>
                  <a:srgbClr val="202124"/>
                </a:solidFill>
                <a:latin typeface="Quicksand" pitchFamily="34" charset="0"/>
                <a:ea typeface="Quicksand" pitchFamily="34" charset="-122"/>
                <a:cs typeface="Quicksand" pitchFamily="34" charset="-120"/>
              </a:rPr>
              <a:t>Define AI</a:t>
            </a:r>
            <a:endParaRPr lang="en-US" sz="1700" dirty="0"/>
          </a:p>
        </p:txBody>
      </p:sp>
      <p:sp>
        <p:nvSpPr>
          <p:cNvPr id="10" name="Text 7"/>
          <p:cNvSpPr txBox="1"/>
          <p:nvPr/>
        </p:nvSpPr>
        <p:spPr>
          <a:xfrm>
            <a:off x="1344168" y="1828800"/>
            <a:ext cx="10012680" cy="301752"/>
          </a:xfrm>
          <a:prstGeom prst="rect">
            <a:avLst/>
          </a:prstGeom>
          <a:noFill/>
          <a:ln/>
        </p:spPr>
        <p:txBody>
          <a:bodyPr wrap="square" lIns="0" tIns="0" rIns="0" bIns="0" rtlCol="0" anchor="t"/>
          <a:lstStyle/>
          <a:p>
            <a:pPr indent="0" marL="0">
              <a:buNone/>
            </a:pPr>
            <a:r>
              <a:rPr lang="en-US" sz="1400" dirty="0">
                <a:solidFill>
                  <a:srgbClr val="202124"/>
                </a:solidFill>
                <a:latin typeface="Quicksand" pitchFamily="34" charset="0"/>
                <a:ea typeface="Quicksand" pitchFamily="34" charset="-122"/>
                <a:cs typeface="Quicksand" pitchFamily="34" charset="-120"/>
              </a:rPr>
              <a:t>Rules/data, reasoning, learning and adapting</a:t>
            </a:r>
            <a:endParaRPr lang="en-US" sz="1400" dirty="0"/>
          </a:p>
        </p:txBody>
      </p:sp>
      <p:sp>
        <p:nvSpPr>
          <p:cNvPr id="11" name="Shape 8"/>
          <p:cNvSpPr/>
          <p:nvPr/>
        </p:nvSpPr>
        <p:spPr>
          <a:xfrm>
            <a:off x="685800" y="2240280"/>
            <a:ext cx="10789920" cy="868680"/>
          </a:xfrm>
          <a:prstGeom prst="rect">
            <a:avLst/>
          </a:prstGeom>
          <a:solidFill>
            <a:srgbClr val="F6F5FC"/>
          </a:solidFill>
          <a:ln w="12700">
            <a:solidFill>
              <a:srgbClr val="F6F5FC"/>
            </a:solidFill>
            <a:prstDash val="solid"/>
          </a:ln>
        </p:spPr>
      </p:sp>
      <p:sp>
        <p:nvSpPr>
          <p:cNvPr id="12" name="Text 9"/>
          <p:cNvSpPr/>
          <p:nvPr/>
        </p:nvSpPr>
        <p:spPr>
          <a:xfrm>
            <a:off x="822960" y="2377440"/>
            <a:ext cx="384048" cy="384048"/>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400" b="1" dirty="0">
                <a:solidFill>
                  <a:srgbClr val="FFFFFF"/>
                </a:solidFill>
                <a:latin typeface="Quicksand" pitchFamily="34" charset="0"/>
                <a:ea typeface="Quicksand" pitchFamily="34" charset="-122"/>
                <a:cs typeface="Quicksand" pitchFamily="34" charset="-120"/>
              </a:rPr>
              <a:t>2</a:t>
            </a:r>
            <a:endParaRPr lang="en-US" sz="1400" dirty="0"/>
          </a:p>
        </p:txBody>
      </p:sp>
      <p:sp>
        <p:nvSpPr>
          <p:cNvPr id="13" name="Text 10"/>
          <p:cNvSpPr txBox="1"/>
          <p:nvPr/>
        </p:nvSpPr>
        <p:spPr>
          <a:xfrm>
            <a:off x="1344168" y="2350008"/>
            <a:ext cx="10012680" cy="411480"/>
          </a:xfrm>
          <a:prstGeom prst="rect">
            <a:avLst/>
          </a:prstGeom>
          <a:noFill/>
          <a:ln/>
        </p:spPr>
        <p:txBody>
          <a:bodyPr wrap="square" lIns="0" tIns="0" rIns="0" bIns="0" rtlCol="0" anchor="ctr"/>
          <a:lstStyle/>
          <a:p>
            <a:pPr indent="0" marL="0">
              <a:buNone/>
            </a:pPr>
            <a:r>
              <a:rPr lang="en-US" sz="1700" b="1" dirty="0">
                <a:solidFill>
                  <a:srgbClr val="202124"/>
                </a:solidFill>
                <a:latin typeface="Quicksand" pitchFamily="34" charset="0"/>
                <a:ea typeface="Quicksand" pitchFamily="34" charset="-122"/>
                <a:cs typeface="Quicksand" pitchFamily="34" charset="-120"/>
              </a:rPr>
              <a:t>Map an expert system</a:t>
            </a:r>
            <a:endParaRPr lang="en-US" sz="1700" dirty="0"/>
          </a:p>
        </p:txBody>
      </p:sp>
      <p:sp>
        <p:nvSpPr>
          <p:cNvPr id="14" name="Text 11"/>
          <p:cNvSpPr txBox="1"/>
          <p:nvPr/>
        </p:nvSpPr>
        <p:spPr>
          <a:xfrm>
            <a:off x="1344168" y="2743200"/>
            <a:ext cx="10012680" cy="301752"/>
          </a:xfrm>
          <a:prstGeom prst="rect">
            <a:avLst/>
          </a:prstGeom>
          <a:noFill/>
          <a:ln/>
        </p:spPr>
        <p:txBody>
          <a:bodyPr wrap="square" lIns="0" tIns="0" rIns="0" bIns="0" rtlCol="0" anchor="t"/>
          <a:lstStyle/>
          <a:p>
            <a:pPr indent="0" marL="0">
              <a:buNone/>
            </a:pPr>
            <a:r>
              <a:rPr lang="en-US" sz="1400" dirty="0">
                <a:solidFill>
                  <a:srgbClr val="202124"/>
                </a:solidFill>
                <a:latin typeface="Quicksand" pitchFamily="34" charset="0"/>
                <a:ea typeface="Quicksand" pitchFamily="34" charset="-122"/>
                <a:cs typeface="Quicksand" pitchFamily="34" charset="-120"/>
              </a:rPr>
              <a:t>Explain four core components</a:t>
            </a:r>
            <a:endParaRPr lang="en-US" sz="1400" dirty="0"/>
          </a:p>
        </p:txBody>
      </p:sp>
      <p:sp>
        <p:nvSpPr>
          <p:cNvPr id="15" name="Shape 12"/>
          <p:cNvSpPr/>
          <p:nvPr/>
        </p:nvSpPr>
        <p:spPr>
          <a:xfrm>
            <a:off x="685800" y="3154680"/>
            <a:ext cx="10789920" cy="868680"/>
          </a:xfrm>
          <a:prstGeom prst="rect">
            <a:avLst/>
          </a:prstGeom>
          <a:solidFill>
            <a:srgbClr val="F6F5FC"/>
          </a:solidFill>
          <a:ln w="12700">
            <a:solidFill>
              <a:srgbClr val="F6F5FC"/>
            </a:solidFill>
            <a:prstDash val="solid"/>
          </a:ln>
        </p:spPr>
      </p:sp>
      <p:sp>
        <p:nvSpPr>
          <p:cNvPr id="16" name="Text 13"/>
          <p:cNvSpPr/>
          <p:nvPr/>
        </p:nvSpPr>
        <p:spPr>
          <a:xfrm>
            <a:off x="822960" y="3291840"/>
            <a:ext cx="384048" cy="384048"/>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400" b="1" dirty="0">
                <a:solidFill>
                  <a:srgbClr val="FFFFFF"/>
                </a:solidFill>
                <a:latin typeface="Quicksand" pitchFamily="34" charset="0"/>
                <a:ea typeface="Quicksand" pitchFamily="34" charset="-122"/>
                <a:cs typeface="Quicksand" pitchFamily="34" charset="-120"/>
              </a:rPr>
              <a:t>3</a:t>
            </a:r>
            <a:endParaRPr lang="en-US" sz="1400" dirty="0"/>
          </a:p>
        </p:txBody>
      </p:sp>
      <p:sp>
        <p:nvSpPr>
          <p:cNvPr id="17" name="Text 14"/>
          <p:cNvSpPr txBox="1"/>
          <p:nvPr/>
        </p:nvSpPr>
        <p:spPr>
          <a:xfrm>
            <a:off x="1344168" y="3264408"/>
            <a:ext cx="10012680" cy="411480"/>
          </a:xfrm>
          <a:prstGeom prst="rect">
            <a:avLst/>
          </a:prstGeom>
          <a:noFill/>
          <a:ln/>
        </p:spPr>
        <p:txBody>
          <a:bodyPr wrap="square" lIns="0" tIns="0" rIns="0" bIns="0" rtlCol="0" anchor="ctr"/>
          <a:lstStyle/>
          <a:p>
            <a:pPr indent="0" marL="0">
              <a:buNone/>
            </a:pPr>
            <a:r>
              <a:rPr lang="en-US" sz="1700" b="1" dirty="0">
                <a:solidFill>
                  <a:srgbClr val="202124"/>
                </a:solidFill>
                <a:latin typeface="Quicksand" pitchFamily="34" charset="0"/>
                <a:ea typeface="Quicksand" pitchFamily="34" charset="-122"/>
                <a:cs typeface="Quicksand" pitchFamily="34" charset="-120"/>
              </a:rPr>
              <a:t>Apply IF–THEN rules</a:t>
            </a:r>
            <a:endParaRPr lang="en-US" sz="1700" dirty="0"/>
          </a:p>
        </p:txBody>
      </p:sp>
      <p:sp>
        <p:nvSpPr>
          <p:cNvPr id="18" name="Text 15"/>
          <p:cNvSpPr txBox="1"/>
          <p:nvPr/>
        </p:nvSpPr>
        <p:spPr>
          <a:xfrm>
            <a:off x="1344168" y="3657600"/>
            <a:ext cx="10012680" cy="301752"/>
          </a:xfrm>
          <a:prstGeom prst="rect">
            <a:avLst/>
          </a:prstGeom>
          <a:noFill/>
          <a:ln/>
        </p:spPr>
        <p:txBody>
          <a:bodyPr wrap="square" lIns="0" tIns="0" rIns="0" bIns="0" rtlCol="0" anchor="t"/>
          <a:lstStyle/>
          <a:p>
            <a:pPr indent="0" marL="0">
              <a:buNone/>
            </a:pPr>
            <a:r>
              <a:rPr lang="en-US" sz="1400" dirty="0">
                <a:solidFill>
                  <a:srgbClr val="202124"/>
                </a:solidFill>
                <a:latin typeface="Quicksand" pitchFamily="34" charset="0"/>
                <a:ea typeface="Quicksand" pitchFamily="34" charset="-122"/>
                <a:cs typeface="Quicksand" pitchFamily="34" charset="-120"/>
              </a:rPr>
              <a:t>Trace how evidence leads to a conclusion</a:t>
            </a:r>
            <a:endParaRPr lang="en-US" sz="1400" dirty="0"/>
          </a:p>
        </p:txBody>
      </p:sp>
      <p:sp>
        <p:nvSpPr>
          <p:cNvPr id="19" name="Shape 16"/>
          <p:cNvSpPr/>
          <p:nvPr/>
        </p:nvSpPr>
        <p:spPr>
          <a:xfrm>
            <a:off x="685800" y="4069080"/>
            <a:ext cx="10789920" cy="868680"/>
          </a:xfrm>
          <a:prstGeom prst="rect">
            <a:avLst/>
          </a:prstGeom>
          <a:solidFill>
            <a:srgbClr val="F6F5FC"/>
          </a:solidFill>
          <a:ln w="12700">
            <a:solidFill>
              <a:srgbClr val="F6F5FC"/>
            </a:solidFill>
            <a:prstDash val="solid"/>
          </a:ln>
        </p:spPr>
      </p:sp>
      <p:sp>
        <p:nvSpPr>
          <p:cNvPr id="20" name="Text 17"/>
          <p:cNvSpPr/>
          <p:nvPr/>
        </p:nvSpPr>
        <p:spPr>
          <a:xfrm>
            <a:off x="822960" y="4206240"/>
            <a:ext cx="384048" cy="384048"/>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400" b="1" dirty="0">
                <a:solidFill>
                  <a:srgbClr val="FFFFFF"/>
                </a:solidFill>
                <a:latin typeface="Quicksand" pitchFamily="34" charset="0"/>
                <a:ea typeface="Quicksand" pitchFamily="34" charset="-122"/>
                <a:cs typeface="Quicksand" pitchFamily="34" charset="-120"/>
              </a:rPr>
              <a:t>4</a:t>
            </a:r>
            <a:endParaRPr lang="en-US" sz="1400" dirty="0"/>
          </a:p>
        </p:txBody>
      </p:sp>
      <p:sp>
        <p:nvSpPr>
          <p:cNvPr id="21" name="Text 18"/>
          <p:cNvSpPr txBox="1"/>
          <p:nvPr/>
        </p:nvSpPr>
        <p:spPr>
          <a:xfrm>
            <a:off x="1344168" y="4178808"/>
            <a:ext cx="10012680" cy="411480"/>
          </a:xfrm>
          <a:prstGeom prst="rect">
            <a:avLst/>
          </a:prstGeom>
          <a:noFill/>
          <a:ln/>
        </p:spPr>
        <p:txBody>
          <a:bodyPr wrap="square" lIns="0" tIns="0" rIns="0" bIns="0" rtlCol="0" anchor="ctr"/>
          <a:lstStyle/>
          <a:p>
            <a:pPr indent="0" marL="0">
              <a:buNone/>
            </a:pPr>
            <a:r>
              <a:rPr lang="en-US" sz="1700" b="1" dirty="0">
                <a:solidFill>
                  <a:srgbClr val="202124"/>
                </a:solidFill>
                <a:latin typeface="Quicksand" pitchFamily="34" charset="0"/>
                <a:ea typeface="Quicksand" pitchFamily="34" charset="-122"/>
                <a:cs typeface="Quicksand" pitchFamily="34" charset="-120"/>
              </a:rPr>
              <a:t>Explain machine learning</a:t>
            </a:r>
            <a:endParaRPr lang="en-US" sz="1700" dirty="0"/>
          </a:p>
        </p:txBody>
      </p:sp>
      <p:sp>
        <p:nvSpPr>
          <p:cNvPr id="22" name="Text 19"/>
          <p:cNvSpPr txBox="1"/>
          <p:nvPr/>
        </p:nvSpPr>
        <p:spPr>
          <a:xfrm>
            <a:off x="1344168" y="4572000"/>
            <a:ext cx="10012680" cy="301752"/>
          </a:xfrm>
          <a:prstGeom prst="rect">
            <a:avLst/>
          </a:prstGeom>
          <a:noFill/>
          <a:ln/>
        </p:spPr>
        <p:txBody>
          <a:bodyPr wrap="square" lIns="0" tIns="0" rIns="0" bIns="0" rtlCol="0" anchor="t"/>
          <a:lstStyle/>
          <a:p>
            <a:pPr indent="0" marL="0">
              <a:buNone/>
            </a:pPr>
            <a:r>
              <a:rPr lang="en-US" sz="1400" dirty="0">
                <a:solidFill>
                  <a:srgbClr val="202124"/>
                </a:solidFill>
                <a:latin typeface="Quicksand" pitchFamily="34" charset="0"/>
                <a:ea typeface="Quicksand" pitchFamily="34" charset="-122"/>
                <a:cs typeface="Quicksand" pitchFamily="34" charset="-120"/>
              </a:rPr>
              <a:t>Training examples → patterns → predictions</a:t>
            </a:r>
            <a:endParaRPr lang="en-US" sz="1400" dirty="0"/>
          </a:p>
        </p:txBody>
      </p:sp>
      <p:sp>
        <p:nvSpPr>
          <p:cNvPr id="23" name="Shape 20"/>
          <p:cNvSpPr/>
          <p:nvPr/>
        </p:nvSpPr>
        <p:spPr>
          <a:xfrm>
            <a:off x="685800" y="4983480"/>
            <a:ext cx="10789920" cy="868680"/>
          </a:xfrm>
          <a:prstGeom prst="rect">
            <a:avLst/>
          </a:prstGeom>
          <a:solidFill>
            <a:srgbClr val="F6F5FC"/>
          </a:solidFill>
          <a:ln w="12700">
            <a:solidFill>
              <a:srgbClr val="F6F5FC"/>
            </a:solidFill>
            <a:prstDash val="solid"/>
          </a:ln>
        </p:spPr>
      </p:sp>
      <p:sp>
        <p:nvSpPr>
          <p:cNvPr id="24" name="Text 21"/>
          <p:cNvSpPr/>
          <p:nvPr/>
        </p:nvSpPr>
        <p:spPr>
          <a:xfrm>
            <a:off x="822960" y="5120640"/>
            <a:ext cx="384048" cy="384048"/>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400" b="1" dirty="0">
                <a:solidFill>
                  <a:srgbClr val="FFFFFF"/>
                </a:solidFill>
                <a:latin typeface="Quicksand" pitchFamily="34" charset="0"/>
                <a:ea typeface="Quicksand" pitchFamily="34" charset="-122"/>
                <a:cs typeface="Quicksand" pitchFamily="34" charset="-120"/>
              </a:rPr>
              <a:t>5</a:t>
            </a:r>
            <a:endParaRPr lang="en-US" sz="1400" dirty="0"/>
          </a:p>
        </p:txBody>
      </p:sp>
      <p:sp>
        <p:nvSpPr>
          <p:cNvPr id="25" name="Text 22"/>
          <p:cNvSpPr txBox="1"/>
          <p:nvPr/>
        </p:nvSpPr>
        <p:spPr>
          <a:xfrm>
            <a:off x="1344168" y="5093208"/>
            <a:ext cx="10012680" cy="411480"/>
          </a:xfrm>
          <a:prstGeom prst="rect">
            <a:avLst/>
          </a:prstGeom>
          <a:noFill/>
          <a:ln/>
        </p:spPr>
        <p:txBody>
          <a:bodyPr wrap="square" lIns="0" tIns="0" rIns="0" bIns="0" rtlCol="0" anchor="ctr"/>
          <a:lstStyle/>
          <a:p>
            <a:pPr indent="0" marL="0">
              <a:buNone/>
            </a:pPr>
            <a:r>
              <a:rPr lang="en-US" sz="1700" b="1" dirty="0">
                <a:solidFill>
                  <a:srgbClr val="202124"/>
                </a:solidFill>
                <a:latin typeface="Quicksand" pitchFamily="34" charset="0"/>
                <a:ea typeface="Quicksand" pitchFamily="34" charset="-122"/>
                <a:cs typeface="Quicksand" pitchFamily="34" charset="-120"/>
              </a:rPr>
              <a:t>Evaluate an AI decision</a:t>
            </a:r>
            <a:endParaRPr lang="en-US" sz="1700" dirty="0"/>
          </a:p>
        </p:txBody>
      </p:sp>
      <p:sp>
        <p:nvSpPr>
          <p:cNvPr id="26" name="Text 23"/>
          <p:cNvSpPr txBox="1"/>
          <p:nvPr/>
        </p:nvSpPr>
        <p:spPr>
          <a:xfrm>
            <a:off x="1344168" y="5486400"/>
            <a:ext cx="10012680" cy="301752"/>
          </a:xfrm>
          <a:prstGeom prst="rect">
            <a:avLst/>
          </a:prstGeom>
          <a:noFill/>
          <a:ln/>
        </p:spPr>
        <p:txBody>
          <a:bodyPr wrap="square" lIns="0" tIns="0" rIns="0" bIns="0" rtlCol="0" anchor="t"/>
          <a:lstStyle/>
          <a:p>
            <a:pPr indent="0" marL="0">
              <a:buNone/>
            </a:pPr>
            <a:r>
              <a:rPr lang="en-US" sz="1400" dirty="0">
                <a:solidFill>
                  <a:srgbClr val="202124"/>
                </a:solidFill>
                <a:latin typeface="Quicksand" pitchFamily="34" charset="0"/>
                <a:ea typeface="Quicksand" pitchFamily="34" charset="-122"/>
                <a:cs typeface="Quicksand" pitchFamily="34" charset="-120"/>
              </a:rPr>
              <a:t>Benefits, limitations and human checking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What makes a system AI?</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Activity 1</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4</a:t>
            </a:r>
            <a:endParaRPr lang="en-US" sz="1350" dirty="0"/>
          </a:p>
        </p:txBody>
      </p:sp>
      <p:sp>
        <p:nvSpPr>
          <p:cNvPr id="7" name="Shape 4"/>
          <p:cNvSpPr/>
          <p:nvPr/>
        </p:nvSpPr>
        <p:spPr>
          <a:xfrm>
            <a:off x="685800" y="1508760"/>
            <a:ext cx="5120640" cy="1664208"/>
          </a:xfrm>
          <a:prstGeom prst="roundRect">
            <a:avLst>
              <a:gd name="adj" fmla="val 8242"/>
            </a:avLst>
          </a:prstGeom>
          <a:solidFill>
            <a:srgbClr val="F6F5FC"/>
          </a:solidFill>
          <a:ln w="12700">
            <a:solidFill>
              <a:srgbClr val="F6F5FC"/>
            </a:solidFill>
            <a:prstDash val="solid"/>
          </a:ln>
        </p:spPr>
      </p:sp>
      <p:pic>
        <p:nvPicPr>
          <p:cNvPr id="8" name="Image 0" descr="database">    </p:cNvPr>
          <p:cNvPicPr>
            <a:picLocks noChangeAspect="1"/>
          </p:cNvPicPr>
          <p:nvPr/>
        </p:nvPicPr>
        <p:blipFill>
          <a:blip r:embed="rId1"/>
          <a:stretch>
            <a:fillRect/>
          </a:stretch>
        </p:blipFill>
        <p:spPr>
          <a:xfrm>
            <a:off x="850392" y="1847088"/>
            <a:ext cx="868680" cy="868680"/>
          </a:xfrm>
          <a:prstGeom prst="rect">
            <a:avLst/>
          </a:prstGeom>
        </p:spPr>
      </p:pic>
      <p:sp>
        <p:nvSpPr>
          <p:cNvPr id="9" name="Text 5"/>
          <p:cNvSpPr txBox="1"/>
          <p:nvPr/>
        </p:nvSpPr>
        <p:spPr>
          <a:xfrm>
            <a:off x="1965960" y="1764792"/>
            <a:ext cx="3611880" cy="457200"/>
          </a:xfrm>
          <a:prstGeom prst="rect">
            <a:avLst/>
          </a:prstGeom>
          <a:noFill/>
          <a:ln/>
        </p:spPr>
        <p:txBody>
          <a:bodyPr wrap="square" lIns="0" tIns="0" rIns="0" bIns="0" rtlCol="0" anchor="t"/>
          <a:lstStyle/>
          <a:p>
            <a:pPr indent="0" marL="0">
              <a:spcAft>
                <a:spcPts val="600"/>
              </a:spcAft>
              <a:buNone/>
            </a:pPr>
            <a:r>
              <a:rPr lang="en-US" sz="2300" b="1" dirty="0">
                <a:solidFill>
                  <a:srgbClr val="494985"/>
                </a:solidFill>
                <a:latin typeface="Quicksand" pitchFamily="34" charset="0"/>
                <a:ea typeface="Quicksand" pitchFamily="34" charset="-122"/>
                <a:cs typeface="Quicksand" pitchFamily="34" charset="-120"/>
              </a:rPr>
              <a:t>Rules &amp; data</a:t>
            </a:r>
            <a:endParaRPr lang="en-US" sz="2300" dirty="0"/>
          </a:p>
        </p:txBody>
      </p:sp>
      <p:sp>
        <p:nvSpPr>
          <p:cNvPr id="10" name="Text 6"/>
          <p:cNvSpPr txBox="1"/>
          <p:nvPr/>
        </p:nvSpPr>
        <p:spPr>
          <a:xfrm>
            <a:off x="1965960" y="2377440"/>
            <a:ext cx="3566160" cy="594360"/>
          </a:xfrm>
          <a:prstGeom prst="rect">
            <a:avLst/>
          </a:prstGeom>
          <a:noFill/>
          <a:ln/>
        </p:spPr>
        <p:txBody>
          <a:bodyPr wrap="square" lIns="0" tIns="0" rIns="0" bIns="0" rtlCol="0" anchor="t"/>
          <a:lstStyle/>
          <a:p>
            <a:pPr indent="0" marL="0">
              <a:spcAft>
                <a:spcPts val="600"/>
              </a:spcAft>
              <a:buNone/>
            </a:pPr>
            <a:r>
              <a:rPr lang="en-US" sz="1800" dirty="0">
                <a:solidFill>
                  <a:srgbClr val="202124"/>
                </a:solidFill>
                <a:latin typeface="Quicksand" pitchFamily="34" charset="0"/>
                <a:ea typeface="Quicksand" pitchFamily="34" charset="-122"/>
                <a:cs typeface="Quicksand" pitchFamily="34" charset="-120"/>
              </a:rPr>
              <a:t>Facts, examples and instructions</a:t>
            </a:r>
            <a:endParaRPr lang="en-US" sz="1800" dirty="0"/>
          </a:p>
        </p:txBody>
      </p:sp>
      <p:sp>
        <p:nvSpPr>
          <p:cNvPr id="11" name="Shape 7"/>
          <p:cNvSpPr/>
          <p:nvPr/>
        </p:nvSpPr>
        <p:spPr>
          <a:xfrm>
            <a:off x="6217920" y="1508760"/>
            <a:ext cx="5120640" cy="1664208"/>
          </a:xfrm>
          <a:prstGeom prst="roundRect">
            <a:avLst>
              <a:gd name="adj" fmla="val 8242"/>
            </a:avLst>
          </a:prstGeom>
          <a:solidFill>
            <a:srgbClr val="F6F5FC"/>
          </a:solidFill>
          <a:ln w="12700">
            <a:solidFill>
              <a:srgbClr val="F6F5FC"/>
            </a:solidFill>
            <a:prstDash val="solid"/>
          </a:ln>
        </p:spPr>
      </p:sp>
      <p:pic>
        <p:nvPicPr>
          <p:cNvPr id="12" name="Image 1" descr="lightbulb">    </p:cNvPr>
          <p:cNvPicPr>
            <a:picLocks noChangeAspect="1"/>
          </p:cNvPicPr>
          <p:nvPr/>
        </p:nvPicPr>
        <p:blipFill>
          <a:blip r:embed="rId2"/>
          <a:stretch>
            <a:fillRect/>
          </a:stretch>
        </p:blipFill>
        <p:spPr>
          <a:xfrm>
            <a:off x="6382512" y="1847088"/>
            <a:ext cx="868680" cy="868680"/>
          </a:xfrm>
          <a:prstGeom prst="rect">
            <a:avLst/>
          </a:prstGeom>
        </p:spPr>
      </p:pic>
      <p:sp>
        <p:nvSpPr>
          <p:cNvPr id="13" name="Text 8"/>
          <p:cNvSpPr txBox="1"/>
          <p:nvPr/>
        </p:nvSpPr>
        <p:spPr>
          <a:xfrm>
            <a:off x="7498080" y="1764792"/>
            <a:ext cx="3611880" cy="457200"/>
          </a:xfrm>
          <a:prstGeom prst="rect">
            <a:avLst/>
          </a:prstGeom>
          <a:noFill/>
          <a:ln/>
        </p:spPr>
        <p:txBody>
          <a:bodyPr wrap="square" lIns="0" tIns="0" rIns="0" bIns="0" rtlCol="0" anchor="t"/>
          <a:lstStyle/>
          <a:p>
            <a:pPr indent="0" marL="0">
              <a:spcAft>
                <a:spcPts val="600"/>
              </a:spcAft>
              <a:buNone/>
            </a:pPr>
            <a:r>
              <a:rPr lang="en-US" sz="2300" b="1" dirty="0">
                <a:solidFill>
                  <a:srgbClr val="494985"/>
                </a:solidFill>
                <a:latin typeface="Quicksand" pitchFamily="34" charset="0"/>
                <a:ea typeface="Quicksand" pitchFamily="34" charset="-122"/>
                <a:cs typeface="Quicksand" pitchFamily="34" charset="-120"/>
              </a:rPr>
              <a:t>Reasoning</a:t>
            </a:r>
            <a:endParaRPr lang="en-US" sz="2300" dirty="0"/>
          </a:p>
        </p:txBody>
      </p:sp>
      <p:sp>
        <p:nvSpPr>
          <p:cNvPr id="14" name="Text 9"/>
          <p:cNvSpPr txBox="1"/>
          <p:nvPr/>
        </p:nvSpPr>
        <p:spPr>
          <a:xfrm>
            <a:off x="7498080" y="2377440"/>
            <a:ext cx="3566160" cy="594360"/>
          </a:xfrm>
          <a:prstGeom prst="rect">
            <a:avLst/>
          </a:prstGeom>
          <a:noFill/>
          <a:ln/>
        </p:spPr>
        <p:txBody>
          <a:bodyPr wrap="square" lIns="0" tIns="0" rIns="0" bIns="0" rtlCol="0" anchor="t"/>
          <a:lstStyle/>
          <a:p>
            <a:pPr indent="0" marL="0">
              <a:spcAft>
                <a:spcPts val="600"/>
              </a:spcAft>
              <a:buNone/>
            </a:pPr>
            <a:r>
              <a:rPr lang="en-US" sz="1800" dirty="0">
                <a:solidFill>
                  <a:srgbClr val="202124"/>
                </a:solidFill>
                <a:latin typeface="Quicksand" pitchFamily="34" charset="0"/>
                <a:ea typeface="Quicksand" pitchFamily="34" charset="-122"/>
                <a:cs typeface="Quicksand" pitchFamily="34" charset="-120"/>
              </a:rPr>
              <a:t>Evidence → a conclusion</a:t>
            </a:r>
            <a:endParaRPr lang="en-US" sz="1800" dirty="0"/>
          </a:p>
        </p:txBody>
      </p:sp>
      <p:sp>
        <p:nvSpPr>
          <p:cNvPr id="15" name="Shape 10"/>
          <p:cNvSpPr/>
          <p:nvPr/>
        </p:nvSpPr>
        <p:spPr>
          <a:xfrm>
            <a:off x="685800" y="3456432"/>
            <a:ext cx="5120640" cy="1664208"/>
          </a:xfrm>
          <a:prstGeom prst="roundRect">
            <a:avLst>
              <a:gd name="adj" fmla="val 8242"/>
            </a:avLst>
          </a:prstGeom>
          <a:solidFill>
            <a:srgbClr val="F6F5FC"/>
          </a:solidFill>
          <a:ln w="12700">
            <a:solidFill>
              <a:srgbClr val="F6F5FC"/>
            </a:solidFill>
            <a:prstDash val="solid"/>
          </a:ln>
        </p:spPr>
      </p:sp>
      <p:pic>
        <p:nvPicPr>
          <p:cNvPr id="16" name="Image 2" descr="brain circuit">    </p:cNvPr>
          <p:cNvPicPr>
            <a:picLocks noChangeAspect="1"/>
          </p:cNvPicPr>
          <p:nvPr/>
        </p:nvPicPr>
        <p:blipFill>
          <a:blip r:embed="rId3"/>
          <a:stretch>
            <a:fillRect/>
          </a:stretch>
        </p:blipFill>
        <p:spPr>
          <a:xfrm>
            <a:off x="850392" y="3794760"/>
            <a:ext cx="868680" cy="868680"/>
          </a:xfrm>
          <a:prstGeom prst="rect">
            <a:avLst/>
          </a:prstGeom>
        </p:spPr>
      </p:pic>
      <p:sp>
        <p:nvSpPr>
          <p:cNvPr id="17" name="Text 11"/>
          <p:cNvSpPr txBox="1"/>
          <p:nvPr/>
        </p:nvSpPr>
        <p:spPr>
          <a:xfrm>
            <a:off x="1965960" y="3712464"/>
            <a:ext cx="3611880" cy="457200"/>
          </a:xfrm>
          <a:prstGeom prst="rect">
            <a:avLst/>
          </a:prstGeom>
          <a:noFill/>
          <a:ln/>
        </p:spPr>
        <p:txBody>
          <a:bodyPr wrap="square" lIns="0" tIns="0" rIns="0" bIns="0" rtlCol="0" anchor="t"/>
          <a:lstStyle/>
          <a:p>
            <a:pPr indent="0" marL="0">
              <a:spcAft>
                <a:spcPts val="600"/>
              </a:spcAft>
              <a:buNone/>
            </a:pPr>
            <a:r>
              <a:rPr lang="en-US" sz="2300" b="1" dirty="0">
                <a:solidFill>
                  <a:srgbClr val="494985"/>
                </a:solidFill>
                <a:latin typeface="Quicksand" pitchFamily="34" charset="0"/>
                <a:ea typeface="Quicksand" pitchFamily="34" charset="-122"/>
                <a:cs typeface="Quicksand" pitchFamily="34" charset="-120"/>
              </a:rPr>
              <a:t>Learning</a:t>
            </a:r>
            <a:endParaRPr lang="en-US" sz="2300" dirty="0"/>
          </a:p>
        </p:txBody>
      </p:sp>
      <p:sp>
        <p:nvSpPr>
          <p:cNvPr id="18" name="Text 12"/>
          <p:cNvSpPr txBox="1"/>
          <p:nvPr/>
        </p:nvSpPr>
        <p:spPr>
          <a:xfrm>
            <a:off x="1965960" y="4325112"/>
            <a:ext cx="3566160" cy="594360"/>
          </a:xfrm>
          <a:prstGeom prst="rect">
            <a:avLst/>
          </a:prstGeom>
          <a:noFill/>
          <a:ln/>
        </p:spPr>
        <p:txBody>
          <a:bodyPr wrap="square" lIns="0" tIns="0" rIns="0" bIns="0" rtlCol="0" anchor="t"/>
          <a:lstStyle/>
          <a:p>
            <a:pPr indent="0" marL="0">
              <a:spcAft>
                <a:spcPts val="600"/>
              </a:spcAft>
              <a:buNone/>
            </a:pPr>
            <a:r>
              <a:rPr lang="en-US" sz="1800" dirty="0">
                <a:solidFill>
                  <a:srgbClr val="202124"/>
                </a:solidFill>
                <a:latin typeface="Quicksand" pitchFamily="34" charset="0"/>
                <a:ea typeface="Quicksand" pitchFamily="34" charset="-122"/>
                <a:cs typeface="Quicksand" pitchFamily="34" charset="-120"/>
              </a:rPr>
              <a:t>Examples → useful patterns</a:t>
            </a:r>
            <a:endParaRPr lang="en-US" sz="1800" dirty="0"/>
          </a:p>
        </p:txBody>
      </p:sp>
      <p:sp>
        <p:nvSpPr>
          <p:cNvPr id="19" name="Shape 13"/>
          <p:cNvSpPr/>
          <p:nvPr/>
        </p:nvSpPr>
        <p:spPr>
          <a:xfrm>
            <a:off x="6217920" y="3456432"/>
            <a:ext cx="5120640" cy="1664208"/>
          </a:xfrm>
          <a:prstGeom prst="roundRect">
            <a:avLst>
              <a:gd name="adj" fmla="val 8242"/>
            </a:avLst>
          </a:prstGeom>
          <a:solidFill>
            <a:srgbClr val="F6F5FC"/>
          </a:solidFill>
          <a:ln w="12700">
            <a:solidFill>
              <a:srgbClr val="F6F5FC"/>
            </a:solidFill>
            <a:prstDash val="solid"/>
          </a:ln>
        </p:spPr>
      </p:sp>
      <p:pic>
        <p:nvPicPr>
          <p:cNvPr id="20" name="Image 3" descr="settings">    </p:cNvPr>
          <p:cNvPicPr>
            <a:picLocks noChangeAspect="1"/>
          </p:cNvPicPr>
          <p:nvPr/>
        </p:nvPicPr>
        <p:blipFill>
          <a:blip r:embed="rId4"/>
          <a:stretch>
            <a:fillRect/>
          </a:stretch>
        </p:blipFill>
        <p:spPr>
          <a:xfrm>
            <a:off x="6382512" y="3794760"/>
            <a:ext cx="868680" cy="868680"/>
          </a:xfrm>
          <a:prstGeom prst="rect">
            <a:avLst/>
          </a:prstGeom>
        </p:spPr>
      </p:pic>
      <p:sp>
        <p:nvSpPr>
          <p:cNvPr id="21" name="Text 14"/>
          <p:cNvSpPr txBox="1"/>
          <p:nvPr/>
        </p:nvSpPr>
        <p:spPr>
          <a:xfrm>
            <a:off x="7498080" y="3712464"/>
            <a:ext cx="3611880" cy="457200"/>
          </a:xfrm>
          <a:prstGeom prst="rect">
            <a:avLst/>
          </a:prstGeom>
          <a:noFill/>
          <a:ln/>
        </p:spPr>
        <p:txBody>
          <a:bodyPr wrap="square" lIns="0" tIns="0" rIns="0" bIns="0" rtlCol="0" anchor="t"/>
          <a:lstStyle/>
          <a:p>
            <a:pPr indent="0" marL="0">
              <a:spcAft>
                <a:spcPts val="600"/>
              </a:spcAft>
              <a:buNone/>
            </a:pPr>
            <a:r>
              <a:rPr lang="en-US" sz="2300" b="1" dirty="0">
                <a:solidFill>
                  <a:srgbClr val="494985"/>
                </a:solidFill>
                <a:latin typeface="Quicksand" pitchFamily="34" charset="0"/>
                <a:ea typeface="Quicksand" pitchFamily="34" charset="-122"/>
                <a:cs typeface="Quicksand" pitchFamily="34" charset="-120"/>
              </a:rPr>
              <a:t>Adapting</a:t>
            </a:r>
            <a:endParaRPr lang="en-US" sz="2300" dirty="0"/>
          </a:p>
        </p:txBody>
      </p:sp>
      <p:sp>
        <p:nvSpPr>
          <p:cNvPr id="22" name="Text 15"/>
          <p:cNvSpPr txBox="1"/>
          <p:nvPr/>
        </p:nvSpPr>
        <p:spPr>
          <a:xfrm>
            <a:off x="7498080" y="4325112"/>
            <a:ext cx="3566160" cy="594360"/>
          </a:xfrm>
          <a:prstGeom prst="rect">
            <a:avLst/>
          </a:prstGeom>
          <a:noFill/>
          <a:ln/>
        </p:spPr>
        <p:txBody>
          <a:bodyPr wrap="square" lIns="0" tIns="0" rIns="0" bIns="0" rtlCol="0" anchor="t"/>
          <a:lstStyle/>
          <a:p>
            <a:pPr indent="0" marL="0">
              <a:spcAft>
                <a:spcPts val="600"/>
              </a:spcAft>
              <a:buNone/>
            </a:pPr>
            <a:r>
              <a:rPr lang="en-US" sz="1800" dirty="0">
                <a:solidFill>
                  <a:srgbClr val="202124"/>
                </a:solidFill>
                <a:latin typeface="Quicksand" pitchFamily="34" charset="0"/>
                <a:ea typeface="Quicksand" pitchFamily="34" charset="-122"/>
                <a:cs typeface="Quicksand" pitchFamily="34" charset="-120"/>
              </a:rPr>
              <a:t>Changed conditions → changed response</a:t>
            </a:r>
            <a:endParaRPr lang="en-US" sz="1800" dirty="0"/>
          </a:p>
        </p:txBody>
      </p:sp>
      <p:sp>
        <p:nvSpPr>
          <p:cNvPr id="23" name="Text 16"/>
          <p:cNvSpPr txBox="1"/>
          <p:nvPr/>
        </p:nvSpPr>
        <p:spPr>
          <a:xfrm>
            <a:off x="685800" y="5623560"/>
            <a:ext cx="10698480" cy="438912"/>
          </a:xfrm>
          <a:prstGeom prst="rect">
            <a:avLst/>
          </a:prstGeom>
          <a:noFill/>
          <a:ln/>
        </p:spPr>
        <p:txBody>
          <a:bodyPr wrap="square" lIns="0" tIns="0" rIns="0" bIns="0" rtlCol="0" anchor="t"/>
          <a:lstStyle/>
          <a:p>
            <a:pPr indent="0" marL="0">
              <a:buNone/>
            </a:pPr>
            <a:r>
              <a:rPr lang="en-US" sz="1500" b="1" dirty="0">
                <a:solidFill>
                  <a:srgbClr val="494985"/>
                </a:solidFill>
                <a:latin typeface="Quicksand" pitchFamily="34" charset="0"/>
                <a:ea typeface="Quicksand" pitchFamily="34" charset="-122"/>
                <a:cs typeface="Quicksand" pitchFamily="34" charset="-120"/>
              </a:rPr>
              <a:t>AI simulates intelligent human behaviour; it does not prove human understanding.</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Automation is not always AI</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Think · pair · share</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5</a:t>
            </a:r>
            <a:endParaRPr lang="en-US" sz="1350" dirty="0"/>
          </a:p>
        </p:txBody>
      </p:sp>
      <p:pic>
        <p:nvPicPr>
          <p:cNvPr id="7" name="Image 0" descr="robot arm">    </p:cNvPr>
          <p:cNvPicPr>
            <a:picLocks noChangeAspect="1"/>
          </p:cNvPicPr>
          <p:nvPr/>
        </p:nvPicPr>
        <p:blipFill>
          <a:blip r:embed="rId1"/>
          <a:stretch>
            <a:fillRect/>
          </a:stretch>
        </p:blipFill>
        <p:spPr>
          <a:xfrm>
            <a:off x="685800" y="1463040"/>
            <a:ext cx="3383280" cy="2542032"/>
          </a:xfrm>
          <a:prstGeom prst="rect">
            <a:avLst/>
          </a:prstGeom>
        </p:spPr>
      </p:pic>
      <p:pic>
        <p:nvPicPr>
          <p:cNvPr id="8" name="Image 1" descr="printer scene">    </p:cNvPr>
          <p:cNvPicPr>
            <a:picLocks noChangeAspect="1"/>
          </p:cNvPicPr>
          <p:nvPr/>
        </p:nvPicPr>
        <p:blipFill>
          <a:blip r:embed="rId2"/>
          <a:stretch>
            <a:fillRect/>
          </a:stretch>
        </p:blipFill>
        <p:spPr>
          <a:xfrm>
            <a:off x="4434840" y="1463040"/>
            <a:ext cx="3383280" cy="2542032"/>
          </a:xfrm>
          <a:prstGeom prst="rect">
            <a:avLst/>
          </a:prstGeom>
        </p:spPr>
      </p:pic>
      <p:pic>
        <p:nvPicPr>
          <p:cNvPr id="9" name="Image 2" descr="leaf healthy">    </p:cNvPr>
          <p:cNvPicPr>
            <a:picLocks noChangeAspect="1"/>
          </p:cNvPicPr>
          <p:nvPr/>
        </p:nvPicPr>
        <p:blipFill>
          <a:blip r:embed="rId3"/>
          <a:stretch>
            <a:fillRect/>
          </a:stretch>
        </p:blipFill>
        <p:spPr>
          <a:xfrm>
            <a:off x="8183880" y="1463040"/>
            <a:ext cx="3383280" cy="2542032"/>
          </a:xfrm>
          <a:prstGeom prst="rect">
            <a:avLst/>
          </a:prstGeom>
        </p:spPr>
      </p:pic>
      <p:sp>
        <p:nvSpPr>
          <p:cNvPr id="10" name="Text 4"/>
          <p:cNvSpPr txBox="1"/>
          <p:nvPr/>
        </p:nvSpPr>
        <p:spPr>
          <a:xfrm>
            <a:off x="685800" y="4160520"/>
            <a:ext cx="3383280" cy="594360"/>
          </a:xfrm>
          <a:prstGeom prst="rect">
            <a:avLst/>
          </a:prstGeom>
          <a:noFill/>
          <a:ln/>
        </p:spPr>
        <p:txBody>
          <a:bodyPr wrap="square" lIns="0" tIns="0" rIns="0" bIns="0" rtlCol="0" anchor="t"/>
          <a:lstStyle/>
          <a:p>
            <a:pPr algn="ctr" indent="0" marL="0">
              <a:spcAft>
                <a:spcPts val="600"/>
              </a:spcAft>
              <a:buNone/>
            </a:pPr>
            <a:r>
              <a:rPr lang="en-US" sz="1900" b="1" dirty="0">
                <a:solidFill>
                  <a:srgbClr val="494985"/>
                </a:solidFill>
                <a:latin typeface="Quicksand" pitchFamily="34" charset="0"/>
                <a:ea typeface="Quicksand" pitchFamily="34" charset="-122"/>
                <a:cs typeface="Quicksand" pitchFamily="34" charset="-120"/>
              </a:rPr>
              <a:t>Repeat a movement</a:t>
            </a:r>
            <a:endParaRPr lang="en-US" sz="1900" dirty="0"/>
          </a:p>
        </p:txBody>
      </p:sp>
      <p:sp>
        <p:nvSpPr>
          <p:cNvPr id="11" name="Text 5"/>
          <p:cNvSpPr txBox="1"/>
          <p:nvPr/>
        </p:nvSpPr>
        <p:spPr>
          <a:xfrm>
            <a:off x="4434840" y="4160520"/>
            <a:ext cx="3383280" cy="594360"/>
          </a:xfrm>
          <a:prstGeom prst="rect">
            <a:avLst/>
          </a:prstGeom>
          <a:noFill/>
          <a:ln/>
        </p:spPr>
        <p:txBody>
          <a:bodyPr wrap="square" lIns="0" tIns="0" rIns="0" bIns="0" rtlCol="0" anchor="t"/>
          <a:lstStyle/>
          <a:p>
            <a:pPr algn="ctr" indent="0" marL="0">
              <a:spcAft>
                <a:spcPts val="600"/>
              </a:spcAft>
              <a:buNone/>
            </a:pPr>
            <a:r>
              <a:rPr lang="en-US" sz="1900" b="1" dirty="0">
                <a:solidFill>
                  <a:srgbClr val="494985"/>
                </a:solidFill>
                <a:latin typeface="Quicksand" pitchFamily="34" charset="0"/>
                <a:ea typeface="Quicksand" pitchFamily="34" charset="-122"/>
                <a:cs typeface="Quicksand" pitchFamily="34" charset="-120"/>
              </a:rPr>
              <a:t>Follow expert rules</a:t>
            </a:r>
            <a:endParaRPr lang="en-US" sz="1900" dirty="0"/>
          </a:p>
        </p:txBody>
      </p:sp>
      <p:sp>
        <p:nvSpPr>
          <p:cNvPr id="12" name="Text 6"/>
          <p:cNvSpPr txBox="1"/>
          <p:nvPr/>
        </p:nvSpPr>
        <p:spPr>
          <a:xfrm>
            <a:off x="8183880" y="4160520"/>
            <a:ext cx="3383280" cy="594360"/>
          </a:xfrm>
          <a:prstGeom prst="rect">
            <a:avLst/>
          </a:prstGeom>
          <a:noFill/>
          <a:ln/>
        </p:spPr>
        <p:txBody>
          <a:bodyPr wrap="square" lIns="0" tIns="0" rIns="0" bIns="0" rtlCol="0" anchor="t"/>
          <a:lstStyle/>
          <a:p>
            <a:pPr algn="ctr" indent="0" marL="0">
              <a:spcAft>
                <a:spcPts val="600"/>
              </a:spcAft>
              <a:buNone/>
            </a:pPr>
            <a:r>
              <a:rPr lang="en-US" sz="1900" b="1" dirty="0">
                <a:solidFill>
                  <a:srgbClr val="494985"/>
                </a:solidFill>
                <a:latin typeface="Quicksand" pitchFamily="34" charset="0"/>
                <a:ea typeface="Quicksand" pitchFamily="34" charset="-122"/>
                <a:cs typeface="Quicksand" pitchFamily="34" charset="-120"/>
              </a:rPr>
              <a:t>Learn image patterns</a:t>
            </a:r>
            <a:endParaRPr lang="en-US" sz="1900" dirty="0"/>
          </a:p>
        </p:txBody>
      </p:sp>
      <p:sp>
        <p:nvSpPr>
          <p:cNvPr id="13" name="Text 7"/>
          <p:cNvSpPr txBox="1"/>
          <p:nvPr/>
        </p:nvSpPr>
        <p:spPr>
          <a:xfrm>
            <a:off x="777240" y="4892040"/>
            <a:ext cx="10607040" cy="548640"/>
          </a:xfrm>
          <a:prstGeom prst="rect">
            <a:avLst/>
          </a:prstGeom>
          <a:noFill/>
          <a:ln/>
        </p:spPr>
        <p:txBody>
          <a:bodyPr wrap="square" lIns="0" tIns="0" rIns="0" bIns="0" rtlCol="0" anchor="t"/>
          <a:lstStyle/>
          <a:p>
            <a:pPr indent="0" marL="0">
              <a:spcAft>
                <a:spcPts val="600"/>
              </a:spcAft>
              <a:buNone/>
            </a:pPr>
            <a:r>
              <a:rPr lang="en-US" sz="2400" b="1" dirty="0">
                <a:solidFill>
                  <a:srgbClr val="202124"/>
                </a:solidFill>
                <a:latin typeface="Quicksand" pitchFamily="34" charset="0"/>
                <a:ea typeface="Quicksand" pitchFamily="34" charset="-122"/>
                <a:cs typeface="Quicksand" pitchFamily="34" charset="-120"/>
              </a:rPr>
              <a:t>Which uses AI? What evidence supports your choice?</a:t>
            </a:r>
            <a:endParaRPr lang="en-US" sz="2400" dirty="0"/>
          </a:p>
        </p:txBody>
      </p:sp>
      <p:sp>
        <p:nvSpPr>
          <p:cNvPr id="14" name="Text 8"/>
          <p:cNvSpPr txBox="1"/>
          <p:nvPr/>
        </p:nvSpPr>
        <p:spPr>
          <a:xfrm>
            <a:off x="685800" y="5623560"/>
            <a:ext cx="10698480" cy="438912"/>
          </a:xfrm>
          <a:prstGeom prst="rect">
            <a:avLst/>
          </a:prstGeom>
          <a:noFill/>
          <a:ln/>
        </p:spPr>
        <p:txBody>
          <a:bodyPr wrap="square" lIns="0" tIns="0" rIns="0" bIns="0" rtlCol="0" anchor="t"/>
          <a:lstStyle/>
          <a:p>
            <a:pPr indent="0" marL="0">
              <a:buNone/>
            </a:pPr>
            <a:r>
              <a:rPr lang="en-US" sz="1500" b="1" dirty="0">
                <a:solidFill>
                  <a:srgbClr val="494985"/>
                </a:solidFill>
                <a:latin typeface="Quicksand" pitchFamily="34" charset="0"/>
                <a:ea typeface="Quicksand" pitchFamily="34" charset="-122"/>
                <a:cs typeface="Quicksand" pitchFamily="34" charset="-120"/>
              </a:rPr>
              <a:t>Look at what the system does—not just the device name. Then do Task 2.</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AI: a family of approaches</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Activity 1</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6</a:t>
            </a:r>
            <a:endParaRPr lang="en-US" sz="1350" dirty="0"/>
          </a:p>
        </p:txBody>
      </p:sp>
      <p:sp>
        <p:nvSpPr>
          <p:cNvPr id="7" name="Shape 4"/>
          <p:cNvSpPr/>
          <p:nvPr/>
        </p:nvSpPr>
        <p:spPr>
          <a:xfrm>
            <a:off x="822960" y="1463040"/>
            <a:ext cx="10515600" cy="3931920"/>
          </a:xfrm>
          <a:prstGeom prst="roundRect">
            <a:avLst/>
          </a:prstGeom>
          <a:solidFill>
            <a:srgbClr val="E9E8F5"/>
          </a:solidFill>
          <a:ln w="25400">
            <a:solidFill>
              <a:srgbClr val="494985"/>
            </a:solidFill>
            <a:prstDash val="solid"/>
          </a:ln>
        </p:spPr>
      </p:sp>
      <p:sp>
        <p:nvSpPr>
          <p:cNvPr id="8" name="Text 5"/>
          <p:cNvSpPr txBox="1"/>
          <p:nvPr/>
        </p:nvSpPr>
        <p:spPr>
          <a:xfrm>
            <a:off x="1051560" y="1691640"/>
            <a:ext cx="9692640" cy="548640"/>
          </a:xfrm>
          <a:prstGeom prst="rect">
            <a:avLst/>
          </a:prstGeom>
          <a:noFill/>
          <a:ln/>
        </p:spPr>
        <p:txBody>
          <a:bodyPr wrap="square" lIns="0" tIns="0" rIns="0" bIns="0" rtlCol="0" anchor="t"/>
          <a:lstStyle/>
          <a:p>
            <a:pPr algn="ctr" indent="0" marL="0">
              <a:spcAft>
                <a:spcPts val="600"/>
              </a:spcAft>
              <a:buNone/>
            </a:pPr>
            <a:r>
              <a:rPr lang="en-US" sz="2500" b="1" dirty="0">
                <a:solidFill>
                  <a:srgbClr val="494985"/>
                </a:solidFill>
                <a:latin typeface="Quicksand" pitchFamily="34" charset="0"/>
                <a:ea typeface="Quicksand" pitchFamily="34" charset="-122"/>
                <a:cs typeface="Quicksand" pitchFamily="34" charset="-120"/>
              </a:rPr>
              <a:t>ARTIFICIAL INTELLIGENCE</a:t>
            </a:r>
            <a:endParaRPr lang="en-US" sz="2500" dirty="0"/>
          </a:p>
        </p:txBody>
      </p:sp>
      <p:sp>
        <p:nvSpPr>
          <p:cNvPr id="9" name="Shape 6"/>
          <p:cNvSpPr/>
          <p:nvPr/>
        </p:nvSpPr>
        <p:spPr>
          <a:xfrm>
            <a:off x="1463040" y="2560320"/>
            <a:ext cx="4206240" cy="1920240"/>
          </a:xfrm>
          <a:prstGeom prst="roundRect">
            <a:avLst>
              <a:gd name="adj" fmla="val 5714"/>
            </a:avLst>
          </a:prstGeom>
          <a:solidFill>
            <a:srgbClr val="F6F5FC"/>
          </a:solidFill>
          <a:ln w="12700">
            <a:solidFill>
              <a:srgbClr val="E1E0EF"/>
            </a:solidFill>
            <a:prstDash val="solid"/>
          </a:ln>
        </p:spPr>
      </p:sp>
      <p:sp>
        <p:nvSpPr>
          <p:cNvPr id="10" name="Text 7"/>
          <p:cNvSpPr txBox="1"/>
          <p:nvPr/>
        </p:nvSpPr>
        <p:spPr>
          <a:xfrm>
            <a:off x="1645920" y="2724912"/>
            <a:ext cx="3840480" cy="548640"/>
          </a:xfrm>
          <a:prstGeom prst="rect">
            <a:avLst/>
          </a:prstGeom>
          <a:noFill/>
          <a:ln/>
        </p:spPr>
        <p:txBody>
          <a:bodyPr wrap="square" lIns="0" tIns="0" rIns="0" bIns="0" rtlCol="0" anchor="t"/>
          <a:lstStyle/>
          <a:p>
            <a:pPr indent="0" marL="0">
              <a:spcAft>
                <a:spcPts val="600"/>
              </a:spcAft>
              <a:buNone/>
            </a:pPr>
            <a:r>
              <a:rPr lang="en-US" sz="2000" b="1" dirty="0">
                <a:solidFill>
                  <a:srgbClr val="494985"/>
                </a:solidFill>
                <a:latin typeface="Quicksand" pitchFamily="34" charset="0"/>
                <a:ea typeface="Quicksand" pitchFamily="34" charset="-122"/>
                <a:cs typeface="Quicksand" pitchFamily="34" charset="-120"/>
              </a:rPr>
              <a:t>Expert systems</a:t>
            </a:r>
            <a:endParaRPr lang="en-US" sz="2000" dirty="0"/>
          </a:p>
        </p:txBody>
      </p:sp>
      <p:sp>
        <p:nvSpPr>
          <p:cNvPr id="11" name="Text 8"/>
          <p:cNvSpPr txBox="1"/>
          <p:nvPr/>
        </p:nvSpPr>
        <p:spPr>
          <a:xfrm>
            <a:off x="1645920" y="3337560"/>
            <a:ext cx="3840480" cy="1051560"/>
          </a:xfrm>
          <a:prstGeom prst="rect">
            <a:avLst/>
          </a:prstGeom>
          <a:noFill/>
          <a:ln/>
        </p:spPr>
        <p:txBody>
          <a:bodyPr wrap="square" lIns="0" tIns="0" rIns="0" bIns="0" rtlCol="0" anchor="t"/>
          <a:lstStyle/>
          <a:p>
            <a:pPr indent="0" marL="0">
              <a:spcAft>
                <a:spcPts val="600"/>
              </a:spcAft>
              <a:buNone/>
            </a:pPr>
            <a:r>
              <a:rPr lang="en-US" sz="1600" dirty="0">
                <a:solidFill>
                  <a:srgbClr val="202124"/>
                </a:solidFill>
                <a:latin typeface="Quicksand" pitchFamily="34" charset="0"/>
                <a:ea typeface="Quicksand" pitchFamily="34" charset="-122"/>
                <a:cs typeface="Quicksand" pitchFamily="34" charset="-120"/>
              </a:rPr>
              <a:t>Human expertise → stored facts and rules</a:t>
            </a:r>
            <a:endParaRPr lang="en-US" sz="1600" dirty="0"/>
          </a:p>
        </p:txBody>
      </p:sp>
      <p:sp>
        <p:nvSpPr>
          <p:cNvPr id="12" name="Shape 9"/>
          <p:cNvSpPr/>
          <p:nvPr/>
        </p:nvSpPr>
        <p:spPr>
          <a:xfrm>
            <a:off x="6400800" y="2560320"/>
            <a:ext cx="4206240" cy="1920240"/>
          </a:xfrm>
          <a:prstGeom prst="roundRect">
            <a:avLst>
              <a:gd name="adj" fmla="val 5714"/>
            </a:avLst>
          </a:prstGeom>
          <a:solidFill>
            <a:srgbClr val="F6F5FC"/>
          </a:solidFill>
          <a:ln w="12700">
            <a:solidFill>
              <a:srgbClr val="E1E0EF"/>
            </a:solidFill>
            <a:prstDash val="solid"/>
          </a:ln>
        </p:spPr>
      </p:sp>
      <p:sp>
        <p:nvSpPr>
          <p:cNvPr id="13" name="Text 10"/>
          <p:cNvSpPr txBox="1"/>
          <p:nvPr/>
        </p:nvSpPr>
        <p:spPr>
          <a:xfrm>
            <a:off x="6583680" y="2724912"/>
            <a:ext cx="3840480" cy="548640"/>
          </a:xfrm>
          <a:prstGeom prst="rect">
            <a:avLst/>
          </a:prstGeom>
          <a:noFill/>
          <a:ln/>
        </p:spPr>
        <p:txBody>
          <a:bodyPr wrap="square" lIns="0" tIns="0" rIns="0" bIns="0" rtlCol="0" anchor="t"/>
          <a:lstStyle/>
          <a:p>
            <a:pPr indent="0" marL="0">
              <a:spcAft>
                <a:spcPts val="600"/>
              </a:spcAft>
              <a:buNone/>
            </a:pPr>
            <a:r>
              <a:rPr lang="en-US" sz="2000" b="1" dirty="0">
                <a:solidFill>
                  <a:srgbClr val="494985"/>
                </a:solidFill>
                <a:latin typeface="Quicksand" pitchFamily="34" charset="0"/>
                <a:ea typeface="Quicksand" pitchFamily="34" charset="-122"/>
                <a:cs typeface="Quicksand" pitchFamily="34" charset="-120"/>
              </a:rPr>
              <a:t>Machine learning</a:t>
            </a:r>
            <a:endParaRPr lang="en-US" sz="2000" dirty="0"/>
          </a:p>
        </p:txBody>
      </p:sp>
      <p:sp>
        <p:nvSpPr>
          <p:cNvPr id="14" name="Text 11"/>
          <p:cNvSpPr txBox="1"/>
          <p:nvPr/>
        </p:nvSpPr>
        <p:spPr>
          <a:xfrm>
            <a:off x="6583680" y="3337560"/>
            <a:ext cx="3840480" cy="1051560"/>
          </a:xfrm>
          <a:prstGeom prst="rect">
            <a:avLst/>
          </a:prstGeom>
          <a:noFill/>
          <a:ln/>
        </p:spPr>
        <p:txBody>
          <a:bodyPr wrap="square" lIns="0" tIns="0" rIns="0" bIns="0" rtlCol="0" anchor="t"/>
          <a:lstStyle/>
          <a:p>
            <a:pPr indent="0" marL="0">
              <a:spcAft>
                <a:spcPts val="600"/>
              </a:spcAft>
              <a:buNone/>
            </a:pPr>
            <a:r>
              <a:rPr lang="en-US" sz="1600" dirty="0">
                <a:solidFill>
                  <a:srgbClr val="202124"/>
                </a:solidFill>
                <a:latin typeface="Quicksand" pitchFamily="34" charset="0"/>
                <a:ea typeface="Quicksand" pitchFamily="34" charset="-122"/>
                <a:cs typeface="Quicksand" pitchFamily="34" charset="-120"/>
              </a:rPr>
              <a:t>Examples → learned patterns and a model</a:t>
            </a:r>
            <a:endParaRPr lang="en-US" sz="1600" dirty="0"/>
          </a:p>
        </p:txBody>
      </p:sp>
      <p:sp>
        <p:nvSpPr>
          <p:cNvPr id="15" name="Text 12"/>
          <p:cNvSpPr txBox="1"/>
          <p:nvPr/>
        </p:nvSpPr>
        <p:spPr>
          <a:xfrm>
            <a:off x="685800" y="5623560"/>
            <a:ext cx="10698480" cy="438912"/>
          </a:xfrm>
          <a:prstGeom prst="rect">
            <a:avLst/>
          </a:prstGeom>
          <a:noFill/>
          <a:ln/>
        </p:spPr>
        <p:txBody>
          <a:bodyPr wrap="square" lIns="0" tIns="0" rIns="0" bIns="0" rtlCol="0" anchor="t"/>
          <a:lstStyle/>
          <a:p>
            <a:pPr indent="0" marL="0">
              <a:buNone/>
            </a:pPr>
            <a:r>
              <a:rPr lang="en-US" sz="1500" b="1" dirty="0">
                <a:solidFill>
                  <a:srgbClr val="494985"/>
                </a:solidFill>
                <a:latin typeface="Quicksand" pitchFamily="34" charset="0"/>
                <a:ea typeface="Quicksand" pitchFamily="34" charset="-122"/>
                <a:cs typeface="Quicksand" pitchFamily="34" charset="-120"/>
              </a:rPr>
              <a:t>AI is the broad field. Machine learning is a subset of AI.</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Expert systems: expertise on tap</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Activity 2</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7</a:t>
            </a:r>
            <a:endParaRPr lang="en-US" sz="1350" dirty="0"/>
          </a:p>
        </p:txBody>
      </p:sp>
      <p:sp>
        <p:nvSpPr>
          <p:cNvPr id="7" name="Shape 4"/>
          <p:cNvSpPr/>
          <p:nvPr/>
        </p:nvSpPr>
        <p:spPr>
          <a:xfrm>
            <a:off x="685800" y="1508760"/>
            <a:ext cx="3108960" cy="3474720"/>
          </a:xfrm>
          <a:prstGeom prst="roundRect">
            <a:avLst>
              <a:gd name="adj" fmla="val 4412"/>
            </a:avLst>
          </a:prstGeom>
          <a:solidFill>
            <a:srgbClr val="F6F5FC"/>
          </a:solidFill>
          <a:ln w="12700">
            <a:solidFill>
              <a:srgbClr val="F6F5FC"/>
            </a:solidFill>
            <a:prstDash val="solid"/>
          </a:ln>
        </p:spPr>
      </p:sp>
      <p:pic>
        <p:nvPicPr>
          <p:cNvPr id="8" name="Image 0" descr="user round">    </p:cNvPr>
          <p:cNvPicPr>
            <a:picLocks noChangeAspect="1"/>
          </p:cNvPicPr>
          <p:nvPr/>
        </p:nvPicPr>
        <p:blipFill>
          <a:blip r:embed="rId1"/>
          <a:stretch>
            <a:fillRect/>
          </a:stretch>
        </p:blipFill>
        <p:spPr>
          <a:xfrm>
            <a:off x="1600200" y="1737360"/>
            <a:ext cx="1234440" cy="1234440"/>
          </a:xfrm>
          <a:prstGeom prst="rect">
            <a:avLst/>
          </a:prstGeom>
        </p:spPr>
      </p:pic>
      <p:sp>
        <p:nvSpPr>
          <p:cNvPr id="9" name="Text 5"/>
          <p:cNvSpPr txBox="1"/>
          <p:nvPr/>
        </p:nvSpPr>
        <p:spPr>
          <a:xfrm>
            <a:off x="822960" y="3246120"/>
            <a:ext cx="2834640" cy="594360"/>
          </a:xfrm>
          <a:prstGeom prst="rect">
            <a:avLst/>
          </a:prstGeom>
          <a:noFill/>
          <a:ln/>
        </p:spPr>
        <p:txBody>
          <a:bodyPr wrap="square" lIns="0" tIns="0" rIns="0" bIns="0" rtlCol="0" anchor="t"/>
          <a:lstStyle/>
          <a:p>
            <a:pPr algn="ctr" indent="0" marL="0">
              <a:spcAft>
                <a:spcPts val="600"/>
              </a:spcAft>
              <a:buNone/>
            </a:pPr>
            <a:r>
              <a:rPr lang="en-US" sz="1900" b="1" dirty="0">
                <a:solidFill>
                  <a:srgbClr val="494985"/>
                </a:solidFill>
                <a:latin typeface="Quicksand" pitchFamily="34" charset="0"/>
                <a:ea typeface="Quicksand" pitchFamily="34" charset="-122"/>
                <a:cs typeface="Quicksand" pitchFamily="34" charset="-120"/>
              </a:rPr>
              <a:t>Human expert</a:t>
            </a:r>
            <a:endParaRPr lang="en-US" sz="1900" dirty="0"/>
          </a:p>
        </p:txBody>
      </p:sp>
      <p:sp>
        <p:nvSpPr>
          <p:cNvPr id="10" name="Text 6"/>
          <p:cNvSpPr txBox="1"/>
          <p:nvPr/>
        </p:nvSpPr>
        <p:spPr>
          <a:xfrm>
            <a:off x="960120" y="3840480"/>
            <a:ext cx="2606040" cy="822960"/>
          </a:xfrm>
          <a:prstGeom prst="rect">
            <a:avLst/>
          </a:prstGeom>
          <a:noFill/>
          <a:ln/>
        </p:spPr>
        <p:txBody>
          <a:bodyPr wrap="square" lIns="0" tIns="0" rIns="0" bIns="0" rtlCol="0" anchor="t"/>
          <a:lstStyle/>
          <a:p>
            <a:pPr algn="ctr" indent="0" marL="0">
              <a:spcAft>
                <a:spcPts val="600"/>
              </a:spcAft>
              <a:buNone/>
            </a:pPr>
            <a:r>
              <a:rPr lang="en-US" sz="1800" dirty="0">
                <a:solidFill>
                  <a:srgbClr val="202124"/>
                </a:solidFill>
                <a:latin typeface="Quicksand" pitchFamily="34" charset="0"/>
                <a:ea typeface="Quicksand" pitchFamily="34" charset="-122"/>
                <a:cs typeface="Quicksand" pitchFamily="34" charset="-120"/>
              </a:rPr>
              <a:t>Provides facts and rules</a:t>
            </a:r>
            <a:endParaRPr lang="en-US" sz="1800" dirty="0"/>
          </a:p>
          <a:p>
            <a:pPr algn="ctr" indent="0" marL="0">
              <a:spcAft>
                <a:spcPts val="600"/>
              </a:spcAft>
              <a:buNone/>
            </a:pPr>
            <a:r>
              <a:rPr lang="en-US" sz="1800" dirty="0">
                <a:solidFill>
                  <a:srgbClr val="202124"/>
                </a:solidFill>
                <a:latin typeface="Quicksand" pitchFamily="34" charset="0"/>
                <a:ea typeface="Quicksand" pitchFamily="34" charset="-122"/>
                <a:cs typeface="Quicksand" pitchFamily="34" charset="-120"/>
              </a:rPr>
              <a:t>about a specific domain.</a:t>
            </a:r>
            <a:endParaRPr lang="en-US" sz="1800" dirty="0"/>
          </a:p>
        </p:txBody>
      </p:sp>
      <p:sp>
        <p:nvSpPr>
          <p:cNvPr id="11" name="Shape 7"/>
          <p:cNvSpPr/>
          <p:nvPr/>
        </p:nvSpPr>
        <p:spPr>
          <a:xfrm>
            <a:off x="4480560" y="1508760"/>
            <a:ext cx="3108960" cy="3474720"/>
          </a:xfrm>
          <a:prstGeom prst="roundRect">
            <a:avLst>
              <a:gd name="adj" fmla="val 4412"/>
            </a:avLst>
          </a:prstGeom>
          <a:solidFill>
            <a:srgbClr val="F6F5FC"/>
          </a:solidFill>
          <a:ln w="12700">
            <a:solidFill>
              <a:srgbClr val="F6F5FC"/>
            </a:solidFill>
            <a:prstDash val="solid"/>
          </a:ln>
        </p:spPr>
      </p:sp>
      <p:pic>
        <p:nvPicPr>
          <p:cNvPr id="12" name="Image 1" descr="cpu">    </p:cNvPr>
          <p:cNvPicPr>
            <a:picLocks noChangeAspect="1"/>
          </p:cNvPicPr>
          <p:nvPr/>
        </p:nvPicPr>
        <p:blipFill>
          <a:blip r:embed="rId2"/>
          <a:stretch>
            <a:fillRect/>
          </a:stretch>
        </p:blipFill>
        <p:spPr>
          <a:xfrm>
            <a:off x="5394960" y="1737360"/>
            <a:ext cx="1234440" cy="1234440"/>
          </a:xfrm>
          <a:prstGeom prst="rect">
            <a:avLst/>
          </a:prstGeom>
        </p:spPr>
      </p:pic>
      <p:sp>
        <p:nvSpPr>
          <p:cNvPr id="13" name="Text 8"/>
          <p:cNvSpPr txBox="1"/>
          <p:nvPr/>
        </p:nvSpPr>
        <p:spPr>
          <a:xfrm>
            <a:off x="4617720" y="3246120"/>
            <a:ext cx="2834640" cy="594360"/>
          </a:xfrm>
          <a:prstGeom prst="rect">
            <a:avLst/>
          </a:prstGeom>
          <a:noFill/>
          <a:ln/>
        </p:spPr>
        <p:txBody>
          <a:bodyPr wrap="square" lIns="0" tIns="0" rIns="0" bIns="0" rtlCol="0" anchor="t"/>
          <a:lstStyle/>
          <a:p>
            <a:pPr algn="ctr" indent="0" marL="0">
              <a:spcAft>
                <a:spcPts val="600"/>
              </a:spcAft>
              <a:buNone/>
            </a:pPr>
            <a:r>
              <a:rPr lang="en-US" sz="1900" b="1" dirty="0">
                <a:solidFill>
                  <a:srgbClr val="494985"/>
                </a:solidFill>
                <a:latin typeface="Quicksand" pitchFamily="34" charset="0"/>
                <a:ea typeface="Quicksand" pitchFamily="34" charset="-122"/>
                <a:cs typeface="Quicksand" pitchFamily="34" charset="-120"/>
              </a:rPr>
              <a:t>Expert system</a:t>
            </a:r>
            <a:endParaRPr lang="en-US" sz="1900" dirty="0"/>
          </a:p>
        </p:txBody>
      </p:sp>
      <p:sp>
        <p:nvSpPr>
          <p:cNvPr id="14" name="Text 9"/>
          <p:cNvSpPr txBox="1"/>
          <p:nvPr/>
        </p:nvSpPr>
        <p:spPr>
          <a:xfrm>
            <a:off x="4754880" y="3840480"/>
            <a:ext cx="2606040" cy="822960"/>
          </a:xfrm>
          <a:prstGeom prst="rect">
            <a:avLst/>
          </a:prstGeom>
          <a:noFill/>
          <a:ln/>
        </p:spPr>
        <p:txBody>
          <a:bodyPr wrap="square" lIns="0" tIns="0" rIns="0" bIns="0" rtlCol="0" anchor="t"/>
          <a:lstStyle/>
          <a:p>
            <a:pPr algn="ctr" indent="0" marL="0">
              <a:spcAft>
                <a:spcPts val="600"/>
              </a:spcAft>
              <a:buNone/>
            </a:pPr>
            <a:r>
              <a:rPr lang="en-US" sz="1800" dirty="0">
                <a:solidFill>
                  <a:srgbClr val="202124"/>
                </a:solidFill>
                <a:latin typeface="Quicksand" pitchFamily="34" charset="0"/>
                <a:ea typeface="Quicksand" pitchFamily="34" charset="-122"/>
                <a:cs typeface="Quicksand" pitchFamily="34" charset="-120"/>
              </a:rPr>
              <a:t>Applies the expertise</a:t>
            </a:r>
            <a:endParaRPr lang="en-US" sz="1800" dirty="0"/>
          </a:p>
          <a:p>
            <a:pPr algn="ctr" indent="0" marL="0">
              <a:spcAft>
                <a:spcPts val="600"/>
              </a:spcAft>
              <a:buNone/>
            </a:pPr>
            <a:r>
              <a:rPr lang="en-US" sz="1800" dirty="0">
                <a:solidFill>
                  <a:srgbClr val="202124"/>
                </a:solidFill>
                <a:latin typeface="Quicksand" pitchFamily="34" charset="0"/>
                <a:ea typeface="Quicksand" pitchFamily="34" charset="-122"/>
                <a:cs typeface="Quicksand" pitchFamily="34" charset="-120"/>
              </a:rPr>
              <a:t>to the user’s evidence.</a:t>
            </a:r>
            <a:endParaRPr lang="en-US" sz="1800" dirty="0"/>
          </a:p>
        </p:txBody>
      </p:sp>
      <p:sp>
        <p:nvSpPr>
          <p:cNvPr id="15" name="Shape 10"/>
          <p:cNvSpPr/>
          <p:nvPr/>
        </p:nvSpPr>
        <p:spPr>
          <a:xfrm>
            <a:off x="8275320" y="1508760"/>
            <a:ext cx="3108960" cy="3474720"/>
          </a:xfrm>
          <a:prstGeom prst="roundRect">
            <a:avLst>
              <a:gd name="adj" fmla="val 4412"/>
            </a:avLst>
          </a:prstGeom>
          <a:solidFill>
            <a:srgbClr val="F6F5FC"/>
          </a:solidFill>
          <a:ln w="12700">
            <a:solidFill>
              <a:srgbClr val="F6F5FC"/>
            </a:solidFill>
            <a:prstDash val="solid"/>
          </a:ln>
        </p:spPr>
      </p:sp>
      <p:pic>
        <p:nvPicPr>
          <p:cNvPr id="16" name="Image 2" descr="wrench">    </p:cNvPr>
          <p:cNvPicPr>
            <a:picLocks noChangeAspect="1"/>
          </p:cNvPicPr>
          <p:nvPr/>
        </p:nvPicPr>
        <p:blipFill>
          <a:blip r:embed="rId3"/>
          <a:stretch>
            <a:fillRect/>
          </a:stretch>
        </p:blipFill>
        <p:spPr>
          <a:xfrm>
            <a:off x="9189720" y="1737360"/>
            <a:ext cx="1234440" cy="1234440"/>
          </a:xfrm>
          <a:prstGeom prst="rect">
            <a:avLst/>
          </a:prstGeom>
        </p:spPr>
      </p:pic>
      <p:sp>
        <p:nvSpPr>
          <p:cNvPr id="17" name="Text 11"/>
          <p:cNvSpPr txBox="1"/>
          <p:nvPr/>
        </p:nvSpPr>
        <p:spPr>
          <a:xfrm>
            <a:off x="8412480" y="3246120"/>
            <a:ext cx="2834640" cy="594360"/>
          </a:xfrm>
          <a:prstGeom prst="rect">
            <a:avLst/>
          </a:prstGeom>
          <a:noFill/>
          <a:ln/>
        </p:spPr>
        <p:txBody>
          <a:bodyPr wrap="square" lIns="0" tIns="0" rIns="0" bIns="0" rtlCol="0" anchor="t"/>
          <a:lstStyle/>
          <a:p>
            <a:pPr algn="ctr" indent="0" marL="0">
              <a:spcAft>
                <a:spcPts val="600"/>
              </a:spcAft>
              <a:buNone/>
            </a:pPr>
            <a:r>
              <a:rPr lang="en-US" sz="1900" b="1" dirty="0">
                <a:solidFill>
                  <a:srgbClr val="494985"/>
                </a:solidFill>
                <a:latin typeface="Quicksand" pitchFamily="34" charset="0"/>
                <a:ea typeface="Quicksand" pitchFamily="34" charset="-122"/>
                <a:cs typeface="Quicksand" pitchFamily="34" charset="-120"/>
              </a:rPr>
              <a:t>Advice</a:t>
            </a:r>
            <a:endParaRPr lang="en-US" sz="1900" dirty="0"/>
          </a:p>
        </p:txBody>
      </p:sp>
      <p:sp>
        <p:nvSpPr>
          <p:cNvPr id="18" name="Text 12"/>
          <p:cNvSpPr txBox="1"/>
          <p:nvPr/>
        </p:nvSpPr>
        <p:spPr>
          <a:xfrm>
            <a:off x="8549640" y="3840480"/>
            <a:ext cx="2606040" cy="822960"/>
          </a:xfrm>
          <a:prstGeom prst="rect">
            <a:avLst/>
          </a:prstGeom>
          <a:noFill/>
          <a:ln/>
        </p:spPr>
        <p:txBody>
          <a:bodyPr wrap="square" lIns="0" tIns="0" rIns="0" bIns="0" rtlCol="0" anchor="t"/>
          <a:lstStyle/>
          <a:p>
            <a:pPr algn="ctr" indent="0" marL="0">
              <a:spcAft>
                <a:spcPts val="600"/>
              </a:spcAft>
              <a:buNone/>
            </a:pPr>
            <a:r>
              <a:rPr lang="en-US" sz="1800" dirty="0">
                <a:solidFill>
                  <a:srgbClr val="202124"/>
                </a:solidFill>
                <a:latin typeface="Quicksand" pitchFamily="34" charset="0"/>
                <a:ea typeface="Quicksand" pitchFamily="34" charset="-122"/>
                <a:cs typeface="Quicksand" pitchFamily="34" charset="-120"/>
              </a:rPr>
              <a:t>Suggests a fault</a:t>
            </a:r>
            <a:endParaRPr lang="en-US" sz="1800" dirty="0"/>
          </a:p>
          <a:p>
            <a:pPr algn="ctr" indent="0" marL="0">
              <a:spcAft>
                <a:spcPts val="600"/>
              </a:spcAft>
              <a:buNone/>
            </a:pPr>
            <a:r>
              <a:rPr lang="en-US" sz="1800" dirty="0">
                <a:solidFill>
                  <a:srgbClr val="202124"/>
                </a:solidFill>
                <a:latin typeface="Quicksand" pitchFamily="34" charset="0"/>
                <a:ea typeface="Quicksand" pitchFamily="34" charset="-122"/>
                <a:cs typeface="Quicksand" pitchFamily="34" charset="-120"/>
              </a:rPr>
              <a:t>and what to check.</a:t>
            </a:r>
            <a:endParaRPr lang="en-US" sz="1800" dirty="0"/>
          </a:p>
        </p:txBody>
      </p:sp>
      <p:sp>
        <p:nvSpPr>
          <p:cNvPr id="19" name="Shape 13"/>
          <p:cNvSpPr/>
          <p:nvPr/>
        </p:nvSpPr>
        <p:spPr>
          <a:xfrm>
            <a:off x="3840480" y="2834640"/>
            <a:ext cx="548640" cy="914"/>
          </a:xfrm>
          <a:prstGeom prst="line">
            <a:avLst/>
          </a:prstGeom>
          <a:noFill/>
          <a:ln w="25400">
            <a:solidFill>
              <a:srgbClr val="494985"/>
            </a:solidFill>
            <a:prstDash val="solid"/>
            <a:tailEnd type="triangle"/>
          </a:ln>
        </p:spPr>
      </p:sp>
      <p:sp>
        <p:nvSpPr>
          <p:cNvPr id="20" name="Shape 14"/>
          <p:cNvSpPr/>
          <p:nvPr/>
        </p:nvSpPr>
        <p:spPr>
          <a:xfrm>
            <a:off x="7635240" y="2834640"/>
            <a:ext cx="548640" cy="914"/>
          </a:xfrm>
          <a:prstGeom prst="line">
            <a:avLst/>
          </a:prstGeom>
          <a:noFill/>
          <a:ln w="25400">
            <a:solidFill>
              <a:srgbClr val="494985"/>
            </a:solidFill>
            <a:prstDash val="solid"/>
            <a:tailEnd type="triangle"/>
          </a:ln>
        </p:spPr>
      </p:sp>
      <p:sp>
        <p:nvSpPr>
          <p:cNvPr id="21" name="Text 15"/>
          <p:cNvSpPr txBox="1"/>
          <p:nvPr/>
        </p:nvSpPr>
        <p:spPr>
          <a:xfrm>
            <a:off x="685800" y="5623560"/>
            <a:ext cx="10698480" cy="438912"/>
          </a:xfrm>
          <a:prstGeom prst="rect">
            <a:avLst/>
          </a:prstGeom>
          <a:noFill/>
          <a:ln/>
        </p:spPr>
        <p:txBody>
          <a:bodyPr wrap="square" lIns="0" tIns="0" rIns="0" bIns="0" rtlCol="0" anchor="t"/>
          <a:lstStyle/>
          <a:p>
            <a:pPr indent="0" marL="0">
              <a:buNone/>
            </a:pPr>
            <a:r>
              <a:rPr lang="en-US" sz="1500" b="1" dirty="0">
                <a:solidFill>
                  <a:srgbClr val="494985"/>
                </a:solidFill>
                <a:latin typeface="Quicksand" pitchFamily="34" charset="0"/>
                <a:ea typeface="Quicksand" pitchFamily="34" charset="-122"/>
                <a:cs typeface="Quicksand" pitchFamily="34" charset="-120"/>
              </a:rPr>
              <a:t>Equipment faults • mineral prospecting • medical decision support. Expertise is domain-specific.</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Inside an expert system</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Activity 2</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8</a:t>
            </a:r>
            <a:endParaRPr lang="en-US" sz="1350" dirty="0"/>
          </a:p>
        </p:txBody>
      </p:sp>
      <p:sp>
        <p:nvSpPr>
          <p:cNvPr id="7" name="Shape 4"/>
          <p:cNvSpPr/>
          <p:nvPr/>
        </p:nvSpPr>
        <p:spPr>
          <a:xfrm>
            <a:off x="685800" y="2194560"/>
            <a:ext cx="2743200" cy="2468880"/>
          </a:xfrm>
          <a:prstGeom prst="roundRect">
            <a:avLst>
              <a:gd name="adj" fmla="val 5556"/>
            </a:avLst>
          </a:prstGeom>
          <a:solidFill>
            <a:srgbClr val="F6F5FC"/>
          </a:solidFill>
          <a:ln w="12700">
            <a:solidFill>
              <a:srgbClr val="F6F5FC"/>
            </a:solidFill>
            <a:prstDash val="solid"/>
          </a:ln>
        </p:spPr>
      </p:sp>
      <p:pic>
        <p:nvPicPr>
          <p:cNvPr id="8" name="Image 0" descr="user round">    </p:cNvPr>
          <p:cNvPicPr>
            <a:picLocks noChangeAspect="1"/>
          </p:cNvPicPr>
          <p:nvPr/>
        </p:nvPicPr>
        <p:blipFill>
          <a:blip r:embed="rId1"/>
          <a:stretch>
            <a:fillRect/>
          </a:stretch>
        </p:blipFill>
        <p:spPr>
          <a:xfrm>
            <a:off x="1645920" y="2423160"/>
            <a:ext cx="777240" cy="777240"/>
          </a:xfrm>
          <a:prstGeom prst="rect">
            <a:avLst/>
          </a:prstGeom>
        </p:spPr>
      </p:pic>
      <p:sp>
        <p:nvSpPr>
          <p:cNvPr id="9" name="Text 5"/>
          <p:cNvSpPr txBox="1"/>
          <p:nvPr/>
        </p:nvSpPr>
        <p:spPr>
          <a:xfrm>
            <a:off x="822960" y="3337560"/>
            <a:ext cx="2468880" cy="594360"/>
          </a:xfrm>
          <a:prstGeom prst="rect">
            <a:avLst/>
          </a:prstGeom>
          <a:noFill/>
          <a:ln/>
        </p:spPr>
        <p:txBody>
          <a:bodyPr wrap="square" lIns="0" tIns="0" rIns="0" bIns="0" rtlCol="0" anchor="t"/>
          <a:lstStyle/>
          <a:p>
            <a:pPr algn="ctr" indent="0" marL="0">
              <a:spcAft>
                <a:spcPts val="600"/>
              </a:spcAft>
              <a:buNone/>
            </a:pPr>
            <a:r>
              <a:rPr lang="en-US" sz="1900" b="1" dirty="0">
                <a:solidFill>
                  <a:srgbClr val="494985"/>
                </a:solidFill>
                <a:latin typeface="Quicksand" pitchFamily="34" charset="0"/>
                <a:ea typeface="Quicksand" pitchFamily="34" charset="-122"/>
                <a:cs typeface="Quicksand" pitchFamily="34" charset="-120"/>
              </a:rPr>
              <a:t>User interface</a:t>
            </a:r>
            <a:endParaRPr lang="en-US" sz="1900" dirty="0"/>
          </a:p>
        </p:txBody>
      </p:sp>
      <p:sp>
        <p:nvSpPr>
          <p:cNvPr id="10" name="Text 6"/>
          <p:cNvSpPr txBox="1"/>
          <p:nvPr/>
        </p:nvSpPr>
        <p:spPr>
          <a:xfrm>
            <a:off x="914400" y="3886200"/>
            <a:ext cx="2286000" cy="685800"/>
          </a:xfrm>
          <a:prstGeom prst="rect">
            <a:avLst/>
          </a:prstGeom>
          <a:noFill/>
          <a:ln/>
        </p:spPr>
        <p:txBody>
          <a:bodyPr wrap="square" lIns="0" tIns="0" rIns="0" bIns="0" rtlCol="0" anchor="t"/>
          <a:lstStyle/>
          <a:p>
            <a:pPr algn="ctr" indent="0" marL="0">
              <a:spcAft>
                <a:spcPts val="600"/>
              </a:spcAft>
              <a:buNone/>
            </a:pPr>
            <a:r>
              <a:rPr lang="en-US" sz="1800" dirty="0">
                <a:solidFill>
                  <a:srgbClr val="202124"/>
                </a:solidFill>
                <a:latin typeface="Quicksand" pitchFamily="34" charset="0"/>
                <a:ea typeface="Quicksand" pitchFamily="34" charset="-122"/>
                <a:cs typeface="Quicksand" pitchFamily="34" charset="-120"/>
              </a:rPr>
              <a:t>Questions in</a:t>
            </a:r>
            <a:endParaRPr lang="en-US" sz="1800" dirty="0"/>
          </a:p>
          <a:p>
            <a:pPr algn="ctr" indent="0" marL="0">
              <a:spcAft>
                <a:spcPts val="600"/>
              </a:spcAft>
              <a:buNone/>
            </a:pPr>
            <a:r>
              <a:rPr lang="en-US" sz="1800" dirty="0">
                <a:solidFill>
                  <a:srgbClr val="202124"/>
                </a:solidFill>
                <a:latin typeface="Quicksand" pitchFamily="34" charset="0"/>
                <a:ea typeface="Quicksand" pitchFamily="34" charset="-122"/>
                <a:cs typeface="Quicksand" pitchFamily="34" charset="-120"/>
              </a:rPr>
              <a:t>Advice out</a:t>
            </a:r>
            <a:endParaRPr lang="en-US" sz="1800" dirty="0"/>
          </a:p>
        </p:txBody>
      </p:sp>
      <p:sp>
        <p:nvSpPr>
          <p:cNvPr id="11" name="Shape 7"/>
          <p:cNvSpPr/>
          <p:nvPr/>
        </p:nvSpPr>
        <p:spPr>
          <a:xfrm>
            <a:off x="4297680" y="2194560"/>
            <a:ext cx="3017520" cy="2468880"/>
          </a:xfrm>
          <a:prstGeom prst="roundRect">
            <a:avLst>
              <a:gd name="adj" fmla="val 5556"/>
            </a:avLst>
          </a:prstGeom>
          <a:solidFill>
            <a:srgbClr val="E9E8F5"/>
          </a:solidFill>
          <a:ln w="12700">
            <a:solidFill>
              <a:srgbClr val="E9E8F5"/>
            </a:solidFill>
            <a:prstDash val="solid"/>
          </a:ln>
        </p:spPr>
      </p:sp>
      <p:pic>
        <p:nvPicPr>
          <p:cNvPr id="12" name="Image 1" descr="cpu">    </p:cNvPr>
          <p:cNvPicPr>
            <a:picLocks noChangeAspect="1"/>
          </p:cNvPicPr>
          <p:nvPr/>
        </p:nvPicPr>
        <p:blipFill>
          <a:blip r:embed="rId2"/>
          <a:stretch>
            <a:fillRect/>
          </a:stretch>
        </p:blipFill>
        <p:spPr>
          <a:xfrm>
            <a:off x="5349240" y="2423160"/>
            <a:ext cx="777240" cy="777240"/>
          </a:xfrm>
          <a:prstGeom prst="rect">
            <a:avLst/>
          </a:prstGeom>
        </p:spPr>
      </p:pic>
      <p:sp>
        <p:nvSpPr>
          <p:cNvPr id="13" name="Text 8"/>
          <p:cNvSpPr txBox="1"/>
          <p:nvPr/>
        </p:nvSpPr>
        <p:spPr>
          <a:xfrm>
            <a:off x="4434840" y="3337560"/>
            <a:ext cx="2743200" cy="594360"/>
          </a:xfrm>
          <a:prstGeom prst="rect">
            <a:avLst/>
          </a:prstGeom>
          <a:noFill/>
          <a:ln/>
        </p:spPr>
        <p:txBody>
          <a:bodyPr wrap="square" lIns="0" tIns="0" rIns="0" bIns="0" rtlCol="0" anchor="t"/>
          <a:lstStyle/>
          <a:p>
            <a:pPr algn="ctr" indent="0" marL="0">
              <a:spcAft>
                <a:spcPts val="600"/>
              </a:spcAft>
              <a:buNone/>
            </a:pPr>
            <a:r>
              <a:rPr lang="en-US" sz="1900" b="1" dirty="0">
                <a:solidFill>
                  <a:srgbClr val="494985"/>
                </a:solidFill>
                <a:latin typeface="Quicksand" pitchFamily="34" charset="0"/>
                <a:ea typeface="Quicksand" pitchFamily="34" charset="-122"/>
                <a:cs typeface="Quicksand" pitchFamily="34" charset="-120"/>
              </a:rPr>
              <a:t>Inference engine</a:t>
            </a:r>
            <a:endParaRPr lang="en-US" sz="1900" dirty="0"/>
          </a:p>
        </p:txBody>
      </p:sp>
      <p:sp>
        <p:nvSpPr>
          <p:cNvPr id="14" name="Text 9"/>
          <p:cNvSpPr txBox="1"/>
          <p:nvPr/>
        </p:nvSpPr>
        <p:spPr>
          <a:xfrm>
            <a:off x="4572000" y="3886200"/>
            <a:ext cx="2468880" cy="685800"/>
          </a:xfrm>
          <a:prstGeom prst="rect">
            <a:avLst/>
          </a:prstGeom>
          <a:noFill/>
          <a:ln/>
        </p:spPr>
        <p:txBody>
          <a:bodyPr wrap="square" lIns="0" tIns="0" rIns="0" bIns="0" rtlCol="0" anchor="t"/>
          <a:lstStyle/>
          <a:p>
            <a:pPr algn="ctr" indent="0" marL="0">
              <a:spcAft>
                <a:spcPts val="600"/>
              </a:spcAft>
              <a:buNone/>
            </a:pPr>
            <a:r>
              <a:rPr lang="en-US" sz="1800" dirty="0">
                <a:solidFill>
                  <a:srgbClr val="202124"/>
                </a:solidFill>
                <a:latin typeface="Quicksand" pitchFamily="34" charset="0"/>
                <a:ea typeface="Quicksand" pitchFamily="34" charset="-122"/>
                <a:cs typeface="Quicksand" pitchFamily="34" charset="-120"/>
              </a:rPr>
              <a:t>Matches evidence</a:t>
            </a:r>
            <a:endParaRPr lang="en-US" sz="1800" dirty="0"/>
          </a:p>
          <a:p>
            <a:pPr algn="ctr" indent="0" marL="0">
              <a:spcAft>
                <a:spcPts val="600"/>
              </a:spcAft>
              <a:buNone/>
            </a:pPr>
            <a:r>
              <a:rPr lang="en-US" sz="1800" dirty="0">
                <a:solidFill>
                  <a:srgbClr val="202124"/>
                </a:solidFill>
                <a:latin typeface="Quicksand" pitchFamily="34" charset="0"/>
                <a:ea typeface="Quicksand" pitchFamily="34" charset="-122"/>
                <a:cs typeface="Quicksand" pitchFamily="34" charset="-120"/>
              </a:rPr>
              <a:t>and applies rules</a:t>
            </a:r>
            <a:endParaRPr lang="en-US" sz="1800" dirty="0"/>
          </a:p>
        </p:txBody>
      </p:sp>
      <p:sp>
        <p:nvSpPr>
          <p:cNvPr id="15" name="Shape 10"/>
          <p:cNvSpPr/>
          <p:nvPr/>
        </p:nvSpPr>
        <p:spPr>
          <a:xfrm>
            <a:off x="8503920" y="1417320"/>
            <a:ext cx="2926080" cy="1737360"/>
          </a:xfrm>
          <a:prstGeom prst="roundRect">
            <a:avLst>
              <a:gd name="adj" fmla="val 7895"/>
            </a:avLst>
          </a:prstGeom>
          <a:solidFill>
            <a:srgbClr val="F6F5FC"/>
          </a:solidFill>
          <a:ln w="12700">
            <a:solidFill>
              <a:srgbClr val="F6F5FC"/>
            </a:solidFill>
            <a:prstDash val="solid"/>
          </a:ln>
        </p:spPr>
      </p:sp>
      <p:pic>
        <p:nvPicPr>
          <p:cNvPr id="16" name="Image 2" descr="database">    </p:cNvPr>
          <p:cNvPicPr>
            <a:picLocks noChangeAspect="1"/>
          </p:cNvPicPr>
          <p:nvPr/>
        </p:nvPicPr>
        <p:blipFill>
          <a:blip r:embed="rId3"/>
          <a:stretch>
            <a:fillRect/>
          </a:stretch>
        </p:blipFill>
        <p:spPr>
          <a:xfrm>
            <a:off x="8686800" y="1600200"/>
            <a:ext cx="566928" cy="566928"/>
          </a:xfrm>
          <a:prstGeom prst="rect">
            <a:avLst/>
          </a:prstGeom>
        </p:spPr>
      </p:pic>
      <p:sp>
        <p:nvSpPr>
          <p:cNvPr id="17" name="Text 11"/>
          <p:cNvSpPr txBox="1"/>
          <p:nvPr/>
        </p:nvSpPr>
        <p:spPr>
          <a:xfrm>
            <a:off x="9372600" y="1645920"/>
            <a:ext cx="1965960" cy="685800"/>
          </a:xfrm>
          <a:prstGeom prst="rect">
            <a:avLst/>
          </a:prstGeom>
          <a:noFill/>
          <a:ln/>
        </p:spPr>
        <p:txBody>
          <a:bodyPr wrap="square" lIns="0" tIns="0" rIns="0" bIns="0" rtlCol="0" anchor="t"/>
          <a:lstStyle/>
          <a:p>
            <a:pPr indent="0" marL="0">
              <a:spcAft>
                <a:spcPts val="600"/>
              </a:spcAft>
              <a:buNone/>
            </a:pPr>
            <a:r>
              <a:rPr lang="en-US" sz="1900" b="1" dirty="0">
                <a:solidFill>
                  <a:srgbClr val="494985"/>
                </a:solidFill>
                <a:latin typeface="Quicksand" pitchFamily="34" charset="0"/>
                <a:ea typeface="Quicksand" pitchFamily="34" charset="-122"/>
                <a:cs typeface="Quicksand" pitchFamily="34" charset="-120"/>
              </a:rPr>
              <a:t>Knowledge base</a:t>
            </a:r>
            <a:endParaRPr lang="en-US" sz="1900" dirty="0"/>
          </a:p>
        </p:txBody>
      </p:sp>
      <p:sp>
        <p:nvSpPr>
          <p:cNvPr id="18" name="Text 12"/>
          <p:cNvSpPr txBox="1"/>
          <p:nvPr/>
        </p:nvSpPr>
        <p:spPr>
          <a:xfrm>
            <a:off x="8823960" y="2514600"/>
            <a:ext cx="2286000" cy="411480"/>
          </a:xfrm>
          <a:prstGeom prst="rect">
            <a:avLst/>
          </a:prstGeom>
          <a:noFill/>
          <a:ln/>
        </p:spPr>
        <p:txBody>
          <a:bodyPr wrap="square" lIns="0" tIns="0" rIns="0" bIns="0" rtlCol="0" anchor="t"/>
          <a:lstStyle/>
          <a:p>
            <a:pPr indent="0" marL="0">
              <a:spcAft>
                <a:spcPts val="600"/>
              </a:spcAft>
              <a:buNone/>
            </a:pPr>
            <a:r>
              <a:rPr lang="en-US" sz="1700" dirty="0">
                <a:solidFill>
                  <a:srgbClr val="202124"/>
                </a:solidFill>
                <a:latin typeface="Quicksand" pitchFamily="34" charset="0"/>
                <a:ea typeface="Quicksand" pitchFamily="34" charset="-122"/>
                <a:cs typeface="Quicksand" pitchFamily="34" charset="-120"/>
              </a:rPr>
              <a:t>Expert facts</a:t>
            </a:r>
            <a:endParaRPr lang="en-US" sz="1700" dirty="0"/>
          </a:p>
        </p:txBody>
      </p:sp>
      <p:sp>
        <p:nvSpPr>
          <p:cNvPr id="19" name="Shape 13"/>
          <p:cNvSpPr/>
          <p:nvPr/>
        </p:nvSpPr>
        <p:spPr>
          <a:xfrm>
            <a:off x="8503920" y="3886200"/>
            <a:ext cx="2926080" cy="1508760"/>
          </a:xfrm>
          <a:prstGeom prst="roundRect">
            <a:avLst>
              <a:gd name="adj" fmla="val 9091"/>
            </a:avLst>
          </a:prstGeom>
          <a:solidFill>
            <a:srgbClr val="F6F5FC"/>
          </a:solidFill>
          <a:ln w="12700">
            <a:solidFill>
              <a:srgbClr val="F6F5FC"/>
            </a:solidFill>
            <a:prstDash val="solid"/>
          </a:ln>
        </p:spPr>
      </p:sp>
      <p:pic>
        <p:nvPicPr>
          <p:cNvPr id="20" name="Image 3" descr="list filter">    </p:cNvPr>
          <p:cNvPicPr>
            <a:picLocks noChangeAspect="1"/>
          </p:cNvPicPr>
          <p:nvPr/>
        </p:nvPicPr>
        <p:blipFill>
          <a:blip r:embed="rId4"/>
          <a:stretch>
            <a:fillRect/>
          </a:stretch>
        </p:blipFill>
        <p:spPr>
          <a:xfrm>
            <a:off x="8686800" y="4069080"/>
            <a:ext cx="566928" cy="566928"/>
          </a:xfrm>
          <a:prstGeom prst="rect">
            <a:avLst/>
          </a:prstGeom>
        </p:spPr>
      </p:pic>
      <p:sp>
        <p:nvSpPr>
          <p:cNvPr id="21" name="Text 14"/>
          <p:cNvSpPr txBox="1"/>
          <p:nvPr/>
        </p:nvSpPr>
        <p:spPr>
          <a:xfrm>
            <a:off x="9372600" y="4114800"/>
            <a:ext cx="1920240" cy="457200"/>
          </a:xfrm>
          <a:prstGeom prst="rect">
            <a:avLst/>
          </a:prstGeom>
          <a:noFill/>
          <a:ln/>
        </p:spPr>
        <p:txBody>
          <a:bodyPr wrap="square" lIns="0" tIns="0" rIns="0" bIns="0" rtlCol="0" anchor="t"/>
          <a:lstStyle/>
          <a:p>
            <a:pPr indent="0" marL="0">
              <a:spcAft>
                <a:spcPts val="600"/>
              </a:spcAft>
              <a:buNone/>
            </a:pPr>
            <a:r>
              <a:rPr lang="en-US" sz="1900" b="1" dirty="0">
                <a:solidFill>
                  <a:srgbClr val="494985"/>
                </a:solidFill>
                <a:latin typeface="Quicksand" pitchFamily="34" charset="0"/>
                <a:ea typeface="Quicksand" pitchFamily="34" charset="-122"/>
                <a:cs typeface="Quicksand" pitchFamily="34" charset="-120"/>
              </a:rPr>
              <a:t>Rules base</a:t>
            </a:r>
            <a:endParaRPr lang="en-US" sz="1900" dirty="0"/>
          </a:p>
        </p:txBody>
      </p:sp>
      <p:sp>
        <p:nvSpPr>
          <p:cNvPr id="22" name="Text 15"/>
          <p:cNvSpPr txBox="1"/>
          <p:nvPr/>
        </p:nvSpPr>
        <p:spPr>
          <a:xfrm>
            <a:off x="8823960" y="4800600"/>
            <a:ext cx="2286000" cy="411480"/>
          </a:xfrm>
          <a:prstGeom prst="rect">
            <a:avLst/>
          </a:prstGeom>
          <a:noFill/>
          <a:ln/>
        </p:spPr>
        <p:txBody>
          <a:bodyPr wrap="square" lIns="0" tIns="0" rIns="0" bIns="0" rtlCol="0" anchor="t"/>
          <a:lstStyle/>
          <a:p>
            <a:pPr indent="0" marL="0">
              <a:spcAft>
                <a:spcPts val="600"/>
              </a:spcAft>
              <a:buNone/>
            </a:pPr>
            <a:r>
              <a:rPr lang="en-US" sz="1700" dirty="0">
                <a:solidFill>
                  <a:srgbClr val="202124"/>
                </a:solidFill>
                <a:latin typeface="Quicksand" pitchFamily="34" charset="0"/>
                <a:ea typeface="Quicksand" pitchFamily="34" charset="-122"/>
                <a:cs typeface="Quicksand" pitchFamily="34" charset="-120"/>
              </a:rPr>
              <a:t>IF–THEN rules</a:t>
            </a:r>
            <a:endParaRPr lang="en-US" sz="1700" dirty="0"/>
          </a:p>
        </p:txBody>
      </p:sp>
      <p:sp>
        <p:nvSpPr>
          <p:cNvPr id="23" name="Shape 16"/>
          <p:cNvSpPr/>
          <p:nvPr/>
        </p:nvSpPr>
        <p:spPr>
          <a:xfrm>
            <a:off x="3474720" y="3017520"/>
            <a:ext cx="731520" cy="914"/>
          </a:xfrm>
          <a:prstGeom prst="line">
            <a:avLst/>
          </a:prstGeom>
          <a:noFill/>
          <a:ln w="25400">
            <a:solidFill>
              <a:srgbClr val="494985"/>
            </a:solidFill>
            <a:prstDash val="solid"/>
            <a:tailEnd type="triangle"/>
          </a:ln>
        </p:spPr>
      </p:sp>
      <p:sp>
        <p:nvSpPr>
          <p:cNvPr id="24" name="Shape 17"/>
          <p:cNvSpPr/>
          <p:nvPr/>
        </p:nvSpPr>
        <p:spPr>
          <a:xfrm flipH="1">
            <a:off x="3474720" y="3931920"/>
            <a:ext cx="731520" cy="914"/>
          </a:xfrm>
          <a:prstGeom prst="line">
            <a:avLst/>
          </a:prstGeom>
          <a:noFill/>
          <a:ln w="25400">
            <a:solidFill>
              <a:srgbClr val="494985"/>
            </a:solidFill>
            <a:prstDash val="solid"/>
            <a:tailEnd type="triangle"/>
          </a:ln>
        </p:spPr>
      </p:sp>
      <p:sp>
        <p:nvSpPr>
          <p:cNvPr id="25" name="Shape 18"/>
          <p:cNvSpPr/>
          <p:nvPr/>
        </p:nvSpPr>
        <p:spPr>
          <a:xfrm flipH="1">
            <a:off x="7360920" y="2377440"/>
            <a:ext cx="1097280" cy="457200"/>
          </a:xfrm>
          <a:prstGeom prst="line">
            <a:avLst/>
          </a:prstGeom>
          <a:noFill/>
          <a:ln w="25400">
            <a:solidFill>
              <a:srgbClr val="494985"/>
            </a:solidFill>
            <a:prstDash val="solid"/>
            <a:tailEnd type="triangle"/>
          </a:ln>
        </p:spPr>
      </p:sp>
      <p:sp>
        <p:nvSpPr>
          <p:cNvPr id="26" name="Shape 19"/>
          <p:cNvSpPr/>
          <p:nvPr/>
        </p:nvSpPr>
        <p:spPr>
          <a:xfrm flipH="1" flipV="1">
            <a:off x="7360920" y="3977640"/>
            <a:ext cx="1097280" cy="502920"/>
          </a:xfrm>
          <a:prstGeom prst="line">
            <a:avLst/>
          </a:prstGeom>
          <a:noFill/>
          <a:ln w="25400">
            <a:solidFill>
              <a:srgbClr val="494985"/>
            </a:solidFill>
            <a:prstDash val="solid"/>
            <a:tailEnd type="triangle"/>
          </a:ln>
        </p:spPr>
      </p:sp>
      <p:sp>
        <p:nvSpPr>
          <p:cNvPr id="27" name="Text 20"/>
          <p:cNvSpPr txBox="1"/>
          <p:nvPr/>
        </p:nvSpPr>
        <p:spPr>
          <a:xfrm>
            <a:off x="685800" y="5623560"/>
            <a:ext cx="10698480" cy="438912"/>
          </a:xfrm>
          <a:prstGeom prst="rect">
            <a:avLst/>
          </a:prstGeom>
          <a:noFill/>
          <a:ln/>
        </p:spPr>
        <p:txBody>
          <a:bodyPr wrap="square" lIns="0" tIns="0" rIns="0" bIns="0" rtlCol="0" anchor="t"/>
          <a:lstStyle/>
          <a:p>
            <a:pPr indent="0" marL="0">
              <a:buNone/>
            </a:pPr>
            <a:r>
              <a:rPr lang="en-US" sz="1500" b="1" dirty="0">
                <a:solidFill>
                  <a:srgbClr val="494985"/>
                </a:solidFill>
                <a:latin typeface="Quicksand" pitchFamily="34" charset="0"/>
                <a:ea typeface="Quicksand" pitchFamily="34" charset="-122"/>
                <a:cs typeface="Quicksand" pitchFamily="34" charset="-120"/>
              </a:rPr>
              <a:t>Facts describe the domain. Rules express expertise. The engine uses both.</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Facts and rules do different jobs</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Activity 2</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9</a:t>
            </a:r>
            <a:endParaRPr lang="en-US" sz="1350" dirty="0"/>
          </a:p>
        </p:txBody>
      </p:sp>
      <p:pic>
        <p:nvPicPr>
          <p:cNvPr id="7" name="Image 0" descr="printer scene">    </p:cNvPr>
          <p:cNvPicPr>
            <a:picLocks noChangeAspect="1"/>
          </p:cNvPicPr>
          <p:nvPr/>
        </p:nvPicPr>
        <p:blipFill>
          <a:blip r:embed="rId1"/>
          <a:stretch>
            <a:fillRect/>
          </a:stretch>
        </p:blipFill>
        <p:spPr>
          <a:xfrm>
            <a:off x="685800" y="1463040"/>
            <a:ext cx="5029200" cy="3767328"/>
          </a:xfrm>
          <a:prstGeom prst="rect">
            <a:avLst/>
          </a:prstGeom>
        </p:spPr>
      </p:pic>
      <p:sp>
        <p:nvSpPr>
          <p:cNvPr id="8" name="Shape 4"/>
          <p:cNvSpPr/>
          <p:nvPr/>
        </p:nvSpPr>
        <p:spPr>
          <a:xfrm>
            <a:off x="868680" y="4754880"/>
            <a:ext cx="2148840" cy="365760"/>
          </a:xfrm>
          <a:prstGeom prst="roundRect">
            <a:avLst>
              <a:gd name="adj" fmla="val 37500"/>
            </a:avLst>
          </a:prstGeom>
          <a:solidFill>
            <a:srgbClr val="494985"/>
          </a:solidFill>
          <a:ln w="12700">
            <a:solidFill>
              <a:srgbClr val="494985"/>
            </a:solidFill>
            <a:prstDash val="solid"/>
          </a:ln>
        </p:spPr>
      </p:sp>
      <p:sp>
        <p:nvSpPr>
          <p:cNvPr id="9" name="Text 5"/>
          <p:cNvSpPr txBox="1"/>
          <p:nvPr/>
        </p:nvSpPr>
        <p:spPr>
          <a:xfrm>
            <a:off x="941832" y="4809744"/>
            <a:ext cx="2002536" cy="256032"/>
          </a:xfrm>
          <a:prstGeom prst="rect">
            <a:avLst/>
          </a:prstGeom>
          <a:noFill/>
          <a:ln/>
        </p:spPr>
        <p:txBody>
          <a:bodyPr wrap="square" lIns="0" tIns="0" rIns="0" bIns="0" rtlCol="0" anchor="t"/>
          <a:lstStyle/>
          <a:p>
            <a:pPr algn="ctr" indent="0" marL="0">
              <a:spcAft>
                <a:spcPts val="600"/>
              </a:spcAft>
              <a:buNone/>
            </a:pPr>
            <a:r>
              <a:rPr lang="en-US" sz="1300" b="1" dirty="0">
                <a:solidFill>
                  <a:srgbClr val="FFFFFF"/>
                </a:solidFill>
                <a:latin typeface="Quicksand" pitchFamily="34" charset="0"/>
                <a:ea typeface="Quicksand" pitchFamily="34" charset="-122"/>
                <a:cs typeface="Quicksand" pitchFamily="34" charset="-120"/>
              </a:rPr>
              <a:t>OBSERVED FACTS</a:t>
            </a:r>
            <a:endParaRPr lang="en-US" sz="1300" dirty="0"/>
          </a:p>
        </p:txBody>
      </p:sp>
      <p:sp>
        <p:nvSpPr>
          <p:cNvPr id="10" name="Text 6"/>
          <p:cNvSpPr txBox="1"/>
          <p:nvPr/>
        </p:nvSpPr>
        <p:spPr>
          <a:xfrm>
            <a:off x="3200400" y="4800600"/>
            <a:ext cx="2743200" cy="457200"/>
          </a:xfrm>
          <a:prstGeom prst="rect">
            <a:avLst/>
          </a:prstGeom>
          <a:noFill/>
          <a:ln/>
        </p:spPr>
        <p:txBody>
          <a:bodyPr wrap="square" lIns="0" tIns="0" rIns="0" bIns="0" rtlCol="0" anchor="t"/>
          <a:lstStyle/>
          <a:p>
            <a:pPr indent="0" marL="0">
              <a:spcAft>
                <a:spcPts val="600"/>
              </a:spcAft>
              <a:buNone/>
            </a:pPr>
            <a:r>
              <a:rPr lang="en-US" sz="1700" b="1" dirty="0">
                <a:solidFill>
                  <a:srgbClr val="202124"/>
                </a:solidFill>
                <a:latin typeface="Quicksand" pitchFamily="34" charset="0"/>
                <a:ea typeface="Quicksand" pitchFamily="34" charset="-122"/>
                <a:cs typeface="Quicksand" pitchFamily="34" charset="-120"/>
              </a:rPr>
              <a:t>Light ON · tray EMPTY</a:t>
            </a:r>
            <a:endParaRPr lang="en-US" sz="1700" dirty="0"/>
          </a:p>
        </p:txBody>
      </p:sp>
      <p:sp>
        <p:nvSpPr>
          <p:cNvPr id="11" name="Shape 7"/>
          <p:cNvSpPr/>
          <p:nvPr/>
        </p:nvSpPr>
        <p:spPr>
          <a:xfrm>
            <a:off x="6400800" y="1508760"/>
            <a:ext cx="4892040" cy="1005840"/>
          </a:xfrm>
          <a:prstGeom prst="roundRect">
            <a:avLst>
              <a:gd name="adj" fmla="val 13636"/>
            </a:avLst>
          </a:prstGeom>
          <a:solidFill>
            <a:srgbClr val="F6F5FC"/>
          </a:solidFill>
          <a:ln w="12700">
            <a:solidFill>
              <a:srgbClr val="F6F5FC"/>
            </a:solidFill>
            <a:prstDash val="solid"/>
          </a:ln>
        </p:spPr>
      </p:sp>
      <p:pic>
        <p:nvPicPr>
          <p:cNvPr id="12" name="Image 1" descr="database">    </p:cNvPr>
          <p:cNvPicPr>
            <a:picLocks noChangeAspect="1"/>
          </p:cNvPicPr>
          <p:nvPr/>
        </p:nvPicPr>
        <p:blipFill>
          <a:blip r:embed="rId2"/>
          <a:stretch>
            <a:fillRect/>
          </a:stretch>
        </p:blipFill>
        <p:spPr>
          <a:xfrm>
            <a:off x="6583680" y="1737360"/>
            <a:ext cx="502920" cy="502920"/>
          </a:xfrm>
          <a:prstGeom prst="rect">
            <a:avLst/>
          </a:prstGeom>
        </p:spPr>
      </p:pic>
      <p:sp>
        <p:nvSpPr>
          <p:cNvPr id="13" name="Text 8"/>
          <p:cNvSpPr txBox="1"/>
          <p:nvPr/>
        </p:nvSpPr>
        <p:spPr>
          <a:xfrm>
            <a:off x="7315200" y="1810512"/>
            <a:ext cx="3657600" cy="457200"/>
          </a:xfrm>
          <a:prstGeom prst="rect">
            <a:avLst/>
          </a:prstGeom>
          <a:noFill/>
          <a:ln/>
        </p:spPr>
        <p:txBody>
          <a:bodyPr wrap="square" lIns="0" tIns="0" rIns="0" bIns="0" rtlCol="0" anchor="t"/>
          <a:lstStyle/>
          <a:p>
            <a:pPr indent="0" marL="0">
              <a:spcAft>
                <a:spcPts val="600"/>
              </a:spcAft>
              <a:buNone/>
            </a:pPr>
            <a:r>
              <a:rPr lang="en-US" sz="1900" b="1" dirty="0">
                <a:solidFill>
                  <a:srgbClr val="202124"/>
                </a:solidFill>
                <a:latin typeface="Quicksand" pitchFamily="34" charset="0"/>
                <a:ea typeface="Quicksand" pitchFamily="34" charset="-122"/>
                <a:cs typeface="Quicksand" pitchFamily="34" charset="-120"/>
              </a:rPr>
              <a:t>FACT: the paper tray is empty.</a:t>
            </a:r>
            <a:endParaRPr lang="en-US" sz="1900" dirty="0"/>
          </a:p>
        </p:txBody>
      </p:sp>
      <p:sp>
        <p:nvSpPr>
          <p:cNvPr id="14" name="Shape 9"/>
          <p:cNvSpPr/>
          <p:nvPr/>
        </p:nvSpPr>
        <p:spPr>
          <a:xfrm>
            <a:off x="6400800" y="2743200"/>
            <a:ext cx="4892040" cy="1737360"/>
          </a:xfrm>
          <a:prstGeom prst="roundRect">
            <a:avLst>
              <a:gd name="adj" fmla="val 7895"/>
            </a:avLst>
          </a:prstGeom>
          <a:solidFill>
            <a:srgbClr val="F6F5FC"/>
          </a:solidFill>
          <a:ln w="12700">
            <a:solidFill>
              <a:srgbClr val="F6F5FC"/>
            </a:solidFill>
            <a:prstDash val="solid"/>
          </a:ln>
        </p:spPr>
      </p:sp>
      <p:pic>
        <p:nvPicPr>
          <p:cNvPr id="15" name="Image 2" descr="list filter">    </p:cNvPr>
          <p:cNvPicPr>
            <a:picLocks noChangeAspect="1"/>
          </p:cNvPicPr>
          <p:nvPr/>
        </p:nvPicPr>
        <p:blipFill>
          <a:blip r:embed="rId3"/>
          <a:stretch>
            <a:fillRect/>
          </a:stretch>
        </p:blipFill>
        <p:spPr>
          <a:xfrm>
            <a:off x="6583680" y="2926080"/>
            <a:ext cx="502920" cy="502920"/>
          </a:xfrm>
          <a:prstGeom prst="rect">
            <a:avLst/>
          </a:prstGeom>
        </p:spPr>
      </p:pic>
      <p:sp>
        <p:nvSpPr>
          <p:cNvPr id="16" name="Text 10"/>
          <p:cNvSpPr txBox="1"/>
          <p:nvPr/>
        </p:nvSpPr>
        <p:spPr>
          <a:xfrm>
            <a:off x="7315200" y="2926080"/>
            <a:ext cx="3611880" cy="457200"/>
          </a:xfrm>
          <a:prstGeom prst="rect">
            <a:avLst/>
          </a:prstGeom>
          <a:noFill/>
          <a:ln/>
        </p:spPr>
        <p:txBody>
          <a:bodyPr wrap="square" lIns="0" tIns="0" rIns="0" bIns="0" rtlCol="0" anchor="t"/>
          <a:lstStyle/>
          <a:p>
            <a:pPr indent="0" marL="0">
              <a:spcAft>
                <a:spcPts val="600"/>
              </a:spcAft>
              <a:buNone/>
            </a:pPr>
            <a:r>
              <a:rPr lang="en-US" sz="1900" b="1" dirty="0">
                <a:solidFill>
                  <a:srgbClr val="494985"/>
                </a:solidFill>
                <a:latin typeface="Quicksand" pitchFamily="34" charset="0"/>
                <a:ea typeface="Quicksand" pitchFamily="34" charset="-122"/>
                <a:cs typeface="Quicksand" pitchFamily="34" charset="-120"/>
              </a:rPr>
              <a:t>RULE</a:t>
            </a:r>
            <a:endParaRPr lang="en-US" sz="1900" dirty="0"/>
          </a:p>
        </p:txBody>
      </p:sp>
      <p:sp>
        <p:nvSpPr>
          <p:cNvPr id="17" name="Text 11"/>
          <p:cNvSpPr txBox="1"/>
          <p:nvPr/>
        </p:nvSpPr>
        <p:spPr>
          <a:xfrm>
            <a:off x="6629400" y="3566160"/>
            <a:ext cx="4434840" cy="777240"/>
          </a:xfrm>
          <a:prstGeom prst="rect">
            <a:avLst/>
          </a:prstGeom>
          <a:noFill/>
          <a:ln/>
        </p:spPr>
        <p:txBody>
          <a:bodyPr wrap="square" lIns="0" tIns="0" rIns="0" bIns="0" rtlCol="0" anchor="t"/>
          <a:lstStyle/>
          <a:p>
            <a:pPr indent="0" marL="0">
              <a:spcAft>
                <a:spcPts val="600"/>
              </a:spcAft>
              <a:buNone/>
            </a:pPr>
            <a:r>
              <a:rPr lang="en-US" sz="1900" dirty="0">
                <a:solidFill>
                  <a:srgbClr val="202124"/>
                </a:solidFill>
                <a:latin typeface="Quicksand" pitchFamily="34" charset="0"/>
                <a:ea typeface="Quicksand" pitchFamily="34" charset="-122"/>
                <a:cs typeface="Quicksand" pitchFamily="34" charset="-120"/>
              </a:rPr>
              <a:t>IF power is on AND tray is empty</a:t>
            </a:r>
            <a:endParaRPr lang="en-US" sz="1900" dirty="0"/>
          </a:p>
          <a:p>
            <a:pPr indent="0" marL="0">
              <a:spcAft>
                <a:spcPts val="600"/>
              </a:spcAft>
              <a:buNone/>
            </a:pPr>
            <a:r>
              <a:rPr lang="en-US" sz="1900" dirty="0">
                <a:solidFill>
                  <a:srgbClr val="202124"/>
                </a:solidFill>
                <a:latin typeface="Quicksand" pitchFamily="34" charset="0"/>
                <a:ea typeface="Quicksand" pitchFamily="34" charset="-122"/>
                <a:cs typeface="Quicksand" pitchFamily="34" charset="-120"/>
              </a:rPr>
              <a:t>THEN advise “load paper”.</a:t>
            </a:r>
            <a:endParaRPr lang="en-US" sz="1900" dirty="0"/>
          </a:p>
        </p:txBody>
      </p:sp>
      <p:sp>
        <p:nvSpPr>
          <p:cNvPr id="18" name="Text 12"/>
          <p:cNvSpPr txBox="1"/>
          <p:nvPr/>
        </p:nvSpPr>
        <p:spPr>
          <a:xfrm>
            <a:off x="685800" y="5623560"/>
            <a:ext cx="10698480" cy="438912"/>
          </a:xfrm>
          <a:prstGeom prst="rect">
            <a:avLst/>
          </a:prstGeom>
          <a:noFill/>
          <a:ln/>
        </p:spPr>
        <p:txBody>
          <a:bodyPr wrap="square" lIns="0" tIns="0" rIns="0" bIns="0" rtlCol="0" anchor="t"/>
          <a:lstStyle/>
          <a:p>
            <a:pPr indent="0" marL="0">
              <a:buNone/>
            </a:pPr>
            <a:r>
              <a:rPr lang="en-US" sz="1500" b="1" dirty="0">
                <a:solidFill>
                  <a:srgbClr val="494985"/>
                </a:solidFill>
                <a:latin typeface="Quicksand" pitchFamily="34" charset="0"/>
                <a:ea typeface="Quicksand" pitchFamily="34" charset="-122"/>
                <a:cs typeface="Quicksand" pitchFamily="34" charset="-120"/>
              </a:rPr>
              <a:t>A fact describes what is known. A rule says what to infer if conditions match.</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Trace a rule before you trust it</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Activity 2</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10</a:t>
            </a:r>
            <a:endParaRPr lang="en-US" sz="1350" dirty="0"/>
          </a:p>
        </p:txBody>
      </p:sp>
      <p:sp>
        <p:nvSpPr>
          <p:cNvPr id="7" name="Shape 4"/>
          <p:cNvSpPr/>
          <p:nvPr/>
        </p:nvSpPr>
        <p:spPr>
          <a:xfrm>
            <a:off x="777240" y="1371600"/>
            <a:ext cx="1828800" cy="365760"/>
          </a:xfrm>
          <a:prstGeom prst="roundRect">
            <a:avLst>
              <a:gd name="adj" fmla="val 37500"/>
            </a:avLst>
          </a:prstGeom>
          <a:solidFill>
            <a:srgbClr val="494985"/>
          </a:solidFill>
          <a:ln w="12700">
            <a:solidFill>
              <a:srgbClr val="494985"/>
            </a:solidFill>
            <a:prstDash val="solid"/>
          </a:ln>
        </p:spPr>
      </p:sp>
      <p:sp>
        <p:nvSpPr>
          <p:cNvPr id="8" name="Text 5"/>
          <p:cNvSpPr txBox="1"/>
          <p:nvPr/>
        </p:nvSpPr>
        <p:spPr>
          <a:xfrm>
            <a:off x="850392" y="1426464"/>
            <a:ext cx="1682496" cy="256032"/>
          </a:xfrm>
          <a:prstGeom prst="rect">
            <a:avLst/>
          </a:prstGeom>
          <a:noFill/>
          <a:ln/>
        </p:spPr>
        <p:txBody>
          <a:bodyPr wrap="square" lIns="0" tIns="0" rIns="0" bIns="0" rtlCol="0" anchor="t"/>
          <a:lstStyle/>
          <a:p>
            <a:pPr algn="ctr" indent="0" marL="0">
              <a:spcAft>
                <a:spcPts val="600"/>
              </a:spcAft>
              <a:buNone/>
            </a:pPr>
            <a:r>
              <a:rPr lang="en-US" sz="1300" b="1" dirty="0">
                <a:solidFill>
                  <a:srgbClr val="FFFFFF"/>
                </a:solidFill>
                <a:latin typeface="Quicksand" pitchFamily="34" charset="0"/>
                <a:ea typeface="Quicksand" pitchFamily="34" charset="-122"/>
                <a:cs typeface="Quicksand" pitchFamily="34" charset="-120"/>
              </a:rPr>
              <a:t>LIGHT ON</a:t>
            </a:r>
            <a:endParaRPr lang="en-US" sz="1300" dirty="0"/>
          </a:p>
        </p:txBody>
      </p:sp>
      <p:sp>
        <p:nvSpPr>
          <p:cNvPr id="9" name="Shape 6"/>
          <p:cNvSpPr/>
          <p:nvPr/>
        </p:nvSpPr>
        <p:spPr>
          <a:xfrm>
            <a:off x="2880360" y="1371600"/>
            <a:ext cx="2286000" cy="365760"/>
          </a:xfrm>
          <a:prstGeom prst="roundRect">
            <a:avLst>
              <a:gd name="adj" fmla="val 37500"/>
            </a:avLst>
          </a:prstGeom>
          <a:solidFill>
            <a:srgbClr val="494985"/>
          </a:solidFill>
          <a:ln w="12700">
            <a:solidFill>
              <a:srgbClr val="494985"/>
            </a:solidFill>
            <a:prstDash val="solid"/>
          </a:ln>
        </p:spPr>
      </p:sp>
      <p:sp>
        <p:nvSpPr>
          <p:cNvPr id="10" name="Text 7"/>
          <p:cNvSpPr txBox="1"/>
          <p:nvPr/>
        </p:nvSpPr>
        <p:spPr>
          <a:xfrm>
            <a:off x="2953512" y="1426464"/>
            <a:ext cx="2139696" cy="256032"/>
          </a:xfrm>
          <a:prstGeom prst="rect">
            <a:avLst/>
          </a:prstGeom>
          <a:noFill/>
          <a:ln/>
        </p:spPr>
        <p:txBody>
          <a:bodyPr wrap="square" lIns="0" tIns="0" rIns="0" bIns="0" rtlCol="0" anchor="t"/>
          <a:lstStyle/>
          <a:p>
            <a:pPr algn="ctr" indent="0" marL="0">
              <a:spcAft>
                <a:spcPts val="600"/>
              </a:spcAft>
              <a:buNone/>
            </a:pPr>
            <a:r>
              <a:rPr lang="en-US" sz="1300" b="1" dirty="0">
                <a:solidFill>
                  <a:srgbClr val="FFFFFF"/>
                </a:solidFill>
                <a:latin typeface="Quicksand" pitchFamily="34" charset="0"/>
                <a:ea typeface="Quicksand" pitchFamily="34" charset="-122"/>
                <a:cs typeface="Quicksand" pitchFamily="34" charset="-120"/>
              </a:rPr>
              <a:t>TRAY EMPTY</a:t>
            </a:r>
            <a:endParaRPr lang="en-US" sz="1300" dirty="0"/>
          </a:p>
        </p:txBody>
      </p:sp>
      <p:sp>
        <p:nvSpPr>
          <p:cNvPr id="11" name="Shape 8"/>
          <p:cNvSpPr/>
          <p:nvPr/>
        </p:nvSpPr>
        <p:spPr>
          <a:xfrm>
            <a:off x="5440680" y="1371600"/>
            <a:ext cx="1828800" cy="365760"/>
          </a:xfrm>
          <a:prstGeom prst="roundRect">
            <a:avLst>
              <a:gd name="adj" fmla="val 37500"/>
            </a:avLst>
          </a:prstGeom>
          <a:solidFill>
            <a:srgbClr val="494985"/>
          </a:solidFill>
          <a:ln w="12700">
            <a:solidFill>
              <a:srgbClr val="494985"/>
            </a:solidFill>
            <a:prstDash val="solid"/>
          </a:ln>
        </p:spPr>
      </p:sp>
      <p:sp>
        <p:nvSpPr>
          <p:cNvPr id="12" name="Text 9"/>
          <p:cNvSpPr txBox="1"/>
          <p:nvPr/>
        </p:nvSpPr>
        <p:spPr>
          <a:xfrm>
            <a:off x="5513832" y="1426464"/>
            <a:ext cx="1682496" cy="256032"/>
          </a:xfrm>
          <a:prstGeom prst="rect">
            <a:avLst/>
          </a:prstGeom>
          <a:noFill/>
          <a:ln/>
        </p:spPr>
        <p:txBody>
          <a:bodyPr wrap="square" lIns="0" tIns="0" rIns="0" bIns="0" rtlCol="0" anchor="t"/>
          <a:lstStyle/>
          <a:p>
            <a:pPr algn="ctr" indent="0" marL="0">
              <a:spcAft>
                <a:spcPts val="600"/>
              </a:spcAft>
              <a:buNone/>
            </a:pPr>
            <a:r>
              <a:rPr lang="en-US" sz="1300" b="1" dirty="0">
                <a:solidFill>
                  <a:srgbClr val="FFFFFF"/>
                </a:solidFill>
                <a:latin typeface="Quicksand" pitchFamily="34" charset="0"/>
                <a:ea typeface="Quicksand" pitchFamily="34" charset="-122"/>
                <a:cs typeface="Quicksand" pitchFamily="34" charset="-120"/>
              </a:rPr>
              <a:t>JAM NO</a:t>
            </a:r>
            <a:endParaRPr lang="en-US" sz="1300" dirty="0"/>
          </a:p>
        </p:txBody>
      </p:sp>
      <p:sp>
        <p:nvSpPr>
          <p:cNvPr id="13" name="Shape 10"/>
          <p:cNvSpPr/>
          <p:nvPr/>
        </p:nvSpPr>
        <p:spPr>
          <a:xfrm>
            <a:off x="777240" y="2057400"/>
            <a:ext cx="7406640" cy="822960"/>
          </a:xfrm>
          <a:prstGeom prst="roundRect">
            <a:avLst>
              <a:gd name="adj" fmla="val 16667"/>
            </a:avLst>
          </a:prstGeom>
          <a:solidFill>
            <a:srgbClr val="F6F5FC"/>
          </a:solidFill>
          <a:ln w="12700">
            <a:solidFill>
              <a:srgbClr val="F6F5FC"/>
            </a:solidFill>
            <a:prstDash val="solid"/>
          </a:ln>
        </p:spPr>
      </p:sp>
      <p:sp>
        <p:nvSpPr>
          <p:cNvPr id="14" name="Shape 11"/>
          <p:cNvSpPr/>
          <p:nvPr/>
        </p:nvSpPr>
        <p:spPr>
          <a:xfrm>
            <a:off x="941832" y="2258568"/>
            <a:ext cx="640080" cy="365760"/>
          </a:xfrm>
          <a:prstGeom prst="roundRect">
            <a:avLst>
              <a:gd name="adj" fmla="val 37500"/>
            </a:avLst>
          </a:prstGeom>
          <a:solidFill>
            <a:srgbClr val="494985"/>
          </a:solidFill>
          <a:ln w="12700">
            <a:solidFill>
              <a:srgbClr val="494985"/>
            </a:solidFill>
            <a:prstDash val="solid"/>
          </a:ln>
        </p:spPr>
      </p:sp>
      <p:sp>
        <p:nvSpPr>
          <p:cNvPr id="15" name="Text 12"/>
          <p:cNvSpPr txBox="1"/>
          <p:nvPr/>
        </p:nvSpPr>
        <p:spPr>
          <a:xfrm>
            <a:off x="1014984" y="2313432"/>
            <a:ext cx="493776" cy="256032"/>
          </a:xfrm>
          <a:prstGeom prst="rect">
            <a:avLst/>
          </a:prstGeom>
          <a:noFill/>
          <a:ln/>
        </p:spPr>
        <p:txBody>
          <a:bodyPr wrap="square" lIns="0" tIns="0" rIns="0" bIns="0" rtlCol="0" anchor="t"/>
          <a:lstStyle/>
          <a:p>
            <a:pPr algn="ctr" indent="0" marL="0">
              <a:spcAft>
                <a:spcPts val="600"/>
              </a:spcAft>
              <a:buNone/>
            </a:pPr>
            <a:r>
              <a:rPr lang="en-US" sz="1300" b="1" dirty="0">
                <a:solidFill>
                  <a:srgbClr val="FFFFFF"/>
                </a:solidFill>
                <a:latin typeface="Quicksand" pitchFamily="34" charset="0"/>
                <a:ea typeface="Quicksand" pitchFamily="34" charset="-122"/>
                <a:cs typeface="Quicksand" pitchFamily="34" charset="-120"/>
              </a:rPr>
              <a:t>R1</a:t>
            </a:r>
            <a:endParaRPr lang="en-US" sz="1300" dirty="0"/>
          </a:p>
        </p:txBody>
      </p:sp>
      <p:sp>
        <p:nvSpPr>
          <p:cNvPr id="16" name="Text 13"/>
          <p:cNvSpPr txBox="1"/>
          <p:nvPr/>
        </p:nvSpPr>
        <p:spPr>
          <a:xfrm>
            <a:off x="1828800" y="2240280"/>
            <a:ext cx="6035040" cy="502920"/>
          </a:xfrm>
          <a:prstGeom prst="rect">
            <a:avLst/>
          </a:prstGeom>
          <a:noFill/>
          <a:ln/>
        </p:spPr>
        <p:txBody>
          <a:bodyPr wrap="square" lIns="0" tIns="0" rIns="0" bIns="0" rtlCol="0" anchor="t"/>
          <a:lstStyle/>
          <a:p>
            <a:pPr indent="0" marL="0">
              <a:spcAft>
                <a:spcPts val="600"/>
              </a:spcAft>
              <a:buNone/>
            </a:pPr>
            <a:r>
              <a:rPr lang="en-US" sz="1900" dirty="0">
                <a:solidFill>
                  <a:srgbClr val="202124"/>
                </a:solidFill>
                <a:latin typeface="Quicksand" pitchFamily="34" charset="0"/>
                <a:ea typeface="Quicksand" pitchFamily="34" charset="-122"/>
                <a:cs typeface="Quicksand" pitchFamily="34" charset="-120"/>
              </a:rPr>
              <a:t>Light OFF</a:t>
            </a:r>
            <a:endParaRPr lang="en-US" sz="1900" dirty="0"/>
          </a:p>
        </p:txBody>
      </p:sp>
      <p:sp>
        <p:nvSpPr>
          <p:cNvPr id="17" name="Shape 14"/>
          <p:cNvSpPr/>
          <p:nvPr/>
        </p:nvSpPr>
        <p:spPr>
          <a:xfrm>
            <a:off x="8275320" y="2450592"/>
            <a:ext cx="502920" cy="914"/>
          </a:xfrm>
          <a:prstGeom prst="line">
            <a:avLst/>
          </a:prstGeom>
          <a:noFill/>
          <a:ln w="25400">
            <a:solidFill>
              <a:srgbClr val="494985"/>
            </a:solidFill>
            <a:prstDash val="solid"/>
            <a:tailEnd type="triangle"/>
          </a:ln>
        </p:spPr>
      </p:sp>
      <p:sp>
        <p:nvSpPr>
          <p:cNvPr id="18" name="Text 15"/>
          <p:cNvSpPr txBox="1"/>
          <p:nvPr/>
        </p:nvSpPr>
        <p:spPr>
          <a:xfrm>
            <a:off x="9006840" y="2194560"/>
            <a:ext cx="2377440" cy="594360"/>
          </a:xfrm>
          <a:prstGeom prst="rect">
            <a:avLst/>
          </a:prstGeom>
          <a:noFill/>
          <a:ln/>
        </p:spPr>
        <p:txBody>
          <a:bodyPr wrap="square" lIns="0" tIns="0" rIns="0" bIns="0" rtlCol="0" anchor="t"/>
          <a:lstStyle/>
          <a:p>
            <a:pPr indent="0" marL="0">
              <a:spcAft>
                <a:spcPts val="600"/>
              </a:spcAft>
              <a:buNone/>
            </a:pPr>
            <a:r>
              <a:rPr lang="en-US" sz="1800" b="1" dirty="0">
                <a:solidFill>
                  <a:srgbClr val="494985"/>
                </a:solidFill>
                <a:latin typeface="Quicksand" pitchFamily="34" charset="0"/>
                <a:ea typeface="Quicksand" pitchFamily="34" charset="-122"/>
                <a:cs typeface="Quicksand" pitchFamily="34" charset="-120"/>
              </a:rPr>
              <a:t>Check power cable</a:t>
            </a:r>
            <a:endParaRPr lang="en-US" sz="1800" dirty="0"/>
          </a:p>
        </p:txBody>
      </p:sp>
      <p:sp>
        <p:nvSpPr>
          <p:cNvPr id="19" name="Shape 16"/>
          <p:cNvSpPr/>
          <p:nvPr/>
        </p:nvSpPr>
        <p:spPr>
          <a:xfrm>
            <a:off x="777240" y="3044952"/>
            <a:ext cx="7406640" cy="822960"/>
          </a:xfrm>
          <a:prstGeom prst="roundRect">
            <a:avLst>
              <a:gd name="adj" fmla="val 16667"/>
            </a:avLst>
          </a:prstGeom>
          <a:solidFill>
            <a:srgbClr val="F6F5FC"/>
          </a:solidFill>
          <a:ln w="12700">
            <a:solidFill>
              <a:srgbClr val="F6F5FC"/>
            </a:solidFill>
            <a:prstDash val="solid"/>
          </a:ln>
        </p:spPr>
      </p:sp>
      <p:sp>
        <p:nvSpPr>
          <p:cNvPr id="20" name="Shape 17"/>
          <p:cNvSpPr/>
          <p:nvPr/>
        </p:nvSpPr>
        <p:spPr>
          <a:xfrm>
            <a:off x="941832" y="3246120"/>
            <a:ext cx="640080" cy="365760"/>
          </a:xfrm>
          <a:prstGeom prst="roundRect">
            <a:avLst>
              <a:gd name="adj" fmla="val 37500"/>
            </a:avLst>
          </a:prstGeom>
          <a:solidFill>
            <a:srgbClr val="494985"/>
          </a:solidFill>
          <a:ln w="12700">
            <a:solidFill>
              <a:srgbClr val="494985"/>
            </a:solidFill>
            <a:prstDash val="solid"/>
          </a:ln>
        </p:spPr>
      </p:sp>
      <p:sp>
        <p:nvSpPr>
          <p:cNvPr id="21" name="Text 18"/>
          <p:cNvSpPr txBox="1"/>
          <p:nvPr/>
        </p:nvSpPr>
        <p:spPr>
          <a:xfrm>
            <a:off x="1014984" y="3300984"/>
            <a:ext cx="493776" cy="256032"/>
          </a:xfrm>
          <a:prstGeom prst="rect">
            <a:avLst/>
          </a:prstGeom>
          <a:noFill/>
          <a:ln/>
        </p:spPr>
        <p:txBody>
          <a:bodyPr wrap="square" lIns="0" tIns="0" rIns="0" bIns="0" rtlCol="0" anchor="t"/>
          <a:lstStyle/>
          <a:p>
            <a:pPr algn="ctr" indent="0" marL="0">
              <a:spcAft>
                <a:spcPts val="600"/>
              </a:spcAft>
              <a:buNone/>
            </a:pPr>
            <a:r>
              <a:rPr lang="en-US" sz="1300" b="1" dirty="0">
                <a:solidFill>
                  <a:srgbClr val="FFFFFF"/>
                </a:solidFill>
                <a:latin typeface="Quicksand" pitchFamily="34" charset="0"/>
                <a:ea typeface="Quicksand" pitchFamily="34" charset="-122"/>
                <a:cs typeface="Quicksand" pitchFamily="34" charset="-120"/>
              </a:rPr>
              <a:t>R2</a:t>
            </a:r>
            <a:endParaRPr lang="en-US" sz="1300" dirty="0"/>
          </a:p>
        </p:txBody>
      </p:sp>
      <p:sp>
        <p:nvSpPr>
          <p:cNvPr id="22" name="Text 19"/>
          <p:cNvSpPr txBox="1"/>
          <p:nvPr/>
        </p:nvSpPr>
        <p:spPr>
          <a:xfrm>
            <a:off x="1828800" y="3227832"/>
            <a:ext cx="6035040" cy="502920"/>
          </a:xfrm>
          <a:prstGeom prst="rect">
            <a:avLst/>
          </a:prstGeom>
          <a:noFill/>
          <a:ln/>
        </p:spPr>
        <p:txBody>
          <a:bodyPr wrap="square" lIns="0" tIns="0" rIns="0" bIns="0" rtlCol="0" anchor="t"/>
          <a:lstStyle/>
          <a:p>
            <a:pPr indent="0" marL="0">
              <a:spcAft>
                <a:spcPts val="600"/>
              </a:spcAft>
              <a:buNone/>
            </a:pPr>
            <a:r>
              <a:rPr lang="en-US" sz="1900" dirty="0">
                <a:solidFill>
                  <a:srgbClr val="202124"/>
                </a:solidFill>
                <a:latin typeface="Quicksand" pitchFamily="34" charset="0"/>
                <a:ea typeface="Quicksand" pitchFamily="34" charset="-122"/>
                <a:cs typeface="Quicksand" pitchFamily="34" charset="-120"/>
              </a:rPr>
              <a:t>Light ON + tray EMPTY</a:t>
            </a:r>
            <a:endParaRPr lang="en-US" sz="1900" dirty="0"/>
          </a:p>
        </p:txBody>
      </p:sp>
      <p:sp>
        <p:nvSpPr>
          <p:cNvPr id="23" name="Shape 20"/>
          <p:cNvSpPr/>
          <p:nvPr/>
        </p:nvSpPr>
        <p:spPr>
          <a:xfrm>
            <a:off x="8275320" y="3438144"/>
            <a:ext cx="502920" cy="914"/>
          </a:xfrm>
          <a:prstGeom prst="line">
            <a:avLst/>
          </a:prstGeom>
          <a:noFill/>
          <a:ln w="25400">
            <a:solidFill>
              <a:srgbClr val="494985"/>
            </a:solidFill>
            <a:prstDash val="solid"/>
            <a:tailEnd type="triangle"/>
          </a:ln>
        </p:spPr>
      </p:sp>
      <p:sp>
        <p:nvSpPr>
          <p:cNvPr id="24" name="Text 21"/>
          <p:cNvSpPr txBox="1"/>
          <p:nvPr/>
        </p:nvSpPr>
        <p:spPr>
          <a:xfrm>
            <a:off x="9006840" y="3182112"/>
            <a:ext cx="2377440" cy="594360"/>
          </a:xfrm>
          <a:prstGeom prst="rect">
            <a:avLst/>
          </a:prstGeom>
          <a:noFill/>
          <a:ln/>
        </p:spPr>
        <p:txBody>
          <a:bodyPr wrap="square" lIns="0" tIns="0" rIns="0" bIns="0" rtlCol="0" anchor="t"/>
          <a:lstStyle/>
          <a:p>
            <a:pPr indent="0" marL="0">
              <a:spcAft>
                <a:spcPts val="600"/>
              </a:spcAft>
              <a:buNone/>
            </a:pPr>
            <a:r>
              <a:rPr lang="en-US" sz="1800" b="1" dirty="0">
                <a:solidFill>
                  <a:srgbClr val="494985"/>
                </a:solidFill>
                <a:latin typeface="Quicksand" pitchFamily="34" charset="0"/>
                <a:ea typeface="Quicksand" pitchFamily="34" charset="-122"/>
                <a:cs typeface="Quicksand" pitchFamily="34" charset="-120"/>
              </a:rPr>
              <a:t>Load paper</a:t>
            </a:r>
            <a:endParaRPr lang="en-US" sz="1800" dirty="0"/>
          </a:p>
        </p:txBody>
      </p:sp>
      <p:sp>
        <p:nvSpPr>
          <p:cNvPr id="25" name="Shape 22"/>
          <p:cNvSpPr/>
          <p:nvPr/>
        </p:nvSpPr>
        <p:spPr>
          <a:xfrm>
            <a:off x="777240" y="4032504"/>
            <a:ext cx="7406640" cy="822960"/>
          </a:xfrm>
          <a:prstGeom prst="roundRect">
            <a:avLst>
              <a:gd name="adj" fmla="val 16667"/>
            </a:avLst>
          </a:prstGeom>
          <a:solidFill>
            <a:srgbClr val="F6F5FC"/>
          </a:solidFill>
          <a:ln w="12700">
            <a:solidFill>
              <a:srgbClr val="F6F5FC"/>
            </a:solidFill>
            <a:prstDash val="solid"/>
          </a:ln>
        </p:spPr>
      </p:sp>
      <p:sp>
        <p:nvSpPr>
          <p:cNvPr id="26" name="Shape 23"/>
          <p:cNvSpPr/>
          <p:nvPr/>
        </p:nvSpPr>
        <p:spPr>
          <a:xfrm>
            <a:off x="941832" y="4233672"/>
            <a:ext cx="640080" cy="365760"/>
          </a:xfrm>
          <a:prstGeom prst="roundRect">
            <a:avLst>
              <a:gd name="adj" fmla="val 37500"/>
            </a:avLst>
          </a:prstGeom>
          <a:solidFill>
            <a:srgbClr val="494985"/>
          </a:solidFill>
          <a:ln w="12700">
            <a:solidFill>
              <a:srgbClr val="494985"/>
            </a:solidFill>
            <a:prstDash val="solid"/>
          </a:ln>
        </p:spPr>
      </p:sp>
      <p:sp>
        <p:nvSpPr>
          <p:cNvPr id="27" name="Text 24"/>
          <p:cNvSpPr txBox="1"/>
          <p:nvPr/>
        </p:nvSpPr>
        <p:spPr>
          <a:xfrm>
            <a:off x="1014984" y="4288536"/>
            <a:ext cx="493776" cy="256032"/>
          </a:xfrm>
          <a:prstGeom prst="rect">
            <a:avLst/>
          </a:prstGeom>
          <a:noFill/>
          <a:ln/>
        </p:spPr>
        <p:txBody>
          <a:bodyPr wrap="square" lIns="0" tIns="0" rIns="0" bIns="0" rtlCol="0" anchor="t"/>
          <a:lstStyle/>
          <a:p>
            <a:pPr algn="ctr" indent="0" marL="0">
              <a:spcAft>
                <a:spcPts val="600"/>
              </a:spcAft>
              <a:buNone/>
            </a:pPr>
            <a:r>
              <a:rPr lang="en-US" sz="1300" b="1" dirty="0">
                <a:solidFill>
                  <a:srgbClr val="FFFFFF"/>
                </a:solidFill>
                <a:latin typeface="Quicksand" pitchFamily="34" charset="0"/>
                <a:ea typeface="Quicksand" pitchFamily="34" charset="-122"/>
                <a:cs typeface="Quicksand" pitchFamily="34" charset="-120"/>
              </a:rPr>
              <a:t>R3</a:t>
            </a:r>
            <a:endParaRPr lang="en-US" sz="1300" dirty="0"/>
          </a:p>
        </p:txBody>
      </p:sp>
      <p:sp>
        <p:nvSpPr>
          <p:cNvPr id="28" name="Text 25"/>
          <p:cNvSpPr txBox="1"/>
          <p:nvPr/>
        </p:nvSpPr>
        <p:spPr>
          <a:xfrm>
            <a:off x="1828800" y="4215384"/>
            <a:ext cx="6035040" cy="502920"/>
          </a:xfrm>
          <a:prstGeom prst="rect">
            <a:avLst/>
          </a:prstGeom>
          <a:noFill/>
          <a:ln/>
        </p:spPr>
        <p:txBody>
          <a:bodyPr wrap="square" lIns="0" tIns="0" rIns="0" bIns="0" rtlCol="0" anchor="t"/>
          <a:lstStyle/>
          <a:p>
            <a:pPr indent="0" marL="0">
              <a:spcAft>
                <a:spcPts val="600"/>
              </a:spcAft>
              <a:buNone/>
            </a:pPr>
            <a:r>
              <a:rPr lang="en-US" sz="1900" dirty="0">
                <a:solidFill>
                  <a:srgbClr val="202124"/>
                </a:solidFill>
                <a:latin typeface="Quicksand" pitchFamily="34" charset="0"/>
                <a:ea typeface="Quicksand" pitchFamily="34" charset="-122"/>
                <a:cs typeface="Quicksand" pitchFamily="34" charset="-120"/>
              </a:rPr>
              <a:t>Light ON + tray PRESENT + jam YES</a:t>
            </a:r>
            <a:endParaRPr lang="en-US" sz="1900" dirty="0"/>
          </a:p>
        </p:txBody>
      </p:sp>
      <p:sp>
        <p:nvSpPr>
          <p:cNvPr id="29" name="Shape 26"/>
          <p:cNvSpPr/>
          <p:nvPr/>
        </p:nvSpPr>
        <p:spPr>
          <a:xfrm>
            <a:off x="8275320" y="4425696"/>
            <a:ext cx="502920" cy="914"/>
          </a:xfrm>
          <a:prstGeom prst="line">
            <a:avLst/>
          </a:prstGeom>
          <a:noFill/>
          <a:ln w="25400">
            <a:solidFill>
              <a:srgbClr val="494985"/>
            </a:solidFill>
            <a:prstDash val="solid"/>
            <a:tailEnd type="triangle"/>
          </a:ln>
        </p:spPr>
      </p:sp>
      <p:sp>
        <p:nvSpPr>
          <p:cNvPr id="30" name="Text 27"/>
          <p:cNvSpPr txBox="1"/>
          <p:nvPr/>
        </p:nvSpPr>
        <p:spPr>
          <a:xfrm>
            <a:off x="9006840" y="4169664"/>
            <a:ext cx="2377440" cy="594360"/>
          </a:xfrm>
          <a:prstGeom prst="rect">
            <a:avLst/>
          </a:prstGeom>
          <a:noFill/>
          <a:ln/>
        </p:spPr>
        <p:txBody>
          <a:bodyPr wrap="square" lIns="0" tIns="0" rIns="0" bIns="0" rtlCol="0" anchor="t"/>
          <a:lstStyle/>
          <a:p>
            <a:pPr indent="0" marL="0">
              <a:spcAft>
                <a:spcPts val="600"/>
              </a:spcAft>
              <a:buNone/>
            </a:pPr>
            <a:r>
              <a:rPr lang="en-US" sz="1800" b="1" dirty="0">
                <a:solidFill>
                  <a:srgbClr val="494985"/>
                </a:solidFill>
                <a:latin typeface="Quicksand" pitchFamily="34" charset="0"/>
                <a:ea typeface="Quicksand" pitchFamily="34" charset="-122"/>
                <a:cs typeface="Quicksand" pitchFamily="34" charset="-120"/>
              </a:rPr>
              <a:t>Clear jam</a:t>
            </a:r>
            <a:endParaRPr lang="en-US" sz="1800" dirty="0"/>
          </a:p>
        </p:txBody>
      </p:sp>
      <p:sp>
        <p:nvSpPr>
          <p:cNvPr id="31" name="Text 28"/>
          <p:cNvSpPr txBox="1"/>
          <p:nvPr/>
        </p:nvSpPr>
        <p:spPr>
          <a:xfrm>
            <a:off x="822960" y="5212080"/>
            <a:ext cx="10515600" cy="548640"/>
          </a:xfrm>
          <a:prstGeom prst="rect">
            <a:avLst/>
          </a:prstGeom>
          <a:noFill/>
          <a:ln/>
        </p:spPr>
        <p:txBody>
          <a:bodyPr wrap="square" lIns="0" tIns="0" rIns="0" bIns="0" rtlCol="0" anchor="t"/>
          <a:lstStyle/>
          <a:p>
            <a:pPr indent="0" marL="0">
              <a:spcAft>
                <a:spcPts val="600"/>
              </a:spcAft>
              <a:buNone/>
            </a:pPr>
            <a:r>
              <a:rPr lang="en-US" sz="2200" b="1" dirty="0">
                <a:solidFill>
                  <a:srgbClr val="202124"/>
                </a:solidFill>
                <a:latin typeface="Quicksand" pitchFamily="34" charset="0"/>
                <a:ea typeface="Quicksand" pitchFamily="34" charset="-122"/>
                <a:cs typeface="Quicksand" pitchFamily="34" charset="-120"/>
              </a:rPr>
              <a:t>Point to each condition. Which row matches all the evidence?</a:t>
            </a:r>
            <a:endParaRPr lang="en-US" sz="2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Explain the advice</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Activity 2</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11</a:t>
            </a:r>
            <a:endParaRPr lang="en-US" sz="1350" dirty="0"/>
          </a:p>
        </p:txBody>
      </p:sp>
      <p:pic>
        <p:nvPicPr>
          <p:cNvPr id="7" name="Image 0" descr="printer scene">    </p:cNvPr>
          <p:cNvPicPr>
            <a:picLocks noChangeAspect="1"/>
          </p:cNvPicPr>
          <p:nvPr/>
        </p:nvPicPr>
        <p:blipFill>
          <a:blip r:embed="rId1"/>
          <a:stretch>
            <a:fillRect/>
          </a:stretch>
        </p:blipFill>
        <p:spPr>
          <a:xfrm>
            <a:off x="685800" y="1600200"/>
            <a:ext cx="3246120" cy="2432304"/>
          </a:xfrm>
          <a:prstGeom prst="rect">
            <a:avLst/>
          </a:prstGeom>
        </p:spPr>
      </p:pic>
      <p:sp>
        <p:nvSpPr>
          <p:cNvPr id="8" name="Shape 4"/>
          <p:cNvSpPr/>
          <p:nvPr/>
        </p:nvSpPr>
        <p:spPr>
          <a:xfrm>
            <a:off x="4389120" y="1600200"/>
            <a:ext cx="6858000" cy="2432304"/>
          </a:xfrm>
          <a:prstGeom prst="roundRect">
            <a:avLst>
              <a:gd name="adj" fmla="val 5639"/>
            </a:avLst>
          </a:prstGeom>
          <a:solidFill>
            <a:srgbClr val="E9E8F5"/>
          </a:solidFill>
          <a:ln w="12700">
            <a:solidFill>
              <a:srgbClr val="E9E8F5"/>
            </a:solidFill>
            <a:prstDash val="solid"/>
          </a:ln>
        </p:spPr>
      </p:sp>
      <p:sp>
        <p:nvSpPr>
          <p:cNvPr id="9" name="Text 5"/>
          <p:cNvSpPr txBox="1"/>
          <p:nvPr/>
        </p:nvSpPr>
        <p:spPr>
          <a:xfrm>
            <a:off x="4709160" y="1920240"/>
            <a:ext cx="6217920" cy="594360"/>
          </a:xfrm>
          <a:prstGeom prst="rect">
            <a:avLst/>
          </a:prstGeom>
          <a:noFill/>
          <a:ln/>
        </p:spPr>
        <p:txBody>
          <a:bodyPr wrap="square" lIns="0" tIns="0" rIns="0" bIns="0" rtlCol="0" anchor="t"/>
          <a:lstStyle/>
          <a:p>
            <a:pPr indent="0" marL="0">
              <a:spcAft>
                <a:spcPts val="600"/>
              </a:spcAft>
              <a:buNone/>
            </a:pPr>
            <a:r>
              <a:rPr lang="en-US" sz="3200" b="1" dirty="0">
                <a:solidFill>
                  <a:srgbClr val="494985"/>
                </a:solidFill>
                <a:latin typeface="Quicksand" pitchFamily="34" charset="0"/>
                <a:ea typeface="Quicksand" pitchFamily="34" charset="-122"/>
                <a:cs typeface="Quicksand" pitchFamily="34" charset="-120"/>
              </a:rPr>
              <a:t>“Load paper.”</a:t>
            </a:r>
            <a:endParaRPr lang="en-US" sz="3200" dirty="0"/>
          </a:p>
        </p:txBody>
      </p:sp>
      <p:sp>
        <p:nvSpPr>
          <p:cNvPr id="10" name="Text 6"/>
          <p:cNvSpPr txBox="1"/>
          <p:nvPr/>
        </p:nvSpPr>
        <p:spPr>
          <a:xfrm>
            <a:off x="4709160" y="2788920"/>
            <a:ext cx="6126480" cy="1005840"/>
          </a:xfrm>
          <a:prstGeom prst="rect">
            <a:avLst/>
          </a:prstGeom>
          <a:noFill/>
          <a:ln/>
        </p:spPr>
        <p:txBody>
          <a:bodyPr wrap="square" lIns="0" tIns="0" rIns="0" bIns="0" rtlCol="0" anchor="t"/>
          <a:lstStyle/>
          <a:p>
            <a:pPr indent="0" marL="0">
              <a:spcAft>
                <a:spcPts val="600"/>
              </a:spcAft>
              <a:buNone/>
            </a:pPr>
            <a:r>
              <a:rPr lang="en-US" sz="2500" dirty="0">
                <a:solidFill>
                  <a:srgbClr val="202124"/>
                </a:solidFill>
                <a:latin typeface="Quicksand" pitchFamily="34" charset="0"/>
                <a:ea typeface="Quicksand" pitchFamily="34" charset="-122"/>
                <a:cs typeface="Quicksand" pitchFamily="34" charset="-120"/>
              </a:rPr>
              <a:t>Because the printer is ON</a:t>
            </a:r>
            <a:endParaRPr lang="en-US" sz="2500" dirty="0"/>
          </a:p>
          <a:p>
            <a:pPr indent="0" marL="0">
              <a:spcAft>
                <a:spcPts val="600"/>
              </a:spcAft>
              <a:buNone/>
            </a:pPr>
            <a:r>
              <a:rPr lang="en-US" sz="2500" dirty="0">
                <a:solidFill>
                  <a:srgbClr val="202124"/>
                </a:solidFill>
                <a:latin typeface="Quicksand" pitchFamily="34" charset="0"/>
                <a:ea typeface="Quicksand" pitchFamily="34" charset="-122"/>
                <a:cs typeface="Quicksand" pitchFamily="34" charset="-120"/>
              </a:rPr>
              <a:t>and its tray is EMPTY.</a:t>
            </a:r>
            <a:endParaRPr lang="en-US" sz="2500" dirty="0"/>
          </a:p>
        </p:txBody>
      </p:sp>
      <p:sp>
        <p:nvSpPr>
          <p:cNvPr id="11" name="Shape 7"/>
          <p:cNvSpPr/>
          <p:nvPr/>
        </p:nvSpPr>
        <p:spPr>
          <a:xfrm>
            <a:off x="3977640" y="2788920"/>
            <a:ext cx="365760" cy="914"/>
          </a:xfrm>
          <a:prstGeom prst="line">
            <a:avLst/>
          </a:prstGeom>
          <a:noFill/>
          <a:ln w="25400">
            <a:solidFill>
              <a:srgbClr val="494985"/>
            </a:solidFill>
            <a:prstDash val="solid"/>
            <a:tailEnd type="triangle"/>
          </a:ln>
        </p:spPr>
      </p:sp>
      <p:sp>
        <p:nvSpPr>
          <p:cNvPr id="12" name="Shape 8"/>
          <p:cNvSpPr/>
          <p:nvPr/>
        </p:nvSpPr>
        <p:spPr>
          <a:xfrm>
            <a:off x="822960" y="4526280"/>
            <a:ext cx="2194560" cy="365760"/>
          </a:xfrm>
          <a:prstGeom prst="roundRect">
            <a:avLst>
              <a:gd name="adj" fmla="val 37500"/>
            </a:avLst>
          </a:prstGeom>
          <a:solidFill>
            <a:srgbClr val="494985"/>
          </a:solidFill>
          <a:ln w="12700">
            <a:solidFill>
              <a:srgbClr val="494985"/>
            </a:solidFill>
            <a:prstDash val="solid"/>
          </a:ln>
        </p:spPr>
      </p:sp>
      <p:sp>
        <p:nvSpPr>
          <p:cNvPr id="13" name="Text 9"/>
          <p:cNvSpPr txBox="1"/>
          <p:nvPr/>
        </p:nvSpPr>
        <p:spPr>
          <a:xfrm>
            <a:off x="896112" y="4581144"/>
            <a:ext cx="2048256" cy="256032"/>
          </a:xfrm>
          <a:prstGeom prst="rect">
            <a:avLst/>
          </a:prstGeom>
          <a:noFill/>
          <a:ln/>
        </p:spPr>
        <p:txBody>
          <a:bodyPr wrap="square" lIns="0" tIns="0" rIns="0" bIns="0" rtlCol="0" anchor="t"/>
          <a:lstStyle/>
          <a:p>
            <a:pPr algn="ctr" indent="0" marL="0">
              <a:spcAft>
                <a:spcPts val="600"/>
              </a:spcAft>
              <a:buNone/>
            </a:pPr>
            <a:r>
              <a:rPr lang="en-US" sz="1300" b="1" dirty="0">
                <a:solidFill>
                  <a:srgbClr val="FFFFFF"/>
                </a:solidFill>
                <a:latin typeface="Quicksand" pitchFamily="34" charset="0"/>
                <a:ea typeface="Quicksand" pitchFamily="34" charset="-122"/>
                <a:cs typeface="Quicksand" pitchFamily="34" charset="-120"/>
              </a:rPr>
              <a:t>EVIDENCE</a:t>
            </a:r>
            <a:endParaRPr lang="en-US" sz="1300" dirty="0"/>
          </a:p>
        </p:txBody>
      </p:sp>
      <p:sp>
        <p:nvSpPr>
          <p:cNvPr id="14" name="Shape 10"/>
          <p:cNvSpPr/>
          <p:nvPr/>
        </p:nvSpPr>
        <p:spPr>
          <a:xfrm>
            <a:off x="3154680" y="4709160"/>
            <a:ext cx="594360" cy="914"/>
          </a:xfrm>
          <a:prstGeom prst="line">
            <a:avLst/>
          </a:prstGeom>
          <a:noFill/>
          <a:ln w="25400">
            <a:solidFill>
              <a:srgbClr val="494985"/>
            </a:solidFill>
            <a:prstDash val="solid"/>
            <a:tailEnd type="triangle"/>
          </a:ln>
        </p:spPr>
      </p:sp>
      <p:sp>
        <p:nvSpPr>
          <p:cNvPr id="15" name="Shape 11"/>
          <p:cNvSpPr/>
          <p:nvPr/>
        </p:nvSpPr>
        <p:spPr>
          <a:xfrm>
            <a:off x="3931920" y="4526280"/>
            <a:ext cx="2743200" cy="365760"/>
          </a:xfrm>
          <a:prstGeom prst="roundRect">
            <a:avLst>
              <a:gd name="adj" fmla="val 37500"/>
            </a:avLst>
          </a:prstGeom>
          <a:solidFill>
            <a:srgbClr val="494985"/>
          </a:solidFill>
          <a:ln w="12700">
            <a:solidFill>
              <a:srgbClr val="494985"/>
            </a:solidFill>
            <a:prstDash val="solid"/>
          </a:ln>
        </p:spPr>
      </p:sp>
      <p:sp>
        <p:nvSpPr>
          <p:cNvPr id="16" name="Text 12"/>
          <p:cNvSpPr txBox="1"/>
          <p:nvPr/>
        </p:nvSpPr>
        <p:spPr>
          <a:xfrm>
            <a:off x="4005072" y="4581144"/>
            <a:ext cx="2596896" cy="256032"/>
          </a:xfrm>
          <a:prstGeom prst="rect">
            <a:avLst/>
          </a:prstGeom>
          <a:noFill/>
          <a:ln/>
        </p:spPr>
        <p:txBody>
          <a:bodyPr wrap="square" lIns="0" tIns="0" rIns="0" bIns="0" rtlCol="0" anchor="t"/>
          <a:lstStyle/>
          <a:p>
            <a:pPr algn="ctr" indent="0" marL="0">
              <a:spcAft>
                <a:spcPts val="600"/>
              </a:spcAft>
              <a:buNone/>
            </a:pPr>
            <a:r>
              <a:rPr lang="en-US" sz="1300" b="1" dirty="0">
                <a:solidFill>
                  <a:srgbClr val="FFFFFF"/>
                </a:solidFill>
                <a:latin typeface="Quicksand" pitchFamily="34" charset="0"/>
                <a:ea typeface="Quicksand" pitchFamily="34" charset="-122"/>
                <a:cs typeface="Quicksand" pitchFamily="34" charset="-120"/>
              </a:rPr>
              <a:t>R2 MATCHES</a:t>
            </a:r>
            <a:endParaRPr lang="en-US" sz="1300" dirty="0"/>
          </a:p>
        </p:txBody>
      </p:sp>
      <p:sp>
        <p:nvSpPr>
          <p:cNvPr id="17" name="Shape 13"/>
          <p:cNvSpPr/>
          <p:nvPr/>
        </p:nvSpPr>
        <p:spPr>
          <a:xfrm>
            <a:off x="6858000" y="4709160"/>
            <a:ext cx="594360" cy="914"/>
          </a:xfrm>
          <a:prstGeom prst="line">
            <a:avLst/>
          </a:prstGeom>
          <a:noFill/>
          <a:ln w="25400">
            <a:solidFill>
              <a:srgbClr val="494985"/>
            </a:solidFill>
            <a:prstDash val="solid"/>
            <a:tailEnd type="triangle"/>
          </a:ln>
        </p:spPr>
      </p:sp>
      <p:sp>
        <p:nvSpPr>
          <p:cNvPr id="18" name="Shape 14"/>
          <p:cNvSpPr/>
          <p:nvPr/>
        </p:nvSpPr>
        <p:spPr>
          <a:xfrm>
            <a:off x="7680960" y="4526280"/>
            <a:ext cx="3520440" cy="365760"/>
          </a:xfrm>
          <a:prstGeom prst="roundRect">
            <a:avLst>
              <a:gd name="adj" fmla="val 37500"/>
            </a:avLst>
          </a:prstGeom>
          <a:solidFill>
            <a:srgbClr val="494985"/>
          </a:solidFill>
          <a:ln w="12700">
            <a:solidFill>
              <a:srgbClr val="494985"/>
            </a:solidFill>
            <a:prstDash val="solid"/>
          </a:ln>
        </p:spPr>
      </p:sp>
      <p:sp>
        <p:nvSpPr>
          <p:cNvPr id="19" name="Text 15"/>
          <p:cNvSpPr txBox="1"/>
          <p:nvPr/>
        </p:nvSpPr>
        <p:spPr>
          <a:xfrm>
            <a:off x="7754112" y="4581144"/>
            <a:ext cx="3374136" cy="256032"/>
          </a:xfrm>
          <a:prstGeom prst="rect">
            <a:avLst/>
          </a:prstGeom>
          <a:noFill/>
          <a:ln/>
        </p:spPr>
        <p:txBody>
          <a:bodyPr wrap="square" lIns="0" tIns="0" rIns="0" bIns="0" rtlCol="0" anchor="t"/>
          <a:lstStyle/>
          <a:p>
            <a:pPr algn="ctr" indent="0" marL="0">
              <a:spcAft>
                <a:spcPts val="600"/>
              </a:spcAft>
              <a:buNone/>
            </a:pPr>
            <a:r>
              <a:rPr lang="en-US" sz="1300" b="1" dirty="0">
                <a:solidFill>
                  <a:srgbClr val="FFFFFF"/>
                </a:solidFill>
                <a:latin typeface="Quicksand" pitchFamily="34" charset="0"/>
                <a:ea typeface="Quicksand" pitchFamily="34" charset="-122"/>
                <a:cs typeface="Quicksand" pitchFamily="34" charset="-120"/>
              </a:rPr>
              <a:t>EXPLAINED ADVICE</a:t>
            </a:r>
            <a:endParaRPr lang="en-US" sz="1300" dirty="0"/>
          </a:p>
        </p:txBody>
      </p:sp>
      <p:sp>
        <p:nvSpPr>
          <p:cNvPr id="20" name="Text 16"/>
          <p:cNvSpPr txBox="1"/>
          <p:nvPr/>
        </p:nvSpPr>
        <p:spPr>
          <a:xfrm>
            <a:off x="685800" y="5623560"/>
            <a:ext cx="10698480" cy="438912"/>
          </a:xfrm>
          <a:prstGeom prst="rect">
            <a:avLst/>
          </a:prstGeom>
          <a:noFill/>
          <a:ln/>
        </p:spPr>
        <p:txBody>
          <a:bodyPr wrap="square" lIns="0" tIns="0" rIns="0" bIns="0" rtlCol="0" anchor="t"/>
          <a:lstStyle/>
          <a:p>
            <a:pPr indent="0" marL="0">
              <a:buNone/>
            </a:pPr>
            <a:r>
              <a:rPr lang="en-US" sz="1500" b="1" dirty="0">
                <a:solidFill>
                  <a:srgbClr val="494985"/>
                </a:solidFill>
                <a:latin typeface="Quicksand" pitchFamily="34" charset="0"/>
                <a:ea typeface="Quicksand" pitchFamily="34" charset="-122"/>
                <a:cs typeface="Quicksand" pitchFamily="34" charset="-120"/>
              </a:rPr>
              <a:t>Showing the reason does not guarantee the advice is correct. Do Tasks 3 and 4(a).</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Build and test an expert system</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Activity 2</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12</a:t>
            </a:r>
            <a:endParaRPr lang="en-US" sz="1350" dirty="0"/>
          </a:p>
        </p:txBody>
      </p:sp>
      <p:sp>
        <p:nvSpPr>
          <p:cNvPr id="7" name="Shape 4"/>
          <p:cNvSpPr/>
          <p:nvPr/>
        </p:nvSpPr>
        <p:spPr>
          <a:xfrm>
            <a:off x="685800" y="1691640"/>
            <a:ext cx="2496312" cy="3566160"/>
          </a:xfrm>
          <a:prstGeom prst="roundRect">
            <a:avLst>
              <a:gd name="adj" fmla="val 5495"/>
            </a:avLst>
          </a:prstGeom>
          <a:solidFill>
            <a:srgbClr val="F6F5FC"/>
          </a:solidFill>
          <a:ln w="12700">
            <a:solidFill>
              <a:srgbClr val="F6F5FC"/>
            </a:solidFill>
            <a:prstDash val="solid"/>
          </a:ln>
        </p:spPr>
      </p:sp>
      <p:pic>
        <p:nvPicPr>
          <p:cNvPr id="8" name="Image 0" descr="user round">    </p:cNvPr>
          <p:cNvPicPr>
            <a:picLocks noChangeAspect="1"/>
          </p:cNvPicPr>
          <p:nvPr/>
        </p:nvPicPr>
        <p:blipFill>
          <a:blip r:embed="rId1"/>
          <a:stretch>
            <a:fillRect/>
          </a:stretch>
        </p:blipFill>
        <p:spPr>
          <a:xfrm>
            <a:off x="1389888" y="1947672"/>
            <a:ext cx="1097280" cy="1097280"/>
          </a:xfrm>
          <a:prstGeom prst="rect">
            <a:avLst/>
          </a:prstGeom>
        </p:spPr>
      </p:pic>
      <p:sp>
        <p:nvSpPr>
          <p:cNvPr id="9" name="Text 5"/>
          <p:cNvSpPr txBox="1"/>
          <p:nvPr/>
        </p:nvSpPr>
        <p:spPr>
          <a:xfrm>
            <a:off x="777240" y="3429000"/>
            <a:ext cx="2313432" cy="594360"/>
          </a:xfrm>
          <a:prstGeom prst="rect">
            <a:avLst/>
          </a:prstGeom>
          <a:noFill/>
          <a:ln/>
        </p:spPr>
        <p:txBody>
          <a:bodyPr wrap="square" lIns="0" tIns="0" rIns="0" bIns="0" rtlCol="0" anchor="t"/>
          <a:lstStyle/>
          <a:p>
            <a:pPr algn="ctr" indent="0" marL="0">
              <a:spcAft>
                <a:spcPts val="600"/>
              </a:spcAft>
              <a:buNone/>
            </a:pPr>
            <a:r>
              <a:rPr lang="en-US" sz="1800" b="1" dirty="0">
                <a:solidFill>
                  <a:srgbClr val="494985"/>
                </a:solidFill>
                <a:latin typeface="Quicksand" pitchFamily="34" charset="0"/>
                <a:ea typeface="Quicksand" pitchFamily="34" charset="-122"/>
                <a:cs typeface="Quicksand" pitchFamily="34" charset="-120"/>
              </a:rPr>
              <a:t>1 · Collect expertise</a:t>
            </a:r>
            <a:endParaRPr lang="en-US" sz="1800" dirty="0"/>
          </a:p>
        </p:txBody>
      </p:sp>
      <p:sp>
        <p:nvSpPr>
          <p:cNvPr id="10" name="Text 6"/>
          <p:cNvSpPr txBox="1"/>
          <p:nvPr/>
        </p:nvSpPr>
        <p:spPr>
          <a:xfrm>
            <a:off x="868680" y="4160520"/>
            <a:ext cx="2130552" cy="914400"/>
          </a:xfrm>
          <a:prstGeom prst="rect">
            <a:avLst/>
          </a:prstGeom>
          <a:noFill/>
          <a:ln/>
        </p:spPr>
        <p:txBody>
          <a:bodyPr wrap="square" lIns="0" tIns="0" rIns="0" bIns="0" rtlCol="0" anchor="t"/>
          <a:lstStyle/>
          <a:p>
            <a:pPr algn="ctr" indent="0" marL="0">
              <a:spcAft>
                <a:spcPts val="600"/>
              </a:spcAft>
              <a:buNone/>
            </a:pPr>
            <a:r>
              <a:rPr lang="en-US" sz="1700" dirty="0">
                <a:solidFill>
                  <a:srgbClr val="202124"/>
                </a:solidFill>
                <a:latin typeface="Quicksand" pitchFamily="34" charset="0"/>
                <a:ea typeface="Quicksand" pitchFamily="34" charset="-122"/>
                <a:cs typeface="Quicksand" pitchFamily="34" charset="-120"/>
              </a:rPr>
              <a:t>Interview experts.</a:t>
            </a:r>
            <a:endParaRPr lang="en-US" sz="1700" dirty="0"/>
          </a:p>
          <a:p>
            <a:pPr algn="ctr" indent="0" marL="0">
              <a:spcAft>
                <a:spcPts val="600"/>
              </a:spcAft>
              <a:buNone/>
            </a:pPr>
            <a:r>
              <a:rPr lang="en-US" sz="1700" dirty="0">
                <a:solidFill>
                  <a:srgbClr val="202124"/>
                </a:solidFill>
                <a:latin typeface="Quicksand" pitchFamily="34" charset="0"/>
                <a:ea typeface="Quicksand" pitchFamily="34" charset="-122"/>
                <a:cs typeface="Quicksand" pitchFamily="34" charset="-120"/>
              </a:rPr>
              <a:t>Check written sources.</a:t>
            </a:r>
            <a:endParaRPr lang="en-US" sz="1700" dirty="0"/>
          </a:p>
        </p:txBody>
      </p:sp>
      <p:sp>
        <p:nvSpPr>
          <p:cNvPr id="11" name="Shape 7"/>
          <p:cNvSpPr/>
          <p:nvPr/>
        </p:nvSpPr>
        <p:spPr>
          <a:xfrm>
            <a:off x="3200400" y="2834640"/>
            <a:ext cx="228600" cy="914"/>
          </a:xfrm>
          <a:prstGeom prst="line">
            <a:avLst/>
          </a:prstGeom>
          <a:noFill/>
          <a:ln w="25400">
            <a:solidFill>
              <a:srgbClr val="494985"/>
            </a:solidFill>
            <a:prstDash val="solid"/>
            <a:tailEnd type="triangle"/>
          </a:ln>
        </p:spPr>
      </p:sp>
      <p:sp>
        <p:nvSpPr>
          <p:cNvPr id="12" name="Shape 8"/>
          <p:cNvSpPr/>
          <p:nvPr/>
        </p:nvSpPr>
        <p:spPr>
          <a:xfrm>
            <a:off x="3456432" y="1691640"/>
            <a:ext cx="2496312" cy="3566160"/>
          </a:xfrm>
          <a:prstGeom prst="roundRect">
            <a:avLst>
              <a:gd name="adj" fmla="val 5495"/>
            </a:avLst>
          </a:prstGeom>
          <a:solidFill>
            <a:srgbClr val="F6F5FC"/>
          </a:solidFill>
          <a:ln w="12700">
            <a:solidFill>
              <a:srgbClr val="F6F5FC"/>
            </a:solidFill>
            <a:prstDash val="solid"/>
          </a:ln>
        </p:spPr>
      </p:sp>
      <p:pic>
        <p:nvPicPr>
          <p:cNvPr id="13" name="Image 1" descr="database">    </p:cNvPr>
          <p:cNvPicPr>
            <a:picLocks noChangeAspect="1"/>
          </p:cNvPicPr>
          <p:nvPr/>
        </p:nvPicPr>
        <p:blipFill>
          <a:blip r:embed="rId2"/>
          <a:stretch>
            <a:fillRect/>
          </a:stretch>
        </p:blipFill>
        <p:spPr>
          <a:xfrm>
            <a:off x="4160520" y="1947672"/>
            <a:ext cx="1097280" cy="1097280"/>
          </a:xfrm>
          <a:prstGeom prst="rect">
            <a:avLst/>
          </a:prstGeom>
        </p:spPr>
      </p:pic>
      <p:sp>
        <p:nvSpPr>
          <p:cNvPr id="14" name="Text 9"/>
          <p:cNvSpPr txBox="1"/>
          <p:nvPr/>
        </p:nvSpPr>
        <p:spPr>
          <a:xfrm>
            <a:off x="3547872" y="3429000"/>
            <a:ext cx="2313432" cy="594360"/>
          </a:xfrm>
          <a:prstGeom prst="rect">
            <a:avLst/>
          </a:prstGeom>
          <a:noFill/>
          <a:ln/>
        </p:spPr>
        <p:txBody>
          <a:bodyPr wrap="square" lIns="0" tIns="0" rIns="0" bIns="0" rtlCol="0" anchor="t"/>
          <a:lstStyle/>
          <a:p>
            <a:pPr algn="ctr" indent="0" marL="0">
              <a:spcAft>
                <a:spcPts val="600"/>
              </a:spcAft>
              <a:buNone/>
            </a:pPr>
            <a:r>
              <a:rPr lang="en-US" sz="1800" b="1" dirty="0">
                <a:solidFill>
                  <a:srgbClr val="494985"/>
                </a:solidFill>
                <a:latin typeface="Quicksand" pitchFamily="34" charset="0"/>
                <a:ea typeface="Quicksand" pitchFamily="34" charset="-122"/>
                <a:cs typeface="Quicksand" pitchFamily="34" charset="-120"/>
              </a:rPr>
              <a:t>2 · Store knowledge</a:t>
            </a:r>
            <a:endParaRPr lang="en-US" sz="1800" dirty="0"/>
          </a:p>
        </p:txBody>
      </p:sp>
      <p:sp>
        <p:nvSpPr>
          <p:cNvPr id="15" name="Text 10"/>
          <p:cNvSpPr txBox="1"/>
          <p:nvPr/>
        </p:nvSpPr>
        <p:spPr>
          <a:xfrm>
            <a:off x="3639312" y="4160520"/>
            <a:ext cx="2130552" cy="914400"/>
          </a:xfrm>
          <a:prstGeom prst="rect">
            <a:avLst/>
          </a:prstGeom>
          <a:noFill/>
          <a:ln/>
        </p:spPr>
        <p:txBody>
          <a:bodyPr wrap="square" lIns="0" tIns="0" rIns="0" bIns="0" rtlCol="0" anchor="t"/>
          <a:lstStyle/>
          <a:p>
            <a:pPr algn="ctr" indent="0" marL="0">
              <a:spcAft>
                <a:spcPts val="600"/>
              </a:spcAft>
              <a:buNone/>
            </a:pPr>
            <a:r>
              <a:rPr lang="en-US" sz="1700" dirty="0">
                <a:solidFill>
                  <a:srgbClr val="202124"/>
                </a:solidFill>
                <a:latin typeface="Quicksand" pitchFamily="34" charset="0"/>
                <a:ea typeface="Quicksand" pitchFamily="34" charset="-122"/>
                <a:cs typeface="Quicksand" pitchFamily="34" charset="-120"/>
              </a:rPr>
              <a:t>Create the facts</a:t>
            </a:r>
            <a:endParaRPr lang="en-US" sz="1700" dirty="0"/>
          </a:p>
          <a:p>
            <a:pPr algn="ctr" indent="0" marL="0">
              <a:spcAft>
                <a:spcPts val="600"/>
              </a:spcAft>
              <a:buNone/>
            </a:pPr>
            <a:r>
              <a:rPr lang="en-US" sz="1700" dirty="0">
                <a:solidFill>
                  <a:srgbClr val="202124"/>
                </a:solidFill>
                <a:latin typeface="Quicksand" pitchFamily="34" charset="0"/>
                <a:ea typeface="Quicksand" pitchFamily="34" charset="-122"/>
                <a:cs typeface="Quicksand" pitchFamily="34" charset="-120"/>
              </a:rPr>
              <a:t>and IF–THEN rules.</a:t>
            </a:r>
            <a:endParaRPr lang="en-US" sz="1700" dirty="0"/>
          </a:p>
        </p:txBody>
      </p:sp>
      <p:sp>
        <p:nvSpPr>
          <p:cNvPr id="16" name="Shape 11"/>
          <p:cNvSpPr/>
          <p:nvPr/>
        </p:nvSpPr>
        <p:spPr>
          <a:xfrm>
            <a:off x="5971032" y="2834640"/>
            <a:ext cx="228600" cy="914"/>
          </a:xfrm>
          <a:prstGeom prst="line">
            <a:avLst/>
          </a:prstGeom>
          <a:noFill/>
          <a:ln w="25400">
            <a:solidFill>
              <a:srgbClr val="494985"/>
            </a:solidFill>
            <a:prstDash val="solid"/>
            <a:tailEnd type="triangle"/>
          </a:ln>
        </p:spPr>
      </p:sp>
      <p:sp>
        <p:nvSpPr>
          <p:cNvPr id="17" name="Shape 12"/>
          <p:cNvSpPr/>
          <p:nvPr/>
        </p:nvSpPr>
        <p:spPr>
          <a:xfrm>
            <a:off x="6227064" y="1691640"/>
            <a:ext cx="2496312" cy="3566160"/>
          </a:xfrm>
          <a:prstGeom prst="roundRect">
            <a:avLst>
              <a:gd name="adj" fmla="val 5495"/>
            </a:avLst>
          </a:prstGeom>
          <a:solidFill>
            <a:srgbClr val="F6F5FC"/>
          </a:solidFill>
          <a:ln w="12700">
            <a:solidFill>
              <a:srgbClr val="F6F5FC"/>
            </a:solidFill>
            <a:prstDash val="solid"/>
          </a:ln>
        </p:spPr>
      </p:sp>
      <p:pic>
        <p:nvPicPr>
          <p:cNvPr id="18" name="Image 2" descr="cpu">    </p:cNvPr>
          <p:cNvPicPr>
            <a:picLocks noChangeAspect="1"/>
          </p:cNvPicPr>
          <p:nvPr/>
        </p:nvPicPr>
        <p:blipFill>
          <a:blip r:embed="rId3"/>
          <a:stretch>
            <a:fillRect/>
          </a:stretch>
        </p:blipFill>
        <p:spPr>
          <a:xfrm>
            <a:off x="6931152" y="1947672"/>
            <a:ext cx="1097280" cy="1097280"/>
          </a:xfrm>
          <a:prstGeom prst="rect">
            <a:avLst/>
          </a:prstGeom>
        </p:spPr>
      </p:pic>
      <p:sp>
        <p:nvSpPr>
          <p:cNvPr id="19" name="Text 13"/>
          <p:cNvSpPr txBox="1"/>
          <p:nvPr/>
        </p:nvSpPr>
        <p:spPr>
          <a:xfrm>
            <a:off x="6318504" y="3429000"/>
            <a:ext cx="2313432" cy="594360"/>
          </a:xfrm>
          <a:prstGeom prst="rect">
            <a:avLst/>
          </a:prstGeom>
          <a:noFill/>
          <a:ln/>
        </p:spPr>
        <p:txBody>
          <a:bodyPr wrap="square" lIns="0" tIns="0" rIns="0" bIns="0" rtlCol="0" anchor="t"/>
          <a:lstStyle/>
          <a:p>
            <a:pPr algn="ctr" indent="0" marL="0">
              <a:spcAft>
                <a:spcPts val="600"/>
              </a:spcAft>
              <a:buNone/>
            </a:pPr>
            <a:r>
              <a:rPr lang="en-US" sz="1800" b="1" dirty="0">
                <a:solidFill>
                  <a:srgbClr val="494985"/>
                </a:solidFill>
                <a:latin typeface="Quicksand" pitchFamily="34" charset="0"/>
                <a:ea typeface="Quicksand" pitchFamily="34" charset="-122"/>
                <a:cs typeface="Quicksand" pitchFamily="34" charset="-120"/>
              </a:rPr>
              <a:t>3 · Connect</a:t>
            </a:r>
            <a:endParaRPr lang="en-US" sz="1800" dirty="0"/>
          </a:p>
        </p:txBody>
      </p:sp>
      <p:sp>
        <p:nvSpPr>
          <p:cNvPr id="20" name="Text 14"/>
          <p:cNvSpPr txBox="1"/>
          <p:nvPr/>
        </p:nvSpPr>
        <p:spPr>
          <a:xfrm>
            <a:off x="6409944" y="4160520"/>
            <a:ext cx="2130552" cy="914400"/>
          </a:xfrm>
          <a:prstGeom prst="rect">
            <a:avLst/>
          </a:prstGeom>
          <a:noFill/>
          <a:ln/>
        </p:spPr>
        <p:txBody>
          <a:bodyPr wrap="square" lIns="0" tIns="0" rIns="0" bIns="0" rtlCol="0" anchor="t"/>
          <a:lstStyle/>
          <a:p>
            <a:pPr algn="ctr" indent="0" marL="0">
              <a:spcAft>
                <a:spcPts val="600"/>
              </a:spcAft>
              <a:buNone/>
            </a:pPr>
            <a:r>
              <a:rPr lang="en-US" sz="1700" dirty="0">
                <a:solidFill>
                  <a:srgbClr val="202124"/>
                </a:solidFill>
                <a:latin typeface="Quicksand" pitchFamily="34" charset="0"/>
                <a:ea typeface="Quicksand" pitchFamily="34" charset="-122"/>
                <a:cs typeface="Quicksand" pitchFamily="34" charset="-120"/>
              </a:rPr>
              <a:t>Engine + interface</a:t>
            </a:r>
            <a:endParaRPr lang="en-US" sz="1700" dirty="0"/>
          </a:p>
          <a:p>
            <a:pPr algn="ctr" indent="0" marL="0">
              <a:spcAft>
                <a:spcPts val="600"/>
              </a:spcAft>
              <a:buNone/>
            </a:pPr>
            <a:r>
              <a:rPr lang="en-US" sz="1700" dirty="0">
                <a:solidFill>
                  <a:srgbClr val="202124"/>
                </a:solidFill>
                <a:latin typeface="Quicksand" pitchFamily="34" charset="0"/>
                <a:ea typeface="Quicksand" pitchFamily="34" charset="-122"/>
                <a:cs typeface="Quicksand" pitchFamily="34" charset="-120"/>
              </a:rPr>
              <a:t>turn input into advice.</a:t>
            </a:r>
            <a:endParaRPr lang="en-US" sz="1700" dirty="0"/>
          </a:p>
        </p:txBody>
      </p:sp>
      <p:sp>
        <p:nvSpPr>
          <p:cNvPr id="21" name="Shape 15"/>
          <p:cNvSpPr/>
          <p:nvPr/>
        </p:nvSpPr>
        <p:spPr>
          <a:xfrm>
            <a:off x="8741664" y="2834640"/>
            <a:ext cx="228600" cy="914"/>
          </a:xfrm>
          <a:prstGeom prst="line">
            <a:avLst/>
          </a:prstGeom>
          <a:noFill/>
          <a:ln w="25400">
            <a:solidFill>
              <a:srgbClr val="494985"/>
            </a:solidFill>
            <a:prstDash val="solid"/>
            <a:tailEnd type="triangle"/>
          </a:ln>
        </p:spPr>
      </p:sp>
      <p:sp>
        <p:nvSpPr>
          <p:cNvPr id="22" name="Shape 16"/>
          <p:cNvSpPr/>
          <p:nvPr/>
        </p:nvSpPr>
        <p:spPr>
          <a:xfrm>
            <a:off x="8997696" y="1691640"/>
            <a:ext cx="2496312" cy="3566160"/>
          </a:xfrm>
          <a:prstGeom prst="roundRect">
            <a:avLst>
              <a:gd name="adj" fmla="val 5495"/>
            </a:avLst>
          </a:prstGeom>
          <a:solidFill>
            <a:srgbClr val="F6F5FC"/>
          </a:solidFill>
          <a:ln w="12700">
            <a:solidFill>
              <a:srgbClr val="F6F5FC"/>
            </a:solidFill>
            <a:prstDash val="solid"/>
          </a:ln>
        </p:spPr>
      </p:sp>
      <p:pic>
        <p:nvPicPr>
          <p:cNvPr id="23" name="Image 3" descr="file check">    </p:cNvPr>
          <p:cNvPicPr>
            <a:picLocks noChangeAspect="1"/>
          </p:cNvPicPr>
          <p:nvPr/>
        </p:nvPicPr>
        <p:blipFill>
          <a:blip r:embed="rId4"/>
          <a:stretch>
            <a:fillRect/>
          </a:stretch>
        </p:blipFill>
        <p:spPr>
          <a:xfrm>
            <a:off x="9701784" y="1947672"/>
            <a:ext cx="1097280" cy="1097280"/>
          </a:xfrm>
          <a:prstGeom prst="rect">
            <a:avLst/>
          </a:prstGeom>
        </p:spPr>
      </p:pic>
      <p:sp>
        <p:nvSpPr>
          <p:cNvPr id="24" name="Text 17"/>
          <p:cNvSpPr txBox="1"/>
          <p:nvPr/>
        </p:nvSpPr>
        <p:spPr>
          <a:xfrm>
            <a:off x="9089136" y="3429000"/>
            <a:ext cx="2313432" cy="594360"/>
          </a:xfrm>
          <a:prstGeom prst="rect">
            <a:avLst/>
          </a:prstGeom>
          <a:noFill/>
          <a:ln/>
        </p:spPr>
        <p:txBody>
          <a:bodyPr wrap="square" lIns="0" tIns="0" rIns="0" bIns="0" rtlCol="0" anchor="t"/>
          <a:lstStyle/>
          <a:p>
            <a:pPr algn="ctr" indent="0" marL="0">
              <a:spcAft>
                <a:spcPts val="600"/>
              </a:spcAft>
              <a:buNone/>
            </a:pPr>
            <a:r>
              <a:rPr lang="en-US" sz="1800" b="1" dirty="0">
                <a:solidFill>
                  <a:srgbClr val="494985"/>
                </a:solidFill>
                <a:latin typeface="Quicksand" pitchFamily="34" charset="0"/>
                <a:ea typeface="Quicksand" pitchFamily="34" charset="-122"/>
                <a:cs typeface="Quicksand" pitchFamily="34" charset="-120"/>
              </a:rPr>
              <a:t>4 · Test</a:t>
            </a:r>
            <a:endParaRPr lang="en-US" sz="1800" dirty="0"/>
          </a:p>
        </p:txBody>
      </p:sp>
      <p:sp>
        <p:nvSpPr>
          <p:cNvPr id="25" name="Text 18"/>
          <p:cNvSpPr txBox="1"/>
          <p:nvPr/>
        </p:nvSpPr>
        <p:spPr>
          <a:xfrm>
            <a:off x="9180576" y="4160520"/>
            <a:ext cx="2130552" cy="914400"/>
          </a:xfrm>
          <a:prstGeom prst="rect">
            <a:avLst/>
          </a:prstGeom>
          <a:noFill/>
          <a:ln/>
        </p:spPr>
        <p:txBody>
          <a:bodyPr wrap="square" lIns="0" tIns="0" rIns="0" bIns="0" rtlCol="0" anchor="t"/>
          <a:lstStyle/>
          <a:p>
            <a:pPr algn="ctr" indent="0" marL="0">
              <a:spcAft>
                <a:spcPts val="600"/>
              </a:spcAft>
              <a:buNone/>
            </a:pPr>
            <a:r>
              <a:rPr lang="en-US" sz="1700" dirty="0">
                <a:solidFill>
                  <a:srgbClr val="202124"/>
                </a:solidFill>
                <a:latin typeface="Quicksand" pitchFamily="34" charset="0"/>
                <a:ea typeface="Quicksand" pitchFamily="34" charset="-122"/>
                <a:cs typeface="Quicksand" pitchFamily="34" charset="-120"/>
              </a:rPr>
              <a:t>Known cases →</a:t>
            </a:r>
            <a:endParaRPr lang="en-US" sz="1700" dirty="0"/>
          </a:p>
          <a:p>
            <a:pPr algn="ctr" indent="0" marL="0">
              <a:spcAft>
                <a:spcPts val="600"/>
              </a:spcAft>
              <a:buNone/>
            </a:pPr>
            <a:r>
              <a:rPr lang="en-US" sz="1700" dirty="0">
                <a:solidFill>
                  <a:srgbClr val="202124"/>
                </a:solidFill>
                <a:latin typeface="Quicksand" pitchFamily="34" charset="0"/>
                <a:ea typeface="Quicksand" pitchFamily="34" charset="-122"/>
                <a:cs typeface="Quicksand" pitchFamily="34" charset="-120"/>
              </a:rPr>
              <a:t>expected conclusions.</a:t>
            </a:r>
            <a:endParaRPr lang="en-US" sz="1700" dirty="0"/>
          </a:p>
        </p:txBody>
      </p:sp>
      <p:sp>
        <p:nvSpPr>
          <p:cNvPr id="26" name="Text 19"/>
          <p:cNvSpPr txBox="1"/>
          <p:nvPr/>
        </p:nvSpPr>
        <p:spPr>
          <a:xfrm>
            <a:off x="685800" y="5623560"/>
            <a:ext cx="10698480" cy="438912"/>
          </a:xfrm>
          <a:prstGeom prst="rect">
            <a:avLst/>
          </a:prstGeom>
          <a:noFill/>
          <a:ln/>
        </p:spPr>
        <p:txBody>
          <a:bodyPr wrap="square" lIns="0" tIns="0" rIns="0" bIns="0" rtlCol="0" anchor="t"/>
          <a:lstStyle/>
          <a:p>
            <a:pPr indent="0" marL="0">
              <a:buNone/>
            </a:pPr>
            <a:r>
              <a:rPr lang="en-US" sz="1500" b="1" dirty="0">
                <a:solidFill>
                  <a:srgbClr val="494985"/>
                </a:solidFill>
                <a:latin typeface="Quicksand" pitchFamily="34" charset="0"/>
                <a:ea typeface="Quicksand" pitchFamily="34" charset="-122"/>
                <a:cs typeface="Quicksand" pitchFamily="34" charset="-120"/>
              </a:rPr>
              <a:t>Test failures and unmatched cases too. Correct facts/rules, then retest.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Benefits need a matching limit</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Activity 2</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13</a:t>
            </a:r>
            <a:endParaRPr lang="en-US" sz="13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85800" y="1508760"/>
          <a:ext cx="10789920" cy="914400"/>
        </p:xfrm>
        <a:graphic>
          <a:graphicData uri="http://schemas.openxmlformats.org/drawingml/2006/table">
            <a:tbl>
              <a:tblPr/>
              <a:tblGrid>
                <a:gridCol w="5394960"/>
                <a:gridCol w="5394960"/>
              </a:tblGrid>
              <a:tr h="777240">
                <a:tc>
                  <a:txBody>
                    <a:bodyPr/>
                    <a:lstStyle/>
                    <a:p>
                      <a:pPr indent="0" marL="0">
                        <a:buNone/>
                      </a:pPr>
                      <a:r>
                        <a:rPr lang="en-US" sz="1750" b="1" dirty="0">
                          <a:solidFill>
                            <a:srgbClr val="FFFFFF"/>
                          </a:solidFill>
                          <a:latin typeface="Quicksand" pitchFamily="34" charset="0"/>
                          <a:ea typeface="Quicksand" pitchFamily="34" charset="-122"/>
                          <a:cs typeface="Quicksand" pitchFamily="34" charset="-120"/>
                        </a:rPr>
                        <a:t>Potential benefit</a:t>
                      </a:r>
                      <a:endParaRPr lang="en-US" sz="17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c>
                  <a:txBody>
                    <a:bodyPr/>
                    <a:lstStyle/>
                    <a:p>
                      <a:pPr indent="0" marL="0">
                        <a:buNone/>
                      </a:pPr>
                      <a:r>
                        <a:rPr lang="en-US" sz="1750" b="1" dirty="0">
                          <a:solidFill>
                            <a:srgbClr val="FFFFFF"/>
                          </a:solidFill>
                          <a:latin typeface="Quicksand" pitchFamily="34" charset="0"/>
                          <a:ea typeface="Quicksand" pitchFamily="34" charset="-122"/>
                          <a:cs typeface="Quicksand" pitchFamily="34" charset="-120"/>
                        </a:rPr>
                        <a:t>Why checking still matters</a:t>
                      </a:r>
                      <a:endParaRPr lang="en-US" sz="17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r>
              <a:tr h="777240">
                <a:tc>
                  <a:txBody>
                    <a:bodyPr/>
                    <a:lstStyle/>
                    <a:p>
                      <a:pPr indent="0" marL="0">
                        <a:buNone/>
                      </a:pPr>
                      <a:r>
                        <a:rPr lang="en-US" sz="1700" dirty="0">
                          <a:solidFill>
                            <a:srgbClr val="202124"/>
                          </a:solidFill>
                          <a:latin typeface="Quicksand" pitchFamily="34" charset="0"/>
                          <a:ea typeface="Quicksand" pitchFamily="34" charset="-122"/>
                          <a:cs typeface="Quicksand" pitchFamily="34" charset="-120"/>
                        </a:rPr>
                        <a:t>Consistent use of stored rules</a:t>
                      </a:r>
                      <a:endParaRPr lang="en-US" sz="17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700" dirty="0">
                          <a:solidFill>
                            <a:srgbClr val="202124"/>
                          </a:solidFill>
                          <a:latin typeface="Quicksand" pitchFamily="34" charset="0"/>
                          <a:ea typeface="Quicksand" pitchFamily="34" charset="-122"/>
                          <a:cs typeface="Quicksand" pitchFamily="34" charset="-120"/>
                        </a:rPr>
                        <a:t>A consistently wrong rule gives consistently wrong advice.</a:t>
                      </a:r>
                      <a:endParaRPr lang="en-US" sz="17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777240">
                <a:tc>
                  <a:txBody>
                    <a:bodyPr/>
                    <a:lstStyle/>
                    <a:p>
                      <a:pPr indent="0" marL="0">
                        <a:buNone/>
                      </a:pPr>
                      <a:r>
                        <a:rPr lang="en-US" sz="1700" dirty="0">
                          <a:solidFill>
                            <a:srgbClr val="202124"/>
                          </a:solidFill>
                          <a:latin typeface="Quicksand" pitchFamily="34" charset="0"/>
                          <a:ea typeface="Quicksand" pitchFamily="34" charset="-122"/>
                          <a:cs typeface="Quicksand" pitchFamily="34" charset="-120"/>
                        </a:rPr>
                        <a:t>Available when an expert is not</a:t>
                      </a:r>
                      <a:endParaRPr lang="en-US" sz="17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700" dirty="0">
                          <a:solidFill>
                            <a:srgbClr val="202124"/>
                          </a:solidFill>
                          <a:latin typeface="Quicksand" pitchFamily="34" charset="0"/>
                          <a:ea typeface="Quicksand" pitchFamily="34" charset="-122"/>
                          <a:cs typeface="Quicksand" pitchFamily="34" charset="-120"/>
                        </a:rPr>
                        <a:t>Unusual cases may not be covered by the knowledge.</a:t>
                      </a:r>
                      <a:endParaRPr lang="en-US" sz="17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777240">
                <a:tc>
                  <a:txBody>
                    <a:bodyPr/>
                    <a:lstStyle/>
                    <a:p>
                      <a:pPr indent="0" marL="0">
                        <a:buNone/>
                      </a:pPr>
                      <a:r>
                        <a:rPr lang="en-US" sz="1700" dirty="0">
                          <a:solidFill>
                            <a:srgbClr val="202124"/>
                          </a:solidFill>
                          <a:latin typeface="Quicksand" pitchFamily="34" charset="0"/>
                          <a:ea typeface="Quicksand" pitchFamily="34" charset="-122"/>
                          <a:cs typeface="Quicksand" pitchFamily="34" charset="-120"/>
                        </a:rPr>
                        <a:t>Fast access to specialist knowledge</a:t>
                      </a:r>
                      <a:endParaRPr lang="en-US" sz="17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700" dirty="0">
                          <a:solidFill>
                            <a:srgbClr val="202124"/>
                          </a:solidFill>
                          <a:latin typeface="Quicksand" pitchFamily="34" charset="0"/>
                          <a:ea typeface="Quicksand" pitchFamily="34" charset="-122"/>
                          <a:cs typeface="Quicksand" pitchFamily="34" charset="-120"/>
                        </a:rPr>
                        <a:t>Incorrect input can lead to the wrong conclusion.</a:t>
                      </a:r>
                      <a:endParaRPr lang="en-US" sz="17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777240">
                <a:tc>
                  <a:txBody>
                    <a:bodyPr/>
                    <a:lstStyle/>
                    <a:p>
                      <a:pPr indent="0" marL="0">
                        <a:buNone/>
                      </a:pPr>
                      <a:r>
                        <a:rPr lang="en-US" sz="1700" dirty="0">
                          <a:solidFill>
                            <a:srgbClr val="202124"/>
                          </a:solidFill>
                          <a:latin typeface="Quicksand" pitchFamily="34" charset="0"/>
                          <a:ea typeface="Quicksand" pitchFamily="34" charset="-122"/>
                          <a:cs typeface="Quicksand" pitchFamily="34" charset="-120"/>
                        </a:rPr>
                        <a:t>Knowledge shared across locations</a:t>
                      </a:r>
                      <a:endParaRPr lang="en-US" sz="17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700" dirty="0">
                          <a:solidFill>
                            <a:srgbClr val="202124"/>
                          </a:solidFill>
                          <a:latin typeface="Quicksand" pitchFamily="34" charset="0"/>
                          <a:ea typeface="Quicksand" pitchFamily="34" charset="-122"/>
                          <a:cs typeface="Quicksand" pitchFamily="34" charset="-120"/>
                        </a:rPr>
                        <a:t>Experts must maintain and update facts and rules.</a:t>
                      </a:r>
                      <a:endParaRPr lang="en-US" sz="17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Machine learning: learn a pattern</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Activity 3</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14</a:t>
            </a:r>
            <a:endParaRPr lang="en-US" sz="1350" dirty="0"/>
          </a:p>
        </p:txBody>
      </p:sp>
      <p:sp>
        <p:nvSpPr>
          <p:cNvPr id="7" name="Shape 4"/>
          <p:cNvSpPr/>
          <p:nvPr/>
        </p:nvSpPr>
        <p:spPr>
          <a:xfrm>
            <a:off x="685800" y="1554480"/>
            <a:ext cx="3200400" cy="3611880"/>
          </a:xfrm>
          <a:prstGeom prst="roundRect">
            <a:avLst>
              <a:gd name="adj" fmla="val 4286"/>
            </a:avLst>
          </a:prstGeom>
          <a:solidFill>
            <a:srgbClr val="F6F5FC"/>
          </a:solidFill>
          <a:ln w="12700">
            <a:solidFill>
              <a:srgbClr val="F6F5FC"/>
            </a:solidFill>
            <a:prstDash val="solid"/>
          </a:ln>
        </p:spPr>
      </p:sp>
      <p:sp>
        <p:nvSpPr>
          <p:cNvPr id="8" name="Shape 5"/>
          <p:cNvSpPr/>
          <p:nvPr/>
        </p:nvSpPr>
        <p:spPr>
          <a:xfrm>
            <a:off x="914400" y="1874520"/>
            <a:ext cx="2331720" cy="1143000"/>
          </a:xfrm>
          <a:prstGeom prst="roundRect">
            <a:avLst>
              <a:gd name="adj" fmla="val 12000"/>
            </a:avLst>
          </a:prstGeom>
          <a:solidFill>
            <a:srgbClr val="FFF0D5"/>
          </a:solidFill>
          <a:ln w="12700">
            <a:solidFill>
              <a:srgbClr val="FFF0D5"/>
            </a:solidFill>
            <a:prstDash val="solid"/>
          </a:ln>
        </p:spPr>
      </p:sp>
      <p:pic>
        <p:nvPicPr>
          <p:cNvPr id="9" name="Image 0" descr="mail">    </p:cNvPr>
          <p:cNvPicPr>
            <a:picLocks noChangeAspect="1"/>
          </p:cNvPicPr>
          <p:nvPr/>
        </p:nvPicPr>
        <p:blipFill>
          <a:blip r:embed="rId1"/>
          <a:stretch>
            <a:fillRect/>
          </a:stretch>
        </p:blipFill>
        <p:spPr>
          <a:xfrm>
            <a:off x="996696" y="1965960"/>
            <a:ext cx="594360" cy="594360"/>
          </a:xfrm>
          <a:prstGeom prst="rect">
            <a:avLst/>
          </a:prstGeom>
        </p:spPr>
      </p:pic>
      <p:sp>
        <p:nvSpPr>
          <p:cNvPr id="10" name="Text 6"/>
          <p:cNvSpPr txBox="1"/>
          <p:nvPr/>
        </p:nvSpPr>
        <p:spPr>
          <a:xfrm>
            <a:off x="1719072" y="1984248"/>
            <a:ext cx="1417320" cy="411480"/>
          </a:xfrm>
          <a:prstGeom prst="rect">
            <a:avLst/>
          </a:prstGeom>
          <a:noFill/>
          <a:ln/>
        </p:spPr>
        <p:txBody>
          <a:bodyPr wrap="square" lIns="0" tIns="0" rIns="0" bIns="0" rtlCol="0" anchor="t"/>
          <a:lstStyle/>
          <a:p>
            <a:pPr indent="0" marL="0">
              <a:spcAft>
                <a:spcPts val="600"/>
              </a:spcAft>
              <a:buNone/>
            </a:pPr>
            <a:r>
              <a:rPr lang="en-US" sz="1700" b="1" dirty="0">
                <a:solidFill>
                  <a:srgbClr val="494985"/>
                </a:solidFill>
                <a:latin typeface="Quicksand" pitchFamily="34" charset="0"/>
                <a:ea typeface="Quicksand" pitchFamily="34" charset="-122"/>
                <a:cs typeface="Quicksand" pitchFamily="34" charset="-120"/>
              </a:rPr>
              <a:t>WIN a prize</a:t>
            </a:r>
            <a:endParaRPr lang="en-US" sz="1700" dirty="0"/>
          </a:p>
        </p:txBody>
      </p:sp>
      <p:sp>
        <p:nvSpPr>
          <p:cNvPr id="11" name="Text 7"/>
          <p:cNvSpPr txBox="1"/>
          <p:nvPr/>
        </p:nvSpPr>
        <p:spPr>
          <a:xfrm>
            <a:off x="1051560" y="2651760"/>
            <a:ext cx="2057400" cy="237744"/>
          </a:xfrm>
          <a:prstGeom prst="rect">
            <a:avLst/>
          </a:prstGeom>
          <a:noFill/>
          <a:ln/>
        </p:spPr>
        <p:txBody>
          <a:bodyPr wrap="square" lIns="0" tIns="0" rIns="0" bIns="0" rtlCol="0" anchor="t"/>
          <a:lstStyle/>
          <a:p>
            <a:pPr indent="0" marL="0">
              <a:spcAft>
                <a:spcPts val="600"/>
              </a:spcAft>
              <a:buNone/>
            </a:pPr>
            <a:r>
              <a:rPr lang="en-US" sz="1200" dirty="0">
                <a:solidFill>
                  <a:srgbClr val="494985"/>
                </a:solidFill>
                <a:latin typeface="Quicksand" pitchFamily="34" charset="0"/>
                <a:ea typeface="Quicksand" pitchFamily="34" charset="-122"/>
                <a:cs typeface="Quicksand" pitchFamily="34" charset="-120"/>
              </a:rPr>
              <a:t>Known label: SPAM</a:t>
            </a:r>
            <a:endParaRPr lang="en-US" sz="1200" dirty="0"/>
          </a:p>
        </p:txBody>
      </p:sp>
      <p:sp>
        <p:nvSpPr>
          <p:cNvPr id="12" name="Shape 8"/>
          <p:cNvSpPr/>
          <p:nvPr/>
        </p:nvSpPr>
        <p:spPr>
          <a:xfrm>
            <a:off x="1188720" y="3246120"/>
            <a:ext cx="2331720" cy="1143000"/>
          </a:xfrm>
          <a:prstGeom prst="roundRect">
            <a:avLst>
              <a:gd name="adj" fmla="val 12000"/>
            </a:avLst>
          </a:prstGeom>
          <a:solidFill>
            <a:srgbClr val="E4F1EA"/>
          </a:solidFill>
          <a:ln w="12700">
            <a:solidFill>
              <a:srgbClr val="E4F1EA"/>
            </a:solidFill>
            <a:prstDash val="solid"/>
          </a:ln>
        </p:spPr>
      </p:sp>
      <p:pic>
        <p:nvPicPr>
          <p:cNvPr id="13" name="Image 1" descr="mail">    </p:cNvPr>
          <p:cNvPicPr>
            <a:picLocks noChangeAspect="1"/>
          </p:cNvPicPr>
          <p:nvPr/>
        </p:nvPicPr>
        <p:blipFill>
          <a:blip r:embed="rId2"/>
          <a:stretch>
            <a:fillRect/>
          </a:stretch>
        </p:blipFill>
        <p:spPr>
          <a:xfrm>
            <a:off x="1271016" y="3337560"/>
            <a:ext cx="594360" cy="594360"/>
          </a:xfrm>
          <a:prstGeom prst="rect">
            <a:avLst/>
          </a:prstGeom>
        </p:spPr>
      </p:pic>
      <p:sp>
        <p:nvSpPr>
          <p:cNvPr id="14" name="Text 9"/>
          <p:cNvSpPr txBox="1"/>
          <p:nvPr/>
        </p:nvSpPr>
        <p:spPr>
          <a:xfrm>
            <a:off x="1993392" y="3355848"/>
            <a:ext cx="1417320" cy="411480"/>
          </a:xfrm>
          <a:prstGeom prst="rect">
            <a:avLst/>
          </a:prstGeom>
          <a:noFill/>
          <a:ln/>
        </p:spPr>
        <p:txBody>
          <a:bodyPr wrap="square" lIns="0" tIns="0" rIns="0" bIns="0" rtlCol="0" anchor="t"/>
          <a:lstStyle/>
          <a:p>
            <a:pPr indent="0" marL="0">
              <a:spcAft>
                <a:spcPts val="600"/>
              </a:spcAft>
              <a:buNone/>
            </a:pPr>
            <a:r>
              <a:rPr lang="en-US" sz="1700" b="1" dirty="0">
                <a:solidFill>
                  <a:srgbClr val="494985"/>
                </a:solidFill>
                <a:latin typeface="Quicksand" pitchFamily="34" charset="0"/>
                <a:ea typeface="Quicksand" pitchFamily="34" charset="-122"/>
                <a:cs typeface="Quicksand" pitchFamily="34" charset="-120"/>
              </a:rPr>
              <a:t>Class project</a:t>
            </a:r>
            <a:endParaRPr lang="en-US" sz="1700" dirty="0"/>
          </a:p>
        </p:txBody>
      </p:sp>
      <p:sp>
        <p:nvSpPr>
          <p:cNvPr id="15" name="Text 10"/>
          <p:cNvSpPr txBox="1"/>
          <p:nvPr/>
        </p:nvSpPr>
        <p:spPr>
          <a:xfrm>
            <a:off x="1325880" y="4023360"/>
            <a:ext cx="2057400" cy="237744"/>
          </a:xfrm>
          <a:prstGeom prst="rect">
            <a:avLst/>
          </a:prstGeom>
          <a:noFill/>
          <a:ln/>
        </p:spPr>
        <p:txBody>
          <a:bodyPr wrap="square" lIns="0" tIns="0" rIns="0" bIns="0" rtlCol="0" anchor="t"/>
          <a:lstStyle/>
          <a:p>
            <a:pPr indent="0" marL="0">
              <a:spcAft>
                <a:spcPts val="600"/>
              </a:spcAft>
              <a:buNone/>
            </a:pPr>
            <a:r>
              <a:rPr lang="en-US" sz="1200" dirty="0">
                <a:solidFill>
                  <a:srgbClr val="494985"/>
                </a:solidFill>
                <a:latin typeface="Quicksand" pitchFamily="34" charset="0"/>
                <a:ea typeface="Quicksand" pitchFamily="34" charset="-122"/>
                <a:cs typeface="Quicksand" pitchFamily="34" charset="-120"/>
              </a:rPr>
              <a:t>Known label: LEGITIMATE</a:t>
            </a:r>
            <a:endParaRPr lang="en-US" sz="1200" dirty="0"/>
          </a:p>
        </p:txBody>
      </p:sp>
      <p:sp>
        <p:nvSpPr>
          <p:cNvPr id="16" name="Text 11"/>
          <p:cNvSpPr txBox="1"/>
          <p:nvPr/>
        </p:nvSpPr>
        <p:spPr>
          <a:xfrm>
            <a:off x="822960" y="4553712"/>
            <a:ext cx="2926080" cy="594360"/>
          </a:xfrm>
          <a:prstGeom prst="rect">
            <a:avLst/>
          </a:prstGeom>
          <a:noFill/>
          <a:ln/>
        </p:spPr>
        <p:txBody>
          <a:bodyPr wrap="square" lIns="0" tIns="0" rIns="0" bIns="0" rtlCol="0" anchor="t"/>
          <a:lstStyle/>
          <a:p>
            <a:pPr algn="ctr" indent="0" marL="0">
              <a:spcAft>
                <a:spcPts val="600"/>
              </a:spcAft>
              <a:buNone/>
            </a:pPr>
            <a:r>
              <a:rPr lang="en-US" sz="2000" b="1" dirty="0">
                <a:solidFill>
                  <a:srgbClr val="494985"/>
                </a:solidFill>
                <a:latin typeface="Quicksand" pitchFamily="34" charset="0"/>
                <a:ea typeface="Quicksand" pitchFamily="34" charset="-122"/>
                <a:cs typeface="Quicksand" pitchFamily="34" charset="-120"/>
              </a:rPr>
              <a:t>Labelled examples</a:t>
            </a:r>
            <a:endParaRPr lang="en-US" sz="2000" dirty="0"/>
          </a:p>
        </p:txBody>
      </p:sp>
      <p:sp>
        <p:nvSpPr>
          <p:cNvPr id="17" name="Shape 12"/>
          <p:cNvSpPr/>
          <p:nvPr/>
        </p:nvSpPr>
        <p:spPr>
          <a:xfrm>
            <a:off x="4480560" y="1554480"/>
            <a:ext cx="3108960" cy="3611880"/>
          </a:xfrm>
          <a:prstGeom prst="roundRect">
            <a:avLst>
              <a:gd name="adj" fmla="val 4412"/>
            </a:avLst>
          </a:prstGeom>
          <a:solidFill>
            <a:srgbClr val="E9E8F5"/>
          </a:solidFill>
          <a:ln w="12700">
            <a:solidFill>
              <a:srgbClr val="E9E8F5"/>
            </a:solidFill>
            <a:prstDash val="solid"/>
          </a:ln>
        </p:spPr>
      </p:sp>
      <p:pic>
        <p:nvPicPr>
          <p:cNvPr id="18" name="Image 2" descr="brain circuit">    </p:cNvPr>
          <p:cNvPicPr>
            <a:picLocks noChangeAspect="1"/>
          </p:cNvPicPr>
          <p:nvPr/>
        </p:nvPicPr>
        <p:blipFill>
          <a:blip r:embed="rId3"/>
          <a:stretch>
            <a:fillRect/>
          </a:stretch>
        </p:blipFill>
        <p:spPr>
          <a:xfrm>
            <a:off x="5440680" y="2011680"/>
            <a:ext cx="1188720" cy="1188720"/>
          </a:xfrm>
          <a:prstGeom prst="rect">
            <a:avLst/>
          </a:prstGeom>
        </p:spPr>
      </p:pic>
      <p:sp>
        <p:nvSpPr>
          <p:cNvPr id="19" name="Text 13"/>
          <p:cNvSpPr txBox="1"/>
          <p:nvPr/>
        </p:nvSpPr>
        <p:spPr>
          <a:xfrm>
            <a:off x="4572000" y="3520440"/>
            <a:ext cx="2926080" cy="594360"/>
          </a:xfrm>
          <a:prstGeom prst="rect">
            <a:avLst/>
          </a:prstGeom>
          <a:noFill/>
          <a:ln/>
        </p:spPr>
        <p:txBody>
          <a:bodyPr wrap="square" lIns="0" tIns="0" rIns="0" bIns="0" rtlCol="0" anchor="t"/>
          <a:lstStyle/>
          <a:p>
            <a:pPr algn="ctr" indent="0" marL="0">
              <a:spcAft>
                <a:spcPts val="600"/>
              </a:spcAft>
              <a:buNone/>
            </a:pPr>
            <a:r>
              <a:rPr lang="en-US" sz="2200" b="1" dirty="0">
                <a:solidFill>
                  <a:srgbClr val="494985"/>
                </a:solidFill>
                <a:latin typeface="Quicksand" pitchFamily="34" charset="0"/>
                <a:ea typeface="Quicksand" pitchFamily="34" charset="-122"/>
                <a:cs typeface="Quicksand" pitchFamily="34" charset="-120"/>
              </a:rPr>
              <a:t>Train a model</a:t>
            </a:r>
            <a:endParaRPr lang="en-US" sz="2200" dirty="0"/>
          </a:p>
        </p:txBody>
      </p:sp>
      <p:sp>
        <p:nvSpPr>
          <p:cNvPr id="20" name="Text 14"/>
          <p:cNvSpPr txBox="1"/>
          <p:nvPr/>
        </p:nvSpPr>
        <p:spPr>
          <a:xfrm>
            <a:off x="4709160" y="4206240"/>
            <a:ext cx="2651760" cy="822960"/>
          </a:xfrm>
          <a:prstGeom prst="rect">
            <a:avLst/>
          </a:prstGeom>
          <a:noFill/>
          <a:ln/>
        </p:spPr>
        <p:txBody>
          <a:bodyPr wrap="square" lIns="0" tIns="0" rIns="0" bIns="0" rtlCol="0" anchor="t"/>
          <a:lstStyle/>
          <a:p>
            <a:pPr algn="ctr" indent="0" marL="0">
              <a:spcAft>
                <a:spcPts val="600"/>
              </a:spcAft>
              <a:buNone/>
            </a:pPr>
            <a:r>
              <a:rPr lang="en-US" sz="1800" dirty="0">
                <a:solidFill>
                  <a:srgbClr val="202124"/>
                </a:solidFill>
                <a:latin typeface="Quicksand" pitchFamily="34" charset="0"/>
                <a:ea typeface="Quicksand" pitchFamily="34" charset="-122"/>
                <a:cs typeface="Quicksand" pitchFamily="34" charset="-120"/>
              </a:rPr>
              <a:t>Learn patterns</a:t>
            </a:r>
            <a:endParaRPr lang="en-US" sz="1800" dirty="0"/>
          </a:p>
          <a:p>
            <a:pPr algn="ctr" indent="0" marL="0">
              <a:spcAft>
                <a:spcPts val="600"/>
              </a:spcAft>
              <a:buNone/>
            </a:pPr>
            <a:r>
              <a:rPr lang="en-US" sz="1800" dirty="0">
                <a:solidFill>
                  <a:srgbClr val="202124"/>
                </a:solidFill>
                <a:latin typeface="Quicksand" pitchFamily="34" charset="0"/>
                <a:ea typeface="Quicksand" pitchFamily="34" charset="-122"/>
                <a:cs typeface="Quicksand" pitchFamily="34" charset="-120"/>
              </a:rPr>
              <a:t>across examples.</a:t>
            </a:r>
            <a:endParaRPr lang="en-US" sz="1800" dirty="0"/>
          </a:p>
        </p:txBody>
      </p:sp>
      <p:sp>
        <p:nvSpPr>
          <p:cNvPr id="21" name="Shape 15"/>
          <p:cNvSpPr/>
          <p:nvPr/>
        </p:nvSpPr>
        <p:spPr>
          <a:xfrm>
            <a:off x="8229600" y="1554480"/>
            <a:ext cx="3200400" cy="3611880"/>
          </a:xfrm>
          <a:prstGeom prst="roundRect">
            <a:avLst>
              <a:gd name="adj" fmla="val 4286"/>
            </a:avLst>
          </a:prstGeom>
          <a:solidFill>
            <a:srgbClr val="F6F5FC"/>
          </a:solidFill>
          <a:ln w="12700">
            <a:solidFill>
              <a:srgbClr val="F6F5FC"/>
            </a:solidFill>
            <a:prstDash val="solid"/>
          </a:ln>
        </p:spPr>
      </p:sp>
      <p:pic>
        <p:nvPicPr>
          <p:cNvPr id="22" name="Image 3" descr="mail">    </p:cNvPr>
          <p:cNvPicPr>
            <a:picLocks noChangeAspect="1"/>
          </p:cNvPicPr>
          <p:nvPr/>
        </p:nvPicPr>
        <p:blipFill>
          <a:blip r:embed="rId4"/>
          <a:stretch>
            <a:fillRect/>
          </a:stretch>
        </p:blipFill>
        <p:spPr>
          <a:xfrm>
            <a:off x="9235440" y="1874520"/>
            <a:ext cx="1051560" cy="1051560"/>
          </a:xfrm>
          <a:prstGeom prst="rect">
            <a:avLst/>
          </a:prstGeom>
        </p:spPr>
      </p:pic>
      <p:sp>
        <p:nvSpPr>
          <p:cNvPr id="23" name="Text 16"/>
          <p:cNvSpPr txBox="1"/>
          <p:nvPr/>
        </p:nvSpPr>
        <p:spPr>
          <a:xfrm>
            <a:off x="8366760" y="3337560"/>
            <a:ext cx="2926080" cy="594360"/>
          </a:xfrm>
          <a:prstGeom prst="rect">
            <a:avLst/>
          </a:prstGeom>
          <a:noFill/>
          <a:ln/>
        </p:spPr>
        <p:txBody>
          <a:bodyPr wrap="square" lIns="0" tIns="0" rIns="0" bIns="0" rtlCol="0" anchor="t"/>
          <a:lstStyle/>
          <a:p>
            <a:pPr algn="ctr" indent="0" marL="0">
              <a:spcAft>
                <a:spcPts val="600"/>
              </a:spcAft>
              <a:buNone/>
            </a:pPr>
            <a:r>
              <a:rPr lang="en-US" sz="2200" b="1" dirty="0">
                <a:solidFill>
                  <a:srgbClr val="494985"/>
                </a:solidFill>
                <a:latin typeface="Quicksand" pitchFamily="34" charset="0"/>
                <a:ea typeface="Quicksand" pitchFamily="34" charset="-122"/>
                <a:cs typeface="Quicksand" pitchFamily="34" charset="-120"/>
              </a:rPr>
              <a:t>Unseen email</a:t>
            </a:r>
            <a:endParaRPr lang="en-US" sz="2200" dirty="0"/>
          </a:p>
        </p:txBody>
      </p:sp>
      <p:sp>
        <p:nvSpPr>
          <p:cNvPr id="24" name="Shape 17"/>
          <p:cNvSpPr/>
          <p:nvPr/>
        </p:nvSpPr>
        <p:spPr>
          <a:xfrm>
            <a:off x="8549640" y="4251960"/>
            <a:ext cx="2560320" cy="365760"/>
          </a:xfrm>
          <a:prstGeom prst="roundRect">
            <a:avLst>
              <a:gd name="adj" fmla="val 37500"/>
            </a:avLst>
          </a:prstGeom>
          <a:solidFill>
            <a:srgbClr val="494985"/>
          </a:solidFill>
          <a:ln w="12700">
            <a:solidFill>
              <a:srgbClr val="494985"/>
            </a:solidFill>
            <a:prstDash val="solid"/>
          </a:ln>
        </p:spPr>
      </p:sp>
      <p:sp>
        <p:nvSpPr>
          <p:cNvPr id="25" name="Text 18"/>
          <p:cNvSpPr txBox="1"/>
          <p:nvPr/>
        </p:nvSpPr>
        <p:spPr>
          <a:xfrm>
            <a:off x="8622792" y="4306824"/>
            <a:ext cx="2414016" cy="256032"/>
          </a:xfrm>
          <a:prstGeom prst="rect">
            <a:avLst/>
          </a:prstGeom>
          <a:noFill/>
          <a:ln/>
        </p:spPr>
        <p:txBody>
          <a:bodyPr wrap="square" lIns="0" tIns="0" rIns="0" bIns="0" rtlCol="0" anchor="t"/>
          <a:lstStyle/>
          <a:p>
            <a:pPr algn="ctr" indent="0" marL="0">
              <a:spcAft>
                <a:spcPts val="600"/>
              </a:spcAft>
              <a:buNone/>
            </a:pPr>
            <a:r>
              <a:rPr lang="en-US" sz="1300" b="1" dirty="0">
                <a:solidFill>
                  <a:srgbClr val="FFFFFF"/>
                </a:solidFill>
                <a:latin typeface="Quicksand" pitchFamily="34" charset="0"/>
                <a:ea typeface="Quicksand" pitchFamily="34" charset="-122"/>
                <a:cs typeface="Quicksand" pitchFamily="34" charset="-120"/>
              </a:rPr>
              <a:t>PREDICT A CLASS</a:t>
            </a:r>
            <a:endParaRPr lang="en-US" sz="1300" dirty="0"/>
          </a:p>
        </p:txBody>
      </p:sp>
      <p:sp>
        <p:nvSpPr>
          <p:cNvPr id="26" name="Shape 19"/>
          <p:cNvSpPr/>
          <p:nvPr/>
        </p:nvSpPr>
        <p:spPr>
          <a:xfrm>
            <a:off x="3931920" y="3108960"/>
            <a:ext cx="457200" cy="914"/>
          </a:xfrm>
          <a:prstGeom prst="line">
            <a:avLst/>
          </a:prstGeom>
          <a:noFill/>
          <a:ln w="25400">
            <a:solidFill>
              <a:srgbClr val="494985"/>
            </a:solidFill>
            <a:prstDash val="solid"/>
            <a:tailEnd type="triangle"/>
          </a:ln>
        </p:spPr>
      </p:sp>
      <p:sp>
        <p:nvSpPr>
          <p:cNvPr id="27" name="Shape 20"/>
          <p:cNvSpPr/>
          <p:nvPr/>
        </p:nvSpPr>
        <p:spPr>
          <a:xfrm>
            <a:off x="7635240" y="3108960"/>
            <a:ext cx="502920" cy="914"/>
          </a:xfrm>
          <a:prstGeom prst="line">
            <a:avLst/>
          </a:prstGeom>
          <a:noFill/>
          <a:ln w="25400">
            <a:solidFill>
              <a:srgbClr val="494985"/>
            </a:solidFill>
            <a:prstDash val="solid"/>
            <a:tailEnd type="triangle"/>
          </a:ln>
        </p:spPr>
      </p:sp>
      <p:sp>
        <p:nvSpPr>
          <p:cNvPr id="28" name="Text 21"/>
          <p:cNvSpPr txBox="1"/>
          <p:nvPr/>
        </p:nvSpPr>
        <p:spPr>
          <a:xfrm>
            <a:off x="685800" y="5623560"/>
            <a:ext cx="10698480" cy="438912"/>
          </a:xfrm>
          <a:prstGeom prst="rect">
            <a:avLst/>
          </a:prstGeom>
          <a:noFill/>
          <a:ln/>
        </p:spPr>
        <p:txBody>
          <a:bodyPr wrap="square" lIns="0" tIns="0" rIns="0" bIns="0" rtlCol="0" anchor="t"/>
          <a:lstStyle/>
          <a:p>
            <a:pPr indent="0" marL="0">
              <a:buNone/>
            </a:pPr>
            <a:r>
              <a:rPr lang="en-US" sz="1500" b="1" dirty="0">
                <a:solidFill>
                  <a:srgbClr val="494985"/>
                </a:solidFill>
                <a:latin typeface="Quicksand" pitchFamily="34" charset="0"/>
                <a:ea typeface="Quicksand" pitchFamily="34" charset="-122"/>
                <a:cs typeface="Quicksand" pitchFamily="34" charset="-120"/>
              </a:rPr>
              <a:t>Training learns the model. Prediction uses it. Labelled examples are one learning approach.</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Training is not the final test</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Activity 3</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15</a:t>
            </a:r>
            <a:endParaRPr lang="en-US" sz="1350" dirty="0"/>
          </a:p>
        </p:txBody>
      </p:sp>
      <p:sp>
        <p:nvSpPr>
          <p:cNvPr id="7" name="Shape 4"/>
          <p:cNvSpPr/>
          <p:nvPr/>
        </p:nvSpPr>
        <p:spPr>
          <a:xfrm>
            <a:off x="685800" y="1554480"/>
            <a:ext cx="3977640" cy="3520440"/>
          </a:xfrm>
          <a:prstGeom prst="roundRect">
            <a:avLst>
              <a:gd name="adj" fmla="val 3896"/>
            </a:avLst>
          </a:prstGeom>
          <a:solidFill>
            <a:srgbClr val="E4F1EA"/>
          </a:solidFill>
          <a:ln w="12700">
            <a:solidFill>
              <a:srgbClr val="E4F1EA"/>
            </a:solidFill>
            <a:prstDash val="solid"/>
          </a:ln>
        </p:spPr>
      </p:sp>
      <p:sp>
        <p:nvSpPr>
          <p:cNvPr id="8" name="Text 5"/>
          <p:cNvSpPr txBox="1"/>
          <p:nvPr/>
        </p:nvSpPr>
        <p:spPr>
          <a:xfrm>
            <a:off x="822960" y="1783080"/>
            <a:ext cx="3703320" cy="594360"/>
          </a:xfrm>
          <a:prstGeom prst="rect">
            <a:avLst/>
          </a:prstGeom>
          <a:noFill/>
          <a:ln/>
        </p:spPr>
        <p:txBody>
          <a:bodyPr wrap="square" lIns="0" tIns="0" rIns="0" bIns="0" rtlCol="0" anchor="t"/>
          <a:lstStyle/>
          <a:p>
            <a:pPr algn="ctr" indent="0" marL="0">
              <a:spcAft>
                <a:spcPts val="600"/>
              </a:spcAft>
              <a:buNone/>
            </a:pPr>
            <a:r>
              <a:rPr lang="en-US" sz="2300" b="1" dirty="0">
                <a:solidFill>
                  <a:srgbClr val="494985"/>
                </a:solidFill>
                <a:latin typeface="Quicksand" pitchFamily="34" charset="0"/>
                <a:ea typeface="Quicksand" pitchFamily="34" charset="-122"/>
                <a:cs typeface="Quicksand" pitchFamily="34" charset="-120"/>
              </a:rPr>
              <a:t>TRAINING examples</a:t>
            </a:r>
            <a:endParaRPr lang="en-US" sz="2300" dirty="0"/>
          </a:p>
        </p:txBody>
      </p:sp>
      <p:sp>
        <p:nvSpPr>
          <p:cNvPr id="9" name="Shape 6"/>
          <p:cNvSpPr/>
          <p:nvPr/>
        </p:nvSpPr>
        <p:spPr>
          <a:xfrm>
            <a:off x="960120" y="2606040"/>
            <a:ext cx="1170432" cy="667512"/>
          </a:xfrm>
          <a:prstGeom prst="roundRect">
            <a:avLst>
              <a:gd name="adj" fmla="val 20548"/>
            </a:avLst>
          </a:prstGeom>
          <a:solidFill>
            <a:srgbClr val="E4F1EA"/>
          </a:solidFill>
          <a:ln w="12700">
            <a:solidFill>
              <a:srgbClr val="E4F1EA"/>
            </a:solidFill>
            <a:prstDash val="solid"/>
          </a:ln>
        </p:spPr>
      </p:sp>
      <p:pic>
        <p:nvPicPr>
          <p:cNvPr id="10" name="Image 0" descr="mail">    </p:cNvPr>
          <p:cNvPicPr>
            <a:picLocks noChangeAspect="1"/>
          </p:cNvPicPr>
          <p:nvPr/>
        </p:nvPicPr>
        <p:blipFill>
          <a:blip r:embed="rId1"/>
          <a:stretch>
            <a:fillRect/>
          </a:stretch>
        </p:blipFill>
        <p:spPr>
          <a:xfrm>
            <a:off x="1042416" y="2697480"/>
            <a:ext cx="384048" cy="384048"/>
          </a:xfrm>
          <a:prstGeom prst="rect">
            <a:avLst/>
          </a:prstGeom>
        </p:spPr>
      </p:pic>
      <p:sp>
        <p:nvSpPr>
          <p:cNvPr id="11" name="Text 7"/>
          <p:cNvSpPr txBox="1"/>
          <p:nvPr/>
        </p:nvSpPr>
        <p:spPr>
          <a:xfrm>
            <a:off x="1481328" y="2715768"/>
            <a:ext cx="594360" cy="228600"/>
          </a:xfrm>
          <a:prstGeom prst="rect">
            <a:avLst/>
          </a:prstGeom>
          <a:noFill/>
          <a:ln/>
        </p:spPr>
        <p:txBody>
          <a:bodyPr wrap="square" lIns="0" tIns="0" rIns="0" bIns="0" rtlCol="0" anchor="t"/>
          <a:lstStyle/>
          <a:p>
            <a:pPr indent="0" marL="0">
              <a:spcAft>
                <a:spcPts val="600"/>
              </a:spcAft>
              <a:buNone/>
            </a:pPr>
            <a:r>
              <a:rPr lang="en-US" sz="1100" b="1" dirty="0">
                <a:solidFill>
                  <a:srgbClr val="494985"/>
                </a:solidFill>
                <a:latin typeface="Quicksand" pitchFamily="34" charset="0"/>
                <a:ea typeface="Quicksand" pitchFamily="34" charset="-122"/>
                <a:cs typeface="Quicksand" pitchFamily="34" charset="-120"/>
              </a:rPr>
              <a:t>LEGIT</a:t>
            </a:r>
            <a:endParaRPr lang="en-US" sz="1100" dirty="0"/>
          </a:p>
        </p:txBody>
      </p:sp>
      <p:sp>
        <p:nvSpPr>
          <p:cNvPr id="12" name="Text 8"/>
          <p:cNvSpPr txBox="1"/>
          <p:nvPr/>
        </p:nvSpPr>
        <p:spPr>
          <a:xfrm>
            <a:off x="1481328" y="3008376"/>
            <a:ext cx="594360" cy="237744"/>
          </a:xfrm>
          <a:prstGeom prst="rect">
            <a:avLst/>
          </a:prstGeom>
          <a:noFill/>
          <a:ln/>
        </p:spPr>
        <p:txBody>
          <a:bodyPr wrap="square" lIns="0" tIns="0" rIns="0" bIns="0" rtlCol="0" anchor="t"/>
          <a:lstStyle/>
          <a:p>
            <a:pPr indent="0" marL="0">
              <a:spcAft>
                <a:spcPts val="600"/>
              </a:spcAft>
              <a:buNone/>
            </a:pPr>
            <a:r>
              <a:rPr lang="en-US" sz="900" dirty="0">
                <a:solidFill>
                  <a:srgbClr val="494985"/>
                </a:solidFill>
                <a:latin typeface="Quicksand" pitchFamily="34" charset="0"/>
                <a:ea typeface="Quicksand" pitchFamily="34" charset="-122"/>
                <a:cs typeface="Quicksand" pitchFamily="34" charset="-120"/>
              </a:rPr>
              <a:t>Email 1</a:t>
            </a:r>
            <a:endParaRPr lang="en-US" sz="900" dirty="0"/>
          </a:p>
        </p:txBody>
      </p:sp>
      <p:sp>
        <p:nvSpPr>
          <p:cNvPr id="13" name="Shape 9"/>
          <p:cNvSpPr/>
          <p:nvPr/>
        </p:nvSpPr>
        <p:spPr>
          <a:xfrm>
            <a:off x="2139696" y="2606040"/>
            <a:ext cx="1170432" cy="667512"/>
          </a:xfrm>
          <a:prstGeom prst="roundRect">
            <a:avLst>
              <a:gd name="adj" fmla="val 20548"/>
            </a:avLst>
          </a:prstGeom>
          <a:solidFill>
            <a:srgbClr val="FFF0D5"/>
          </a:solidFill>
          <a:ln w="12700">
            <a:solidFill>
              <a:srgbClr val="FFF0D5"/>
            </a:solidFill>
            <a:prstDash val="solid"/>
          </a:ln>
        </p:spPr>
      </p:sp>
      <p:pic>
        <p:nvPicPr>
          <p:cNvPr id="14" name="Image 1" descr="mail">    </p:cNvPr>
          <p:cNvPicPr>
            <a:picLocks noChangeAspect="1"/>
          </p:cNvPicPr>
          <p:nvPr/>
        </p:nvPicPr>
        <p:blipFill>
          <a:blip r:embed="rId2"/>
          <a:stretch>
            <a:fillRect/>
          </a:stretch>
        </p:blipFill>
        <p:spPr>
          <a:xfrm>
            <a:off x="2221992" y="2697480"/>
            <a:ext cx="384048" cy="384048"/>
          </a:xfrm>
          <a:prstGeom prst="rect">
            <a:avLst/>
          </a:prstGeom>
        </p:spPr>
      </p:pic>
      <p:sp>
        <p:nvSpPr>
          <p:cNvPr id="15" name="Text 10"/>
          <p:cNvSpPr txBox="1"/>
          <p:nvPr/>
        </p:nvSpPr>
        <p:spPr>
          <a:xfrm>
            <a:off x="2660904" y="2715768"/>
            <a:ext cx="594360" cy="228600"/>
          </a:xfrm>
          <a:prstGeom prst="rect">
            <a:avLst/>
          </a:prstGeom>
          <a:noFill/>
          <a:ln/>
        </p:spPr>
        <p:txBody>
          <a:bodyPr wrap="square" lIns="0" tIns="0" rIns="0" bIns="0" rtlCol="0" anchor="t"/>
          <a:lstStyle/>
          <a:p>
            <a:pPr indent="0" marL="0">
              <a:spcAft>
                <a:spcPts val="600"/>
              </a:spcAft>
              <a:buNone/>
            </a:pPr>
            <a:r>
              <a:rPr lang="en-US" sz="1100" b="1" dirty="0">
                <a:solidFill>
                  <a:srgbClr val="494985"/>
                </a:solidFill>
                <a:latin typeface="Quicksand" pitchFamily="34" charset="0"/>
                <a:ea typeface="Quicksand" pitchFamily="34" charset="-122"/>
                <a:cs typeface="Quicksand" pitchFamily="34" charset="-120"/>
              </a:rPr>
              <a:t>SPAM</a:t>
            </a:r>
            <a:endParaRPr lang="en-US" sz="1100" dirty="0"/>
          </a:p>
        </p:txBody>
      </p:sp>
      <p:sp>
        <p:nvSpPr>
          <p:cNvPr id="16" name="Text 11"/>
          <p:cNvSpPr txBox="1"/>
          <p:nvPr/>
        </p:nvSpPr>
        <p:spPr>
          <a:xfrm>
            <a:off x="2660904" y="3008376"/>
            <a:ext cx="594360" cy="237744"/>
          </a:xfrm>
          <a:prstGeom prst="rect">
            <a:avLst/>
          </a:prstGeom>
          <a:noFill/>
          <a:ln/>
        </p:spPr>
        <p:txBody>
          <a:bodyPr wrap="square" lIns="0" tIns="0" rIns="0" bIns="0" rtlCol="0" anchor="t"/>
          <a:lstStyle/>
          <a:p>
            <a:pPr indent="0" marL="0">
              <a:spcAft>
                <a:spcPts val="600"/>
              </a:spcAft>
              <a:buNone/>
            </a:pPr>
            <a:r>
              <a:rPr lang="en-US" sz="900" dirty="0">
                <a:solidFill>
                  <a:srgbClr val="494985"/>
                </a:solidFill>
                <a:latin typeface="Quicksand" pitchFamily="34" charset="0"/>
                <a:ea typeface="Quicksand" pitchFamily="34" charset="-122"/>
                <a:cs typeface="Quicksand" pitchFamily="34" charset="-120"/>
              </a:rPr>
              <a:t>Email 2</a:t>
            </a:r>
            <a:endParaRPr lang="en-US" sz="900" dirty="0"/>
          </a:p>
        </p:txBody>
      </p:sp>
      <p:sp>
        <p:nvSpPr>
          <p:cNvPr id="17" name="Shape 12"/>
          <p:cNvSpPr/>
          <p:nvPr/>
        </p:nvSpPr>
        <p:spPr>
          <a:xfrm>
            <a:off x="3319272" y="2606040"/>
            <a:ext cx="1170432" cy="667512"/>
          </a:xfrm>
          <a:prstGeom prst="roundRect">
            <a:avLst>
              <a:gd name="adj" fmla="val 20548"/>
            </a:avLst>
          </a:prstGeom>
          <a:solidFill>
            <a:srgbClr val="E4F1EA"/>
          </a:solidFill>
          <a:ln w="12700">
            <a:solidFill>
              <a:srgbClr val="E4F1EA"/>
            </a:solidFill>
            <a:prstDash val="solid"/>
          </a:ln>
        </p:spPr>
      </p:sp>
      <p:pic>
        <p:nvPicPr>
          <p:cNvPr id="18" name="Image 2" descr="mail">    </p:cNvPr>
          <p:cNvPicPr>
            <a:picLocks noChangeAspect="1"/>
          </p:cNvPicPr>
          <p:nvPr/>
        </p:nvPicPr>
        <p:blipFill>
          <a:blip r:embed="rId3"/>
          <a:stretch>
            <a:fillRect/>
          </a:stretch>
        </p:blipFill>
        <p:spPr>
          <a:xfrm>
            <a:off x="3401568" y="2697480"/>
            <a:ext cx="384048" cy="384048"/>
          </a:xfrm>
          <a:prstGeom prst="rect">
            <a:avLst/>
          </a:prstGeom>
        </p:spPr>
      </p:pic>
      <p:sp>
        <p:nvSpPr>
          <p:cNvPr id="19" name="Text 13"/>
          <p:cNvSpPr txBox="1"/>
          <p:nvPr/>
        </p:nvSpPr>
        <p:spPr>
          <a:xfrm>
            <a:off x="3840480" y="2715768"/>
            <a:ext cx="594360" cy="228600"/>
          </a:xfrm>
          <a:prstGeom prst="rect">
            <a:avLst/>
          </a:prstGeom>
          <a:noFill/>
          <a:ln/>
        </p:spPr>
        <p:txBody>
          <a:bodyPr wrap="square" lIns="0" tIns="0" rIns="0" bIns="0" rtlCol="0" anchor="t"/>
          <a:lstStyle/>
          <a:p>
            <a:pPr indent="0" marL="0">
              <a:spcAft>
                <a:spcPts val="600"/>
              </a:spcAft>
              <a:buNone/>
            </a:pPr>
            <a:r>
              <a:rPr lang="en-US" sz="1100" b="1" dirty="0">
                <a:solidFill>
                  <a:srgbClr val="494985"/>
                </a:solidFill>
                <a:latin typeface="Quicksand" pitchFamily="34" charset="0"/>
                <a:ea typeface="Quicksand" pitchFamily="34" charset="-122"/>
                <a:cs typeface="Quicksand" pitchFamily="34" charset="-120"/>
              </a:rPr>
              <a:t>LEGIT</a:t>
            </a:r>
            <a:endParaRPr lang="en-US" sz="1100" dirty="0"/>
          </a:p>
        </p:txBody>
      </p:sp>
      <p:sp>
        <p:nvSpPr>
          <p:cNvPr id="20" name="Text 14"/>
          <p:cNvSpPr txBox="1"/>
          <p:nvPr/>
        </p:nvSpPr>
        <p:spPr>
          <a:xfrm>
            <a:off x="3840480" y="3008376"/>
            <a:ext cx="594360" cy="237744"/>
          </a:xfrm>
          <a:prstGeom prst="rect">
            <a:avLst/>
          </a:prstGeom>
          <a:noFill/>
          <a:ln/>
        </p:spPr>
        <p:txBody>
          <a:bodyPr wrap="square" lIns="0" tIns="0" rIns="0" bIns="0" rtlCol="0" anchor="t"/>
          <a:lstStyle/>
          <a:p>
            <a:pPr indent="0" marL="0">
              <a:spcAft>
                <a:spcPts val="600"/>
              </a:spcAft>
              <a:buNone/>
            </a:pPr>
            <a:r>
              <a:rPr lang="en-US" sz="900" dirty="0">
                <a:solidFill>
                  <a:srgbClr val="494985"/>
                </a:solidFill>
                <a:latin typeface="Quicksand" pitchFamily="34" charset="0"/>
                <a:ea typeface="Quicksand" pitchFamily="34" charset="-122"/>
                <a:cs typeface="Quicksand" pitchFamily="34" charset="-120"/>
              </a:rPr>
              <a:t>Email 3</a:t>
            </a:r>
            <a:endParaRPr lang="en-US" sz="900" dirty="0"/>
          </a:p>
        </p:txBody>
      </p:sp>
      <p:sp>
        <p:nvSpPr>
          <p:cNvPr id="21" name="Shape 15"/>
          <p:cNvSpPr/>
          <p:nvPr/>
        </p:nvSpPr>
        <p:spPr>
          <a:xfrm>
            <a:off x="960120" y="3429000"/>
            <a:ext cx="1170432" cy="667512"/>
          </a:xfrm>
          <a:prstGeom prst="roundRect">
            <a:avLst>
              <a:gd name="adj" fmla="val 20548"/>
            </a:avLst>
          </a:prstGeom>
          <a:solidFill>
            <a:srgbClr val="FFF0D5"/>
          </a:solidFill>
          <a:ln w="12700">
            <a:solidFill>
              <a:srgbClr val="FFF0D5"/>
            </a:solidFill>
            <a:prstDash val="solid"/>
          </a:ln>
        </p:spPr>
      </p:sp>
      <p:pic>
        <p:nvPicPr>
          <p:cNvPr id="22" name="Image 3" descr="mail">    </p:cNvPr>
          <p:cNvPicPr>
            <a:picLocks noChangeAspect="1"/>
          </p:cNvPicPr>
          <p:nvPr/>
        </p:nvPicPr>
        <p:blipFill>
          <a:blip r:embed="rId4"/>
          <a:stretch>
            <a:fillRect/>
          </a:stretch>
        </p:blipFill>
        <p:spPr>
          <a:xfrm>
            <a:off x="1042416" y="3520440"/>
            <a:ext cx="384048" cy="384048"/>
          </a:xfrm>
          <a:prstGeom prst="rect">
            <a:avLst/>
          </a:prstGeom>
        </p:spPr>
      </p:pic>
      <p:sp>
        <p:nvSpPr>
          <p:cNvPr id="23" name="Text 16"/>
          <p:cNvSpPr txBox="1"/>
          <p:nvPr/>
        </p:nvSpPr>
        <p:spPr>
          <a:xfrm>
            <a:off x="1481328" y="3538728"/>
            <a:ext cx="594360" cy="228600"/>
          </a:xfrm>
          <a:prstGeom prst="rect">
            <a:avLst/>
          </a:prstGeom>
          <a:noFill/>
          <a:ln/>
        </p:spPr>
        <p:txBody>
          <a:bodyPr wrap="square" lIns="0" tIns="0" rIns="0" bIns="0" rtlCol="0" anchor="t"/>
          <a:lstStyle/>
          <a:p>
            <a:pPr indent="0" marL="0">
              <a:spcAft>
                <a:spcPts val="600"/>
              </a:spcAft>
              <a:buNone/>
            </a:pPr>
            <a:r>
              <a:rPr lang="en-US" sz="1100" b="1" dirty="0">
                <a:solidFill>
                  <a:srgbClr val="494985"/>
                </a:solidFill>
                <a:latin typeface="Quicksand" pitchFamily="34" charset="0"/>
                <a:ea typeface="Quicksand" pitchFamily="34" charset="-122"/>
                <a:cs typeface="Quicksand" pitchFamily="34" charset="-120"/>
              </a:rPr>
              <a:t>SPAM</a:t>
            </a:r>
            <a:endParaRPr lang="en-US" sz="1100" dirty="0"/>
          </a:p>
        </p:txBody>
      </p:sp>
      <p:sp>
        <p:nvSpPr>
          <p:cNvPr id="24" name="Text 17"/>
          <p:cNvSpPr txBox="1"/>
          <p:nvPr/>
        </p:nvSpPr>
        <p:spPr>
          <a:xfrm>
            <a:off x="1481328" y="3831336"/>
            <a:ext cx="594360" cy="237744"/>
          </a:xfrm>
          <a:prstGeom prst="rect">
            <a:avLst/>
          </a:prstGeom>
          <a:noFill/>
          <a:ln/>
        </p:spPr>
        <p:txBody>
          <a:bodyPr wrap="square" lIns="0" tIns="0" rIns="0" bIns="0" rtlCol="0" anchor="t"/>
          <a:lstStyle/>
          <a:p>
            <a:pPr indent="0" marL="0">
              <a:spcAft>
                <a:spcPts val="600"/>
              </a:spcAft>
              <a:buNone/>
            </a:pPr>
            <a:r>
              <a:rPr lang="en-US" sz="900" dirty="0">
                <a:solidFill>
                  <a:srgbClr val="494985"/>
                </a:solidFill>
                <a:latin typeface="Quicksand" pitchFamily="34" charset="0"/>
                <a:ea typeface="Quicksand" pitchFamily="34" charset="-122"/>
                <a:cs typeface="Quicksand" pitchFamily="34" charset="-120"/>
              </a:rPr>
              <a:t>Email 4</a:t>
            </a:r>
            <a:endParaRPr lang="en-US" sz="900" dirty="0"/>
          </a:p>
        </p:txBody>
      </p:sp>
      <p:sp>
        <p:nvSpPr>
          <p:cNvPr id="25" name="Shape 18"/>
          <p:cNvSpPr/>
          <p:nvPr/>
        </p:nvSpPr>
        <p:spPr>
          <a:xfrm>
            <a:off x="2139696" y="3429000"/>
            <a:ext cx="1170432" cy="667512"/>
          </a:xfrm>
          <a:prstGeom prst="roundRect">
            <a:avLst>
              <a:gd name="adj" fmla="val 20548"/>
            </a:avLst>
          </a:prstGeom>
          <a:solidFill>
            <a:srgbClr val="E4F1EA"/>
          </a:solidFill>
          <a:ln w="12700">
            <a:solidFill>
              <a:srgbClr val="E4F1EA"/>
            </a:solidFill>
            <a:prstDash val="solid"/>
          </a:ln>
        </p:spPr>
      </p:sp>
      <p:pic>
        <p:nvPicPr>
          <p:cNvPr id="26" name="Image 4" descr="mail">    </p:cNvPr>
          <p:cNvPicPr>
            <a:picLocks noChangeAspect="1"/>
          </p:cNvPicPr>
          <p:nvPr/>
        </p:nvPicPr>
        <p:blipFill>
          <a:blip r:embed="rId5"/>
          <a:stretch>
            <a:fillRect/>
          </a:stretch>
        </p:blipFill>
        <p:spPr>
          <a:xfrm>
            <a:off x="2221992" y="3520440"/>
            <a:ext cx="384048" cy="384048"/>
          </a:xfrm>
          <a:prstGeom prst="rect">
            <a:avLst/>
          </a:prstGeom>
        </p:spPr>
      </p:pic>
      <p:sp>
        <p:nvSpPr>
          <p:cNvPr id="27" name="Text 19"/>
          <p:cNvSpPr txBox="1"/>
          <p:nvPr/>
        </p:nvSpPr>
        <p:spPr>
          <a:xfrm>
            <a:off x="2660904" y="3538728"/>
            <a:ext cx="594360" cy="228600"/>
          </a:xfrm>
          <a:prstGeom prst="rect">
            <a:avLst/>
          </a:prstGeom>
          <a:noFill/>
          <a:ln/>
        </p:spPr>
        <p:txBody>
          <a:bodyPr wrap="square" lIns="0" tIns="0" rIns="0" bIns="0" rtlCol="0" anchor="t"/>
          <a:lstStyle/>
          <a:p>
            <a:pPr indent="0" marL="0">
              <a:spcAft>
                <a:spcPts val="600"/>
              </a:spcAft>
              <a:buNone/>
            </a:pPr>
            <a:r>
              <a:rPr lang="en-US" sz="1100" b="1" dirty="0">
                <a:solidFill>
                  <a:srgbClr val="494985"/>
                </a:solidFill>
                <a:latin typeface="Quicksand" pitchFamily="34" charset="0"/>
                <a:ea typeface="Quicksand" pitchFamily="34" charset="-122"/>
                <a:cs typeface="Quicksand" pitchFamily="34" charset="-120"/>
              </a:rPr>
              <a:t>LEGIT</a:t>
            </a:r>
            <a:endParaRPr lang="en-US" sz="1100" dirty="0"/>
          </a:p>
        </p:txBody>
      </p:sp>
      <p:sp>
        <p:nvSpPr>
          <p:cNvPr id="28" name="Text 20"/>
          <p:cNvSpPr txBox="1"/>
          <p:nvPr/>
        </p:nvSpPr>
        <p:spPr>
          <a:xfrm>
            <a:off x="2660904" y="3831336"/>
            <a:ext cx="594360" cy="237744"/>
          </a:xfrm>
          <a:prstGeom prst="rect">
            <a:avLst/>
          </a:prstGeom>
          <a:noFill/>
          <a:ln/>
        </p:spPr>
        <p:txBody>
          <a:bodyPr wrap="square" lIns="0" tIns="0" rIns="0" bIns="0" rtlCol="0" anchor="t"/>
          <a:lstStyle/>
          <a:p>
            <a:pPr indent="0" marL="0">
              <a:spcAft>
                <a:spcPts val="600"/>
              </a:spcAft>
              <a:buNone/>
            </a:pPr>
            <a:r>
              <a:rPr lang="en-US" sz="900" dirty="0">
                <a:solidFill>
                  <a:srgbClr val="494985"/>
                </a:solidFill>
                <a:latin typeface="Quicksand" pitchFamily="34" charset="0"/>
                <a:ea typeface="Quicksand" pitchFamily="34" charset="-122"/>
                <a:cs typeface="Quicksand" pitchFamily="34" charset="-120"/>
              </a:rPr>
              <a:t>Email 5</a:t>
            </a:r>
            <a:endParaRPr lang="en-US" sz="900" dirty="0"/>
          </a:p>
        </p:txBody>
      </p:sp>
      <p:sp>
        <p:nvSpPr>
          <p:cNvPr id="29" name="Shape 21"/>
          <p:cNvSpPr/>
          <p:nvPr/>
        </p:nvSpPr>
        <p:spPr>
          <a:xfrm>
            <a:off x="3319272" y="3429000"/>
            <a:ext cx="1170432" cy="667512"/>
          </a:xfrm>
          <a:prstGeom prst="roundRect">
            <a:avLst>
              <a:gd name="adj" fmla="val 20548"/>
            </a:avLst>
          </a:prstGeom>
          <a:solidFill>
            <a:srgbClr val="FFF0D5"/>
          </a:solidFill>
          <a:ln w="12700">
            <a:solidFill>
              <a:srgbClr val="FFF0D5"/>
            </a:solidFill>
            <a:prstDash val="solid"/>
          </a:ln>
        </p:spPr>
      </p:sp>
      <p:pic>
        <p:nvPicPr>
          <p:cNvPr id="30" name="Image 5" descr="mail">    </p:cNvPr>
          <p:cNvPicPr>
            <a:picLocks noChangeAspect="1"/>
          </p:cNvPicPr>
          <p:nvPr/>
        </p:nvPicPr>
        <p:blipFill>
          <a:blip r:embed="rId6"/>
          <a:stretch>
            <a:fillRect/>
          </a:stretch>
        </p:blipFill>
        <p:spPr>
          <a:xfrm>
            <a:off x="3401568" y="3520440"/>
            <a:ext cx="384048" cy="384048"/>
          </a:xfrm>
          <a:prstGeom prst="rect">
            <a:avLst/>
          </a:prstGeom>
        </p:spPr>
      </p:pic>
      <p:sp>
        <p:nvSpPr>
          <p:cNvPr id="31" name="Text 22"/>
          <p:cNvSpPr txBox="1"/>
          <p:nvPr/>
        </p:nvSpPr>
        <p:spPr>
          <a:xfrm>
            <a:off x="3840480" y="3538728"/>
            <a:ext cx="594360" cy="228600"/>
          </a:xfrm>
          <a:prstGeom prst="rect">
            <a:avLst/>
          </a:prstGeom>
          <a:noFill/>
          <a:ln/>
        </p:spPr>
        <p:txBody>
          <a:bodyPr wrap="square" lIns="0" tIns="0" rIns="0" bIns="0" rtlCol="0" anchor="t"/>
          <a:lstStyle/>
          <a:p>
            <a:pPr indent="0" marL="0">
              <a:spcAft>
                <a:spcPts val="600"/>
              </a:spcAft>
              <a:buNone/>
            </a:pPr>
            <a:r>
              <a:rPr lang="en-US" sz="1100" b="1" dirty="0">
                <a:solidFill>
                  <a:srgbClr val="494985"/>
                </a:solidFill>
                <a:latin typeface="Quicksand" pitchFamily="34" charset="0"/>
                <a:ea typeface="Quicksand" pitchFamily="34" charset="-122"/>
                <a:cs typeface="Quicksand" pitchFamily="34" charset="-120"/>
              </a:rPr>
              <a:t>SPAM</a:t>
            </a:r>
            <a:endParaRPr lang="en-US" sz="1100" dirty="0"/>
          </a:p>
        </p:txBody>
      </p:sp>
      <p:sp>
        <p:nvSpPr>
          <p:cNvPr id="32" name="Text 23"/>
          <p:cNvSpPr txBox="1"/>
          <p:nvPr/>
        </p:nvSpPr>
        <p:spPr>
          <a:xfrm>
            <a:off x="3840480" y="3831336"/>
            <a:ext cx="594360" cy="237744"/>
          </a:xfrm>
          <a:prstGeom prst="rect">
            <a:avLst/>
          </a:prstGeom>
          <a:noFill/>
          <a:ln/>
        </p:spPr>
        <p:txBody>
          <a:bodyPr wrap="square" lIns="0" tIns="0" rIns="0" bIns="0" rtlCol="0" anchor="t"/>
          <a:lstStyle/>
          <a:p>
            <a:pPr indent="0" marL="0">
              <a:spcAft>
                <a:spcPts val="600"/>
              </a:spcAft>
              <a:buNone/>
            </a:pPr>
            <a:r>
              <a:rPr lang="en-US" sz="900" dirty="0">
                <a:solidFill>
                  <a:srgbClr val="494985"/>
                </a:solidFill>
                <a:latin typeface="Quicksand" pitchFamily="34" charset="0"/>
                <a:ea typeface="Quicksand" pitchFamily="34" charset="-122"/>
                <a:cs typeface="Quicksand" pitchFamily="34" charset="-120"/>
              </a:rPr>
              <a:t>Email 6</a:t>
            </a:r>
            <a:endParaRPr lang="en-US" sz="900" dirty="0"/>
          </a:p>
        </p:txBody>
      </p:sp>
      <p:sp>
        <p:nvSpPr>
          <p:cNvPr id="33" name="Text 24"/>
          <p:cNvSpPr txBox="1"/>
          <p:nvPr/>
        </p:nvSpPr>
        <p:spPr>
          <a:xfrm>
            <a:off x="960120" y="4389120"/>
            <a:ext cx="3383280" cy="457200"/>
          </a:xfrm>
          <a:prstGeom prst="rect">
            <a:avLst/>
          </a:prstGeom>
          <a:noFill/>
          <a:ln/>
        </p:spPr>
        <p:txBody>
          <a:bodyPr wrap="square" lIns="0" tIns="0" rIns="0" bIns="0" rtlCol="0" anchor="t"/>
          <a:lstStyle/>
          <a:p>
            <a:pPr algn="ctr" indent="0" marL="0">
              <a:spcAft>
                <a:spcPts val="600"/>
              </a:spcAft>
              <a:buNone/>
            </a:pPr>
            <a:r>
              <a:rPr lang="en-US" sz="1800" dirty="0">
                <a:solidFill>
                  <a:srgbClr val="202124"/>
                </a:solidFill>
                <a:latin typeface="Quicksand" pitchFamily="34" charset="0"/>
                <a:ea typeface="Quicksand" pitchFamily="34" charset="-122"/>
                <a:cs typeface="Quicksand" pitchFamily="34" charset="-120"/>
              </a:rPr>
              <a:t>Used to learn patterns</a:t>
            </a:r>
            <a:endParaRPr lang="en-US" sz="1800" dirty="0"/>
          </a:p>
        </p:txBody>
      </p:sp>
      <p:sp>
        <p:nvSpPr>
          <p:cNvPr id="34" name="Shape 25"/>
          <p:cNvSpPr/>
          <p:nvPr/>
        </p:nvSpPr>
        <p:spPr>
          <a:xfrm>
            <a:off x="7498080" y="1554480"/>
            <a:ext cx="3977640" cy="3520440"/>
          </a:xfrm>
          <a:prstGeom prst="roundRect">
            <a:avLst>
              <a:gd name="adj" fmla="val 3896"/>
            </a:avLst>
          </a:prstGeom>
          <a:solidFill>
            <a:srgbClr val="FFF0D5"/>
          </a:solidFill>
          <a:ln w="12700">
            <a:solidFill>
              <a:srgbClr val="FFF0D5"/>
            </a:solidFill>
            <a:prstDash val="solid"/>
          </a:ln>
        </p:spPr>
      </p:sp>
      <p:sp>
        <p:nvSpPr>
          <p:cNvPr id="35" name="Text 26"/>
          <p:cNvSpPr txBox="1"/>
          <p:nvPr/>
        </p:nvSpPr>
        <p:spPr>
          <a:xfrm>
            <a:off x="7635240" y="1783080"/>
            <a:ext cx="3703320" cy="594360"/>
          </a:xfrm>
          <a:prstGeom prst="rect">
            <a:avLst/>
          </a:prstGeom>
          <a:noFill/>
          <a:ln/>
        </p:spPr>
        <p:txBody>
          <a:bodyPr wrap="square" lIns="0" tIns="0" rIns="0" bIns="0" rtlCol="0" anchor="t"/>
          <a:lstStyle/>
          <a:p>
            <a:pPr algn="ctr" indent="0" marL="0">
              <a:spcAft>
                <a:spcPts val="600"/>
              </a:spcAft>
              <a:buNone/>
            </a:pPr>
            <a:r>
              <a:rPr lang="en-US" sz="2000" b="1" dirty="0">
                <a:solidFill>
                  <a:srgbClr val="494985"/>
                </a:solidFill>
                <a:latin typeface="Quicksand" pitchFamily="34" charset="0"/>
                <a:ea typeface="Quicksand" pitchFamily="34" charset="-122"/>
                <a:cs typeface="Quicksand" pitchFamily="34" charset="-120"/>
              </a:rPr>
              <a:t>HELD-OUT TEST examples</a:t>
            </a:r>
            <a:endParaRPr lang="en-US" sz="2000" dirty="0"/>
          </a:p>
        </p:txBody>
      </p:sp>
      <p:sp>
        <p:nvSpPr>
          <p:cNvPr id="36" name="Shape 27"/>
          <p:cNvSpPr/>
          <p:nvPr/>
        </p:nvSpPr>
        <p:spPr>
          <a:xfrm>
            <a:off x="8138160" y="2606040"/>
            <a:ext cx="1170432" cy="667512"/>
          </a:xfrm>
          <a:prstGeom prst="roundRect">
            <a:avLst>
              <a:gd name="adj" fmla="val 20548"/>
            </a:avLst>
          </a:prstGeom>
          <a:solidFill>
            <a:srgbClr val="FFF0D5"/>
          </a:solidFill>
          <a:ln w="12700">
            <a:solidFill>
              <a:srgbClr val="FFF0D5"/>
            </a:solidFill>
            <a:prstDash val="solid"/>
          </a:ln>
        </p:spPr>
      </p:sp>
      <p:pic>
        <p:nvPicPr>
          <p:cNvPr id="37" name="Image 6" descr="mail">    </p:cNvPr>
          <p:cNvPicPr>
            <a:picLocks noChangeAspect="1"/>
          </p:cNvPicPr>
          <p:nvPr/>
        </p:nvPicPr>
        <p:blipFill>
          <a:blip r:embed="rId7"/>
          <a:stretch>
            <a:fillRect/>
          </a:stretch>
        </p:blipFill>
        <p:spPr>
          <a:xfrm>
            <a:off x="8220456" y="2697480"/>
            <a:ext cx="384048" cy="384048"/>
          </a:xfrm>
          <a:prstGeom prst="rect">
            <a:avLst/>
          </a:prstGeom>
        </p:spPr>
      </p:pic>
      <p:sp>
        <p:nvSpPr>
          <p:cNvPr id="38" name="Text 28"/>
          <p:cNvSpPr txBox="1"/>
          <p:nvPr/>
        </p:nvSpPr>
        <p:spPr>
          <a:xfrm>
            <a:off x="8659368" y="2715768"/>
            <a:ext cx="594360" cy="228600"/>
          </a:xfrm>
          <a:prstGeom prst="rect">
            <a:avLst/>
          </a:prstGeom>
          <a:noFill/>
          <a:ln/>
        </p:spPr>
        <p:txBody>
          <a:bodyPr wrap="square" lIns="0" tIns="0" rIns="0" bIns="0" rtlCol="0" anchor="t"/>
          <a:lstStyle/>
          <a:p>
            <a:pPr indent="0" marL="0">
              <a:spcAft>
                <a:spcPts val="600"/>
              </a:spcAft>
              <a:buNone/>
            </a:pPr>
            <a:r>
              <a:rPr lang="en-US" sz="1100" b="1" dirty="0">
                <a:solidFill>
                  <a:srgbClr val="494985"/>
                </a:solidFill>
                <a:latin typeface="Quicksand" pitchFamily="34" charset="0"/>
                <a:ea typeface="Quicksand" pitchFamily="34" charset="-122"/>
                <a:cs typeface="Quicksand" pitchFamily="34" charset="-120"/>
              </a:rPr>
              <a:t>SPAM</a:t>
            </a:r>
            <a:endParaRPr lang="en-US" sz="1100" dirty="0"/>
          </a:p>
        </p:txBody>
      </p:sp>
      <p:sp>
        <p:nvSpPr>
          <p:cNvPr id="39" name="Text 29"/>
          <p:cNvSpPr txBox="1"/>
          <p:nvPr/>
        </p:nvSpPr>
        <p:spPr>
          <a:xfrm>
            <a:off x="8659368" y="3008376"/>
            <a:ext cx="594360" cy="237744"/>
          </a:xfrm>
          <a:prstGeom prst="rect">
            <a:avLst/>
          </a:prstGeom>
          <a:noFill/>
          <a:ln/>
        </p:spPr>
        <p:txBody>
          <a:bodyPr wrap="square" lIns="0" tIns="0" rIns="0" bIns="0" rtlCol="0" anchor="t"/>
          <a:lstStyle/>
          <a:p>
            <a:pPr indent="0" marL="0">
              <a:spcAft>
                <a:spcPts val="600"/>
              </a:spcAft>
              <a:buNone/>
            </a:pPr>
            <a:r>
              <a:rPr lang="en-US" sz="900" dirty="0">
                <a:solidFill>
                  <a:srgbClr val="494985"/>
                </a:solidFill>
                <a:latin typeface="Quicksand" pitchFamily="34" charset="0"/>
                <a:ea typeface="Quicksand" pitchFamily="34" charset="-122"/>
                <a:cs typeface="Quicksand" pitchFamily="34" charset="-120"/>
              </a:rPr>
              <a:t>Email 7</a:t>
            </a:r>
            <a:endParaRPr lang="en-US" sz="900" dirty="0"/>
          </a:p>
        </p:txBody>
      </p:sp>
      <p:sp>
        <p:nvSpPr>
          <p:cNvPr id="40" name="Shape 30"/>
          <p:cNvSpPr/>
          <p:nvPr/>
        </p:nvSpPr>
        <p:spPr>
          <a:xfrm>
            <a:off x="9464040" y="2606040"/>
            <a:ext cx="1170432" cy="667512"/>
          </a:xfrm>
          <a:prstGeom prst="roundRect">
            <a:avLst>
              <a:gd name="adj" fmla="val 20548"/>
            </a:avLst>
          </a:prstGeom>
          <a:solidFill>
            <a:srgbClr val="E4F1EA"/>
          </a:solidFill>
          <a:ln w="12700">
            <a:solidFill>
              <a:srgbClr val="E4F1EA"/>
            </a:solidFill>
            <a:prstDash val="solid"/>
          </a:ln>
        </p:spPr>
      </p:sp>
      <p:pic>
        <p:nvPicPr>
          <p:cNvPr id="41" name="Image 7" descr="mail">    </p:cNvPr>
          <p:cNvPicPr>
            <a:picLocks noChangeAspect="1"/>
          </p:cNvPicPr>
          <p:nvPr/>
        </p:nvPicPr>
        <p:blipFill>
          <a:blip r:embed="rId8"/>
          <a:stretch>
            <a:fillRect/>
          </a:stretch>
        </p:blipFill>
        <p:spPr>
          <a:xfrm>
            <a:off x="9546336" y="2697480"/>
            <a:ext cx="384048" cy="384048"/>
          </a:xfrm>
          <a:prstGeom prst="rect">
            <a:avLst/>
          </a:prstGeom>
        </p:spPr>
      </p:pic>
      <p:sp>
        <p:nvSpPr>
          <p:cNvPr id="42" name="Text 31"/>
          <p:cNvSpPr txBox="1"/>
          <p:nvPr/>
        </p:nvSpPr>
        <p:spPr>
          <a:xfrm>
            <a:off x="9985248" y="2715768"/>
            <a:ext cx="594360" cy="228600"/>
          </a:xfrm>
          <a:prstGeom prst="rect">
            <a:avLst/>
          </a:prstGeom>
          <a:noFill/>
          <a:ln/>
        </p:spPr>
        <p:txBody>
          <a:bodyPr wrap="square" lIns="0" tIns="0" rIns="0" bIns="0" rtlCol="0" anchor="t"/>
          <a:lstStyle/>
          <a:p>
            <a:pPr indent="0" marL="0">
              <a:spcAft>
                <a:spcPts val="600"/>
              </a:spcAft>
              <a:buNone/>
            </a:pPr>
            <a:r>
              <a:rPr lang="en-US" sz="1100" b="1" dirty="0">
                <a:solidFill>
                  <a:srgbClr val="494985"/>
                </a:solidFill>
                <a:latin typeface="Quicksand" pitchFamily="34" charset="0"/>
                <a:ea typeface="Quicksand" pitchFamily="34" charset="-122"/>
                <a:cs typeface="Quicksand" pitchFamily="34" charset="-120"/>
              </a:rPr>
              <a:t>LEGIT</a:t>
            </a:r>
            <a:endParaRPr lang="en-US" sz="1100" dirty="0"/>
          </a:p>
        </p:txBody>
      </p:sp>
      <p:sp>
        <p:nvSpPr>
          <p:cNvPr id="43" name="Text 32"/>
          <p:cNvSpPr txBox="1"/>
          <p:nvPr/>
        </p:nvSpPr>
        <p:spPr>
          <a:xfrm>
            <a:off x="9985248" y="3008376"/>
            <a:ext cx="594360" cy="237744"/>
          </a:xfrm>
          <a:prstGeom prst="rect">
            <a:avLst/>
          </a:prstGeom>
          <a:noFill/>
          <a:ln/>
        </p:spPr>
        <p:txBody>
          <a:bodyPr wrap="square" lIns="0" tIns="0" rIns="0" bIns="0" rtlCol="0" anchor="t"/>
          <a:lstStyle/>
          <a:p>
            <a:pPr indent="0" marL="0">
              <a:spcAft>
                <a:spcPts val="600"/>
              </a:spcAft>
              <a:buNone/>
            </a:pPr>
            <a:r>
              <a:rPr lang="en-US" sz="900" dirty="0">
                <a:solidFill>
                  <a:srgbClr val="494985"/>
                </a:solidFill>
                <a:latin typeface="Quicksand" pitchFamily="34" charset="0"/>
                <a:ea typeface="Quicksand" pitchFamily="34" charset="-122"/>
                <a:cs typeface="Quicksand" pitchFamily="34" charset="-120"/>
              </a:rPr>
              <a:t>Email 8</a:t>
            </a:r>
            <a:endParaRPr lang="en-US" sz="900" dirty="0"/>
          </a:p>
        </p:txBody>
      </p:sp>
      <p:sp>
        <p:nvSpPr>
          <p:cNvPr id="44" name="Shape 33"/>
          <p:cNvSpPr/>
          <p:nvPr/>
        </p:nvSpPr>
        <p:spPr>
          <a:xfrm>
            <a:off x="8138160" y="3429000"/>
            <a:ext cx="1170432" cy="667512"/>
          </a:xfrm>
          <a:prstGeom prst="roundRect">
            <a:avLst>
              <a:gd name="adj" fmla="val 20548"/>
            </a:avLst>
          </a:prstGeom>
          <a:solidFill>
            <a:srgbClr val="FFF0D5"/>
          </a:solidFill>
          <a:ln w="12700">
            <a:solidFill>
              <a:srgbClr val="FFF0D5"/>
            </a:solidFill>
            <a:prstDash val="solid"/>
          </a:ln>
        </p:spPr>
      </p:sp>
      <p:pic>
        <p:nvPicPr>
          <p:cNvPr id="45" name="Image 8" descr="mail">    </p:cNvPr>
          <p:cNvPicPr>
            <a:picLocks noChangeAspect="1"/>
          </p:cNvPicPr>
          <p:nvPr/>
        </p:nvPicPr>
        <p:blipFill>
          <a:blip r:embed="rId9"/>
          <a:stretch>
            <a:fillRect/>
          </a:stretch>
        </p:blipFill>
        <p:spPr>
          <a:xfrm>
            <a:off x="8220456" y="3520440"/>
            <a:ext cx="384048" cy="384048"/>
          </a:xfrm>
          <a:prstGeom prst="rect">
            <a:avLst/>
          </a:prstGeom>
        </p:spPr>
      </p:pic>
      <p:sp>
        <p:nvSpPr>
          <p:cNvPr id="46" name="Text 34"/>
          <p:cNvSpPr txBox="1"/>
          <p:nvPr/>
        </p:nvSpPr>
        <p:spPr>
          <a:xfrm>
            <a:off x="8659368" y="3538728"/>
            <a:ext cx="594360" cy="228600"/>
          </a:xfrm>
          <a:prstGeom prst="rect">
            <a:avLst/>
          </a:prstGeom>
          <a:noFill/>
          <a:ln/>
        </p:spPr>
        <p:txBody>
          <a:bodyPr wrap="square" lIns="0" tIns="0" rIns="0" bIns="0" rtlCol="0" anchor="t"/>
          <a:lstStyle/>
          <a:p>
            <a:pPr indent="0" marL="0">
              <a:spcAft>
                <a:spcPts val="600"/>
              </a:spcAft>
              <a:buNone/>
            </a:pPr>
            <a:r>
              <a:rPr lang="en-US" sz="1100" b="1" dirty="0">
                <a:solidFill>
                  <a:srgbClr val="494985"/>
                </a:solidFill>
                <a:latin typeface="Quicksand" pitchFamily="34" charset="0"/>
                <a:ea typeface="Quicksand" pitchFamily="34" charset="-122"/>
                <a:cs typeface="Quicksand" pitchFamily="34" charset="-120"/>
              </a:rPr>
              <a:t>SPAM</a:t>
            </a:r>
            <a:endParaRPr lang="en-US" sz="1100" dirty="0"/>
          </a:p>
        </p:txBody>
      </p:sp>
      <p:sp>
        <p:nvSpPr>
          <p:cNvPr id="47" name="Text 35"/>
          <p:cNvSpPr txBox="1"/>
          <p:nvPr/>
        </p:nvSpPr>
        <p:spPr>
          <a:xfrm>
            <a:off x="8659368" y="3831336"/>
            <a:ext cx="594360" cy="237744"/>
          </a:xfrm>
          <a:prstGeom prst="rect">
            <a:avLst/>
          </a:prstGeom>
          <a:noFill/>
          <a:ln/>
        </p:spPr>
        <p:txBody>
          <a:bodyPr wrap="square" lIns="0" tIns="0" rIns="0" bIns="0" rtlCol="0" anchor="t"/>
          <a:lstStyle/>
          <a:p>
            <a:pPr indent="0" marL="0">
              <a:spcAft>
                <a:spcPts val="600"/>
              </a:spcAft>
              <a:buNone/>
            </a:pPr>
            <a:r>
              <a:rPr lang="en-US" sz="900" dirty="0">
                <a:solidFill>
                  <a:srgbClr val="494985"/>
                </a:solidFill>
                <a:latin typeface="Quicksand" pitchFamily="34" charset="0"/>
                <a:ea typeface="Quicksand" pitchFamily="34" charset="-122"/>
                <a:cs typeface="Quicksand" pitchFamily="34" charset="-120"/>
              </a:rPr>
              <a:t>Email 9</a:t>
            </a:r>
            <a:endParaRPr lang="en-US" sz="900" dirty="0"/>
          </a:p>
        </p:txBody>
      </p:sp>
      <p:sp>
        <p:nvSpPr>
          <p:cNvPr id="48" name="Shape 36"/>
          <p:cNvSpPr/>
          <p:nvPr/>
        </p:nvSpPr>
        <p:spPr>
          <a:xfrm>
            <a:off x="9464040" y="3429000"/>
            <a:ext cx="1170432" cy="667512"/>
          </a:xfrm>
          <a:prstGeom prst="roundRect">
            <a:avLst>
              <a:gd name="adj" fmla="val 20548"/>
            </a:avLst>
          </a:prstGeom>
          <a:solidFill>
            <a:srgbClr val="E4F1EA"/>
          </a:solidFill>
          <a:ln w="12700">
            <a:solidFill>
              <a:srgbClr val="E4F1EA"/>
            </a:solidFill>
            <a:prstDash val="solid"/>
          </a:ln>
        </p:spPr>
      </p:sp>
      <p:pic>
        <p:nvPicPr>
          <p:cNvPr id="49" name="Image 9" descr="mail">    </p:cNvPr>
          <p:cNvPicPr>
            <a:picLocks noChangeAspect="1"/>
          </p:cNvPicPr>
          <p:nvPr/>
        </p:nvPicPr>
        <p:blipFill>
          <a:blip r:embed="rId10"/>
          <a:stretch>
            <a:fillRect/>
          </a:stretch>
        </p:blipFill>
        <p:spPr>
          <a:xfrm>
            <a:off x="9546336" y="3520440"/>
            <a:ext cx="384048" cy="384048"/>
          </a:xfrm>
          <a:prstGeom prst="rect">
            <a:avLst/>
          </a:prstGeom>
        </p:spPr>
      </p:pic>
      <p:sp>
        <p:nvSpPr>
          <p:cNvPr id="50" name="Text 37"/>
          <p:cNvSpPr txBox="1"/>
          <p:nvPr/>
        </p:nvSpPr>
        <p:spPr>
          <a:xfrm>
            <a:off x="9985248" y="3538728"/>
            <a:ext cx="594360" cy="228600"/>
          </a:xfrm>
          <a:prstGeom prst="rect">
            <a:avLst/>
          </a:prstGeom>
          <a:noFill/>
          <a:ln/>
        </p:spPr>
        <p:txBody>
          <a:bodyPr wrap="square" lIns="0" tIns="0" rIns="0" bIns="0" rtlCol="0" anchor="t"/>
          <a:lstStyle/>
          <a:p>
            <a:pPr indent="0" marL="0">
              <a:spcAft>
                <a:spcPts val="600"/>
              </a:spcAft>
              <a:buNone/>
            </a:pPr>
            <a:r>
              <a:rPr lang="en-US" sz="1100" b="1" dirty="0">
                <a:solidFill>
                  <a:srgbClr val="494985"/>
                </a:solidFill>
                <a:latin typeface="Quicksand" pitchFamily="34" charset="0"/>
                <a:ea typeface="Quicksand" pitchFamily="34" charset="-122"/>
                <a:cs typeface="Quicksand" pitchFamily="34" charset="-120"/>
              </a:rPr>
              <a:t>LEGIT</a:t>
            </a:r>
            <a:endParaRPr lang="en-US" sz="1100" dirty="0"/>
          </a:p>
        </p:txBody>
      </p:sp>
      <p:sp>
        <p:nvSpPr>
          <p:cNvPr id="51" name="Text 38"/>
          <p:cNvSpPr txBox="1"/>
          <p:nvPr/>
        </p:nvSpPr>
        <p:spPr>
          <a:xfrm>
            <a:off x="9985248" y="3831336"/>
            <a:ext cx="594360" cy="237744"/>
          </a:xfrm>
          <a:prstGeom prst="rect">
            <a:avLst/>
          </a:prstGeom>
          <a:noFill/>
          <a:ln/>
        </p:spPr>
        <p:txBody>
          <a:bodyPr wrap="square" lIns="0" tIns="0" rIns="0" bIns="0" rtlCol="0" anchor="t"/>
          <a:lstStyle/>
          <a:p>
            <a:pPr indent="0" marL="0">
              <a:spcAft>
                <a:spcPts val="600"/>
              </a:spcAft>
              <a:buNone/>
            </a:pPr>
            <a:r>
              <a:rPr lang="en-US" sz="900" dirty="0">
                <a:solidFill>
                  <a:srgbClr val="494985"/>
                </a:solidFill>
                <a:latin typeface="Quicksand" pitchFamily="34" charset="0"/>
                <a:ea typeface="Quicksand" pitchFamily="34" charset="-122"/>
                <a:cs typeface="Quicksand" pitchFamily="34" charset="-120"/>
              </a:rPr>
              <a:t>Email 10</a:t>
            </a:r>
            <a:endParaRPr lang="en-US" sz="900" dirty="0"/>
          </a:p>
        </p:txBody>
      </p:sp>
      <p:sp>
        <p:nvSpPr>
          <p:cNvPr id="52" name="Text 39"/>
          <p:cNvSpPr txBox="1"/>
          <p:nvPr/>
        </p:nvSpPr>
        <p:spPr>
          <a:xfrm>
            <a:off x="7818120" y="4389120"/>
            <a:ext cx="3291840" cy="457200"/>
          </a:xfrm>
          <a:prstGeom prst="rect">
            <a:avLst/>
          </a:prstGeom>
          <a:noFill/>
          <a:ln/>
        </p:spPr>
        <p:txBody>
          <a:bodyPr wrap="square" lIns="0" tIns="0" rIns="0" bIns="0" rtlCol="0" anchor="t"/>
          <a:lstStyle/>
          <a:p>
            <a:pPr algn="ctr" indent="0" marL="0">
              <a:spcAft>
                <a:spcPts val="600"/>
              </a:spcAft>
              <a:buNone/>
            </a:pPr>
            <a:r>
              <a:rPr lang="en-US" sz="1800" dirty="0">
                <a:solidFill>
                  <a:srgbClr val="202124"/>
                </a:solidFill>
                <a:latin typeface="Quicksand" pitchFamily="34" charset="0"/>
                <a:ea typeface="Quicksand" pitchFamily="34" charset="-122"/>
                <a:cs typeface="Quicksand" pitchFamily="34" charset="-120"/>
              </a:rPr>
              <a:t>Kept out of training</a:t>
            </a:r>
            <a:endParaRPr lang="en-US" sz="1800" dirty="0"/>
          </a:p>
        </p:txBody>
      </p:sp>
      <p:pic>
        <p:nvPicPr>
          <p:cNvPr id="53" name="Image 10" descr="brain circuit">    </p:cNvPr>
          <p:cNvPicPr>
            <a:picLocks noChangeAspect="1"/>
          </p:cNvPicPr>
          <p:nvPr/>
        </p:nvPicPr>
        <p:blipFill>
          <a:blip r:embed="rId11"/>
          <a:stretch>
            <a:fillRect/>
          </a:stretch>
        </p:blipFill>
        <p:spPr>
          <a:xfrm>
            <a:off x="5303520" y="2286000"/>
            <a:ext cx="1325880" cy="1325880"/>
          </a:xfrm>
          <a:prstGeom prst="rect">
            <a:avLst/>
          </a:prstGeom>
        </p:spPr>
      </p:pic>
      <p:sp>
        <p:nvSpPr>
          <p:cNvPr id="54" name="Text 40"/>
          <p:cNvSpPr txBox="1"/>
          <p:nvPr/>
        </p:nvSpPr>
        <p:spPr>
          <a:xfrm>
            <a:off x="4800600" y="3794760"/>
            <a:ext cx="2423160" cy="594360"/>
          </a:xfrm>
          <a:prstGeom prst="rect">
            <a:avLst/>
          </a:prstGeom>
          <a:noFill/>
          <a:ln/>
        </p:spPr>
        <p:txBody>
          <a:bodyPr wrap="square" lIns="0" tIns="0" rIns="0" bIns="0" rtlCol="0" anchor="t"/>
          <a:lstStyle/>
          <a:p>
            <a:pPr algn="ctr" indent="0" marL="0">
              <a:spcAft>
                <a:spcPts val="600"/>
              </a:spcAft>
              <a:buNone/>
            </a:pPr>
            <a:r>
              <a:rPr lang="en-US" sz="2200" b="1" dirty="0">
                <a:solidFill>
                  <a:srgbClr val="494985"/>
                </a:solidFill>
                <a:latin typeface="Quicksand" pitchFamily="34" charset="0"/>
                <a:ea typeface="Quicksand" pitchFamily="34" charset="-122"/>
                <a:cs typeface="Quicksand" pitchFamily="34" charset="-120"/>
              </a:rPr>
              <a:t>Model</a:t>
            </a:r>
            <a:endParaRPr lang="en-US" sz="2200" dirty="0"/>
          </a:p>
        </p:txBody>
      </p:sp>
      <p:sp>
        <p:nvSpPr>
          <p:cNvPr id="55" name="Shape 41"/>
          <p:cNvSpPr/>
          <p:nvPr/>
        </p:nvSpPr>
        <p:spPr>
          <a:xfrm>
            <a:off x="4709160" y="2880360"/>
            <a:ext cx="457200" cy="914"/>
          </a:xfrm>
          <a:prstGeom prst="line">
            <a:avLst/>
          </a:prstGeom>
          <a:noFill/>
          <a:ln w="25400">
            <a:solidFill>
              <a:srgbClr val="494985"/>
            </a:solidFill>
            <a:prstDash val="solid"/>
            <a:tailEnd type="triangle"/>
          </a:ln>
        </p:spPr>
      </p:sp>
      <p:sp>
        <p:nvSpPr>
          <p:cNvPr id="56" name="Shape 42"/>
          <p:cNvSpPr/>
          <p:nvPr/>
        </p:nvSpPr>
        <p:spPr>
          <a:xfrm>
            <a:off x="6675120" y="2880360"/>
            <a:ext cx="731520" cy="914"/>
          </a:xfrm>
          <a:prstGeom prst="line">
            <a:avLst/>
          </a:prstGeom>
          <a:noFill/>
          <a:ln w="25400">
            <a:solidFill>
              <a:srgbClr val="494985"/>
            </a:solidFill>
            <a:prstDash val="solid"/>
            <a:tailEnd type="triangle"/>
          </a:ln>
        </p:spPr>
      </p:sp>
      <p:sp>
        <p:nvSpPr>
          <p:cNvPr id="57" name="Text 43"/>
          <p:cNvSpPr txBox="1"/>
          <p:nvPr/>
        </p:nvSpPr>
        <p:spPr>
          <a:xfrm>
            <a:off x="685800" y="5623560"/>
            <a:ext cx="10698480" cy="438912"/>
          </a:xfrm>
          <a:prstGeom prst="rect">
            <a:avLst/>
          </a:prstGeom>
          <a:noFill/>
          <a:ln/>
        </p:spPr>
        <p:txBody>
          <a:bodyPr wrap="square" lIns="0" tIns="0" rIns="0" bIns="0" rtlCol="0" anchor="t"/>
          <a:lstStyle/>
          <a:p>
            <a:pPr indent="0" marL="0">
              <a:buNone/>
            </a:pPr>
            <a:r>
              <a:rPr lang="en-US" sz="1500" b="1" dirty="0">
                <a:solidFill>
                  <a:srgbClr val="494985"/>
                </a:solidFill>
                <a:latin typeface="Quicksand" pitchFamily="34" charset="0"/>
                <a:ea typeface="Quicksand" pitchFamily="34" charset="-122"/>
                <a:cs typeface="Quicksand" pitchFamily="34" charset="-120"/>
              </a:rPr>
              <a:t>Use the trained model on test examples. Compare predictions with their known labels.</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Errors have real consequences</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Activity 3</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16</a:t>
            </a:r>
            <a:endParaRPr lang="en-US" sz="1350" dirty="0"/>
          </a:p>
        </p:txBody>
      </p:sp>
      <p:pic>
        <p:nvPicPr>
          <p:cNvPr id="7" name="Image 0" descr="email scene">    </p:cNvPr>
          <p:cNvPicPr>
            <a:picLocks noChangeAspect="1"/>
          </p:cNvPicPr>
          <p:nvPr/>
        </p:nvPicPr>
        <p:blipFill>
          <a:blip r:embed="rId1"/>
          <a:stretch>
            <a:fillRect/>
          </a:stretch>
        </p:blipFill>
        <p:spPr>
          <a:xfrm>
            <a:off x="685800" y="1554480"/>
            <a:ext cx="4343400" cy="3255264"/>
          </a:xfrm>
          <a:prstGeom prst="rect">
            <a:avLst/>
          </a:prstGeom>
        </p:spPr>
      </p:pic>
      <p:sp>
        <p:nvSpPr>
          <p:cNvPr id="8" name="Shape 4"/>
          <p:cNvSpPr/>
          <p:nvPr/>
        </p:nvSpPr>
        <p:spPr>
          <a:xfrm>
            <a:off x="5486400" y="1554480"/>
            <a:ext cx="5852160" cy="1645920"/>
          </a:xfrm>
          <a:prstGeom prst="roundRect">
            <a:avLst>
              <a:gd name="adj" fmla="val 8333"/>
            </a:avLst>
          </a:prstGeom>
          <a:solidFill>
            <a:srgbClr val="FFF0D5"/>
          </a:solidFill>
          <a:ln w="12700">
            <a:solidFill>
              <a:srgbClr val="FFF0D5"/>
            </a:solidFill>
            <a:prstDash val="solid"/>
          </a:ln>
        </p:spPr>
      </p:sp>
      <p:pic>
        <p:nvPicPr>
          <p:cNvPr id="9" name="Image 1" descr="triangle alert">    </p:cNvPr>
          <p:cNvPicPr>
            <a:picLocks noChangeAspect="1"/>
          </p:cNvPicPr>
          <p:nvPr/>
        </p:nvPicPr>
        <p:blipFill>
          <a:blip r:embed="rId2"/>
          <a:stretch>
            <a:fillRect/>
          </a:stretch>
        </p:blipFill>
        <p:spPr>
          <a:xfrm>
            <a:off x="5669280" y="1874520"/>
            <a:ext cx="731520" cy="731520"/>
          </a:xfrm>
          <a:prstGeom prst="rect">
            <a:avLst/>
          </a:prstGeom>
        </p:spPr>
      </p:pic>
      <p:sp>
        <p:nvSpPr>
          <p:cNvPr id="10" name="Text 5"/>
          <p:cNvSpPr txBox="1"/>
          <p:nvPr/>
        </p:nvSpPr>
        <p:spPr>
          <a:xfrm>
            <a:off x="6583680" y="1783080"/>
            <a:ext cx="4526280" cy="457200"/>
          </a:xfrm>
          <a:prstGeom prst="rect">
            <a:avLst/>
          </a:prstGeom>
          <a:noFill/>
          <a:ln/>
        </p:spPr>
        <p:txBody>
          <a:bodyPr wrap="square" lIns="0" tIns="0" rIns="0" bIns="0" rtlCol="0" anchor="t"/>
          <a:lstStyle/>
          <a:p>
            <a:pPr indent="0" marL="0">
              <a:spcAft>
                <a:spcPts val="600"/>
              </a:spcAft>
              <a:buNone/>
            </a:pPr>
            <a:r>
              <a:rPr lang="en-US" sz="2100" b="1" dirty="0">
                <a:solidFill>
                  <a:srgbClr val="494985"/>
                </a:solidFill>
                <a:latin typeface="Quicksand" pitchFamily="34" charset="0"/>
                <a:ea typeface="Quicksand" pitchFamily="34" charset="-122"/>
                <a:cs typeface="Quicksand" pitchFamily="34" charset="-120"/>
              </a:rPr>
              <a:t>Real homework email → SPAM</a:t>
            </a:r>
            <a:endParaRPr lang="en-US" sz="2100" dirty="0"/>
          </a:p>
        </p:txBody>
      </p:sp>
      <p:sp>
        <p:nvSpPr>
          <p:cNvPr id="11" name="Text 6"/>
          <p:cNvSpPr txBox="1"/>
          <p:nvPr/>
        </p:nvSpPr>
        <p:spPr>
          <a:xfrm>
            <a:off x="6583680" y="2468880"/>
            <a:ext cx="4526280" cy="502920"/>
          </a:xfrm>
          <a:prstGeom prst="rect">
            <a:avLst/>
          </a:prstGeom>
          <a:noFill/>
          <a:ln/>
        </p:spPr>
        <p:txBody>
          <a:bodyPr wrap="square" lIns="0" tIns="0" rIns="0" bIns="0" rtlCol="0" anchor="t"/>
          <a:lstStyle/>
          <a:p>
            <a:pPr indent="0" marL="0">
              <a:spcAft>
                <a:spcPts val="600"/>
              </a:spcAft>
              <a:buNone/>
            </a:pPr>
            <a:r>
              <a:rPr lang="en-US" sz="1900" dirty="0">
                <a:solidFill>
                  <a:srgbClr val="202124"/>
                </a:solidFill>
                <a:latin typeface="Quicksand" pitchFamily="34" charset="0"/>
                <a:ea typeface="Quicksand" pitchFamily="34" charset="-122"/>
                <a:cs typeface="Quicksand" pitchFamily="34" charset="-120"/>
              </a:rPr>
              <a:t>The student misses the message.</a:t>
            </a:r>
            <a:endParaRPr lang="en-US" sz="1900" dirty="0"/>
          </a:p>
        </p:txBody>
      </p:sp>
      <p:sp>
        <p:nvSpPr>
          <p:cNvPr id="12" name="Shape 7"/>
          <p:cNvSpPr/>
          <p:nvPr/>
        </p:nvSpPr>
        <p:spPr>
          <a:xfrm>
            <a:off x="5486400" y="3520440"/>
            <a:ext cx="5852160" cy="1645920"/>
          </a:xfrm>
          <a:prstGeom prst="roundRect">
            <a:avLst>
              <a:gd name="adj" fmla="val 8333"/>
            </a:avLst>
          </a:prstGeom>
          <a:solidFill>
            <a:srgbClr val="FFF0D5"/>
          </a:solidFill>
          <a:ln w="12700">
            <a:solidFill>
              <a:srgbClr val="FFF0D5"/>
            </a:solidFill>
            <a:prstDash val="solid"/>
          </a:ln>
        </p:spPr>
      </p:sp>
      <p:pic>
        <p:nvPicPr>
          <p:cNvPr id="13" name="Image 2" descr="triangle alert">    </p:cNvPr>
          <p:cNvPicPr>
            <a:picLocks noChangeAspect="1"/>
          </p:cNvPicPr>
          <p:nvPr/>
        </p:nvPicPr>
        <p:blipFill>
          <a:blip r:embed="rId3"/>
          <a:stretch>
            <a:fillRect/>
          </a:stretch>
        </p:blipFill>
        <p:spPr>
          <a:xfrm>
            <a:off x="5669280" y="3840480"/>
            <a:ext cx="731520" cy="731520"/>
          </a:xfrm>
          <a:prstGeom prst="rect">
            <a:avLst/>
          </a:prstGeom>
        </p:spPr>
      </p:pic>
      <p:sp>
        <p:nvSpPr>
          <p:cNvPr id="14" name="Text 8"/>
          <p:cNvSpPr txBox="1"/>
          <p:nvPr/>
        </p:nvSpPr>
        <p:spPr>
          <a:xfrm>
            <a:off x="6583680" y="3749040"/>
            <a:ext cx="4526280" cy="457200"/>
          </a:xfrm>
          <a:prstGeom prst="rect">
            <a:avLst/>
          </a:prstGeom>
          <a:noFill/>
          <a:ln/>
        </p:spPr>
        <p:txBody>
          <a:bodyPr wrap="square" lIns="0" tIns="0" rIns="0" bIns="0" rtlCol="0" anchor="t"/>
          <a:lstStyle/>
          <a:p>
            <a:pPr indent="0" marL="0">
              <a:spcAft>
                <a:spcPts val="600"/>
              </a:spcAft>
              <a:buNone/>
            </a:pPr>
            <a:r>
              <a:rPr lang="en-US" sz="2100" b="1" dirty="0">
                <a:solidFill>
                  <a:srgbClr val="494985"/>
                </a:solidFill>
                <a:latin typeface="Quicksand" pitchFamily="34" charset="0"/>
                <a:ea typeface="Quicksand" pitchFamily="34" charset="-122"/>
                <a:cs typeface="Quicksand" pitchFamily="34" charset="-120"/>
              </a:rPr>
              <a:t>Spam email → LEGITIMATE</a:t>
            </a:r>
            <a:endParaRPr lang="en-US" sz="2100" dirty="0"/>
          </a:p>
        </p:txBody>
      </p:sp>
      <p:sp>
        <p:nvSpPr>
          <p:cNvPr id="15" name="Text 9"/>
          <p:cNvSpPr txBox="1"/>
          <p:nvPr/>
        </p:nvSpPr>
        <p:spPr>
          <a:xfrm>
            <a:off x="6583680" y="4434840"/>
            <a:ext cx="4526280" cy="502920"/>
          </a:xfrm>
          <a:prstGeom prst="rect">
            <a:avLst/>
          </a:prstGeom>
          <a:noFill/>
          <a:ln/>
        </p:spPr>
        <p:txBody>
          <a:bodyPr wrap="square" lIns="0" tIns="0" rIns="0" bIns="0" rtlCol="0" anchor="t"/>
          <a:lstStyle/>
          <a:p>
            <a:pPr indent="0" marL="0">
              <a:spcAft>
                <a:spcPts val="600"/>
              </a:spcAft>
              <a:buNone/>
            </a:pPr>
            <a:r>
              <a:rPr lang="en-US" sz="1800" dirty="0">
                <a:solidFill>
                  <a:srgbClr val="202124"/>
                </a:solidFill>
                <a:latin typeface="Quicksand" pitchFamily="34" charset="0"/>
                <a:ea typeface="Quicksand" pitchFamily="34" charset="-122"/>
                <a:cs typeface="Quicksand" pitchFamily="34" charset="-120"/>
              </a:rPr>
              <a:t>The unwanted message reaches the inbox.</a:t>
            </a:r>
            <a:endParaRPr lang="en-US" sz="1800" dirty="0"/>
          </a:p>
        </p:txBody>
      </p:sp>
      <p:sp>
        <p:nvSpPr>
          <p:cNvPr id="16" name="Text 10"/>
          <p:cNvSpPr txBox="1"/>
          <p:nvPr/>
        </p:nvSpPr>
        <p:spPr>
          <a:xfrm>
            <a:off x="685800" y="5623560"/>
            <a:ext cx="10698480" cy="438912"/>
          </a:xfrm>
          <a:prstGeom prst="rect">
            <a:avLst/>
          </a:prstGeom>
          <a:noFill/>
          <a:ln/>
        </p:spPr>
        <p:txBody>
          <a:bodyPr wrap="square" lIns="0" tIns="0" rIns="0" bIns="0" rtlCol="0" anchor="t"/>
          <a:lstStyle/>
          <a:p>
            <a:pPr indent="0" marL="0">
              <a:buNone/>
            </a:pPr>
            <a:r>
              <a:rPr lang="en-US" sz="1500" b="1" dirty="0">
                <a:solidFill>
                  <a:srgbClr val="494985"/>
                </a:solidFill>
                <a:latin typeface="Quicksand" pitchFamily="34" charset="0"/>
                <a:ea typeface="Quicksand" pitchFamily="34" charset="-122"/>
                <a:cs typeface="Quicksand" pitchFamily="34" charset="-120"/>
              </a:rPr>
              <a:t>Prediction is not certainty. What is the consequence of each mistake?</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Data quality changes predictions</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Activity 3</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17</a:t>
            </a:r>
            <a:endParaRPr lang="en-US" sz="1350" dirty="0"/>
          </a:p>
        </p:txBody>
      </p:sp>
      <p:pic>
        <p:nvPicPr>
          <p:cNvPr id="7" name="Image 0" descr="leaf healthy">    </p:cNvPr>
          <p:cNvPicPr>
            <a:picLocks noChangeAspect="1"/>
          </p:cNvPicPr>
          <p:nvPr/>
        </p:nvPicPr>
        <p:blipFill>
          <a:blip r:embed="rId1"/>
          <a:stretch>
            <a:fillRect/>
          </a:stretch>
        </p:blipFill>
        <p:spPr>
          <a:xfrm>
            <a:off x="685800" y="1554480"/>
            <a:ext cx="3383280" cy="2542032"/>
          </a:xfrm>
          <a:prstGeom prst="rect">
            <a:avLst/>
          </a:prstGeom>
        </p:spPr>
      </p:pic>
      <p:pic>
        <p:nvPicPr>
          <p:cNvPr id="8" name="Image 1" descr="leaf spotted">    </p:cNvPr>
          <p:cNvPicPr>
            <a:picLocks noChangeAspect="1"/>
          </p:cNvPicPr>
          <p:nvPr/>
        </p:nvPicPr>
        <p:blipFill>
          <a:blip r:embed="rId2"/>
          <a:stretch>
            <a:fillRect/>
          </a:stretch>
        </p:blipFill>
        <p:spPr>
          <a:xfrm>
            <a:off x="4434840" y="1554480"/>
            <a:ext cx="3383280" cy="2542032"/>
          </a:xfrm>
          <a:prstGeom prst="rect">
            <a:avLst/>
          </a:prstGeom>
        </p:spPr>
      </p:pic>
      <p:pic>
        <p:nvPicPr>
          <p:cNvPr id="9" name="Image 2" descr="leaf dark">    </p:cNvPr>
          <p:cNvPicPr>
            <a:picLocks noChangeAspect="1"/>
          </p:cNvPicPr>
          <p:nvPr/>
        </p:nvPicPr>
        <p:blipFill>
          <a:blip r:embed="rId3"/>
          <a:stretch>
            <a:fillRect/>
          </a:stretch>
        </p:blipFill>
        <p:spPr>
          <a:xfrm>
            <a:off x="8183880" y="1554480"/>
            <a:ext cx="3383280" cy="2542032"/>
          </a:xfrm>
          <a:prstGeom prst="rect">
            <a:avLst/>
          </a:prstGeom>
        </p:spPr>
      </p:pic>
      <p:sp>
        <p:nvSpPr>
          <p:cNvPr id="10" name="Text 4"/>
          <p:cNvSpPr txBox="1"/>
          <p:nvPr/>
        </p:nvSpPr>
        <p:spPr>
          <a:xfrm>
            <a:off x="685800" y="4251960"/>
            <a:ext cx="3383280" cy="594360"/>
          </a:xfrm>
          <a:prstGeom prst="rect">
            <a:avLst/>
          </a:prstGeom>
          <a:noFill/>
          <a:ln/>
        </p:spPr>
        <p:txBody>
          <a:bodyPr wrap="square" lIns="0" tIns="0" rIns="0" bIns="0" rtlCol="0" anchor="t"/>
          <a:lstStyle/>
          <a:p>
            <a:pPr algn="ctr" indent="0" marL="0">
              <a:spcAft>
                <a:spcPts val="600"/>
              </a:spcAft>
              <a:buNone/>
            </a:pPr>
            <a:r>
              <a:rPr lang="en-US" sz="2200" b="1" dirty="0">
                <a:solidFill>
                  <a:srgbClr val="494985"/>
                </a:solidFill>
                <a:latin typeface="Quicksand" pitchFamily="34" charset="0"/>
                <a:ea typeface="Quicksand" pitchFamily="34" charset="-122"/>
                <a:cs typeface="Quicksand" pitchFamily="34" charset="-120"/>
              </a:rPr>
              <a:t>Too narrow</a:t>
            </a:r>
            <a:endParaRPr lang="en-US" sz="2200" dirty="0"/>
          </a:p>
        </p:txBody>
      </p:sp>
      <p:sp>
        <p:nvSpPr>
          <p:cNvPr id="11" name="Text 5"/>
          <p:cNvSpPr txBox="1"/>
          <p:nvPr/>
        </p:nvSpPr>
        <p:spPr>
          <a:xfrm>
            <a:off x="4434840" y="4251960"/>
            <a:ext cx="3383280" cy="594360"/>
          </a:xfrm>
          <a:prstGeom prst="rect">
            <a:avLst/>
          </a:prstGeom>
          <a:noFill/>
          <a:ln/>
        </p:spPr>
        <p:txBody>
          <a:bodyPr wrap="square" lIns="0" tIns="0" rIns="0" bIns="0" rtlCol="0" anchor="t"/>
          <a:lstStyle/>
          <a:p>
            <a:pPr algn="ctr" indent="0" marL="0">
              <a:spcAft>
                <a:spcPts val="600"/>
              </a:spcAft>
              <a:buNone/>
            </a:pPr>
            <a:r>
              <a:rPr lang="en-US" sz="2200" b="1" dirty="0">
                <a:solidFill>
                  <a:srgbClr val="494985"/>
                </a:solidFill>
                <a:latin typeface="Quicksand" pitchFamily="34" charset="0"/>
                <a:ea typeface="Quicksand" pitchFamily="34" charset="-122"/>
                <a:cs typeface="Quicksand" pitchFamily="34" charset="-120"/>
              </a:rPr>
              <a:t>Incorrect labels</a:t>
            </a:r>
            <a:endParaRPr lang="en-US" sz="2200" dirty="0"/>
          </a:p>
        </p:txBody>
      </p:sp>
      <p:sp>
        <p:nvSpPr>
          <p:cNvPr id="12" name="Text 6"/>
          <p:cNvSpPr txBox="1"/>
          <p:nvPr/>
        </p:nvSpPr>
        <p:spPr>
          <a:xfrm>
            <a:off x="8183880" y="4251960"/>
            <a:ext cx="3383280" cy="594360"/>
          </a:xfrm>
          <a:prstGeom prst="rect">
            <a:avLst/>
          </a:prstGeom>
          <a:noFill/>
          <a:ln/>
        </p:spPr>
        <p:txBody>
          <a:bodyPr wrap="square" lIns="0" tIns="0" rIns="0" bIns="0" rtlCol="0" anchor="t"/>
          <a:lstStyle/>
          <a:p>
            <a:pPr algn="ctr" indent="0" marL="0">
              <a:spcAft>
                <a:spcPts val="600"/>
              </a:spcAft>
              <a:buNone/>
            </a:pPr>
            <a:r>
              <a:rPr lang="en-US" sz="2100" b="1" dirty="0">
                <a:solidFill>
                  <a:srgbClr val="494985"/>
                </a:solidFill>
                <a:latin typeface="Quicksand" pitchFamily="34" charset="0"/>
                <a:ea typeface="Quicksand" pitchFamily="34" charset="-122"/>
                <a:cs typeface="Quicksand" pitchFamily="34" charset="-120"/>
              </a:rPr>
              <a:t>Changed conditions</a:t>
            </a:r>
            <a:endParaRPr lang="en-US" sz="2100" dirty="0"/>
          </a:p>
        </p:txBody>
      </p:sp>
      <p:sp>
        <p:nvSpPr>
          <p:cNvPr id="13" name="Text 7"/>
          <p:cNvSpPr txBox="1"/>
          <p:nvPr/>
        </p:nvSpPr>
        <p:spPr>
          <a:xfrm>
            <a:off x="777240" y="4800600"/>
            <a:ext cx="3200400" cy="640080"/>
          </a:xfrm>
          <a:prstGeom prst="rect">
            <a:avLst/>
          </a:prstGeom>
          <a:noFill/>
          <a:ln/>
        </p:spPr>
        <p:txBody>
          <a:bodyPr wrap="square" lIns="0" tIns="0" rIns="0" bIns="0" rtlCol="0" anchor="t"/>
          <a:lstStyle/>
          <a:p>
            <a:pPr algn="ctr" indent="0" marL="0">
              <a:spcAft>
                <a:spcPts val="600"/>
              </a:spcAft>
              <a:buNone/>
            </a:pPr>
            <a:r>
              <a:rPr lang="en-US" sz="1800" dirty="0">
                <a:solidFill>
                  <a:srgbClr val="202124"/>
                </a:solidFill>
                <a:latin typeface="Quicksand" pitchFamily="34" charset="0"/>
                <a:ea typeface="Quicksand" pitchFamily="34" charset="-122"/>
                <a:cs typeface="Quicksand" pitchFamily="34" charset="-120"/>
              </a:rPr>
              <a:t>Only one species</a:t>
            </a:r>
            <a:endParaRPr lang="en-US" sz="1800" dirty="0"/>
          </a:p>
          <a:p>
            <a:pPr algn="ctr" indent="0" marL="0">
              <a:spcAft>
                <a:spcPts val="600"/>
              </a:spcAft>
              <a:buNone/>
            </a:pPr>
            <a:r>
              <a:rPr lang="en-US" sz="1800" dirty="0">
                <a:solidFill>
                  <a:srgbClr val="202124"/>
                </a:solidFill>
                <a:latin typeface="Quicksand" pitchFamily="34" charset="0"/>
                <a:ea typeface="Quicksand" pitchFamily="34" charset="-122"/>
                <a:cs typeface="Quicksand" pitchFamily="34" charset="-120"/>
              </a:rPr>
              <a:t>in bright light.</a:t>
            </a:r>
            <a:endParaRPr lang="en-US" sz="1800" dirty="0"/>
          </a:p>
        </p:txBody>
      </p:sp>
      <p:sp>
        <p:nvSpPr>
          <p:cNvPr id="14" name="Text 8"/>
          <p:cNvSpPr txBox="1"/>
          <p:nvPr/>
        </p:nvSpPr>
        <p:spPr>
          <a:xfrm>
            <a:off x="4526280" y="4800600"/>
            <a:ext cx="3200400" cy="640080"/>
          </a:xfrm>
          <a:prstGeom prst="rect">
            <a:avLst/>
          </a:prstGeom>
          <a:noFill/>
          <a:ln/>
        </p:spPr>
        <p:txBody>
          <a:bodyPr wrap="square" lIns="0" tIns="0" rIns="0" bIns="0" rtlCol="0" anchor="t"/>
          <a:lstStyle/>
          <a:p>
            <a:pPr algn="ctr" indent="0" marL="0">
              <a:spcAft>
                <a:spcPts val="600"/>
              </a:spcAft>
              <a:buNone/>
            </a:pPr>
            <a:r>
              <a:rPr lang="en-US" sz="1800" dirty="0">
                <a:solidFill>
                  <a:srgbClr val="202124"/>
                </a:solidFill>
                <a:latin typeface="Quicksand" pitchFamily="34" charset="0"/>
                <a:ea typeface="Quicksand" pitchFamily="34" charset="-122"/>
                <a:cs typeface="Quicksand" pitchFamily="34" charset="-120"/>
              </a:rPr>
              <a:t>A diseased example</a:t>
            </a:r>
            <a:endParaRPr lang="en-US" sz="1800" dirty="0"/>
          </a:p>
          <a:p>
            <a:pPr algn="ctr" indent="0" marL="0">
              <a:spcAft>
                <a:spcPts val="600"/>
              </a:spcAft>
              <a:buNone/>
            </a:pPr>
            <a:r>
              <a:rPr lang="en-US" sz="1800" dirty="0">
                <a:solidFill>
                  <a:srgbClr val="202124"/>
                </a:solidFill>
                <a:latin typeface="Quicksand" pitchFamily="34" charset="0"/>
                <a:ea typeface="Quicksand" pitchFamily="34" charset="-122"/>
                <a:cs typeface="Quicksand" pitchFamily="34" charset="-120"/>
              </a:rPr>
              <a:t>is labelled “healthy”.</a:t>
            </a:r>
            <a:endParaRPr lang="en-US" sz="1800" dirty="0"/>
          </a:p>
        </p:txBody>
      </p:sp>
      <p:sp>
        <p:nvSpPr>
          <p:cNvPr id="15" name="Text 9"/>
          <p:cNvSpPr txBox="1"/>
          <p:nvPr/>
        </p:nvSpPr>
        <p:spPr>
          <a:xfrm>
            <a:off x="8275320" y="4800600"/>
            <a:ext cx="3200400" cy="640080"/>
          </a:xfrm>
          <a:prstGeom prst="rect">
            <a:avLst/>
          </a:prstGeom>
          <a:noFill/>
          <a:ln/>
        </p:spPr>
        <p:txBody>
          <a:bodyPr wrap="square" lIns="0" tIns="0" rIns="0" bIns="0" rtlCol="0" anchor="t"/>
          <a:lstStyle/>
          <a:p>
            <a:pPr algn="ctr" indent="0" marL="0">
              <a:spcAft>
                <a:spcPts val="600"/>
              </a:spcAft>
              <a:buNone/>
            </a:pPr>
            <a:r>
              <a:rPr lang="en-US" sz="1800" dirty="0">
                <a:solidFill>
                  <a:srgbClr val="202124"/>
                </a:solidFill>
                <a:latin typeface="Quicksand" pitchFamily="34" charset="0"/>
                <a:ea typeface="Quicksand" pitchFamily="34" charset="-122"/>
                <a:cs typeface="Quicksand" pitchFamily="34" charset="-120"/>
              </a:rPr>
              <a:t>New images are dim</a:t>
            </a:r>
            <a:endParaRPr lang="en-US" sz="1800" dirty="0"/>
          </a:p>
          <a:p>
            <a:pPr algn="ctr" indent="0" marL="0">
              <a:spcAft>
                <a:spcPts val="600"/>
              </a:spcAft>
              <a:buNone/>
            </a:pPr>
            <a:r>
              <a:rPr lang="en-US" sz="1800" dirty="0">
                <a:solidFill>
                  <a:srgbClr val="202124"/>
                </a:solidFill>
                <a:latin typeface="Quicksand" pitchFamily="34" charset="0"/>
                <a:ea typeface="Quicksand" pitchFamily="34" charset="-122"/>
                <a:cs typeface="Quicksand" pitchFamily="34" charset="-120"/>
              </a:rPr>
              <a:t>or partly hidden.</a:t>
            </a:r>
            <a:endParaRPr lang="en-US" sz="1800" dirty="0"/>
          </a:p>
        </p:txBody>
      </p:sp>
      <p:sp>
        <p:nvSpPr>
          <p:cNvPr id="16" name="Text 10"/>
          <p:cNvSpPr txBox="1"/>
          <p:nvPr/>
        </p:nvSpPr>
        <p:spPr>
          <a:xfrm>
            <a:off x="685800" y="5623560"/>
            <a:ext cx="10698480" cy="438912"/>
          </a:xfrm>
          <a:prstGeom prst="rect">
            <a:avLst/>
          </a:prstGeom>
          <a:noFill/>
          <a:ln/>
        </p:spPr>
        <p:txBody>
          <a:bodyPr wrap="square" lIns="0" tIns="0" rIns="0" bIns="0" rtlCol="0" anchor="t"/>
          <a:lstStyle/>
          <a:p>
            <a:pPr indent="0" marL="0">
              <a:buNone/>
            </a:pPr>
            <a:r>
              <a:rPr lang="en-US" sz="1500" b="1" dirty="0">
                <a:solidFill>
                  <a:srgbClr val="494985"/>
                </a:solidFill>
                <a:latin typeface="Quicksand" pitchFamily="34" charset="0"/>
                <a:ea typeface="Quicksand" pitchFamily="34" charset="-122"/>
                <a:cs typeface="Quicksand" pitchFamily="34" charset="-120"/>
              </a:rPr>
              <a:t>Illustrative leaves, not diagnostic photos. Predict the effect, suggest an improvement, then do Task 5.</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Rules or learned patterns?</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Compare</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18</a:t>
            </a:r>
            <a:endParaRPr lang="en-US" sz="1350" dirty="0"/>
          </a:p>
        </p:txBody>
      </p:sp>
      <p:sp>
        <p:nvSpPr>
          <p:cNvPr id="7" name="Shape 4"/>
          <p:cNvSpPr/>
          <p:nvPr/>
        </p:nvSpPr>
        <p:spPr>
          <a:xfrm>
            <a:off x="685800" y="1508760"/>
            <a:ext cx="5120640" cy="4023360"/>
          </a:xfrm>
          <a:prstGeom prst="roundRect">
            <a:avLst>
              <a:gd name="adj" fmla="val 3409"/>
            </a:avLst>
          </a:prstGeom>
          <a:solidFill>
            <a:srgbClr val="F6F5FC"/>
          </a:solidFill>
          <a:ln w="12700">
            <a:solidFill>
              <a:srgbClr val="F6F5FC"/>
            </a:solidFill>
            <a:prstDash val="solid"/>
          </a:ln>
        </p:spPr>
      </p:sp>
      <p:sp>
        <p:nvSpPr>
          <p:cNvPr id="8" name="Shape 5"/>
          <p:cNvSpPr/>
          <p:nvPr/>
        </p:nvSpPr>
        <p:spPr>
          <a:xfrm>
            <a:off x="6355080" y="1508760"/>
            <a:ext cx="5120640" cy="4023360"/>
          </a:xfrm>
          <a:prstGeom prst="roundRect">
            <a:avLst>
              <a:gd name="adj" fmla="val 3409"/>
            </a:avLst>
          </a:prstGeom>
          <a:solidFill>
            <a:srgbClr val="E4F1EA"/>
          </a:solidFill>
          <a:ln w="12700">
            <a:solidFill>
              <a:srgbClr val="E4F1EA"/>
            </a:solidFill>
            <a:prstDash val="solid"/>
          </a:ln>
        </p:spPr>
      </p:sp>
      <p:pic>
        <p:nvPicPr>
          <p:cNvPr id="9" name="Image 0" descr="list filter">    </p:cNvPr>
          <p:cNvPicPr>
            <a:picLocks noChangeAspect="1"/>
          </p:cNvPicPr>
          <p:nvPr/>
        </p:nvPicPr>
        <p:blipFill>
          <a:blip r:embed="rId1"/>
          <a:stretch>
            <a:fillRect/>
          </a:stretch>
        </p:blipFill>
        <p:spPr>
          <a:xfrm>
            <a:off x="2697480" y="1737360"/>
            <a:ext cx="1005840" cy="1005840"/>
          </a:xfrm>
          <a:prstGeom prst="rect">
            <a:avLst/>
          </a:prstGeom>
        </p:spPr>
      </p:pic>
      <p:pic>
        <p:nvPicPr>
          <p:cNvPr id="10" name="Image 1" descr="brain circuit">    </p:cNvPr>
          <p:cNvPicPr>
            <a:picLocks noChangeAspect="1"/>
          </p:cNvPicPr>
          <p:nvPr/>
        </p:nvPicPr>
        <p:blipFill>
          <a:blip r:embed="rId2"/>
          <a:stretch>
            <a:fillRect/>
          </a:stretch>
        </p:blipFill>
        <p:spPr>
          <a:xfrm>
            <a:off x="8412480" y="1737360"/>
            <a:ext cx="1005840" cy="1005840"/>
          </a:xfrm>
          <a:prstGeom prst="rect">
            <a:avLst/>
          </a:prstGeom>
        </p:spPr>
      </p:pic>
      <p:sp>
        <p:nvSpPr>
          <p:cNvPr id="11" name="Text 6"/>
          <p:cNvSpPr txBox="1"/>
          <p:nvPr/>
        </p:nvSpPr>
        <p:spPr>
          <a:xfrm>
            <a:off x="868680" y="2926080"/>
            <a:ext cx="4754880" cy="594360"/>
          </a:xfrm>
          <a:prstGeom prst="rect">
            <a:avLst/>
          </a:prstGeom>
          <a:noFill/>
          <a:ln/>
        </p:spPr>
        <p:txBody>
          <a:bodyPr wrap="square" lIns="0" tIns="0" rIns="0" bIns="0" rtlCol="0" anchor="t"/>
          <a:lstStyle/>
          <a:p>
            <a:pPr algn="ctr" indent="0" marL="0">
              <a:spcAft>
                <a:spcPts val="600"/>
              </a:spcAft>
              <a:buNone/>
            </a:pPr>
            <a:r>
              <a:rPr lang="en-US" sz="2400" b="1" dirty="0">
                <a:solidFill>
                  <a:srgbClr val="494985"/>
                </a:solidFill>
                <a:latin typeface="Quicksand" pitchFamily="34" charset="0"/>
                <a:ea typeface="Quicksand" pitchFamily="34" charset="-122"/>
                <a:cs typeface="Quicksand" pitchFamily="34" charset="-120"/>
              </a:rPr>
              <a:t>Rule-based expert system</a:t>
            </a:r>
            <a:endParaRPr lang="en-US" sz="2400" dirty="0"/>
          </a:p>
        </p:txBody>
      </p:sp>
      <p:sp>
        <p:nvSpPr>
          <p:cNvPr id="12" name="Text 7"/>
          <p:cNvSpPr txBox="1"/>
          <p:nvPr/>
        </p:nvSpPr>
        <p:spPr>
          <a:xfrm>
            <a:off x="6537960" y="2926080"/>
            <a:ext cx="4754880" cy="594360"/>
          </a:xfrm>
          <a:prstGeom prst="rect">
            <a:avLst/>
          </a:prstGeom>
          <a:noFill/>
          <a:ln/>
        </p:spPr>
        <p:txBody>
          <a:bodyPr wrap="square" lIns="0" tIns="0" rIns="0" bIns="0" rtlCol="0" anchor="t"/>
          <a:lstStyle/>
          <a:p>
            <a:pPr algn="ctr" indent="0" marL="0">
              <a:spcAft>
                <a:spcPts val="600"/>
              </a:spcAft>
              <a:buNone/>
            </a:pPr>
            <a:r>
              <a:rPr lang="en-US" sz="2400" b="1" dirty="0">
                <a:solidFill>
                  <a:srgbClr val="494985"/>
                </a:solidFill>
                <a:latin typeface="Quicksand" pitchFamily="34" charset="0"/>
                <a:ea typeface="Quicksand" pitchFamily="34" charset="-122"/>
                <a:cs typeface="Quicksand" pitchFamily="34" charset="-120"/>
              </a:rPr>
              <a:t>Machine learning</a:t>
            </a:r>
            <a:endParaRPr lang="en-US" sz="2400" dirty="0"/>
          </a:p>
        </p:txBody>
      </p:sp>
      <p:sp>
        <p:nvSpPr>
          <p:cNvPr id="13" name="Text 8"/>
          <p:cNvSpPr txBox="1"/>
          <p:nvPr/>
        </p:nvSpPr>
        <p:spPr>
          <a:xfrm>
            <a:off x="1051560" y="3703320"/>
            <a:ext cx="4434840" cy="1600200"/>
          </a:xfrm>
          <a:prstGeom prst="rect">
            <a:avLst/>
          </a:prstGeom>
          <a:noFill/>
          <a:ln/>
        </p:spPr>
        <p:txBody>
          <a:bodyPr wrap="square" lIns="0" tIns="0" rIns="0" bIns="0" rtlCol="0" anchor="t"/>
          <a:lstStyle/>
          <a:p>
            <a:pPr indent="0" marL="0">
              <a:spcAft>
                <a:spcPts val="600"/>
              </a:spcAft>
              <a:buNone/>
            </a:pPr>
            <a:r>
              <a:rPr lang="en-US" sz="2100" dirty="0">
                <a:solidFill>
                  <a:srgbClr val="202124"/>
                </a:solidFill>
                <a:latin typeface="Quicksand" pitchFamily="34" charset="0"/>
                <a:ea typeface="Quicksand" pitchFamily="34" charset="-122"/>
                <a:cs typeface="Quicksand" pitchFamily="34" charset="-120"/>
              </a:rPr>
              <a:t>Human expert supplies knowledge.</a:t>
            </a:r>
            <a:endParaRPr lang="en-US" sz="2100" dirty="0"/>
          </a:p>
          <a:p>
            <a:pPr indent="0" marL="0">
              <a:spcAft>
                <a:spcPts val="600"/>
              </a:spcAft>
              <a:buNone/>
            </a:pPr>
            <a:r>
              <a:rPr lang="en-US" sz="2100" dirty="0">
                <a:solidFill>
                  <a:srgbClr val="202124"/>
                </a:solidFill>
                <a:latin typeface="Quicksand" pitchFamily="34" charset="0"/>
                <a:ea typeface="Quicksand" pitchFamily="34" charset="-122"/>
                <a:cs typeface="Quicksand" pitchFamily="34" charset="-120"/>
              </a:rPr>
              <a:t>Engine applies stored rules.</a:t>
            </a:r>
            <a:endParaRPr lang="en-US" sz="2100" dirty="0"/>
          </a:p>
          <a:p>
            <a:pPr indent="0" marL="0">
              <a:spcAft>
                <a:spcPts val="600"/>
              </a:spcAft>
              <a:buNone/>
            </a:pPr>
            <a:r>
              <a:rPr lang="en-US" sz="2100" dirty="0">
                <a:solidFill>
                  <a:srgbClr val="202124"/>
                </a:solidFill>
                <a:latin typeface="Quicksand" pitchFamily="34" charset="0"/>
                <a:ea typeface="Quicksand" pitchFamily="34" charset="-122"/>
                <a:cs typeface="Quicksand" pitchFamily="34" charset="-120"/>
              </a:rPr>
              <a:t>Experts update and test the rules.</a:t>
            </a:r>
            <a:endParaRPr lang="en-US" sz="2100" dirty="0"/>
          </a:p>
        </p:txBody>
      </p:sp>
      <p:sp>
        <p:nvSpPr>
          <p:cNvPr id="14" name="Text 9"/>
          <p:cNvSpPr txBox="1"/>
          <p:nvPr/>
        </p:nvSpPr>
        <p:spPr>
          <a:xfrm>
            <a:off x="6720840" y="3703320"/>
            <a:ext cx="4434840" cy="1600200"/>
          </a:xfrm>
          <a:prstGeom prst="rect">
            <a:avLst/>
          </a:prstGeom>
          <a:noFill/>
          <a:ln/>
        </p:spPr>
        <p:txBody>
          <a:bodyPr wrap="square" lIns="0" tIns="0" rIns="0" bIns="0" rtlCol="0" anchor="t"/>
          <a:lstStyle/>
          <a:p>
            <a:pPr indent="0" marL="0">
              <a:spcAft>
                <a:spcPts val="600"/>
              </a:spcAft>
              <a:buNone/>
            </a:pPr>
            <a:r>
              <a:rPr lang="en-US" sz="2100" dirty="0">
                <a:solidFill>
                  <a:srgbClr val="202124"/>
                </a:solidFill>
                <a:latin typeface="Quicksand" pitchFamily="34" charset="0"/>
                <a:ea typeface="Quicksand" pitchFamily="34" charset="-122"/>
                <a:cs typeface="Quicksand" pitchFamily="34" charset="-120"/>
              </a:rPr>
              <a:t>Examples supply the evidence.</a:t>
            </a:r>
            <a:endParaRPr lang="en-US" sz="2100" dirty="0"/>
          </a:p>
          <a:p>
            <a:pPr indent="0" marL="0">
              <a:spcAft>
                <a:spcPts val="600"/>
              </a:spcAft>
              <a:buNone/>
            </a:pPr>
            <a:r>
              <a:rPr lang="en-US" sz="2100" dirty="0">
                <a:solidFill>
                  <a:srgbClr val="202124"/>
                </a:solidFill>
                <a:latin typeface="Quicksand" pitchFamily="34" charset="0"/>
                <a:ea typeface="Quicksand" pitchFamily="34" charset="-122"/>
                <a:cs typeface="Quicksand" pitchFamily="34" charset="-120"/>
              </a:rPr>
              <a:t>Training learns useful patterns.</a:t>
            </a:r>
            <a:endParaRPr lang="en-US" sz="2100" dirty="0"/>
          </a:p>
          <a:p>
            <a:pPr indent="0" marL="0">
              <a:spcAft>
                <a:spcPts val="600"/>
              </a:spcAft>
              <a:buNone/>
            </a:pPr>
            <a:r>
              <a:rPr lang="en-US" sz="2100" dirty="0">
                <a:solidFill>
                  <a:srgbClr val="202124"/>
                </a:solidFill>
                <a:latin typeface="Quicksand" pitchFamily="34" charset="0"/>
                <a:ea typeface="Quicksand" pitchFamily="34" charset="-122"/>
                <a:cs typeface="Quicksand" pitchFamily="34" charset="-120"/>
              </a:rPr>
              <a:t>Improve data, retrain and test.</a:t>
            </a:r>
            <a:endParaRPr lang="en-US" sz="2100" dirty="0"/>
          </a:p>
        </p:txBody>
      </p:sp>
      <p:sp>
        <p:nvSpPr>
          <p:cNvPr id="15" name="Text 10"/>
          <p:cNvSpPr txBox="1"/>
          <p:nvPr/>
        </p:nvSpPr>
        <p:spPr>
          <a:xfrm>
            <a:off x="685800" y="5623560"/>
            <a:ext cx="10698480" cy="438912"/>
          </a:xfrm>
          <a:prstGeom prst="rect">
            <a:avLst/>
          </a:prstGeom>
          <a:noFill/>
          <a:ln/>
        </p:spPr>
        <p:txBody>
          <a:bodyPr wrap="square" lIns="0" tIns="0" rIns="0" bIns="0" rtlCol="0" anchor="t"/>
          <a:lstStyle/>
          <a:p>
            <a:pPr indent="0" marL="0">
              <a:buNone/>
            </a:pPr>
            <a:r>
              <a:rPr lang="en-US" sz="1500" b="1" dirty="0">
                <a:solidFill>
                  <a:srgbClr val="494985"/>
                </a:solidFill>
                <a:latin typeface="Quicksand" pitchFamily="34" charset="0"/>
                <a:ea typeface="Quicksand" pitchFamily="34" charset="-122"/>
                <a:cs typeface="Quicksand" pitchFamily="34" charset="-120"/>
              </a:rPr>
              <a:t>Either approach can fail. They can also be combined in one system.</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Exam technique: explain the link</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Exam-style practice</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19</a:t>
            </a:r>
            <a:endParaRPr lang="en-US" sz="1350" dirty="0"/>
          </a:p>
        </p:txBody>
      </p:sp>
      <p:sp>
        <p:nvSpPr>
          <p:cNvPr id="7" name="Shape 4"/>
          <p:cNvSpPr/>
          <p:nvPr/>
        </p:nvSpPr>
        <p:spPr>
          <a:xfrm>
            <a:off x="685800" y="1737360"/>
            <a:ext cx="3337560" cy="1920240"/>
          </a:xfrm>
          <a:prstGeom prst="roundRect">
            <a:avLst>
              <a:gd name="adj" fmla="val 5714"/>
            </a:avLst>
          </a:prstGeom>
          <a:solidFill>
            <a:srgbClr val="F6F5FC"/>
          </a:solidFill>
          <a:ln w="12700">
            <a:solidFill>
              <a:srgbClr val="E1E0EF"/>
            </a:solidFill>
            <a:prstDash val="solid"/>
          </a:ln>
        </p:spPr>
      </p:sp>
      <p:sp>
        <p:nvSpPr>
          <p:cNvPr id="8" name="Text 5"/>
          <p:cNvSpPr txBox="1"/>
          <p:nvPr/>
        </p:nvSpPr>
        <p:spPr>
          <a:xfrm>
            <a:off x="868680" y="1901952"/>
            <a:ext cx="2971800" cy="548640"/>
          </a:xfrm>
          <a:prstGeom prst="rect">
            <a:avLst/>
          </a:prstGeom>
          <a:noFill/>
          <a:ln/>
        </p:spPr>
        <p:txBody>
          <a:bodyPr wrap="square" lIns="0" tIns="0" rIns="0" bIns="0" rtlCol="0" anchor="t"/>
          <a:lstStyle/>
          <a:p>
            <a:pPr indent="0" marL="0">
              <a:spcAft>
                <a:spcPts val="600"/>
              </a:spcAft>
              <a:buNone/>
            </a:pPr>
            <a:r>
              <a:rPr lang="en-US" sz="2000" b="1" dirty="0">
                <a:solidFill>
                  <a:srgbClr val="494985"/>
                </a:solidFill>
                <a:latin typeface="Quicksand" pitchFamily="34" charset="0"/>
                <a:ea typeface="Quicksand" pitchFamily="34" charset="-122"/>
                <a:cs typeface="Quicksand" pitchFamily="34" charset="-120"/>
              </a:rPr>
              <a:t>Name the mechanism</a:t>
            </a:r>
            <a:endParaRPr lang="en-US" sz="2000" dirty="0"/>
          </a:p>
        </p:txBody>
      </p:sp>
      <p:sp>
        <p:nvSpPr>
          <p:cNvPr id="9" name="Text 6"/>
          <p:cNvSpPr txBox="1"/>
          <p:nvPr/>
        </p:nvSpPr>
        <p:spPr>
          <a:xfrm>
            <a:off x="868680" y="2514600"/>
            <a:ext cx="2971800" cy="1051560"/>
          </a:xfrm>
          <a:prstGeom prst="rect">
            <a:avLst/>
          </a:prstGeom>
          <a:noFill/>
          <a:ln/>
        </p:spPr>
        <p:txBody>
          <a:bodyPr wrap="square" lIns="0" tIns="0" rIns="0" bIns="0" rtlCol="0" anchor="t"/>
          <a:lstStyle/>
          <a:p>
            <a:pPr indent="0" marL="0">
              <a:spcAft>
                <a:spcPts val="600"/>
              </a:spcAft>
              <a:buNone/>
            </a:pPr>
            <a:r>
              <a:rPr lang="en-US" sz="1600" dirty="0">
                <a:solidFill>
                  <a:srgbClr val="202124"/>
                </a:solidFill>
                <a:latin typeface="Quicksand" pitchFamily="34" charset="0"/>
                <a:ea typeface="Quicksand" pitchFamily="34" charset="-122"/>
                <a:cs typeface="Quicksand" pitchFamily="34" charset="-120"/>
              </a:rPr>
              <a:t>Stored expert rules are applied consistently.</a:t>
            </a:r>
            <a:endParaRPr lang="en-US" sz="1600" dirty="0"/>
          </a:p>
        </p:txBody>
      </p:sp>
      <p:sp>
        <p:nvSpPr>
          <p:cNvPr id="10" name="Shape 7"/>
          <p:cNvSpPr/>
          <p:nvPr/>
        </p:nvSpPr>
        <p:spPr>
          <a:xfrm>
            <a:off x="4434840" y="1737360"/>
            <a:ext cx="3337560" cy="1920240"/>
          </a:xfrm>
          <a:prstGeom prst="roundRect">
            <a:avLst>
              <a:gd name="adj" fmla="val 5714"/>
            </a:avLst>
          </a:prstGeom>
          <a:solidFill>
            <a:srgbClr val="F6F5FC"/>
          </a:solidFill>
          <a:ln w="12700">
            <a:solidFill>
              <a:srgbClr val="E1E0EF"/>
            </a:solidFill>
            <a:prstDash val="solid"/>
          </a:ln>
        </p:spPr>
      </p:sp>
      <p:sp>
        <p:nvSpPr>
          <p:cNvPr id="11" name="Text 8"/>
          <p:cNvSpPr txBox="1"/>
          <p:nvPr/>
        </p:nvSpPr>
        <p:spPr>
          <a:xfrm>
            <a:off x="4617720" y="1901952"/>
            <a:ext cx="2971800" cy="548640"/>
          </a:xfrm>
          <a:prstGeom prst="rect">
            <a:avLst/>
          </a:prstGeom>
          <a:noFill/>
          <a:ln/>
        </p:spPr>
        <p:txBody>
          <a:bodyPr wrap="square" lIns="0" tIns="0" rIns="0" bIns="0" rtlCol="0" anchor="t"/>
          <a:lstStyle/>
          <a:p>
            <a:pPr indent="0" marL="0">
              <a:spcAft>
                <a:spcPts val="600"/>
              </a:spcAft>
              <a:buNone/>
            </a:pPr>
            <a:r>
              <a:rPr lang="en-US" sz="2000" b="1" dirty="0">
                <a:solidFill>
                  <a:srgbClr val="494985"/>
                </a:solidFill>
                <a:latin typeface="Quicksand" pitchFamily="34" charset="0"/>
                <a:ea typeface="Quicksand" pitchFamily="34" charset="-122"/>
                <a:cs typeface="Quicksand" pitchFamily="34" charset="-120"/>
              </a:rPr>
              <a:t>Apply to the scenario</a:t>
            </a:r>
            <a:endParaRPr lang="en-US" sz="2000" dirty="0"/>
          </a:p>
        </p:txBody>
      </p:sp>
      <p:sp>
        <p:nvSpPr>
          <p:cNvPr id="12" name="Text 9"/>
          <p:cNvSpPr txBox="1"/>
          <p:nvPr/>
        </p:nvSpPr>
        <p:spPr>
          <a:xfrm>
            <a:off x="4617720" y="2514600"/>
            <a:ext cx="2971800" cy="1051560"/>
          </a:xfrm>
          <a:prstGeom prst="rect">
            <a:avLst/>
          </a:prstGeom>
          <a:noFill/>
          <a:ln/>
        </p:spPr>
        <p:txBody>
          <a:bodyPr wrap="square" lIns="0" tIns="0" rIns="0" bIns="0" rtlCol="0" anchor="t"/>
          <a:lstStyle/>
          <a:p>
            <a:pPr indent="0" marL="0">
              <a:spcAft>
                <a:spcPts val="600"/>
              </a:spcAft>
              <a:buNone/>
            </a:pPr>
            <a:r>
              <a:rPr lang="en-US" sz="1600" dirty="0">
                <a:solidFill>
                  <a:srgbClr val="202124"/>
                </a:solidFill>
                <a:latin typeface="Quicksand" pitchFamily="34" charset="0"/>
                <a:ea typeface="Quicksand" pitchFamily="34" charset="-122"/>
                <a:cs typeface="Quicksand" pitchFamily="34" charset="-120"/>
              </a:rPr>
              <a:t>Different technicians receive the same advice for the same printer evidence.</a:t>
            </a:r>
            <a:endParaRPr lang="en-US" sz="1600" dirty="0"/>
          </a:p>
        </p:txBody>
      </p:sp>
      <p:sp>
        <p:nvSpPr>
          <p:cNvPr id="13" name="Shape 10"/>
          <p:cNvSpPr/>
          <p:nvPr/>
        </p:nvSpPr>
        <p:spPr>
          <a:xfrm>
            <a:off x="8183880" y="1737360"/>
            <a:ext cx="3337560" cy="1920240"/>
          </a:xfrm>
          <a:prstGeom prst="roundRect">
            <a:avLst>
              <a:gd name="adj" fmla="val 5714"/>
            </a:avLst>
          </a:prstGeom>
          <a:solidFill>
            <a:srgbClr val="F6F5FC"/>
          </a:solidFill>
          <a:ln w="12700">
            <a:solidFill>
              <a:srgbClr val="E1E0EF"/>
            </a:solidFill>
            <a:prstDash val="solid"/>
          </a:ln>
        </p:spPr>
      </p:sp>
      <p:sp>
        <p:nvSpPr>
          <p:cNvPr id="14" name="Text 11"/>
          <p:cNvSpPr txBox="1"/>
          <p:nvPr/>
        </p:nvSpPr>
        <p:spPr>
          <a:xfrm>
            <a:off x="8366760" y="1901952"/>
            <a:ext cx="2971800" cy="548640"/>
          </a:xfrm>
          <a:prstGeom prst="rect">
            <a:avLst/>
          </a:prstGeom>
          <a:noFill/>
          <a:ln/>
        </p:spPr>
        <p:txBody>
          <a:bodyPr wrap="square" lIns="0" tIns="0" rIns="0" bIns="0" rtlCol="0" anchor="t"/>
          <a:lstStyle/>
          <a:p>
            <a:pPr indent="0" marL="0">
              <a:spcAft>
                <a:spcPts val="600"/>
              </a:spcAft>
              <a:buNone/>
            </a:pPr>
            <a:r>
              <a:rPr lang="en-US" sz="2000" b="1" dirty="0">
                <a:solidFill>
                  <a:srgbClr val="494985"/>
                </a:solidFill>
                <a:latin typeface="Quicksand" pitchFamily="34" charset="0"/>
                <a:ea typeface="Quicksand" pitchFamily="34" charset="-122"/>
                <a:cs typeface="Quicksand" pitchFamily="34" charset="-120"/>
              </a:rPr>
              <a:t>Recognise a limit</a:t>
            </a:r>
            <a:endParaRPr lang="en-US" sz="2000" dirty="0"/>
          </a:p>
        </p:txBody>
      </p:sp>
      <p:sp>
        <p:nvSpPr>
          <p:cNvPr id="15" name="Text 12"/>
          <p:cNvSpPr txBox="1"/>
          <p:nvPr/>
        </p:nvSpPr>
        <p:spPr>
          <a:xfrm>
            <a:off x="8366760" y="2514600"/>
            <a:ext cx="2971800" cy="1051560"/>
          </a:xfrm>
          <a:prstGeom prst="rect">
            <a:avLst/>
          </a:prstGeom>
          <a:noFill/>
          <a:ln/>
        </p:spPr>
        <p:txBody>
          <a:bodyPr wrap="square" lIns="0" tIns="0" rIns="0" bIns="0" rtlCol="0" anchor="t"/>
          <a:lstStyle/>
          <a:p>
            <a:pPr indent="0" marL="0">
              <a:spcAft>
                <a:spcPts val="600"/>
              </a:spcAft>
              <a:buNone/>
            </a:pPr>
            <a:r>
              <a:rPr lang="en-US" sz="1600" dirty="0">
                <a:solidFill>
                  <a:srgbClr val="202124"/>
                </a:solidFill>
                <a:latin typeface="Quicksand" pitchFamily="34" charset="0"/>
                <a:ea typeface="Quicksand" pitchFamily="34" charset="-122"/>
                <a:cs typeface="Quicksand" pitchFamily="34" charset="-120"/>
              </a:rPr>
              <a:t>A missing rule may prevent the system handling a new printer fault.</a:t>
            </a:r>
            <a:endParaRPr lang="en-US" sz="1600" dirty="0"/>
          </a:p>
        </p:txBody>
      </p:sp>
      <p:sp>
        <p:nvSpPr>
          <p:cNvPr id="16" name="Text 13"/>
          <p:cNvSpPr txBox="1"/>
          <p:nvPr/>
        </p:nvSpPr>
        <p:spPr>
          <a:xfrm>
            <a:off x="685800" y="5623560"/>
            <a:ext cx="10698480" cy="438912"/>
          </a:xfrm>
          <a:prstGeom prst="rect">
            <a:avLst/>
          </a:prstGeom>
          <a:noFill/>
          <a:ln/>
        </p:spPr>
        <p:txBody>
          <a:bodyPr wrap="square" lIns="0" tIns="0" rIns="0" bIns="0" rtlCol="0" anchor="t"/>
          <a:lstStyle/>
          <a:p>
            <a:pPr indent="0" marL="0">
              <a:buNone/>
            </a:pPr>
            <a:r>
              <a:rPr lang="en-US" sz="1500" b="1" dirty="0">
                <a:solidFill>
                  <a:srgbClr val="494985"/>
                </a:solidFill>
                <a:latin typeface="Quicksand" pitchFamily="34" charset="0"/>
                <a:ea typeface="Quicksand" pitchFamily="34" charset="-122"/>
                <a:cs typeface="Quicksand" pitchFamily="34" charset="-120"/>
              </a:rPr>
              <a:t>“It is better” or “it is smarter” is not an explanation.</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Choose, justify, challenge</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Task 6 · extension</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20</a:t>
            </a:r>
            <a:endParaRPr lang="en-US" sz="1350" dirty="0"/>
          </a:p>
        </p:txBody>
      </p:sp>
      <p:sp>
        <p:nvSpPr>
          <p:cNvPr id="7" name="Shape 4"/>
          <p:cNvSpPr/>
          <p:nvPr/>
        </p:nvSpPr>
        <p:spPr>
          <a:xfrm>
            <a:off x="685800" y="1508760"/>
            <a:ext cx="5120640" cy="3383280"/>
          </a:xfrm>
          <a:prstGeom prst="roundRect">
            <a:avLst>
              <a:gd name="adj" fmla="val 4054"/>
            </a:avLst>
          </a:prstGeom>
          <a:solidFill>
            <a:srgbClr val="F6F5FC"/>
          </a:solidFill>
          <a:ln w="12700">
            <a:solidFill>
              <a:srgbClr val="F6F5FC"/>
            </a:solidFill>
            <a:prstDash val="solid"/>
          </a:ln>
        </p:spPr>
      </p:sp>
      <p:pic>
        <p:nvPicPr>
          <p:cNvPr id="8" name="Image 0" descr="book open">    </p:cNvPr>
          <p:cNvPicPr>
            <a:picLocks noChangeAspect="1"/>
          </p:cNvPicPr>
          <p:nvPr/>
        </p:nvPicPr>
        <p:blipFill>
          <a:blip r:embed="rId1"/>
          <a:stretch>
            <a:fillRect/>
          </a:stretch>
        </p:blipFill>
        <p:spPr>
          <a:xfrm>
            <a:off x="2560320" y="1783080"/>
            <a:ext cx="1188720" cy="1188720"/>
          </a:xfrm>
          <a:prstGeom prst="rect">
            <a:avLst/>
          </a:prstGeom>
        </p:spPr>
      </p:pic>
      <p:sp>
        <p:nvSpPr>
          <p:cNvPr id="9" name="Text 5"/>
          <p:cNvSpPr txBox="1"/>
          <p:nvPr/>
        </p:nvSpPr>
        <p:spPr>
          <a:xfrm>
            <a:off x="868680" y="3246120"/>
            <a:ext cx="4754880" cy="594360"/>
          </a:xfrm>
          <a:prstGeom prst="rect">
            <a:avLst/>
          </a:prstGeom>
          <a:noFill/>
          <a:ln/>
        </p:spPr>
        <p:txBody>
          <a:bodyPr wrap="square" lIns="0" tIns="0" rIns="0" bIns="0" rtlCol="0" anchor="t"/>
          <a:lstStyle/>
          <a:p>
            <a:pPr algn="ctr" indent="0" marL="0">
              <a:spcAft>
                <a:spcPts val="600"/>
              </a:spcAft>
              <a:buNone/>
            </a:pPr>
            <a:r>
              <a:rPr lang="en-US" sz="2400" b="1" dirty="0">
                <a:solidFill>
                  <a:srgbClr val="494985"/>
                </a:solidFill>
                <a:latin typeface="Quicksand" pitchFamily="34" charset="0"/>
                <a:ea typeface="Quicksand" pitchFamily="34" charset="-122"/>
                <a:cs typeface="Quicksand" pitchFamily="34" charset="-120"/>
              </a:rPr>
              <a:t>Library fines</a:t>
            </a:r>
            <a:endParaRPr lang="en-US" sz="2400" dirty="0"/>
          </a:p>
        </p:txBody>
      </p:sp>
      <p:sp>
        <p:nvSpPr>
          <p:cNvPr id="10" name="Text 6"/>
          <p:cNvSpPr txBox="1"/>
          <p:nvPr/>
        </p:nvSpPr>
        <p:spPr>
          <a:xfrm>
            <a:off x="960120" y="3977640"/>
            <a:ext cx="4572000" cy="594360"/>
          </a:xfrm>
          <a:prstGeom prst="rect">
            <a:avLst/>
          </a:prstGeom>
          <a:noFill/>
          <a:ln/>
        </p:spPr>
        <p:txBody>
          <a:bodyPr wrap="square" lIns="0" tIns="0" rIns="0" bIns="0" rtlCol="0" anchor="t"/>
          <a:lstStyle/>
          <a:p>
            <a:pPr algn="ctr" indent="0" marL="0">
              <a:spcAft>
                <a:spcPts val="600"/>
              </a:spcAft>
              <a:buNone/>
            </a:pPr>
            <a:r>
              <a:rPr lang="en-US" sz="2100" dirty="0">
                <a:solidFill>
                  <a:srgbClr val="202124"/>
                </a:solidFill>
                <a:latin typeface="Quicksand" pitchFamily="34" charset="0"/>
                <a:ea typeface="Quicksand" pitchFamily="34" charset="-122"/>
                <a:cs typeface="Quicksand" pitchFamily="34" charset="-120"/>
              </a:rPr>
              <a:t>A fixed published policy</a:t>
            </a:r>
            <a:endParaRPr lang="en-US" sz="2100" dirty="0"/>
          </a:p>
        </p:txBody>
      </p:sp>
      <p:sp>
        <p:nvSpPr>
          <p:cNvPr id="11" name="Shape 7"/>
          <p:cNvSpPr/>
          <p:nvPr/>
        </p:nvSpPr>
        <p:spPr>
          <a:xfrm>
            <a:off x="6355080" y="1508760"/>
            <a:ext cx="5120640" cy="3383280"/>
          </a:xfrm>
          <a:prstGeom prst="roundRect">
            <a:avLst>
              <a:gd name="adj" fmla="val 4054"/>
            </a:avLst>
          </a:prstGeom>
          <a:solidFill>
            <a:srgbClr val="F6F5FC"/>
          </a:solidFill>
          <a:ln w="12700">
            <a:solidFill>
              <a:srgbClr val="F6F5FC"/>
            </a:solidFill>
            <a:prstDash val="solid"/>
          </a:ln>
        </p:spPr>
      </p:sp>
      <p:pic>
        <p:nvPicPr>
          <p:cNvPr id="12" name="Image 1" descr="recycle">    </p:cNvPr>
          <p:cNvPicPr>
            <a:picLocks noChangeAspect="1"/>
          </p:cNvPicPr>
          <p:nvPr/>
        </p:nvPicPr>
        <p:blipFill>
          <a:blip r:embed="rId2"/>
          <a:stretch>
            <a:fillRect/>
          </a:stretch>
        </p:blipFill>
        <p:spPr>
          <a:xfrm>
            <a:off x="8275320" y="1783080"/>
            <a:ext cx="1188720" cy="1188720"/>
          </a:xfrm>
          <a:prstGeom prst="rect">
            <a:avLst/>
          </a:prstGeom>
        </p:spPr>
      </p:pic>
      <p:sp>
        <p:nvSpPr>
          <p:cNvPr id="13" name="Text 8"/>
          <p:cNvSpPr txBox="1"/>
          <p:nvPr/>
        </p:nvSpPr>
        <p:spPr>
          <a:xfrm>
            <a:off x="6537960" y="3246120"/>
            <a:ext cx="4754880" cy="594360"/>
          </a:xfrm>
          <a:prstGeom prst="rect">
            <a:avLst/>
          </a:prstGeom>
          <a:noFill/>
          <a:ln/>
        </p:spPr>
        <p:txBody>
          <a:bodyPr wrap="square" lIns="0" tIns="0" rIns="0" bIns="0" rtlCol="0" anchor="t"/>
          <a:lstStyle/>
          <a:p>
            <a:pPr algn="ctr" indent="0" marL="0">
              <a:spcAft>
                <a:spcPts val="600"/>
              </a:spcAft>
              <a:buNone/>
            </a:pPr>
            <a:r>
              <a:rPr lang="en-US" sz="2400" b="1" dirty="0">
                <a:solidFill>
                  <a:srgbClr val="494985"/>
                </a:solidFill>
                <a:latin typeface="Quicksand" pitchFamily="34" charset="0"/>
                <a:ea typeface="Quicksand" pitchFamily="34" charset="-122"/>
                <a:cs typeface="Quicksand" pitchFamily="34" charset="-120"/>
              </a:rPr>
              <a:t>Sorting mixed waste</a:t>
            </a:r>
            <a:endParaRPr lang="en-US" sz="2400" dirty="0"/>
          </a:p>
        </p:txBody>
      </p:sp>
      <p:sp>
        <p:nvSpPr>
          <p:cNvPr id="14" name="Text 9"/>
          <p:cNvSpPr txBox="1"/>
          <p:nvPr/>
        </p:nvSpPr>
        <p:spPr>
          <a:xfrm>
            <a:off x="6629400" y="3977640"/>
            <a:ext cx="4572000" cy="594360"/>
          </a:xfrm>
          <a:prstGeom prst="rect">
            <a:avLst/>
          </a:prstGeom>
          <a:noFill/>
          <a:ln/>
        </p:spPr>
        <p:txBody>
          <a:bodyPr wrap="square" lIns="0" tIns="0" rIns="0" bIns="0" rtlCol="0" anchor="t"/>
          <a:lstStyle/>
          <a:p>
            <a:pPr algn="ctr" indent="0" marL="0">
              <a:spcAft>
                <a:spcPts val="600"/>
              </a:spcAft>
              <a:buNone/>
            </a:pPr>
            <a:r>
              <a:rPr lang="en-US" sz="2100" dirty="0">
                <a:solidFill>
                  <a:srgbClr val="202124"/>
                </a:solidFill>
                <a:latin typeface="Quicksand" pitchFamily="34" charset="0"/>
                <a:ea typeface="Quicksand" pitchFamily="34" charset="-122"/>
                <a:cs typeface="Quicksand" pitchFamily="34" charset="-120"/>
              </a:rPr>
              <a:t>Camera images of new items</a:t>
            </a:r>
            <a:endParaRPr lang="en-US" sz="2100" dirty="0"/>
          </a:p>
        </p:txBody>
      </p:sp>
      <p:sp>
        <p:nvSpPr>
          <p:cNvPr id="15" name="Text 10"/>
          <p:cNvSpPr txBox="1"/>
          <p:nvPr/>
        </p:nvSpPr>
        <p:spPr>
          <a:xfrm>
            <a:off x="868680" y="5212080"/>
            <a:ext cx="10607040" cy="594360"/>
          </a:xfrm>
          <a:prstGeom prst="rect">
            <a:avLst/>
          </a:prstGeom>
          <a:noFill/>
          <a:ln/>
        </p:spPr>
        <p:txBody>
          <a:bodyPr wrap="square" lIns="0" tIns="0" rIns="0" bIns="0" rtlCol="0" anchor="t"/>
          <a:lstStyle/>
          <a:p>
            <a:pPr indent="0" marL="0">
              <a:spcAft>
                <a:spcPts val="600"/>
              </a:spcAft>
              <a:buNone/>
            </a:pPr>
            <a:r>
              <a:rPr lang="en-US" sz="2300" b="1" dirty="0">
                <a:solidFill>
                  <a:srgbClr val="494985"/>
                </a:solidFill>
                <a:latin typeface="Quicksand" pitchFamily="34" charset="0"/>
                <a:ea typeface="Quicksand" pitchFamily="34" charset="-122"/>
                <a:cs typeface="Quicksand" pitchFamily="34" charset="-120"/>
              </a:rPr>
              <a:t>Choose → justify → identify a failure → suggest a safeguard</a:t>
            </a:r>
            <a:endParaRPr lang="en-US" sz="2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Spot the misconception</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Plenary</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21</a:t>
            </a:r>
            <a:endParaRPr lang="en-US" sz="13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85800" y="1508760"/>
          <a:ext cx="10789920" cy="914400"/>
        </p:xfrm>
        <a:graphic>
          <a:graphicData uri="http://schemas.openxmlformats.org/drawingml/2006/table">
            <a:tbl>
              <a:tblPr/>
              <a:tblGrid>
                <a:gridCol w="5852160"/>
                <a:gridCol w="4937760"/>
              </a:tblGrid>
              <a:tr h="822960">
                <a:tc>
                  <a:txBody>
                    <a:bodyPr/>
                    <a:lstStyle/>
                    <a:p>
                      <a:pPr indent="0" marL="0">
                        <a:buNone/>
                      </a:pPr>
                      <a:r>
                        <a:rPr lang="en-US" sz="1750" b="1" dirty="0">
                          <a:solidFill>
                            <a:srgbClr val="FFFFFF"/>
                          </a:solidFill>
                          <a:latin typeface="Quicksand" pitchFamily="34" charset="0"/>
                          <a:ea typeface="Quicksand" pitchFamily="34" charset="-122"/>
                          <a:cs typeface="Quicksand" pitchFamily="34" charset="-120"/>
                        </a:rPr>
                        <a:t>Claim</a:t>
                      </a:r>
                      <a:endParaRPr lang="en-US" sz="17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c>
                  <a:txBody>
                    <a:bodyPr/>
                    <a:lstStyle/>
                    <a:p>
                      <a:pPr indent="0" marL="0">
                        <a:buNone/>
                      </a:pPr>
                      <a:r>
                        <a:rPr lang="en-US" sz="1750" b="1" dirty="0">
                          <a:solidFill>
                            <a:srgbClr val="FFFFFF"/>
                          </a:solidFill>
                          <a:latin typeface="Quicksand" pitchFamily="34" charset="0"/>
                          <a:ea typeface="Quicksand" pitchFamily="34" charset="-122"/>
                          <a:cs typeface="Quicksand" pitchFamily="34" charset="-120"/>
                        </a:rPr>
                        <a:t>Your correction</a:t>
                      </a:r>
                      <a:endParaRPr lang="en-US" sz="175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94985"/>
                    </a:solidFill>
                  </a:tcPr>
                </a:tc>
              </a:tr>
              <a:tr h="822960">
                <a:tc>
                  <a:txBody>
                    <a:bodyPr/>
                    <a:lstStyle/>
                    <a:p>
                      <a:pPr indent="0" marL="0">
                        <a:buNone/>
                      </a:pPr>
                      <a:r>
                        <a:rPr lang="en-US" sz="1700" dirty="0">
                          <a:solidFill>
                            <a:srgbClr val="202124"/>
                          </a:solidFill>
                          <a:latin typeface="Quicksand" pitchFamily="34" charset="0"/>
                          <a:ea typeface="Quicksand" pitchFamily="34" charset="-122"/>
                          <a:cs typeface="Quicksand" pitchFamily="34" charset="-120"/>
                        </a:rPr>
                        <a:t>Every robot uses AI.</a:t>
                      </a:r>
                      <a:endParaRPr lang="en-US" sz="17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700" dirty="0">
                          <a:solidFill>
                            <a:srgbClr val="202124"/>
                          </a:solidFill>
                          <a:latin typeface="Quicksand" pitchFamily="34" charset="0"/>
                          <a:ea typeface="Quicksand" pitchFamily="34" charset="-122"/>
                          <a:cs typeface="Quicksand" pitchFamily="34" charset="-120"/>
                        </a:rPr>
                        <a:t>Explain the difference between repeating and learning.</a:t>
                      </a:r>
                      <a:endParaRPr lang="en-US" sz="17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822960">
                <a:tc>
                  <a:txBody>
                    <a:bodyPr/>
                    <a:lstStyle/>
                    <a:p>
                      <a:pPr indent="0" marL="0">
                        <a:buNone/>
                      </a:pPr>
                      <a:r>
                        <a:rPr lang="en-US" sz="1700" dirty="0">
                          <a:solidFill>
                            <a:srgbClr val="202124"/>
                          </a:solidFill>
                          <a:latin typeface="Quicksand" pitchFamily="34" charset="0"/>
                          <a:ea typeface="Quicksand" pitchFamily="34" charset="-122"/>
                          <a:cs typeface="Quicksand" pitchFamily="34" charset="-120"/>
                        </a:rPr>
                        <a:t>An expert system knows everything.</a:t>
                      </a:r>
                      <a:endParaRPr lang="en-US" sz="17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700" dirty="0">
                          <a:solidFill>
                            <a:srgbClr val="202124"/>
                          </a:solidFill>
                          <a:latin typeface="Quicksand" pitchFamily="34" charset="0"/>
                          <a:ea typeface="Quicksand" pitchFamily="34" charset="-122"/>
                          <a:cs typeface="Quicksand" pitchFamily="34" charset="-120"/>
                        </a:rPr>
                        <a:t>Think about its domain and missing rules.</a:t>
                      </a:r>
                      <a:endParaRPr lang="en-US" sz="17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822960">
                <a:tc>
                  <a:txBody>
                    <a:bodyPr/>
                    <a:lstStyle/>
                    <a:p>
                      <a:pPr indent="0" marL="0">
                        <a:buNone/>
                      </a:pPr>
                      <a:r>
                        <a:rPr lang="en-US" sz="1700" dirty="0">
                          <a:solidFill>
                            <a:srgbClr val="202124"/>
                          </a:solidFill>
                          <a:latin typeface="Quicksand" pitchFamily="34" charset="0"/>
                          <a:ea typeface="Quicksand" pitchFamily="34" charset="-122"/>
                          <a:cs typeface="Quicksand" pitchFamily="34" charset="-120"/>
                        </a:rPr>
                        <a:t>A machine-learning prediction is always correct.</a:t>
                      </a:r>
                      <a:endParaRPr lang="en-US" sz="17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c>
                  <a:txBody>
                    <a:bodyPr/>
                    <a:lstStyle/>
                    <a:p>
                      <a:pPr indent="0" marL="0">
                        <a:buNone/>
                      </a:pPr>
                      <a:r>
                        <a:rPr lang="en-US" sz="1700" dirty="0">
                          <a:solidFill>
                            <a:srgbClr val="202124"/>
                          </a:solidFill>
                          <a:latin typeface="Quicksand" pitchFamily="34" charset="0"/>
                          <a:ea typeface="Quicksand" pitchFamily="34" charset="-122"/>
                          <a:cs typeface="Quicksand" pitchFamily="34" charset="-120"/>
                        </a:rPr>
                        <a:t>Think about the input and training examples.</a:t>
                      </a:r>
                      <a:endParaRPr lang="en-US" sz="17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6F5FC"/>
                    </a:solidFill>
                  </a:tcPr>
                </a:tc>
              </a:tr>
              <a:tr h="822960">
                <a:tc>
                  <a:txBody>
                    <a:bodyPr/>
                    <a:lstStyle/>
                    <a:p>
                      <a:pPr indent="0" marL="0">
                        <a:buNone/>
                      </a:pPr>
                      <a:r>
                        <a:rPr lang="en-US" sz="1700" dirty="0">
                          <a:solidFill>
                            <a:srgbClr val="202124"/>
                          </a:solidFill>
                          <a:latin typeface="Quicksand" pitchFamily="34" charset="0"/>
                          <a:ea typeface="Quicksand" pitchFamily="34" charset="-122"/>
                          <a:cs typeface="Quicksand" pitchFamily="34" charset="-120"/>
                        </a:rPr>
                        <a:t>AI and machine learning mean the same thing.</a:t>
                      </a:r>
                      <a:endParaRPr lang="en-US" sz="17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700" dirty="0">
                          <a:solidFill>
                            <a:srgbClr val="202124"/>
                          </a:solidFill>
                          <a:latin typeface="Quicksand" pitchFamily="34" charset="0"/>
                          <a:ea typeface="Quicksand" pitchFamily="34" charset="-122"/>
                          <a:cs typeface="Quicksand" pitchFamily="34" charset="-120"/>
                        </a:rPr>
                        <a:t>Use the family diagram.</a:t>
                      </a:r>
                      <a:endParaRPr lang="en-US" sz="1700" dirty="0">
                        <a:latin typeface="Quicksand" charset="0"/>
                        <a:ea typeface="Quicksand" charset="0"/>
                        <a:cs typeface="Quicksand" charset="0"/>
                      </a:endParaRPr>
                    </a:p>
                  </a:txBody>
                  <a:tcPr marL="91440" marR="91440" marT="36576" marB="36576"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67512" y="347472"/>
            <a:ext cx="7955280" cy="548640"/>
          </a:xfrm>
          <a:prstGeom prst="rect">
            <a:avLst/>
          </a:prstGeom>
          <a:noFill/>
          <a:ln/>
        </p:spPr>
        <p:txBody>
          <a:bodyPr wrap="square" lIns="0" tIns="0" rIns="0" bIns="0" rtlCol="0" anchor="ctr"/>
          <a:lstStyle/>
          <a:p>
            <a:pPr indent="0" marL="0">
              <a:buNone/>
            </a:pPr>
            <a:r>
              <a:rPr lang="en-US" sz="2600" b="1" dirty="0">
                <a:solidFill>
                  <a:srgbClr val="202124"/>
                </a:solidFill>
                <a:latin typeface="Quicksand" pitchFamily="34" charset="0"/>
                <a:ea typeface="Quicksand" pitchFamily="34" charset="-122"/>
                <a:cs typeface="Quicksand" pitchFamily="34" charset="-120"/>
              </a:rPr>
              <a:t>Exit ticket: rules and learning</a:t>
            </a:r>
            <a:endParaRPr lang="en-US" sz="2600" dirty="0"/>
          </a:p>
        </p:txBody>
      </p:sp>
      <p:sp>
        <p:nvSpPr>
          <p:cNvPr id="3" name="Shape 1"/>
          <p:cNvSpPr/>
          <p:nvPr/>
        </p:nvSpPr>
        <p:spPr>
          <a:xfrm>
            <a:off x="667512" y="932688"/>
            <a:ext cx="1719072" cy="54864"/>
          </a:xfrm>
          <a:prstGeom prst="rect">
            <a:avLst/>
          </a:prstGeom>
          <a:solidFill>
            <a:srgbClr val="FFD84D"/>
          </a:solidFill>
          <a:ln w="12700">
            <a:solidFill>
              <a:srgbClr val="FFD84D"/>
            </a:solidFill>
            <a:prstDash val="solid"/>
          </a:ln>
        </p:spPr>
      </p:sp>
      <p:sp>
        <p:nvSpPr>
          <p:cNvPr id="4" name="Text 2"/>
          <p:cNvSpPr/>
          <p:nvPr/>
        </p:nvSpPr>
        <p:spPr>
          <a:xfrm>
            <a:off x="8823960" y="292608"/>
            <a:ext cx="2706624" cy="320040"/>
          </a:xfrm>
          <a:prstGeom prst="roundRect">
            <a:avLst>
              <a:gd name="adj" fmla="val 142857"/>
            </a:avLst>
          </a:prstGeom>
          <a:solidFill>
            <a:srgbClr val="FFFFFF"/>
          </a:solidFill>
          <a:ln w="15875">
            <a:solidFill>
              <a:srgbClr val="494985"/>
            </a:solidFill>
          </a:ln>
          <a:effectLst>
            <a:outerShdw sx="100000" sy="100000" kx="0" ky="0" algn="bl" rotWithShape="0" blurRad="38100" dist="19050" dir="5400000">
              <a:srgbClr val="000000">
                <a:alpha val="18000"/>
              </a:srgbClr>
            </a:outerShdw>
          </a:effectLst>
        </p:spPr>
        <p:txBody>
          <a:bodyPr wrap="square" lIns="0" tIns="0" rIns="0" bIns="0" rtlCol="0" anchor="ctr"/>
          <a:lstStyle/>
          <a:p>
            <a:pPr algn="ctr" indent="0" marL="0">
              <a:buNone/>
            </a:pPr>
            <a:r>
              <a:rPr lang="en-US" sz="1350" b="1" dirty="0">
                <a:solidFill>
                  <a:srgbClr val="494985"/>
                </a:solidFill>
                <a:latin typeface="Quicksand" pitchFamily="34" charset="0"/>
                <a:ea typeface="Quicksand" pitchFamily="34" charset="-122"/>
                <a:cs typeface="Quicksand" pitchFamily="34" charset="-120"/>
              </a:rPr>
              <a:t>Exit · 3 min</a:t>
            </a:r>
            <a:endParaRPr lang="en-US" sz="1350" dirty="0"/>
          </a:p>
        </p:txBody>
      </p:sp>
      <p:sp>
        <p:nvSpPr>
          <p:cNvPr id="5" name="Text 3"/>
          <p:cNvSpPr txBox="1"/>
          <p:nvPr/>
        </p:nvSpPr>
        <p:spPr>
          <a:xfrm>
            <a:off x="10917936" y="6263640"/>
            <a:ext cx="612648" cy="283464"/>
          </a:xfrm>
          <a:prstGeom prst="rect">
            <a:avLst/>
          </a:prstGeom>
          <a:noFill/>
          <a:ln/>
        </p:spPr>
        <p:txBody>
          <a:bodyPr wrap="square" lIns="0" tIns="0" rIns="0" bIns="0" rtlCol="0" anchor="ctr"/>
          <a:lstStyle/>
          <a:p>
            <a:pPr algn="r" indent="0" marL="0">
              <a:buNone/>
            </a:pPr>
            <a:r>
              <a:rPr lang="en-US" sz="1350" b="1" dirty="0">
                <a:solidFill>
                  <a:srgbClr val="202124"/>
                </a:solidFill>
                <a:latin typeface="Quicksand" pitchFamily="34" charset="0"/>
                <a:ea typeface="Quicksand" pitchFamily="34" charset="-122"/>
                <a:cs typeface="Quicksand" pitchFamily="34" charset="-120"/>
              </a:rPr>
              <a:t>22</a:t>
            </a:r>
            <a:endParaRPr lang="en-US" sz="1350" dirty="0"/>
          </a:p>
        </p:txBody>
      </p:sp>
      <p:sp>
        <p:nvSpPr>
          <p:cNvPr id="7" name="Shape 4"/>
          <p:cNvSpPr/>
          <p:nvPr/>
        </p:nvSpPr>
        <p:spPr>
          <a:xfrm>
            <a:off x="777240" y="1645920"/>
            <a:ext cx="10424160" cy="1097280"/>
          </a:xfrm>
          <a:prstGeom prst="rect">
            <a:avLst/>
          </a:prstGeom>
          <a:solidFill>
            <a:srgbClr val="F6F5FC"/>
          </a:solidFill>
          <a:ln w="12700">
            <a:solidFill>
              <a:srgbClr val="F6F5FC"/>
            </a:solidFill>
            <a:prstDash val="solid"/>
          </a:ln>
        </p:spPr>
      </p:sp>
      <p:sp>
        <p:nvSpPr>
          <p:cNvPr id="8" name="Text 5"/>
          <p:cNvSpPr/>
          <p:nvPr/>
        </p:nvSpPr>
        <p:spPr>
          <a:xfrm>
            <a:off x="914400" y="1783080"/>
            <a:ext cx="384048" cy="384048"/>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400" b="1" dirty="0">
                <a:solidFill>
                  <a:srgbClr val="FFFFFF"/>
                </a:solidFill>
                <a:latin typeface="Quicksand" pitchFamily="34" charset="0"/>
                <a:ea typeface="Quicksand" pitchFamily="34" charset="-122"/>
                <a:cs typeface="Quicksand" pitchFamily="34" charset="-120"/>
              </a:rPr>
              <a:t>1</a:t>
            </a:r>
            <a:endParaRPr lang="en-US" sz="1400" dirty="0"/>
          </a:p>
        </p:txBody>
      </p:sp>
      <p:sp>
        <p:nvSpPr>
          <p:cNvPr id="9" name="Text 6"/>
          <p:cNvSpPr txBox="1"/>
          <p:nvPr/>
        </p:nvSpPr>
        <p:spPr>
          <a:xfrm>
            <a:off x="1435608" y="1755648"/>
            <a:ext cx="9646920" cy="411480"/>
          </a:xfrm>
          <a:prstGeom prst="rect">
            <a:avLst/>
          </a:prstGeom>
          <a:noFill/>
          <a:ln/>
        </p:spPr>
        <p:txBody>
          <a:bodyPr wrap="square" lIns="0" tIns="0" rIns="0" bIns="0" rtlCol="0" anchor="ctr"/>
          <a:lstStyle/>
          <a:p>
            <a:pPr indent="0" marL="0">
              <a:buNone/>
            </a:pPr>
            <a:r>
              <a:rPr lang="en-US" sz="2100" b="1" dirty="0">
                <a:solidFill>
                  <a:srgbClr val="202124"/>
                </a:solidFill>
                <a:latin typeface="Quicksand" pitchFamily="34" charset="0"/>
                <a:ea typeface="Quicksand" pitchFamily="34" charset="-122"/>
                <a:cs typeface="Quicksand" pitchFamily="34" charset="-120"/>
              </a:rPr>
              <a:t>Rule-based adviser</a:t>
            </a:r>
            <a:endParaRPr lang="en-US" sz="2100" dirty="0"/>
          </a:p>
        </p:txBody>
      </p:sp>
      <p:sp>
        <p:nvSpPr>
          <p:cNvPr id="10" name="Text 7"/>
          <p:cNvSpPr txBox="1"/>
          <p:nvPr/>
        </p:nvSpPr>
        <p:spPr>
          <a:xfrm>
            <a:off x="1435608" y="2148840"/>
            <a:ext cx="9646920" cy="530352"/>
          </a:xfrm>
          <a:prstGeom prst="rect">
            <a:avLst/>
          </a:prstGeom>
          <a:noFill/>
          <a:ln/>
        </p:spPr>
        <p:txBody>
          <a:bodyPr wrap="square" lIns="0" tIns="0" rIns="0" bIns="0" rtlCol="0" anchor="t"/>
          <a:lstStyle/>
          <a:p>
            <a:pPr indent="0" marL="0">
              <a:buNone/>
            </a:pPr>
            <a:r>
              <a:rPr lang="en-US" sz="1800" dirty="0">
                <a:solidFill>
                  <a:srgbClr val="202124"/>
                </a:solidFill>
                <a:latin typeface="Quicksand" pitchFamily="34" charset="0"/>
                <a:ea typeface="Quicksand" pitchFamily="34" charset="-122"/>
                <a:cs typeface="Quicksand" pitchFamily="34" charset="-120"/>
              </a:rPr>
              <a:t>Name the component that applies stored rules to the user’s facts.</a:t>
            </a:r>
            <a:endParaRPr lang="en-US" sz="1800" dirty="0"/>
          </a:p>
        </p:txBody>
      </p:sp>
      <p:sp>
        <p:nvSpPr>
          <p:cNvPr id="11" name="Shape 8"/>
          <p:cNvSpPr/>
          <p:nvPr/>
        </p:nvSpPr>
        <p:spPr>
          <a:xfrm>
            <a:off x="777240" y="3063240"/>
            <a:ext cx="10424160" cy="1097280"/>
          </a:xfrm>
          <a:prstGeom prst="rect">
            <a:avLst/>
          </a:prstGeom>
          <a:solidFill>
            <a:srgbClr val="F6F5FC"/>
          </a:solidFill>
          <a:ln w="12700">
            <a:solidFill>
              <a:srgbClr val="F6F5FC"/>
            </a:solidFill>
            <a:prstDash val="solid"/>
          </a:ln>
        </p:spPr>
      </p:sp>
      <p:sp>
        <p:nvSpPr>
          <p:cNvPr id="12" name="Text 9"/>
          <p:cNvSpPr/>
          <p:nvPr/>
        </p:nvSpPr>
        <p:spPr>
          <a:xfrm>
            <a:off x="914400" y="3200400"/>
            <a:ext cx="384048" cy="384048"/>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400" b="1" dirty="0">
                <a:solidFill>
                  <a:srgbClr val="FFFFFF"/>
                </a:solidFill>
                <a:latin typeface="Quicksand" pitchFamily="34" charset="0"/>
                <a:ea typeface="Quicksand" pitchFamily="34" charset="-122"/>
                <a:cs typeface="Quicksand" pitchFamily="34" charset="-120"/>
              </a:rPr>
              <a:t>2</a:t>
            </a:r>
            <a:endParaRPr lang="en-US" sz="1400" dirty="0"/>
          </a:p>
        </p:txBody>
      </p:sp>
      <p:sp>
        <p:nvSpPr>
          <p:cNvPr id="13" name="Text 10"/>
          <p:cNvSpPr txBox="1"/>
          <p:nvPr/>
        </p:nvSpPr>
        <p:spPr>
          <a:xfrm>
            <a:off x="1435608" y="3172968"/>
            <a:ext cx="9646920" cy="411480"/>
          </a:xfrm>
          <a:prstGeom prst="rect">
            <a:avLst/>
          </a:prstGeom>
          <a:noFill/>
          <a:ln/>
        </p:spPr>
        <p:txBody>
          <a:bodyPr wrap="square" lIns="0" tIns="0" rIns="0" bIns="0" rtlCol="0" anchor="ctr"/>
          <a:lstStyle/>
          <a:p>
            <a:pPr indent="0" marL="0">
              <a:buNone/>
            </a:pPr>
            <a:r>
              <a:rPr lang="en-US" sz="2100" b="1" dirty="0">
                <a:solidFill>
                  <a:srgbClr val="202124"/>
                </a:solidFill>
                <a:latin typeface="Quicksand" pitchFamily="34" charset="0"/>
                <a:ea typeface="Quicksand" pitchFamily="34" charset="-122"/>
                <a:cs typeface="Quicksand" pitchFamily="34" charset="-120"/>
              </a:rPr>
              <a:t>Learning image classifier</a:t>
            </a:r>
            <a:endParaRPr lang="en-US" sz="2100" dirty="0"/>
          </a:p>
        </p:txBody>
      </p:sp>
      <p:sp>
        <p:nvSpPr>
          <p:cNvPr id="14" name="Text 11"/>
          <p:cNvSpPr txBox="1"/>
          <p:nvPr/>
        </p:nvSpPr>
        <p:spPr>
          <a:xfrm>
            <a:off x="1435608" y="3566160"/>
            <a:ext cx="9646920" cy="530352"/>
          </a:xfrm>
          <a:prstGeom prst="rect">
            <a:avLst/>
          </a:prstGeom>
          <a:noFill/>
          <a:ln/>
        </p:spPr>
        <p:txBody>
          <a:bodyPr wrap="square" lIns="0" tIns="0" rIns="0" bIns="0" rtlCol="0" anchor="t"/>
          <a:lstStyle/>
          <a:p>
            <a:pPr indent="0" marL="0">
              <a:buNone/>
            </a:pPr>
            <a:r>
              <a:rPr lang="en-US" sz="1800" dirty="0">
                <a:solidFill>
                  <a:srgbClr val="202124"/>
                </a:solidFill>
                <a:latin typeface="Quicksand" pitchFamily="34" charset="0"/>
                <a:ea typeface="Quicksand" pitchFamily="34" charset="-122"/>
                <a:cs typeface="Quicksand" pitchFamily="34" charset="-120"/>
              </a:rPr>
              <a:t>Explain how it can classify a photo it has never seen before.</a:t>
            </a:r>
            <a:endParaRPr lang="en-US" sz="1800" dirty="0"/>
          </a:p>
        </p:txBody>
      </p:sp>
      <p:sp>
        <p:nvSpPr>
          <p:cNvPr id="15" name="Shape 12"/>
          <p:cNvSpPr/>
          <p:nvPr/>
        </p:nvSpPr>
        <p:spPr>
          <a:xfrm>
            <a:off x="777240" y="4480560"/>
            <a:ext cx="10424160" cy="1097280"/>
          </a:xfrm>
          <a:prstGeom prst="rect">
            <a:avLst/>
          </a:prstGeom>
          <a:solidFill>
            <a:srgbClr val="F6F5FC"/>
          </a:solidFill>
          <a:ln w="12700">
            <a:solidFill>
              <a:srgbClr val="F6F5FC"/>
            </a:solidFill>
            <a:prstDash val="solid"/>
          </a:ln>
        </p:spPr>
      </p:sp>
      <p:sp>
        <p:nvSpPr>
          <p:cNvPr id="16" name="Text 13"/>
          <p:cNvSpPr/>
          <p:nvPr/>
        </p:nvSpPr>
        <p:spPr>
          <a:xfrm>
            <a:off x="914400" y="4617720"/>
            <a:ext cx="384048" cy="384048"/>
          </a:xfrm>
          <a:prstGeom prst="ellipse">
            <a:avLst/>
          </a:prstGeom>
          <a:solidFill>
            <a:srgbClr val="494985"/>
          </a:solidFill>
          <a:ln>
            <a:solidFill>
              <a:srgbClr val="494985"/>
            </a:solidFill>
          </a:ln>
        </p:spPr>
        <p:txBody>
          <a:bodyPr wrap="square" lIns="0" tIns="0" rIns="0" bIns="0" rtlCol="0" anchor="ctr"/>
          <a:lstStyle/>
          <a:p>
            <a:pPr algn="ctr" indent="0" marL="0">
              <a:buNone/>
            </a:pPr>
            <a:r>
              <a:rPr lang="en-US" sz="1400" b="1" dirty="0">
                <a:solidFill>
                  <a:srgbClr val="FFFFFF"/>
                </a:solidFill>
                <a:latin typeface="Quicksand" pitchFamily="34" charset="0"/>
                <a:ea typeface="Quicksand" pitchFamily="34" charset="-122"/>
                <a:cs typeface="Quicksand" pitchFamily="34" charset="-120"/>
              </a:rPr>
              <a:t>3</a:t>
            </a:r>
            <a:endParaRPr lang="en-US" sz="1400" dirty="0"/>
          </a:p>
        </p:txBody>
      </p:sp>
      <p:sp>
        <p:nvSpPr>
          <p:cNvPr id="17" name="Text 14"/>
          <p:cNvSpPr txBox="1"/>
          <p:nvPr/>
        </p:nvSpPr>
        <p:spPr>
          <a:xfrm>
            <a:off x="1435608" y="4590288"/>
            <a:ext cx="9646920" cy="411480"/>
          </a:xfrm>
          <a:prstGeom prst="rect">
            <a:avLst/>
          </a:prstGeom>
          <a:noFill/>
          <a:ln/>
        </p:spPr>
        <p:txBody>
          <a:bodyPr wrap="square" lIns="0" tIns="0" rIns="0" bIns="0" rtlCol="0" anchor="ctr"/>
          <a:lstStyle/>
          <a:p>
            <a:pPr indent="0" marL="0">
              <a:buNone/>
            </a:pPr>
            <a:r>
              <a:rPr lang="en-US" sz="2100" b="1" dirty="0">
                <a:solidFill>
                  <a:srgbClr val="202124"/>
                </a:solidFill>
                <a:latin typeface="Quicksand" pitchFamily="34" charset="0"/>
                <a:ea typeface="Quicksand" pitchFamily="34" charset="-122"/>
                <a:cs typeface="Quicksand" pitchFamily="34" charset="-120"/>
              </a:rPr>
              <a:t>Check before trusting</a:t>
            </a:r>
            <a:endParaRPr lang="en-US" sz="2100" dirty="0"/>
          </a:p>
        </p:txBody>
      </p:sp>
      <p:sp>
        <p:nvSpPr>
          <p:cNvPr id="18" name="Text 15"/>
          <p:cNvSpPr txBox="1"/>
          <p:nvPr/>
        </p:nvSpPr>
        <p:spPr>
          <a:xfrm>
            <a:off x="1435608" y="4983480"/>
            <a:ext cx="9646920" cy="530352"/>
          </a:xfrm>
          <a:prstGeom prst="rect">
            <a:avLst/>
          </a:prstGeom>
          <a:noFill/>
          <a:ln/>
        </p:spPr>
        <p:txBody>
          <a:bodyPr wrap="square" lIns="0" tIns="0" rIns="0" bIns="0" rtlCol="0" anchor="t"/>
          <a:lstStyle/>
          <a:p>
            <a:pPr indent="0" marL="0">
              <a:buNone/>
            </a:pPr>
            <a:r>
              <a:rPr lang="en-US" sz="1800" dirty="0">
                <a:solidFill>
                  <a:srgbClr val="202124"/>
                </a:solidFill>
                <a:latin typeface="Quicksand" pitchFamily="34" charset="0"/>
                <a:ea typeface="Quicksand" pitchFamily="34" charset="-122"/>
                <a:cs typeface="Quicksand" pitchFamily="34" charset="-120"/>
              </a:rPr>
              <a:t>Give one reason why either system may make a wrong decision.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Artificial intelligence</dc:title>
  <dc:subject>PptxGenJS Presentation</dc:subject>
  <dc:creator>PptxGenJS</dc:creator>
  <cp:lastModifiedBy>PptxGenJS</cp:lastModifiedBy>
  <cp:revision>1</cp:revision>
  <dcterms:created xsi:type="dcterms:W3CDTF">2026-10-11T16:38:20Z</dcterms:created>
  <dcterms:modified xsi:type="dcterms:W3CDTF">2026-10-11T16:38:20Z</dcterms:modified>
</cp:coreProperties>
</file>