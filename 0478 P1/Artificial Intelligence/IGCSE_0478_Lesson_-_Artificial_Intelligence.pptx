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delivery scene. Ask what the robot would need to detect, decide and do. Do not introduce exam command words or mark allocations yet. Core concept lesson 45–50 minutes, selected exam practice 10–15 minutes; full bank is follow-up.
Teacher research: 21 Paper 1 papers and their published Cambridge mark schemes (2023–2025); 29 AI parts audited. Practice questions are adapted/paraphrased from the cited papers; official mark allocations retained. Model answers and teaching commentary are our own.
Photo: Alepa_delivery_robot.jpg
Author: Q0ywo
Source: https://commons.wikimedia.org/wiki/File:Alepa_delivery_robot.jpg
Licence: https://creativecommons.org/licenses/by-sa/4.0/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selected parts (a), (b), (d), 5–6 minutes. A programmed industrial robot need not learn. Recap mechanical/electrical/programmed characteristics and sensor–processor–actuator before new teaching.
Teacher research: 21 Paper 1 papers and their published Cambridge mark schemes (2023–2025); 29 AI parts audited. Practice questions are adapted/paraphrased from the cited papers; official mark allocations retained. Model answers and teaching commentary are our own.
Photo: KUKA_Industrial_Robots_IR.jpg
Author: Mixabest
Source: https://commons.wikimedia.org/wiki/File:KUKA_Industrial_Robots_IR.jpg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hypothetical stored wash cycle with self-driving perception and decision-making. Do not assert the pictured appliance cannot use AI. Ask which situation demands reasoning about changing surroundings.
Teacher research: 21 Paper 1 papers and their published Cambridge mark schemes (2023–2025); 29 AI parts audited. Practice questions are adapted/paraphrased from the cited papers; official mark allocations retained. Model answers and teaching commentary are our own.
Photo: Washing_Machine_Beko.jpg
Author: zzpza
Source: https://commons.wikimedia.org/wiki/File:Washing_Machine_Beko.jpg
Licence: https://creativecommons.org/licenses/by/2.0/
Resized/recompressed; uncropped aspect-preserving placement. No subject alterations. Representative hardware/settings; hypothetical lesson capabilities are not certified for the pictured products.Photo: Waymo_self-driving_car_front_view.gk.jpg
Author: Grendelkhan
Source: https://commons.wikimedia.org/wiki/File:Waymo_self-driving_car_front_view.gk.jpg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simulates intelligent behaviour. Reasoning, learning and adaptation are possible features; not every AI system learns continuously. Chess photograph illustrates human reasoning, not a claim that this photograph contains AI. Ask pupils how a computer opponent could make a choice.
Teacher research: 21 Paper 1 papers and their published Cambridge mark schemes (2023–2025); 29 AI parts audited. Practice questions are adapted/paraphrased from the cited papers; official mark allocations retained. Model answers and teaching commentary are our own.
Photo: Paris_-_Playing_chess_at_the_Jardins_du_Luxembourg_-_2955.jpg
Author: Jorge Royan
Source: https://commons.wikimedia.org/wiki/File:Paris_-_Playing_chess_at_the_Jardins_du_Luxembourg_-_2955.jpg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expertise before components. A domain-specific expert system uses stored expert facts and rules to offer advice or a diagnosis. Ask pairs to suggest two mechanic questions. No diagnosis claimed from the photograph.
Teacher research: 21 Paper 1 papers and their published Cambridge mark schemes (2023–2025); 29 AI parts audited. Practice questions are adapted/paraphrased from the cited papers; official mark allocations retained. Model answers and teaching commentary are our own.
Photo: Chery_A1_-_service_shop_in_Ukraine_(7).jpg
Author: ANT Berezhnyi
Source: https://commons.wikimedia.org/wiki/File:Chery_A1_-_service_shop_in_Ukraine_%287%29.jpg
Licence: https://creativecommons.org/licenses/by/3.0/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input/output; KB expert facts; RB IF–THEN rules; inference engine uses facts and applies rules, selects follow-up questions, produces decisions. Arrow layout shows functional relationships, not a network diagram.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different printer example from the garage practice. Teacher explains which component stores which knowledge; students trace the engine from input to advice. This is conceptual teaching without mark language.
Teacher research: 21 Paper 1 papers and their published Cambridge mark schemes (2023–2025); 29 AI parts audited. Practice questions are adapted/paraphrased from the cited papers; official mark allocations retained. Model answers and teaching commentary are our own.
Photo: HP_DeskJet_2630_All-in-One_Printer.jpg
Author: Kskhh
Source: https://commons.wikimedia.org/wiki/File:HP_DeskJet_2630_All-in-One_Printer.jpg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hypothetical symptom-advice system, questions depend on earlier answers. This rule-based selection is not automatically ML. Medical photograph depicts a training examination, not an automated diagnosis. Examples simplified, not medical advice.
Teacher research: 21 Paper 1 papers and their published Cambridge mark schemes (2023–2025); 29 AI parts audited. Practice questions are adapted/paraphrased from the cited papers; official mark allocations retained. Model answers and teaching commentary are our own.
Photo: Standardized-Patient-Program-examining-t_he-abdomen.jpg
Author: University of Michigan Medical School Information Services
Source: https://commons.wikimedia.org/wiki/File:Standardized-Patient-Program-examining-t_he-abdomen.jpg
Licence: https://creativecommons.org/licenses/by/2.0/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narrate a printer diagnosis. This is a different context from the worksheet. Explanation facility is an optional additional supporting function, not one of the four core components.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is a form of AI: systems use data/examples to learn patterns and can change data/processes. Labelled images illustrate supervised training. Two images here are examples, not a sufficient dataset. Use varied examples and held-out data.
Teacher research: 21 Paper 1 papers and their published Cambridge mark schemes (2023–2025); 29 AI parts audited. Practice questions are adapted/paraphrased from the cited papers; official mark allocations retained. Model answers and teaching commentary are our own.
Photo: Cat_August_2010-4.jpg
Author: Alvesgaspar
Source: https://commons.wikimedia.org/wiki/File:Cat_August_2010-4.jpg
Licence: https://creativecommons.org/licenses/by-sa/3.0/
Resized/recompressed; uncropped aspect-preserving placement. No subject alterations. Representative hardware/settings; hypothetical lesson capabilities are not certified for the pictured products.Photo: Black_Labrador_Retriever_-_Male_IMG_3323_(cropped).jpg
Author: Losch
Source: https://commons.wikimedia.org/wiki/File:Black_Labrador_Retriever_-_Male_IMG_3323_%28cropped%29.jpg
Licence: https://creativecommons.org/licenses/by-sa/3.0/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Training/retraining may be separate from use: not every prediction retrains automatically. Data, patterns, decisions and feedback illustrate general mechanism.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Supervised desired outputs, unsupervised discovers patterns without supplied labels, held-out testing. These are supporting learning ideas; core IGCSE does not require neural-network internals. Photograph is Google Assistant representative voice hardware, not a performance claim.
Teacher research: 21 Paper 1 papers and their published Cambridge mark schemes (2023–2025); 29 AI parts audited. Practice questions are adapted/paraphrased from the cited papers; official mark allocations retained. Model answers and teaching commentary are our own.
Photo: Android_Assistant_on_the_Google_Pixel_XL_smartphone_(29526761674).jpg
Author: Maurizio Pesce from Milan, Italia
Source: https://commons.wikimedia.org/wiki/File:Android_Assistant_on_the_Google_Pixel_XL_smartphone_%2829526761674%29.jpg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hypothetical learning cleaner can store actions/outcomes and adapt future navigation. Distinguish sensing a current obstacle from learning to avoid it on a later run; not a claim of this specific model’s ML internals.
Teacher research: 21 Paper 1 papers and their published Cambridge mark schemes (2023–2025); 29 AI parts audited. Practice questions are adapted/paraphrased from the cited papers; official mark allocations retained. Model answers and teaching commentary are our own.
Photo: Neato_XV-11.jpg
Author: Autopilot
Source: https://commons.wikimedia.org/wiki/File:Neato_XV-11.jpg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illustration, not a full ML algorithm. Blue route reaches obstacle; green avoids it. Ask pupil to narrate collect/store/pattern/change without looking at prior slide.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hardware does not reveal its algorithm. A is hypothetical fixed timing; B is hypothetical historical-data predictor. AI/ML depends on method, not appearance. Ask each pair to justify before reveal in notes: A automation not evidence of AI; B learned patterns predict weather, ML.
Teacher research: 21 Paper 1 papers and their published Cambridge mark schemes (2023–2025); 29 AI parts audited. Practice questions are adapted/paraphrased from the cited papers; official mark allocations retained. Model answers and teaching commentary are our own.
Photo: Modern_British_LED_Traffic_Light.jpg
Author: Unisouth
Source: https://commons.wikimedia.org/wiki/File:Modern_British_LED_Traffic_Light.jpg
Licence: https://creativecommons.org/licenses/by/3.0/
Resized/recompressed; uncropped aspect-preserving placement. No subject alterations. Representative hardware/settings; hypothetical lesson capabilities are not certified for the pictured products.Photo: NOAA_weather_station_at_Wake_Island_harbor.jpg
Author: NOAA / US government (photographer uncredited)
Source: https://commons.wikimedia.org/wiki/File:NOAA_weather_station_at_Wake_Island_harbor.jpg
Licence: https://commons.wikimedia.org/wiki/Commons:Copyright_rules_by_territory/United_States#Federal_works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Expert systems use explicit expert facts and rules, often fixed; ML learns from data. Some actual papers combine expert systems and ML; avoid mutually exclusive claim. AI broader than either.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exam framing, check foundations. Answers in notes: KB facts; RB rules; engine applies rules to facts; ML can collect labelled recycling images, learn patterns, use feedback and improve later classification. These are original unmarked checks.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and understanding checks are complete. Introduce precise terminology, question scope and mark allocations now. Existing audit and all seven observed families are retained.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March Q6(a) supplies learning. Must supply three OTHER characteristics. Teach exam reading only after all conceptual content. Data collection/rules separate in this scheme.
Teacher research: 21 Paper 1 papers and their published Cambridge mark schemes (2023–2025); 29 AI parts audited. Practice questions are adapted/paraphrased from the cited papers; official mark allocations retained. Model answers and teaching commentary are our own.
0478/12 Feb/Mar 2025 Q6(a)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distinct ideas. “Computer” and “intelligent” alone do not create two separate points; do not just repeat “smart”.
Teacher research: 21 Paper 1 papers and their published Cambridge mark schemes (2023–2025); 29 AI parts audited. Practice questions are adapted/paraphrased from the cited papers; official mark allocations retained. Model answers and teaching commentary are our own.
0478/13 Oct/Nov 2025 Q6(a)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includes component names, role descriptions, selection with distractors and a cloze. Attempt independently before feedback.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
0478/13 May/June 2023 Q7(b)
QP: https://pastpapers.papacambridge.com/directories/CAIE/CAIE-pastpapers/upload/0478_s23_qp_13.pdf
MS: https://pastpapers.papacambridge.com/directories/CAIE/CAIE-pastpapers/upload/0478_s23_ms_13.pdf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two. Naming the component without what it does is not a description.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4. Identify where input and output are already supplied.
Teacher research: 21 Paper 1 papers and their published Cambridge mark schemes (2023–2025); 29 AI parts audited. Practice questions are adapted/paraphrased from the cited papers; official mark allocations retained. Model answers and teaching commentary are our own.
0478/12 May/June 2024 Q10(b)
QP: https://pastpapers.papacambridge.com/directories/CAIE/CAIE-pastpapers/upload/0478_s24_qp_12.pdf
MS: https://pastpapers.papacambridge.com/directories/CAIE/CAIE-pastpapers/upload/0478_s24_ms_12.pdf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Input and output have been given; focus on processing. Do not assume that writing “the doctor types” again earns a point.
Teacher research: 21 Paper 1 papers and their published Cambridge mark schemes (2023–2025); 29 AI parts audited. Practice questions are adapted/paraphrased from the cited papers; official mark allocations retained. Model answers and teaching commentary are our own.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5(a) independently before the capabilities feedback. These ideas have been taught conceptually; now explain them precisely.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This actual four-mark question needs more than “it learns”. Supervised/unsupervised details are accepted alternatives, not compulsory in every answer.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 navigation. A sensor-and-motor description alone does not explain learning.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
0478/12 Feb/Mar 2023 Q6(d)(ii)
QP: https://pastpapers.papacambridge.com/directories/CAIE/CAIE-pastpapers/upload/0478_m23_qp_12.pdf
MS: https://pastpapers.papacambridge.com/directories/CAIE/CAIE-pastpapers/upload/0478_m23_ms_12.pdf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Link specific data to a changed future action, rather than “cleans better”.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Follow-up bank. Attempt all five tasks independently before feedback. Photos introduce three distinct contexts with no reuse. Full pack needs a second period or homework feedback.
Teacher research: 21 Paper 1 papers and their published Cambridge mark schemes (2023–2025); 29 AI parts audited. Practice questions are adapted/paraphrased from the cited papers; official mark allocations retained. Model answers and teaching commentary are our own.
Photo: Cumulus_clouds_in_fair_weather.jpeg
Author: Michael Jastremski
Source: https://commons.wikimedia.org/wiki/File:Cumulus_clouds_in_fair_weather.jpeg
Licence: https://creativecommons.org/licenses/by-sa/2.0/
Resized/recompressed; aspect-preserving crop in slide placement. No subject alterations. Representative hardware/settings; hypothetical lesson capabilities are not certified for the pictured products.Photo: Google_Home_sitting_on_table.jpg
Author: NDB Photos
Source: https://commons.wikimedia.org/wiki/File:Google_Home_sitting_on_table.jpg
Licence: https://creativecommons.org/licenses/by-sa/2.0/
Resized/recompressed; uncropped aspect-preserving placement. No subject alterations. Representative hardware/settings; hypothetical lesson capabilities are not certified for the pictured products.Photo: Gaming_Section_1_-_Retrosystems_2010.jpg
Author: Soupmeister
Source: https://commons.wikimedia.org/wiki/File:Gaming_Section_1_-_Retrosystems_2010.jpg
Licence: https://creativecommons.org/licenses/by-sa/2.0/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6(c). No matching answer here. Discuss why simply naming a microphone is insufficient.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Merely searching a database or matching keywords does not show learning.
Teacher research: 21 Paper 1 papers and their published Cambridge mark schemes (2023–2025); 29 AI parts audited. Practice questions are adapted/paraphrased from the cited papers; official mark allocations retained. Model answers and teaching commentary are our own.
0478/12 Feb/Mar 2025 Q6(b)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Collecting sensor readings alone is not a complete account of prediction.
Teacher research: 21 Paper 1 papers and their published Cambridge mark schemes (2023–2025); 29 AI parts audited. Practice questions are adapted/paraphrased from the cited papers; official mark allocations retained. Model answers and teaching commentary are our own.
0478/13 May/June 2025 Q6(f)(ii)
QP: https://pastpapers.papacambridge.com/directories/CAIE/CAIE-pastpapers/upload/0478_s25_qp_13.pdf
MS: https://pastpapers.papacambridge.com/directories/CAIE/CAIE-pastpapers/upload/0478_s25_ms_13.pdf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A microphone converting sound into data does not explain how recognition improves.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Better graphics and faster hardware do not explain intelligent movement.
Teacher research: 21 Paper 1 papers and their published Cambridge mark schemes (2023–2025); 29 AI parts audited. Practice questions are adapted/paraphrased from the cited papers; official mark allocations retained. Model answers and teaching commentary are our own.
0478/13 Oct/Nov 2025 Q6(b)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Give three distinct ways, not three rewordings of “find the route”.
Teacher research: 21 Paper 1 papers and their published Cambridge mark schemes (2023–2025); 29 AI parts audited. Practice questions are adapted/paraphrased from the cited papers; official mark allocations retained. Model answers and teaching commentary are our own.
0478/11 Oct/Nov 2025 Q5(e)
QP: https://pastpapers.papacambridge.com/directories/CAIE/CAIE-pastpapers/upload/0478_w25_qp_11.pdf
MS: https://pastpapers.papacambridge.com/directories/CAIE/CAIE-pastpapers/upload/0478_w25_ms_11.pdf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weak answers after practice. Keep the actual mark ceiling and accepted alternatives in mind.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exit task, suggested answers only. Explain component roles and learned image patterns. This is a new context, not a memorised past-paper answer.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teacher-supplied Hodder extract pp241–249. All21 QPs/MS2023–25 checked;29AIparts;20selected60officialmarks. See full source audit with links.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commons.wikimedia.org/wiki/File:Alepa_delivery_robot.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KUKA_Industrial_Robots_IR.jpg" TargetMode="External"/><Relationship Id="rId4" Type="http://schemas.openxmlformats.org/officeDocument/2006/relationships/hyperlink" Target="https://creativecommons.org/licenses/by-sa/3.0/" TargetMode="External"/><Relationship Id="rId5" Type="http://schemas.openxmlformats.org/officeDocument/2006/relationships/hyperlink" Target="https://commons.wikimedia.org/wiki/File:Washing_Machine_Beko.jpg" TargetMode="External"/><Relationship Id="rId6" Type="http://schemas.openxmlformats.org/officeDocument/2006/relationships/hyperlink" Target="https://creativecommons.org/licenses/by/2.0/" TargetMode="External"/><Relationship Id="rId7" Type="http://schemas.openxmlformats.org/officeDocument/2006/relationships/hyperlink" Target="https://commons.wikimedia.org/wiki/File:Waymo_self-driving_car_front_view.gk.jpg" TargetMode="External"/><Relationship Id="rId8" Type="http://schemas.openxmlformats.org/officeDocument/2006/relationships/hyperlink" Target="https://creativecommons.org/licenses/by-sa/4.0/" TargetMode="External"/><Relationship Id="rId9" Type="http://schemas.openxmlformats.org/officeDocument/2006/relationships/hyperlink" Target="https://commons.wikimedia.org/wiki/File:Paris_-_Playing_chess_at_the_Jardins_du_Luxembourg_-_2955.jpg" TargetMode="External"/><Relationship Id="rId10" Type="http://schemas.openxmlformats.org/officeDocument/2006/relationships/hyperlink" Target="https://creativecommons.org/licenses/by-sa/3.0/" TargetMode="External"/><Relationship Id="rId11" Type="http://schemas.openxmlformats.org/officeDocument/2006/relationships/hyperlink" Target="https://commons.wikimedia.org/wiki/File:Chery_A1_-_service_shop_in_Ukraine_%287%29.jpg" TargetMode="External"/><Relationship Id="rId12" Type="http://schemas.openxmlformats.org/officeDocument/2006/relationships/hyperlink" Target="https://creativecommons.org/licenses/by/3.0/" TargetMode="External"/><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commons.wikimedia.org/wiki/File:HP_DeskJet_2630_All-in-One_Printer.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Standardized-Patient-Program-examining-t_he-abdomen.jpg" TargetMode="External"/><Relationship Id="rId4" Type="http://schemas.openxmlformats.org/officeDocument/2006/relationships/hyperlink" Target="https://creativecommons.org/licenses/by/2.0/" TargetMode="External"/><Relationship Id="rId5" Type="http://schemas.openxmlformats.org/officeDocument/2006/relationships/hyperlink" Target="https://commons.wikimedia.org/wiki/File:Cat_August_2010-4.jpg" TargetMode="External"/><Relationship Id="rId6" Type="http://schemas.openxmlformats.org/officeDocument/2006/relationships/hyperlink" Target="https://creativecommons.org/licenses/by-sa/3.0/" TargetMode="External"/><Relationship Id="rId7" Type="http://schemas.openxmlformats.org/officeDocument/2006/relationships/hyperlink" Target="https://commons.wikimedia.org/wiki/File:Black_Labrador_Retriever_-_Male_IMG_3323_%28cropped%29.jpg" TargetMode="External"/><Relationship Id="rId8" Type="http://schemas.openxmlformats.org/officeDocument/2006/relationships/hyperlink" Target="https://creativecommons.org/licenses/by-sa/3.0/" TargetMode="External"/><Relationship Id="rId9" Type="http://schemas.openxmlformats.org/officeDocument/2006/relationships/hyperlink" Target="https://commons.wikimedia.org/wiki/File:Android_Assistant_on_the_Google_Pixel_XL_smartphone_%2829526761674%29.jpg" TargetMode="External"/><Relationship Id="rId10" Type="http://schemas.openxmlformats.org/officeDocument/2006/relationships/hyperlink" Target="https://creativecommons.org/licenses/by-sa/4.0/" TargetMode="External"/><Relationship Id="rId11" Type="http://schemas.openxmlformats.org/officeDocument/2006/relationships/hyperlink" Target="https://commons.wikimedia.org/wiki/File:Neato_XV-11.jpg" TargetMode="External"/><Relationship Id="rId12" Type="http://schemas.openxmlformats.org/officeDocument/2006/relationships/hyperlink" Target="https://creativecommons.org/licenses/by-sa/3.0/" TargetMode="External"/><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commons.wikimedia.org/wiki/File:Modern_British_LED_Traffic_Light.jpg" TargetMode="External"/><Relationship Id="rId2" Type="http://schemas.openxmlformats.org/officeDocument/2006/relationships/hyperlink" Target="https://creativecommons.org/licenses/by/3.0/" TargetMode="External"/><Relationship Id="rId3" Type="http://schemas.openxmlformats.org/officeDocument/2006/relationships/hyperlink" Target="https://commons.wikimedia.org/wiki/File:NOAA_weather_station_at_Wake_Island_harbor.jpg" TargetMode="External"/><Relationship Id="rId4" Type="http://schemas.openxmlformats.org/officeDocument/2006/relationships/hyperlink" Target="https://commons.wikimedia.org/wiki/Commons:Copyright_rules_by_territory/United_States#Federal_works" TargetMode="External"/><Relationship Id="rId5" Type="http://schemas.openxmlformats.org/officeDocument/2006/relationships/hyperlink" Target="https://commons.wikimedia.org/wiki/File:Cumulus_clouds_in_fair_weather.jpeg" TargetMode="External"/><Relationship Id="rId6" Type="http://schemas.openxmlformats.org/officeDocument/2006/relationships/hyperlink" Target="https://creativecommons.org/licenses/by-sa/2.0/" TargetMode="External"/><Relationship Id="rId7" Type="http://schemas.openxmlformats.org/officeDocument/2006/relationships/hyperlink" Target="https://commons.wikimedia.org/wiki/File:Google_Home_sitting_on_table.jpg" TargetMode="External"/><Relationship Id="rId8" Type="http://schemas.openxmlformats.org/officeDocument/2006/relationships/hyperlink" Target="https://creativecommons.org/licenses/by-sa/2.0/" TargetMode="External"/><Relationship Id="rId9" Type="http://schemas.openxmlformats.org/officeDocument/2006/relationships/hyperlink" Target="https://commons.wikimedia.org/wiki/File:Gaming_Section_1_-_Retrosystems_2010.jpg" TargetMode="External"/><Relationship Id="rId10" Type="http://schemas.openxmlformats.org/officeDocument/2006/relationships/hyperlink" Target="https://creativecommons.org/licenses/by-sa/2.0/" TargetMode="External"/><Relationship Id="rId11" Type="http://schemas.openxmlformats.org/officeDocument/2006/relationships/slideLayout" Target="../slideLayouts/slideLayout1.xml"/><Relationship Id="rId1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EXPLORE · UNDERSTAND · APPLY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Artificial intelligence</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01</a:t>
            </a:r>
            <a:endParaRPr lang="en-US" sz="1100" dirty="0"/>
          </a:p>
        </p:txBody>
      </p:sp>
      <p:pic>
        <p:nvPicPr>
          <p:cNvPr id="8" name="Image 0" descr="Alepa delivery robot.jpg">    </p:cNvPr>
          <p:cNvPicPr>
            <a:picLocks noChangeAspect="1"/>
          </p:cNvPicPr>
          <p:nvPr/>
        </p:nvPicPr>
        <p:blipFill>
          <a:blip r:embed="rId1"/>
          <a:srcRect l="0" r="0" t="0" b="6577"/>
          <a:stretch/>
        </p:blipFill>
        <p:spPr>
          <a:xfrm>
            <a:off x="6035040" y="1783080"/>
            <a:ext cx="5532120" cy="4160520"/>
          </a:xfrm>
          <a:prstGeom prst="rect">
            <a:avLst/>
          </a:prstGeom>
        </p:spPr>
      </p:pic>
      <p:sp>
        <p:nvSpPr>
          <p:cNvPr id="9" name="Text 5"/>
          <p:cNvSpPr txBox="1"/>
          <p:nvPr/>
        </p:nvSpPr>
        <p:spPr>
          <a:xfrm>
            <a:off x="6035040" y="6007608"/>
            <a:ext cx="5532120" cy="246888"/>
          </a:xfrm>
          <a:prstGeom prst="rect">
            <a:avLst/>
          </a:prstGeom>
          <a:noFill/>
          <a:ln/>
        </p:spPr>
        <p:txBody>
          <a:bodyPr wrap="square" lIns="0" tIns="0" rIns="0" bIns="0" rtlCol="0" anchor="t"/>
          <a:lstStyle/>
          <a:p>
            <a:pPr indent="0" marL="0">
              <a:buNone/>
            </a:pPr>
            <a:r>
              <a:rPr lang="en-US" sz="900" dirty="0">
                <a:solidFill>
                  <a:srgbClr val="CECBDC"/>
                </a:solidFill>
                <a:latin typeface="Quicksand" pitchFamily="34" charset="0"/>
                <a:ea typeface="Quicksand" pitchFamily="34" charset="-122"/>
                <a:cs typeface="Quicksand" pitchFamily="34" charset="-120"/>
              </a:rPr>
              <a:t>Q0ywo · CC BY-SA 4.0</a:t>
            </a:r>
            <a:endParaRPr lang="en-US" sz="900" dirty="0"/>
          </a:p>
        </p:txBody>
      </p:sp>
      <p:sp>
        <p:nvSpPr>
          <p:cNvPr id="11" name="Text 6"/>
          <p:cNvSpPr txBox="1"/>
          <p:nvPr/>
        </p:nvSpPr>
        <p:spPr>
          <a:xfrm>
            <a:off x="594360" y="2103120"/>
            <a:ext cx="4983480" cy="146304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How could a robot</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find its way here?</a:t>
            </a:r>
            <a:endParaRPr lang="en-US" sz="3500" dirty="0"/>
          </a:p>
        </p:txBody>
      </p:sp>
      <p:sp>
        <p:nvSpPr>
          <p:cNvPr id="12" name="Text 7"/>
          <p:cNvSpPr txBox="1"/>
          <p:nvPr/>
        </p:nvSpPr>
        <p:spPr>
          <a:xfrm>
            <a:off x="594360" y="4041648"/>
            <a:ext cx="4663440" cy="960120"/>
          </a:xfrm>
          <a:prstGeom prst="rect">
            <a:avLst/>
          </a:prstGeom>
          <a:noFill/>
          <a:ln/>
        </p:spPr>
        <p:txBody>
          <a:bodyPr wrap="square" lIns="0" tIns="0" rIns="0" bIns="0" rtlCol="0" anchor="t"/>
          <a:lstStyle/>
          <a:p>
            <a:pPr indent="0" marL="0">
              <a:buNone/>
            </a:pPr>
            <a:r>
              <a:rPr lang="en-US" sz="2500" dirty="0">
                <a:solidFill>
                  <a:srgbClr val="DCD9E9"/>
                </a:solidFill>
                <a:latin typeface="Quicksand" pitchFamily="34" charset="0"/>
                <a:ea typeface="Quicksand" pitchFamily="34" charset="-122"/>
                <a:cs typeface="Quicksand" pitchFamily="34" charset="-120"/>
              </a:rPr>
              <a:t>A changing world.</a:t>
            </a:r>
            <a:endParaRPr lang="en-US" sz="2500" dirty="0"/>
          </a:p>
          <a:p>
            <a:pPr indent="0" marL="0">
              <a:buNone/>
            </a:pPr>
            <a:r>
              <a:rPr lang="en-US" sz="2500" dirty="0">
                <a:solidFill>
                  <a:srgbClr val="DCD9E9"/>
                </a:solidFill>
                <a:latin typeface="Quicksand" pitchFamily="34" charset="0"/>
                <a:ea typeface="Quicksand" pitchFamily="34" charset="-122"/>
                <a:cs typeface="Quicksand" pitchFamily="34" charset="-120"/>
              </a:rPr>
              <a:t>A decision to make.</a:t>
            </a:r>
            <a:endParaRPr lang="en-US" sz="2500" dirty="0"/>
          </a:p>
        </p:txBody>
      </p:sp>
      <p:sp>
        <p:nvSpPr>
          <p:cNvPr id="13" name="Text 8"/>
          <p:cNvSpPr txBox="1"/>
          <p:nvPr/>
        </p:nvSpPr>
        <p:spPr>
          <a:xfrm>
            <a:off x="594360" y="5705856"/>
            <a:ext cx="4937760" cy="365760"/>
          </a:xfrm>
          <a:prstGeom prst="rect">
            <a:avLst/>
          </a:prstGeom>
          <a:noFill/>
          <a:ln/>
        </p:spPr>
        <p:txBody>
          <a:bodyPr wrap="square" lIns="0" tIns="0" rIns="0" bIns="0" rtlCol="0" anchor="t"/>
          <a:lstStyle/>
          <a:p>
            <a:pPr indent="0" marL="0">
              <a:buNone/>
            </a:pPr>
            <a:r>
              <a:rPr lang="en-US" sz="1100" b="1" dirty="0">
                <a:solidFill>
                  <a:srgbClr val="FFD84D"/>
                </a:solidFill>
                <a:latin typeface="Quicksand" pitchFamily="34" charset="0"/>
                <a:ea typeface="Quicksand" pitchFamily="34" charset="-122"/>
                <a:cs typeface="Quicksand" pitchFamily="34" charset="-120"/>
              </a:rPr>
              <a:t>6.3  /  AI · EXPERT SYSTEMS · MACHINE LEARNING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RECALL · ROBOTICS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Start with what you already know</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02</a:t>
            </a:r>
            <a:endParaRPr lang="en-US" sz="1100" dirty="0"/>
          </a:p>
        </p:txBody>
      </p:sp>
      <p:pic>
        <p:nvPicPr>
          <p:cNvPr id="8" name="Image 0" descr="KUKA Industrial Robots IR.jpg">    </p:cNvPr>
          <p:cNvPicPr>
            <a:picLocks noChangeAspect="1"/>
          </p:cNvPicPr>
          <p:nvPr/>
        </p:nvPicPr>
        <p:blipFill>
          <a:blip r:embed="rId1"/>
          <a:srcRect l="0" r="0" t="0" b="15732"/>
          <a:stretch/>
        </p:blipFill>
        <p:spPr>
          <a:xfrm>
            <a:off x="594360" y="1783080"/>
            <a:ext cx="6446520" cy="3611880"/>
          </a:xfrm>
          <a:prstGeom prst="rect">
            <a:avLst/>
          </a:prstGeom>
        </p:spPr>
      </p:pic>
      <p:sp>
        <p:nvSpPr>
          <p:cNvPr id="9" name="Text 5"/>
          <p:cNvSpPr txBox="1"/>
          <p:nvPr/>
        </p:nvSpPr>
        <p:spPr>
          <a:xfrm>
            <a:off x="594360" y="5458968"/>
            <a:ext cx="64465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Mixabest · CC BY-SA 3.0</a:t>
            </a:r>
            <a:endParaRPr lang="en-US" sz="900" dirty="0"/>
          </a:p>
        </p:txBody>
      </p:sp>
      <p:sp>
        <p:nvSpPr>
          <p:cNvPr id="11" name="Text 6"/>
          <p:cNvSpPr txBox="1"/>
          <p:nvPr/>
        </p:nvSpPr>
        <p:spPr>
          <a:xfrm>
            <a:off x="7498080" y="1874520"/>
            <a:ext cx="4023360" cy="777240"/>
          </a:xfrm>
          <a:prstGeom prst="rect">
            <a:avLst/>
          </a:prstGeom>
          <a:noFill/>
          <a:ln/>
        </p:spPr>
        <p:txBody>
          <a:bodyPr wrap="square" lIns="0" tIns="0" rIns="0" bIns="0" rtlCol="0" anchor="t"/>
          <a:lstStyle/>
          <a:p>
            <a:pPr indent="0" marL="0">
              <a:buNone/>
            </a:pPr>
            <a:r>
              <a:rPr lang="en-US" sz="2800" b="1" dirty="0">
                <a:solidFill>
                  <a:srgbClr val="252341"/>
                </a:solidFill>
                <a:latin typeface="Quicksand" pitchFamily="34" charset="0"/>
                <a:ea typeface="Quicksand" pitchFamily="34" charset="-122"/>
                <a:cs typeface="Quicksand" pitchFamily="34" charset="-120"/>
              </a:rPr>
              <a:t>What makes it a robot?</a:t>
            </a:r>
            <a:endParaRPr lang="en-US" sz="2800" dirty="0"/>
          </a:p>
        </p:txBody>
      </p:sp>
      <p:sp>
        <p:nvSpPr>
          <p:cNvPr id="12" name="Text 7"/>
          <p:cNvSpPr txBox="1"/>
          <p:nvPr/>
        </p:nvSpPr>
        <p:spPr>
          <a:xfrm>
            <a:off x="7498080" y="2926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8138160" y="2912364"/>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detects the distance?</a:t>
            </a:r>
            <a:endParaRPr lang="en-US" sz="2100" dirty="0"/>
          </a:p>
        </p:txBody>
      </p:sp>
      <p:sp>
        <p:nvSpPr>
          <p:cNvPr id="14" name="Shape 9"/>
          <p:cNvSpPr/>
          <p:nvPr/>
        </p:nvSpPr>
        <p:spPr>
          <a:xfrm>
            <a:off x="8138160" y="3520440"/>
            <a:ext cx="3337560" cy="0"/>
          </a:xfrm>
          <a:prstGeom prst="line">
            <a:avLst/>
          </a:prstGeom>
          <a:noFill/>
          <a:ln w="8890">
            <a:solidFill>
              <a:srgbClr val="DDDBE5"/>
            </a:solidFill>
            <a:prstDash val="solid"/>
          </a:ln>
        </p:spPr>
      </p:sp>
      <p:sp>
        <p:nvSpPr>
          <p:cNvPr id="15" name="Text 10"/>
          <p:cNvSpPr txBox="1"/>
          <p:nvPr/>
        </p:nvSpPr>
        <p:spPr>
          <a:xfrm>
            <a:off x="7498080" y="367588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8138160" y="3662172"/>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makes the decision?</a:t>
            </a:r>
            <a:endParaRPr lang="en-US" sz="2100" dirty="0"/>
          </a:p>
        </p:txBody>
      </p:sp>
      <p:sp>
        <p:nvSpPr>
          <p:cNvPr id="17" name="Shape 12"/>
          <p:cNvSpPr/>
          <p:nvPr/>
        </p:nvSpPr>
        <p:spPr>
          <a:xfrm>
            <a:off x="8138160" y="4270248"/>
            <a:ext cx="3337560" cy="0"/>
          </a:xfrm>
          <a:prstGeom prst="line">
            <a:avLst/>
          </a:prstGeom>
          <a:noFill/>
          <a:ln w="8890">
            <a:solidFill>
              <a:srgbClr val="DDDBE5"/>
            </a:solidFill>
            <a:prstDash val="solid"/>
          </a:ln>
        </p:spPr>
      </p:sp>
      <p:sp>
        <p:nvSpPr>
          <p:cNvPr id="18" name="Text 13"/>
          <p:cNvSpPr txBox="1"/>
          <p:nvPr/>
        </p:nvSpPr>
        <p:spPr>
          <a:xfrm>
            <a:off x="7498080" y="44256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8138160" y="4411980"/>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stops the movement?</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Task 1: closed book first. Then explain the sensor → processor → actuator chain.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EXPLORE · COMPARE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Automatic does not always mean intelligent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03</a:t>
            </a:r>
            <a:endParaRPr lang="en-US" sz="1100" dirty="0"/>
          </a:p>
        </p:txBody>
      </p:sp>
      <p:pic>
        <p:nvPicPr>
          <p:cNvPr id="8" name="Image 0" descr="Washing Machine Beko.jpg">    </p:cNvPr>
          <p:cNvPicPr>
            <a:picLocks noChangeAspect="1"/>
          </p:cNvPicPr>
          <p:nvPr/>
        </p:nvPicPr>
        <p:blipFill>
          <a:blip r:embed="rId1"/>
          <a:stretch>
            <a:fillRect/>
          </a:stretch>
        </p:blipFill>
        <p:spPr>
          <a:xfrm>
            <a:off x="1354455" y="1737360"/>
            <a:ext cx="2228850" cy="2971800"/>
          </a:xfrm>
          <a:prstGeom prst="rect">
            <a:avLst/>
          </a:prstGeom>
        </p:spPr>
      </p:pic>
      <p:sp>
        <p:nvSpPr>
          <p:cNvPr id="9" name="Text 5"/>
          <p:cNvSpPr txBox="1"/>
          <p:nvPr/>
        </p:nvSpPr>
        <p:spPr>
          <a:xfrm>
            <a:off x="1354455" y="4773168"/>
            <a:ext cx="222885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zzpza · CC BY 2.0</a:t>
            </a:r>
            <a:endParaRPr lang="en-US" sz="900" dirty="0"/>
          </a:p>
        </p:txBody>
      </p:sp>
      <p:pic>
        <p:nvPicPr>
          <p:cNvPr id="11" name="Image 1" descr="Waymo self-driving car front view.gk.jpg">    </p:cNvPr>
          <p:cNvPicPr>
            <a:picLocks noChangeAspect="1"/>
          </p:cNvPicPr>
          <p:nvPr/>
        </p:nvPicPr>
        <p:blipFill>
          <a:blip r:embed="rId2"/>
          <a:stretch>
            <a:fillRect/>
          </a:stretch>
        </p:blipFill>
        <p:spPr>
          <a:xfrm>
            <a:off x="5863590" y="1737360"/>
            <a:ext cx="4457700" cy="2971800"/>
          </a:xfrm>
          <a:prstGeom prst="rect">
            <a:avLst/>
          </a:prstGeom>
        </p:spPr>
      </p:pic>
      <p:sp>
        <p:nvSpPr>
          <p:cNvPr id="12" name="Text 6"/>
          <p:cNvSpPr txBox="1"/>
          <p:nvPr/>
        </p:nvSpPr>
        <p:spPr>
          <a:xfrm>
            <a:off x="5863590" y="4773168"/>
            <a:ext cx="445770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Grendelkhan · CC BY-SA 4.0</a:t>
            </a:r>
            <a:endParaRPr lang="en-US" sz="900" dirty="0"/>
          </a:p>
        </p:txBody>
      </p:sp>
      <p:sp>
        <p:nvSpPr>
          <p:cNvPr id="14" name="Text 7"/>
          <p:cNvSpPr txBox="1"/>
          <p:nvPr/>
        </p:nvSpPr>
        <p:spPr>
          <a:xfrm>
            <a:off x="594360" y="5074920"/>
            <a:ext cx="374904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Repeat a stored wash cycle</a:t>
            </a:r>
            <a:endParaRPr lang="en-US" sz="2200" dirty="0"/>
          </a:p>
        </p:txBody>
      </p:sp>
      <p:sp>
        <p:nvSpPr>
          <p:cNvPr id="15" name="Text 8"/>
          <p:cNvSpPr txBox="1"/>
          <p:nvPr/>
        </p:nvSpPr>
        <p:spPr>
          <a:xfrm>
            <a:off x="4617720" y="5074920"/>
            <a:ext cx="694944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Respond to unfamiliar traffic</a:t>
            </a:r>
            <a:endParaRPr lang="en-US" sz="2200" dirty="0"/>
          </a:p>
        </p:txBody>
      </p:sp>
      <p:sp>
        <p:nvSpPr>
          <p:cNvPr id="16" name="Text 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Both are automated. Which situation needs decisions about changing conditions?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ARTIFICIAL INTELLIGENCE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What do we mean by AI?</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04</a:t>
            </a:r>
            <a:endParaRPr lang="en-US" sz="1100" dirty="0"/>
          </a:p>
        </p:txBody>
      </p:sp>
      <p:pic>
        <p:nvPicPr>
          <p:cNvPr id="8" name="Image 0" descr="Paris - Playing chess at the Jardins du Luxembourg - 2955.jpg">    </p:cNvPr>
          <p:cNvPicPr>
            <a:picLocks noChangeAspect="1"/>
          </p:cNvPicPr>
          <p:nvPr/>
        </p:nvPicPr>
        <p:blipFill>
          <a:blip r:embed="rId1"/>
          <a:srcRect l="0" r="0" t="0" b="4878"/>
          <a:stretch/>
        </p:blipFill>
        <p:spPr>
          <a:xfrm>
            <a:off x="594360" y="1783080"/>
            <a:ext cx="5623560" cy="3566160"/>
          </a:xfrm>
          <a:prstGeom prst="rect">
            <a:avLst/>
          </a:prstGeom>
        </p:spPr>
      </p:pic>
      <p:sp>
        <p:nvSpPr>
          <p:cNvPr id="9" name="Text 5"/>
          <p:cNvSpPr txBox="1"/>
          <p:nvPr/>
        </p:nvSpPr>
        <p:spPr>
          <a:xfrm>
            <a:off x="594360" y="5413248"/>
            <a:ext cx="562356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Jorge Royan · CC BY-SA 3.0</a:t>
            </a:r>
            <a:endParaRPr lang="en-US" sz="900" dirty="0"/>
          </a:p>
        </p:txBody>
      </p:sp>
      <p:sp>
        <p:nvSpPr>
          <p:cNvPr id="11" name="Text 6"/>
          <p:cNvSpPr txBox="1"/>
          <p:nvPr/>
        </p:nvSpPr>
        <p:spPr>
          <a:xfrm>
            <a:off x="6720840" y="1920240"/>
            <a:ext cx="4800600" cy="118872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Computers simulate</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intelligent behaviour.</a:t>
            </a:r>
            <a:endParaRPr lang="en-US" sz="2900" dirty="0"/>
          </a:p>
        </p:txBody>
      </p:sp>
      <p:sp>
        <p:nvSpPr>
          <p:cNvPr id="12" name="Text 7"/>
          <p:cNvSpPr txBox="1"/>
          <p:nvPr/>
        </p:nvSpPr>
        <p:spPr>
          <a:xfrm>
            <a:off x="6720840" y="3474720"/>
            <a:ext cx="4800600" cy="150876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data and rules.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Reason about a decision.</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Learn or adapt where designed to.</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Think: a chess computer has several legal moves. How could it choose between them?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specialist, not a know-it-all</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05</a:t>
            </a:r>
            <a:endParaRPr lang="en-US" sz="1100" dirty="0"/>
          </a:p>
        </p:txBody>
      </p:sp>
      <p:pic>
        <p:nvPicPr>
          <p:cNvPr id="8" name="Image 0" descr="Chery A1 - service shop in Ukraine (7).jpg">    </p:cNvPr>
          <p:cNvPicPr>
            <a:picLocks noChangeAspect="1"/>
          </p:cNvPicPr>
          <p:nvPr/>
        </p:nvPicPr>
        <p:blipFill>
          <a:blip r:embed="rId1"/>
          <a:srcRect l="0" r="0" t="0" b="23114"/>
          <a:stretch/>
        </p:blipFill>
        <p:spPr>
          <a:xfrm>
            <a:off x="594360" y="1783080"/>
            <a:ext cx="6263640" cy="3611880"/>
          </a:xfrm>
          <a:prstGeom prst="rect">
            <a:avLst/>
          </a:prstGeom>
        </p:spPr>
      </p:pic>
      <p:sp>
        <p:nvSpPr>
          <p:cNvPr id="9" name="Text 5"/>
          <p:cNvSpPr txBox="1"/>
          <p:nvPr/>
        </p:nvSpPr>
        <p:spPr>
          <a:xfrm>
            <a:off x="594360" y="5458968"/>
            <a:ext cx="6263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ANT Berezhnyi · CC BY 3.0</a:t>
            </a:r>
            <a:endParaRPr lang="en-US" sz="900" dirty="0"/>
          </a:p>
        </p:txBody>
      </p:sp>
      <p:sp>
        <p:nvSpPr>
          <p:cNvPr id="11" name="Text 6"/>
          <p:cNvSpPr txBox="1"/>
          <p:nvPr/>
        </p:nvSpPr>
        <p:spPr>
          <a:xfrm>
            <a:off x="7315200" y="1874520"/>
            <a:ext cx="4160520" cy="77724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“My brakes feel wrong.”</a:t>
            </a:r>
            <a:endParaRPr lang="en-US" sz="2900" dirty="0"/>
          </a:p>
        </p:txBody>
      </p:sp>
      <p:sp>
        <p:nvSpPr>
          <p:cNvPr id="12" name="Text 7"/>
          <p:cNvSpPr txBox="1"/>
          <p:nvPr/>
        </p:nvSpPr>
        <p:spPr>
          <a:xfrm>
            <a:off x="7315200" y="2926080"/>
            <a:ext cx="4160520" cy="187452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What would a mechanic ask?</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What facts would they use?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How would they reach advice?</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An expert system models expert decision-making within a particular domain.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FOUR COMPONENTS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Inside an expert system</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06</a:t>
            </a:r>
            <a:endParaRPr lang="en-US" sz="1100" dirty="0"/>
          </a:p>
        </p:txBody>
      </p:sp>
      <p:sp>
        <p:nvSpPr>
          <p:cNvPr id="8" name="Shape 5"/>
          <p:cNvSpPr/>
          <p:nvPr/>
        </p:nvSpPr>
        <p:spPr>
          <a:xfrm>
            <a:off x="594360" y="2423160"/>
            <a:ext cx="2834640" cy="2148840"/>
          </a:xfrm>
          <a:prstGeom prst="rect">
            <a:avLst/>
          </a:prstGeom>
          <a:solidFill>
            <a:srgbClr val="EFEEF5"/>
          </a:solidFill>
          <a:ln w="12700">
            <a:solidFill>
              <a:srgbClr val="EFEEF5"/>
            </a:solidFill>
            <a:prstDash val="solid"/>
          </a:ln>
        </p:spPr>
      </p:sp>
      <p:sp>
        <p:nvSpPr>
          <p:cNvPr id="9" name="Text 6"/>
          <p:cNvSpPr txBox="1"/>
          <p:nvPr/>
        </p:nvSpPr>
        <p:spPr>
          <a:xfrm>
            <a:off x="777240" y="2560320"/>
            <a:ext cx="24688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Interface</a:t>
            </a:r>
            <a:endParaRPr lang="en-US" sz="2200" dirty="0"/>
          </a:p>
        </p:txBody>
      </p:sp>
      <p:sp>
        <p:nvSpPr>
          <p:cNvPr id="10" name="Text 7"/>
          <p:cNvSpPr txBox="1"/>
          <p:nvPr/>
        </p:nvSpPr>
        <p:spPr>
          <a:xfrm>
            <a:off x="777240" y="3227832"/>
            <a:ext cx="2468880" cy="12984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Questions, answers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and advice</a:t>
            </a:r>
            <a:endParaRPr lang="en-US" sz="1900" dirty="0"/>
          </a:p>
        </p:txBody>
      </p:sp>
      <p:sp>
        <p:nvSpPr>
          <p:cNvPr id="11" name="Shape 8"/>
          <p:cNvSpPr/>
          <p:nvPr/>
        </p:nvSpPr>
        <p:spPr>
          <a:xfrm>
            <a:off x="4069080" y="2423160"/>
            <a:ext cx="3566160" cy="2148840"/>
          </a:xfrm>
          <a:prstGeom prst="rect">
            <a:avLst/>
          </a:prstGeom>
          <a:solidFill>
            <a:srgbClr val="EFEEF5"/>
          </a:solidFill>
          <a:ln w="12700">
            <a:solidFill>
              <a:srgbClr val="EFEEF5"/>
            </a:solidFill>
            <a:prstDash val="solid"/>
          </a:ln>
        </p:spPr>
      </p:sp>
      <p:sp>
        <p:nvSpPr>
          <p:cNvPr id="12" name="Text 9"/>
          <p:cNvSpPr txBox="1"/>
          <p:nvPr/>
        </p:nvSpPr>
        <p:spPr>
          <a:xfrm>
            <a:off x="4251960" y="2560320"/>
            <a:ext cx="320040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Inference engine</a:t>
            </a:r>
            <a:endParaRPr lang="en-US" sz="2200" dirty="0"/>
          </a:p>
        </p:txBody>
      </p:sp>
      <p:sp>
        <p:nvSpPr>
          <p:cNvPr id="13" name="Text 10"/>
          <p:cNvSpPr txBox="1"/>
          <p:nvPr/>
        </p:nvSpPr>
        <p:spPr>
          <a:xfrm>
            <a:off x="4251960" y="3227832"/>
            <a:ext cx="3200400" cy="12984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Chooses questions.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Applies rules.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Reaches a decision.</a:t>
            </a:r>
            <a:endParaRPr lang="en-US" sz="1900" dirty="0"/>
          </a:p>
        </p:txBody>
      </p:sp>
      <p:sp>
        <p:nvSpPr>
          <p:cNvPr id="14" name="Shape 11"/>
          <p:cNvSpPr/>
          <p:nvPr/>
        </p:nvSpPr>
        <p:spPr>
          <a:xfrm>
            <a:off x="8275320" y="1783080"/>
            <a:ext cx="3291840" cy="1463040"/>
          </a:xfrm>
          <a:prstGeom prst="rect">
            <a:avLst/>
          </a:prstGeom>
          <a:solidFill>
            <a:srgbClr val="EFEEF5"/>
          </a:solidFill>
          <a:ln w="12700">
            <a:solidFill>
              <a:srgbClr val="EFEEF5"/>
            </a:solidFill>
            <a:prstDash val="solid"/>
          </a:ln>
        </p:spPr>
      </p:sp>
      <p:sp>
        <p:nvSpPr>
          <p:cNvPr id="15" name="Text 12"/>
          <p:cNvSpPr txBox="1"/>
          <p:nvPr/>
        </p:nvSpPr>
        <p:spPr>
          <a:xfrm>
            <a:off x="8458200" y="1920240"/>
            <a:ext cx="29260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Knowledge base</a:t>
            </a:r>
            <a:endParaRPr lang="en-US" sz="2200" dirty="0"/>
          </a:p>
        </p:txBody>
      </p:sp>
      <p:sp>
        <p:nvSpPr>
          <p:cNvPr id="16" name="Text 13"/>
          <p:cNvSpPr txBox="1"/>
          <p:nvPr/>
        </p:nvSpPr>
        <p:spPr>
          <a:xfrm>
            <a:off x="8458200" y="2587752"/>
            <a:ext cx="2926080" cy="6126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Stores expert facts</a:t>
            </a:r>
            <a:endParaRPr lang="en-US" sz="1900" dirty="0"/>
          </a:p>
        </p:txBody>
      </p:sp>
      <p:sp>
        <p:nvSpPr>
          <p:cNvPr id="17" name="Shape 14"/>
          <p:cNvSpPr/>
          <p:nvPr/>
        </p:nvSpPr>
        <p:spPr>
          <a:xfrm>
            <a:off x="8275320" y="3840480"/>
            <a:ext cx="3291840" cy="1463040"/>
          </a:xfrm>
          <a:prstGeom prst="rect">
            <a:avLst/>
          </a:prstGeom>
          <a:solidFill>
            <a:srgbClr val="EFEEF5"/>
          </a:solidFill>
          <a:ln w="12700">
            <a:solidFill>
              <a:srgbClr val="EFEEF5"/>
            </a:solidFill>
            <a:prstDash val="solid"/>
          </a:ln>
        </p:spPr>
      </p:sp>
      <p:sp>
        <p:nvSpPr>
          <p:cNvPr id="18" name="Text 15"/>
          <p:cNvSpPr txBox="1"/>
          <p:nvPr/>
        </p:nvSpPr>
        <p:spPr>
          <a:xfrm>
            <a:off x="8458200" y="3977640"/>
            <a:ext cx="29260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Rule base</a:t>
            </a:r>
            <a:endParaRPr lang="en-US" sz="2200" dirty="0"/>
          </a:p>
        </p:txBody>
      </p:sp>
      <p:sp>
        <p:nvSpPr>
          <p:cNvPr id="19" name="Text 16"/>
          <p:cNvSpPr txBox="1"/>
          <p:nvPr/>
        </p:nvSpPr>
        <p:spPr>
          <a:xfrm>
            <a:off x="8458200" y="4645152"/>
            <a:ext cx="2926080" cy="6126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Stores IF–THEN rules</a:t>
            </a:r>
            <a:endParaRPr lang="en-US" sz="1900" dirty="0"/>
          </a:p>
        </p:txBody>
      </p:sp>
      <p:sp>
        <p:nvSpPr>
          <p:cNvPr id="20" name="Shape 17"/>
          <p:cNvSpPr/>
          <p:nvPr/>
        </p:nvSpPr>
        <p:spPr>
          <a:xfrm>
            <a:off x="3474720" y="2971800"/>
            <a:ext cx="502920" cy="914"/>
          </a:xfrm>
          <a:prstGeom prst="line">
            <a:avLst/>
          </a:prstGeom>
          <a:noFill/>
          <a:ln w="25400">
            <a:solidFill>
              <a:srgbClr val="494985"/>
            </a:solidFill>
            <a:prstDash val="solid"/>
            <a:tailEnd type="triangle"/>
          </a:ln>
        </p:spPr>
      </p:sp>
      <p:sp>
        <p:nvSpPr>
          <p:cNvPr id="21" name="Shape 18"/>
          <p:cNvSpPr/>
          <p:nvPr/>
        </p:nvSpPr>
        <p:spPr>
          <a:xfrm flipH="1">
            <a:off x="3474720" y="4069080"/>
            <a:ext cx="502920" cy="914"/>
          </a:xfrm>
          <a:prstGeom prst="line">
            <a:avLst/>
          </a:prstGeom>
          <a:noFill/>
          <a:ln w="25400">
            <a:solidFill>
              <a:srgbClr val="494985"/>
            </a:solidFill>
            <a:prstDash val="solid"/>
            <a:tailEnd type="triangle"/>
          </a:ln>
        </p:spPr>
      </p:sp>
      <p:sp>
        <p:nvSpPr>
          <p:cNvPr id="22" name="Shape 19"/>
          <p:cNvSpPr/>
          <p:nvPr/>
        </p:nvSpPr>
        <p:spPr>
          <a:xfrm flipH="1">
            <a:off x="7726680" y="2606040"/>
            <a:ext cx="502920" cy="228600"/>
          </a:xfrm>
          <a:prstGeom prst="line">
            <a:avLst/>
          </a:prstGeom>
          <a:noFill/>
          <a:ln w="25400">
            <a:solidFill>
              <a:srgbClr val="494985"/>
            </a:solidFill>
            <a:prstDash val="solid"/>
            <a:tailEnd type="triangle"/>
          </a:ln>
        </p:spPr>
      </p:sp>
      <p:sp>
        <p:nvSpPr>
          <p:cNvPr id="23" name="Shape 20"/>
          <p:cNvSpPr/>
          <p:nvPr/>
        </p:nvSpPr>
        <p:spPr>
          <a:xfrm flipH="1" flipV="1">
            <a:off x="7726680" y="4160520"/>
            <a:ext cx="502920" cy="320040"/>
          </a:xfrm>
          <a:prstGeom prst="line">
            <a:avLst/>
          </a:prstGeom>
          <a:noFill/>
          <a:ln w="25400">
            <a:solidFill>
              <a:srgbClr val="494985"/>
            </a:solidFill>
            <a:prstDash val="solid"/>
            <a:tailEnd type="triangle"/>
          </a:ln>
        </p:spPr>
      </p:sp>
      <p:sp>
        <p:nvSpPr>
          <p:cNvPr id="24" name="Text 2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the difference: storing facts, storing rules and applying rules.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WORKED EXAMPLE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One problem, four different jobs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07</a:t>
            </a:r>
            <a:endParaRPr lang="en-US" sz="1100" dirty="0"/>
          </a:p>
        </p:txBody>
      </p:sp>
      <p:pic>
        <p:nvPicPr>
          <p:cNvPr id="8" name="Image 0" descr="HP DeskJet 2630 All-in-One Printer.jpg">    </p:cNvPr>
          <p:cNvPicPr>
            <a:picLocks noChangeAspect="1"/>
          </p:cNvPicPr>
          <p:nvPr/>
        </p:nvPicPr>
        <p:blipFill>
          <a:blip r:embed="rId1"/>
          <a:stretch>
            <a:fillRect/>
          </a:stretch>
        </p:blipFill>
        <p:spPr>
          <a:xfrm>
            <a:off x="594360" y="1864760"/>
            <a:ext cx="4206240" cy="3402801"/>
          </a:xfrm>
          <a:prstGeom prst="rect">
            <a:avLst/>
          </a:prstGeom>
        </p:spPr>
      </p:pic>
      <p:sp>
        <p:nvSpPr>
          <p:cNvPr id="9" name="Text 5"/>
          <p:cNvSpPr txBox="1"/>
          <p:nvPr/>
        </p:nvSpPr>
        <p:spPr>
          <a:xfrm>
            <a:off x="594360" y="5331568"/>
            <a:ext cx="42062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Kskhh · CC BY-SA 4.0</a:t>
            </a:r>
            <a:endParaRPr lang="en-US" sz="900" dirty="0"/>
          </a:p>
        </p:txBody>
      </p:sp>
      <p:sp>
        <p:nvSpPr>
          <p:cNvPr id="11" name="Text 6"/>
          <p:cNvSpPr txBox="1"/>
          <p:nvPr/>
        </p:nvSpPr>
        <p:spPr>
          <a:xfrm>
            <a:off x="5349240" y="1783080"/>
            <a:ext cx="617220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The printer is on, but no page comes out.</a:t>
            </a:r>
            <a:endParaRPr lang="en-US" sz="2500" dirty="0"/>
          </a:p>
        </p:txBody>
      </p:sp>
      <p:sp>
        <p:nvSpPr>
          <p:cNvPr id="12" name="Text 7"/>
          <p:cNvSpPr txBox="1"/>
          <p:nvPr/>
        </p:nvSpPr>
        <p:spPr>
          <a:xfrm>
            <a:off x="5349240" y="2697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989320" y="26837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Fact: an empty paper tray prevents printing.</a:t>
            </a:r>
            <a:endParaRPr lang="en-US" sz="2000" dirty="0"/>
          </a:p>
        </p:txBody>
      </p:sp>
      <p:sp>
        <p:nvSpPr>
          <p:cNvPr id="14" name="Shape 9"/>
          <p:cNvSpPr/>
          <p:nvPr/>
        </p:nvSpPr>
        <p:spPr>
          <a:xfrm>
            <a:off x="5989320" y="3227832"/>
            <a:ext cx="5486400" cy="0"/>
          </a:xfrm>
          <a:prstGeom prst="line">
            <a:avLst/>
          </a:prstGeom>
          <a:noFill/>
          <a:ln w="8890">
            <a:solidFill>
              <a:srgbClr val="DDDBE5"/>
            </a:solidFill>
            <a:prstDash val="solid"/>
          </a:ln>
        </p:spPr>
      </p:sp>
      <p:sp>
        <p:nvSpPr>
          <p:cNvPr id="15" name="Text 10"/>
          <p:cNvSpPr txBox="1"/>
          <p:nvPr/>
        </p:nvSpPr>
        <p:spPr>
          <a:xfrm>
            <a:off x="5349240" y="33832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989320" y="33695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Rule: IF tray empty THEN recommend loading paper.</a:t>
            </a:r>
            <a:endParaRPr lang="en-US" sz="2000" dirty="0"/>
          </a:p>
        </p:txBody>
      </p:sp>
      <p:sp>
        <p:nvSpPr>
          <p:cNvPr id="17" name="Shape 12"/>
          <p:cNvSpPr/>
          <p:nvPr/>
        </p:nvSpPr>
        <p:spPr>
          <a:xfrm>
            <a:off x="5989320" y="3913632"/>
            <a:ext cx="5486400" cy="0"/>
          </a:xfrm>
          <a:prstGeom prst="line">
            <a:avLst/>
          </a:prstGeom>
          <a:noFill/>
          <a:ln w="8890">
            <a:solidFill>
              <a:srgbClr val="DDDBE5"/>
            </a:solidFill>
            <a:prstDash val="solid"/>
          </a:ln>
        </p:spPr>
      </p:sp>
      <p:sp>
        <p:nvSpPr>
          <p:cNvPr id="18" name="Text 13"/>
          <p:cNvSpPr txBox="1"/>
          <p:nvPr/>
        </p:nvSpPr>
        <p:spPr>
          <a:xfrm>
            <a:off x="5349240" y="4069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989320" y="40553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Engine: matches answers and applies the rule.</a:t>
            </a:r>
            <a:endParaRPr lang="en-US" sz="2000" dirty="0"/>
          </a:p>
        </p:txBody>
      </p:sp>
      <p:sp>
        <p:nvSpPr>
          <p:cNvPr id="20" name="Shape 15"/>
          <p:cNvSpPr/>
          <p:nvPr/>
        </p:nvSpPr>
        <p:spPr>
          <a:xfrm>
            <a:off x="5989320" y="4599432"/>
            <a:ext cx="5486400" cy="0"/>
          </a:xfrm>
          <a:prstGeom prst="line">
            <a:avLst/>
          </a:prstGeom>
          <a:noFill/>
          <a:ln w="8890">
            <a:solidFill>
              <a:srgbClr val="DDDBE5"/>
            </a:solidFill>
            <a:prstDash val="solid"/>
          </a:ln>
        </p:spPr>
      </p:sp>
      <p:sp>
        <p:nvSpPr>
          <p:cNvPr id="21" name="Text 16"/>
          <p:cNvSpPr txBox="1"/>
          <p:nvPr/>
        </p:nvSpPr>
        <p:spPr>
          <a:xfrm>
            <a:off x="5349240" y="47548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22" name="Text 17"/>
          <p:cNvSpPr txBox="1"/>
          <p:nvPr/>
        </p:nvSpPr>
        <p:spPr>
          <a:xfrm>
            <a:off x="5989320" y="47411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Interface: asks about the tray and shows advice.</a:t>
            </a:r>
            <a:endParaRPr lang="en-US" sz="2000" dirty="0"/>
          </a:p>
        </p:txBody>
      </p:sp>
      <p:sp>
        <p:nvSpPr>
          <p:cNvPr id="23" name="Text 1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it to a partner without swapping the jobs of the facts, rules and engine.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REASONING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Why ask a different next question?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08</a:t>
            </a:r>
            <a:endParaRPr lang="en-US" sz="1100" dirty="0"/>
          </a:p>
        </p:txBody>
      </p:sp>
      <p:pic>
        <p:nvPicPr>
          <p:cNvPr id="8" name="Image 0" descr="Standardized-Patient-Program-examining-t he-abdomen.jpg">    </p:cNvPr>
          <p:cNvPicPr>
            <a:picLocks noChangeAspect="1"/>
          </p:cNvPicPr>
          <p:nvPr/>
        </p:nvPicPr>
        <p:blipFill>
          <a:blip r:embed="rId1"/>
          <a:stretch>
            <a:fillRect/>
          </a:stretch>
        </p:blipFill>
        <p:spPr>
          <a:xfrm>
            <a:off x="594360" y="1844543"/>
            <a:ext cx="3977640" cy="3214634"/>
          </a:xfrm>
          <a:prstGeom prst="rect">
            <a:avLst/>
          </a:prstGeom>
        </p:spPr>
      </p:pic>
      <p:sp>
        <p:nvSpPr>
          <p:cNvPr id="9" name="Text 5"/>
          <p:cNvSpPr txBox="1"/>
          <p:nvPr/>
        </p:nvSpPr>
        <p:spPr>
          <a:xfrm>
            <a:off x="594360" y="5123185"/>
            <a:ext cx="3977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University of Michigan Medical School · CC BY 2.0</a:t>
            </a:r>
            <a:endParaRPr lang="en-US" sz="900" dirty="0"/>
          </a:p>
        </p:txBody>
      </p:sp>
      <p:sp>
        <p:nvSpPr>
          <p:cNvPr id="11" name="Text 6"/>
          <p:cNvSpPr txBox="1"/>
          <p:nvPr/>
        </p:nvSpPr>
        <p:spPr>
          <a:xfrm>
            <a:off x="5166360" y="1810512"/>
            <a:ext cx="6309360" cy="64008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Question: is the pain linked to a meal?</a:t>
            </a:r>
            <a:endParaRPr lang="en-US" sz="2500" dirty="0"/>
          </a:p>
        </p:txBody>
      </p:sp>
      <p:sp>
        <p:nvSpPr>
          <p:cNvPr id="12" name="Text 7"/>
          <p:cNvSpPr txBox="1"/>
          <p:nvPr/>
        </p:nvSpPr>
        <p:spPr>
          <a:xfrm>
            <a:off x="516636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YES</a:t>
            </a:r>
            <a:endParaRPr lang="en-US" sz="1300" dirty="0"/>
          </a:p>
        </p:txBody>
      </p:sp>
      <p:sp>
        <p:nvSpPr>
          <p:cNvPr id="13" name="Text 8"/>
          <p:cNvSpPr txBox="1"/>
          <p:nvPr/>
        </p:nvSpPr>
        <p:spPr>
          <a:xfrm>
            <a:off x="868680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NO</a:t>
            </a:r>
            <a:endParaRPr lang="en-US" sz="1300" dirty="0"/>
          </a:p>
        </p:txBody>
      </p:sp>
      <p:sp>
        <p:nvSpPr>
          <p:cNvPr id="14" name="Shape 9"/>
          <p:cNvSpPr/>
          <p:nvPr/>
        </p:nvSpPr>
        <p:spPr>
          <a:xfrm flipH="1">
            <a:off x="6400800" y="2606040"/>
            <a:ext cx="1143000" cy="868680"/>
          </a:xfrm>
          <a:prstGeom prst="line">
            <a:avLst/>
          </a:prstGeom>
          <a:noFill/>
          <a:ln w="25400">
            <a:solidFill>
              <a:srgbClr val="494985"/>
            </a:solidFill>
            <a:prstDash val="solid"/>
            <a:tailEnd type="triangle"/>
          </a:ln>
        </p:spPr>
      </p:sp>
      <p:sp>
        <p:nvSpPr>
          <p:cNvPr id="15" name="Shape 10"/>
          <p:cNvSpPr/>
          <p:nvPr/>
        </p:nvSpPr>
        <p:spPr>
          <a:xfrm>
            <a:off x="7543800" y="2606040"/>
            <a:ext cx="2286000" cy="868680"/>
          </a:xfrm>
          <a:prstGeom prst="line">
            <a:avLst/>
          </a:prstGeom>
          <a:noFill/>
          <a:ln w="25400">
            <a:solidFill>
              <a:srgbClr val="494985"/>
            </a:solidFill>
            <a:prstDash val="solid"/>
            <a:tailEnd type="triangle"/>
          </a:ln>
        </p:spPr>
      </p:sp>
      <p:sp>
        <p:nvSpPr>
          <p:cNvPr id="16" name="Shape 11"/>
          <p:cNvSpPr/>
          <p:nvPr/>
        </p:nvSpPr>
        <p:spPr>
          <a:xfrm>
            <a:off x="5166360" y="3657600"/>
            <a:ext cx="2880360" cy="1234440"/>
          </a:xfrm>
          <a:prstGeom prst="rect">
            <a:avLst/>
          </a:prstGeom>
          <a:solidFill>
            <a:srgbClr val="EFEEF5"/>
          </a:solidFill>
          <a:ln w="12700">
            <a:solidFill>
              <a:srgbClr val="EFEEF5"/>
            </a:solidFill>
            <a:prstDash val="solid"/>
          </a:ln>
        </p:spPr>
      </p:sp>
      <p:sp>
        <p:nvSpPr>
          <p:cNvPr id="17" name="Shape 12"/>
          <p:cNvSpPr/>
          <p:nvPr/>
        </p:nvSpPr>
        <p:spPr>
          <a:xfrm>
            <a:off x="8686800" y="3657600"/>
            <a:ext cx="2880360" cy="1234440"/>
          </a:xfrm>
          <a:prstGeom prst="rect">
            <a:avLst/>
          </a:prstGeom>
          <a:solidFill>
            <a:srgbClr val="EFEEF5"/>
          </a:solidFill>
          <a:ln w="12700">
            <a:solidFill>
              <a:srgbClr val="EFEEF5"/>
            </a:solidFill>
            <a:prstDash val="solid"/>
          </a:ln>
        </p:spPr>
      </p:sp>
      <p:sp>
        <p:nvSpPr>
          <p:cNvPr id="18" name="Text 13"/>
          <p:cNvSpPr txBox="1"/>
          <p:nvPr/>
        </p:nvSpPr>
        <p:spPr>
          <a:xfrm>
            <a:off x="534924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timing</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and food.</a:t>
            </a:r>
            <a:endParaRPr lang="en-US" sz="2100" dirty="0"/>
          </a:p>
        </p:txBody>
      </p:sp>
      <p:sp>
        <p:nvSpPr>
          <p:cNvPr id="19" name="Text 14"/>
          <p:cNvSpPr txBox="1"/>
          <p:nvPr/>
        </p:nvSpPr>
        <p:spPr>
          <a:xfrm>
            <a:off x="886968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other</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symptoms.</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inference engine chooses follow-up questions using previous answers.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Trace a diagnosis from start to finish</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09</a:t>
            </a:r>
            <a:endParaRPr lang="en-US" sz="1100" dirty="0"/>
          </a:p>
        </p:txBody>
      </p:sp>
      <p:sp>
        <p:nvSpPr>
          <p:cNvPr id="8" name="Text 5"/>
          <p:cNvSpPr txBox="1"/>
          <p:nvPr/>
        </p:nvSpPr>
        <p:spPr>
          <a:xfrm>
            <a:off x="731520" y="1783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769364"/>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User enters symptoms through the interface.</a:t>
            </a:r>
            <a:endParaRPr lang="en-US" sz="2200" dirty="0"/>
          </a:p>
        </p:txBody>
      </p:sp>
      <p:sp>
        <p:nvSpPr>
          <p:cNvPr id="10" name="Shape 7"/>
          <p:cNvSpPr/>
          <p:nvPr/>
        </p:nvSpPr>
        <p:spPr>
          <a:xfrm>
            <a:off x="1371600" y="2322576"/>
            <a:ext cx="10012680" cy="0"/>
          </a:xfrm>
          <a:prstGeom prst="line">
            <a:avLst/>
          </a:prstGeom>
          <a:noFill/>
          <a:ln w="8890">
            <a:solidFill>
              <a:srgbClr val="DDDBE5"/>
            </a:solidFill>
            <a:prstDash val="solid"/>
          </a:ln>
        </p:spPr>
      </p:sp>
      <p:sp>
        <p:nvSpPr>
          <p:cNvPr id="11" name="Text 8"/>
          <p:cNvSpPr txBox="1"/>
          <p:nvPr/>
        </p:nvSpPr>
        <p:spPr>
          <a:xfrm>
            <a:off x="731520" y="247802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464308"/>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chooses questions from previous answers.</a:t>
            </a:r>
            <a:endParaRPr lang="en-US" sz="2200" dirty="0"/>
          </a:p>
        </p:txBody>
      </p:sp>
      <p:sp>
        <p:nvSpPr>
          <p:cNvPr id="13" name="Shape 10"/>
          <p:cNvSpPr/>
          <p:nvPr/>
        </p:nvSpPr>
        <p:spPr>
          <a:xfrm>
            <a:off x="1371600" y="3017520"/>
            <a:ext cx="10012680" cy="0"/>
          </a:xfrm>
          <a:prstGeom prst="line">
            <a:avLst/>
          </a:prstGeom>
          <a:noFill/>
          <a:ln w="8890">
            <a:solidFill>
              <a:srgbClr val="DDDBE5"/>
            </a:solidFill>
            <a:prstDash val="solid"/>
          </a:ln>
        </p:spPr>
      </p:sp>
      <p:sp>
        <p:nvSpPr>
          <p:cNvPr id="14" name="Text 11"/>
          <p:cNvSpPr txBox="1"/>
          <p:nvPr/>
        </p:nvSpPr>
        <p:spPr>
          <a:xfrm>
            <a:off x="731520" y="31729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159252"/>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Evidence is compared with expert facts.</a:t>
            </a:r>
            <a:endParaRPr lang="en-US" sz="2200" dirty="0"/>
          </a:p>
        </p:txBody>
      </p:sp>
      <p:sp>
        <p:nvSpPr>
          <p:cNvPr id="16" name="Shape 13"/>
          <p:cNvSpPr/>
          <p:nvPr/>
        </p:nvSpPr>
        <p:spPr>
          <a:xfrm>
            <a:off x="1371600" y="3712464"/>
            <a:ext cx="10012680" cy="0"/>
          </a:xfrm>
          <a:prstGeom prst="line">
            <a:avLst/>
          </a:prstGeom>
          <a:noFill/>
          <a:ln w="8890">
            <a:solidFill>
              <a:srgbClr val="DDDBE5"/>
            </a:solidFill>
            <a:prstDash val="solid"/>
          </a:ln>
        </p:spPr>
      </p:sp>
      <p:sp>
        <p:nvSpPr>
          <p:cNvPr id="17" name="Text 14"/>
          <p:cNvSpPr txBox="1"/>
          <p:nvPr/>
        </p:nvSpPr>
        <p:spPr>
          <a:xfrm>
            <a:off x="731520" y="38679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8" name="Text 15"/>
          <p:cNvSpPr txBox="1"/>
          <p:nvPr/>
        </p:nvSpPr>
        <p:spPr>
          <a:xfrm>
            <a:off x="1371600" y="3854196"/>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applies rules to decide a likely fault.</a:t>
            </a:r>
            <a:endParaRPr lang="en-US" sz="2200" dirty="0"/>
          </a:p>
        </p:txBody>
      </p:sp>
      <p:sp>
        <p:nvSpPr>
          <p:cNvPr id="19" name="Shape 16"/>
          <p:cNvSpPr/>
          <p:nvPr/>
        </p:nvSpPr>
        <p:spPr>
          <a:xfrm>
            <a:off x="1371600" y="4407408"/>
            <a:ext cx="10012680" cy="0"/>
          </a:xfrm>
          <a:prstGeom prst="line">
            <a:avLst/>
          </a:prstGeom>
          <a:noFill/>
          <a:ln w="8890">
            <a:solidFill>
              <a:srgbClr val="DDDBE5"/>
            </a:solidFill>
            <a:prstDash val="solid"/>
          </a:ln>
        </p:spPr>
      </p:sp>
      <p:sp>
        <p:nvSpPr>
          <p:cNvPr id="20" name="Text 17"/>
          <p:cNvSpPr txBox="1"/>
          <p:nvPr/>
        </p:nvSpPr>
        <p:spPr>
          <a:xfrm>
            <a:off x="731520" y="45628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05</a:t>
            </a:r>
            <a:endParaRPr lang="en-US" sz="1600" dirty="0"/>
          </a:p>
        </p:txBody>
      </p:sp>
      <p:sp>
        <p:nvSpPr>
          <p:cNvPr id="21" name="Text 18"/>
          <p:cNvSpPr txBox="1"/>
          <p:nvPr/>
        </p:nvSpPr>
        <p:spPr>
          <a:xfrm>
            <a:off x="1371600" y="4549140"/>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Interface displays advice or a diagnosis.</a:t>
            </a:r>
            <a:endParaRPr lang="en-US" sz="2200" dirty="0"/>
          </a:p>
        </p:txBody>
      </p:sp>
      <p:sp>
        <p:nvSpPr>
          <p:cNvPr id="22" name="Text 1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Check: why must the engine use facts as well as rules?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MACHINE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Can a system learn from examples?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10</a:t>
            </a:r>
            <a:endParaRPr lang="en-US" sz="1100" dirty="0"/>
          </a:p>
        </p:txBody>
      </p:sp>
      <p:pic>
        <p:nvPicPr>
          <p:cNvPr id="8" name="Image 0" descr="Cat August 2010-4.jpg">    </p:cNvPr>
          <p:cNvPicPr>
            <a:picLocks noChangeAspect="1"/>
          </p:cNvPicPr>
          <p:nvPr/>
        </p:nvPicPr>
        <p:blipFill>
          <a:blip r:embed="rId1"/>
          <a:stretch>
            <a:fillRect/>
          </a:stretch>
        </p:blipFill>
        <p:spPr>
          <a:xfrm>
            <a:off x="1237106" y="1783080"/>
            <a:ext cx="4036316" cy="2468880"/>
          </a:xfrm>
          <a:prstGeom prst="rect">
            <a:avLst/>
          </a:prstGeom>
        </p:spPr>
      </p:pic>
      <p:sp>
        <p:nvSpPr>
          <p:cNvPr id="9" name="Text 5"/>
          <p:cNvSpPr txBox="1"/>
          <p:nvPr/>
        </p:nvSpPr>
        <p:spPr>
          <a:xfrm>
            <a:off x="1237106" y="4315968"/>
            <a:ext cx="4036316"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Alvesgaspar · CC BY-SA 3.0</a:t>
            </a:r>
            <a:endParaRPr lang="en-US" sz="900" dirty="0"/>
          </a:p>
        </p:txBody>
      </p:sp>
      <p:pic>
        <p:nvPicPr>
          <p:cNvPr id="11" name="Image 1" descr="Black Labrador Retriever - Male IMG 3323 (cropped).jpg">    </p:cNvPr>
          <p:cNvPicPr>
            <a:picLocks noChangeAspect="1"/>
          </p:cNvPicPr>
          <p:nvPr/>
        </p:nvPicPr>
        <p:blipFill>
          <a:blip r:embed="rId2"/>
          <a:stretch>
            <a:fillRect/>
          </a:stretch>
        </p:blipFill>
        <p:spPr>
          <a:xfrm>
            <a:off x="7066051" y="1783080"/>
            <a:ext cx="3662121" cy="2468880"/>
          </a:xfrm>
          <a:prstGeom prst="rect">
            <a:avLst/>
          </a:prstGeom>
        </p:spPr>
      </p:pic>
      <p:sp>
        <p:nvSpPr>
          <p:cNvPr id="12" name="Text 6"/>
          <p:cNvSpPr txBox="1"/>
          <p:nvPr/>
        </p:nvSpPr>
        <p:spPr>
          <a:xfrm>
            <a:off x="7066051" y="4315968"/>
            <a:ext cx="3662121"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Losch · CC BY-SA 3.0</a:t>
            </a:r>
            <a:endParaRPr lang="en-US" sz="900" dirty="0"/>
          </a:p>
        </p:txBody>
      </p:sp>
      <p:sp>
        <p:nvSpPr>
          <p:cNvPr id="14" name="Text 7"/>
          <p:cNvSpPr txBox="1"/>
          <p:nvPr/>
        </p:nvSpPr>
        <p:spPr>
          <a:xfrm>
            <a:off x="594360" y="4617720"/>
            <a:ext cx="5321808" cy="393192"/>
          </a:xfrm>
          <a:prstGeom prst="rect">
            <a:avLst/>
          </a:prstGeom>
          <a:noFill/>
          <a:ln/>
        </p:spPr>
        <p:txBody>
          <a:bodyPr wrap="square" lIns="0" tIns="0" rIns="0" bIns="0" rtlCol="0" anchor="t"/>
          <a:lstStyle/>
          <a:p>
            <a:pPr algn="ctr" indent="0" marL="0">
              <a:buNone/>
            </a:pPr>
            <a:r>
              <a:rPr lang="en-US" sz="2400" b="1" dirty="0">
                <a:solidFill>
                  <a:srgbClr val="494985"/>
                </a:solidFill>
                <a:latin typeface="Quicksand" pitchFamily="34" charset="0"/>
                <a:ea typeface="Quicksand" pitchFamily="34" charset="-122"/>
                <a:cs typeface="Quicksand" pitchFamily="34" charset="-120"/>
              </a:rPr>
              <a:t>Label: CAT</a:t>
            </a:r>
            <a:endParaRPr lang="en-US" sz="2400" dirty="0"/>
          </a:p>
        </p:txBody>
      </p:sp>
      <p:sp>
        <p:nvSpPr>
          <p:cNvPr id="15" name="Text 8"/>
          <p:cNvSpPr txBox="1"/>
          <p:nvPr/>
        </p:nvSpPr>
        <p:spPr>
          <a:xfrm>
            <a:off x="6236208" y="4617720"/>
            <a:ext cx="5321808" cy="393192"/>
          </a:xfrm>
          <a:prstGeom prst="rect">
            <a:avLst/>
          </a:prstGeom>
          <a:noFill/>
          <a:ln/>
        </p:spPr>
        <p:txBody>
          <a:bodyPr wrap="square" lIns="0" tIns="0" rIns="0" bIns="0" rtlCol="0" anchor="t"/>
          <a:lstStyle/>
          <a:p>
            <a:pPr algn="ctr" indent="0" marL="0">
              <a:buNone/>
            </a:pPr>
            <a:r>
              <a:rPr lang="en-US" sz="2400" b="1" dirty="0">
                <a:solidFill>
                  <a:srgbClr val="494985"/>
                </a:solidFill>
                <a:latin typeface="Quicksand" pitchFamily="34" charset="0"/>
                <a:ea typeface="Quicksand" pitchFamily="34" charset="-122"/>
                <a:cs typeface="Quicksand" pitchFamily="34" charset="-120"/>
              </a:rPr>
              <a:t>Label: DOG</a:t>
            </a:r>
            <a:endParaRPr lang="en-US" sz="2400" dirty="0"/>
          </a:p>
        </p:txBody>
      </p:sp>
      <p:sp>
        <p:nvSpPr>
          <p:cNvPr id="16" name="Text 9"/>
          <p:cNvSpPr txBox="1"/>
          <p:nvPr/>
        </p:nvSpPr>
        <p:spPr>
          <a:xfrm>
            <a:off x="594360" y="5166360"/>
            <a:ext cx="10972800" cy="347472"/>
          </a:xfrm>
          <a:prstGeom prst="rect">
            <a:avLst/>
          </a:prstGeom>
          <a:noFill/>
          <a:ln/>
        </p:spPr>
        <p:txBody>
          <a:bodyPr wrap="square" lIns="0" tIns="0" rIns="0" bIns="0" rtlCol="0" anchor="t"/>
          <a:lstStyle/>
          <a:p>
            <a:pPr indent="0" marL="0">
              <a:buNone/>
            </a:pPr>
            <a:r>
              <a:rPr lang="en-US" sz="2000" b="1" dirty="0">
                <a:solidFill>
                  <a:srgbClr val="494985"/>
                </a:solidFill>
                <a:latin typeface="Quicksand" pitchFamily="34" charset="0"/>
                <a:ea typeface="Quicksand" pitchFamily="34" charset="-122"/>
                <a:cs typeface="Quicksand" pitchFamily="34" charset="-120"/>
              </a:rPr>
              <a:t>Machine learning is a form of AI that learns patterns from data.</a:t>
            </a:r>
            <a:endParaRPr lang="en-US" sz="2000" dirty="0"/>
          </a:p>
        </p:txBody>
      </p:sp>
      <p:sp>
        <p:nvSpPr>
          <p:cNvPr id="17" name="Text 10"/>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Many varied examples → learned patterns → a prediction for an unfamiliar photograph.</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LEARNING MECHANISM</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Experience changes later decisions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11</a:t>
            </a:r>
            <a:endParaRPr lang="en-US" sz="1100" dirty="0"/>
          </a:p>
        </p:txBody>
      </p:sp>
      <p:sp>
        <p:nvSpPr>
          <p:cNvPr id="8" name="Shape 5"/>
          <p:cNvSpPr/>
          <p:nvPr/>
        </p:nvSpPr>
        <p:spPr>
          <a:xfrm>
            <a:off x="594360" y="2057400"/>
            <a:ext cx="2423160" cy="2423160"/>
          </a:xfrm>
          <a:prstGeom prst="rect">
            <a:avLst/>
          </a:prstGeom>
          <a:solidFill>
            <a:srgbClr val="EFEEF5"/>
          </a:solidFill>
          <a:ln w="12700">
            <a:solidFill>
              <a:srgbClr val="EFEEF5"/>
            </a:solidFill>
            <a:prstDash val="solid"/>
          </a:ln>
        </p:spPr>
      </p:sp>
      <p:sp>
        <p:nvSpPr>
          <p:cNvPr id="9" name="Text 6"/>
          <p:cNvSpPr txBox="1"/>
          <p:nvPr/>
        </p:nvSpPr>
        <p:spPr>
          <a:xfrm>
            <a:off x="758952"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DATA</a:t>
            </a:r>
            <a:endParaRPr lang="en-US" sz="1800" dirty="0"/>
          </a:p>
        </p:txBody>
      </p:sp>
      <p:sp>
        <p:nvSpPr>
          <p:cNvPr id="10" name="Text 7"/>
          <p:cNvSpPr txBox="1"/>
          <p:nvPr/>
        </p:nvSpPr>
        <p:spPr>
          <a:xfrm>
            <a:off x="758952"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Past examples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or experience</a:t>
            </a:r>
            <a:endParaRPr lang="en-US" sz="2200" dirty="0"/>
          </a:p>
        </p:txBody>
      </p:sp>
      <p:sp>
        <p:nvSpPr>
          <p:cNvPr id="11" name="Shape 8"/>
          <p:cNvSpPr/>
          <p:nvPr/>
        </p:nvSpPr>
        <p:spPr>
          <a:xfrm>
            <a:off x="3081528" y="3108960"/>
            <a:ext cx="274320" cy="914"/>
          </a:xfrm>
          <a:prstGeom prst="line">
            <a:avLst/>
          </a:prstGeom>
          <a:noFill/>
          <a:ln w="25400">
            <a:solidFill>
              <a:srgbClr val="494985"/>
            </a:solidFill>
            <a:prstDash val="solid"/>
            <a:tailEnd type="triangle"/>
          </a:ln>
        </p:spPr>
      </p:sp>
      <p:sp>
        <p:nvSpPr>
          <p:cNvPr id="12" name="Shape 9"/>
          <p:cNvSpPr/>
          <p:nvPr/>
        </p:nvSpPr>
        <p:spPr>
          <a:xfrm>
            <a:off x="3447288" y="2057400"/>
            <a:ext cx="2423160" cy="2423160"/>
          </a:xfrm>
          <a:prstGeom prst="rect">
            <a:avLst/>
          </a:prstGeom>
          <a:solidFill>
            <a:srgbClr val="EFEEF5"/>
          </a:solidFill>
          <a:ln w="12700">
            <a:solidFill>
              <a:srgbClr val="EFEEF5"/>
            </a:solidFill>
            <a:prstDash val="solid"/>
          </a:ln>
        </p:spPr>
      </p:sp>
      <p:sp>
        <p:nvSpPr>
          <p:cNvPr id="13" name="Text 10"/>
          <p:cNvSpPr txBox="1"/>
          <p:nvPr/>
        </p:nvSpPr>
        <p:spPr>
          <a:xfrm>
            <a:off x="3611880"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PATTERNS</a:t>
            </a:r>
            <a:endParaRPr lang="en-US" sz="1800" dirty="0"/>
          </a:p>
        </p:txBody>
      </p:sp>
      <p:sp>
        <p:nvSpPr>
          <p:cNvPr id="14" name="Text 11"/>
          <p:cNvSpPr txBox="1"/>
          <p:nvPr/>
        </p:nvSpPr>
        <p:spPr>
          <a:xfrm>
            <a:off x="3611880"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useful</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relationships</a:t>
            </a:r>
            <a:endParaRPr lang="en-US" sz="2200" dirty="0"/>
          </a:p>
        </p:txBody>
      </p:sp>
      <p:sp>
        <p:nvSpPr>
          <p:cNvPr id="15" name="Shape 12"/>
          <p:cNvSpPr/>
          <p:nvPr/>
        </p:nvSpPr>
        <p:spPr>
          <a:xfrm>
            <a:off x="5934456" y="3108960"/>
            <a:ext cx="274320" cy="914"/>
          </a:xfrm>
          <a:prstGeom prst="line">
            <a:avLst/>
          </a:prstGeom>
          <a:noFill/>
          <a:ln w="25400">
            <a:solidFill>
              <a:srgbClr val="494985"/>
            </a:solidFill>
            <a:prstDash val="solid"/>
            <a:tailEnd type="triangle"/>
          </a:ln>
        </p:spPr>
      </p:sp>
      <p:sp>
        <p:nvSpPr>
          <p:cNvPr id="16" name="Shape 13"/>
          <p:cNvSpPr/>
          <p:nvPr/>
        </p:nvSpPr>
        <p:spPr>
          <a:xfrm>
            <a:off x="6300216" y="2057400"/>
            <a:ext cx="2423160" cy="2423160"/>
          </a:xfrm>
          <a:prstGeom prst="rect">
            <a:avLst/>
          </a:prstGeom>
          <a:solidFill>
            <a:srgbClr val="EFEEF5"/>
          </a:solidFill>
          <a:ln w="12700">
            <a:solidFill>
              <a:srgbClr val="EFEEF5"/>
            </a:solidFill>
            <a:prstDash val="solid"/>
          </a:ln>
        </p:spPr>
      </p:sp>
      <p:sp>
        <p:nvSpPr>
          <p:cNvPr id="17" name="Text 14"/>
          <p:cNvSpPr txBox="1"/>
          <p:nvPr/>
        </p:nvSpPr>
        <p:spPr>
          <a:xfrm>
            <a:off x="6464808"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DECISION</a:t>
            </a:r>
            <a:endParaRPr lang="en-US" sz="1800" dirty="0"/>
          </a:p>
        </p:txBody>
      </p:sp>
      <p:sp>
        <p:nvSpPr>
          <p:cNvPr id="18" name="Text 15"/>
          <p:cNvSpPr txBox="1"/>
          <p:nvPr/>
        </p:nvSpPr>
        <p:spPr>
          <a:xfrm>
            <a:off x="6464808"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Predict or</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choose an action</a:t>
            </a:r>
            <a:endParaRPr lang="en-US" sz="2200" dirty="0"/>
          </a:p>
        </p:txBody>
      </p:sp>
      <p:sp>
        <p:nvSpPr>
          <p:cNvPr id="19" name="Shape 16"/>
          <p:cNvSpPr/>
          <p:nvPr/>
        </p:nvSpPr>
        <p:spPr>
          <a:xfrm>
            <a:off x="8787384" y="3108960"/>
            <a:ext cx="274320" cy="914"/>
          </a:xfrm>
          <a:prstGeom prst="line">
            <a:avLst/>
          </a:prstGeom>
          <a:noFill/>
          <a:ln w="25400">
            <a:solidFill>
              <a:srgbClr val="494985"/>
            </a:solidFill>
            <a:prstDash val="solid"/>
            <a:tailEnd type="triangle"/>
          </a:ln>
        </p:spPr>
      </p:sp>
      <p:sp>
        <p:nvSpPr>
          <p:cNvPr id="20" name="Shape 17"/>
          <p:cNvSpPr/>
          <p:nvPr/>
        </p:nvSpPr>
        <p:spPr>
          <a:xfrm>
            <a:off x="9153144" y="2057400"/>
            <a:ext cx="2423160" cy="2423160"/>
          </a:xfrm>
          <a:prstGeom prst="rect">
            <a:avLst/>
          </a:prstGeom>
          <a:solidFill>
            <a:srgbClr val="EFEEF5"/>
          </a:solidFill>
          <a:ln w="12700">
            <a:solidFill>
              <a:srgbClr val="EFEEF5"/>
            </a:solidFill>
            <a:prstDash val="solid"/>
          </a:ln>
        </p:spPr>
      </p:sp>
      <p:sp>
        <p:nvSpPr>
          <p:cNvPr id="21" name="Text 18"/>
          <p:cNvSpPr txBox="1"/>
          <p:nvPr/>
        </p:nvSpPr>
        <p:spPr>
          <a:xfrm>
            <a:off x="9317736"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FEEDBACK</a:t>
            </a:r>
            <a:endParaRPr lang="en-US" sz="1800" dirty="0"/>
          </a:p>
        </p:txBody>
      </p:sp>
      <p:sp>
        <p:nvSpPr>
          <p:cNvPr id="22" name="Text 19"/>
          <p:cNvSpPr txBox="1"/>
          <p:nvPr/>
        </p:nvSpPr>
        <p:spPr>
          <a:xfrm>
            <a:off x="9317736"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Check success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and failure</a:t>
            </a:r>
            <a:endParaRPr lang="en-US" sz="2200" dirty="0"/>
          </a:p>
        </p:txBody>
      </p:sp>
      <p:sp>
        <p:nvSpPr>
          <p:cNvPr id="23" name="Shape 20"/>
          <p:cNvSpPr/>
          <p:nvPr/>
        </p:nvSpPr>
        <p:spPr>
          <a:xfrm>
            <a:off x="10515600" y="4663440"/>
            <a:ext cx="914" cy="502920"/>
          </a:xfrm>
          <a:prstGeom prst="line">
            <a:avLst/>
          </a:prstGeom>
          <a:noFill/>
          <a:ln w="25400">
            <a:solidFill>
              <a:srgbClr val="494985"/>
            </a:solidFill>
            <a:prstDash val="solid"/>
            <a:tailEnd type="triangle"/>
          </a:ln>
        </p:spPr>
      </p:sp>
      <p:sp>
        <p:nvSpPr>
          <p:cNvPr id="24" name="Shape 21"/>
          <p:cNvSpPr/>
          <p:nvPr/>
        </p:nvSpPr>
        <p:spPr>
          <a:xfrm flipH="1">
            <a:off x="1737360" y="5166360"/>
            <a:ext cx="8778240" cy="914"/>
          </a:xfrm>
          <a:prstGeom prst="line">
            <a:avLst/>
          </a:prstGeom>
          <a:noFill/>
          <a:ln w="25400">
            <a:solidFill>
              <a:srgbClr val="494985"/>
            </a:solidFill>
            <a:prstDash val="solid"/>
            <a:tailEnd type="triangle"/>
          </a:ln>
        </p:spPr>
      </p:sp>
      <p:sp>
        <p:nvSpPr>
          <p:cNvPr id="25" name="Shape 22"/>
          <p:cNvSpPr/>
          <p:nvPr/>
        </p:nvSpPr>
        <p:spPr>
          <a:xfrm flipV="1">
            <a:off x="1737360" y="4663440"/>
            <a:ext cx="914" cy="502920"/>
          </a:xfrm>
          <a:prstGeom prst="line">
            <a:avLst/>
          </a:prstGeom>
          <a:noFill/>
          <a:ln w="25400">
            <a:solidFill>
              <a:srgbClr val="494985"/>
            </a:solidFill>
            <a:prstDash val="solid"/>
            <a:tailEnd type="triangle"/>
          </a:ln>
        </p:spPr>
      </p:sp>
      <p:sp>
        <p:nvSpPr>
          <p:cNvPr id="26" name="Text 2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Feedback can update data or processes, changing a later prediction or action.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TRAINING AND TESTING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 with examples; test on new ones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12</a:t>
            </a:r>
            <a:endParaRPr lang="en-US" sz="1100" dirty="0"/>
          </a:p>
        </p:txBody>
      </p:sp>
      <p:pic>
        <p:nvPicPr>
          <p:cNvPr id="8" name="Image 0" descr="Android Assistant on the Google Pixel XL smartphone (29526761674).jpg">    </p:cNvPr>
          <p:cNvPicPr>
            <a:picLocks noChangeAspect="1"/>
          </p:cNvPicPr>
          <p:nvPr/>
        </p:nvPicPr>
        <p:blipFill>
          <a:blip r:embed="rId1"/>
          <a:stretch>
            <a:fillRect/>
          </a:stretch>
        </p:blipFill>
        <p:spPr>
          <a:xfrm>
            <a:off x="1015975" y="1783080"/>
            <a:ext cx="2494331" cy="3566160"/>
          </a:xfrm>
          <a:prstGeom prst="rect">
            <a:avLst/>
          </a:prstGeom>
        </p:spPr>
      </p:pic>
      <p:sp>
        <p:nvSpPr>
          <p:cNvPr id="9" name="Text 5"/>
          <p:cNvSpPr txBox="1"/>
          <p:nvPr/>
        </p:nvSpPr>
        <p:spPr>
          <a:xfrm>
            <a:off x="1015975" y="5413248"/>
            <a:ext cx="2494331"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Maurizio Pesce · CC BY-SA 4.0</a:t>
            </a:r>
            <a:endParaRPr lang="en-US" sz="900" dirty="0"/>
          </a:p>
        </p:txBody>
      </p:sp>
      <p:sp>
        <p:nvSpPr>
          <p:cNvPr id="11" name="Text 6"/>
          <p:cNvSpPr txBox="1"/>
          <p:nvPr/>
        </p:nvSpPr>
        <p:spPr>
          <a:xfrm>
            <a:off x="4526280" y="1783080"/>
            <a:ext cx="699516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Voice sample → intended command</a:t>
            </a:r>
            <a:endParaRPr lang="en-US" sz="2500" dirty="0"/>
          </a:p>
        </p:txBody>
      </p:sp>
      <p:sp>
        <p:nvSpPr>
          <p:cNvPr id="12" name="Text 7"/>
          <p:cNvSpPr txBox="1"/>
          <p:nvPr/>
        </p:nvSpPr>
        <p:spPr>
          <a:xfrm>
            <a:off x="4526280" y="27432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166360" y="2729484"/>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Supervised: training examples have output labels.</a:t>
            </a:r>
            <a:endParaRPr lang="en-US" sz="2100" dirty="0"/>
          </a:p>
        </p:txBody>
      </p:sp>
      <p:sp>
        <p:nvSpPr>
          <p:cNvPr id="14" name="Shape 9"/>
          <p:cNvSpPr/>
          <p:nvPr/>
        </p:nvSpPr>
        <p:spPr>
          <a:xfrm>
            <a:off x="5166360" y="3392424"/>
            <a:ext cx="6309360" cy="0"/>
          </a:xfrm>
          <a:prstGeom prst="line">
            <a:avLst/>
          </a:prstGeom>
          <a:noFill/>
          <a:ln w="8890">
            <a:solidFill>
              <a:srgbClr val="DDDBE5"/>
            </a:solidFill>
            <a:prstDash val="solid"/>
          </a:ln>
        </p:spPr>
      </p:sp>
      <p:sp>
        <p:nvSpPr>
          <p:cNvPr id="15" name="Text 10"/>
          <p:cNvSpPr txBox="1"/>
          <p:nvPr/>
        </p:nvSpPr>
        <p:spPr>
          <a:xfrm>
            <a:off x="4526280" y="354787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166360" y="3534156"/>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Unsupervised: discover patterns without given labels.</a:t>
            </a:r>
            <a:endParaRPr lang="en-US" sz="2100" dirty="0"/>
          </a:p>
        </p:txBody>
      </p:sp>
      <p:sp>
        <p:nvSpPr>
          <p:cNvPr id="17" name="Shape 12"/>
          <p:cNvSpPr/>
          <p:nvPr/>
        </p:nvSpPr>
        <p:spPr>
          <a:xfrm>
            <a:off x="5166360" y="4197096"/>
            <a:ext cx="6309360" cy="0"/>
          </a:xfrm>
          <a:prstGeom prst="line">
            <a:avLst/>
          </a:prstGeom>
          <a:noFill/>
          <a:ln w="8890">
            <a:solidFill>
              <a:srgbClr val="DDDBE5"/>
            </a:solidFill>
            <a:prstDash val="solid"/>
          </a:ln>
        </p:spPr>
      </p:sp>
      <p:sp>
        <p:nvSpPr>
          <p:cNvPr id="18" name="Text 13"/>
          <p:cNvSpPr txBox="1"/>
          <p:nvPr/>
        </p:nvSpPr>
        <p:spPr>
          <a:xfrm>
            <a:off x="4526280" y="435254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166360" y="4338828"/>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Testing: use examples kept out of training.</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Why would testing only on memorised training examples give misleading confidence?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Remember the obstacle; change the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13</a:t>
            </a:r>
            <a:endParaRPr lang="en-US" sz="1100" dirty="0"/>
          </a:p>
        </p:txBody>
      </p:sp>
      <p:pic>
        <p:nvPicPr>
          <p:cNvPr id="8" name="Image 0" descr="Neato XV-11.jpg">    </p:cNvPr>
          <p:cNvPicPr>
            <a:picLocks noChangeAspect="1"/>
          </p:cNvPicPr>
          <p:nvPr/>
        </p:nvPicPr>
        <p:blipFill>
          <a:blip r:embed="rId1"/>
          <a:srcRect l="0" r="0" t="0" b="14754"/>
          <a:stretch/>
        </p:blipFill>
        <p:spPr>
          <a:xfrm>
            <a:off x="594360" y="1783080"/>
            <a:ext cx="5577840" cy="3566160"/>
          </a:xfrm>
          <a:prstGeom prst="rect">
            <a:avLst/>
          </a:prstGeom>
        </p:spPr>
      </p:pic>
      <p:sp>
        <p:nvSpPr>
          <p:cNvPr id="9" name="Text 5"/>
          <p:cNvSpPr txBox="1"/>
          <p:nvPr/>
        </p:nvSpPr>
        <p:spPr>
          <a:xfrm>
            <a:off x="594360" y="5413248"/>
            <a:ext cx="55778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Autopilot · CC BY-SA 3.0</a:t>
            </a:r>
            <a:endParaRPr lang="en-US" sz="900" dirty="0"/>
          </a:p>
        </p:txBody>
      </p:sp>
      <p:sp>
        <p:nvSpPr>
          <p:cNvPr id="11" name="Text 6"/>
          <p:cNvSpPr txBox="1"/>
          <p:nvPr/>
        </p:nvSpPr>
        <p:spPr>
          <a:xfrm>
            <a:off x="6720840" y="193852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7"/>
          <p:cNvSpPr txBox="1"/>
          <p:nvPr/>
        </p:nvSpPr>
        <p:spPr>
          <a:xfrm>
            <a:off x="7360920" y="1924812"/>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Collect obstacle and route data.</a:t>
            </a:r>
            <a:endParaRPr lang="en-US" sz="2300" dirty="0"/>
          </a:p>
        </p:txBody>
      </p:sp>
      <p:sp>
        <p:nvSpPr>
          <p:cNvPr id="13" name="Shape 8"/>
          <p:cNvSpPr/>
          <p:nvPr/>
        </p:nvSpPr>
        <p:spPr>
          <a:xfrm>
            <a:off x="7360920" y="2734056"/>
            <a:ext cx="4160520" cy="0"/>
          </a:xfrm>
          <a:prstGeom prst="line">
            <a:avLst/>
          </a:prstGeom>
          <a:noFill/>
          <a:ln w="8890">
            <a:solidFill>
              <a:srgbClr val="DDDBE5"/>
            </a:solidFill>
            <a:prstDash val="solid"/>
          </a:ln>
        </p:spPr>
      </p:sp>
      <p:sp>
        <p:nvSpPr>
          <p:cNvPr id="14" name="Text 9"/>
          <p:cNvSpPr txBox="1"/>
          <p:nvPr/>
        </p:nvSpPr>
        <p:spPr>
          <a:xfrm>
            <a:off x="6720840" y="2889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0"/>
          <p:cNvSpPr txBox="1"/>
          <p:nvPr/>
        </p:nvSpPr>
        <p:spPr>
          <a:xfrm>
            <a:off x="7360920" y="2875788"/>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Record which actions fail or succeed.</a:t>
            </a:r>
            <a:endParaRPr lang="en-US" sz="2300" dirty="0"/>
          </a:p>
        </p:txBody>
      </p:sp>
      <p:sp>
        <p:nvSpPr>
          <p:cNvPr id="16" name="Shape 11"/>
          <p:cNvSpPr/>
          <p:nvPr/>
        </p:nvSpPr>
        <p:spPr>
          <a:xfrm>
            <a:off x="7360920" y="3685032"/>
            <a:ext cx="4160520" cy="0"/>
          </a:xfrm>
          <a:prstGeom prst="line">
            <a:avLst/>
          </a:prstGeom>
          <a:noFill/>
          <a:ln w="8890">
            <a:solidFill>
              <a:srgbClr val="DDDBE5"/>
            </a:solidFill>
            <a:prstDash val="solid"/>
          </a:ln>
        </p:spPr>
      </p:sp>
      <p:sp>
        <p:nvSpPr>
          <p:cNvPr id="17" name="Text 12"/>
          <p:cNvSpPr txBox="1"/>
          <p:nvPr/>
        </p:nvSpPr>
        <p:spPr>
          <a:xfrm>
            <a:off x="6720840" y="3840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3"/>
          <p:cNvSpPr txBox="1"/>
          <p:nvPr/>
        </p:nvSpPr>
        <p:spPr>
          <a:xfrm>
            <a:off x="7360920" y="3826764"/>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that experience to change a later route.</a:t>
            </a:r>
            <a:endParaRPr lang="en-US" sz="2300" dirty="0"/>
          </a:p>
        </p:txBody>
      </p:sp>
      <p:sp>
        <p:nvSpPr>
          <p:cNvPr id="19"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the learning between runs, rather than only the sensor and motor.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VISUAL TRACE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failed attempt can teach a better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14</a:t>
            </a:r>
            <a:endParaRPr lang="en-US" sz="1100" dirty="0"/>
          </a:p>
        </p:txBody>
      </p:sp>
      <p:sp>
        <p:nvSpPr>
          <p:cNvPr id="8" name="Shape 5"/>
          <p:cNvSpPr/>
          <p:nvPr/>
        </p:nvSpPr>
        <p:spPr>
          <a:xfrm>
            <a:off x="594360" y="1874520"/>
            <a:ext cx="516636" cy="516636"/>
          </a:xfrm>
          <a:prstGeom prst="rect">
            <a:avLst/>
          </a:prstGeom>
          <a:solidFill>
            <a:srgbClr val="ECEAF0"/>
          </a:solidFill>
          <a:ln w="12700">
            <a:solidFill>
              <a:srgbClr val="ECEAF0"/>
            </a:solidFill>
            <a:prstDash val="solid"/>
          </a:ln>
        </p:spPr>
      </p:sp>
      <p:sp>
        <p:nvSpPr>
          <p:cNvPr id="9" name="Shape 6"/>
          <p:cNvSpPr/>
          <p:nvPr/>
        </p:nvSpPr>
        <p:spPr>
          <a:xfrm>
            <a:off x="1133856" y="1874520"/>
            <a:ext cx="516636" cy="516636"/>
          </a:xfrm>
          <a:prstGeom prst="rect">
            <a:avLst/>
          </a:prstGeom>
          <a:solidFill>
            <a:srgbClr val="ECEAF0"/>
          </a:solidFill>
          <a:ln w="12700">
            <a:solidFill>
              <a:srgbClr val="ECEAF0"/>
            </a:solidFill>
            <a:prstDash val="solid"/>
          </a:ln>
        </p:spPr>
      </p:sp>
      <p:sp>
        <p:nvSpPr>
          <p:cNvPr id="10" name="Shape 7"/>
          <p:cNvSpPr/>
          <p:nvPr/>
        </p:nvSpPr>
        <p:spPr>
          <a:xfrm>
            <a:off x="1673352" y="1874520"/>
            <a:ext cx="516636" cy="516636"/>
          </a:xfrm>
          <a:prstGeom prst="rect">
            <a:avLst/>
          </a:prstGeom>
          <a:solidFill>
            <a:srgbClr val="ECEAF0"/>
          </a:solidFill>
          <a:ln w="12700">
            <a:solidFill>
              <a:srgbClr val="ECEAF0"/>
            </a:solidFill>
            <a:prstDash val="solid"/>
          </a:ln>
        </p:spPr>
      </p:sp>
      <p:sp>
        <p:nvSpPr>
          <p:cNvPr id="11" name="Shape 8"/>
          <p:cNvSpPr/>
          <p:nvPr/>
        </p:nvSpPr>
        <p:spPr>
          <a:xfrm>
            <a:off x="2212848" y="1874520"/>
            <a:ext cx="516636" cy="516636"/>
          </a:xfrm>
          <a:prstGeom prst="rect">
            <a:avLst/>
          </a:prstGeom>
          <a:solidFill>
            <a:srgbClr val="ECEAF0"/>
          </a:solidFill>
          <a:ln w="12700">
            <a:solidFill>
              <a:srgbClr val="ECEAF0"/>
            </a:solidFill>
            <a:prstDash val="solid"/>
          </a:ln>
        </p:spPr>
      </p:sp>
      <p:sp>
        <p:nvSpPr>
          <p:cNvPr id="12" name="Shape 9"/>
          <p:cNvSpPr/>
          <p:nvPr/>
        </p:nvSpPr>
        <p:spPr>
          <a:xfrm>
            <a:off x="2752344" y="1874520"/>
            <a:ext cx="516636" cy="516636"/>
          </a:xfrm>
          <a:prstGeom prst="rect">
            <a:avLst/>
          </a:prstGeom>
          <a:solidFill>
            <a:srgbClr val="ECEAF0"/>
          </a:solidFill>
          <a:ln w="12700">
            <a:solidFill>
              <a:srgbClr val="ECEAF0"/>
            </a:solidFill>
            <a:prstDash val="solid"/>
          </a:ln>
        </p:spPr>
      </p:sp>
      <p:sp>
        <p:nvSpPr>
          <p:cNvPr id="13" name="Shape 10"/>
          <p:cNvSpPr/>
          <p:nvPr/>
        </p:nvSpPr>
        <p:spPr>
          <a:xfrm>
            <a:off x="3291840" y="1874520"/>
            <a:ext cx="516636" cy="516636"/>
          </a:xfrm>
          <a:prstGeom prst="rect">
            <a:avLst/>
          </a:prstGeom>
          <a:solidFill>
            <a:srgbClr val="ECEAF0"/>
          </a:solidFill>
          <a:ln w="12700">
            <a:solidFill>
              <a:srgbClr val="ECEAF0"/>
            </a:solidFill>
            <a:prstDash val="solid"/>
          </a:ln>
        </p:spPr>
      </p:sp>
      <p:sp>
        <p:nvSpPr>
          <p:cNvPr id="14" name="Shape 11"/>
          <p:cNvSpPr/>
          <p:nvPr/>
        </p:nvSpPr>
        <p:spPr>
          <a:xfrm>
            <a:off x="3831336" y="1874520"/>
            <a:ext cx="516636" cy="516636"/>
          </a:xfrm>
          <a:prstGeom prst="rect">
            <a:avLst/>
          </a:prstGeom>
          <a:solidFill>
            <a:srgbClr val="ECEAF0"/>
          </a:solidFill>
          <a:ln w="12700">
            <a:solidFill>
              <a:srgbClr val="ECEAF0"/>
            </a:solidFill>
            <a:prstDash val="solid"/>
          </a:ln>
        </p:spPr>
      </p:sp>
      <p:sp>
        <p:nvSpPr>
          <p:cNvPr id="15" name="Shape 12"/>
          <p:cNvSpPr/>
          <p:nvPr/>
        </p:nvSpPr>
        <p:spPr>
          <a:xfrm>
            <a:off x="594360" y="2414016"/>
            <a:ext cx="516636" cy="516636"/>
          </a:xfrm>
          <a:prstGeom prst="rect">
            <a:avLst/>
          </a:prstGeom>
          <a:solidFill>
            <a:srgbClr val="ECEAF0"/>
          </a:solidFill>
          <a:ln w="12700">
            <a:solidFill>
              <a:srgbClr val="ECEAF0"/>
            </a:solidFill>
            <a:prstDash val="solid"/>
          </a:ln>
        </p:spPr>
      </p:sp>
      <p:sp>
        <p:nvSpPr>
          <p:cNvPr id="16" name="Shape 13"/>
          <p:cNvSpPr/>
          <p:nvPr/>
        </p:nvSpPr>
        <p:spPr>
          <a:xfrm>
            <a:off x="1133856" y="2414016"/>
            <a:ext cx="516636" cy="516636"/>
          </a:xfrm>
          <a:prstGeom prst="rect">
            <a:avLst/>
          </a:prstGeom>
          <a:solidFill>
            <a:srgbClr val="ECEAF0"/>
          </a:solidFill>
          <a:ln w="12700">
            <a:solidFill>
              <a:srgbClr val="ECEAF0"/>
            </a:solidFill>
            <a:prstDash val="solid"/>
          </a:ln>
        </p:spPr>
      </p:sp>
      <p:sp>
        <p:nvSpPr>
          <p:cNvPr id="17" name="Shape 14"/>
          <p:cNvSpPr/>
          <p:nvPr/>
        </p:nvSpPr>
        <p:spPr>
          <a:xfrm>
            <a:off x="1673352" y="2414016"/>
            <a:ext cx="516636" cy="516636"/>
          </a:xfrm>
          <a:prstGeom prst="rect">
            <a:avLst/>
          </a:prstGeom>
          <a:solidFill>
            <a:srgbClr val="ECEAF0"/>
          </a:solidFill>
          <a:ln w="12700">
            <a:solidFill>
              <a:srgbClr val="ECEAF0"/>
            </a:solidFill>
            <a:prstDash val="solid"/>
          </a:ln>
        </p:spPr>
      </p:sp>
      <p:sp>
        <p:nvSpPr>
          <p:cNvPr id="18" name="Shape 15"/>
          <p:cNvSpPr/>
          <p:nvPr/>
        </p:nvSpPr>
        <p:spPr>
          <a:xfrm>
            <a:off x="2212848" y="2414016"/>
            <a:ext cx="516636" cy="516636"/>
          </a:xfrm>
          <a:prstGeom prst="rect">
            <a:avLst/>
          </a:prstGeom>
          <a:solidFill>
            <a:srgbClr val="ECEAF0"/>
          </a:solidFill>
          <a:ln w="12700">
            <a:solidFill>
              <a:srgbClr val="ECEAF0"/>
            </a:solidFill>
            <a:prstDash val="solid"/>
          </a:ln>
        </p:spPr>
      </p:sp>
      <p:sp>
        <p:nvSpPr>
          <p:cNvPr id="19" name="Shape 16"/>
          <p:cNvSpPr/>
          <p:nvPr/>
        </p:nvSpPr>
        <p:spPr>
          <a:xfrm>
            <a:off x="2752344" y="2414016"/>
            <a:ext cx="516636" cy="516636"/>
          </a:xfrm>
          <a:prstGeom prst="rect">
            <a:avLst/>
          </a:prstGeom>
          <a:solidFill>
            <a:srgbClr val="ECEAF0"/>
          </a:solidFill>
          <a:ln w="12700">
            <a:solidFill>
              <a:srgbClr val="ECEAF0"/>
            </a:solidFill>
            <a:prstDash val="solid"/>
          </a:ln>
        </p:spPr>
      </p:sp>
      <p:sp>
        <p:nvSpPr>
          <p:cNvPr id="20" name="Shape 17"/>
          <p:cNvSpPr/>
          <p:nvPr/>
        </p:nvSpPr>
        <p:spPr>
          <a:xfrm>
            <a:off x="3291840" y="2414016"/>
            <a:ext cx="516636" cy="516636"/>
          </a:xfrm>
          <a:prstGeom prst="rect">
            <a:avLst/>
          </a:prstGeom>
          <a:solidFill>
            <a:srgbClr val="ECEAF0"/>
          </a:solidFill>
          <a:ln w="12700">
            <a:solidFill>
              <a:srgbClr val="ECEAF0"/>
            </a:solidFill>
            <a:prstDash val="solid"/>
          </a:ln>
        </p:spPr>
      </p:sp>
      <p:sp>
        <p:nvSpPr>
          <p:cNvPr id="21" name="Shape 18"/>
          <p:cNvSpPr/>
          <p:nvPr/>
        </p:nvSpPr>
        <p:spPr>
          <a:xfrm>
            <a:off x="3831336" y="2414016"/>
            <a:ext cx="516636" cy="516636"/>
          </a:xfrm>
          <a:prstGeom prst="rect">
            <a:avLst/>
          </a:prstGeom>
          <a:solidFill>
            <a:srgbClr val="ECEAF0"/>
          </a:solidFill>
          <a:ln w="12700">
            <a:solidFill>
              <a:srgbClr val="ECEAF0"/>
            </a:solidFill>
            <a:prstDash val="solid"/>
          </a:ln>
        </p:spPr>
      </p:sp>
      <p:sp>
        <p:nvSpPr>
          <p:cNvPr id="22" name="Shape 19"/>
          <p:cNvSpPr/>
          <p:nvPr/>
        </p:nvSpPr>
        <p:spPr>
          <a:xfrm>
            <a:off x="594360" y="2953512"/>
            <a:ext cx="516636" cy="516636"/>
          </a:xfrm>
          <a:prstGeom prst="rect">
            <a:avLst/>
          </a:prstGeom>
          <a:solidFill>
            <a:srgbClr val="ECEAF0"/>
          </a:solidFill>
          <a:ln w="12700">
            <a:solidFill>
              <a:srgbClr val="ECEAF0"/>
            </a:solidFill>
            <a:prstDash val="solid"/>
          </a:ln>
        </p:spPr>
      </p:sp>
      <p:sp>
        <p:nvSpPr>
          <p:cNvPr id="23" name="Shape 20"/>
          <p:cNvSpPr/>
          <p:nvPr/>
        </p:nvSpPr>
        <p:spPr>
          <a:xfrm>
            <a:off x="1133856" y="2953512"/>
            <a:ext cx="516636" cy="516636"/>
          </a:xfrm>
          <a:prstGeom prst="rect">
            <a:avLst/>
          </a:prstGeom>
          <a:solidFill>
            <a:srgbClr val="ECEAF0"/>
          </a:solidFill>
          <a:ln w="12700">
            <a:solidFill>
              <a:srgbClr val="ECEAF0"/>
            </a:solidFill>
            <a:prstDash val="solid"/>
          </a:ln>
        </p:spPr>
      </p:sp>
      <p:sp>
        <p:nvSpPr>
          <p:cNvPr id="24" name="Shape 21"/>
          <p:cNvSpPr/>
          <p:nvPr/>
        </p:nvSpPr>
        <p:spPr>
          <a:xfrm>
            <a:off x="1673352" y="2953512"/>
            <a:ext cx="516636" cy="516636"/>
          </a:xfrm>
          <a:prstGeom prst="rect">
            <a:avLst/>
          </a:prstGeom>
          <a:solidFill>
            <a:srgbClr val="ECEAF0"/>
          </a:solidFill>
          <a:ln w="12700">
            <a:solidFill>
              <a:srgbClr val="ECEAF0"/>
            </a:solidFill>
            <a:prstDash val="solid"/>
          </a:ln>
        </p:spPr>
      </p:sp>
      <p:sp>
        <p:nvSpPr>
          <p:cNvPr id="25" name="Shape 22"/>
          <p:cNvSpPr/>
          <p:nvPr/>
        </p:nvSpPr>
        <p:spPr>
          <a:xfrm>
            <a:off x="2212848" y="2953512"/>
            <a:ext cx="516636" cy="516636"/>
          </a:xfrm>
          <a:prstGeom prst="rect">
            <a:avLst/>
          </a:prstGeom>
          <a:solidFill>
            <a:srgbClr val="ECEAF0"/>
          </a:solidFill>
          <a:ln w="12700">
            <a:solidFill>
              <a:srgbClr val="ECEAF0"/>
            </a:solidFill>
            <a:prstDash val="solid"/>
          </a:ln>
        </p:spPr>
      </p:sp>
      <p:sp>
        <p:nvSpPr>
          <p:cNvPr id="26" name="Shape 23"/>
          <p:cNvSpPr/>
          <p:nvPr/>
        </p:nvSpPr>
        <p:spPr>
          <a:xfrm>
            <a:off x="2752344" y="2953512"/>
            <a:ext cx="516636" cy="516636"/>
          </a:xfrm>
          <a:prstGeom prst="rect">
            <a:avLst/>
          </a:prstGeom>
          <a:solidFill>
            <a:srgbClr val="ECEAF0"/>
          </a:solidFill>
          <a:ln w="12700">
            <a:solidFill>
              <a:srgbClr val="ECEAF0"/>
            </a:solidFill>
            <a:prstDash val="solid"/>
          </a:ln>
        </p:spPr>
      </p:sp>
      <p:sp>
        <p:nvSpPr>
          <p:cNvPr id="27" name="Shape 24"/>
          <p:cNvSpPr/>
          <p:nvPr/>
        </p:nvSpPr>
        <p:spPr>
          <a:xfrm>
            <a:off x="3291840" y="2953512"/>
            <a:ext cx="516636" cy="516636"/>
          </a:xfrm>
          <a:prstGeom prst="rect">
            <a:avLst/>
          </a:prstGeom>
          <a:solidFill>
            <a:srgbClr val="ECEAF0"/>
          </a:solidFill>
          <a:ln w="12700">
            <a:solidFill>
              <a:srgbClr val="ECEAF0"/>
            </a:solidFill>
            <a:prstDash val="solid"/>
          </a:ln>
        </p:spPr>
      </p:sp>
      <p:sp>
        <p:nvSpPr>
          <p:cNvPr id="28" name="Shape 25"/>
          <p:cNvSpPr/>
          <p:nvPr/>
        </p:nvSpPr>
        <p:spPr>
          <a:xfrm>
            <a:off x="3831336" y="2953512"/>
            <a:ext cx="516636" cy="516636"/>
          </a:xfrm>
          <a:prstGeom prst="rect">
            <a:avLst/>
          </a:prstGeom>
          <a:solidFill>
            <a:srgbClr val="ECEAF0"/>
          </a:solidFill>
          <a:ln w="12700">
            <a:solidFill>
              <a:srgbClr val="ECEAF0"/>
            </a:solidFill>
            <a:prstDash val="solid"/>
          </a:ln>
        </p:spPr>
      </p:sp>
      <p:sp>
        <p:nvSpPr>
          <p:cNvPr id="29" name="Shape 26"/>
          <p:cNvSpPr/>
          <p:nvPr/>
        </p:nvSpPr>
        <p:spPr>
          <a:xfrm>
            <a:off x="594360" y="3493008"/>
            <a:ext cx="516636" cy="516636"/>
          </a:xfrm>
          <a:prstGeom prst="rect">
            <a:avLst/>
          </a:prstGeom>
          <a:solidFill>
            <a:srgbClr val="ECEAF0"/>
          </a:solidFill>
          <a:ln w="12700">
            <a:solidFill>
              <a:srgbClr val="ECEAF0"/>
            </a:solidFill>
            <a:prstDash val="solid"/>
          </a:ln>
        </p:spPr>
      </p:sp>
      <p:sp>
        <p:nvSpPr>
          <p:cNvPr id="30" name="Shape 27"/>
          <p:cNvSpPr/>
          <p:nvPr/>
        </p:nvSpPr>
        <p:spPr>
          <a:xfrm>
            <a:off x="1133856" y="3493008"/>
            <a:ext cx="516636" cy="516636"/>
          </a:xfrm>
          <a:prstGeom prst="rect">
            <a:avLst/>
          </a:prstGeom>
          <a:solidFill>
            <a:srgbClr val="ECEAF0"/>
          </a:solidFill>
          <a:ln w="12700">
            <a:solidFill>
              <a:srgbClr val="ECEAF0"/>
            </a:solidFill>
            <a:prstDash val="solid"/>
          </a:ln>
        </p:spPr>
      </p:sp>
      <p:sp>
        <p:nvSpPr>
          <p:cNvPr id="31" name="Shape 28"/>
          <p:cNvSpPr/>
          <p:nvPr/>
        </p:nvSpPr>
        <p:spPr>
          <a:xfrm>
            <a:off x="1673352" y="3493008"/>
            <a:ext cx="516636" cy="516636"/>
          </a:xfrm>
          <a:prstGeom prst="rect">
            <a:avLst/>
          </a:prstGeom>
          <a:solidFill>
            <a:srgbClr val="ECEAF0"/>
          </a:solidFill>
          <a:ln w="12700">
            <a:solidFill>
              <a:srgbClr val="ECEAF0"/>
            </a:solidFill>
            <a:prstDash val="solid"/>
          </a:ln>
        </p:spPr>
      </p:sp>
      <p:sp>
        <p:nvSpPr>
          <p:cNvPr id="32" name="Shape 29"/>
          <p:cNvSpPr/>
          <p:nvPr/>
        </p:nvSpPr>
        <p:spPr>
          <a:xfrm>
            <a:off x="2212848" y="3493008"/>
            <a:ext cx="516636" cy="516636"/>
          </a:xfrm>
          <a:prstGeom prst="rect">
            <a:avLst/>
          </a:prstGeom>
          <a:solidFill>
            <a:srgbClr val="ECEAF0"/>
          </a:solidFill>
          <a:ln w="12700">
            <a:solidFill>
              <a:srgbClr val="ECEAF0"/>
            </a:solidFill>
            <a:prstDash val="solid"/>
          </a:ln>
        </p:spPr>
      </p:sp>
      <p:sp>
        <p:nvSpPr>
          <p:cNvPr id="33" name="Shape 30"/>
          <p:cNvSpPr/>
          <p:nvPr/>
        </p:nvSpPr>
        <p:spPr>
          <a:xfrm>
            <a:off x="2752344" y="3493008"/>
            <a:ext cx="516636" cy="516636"/>
          </a:xfrm>
          <a:prstGeom prst="rect">
            <a:avLst/>
          </a:prstGeom>
          <a:solidFill>
            <a:srgbClr val="ECEAF0"/>
          </a:solidFill>
          <a:ln w="12700">
            <a:solidFill>
              <a:srgbClr val="ECEAF0"/>
            </a:solidFill>
            <a:prstDash val="solid"/>
          </a:ln>
        </p:spPr>
      </p:sp>
      <p:sp>
        <p:nvSpPr>
          <p:cNvPr id="34" name="Shape 31"/>
          <p:cNvSpPr/>
          <p:nvPr/>
        </p:nvSpPr>
        <p:spPr>
          <a:xfrm>
            <a:off x="3291840" y="3493008"/>
            <a:ext cx="516636" cy="516636"/>
          </a:xfrm>
          <a:prstGeom prst="rect">
            <a:avLst/>
          </a:prstGeom>
          <a:solidFill>
            <a:srgbClr val="ECEAF0"/>
          </a:solidFill>
          <a:ln w="12700">
            <a:solidFill>
              <a:srgbClr val="ECEAF0"/>
            </a:solidFill>
            <a:prstDash val="solid"/>
          </a:ln>
        </p:spPr>
      </p:sp>
      <p:sp>
        <p:nvSpPr>
          <p:cNvPr id="35" name="Shape 32"/>
          <p:cNvSpPr/>
          <p:nvPr/>
        </p:nvSpPr>
        <p:spPr>
          <a:xfrm>
            <a:off x="3831336" y="3493008"/>
            <a:ext cx="516636" cy="516636"/>
          </a:xfrm>
          <a:prstGeom prst="rect">
            <a:avLst/>
          </a:prstGeom>
          <a:solidFill>
            <a:srgbClr val="ECEAF0"/>
          </a:solidFill>
          <a:ln w="12700">
            <a:solidFill>
              <a:srgbClr val="ECEAF0"/>
            </a:solidFill>
            <a:prstDash val="solid"/>
          </a:ln>
        </p:spPr>
      </p:sp>
      <p:sp>
        <p:nvSpPr>
          <p:cNvPr id="36" name="Shape 33"/>
          <p:cNvSpPr/>
          <p:nvPr/>
        </p:nvSpPr>
        <p:spPr>
          <a:xfrm>
            <a:off x="594360" y="4032504"/>
            <a:ext cx="516636" cy="516636"/>
          </a:xfrm>
          <a:prstGeom prst="rect">
            <a:avLst/>
          </a:prstGeom>
          <a:solidFill>
            <a:srgbClr val="ECEAF0"/>
          </a:solidFill>
          <a:ln w="12700">
            <a:solidFill>
              <a:srgbClr val="ECEAF0"/>
            </a:solidFill>
            <a:prstDash val="solid"/>
          </a:ln>
        </p:spPr>
      </p:sp>
      <p:sp>
        <p:nvSpPr>
          <p:cNvPr id="37" name="Shape 34"/>
          <p:cNvSpPr/>
          <p:nvPr/>
        </p:nvSpPr>
        <p:spPr>
          <a:xfrm>
            <a:off x="1133856" y="4032504"/>
            <a:ext cx="516636" cy="516636"/>
          </a:xfrm>
          <a:prstGeom prst="rect">
            <a:avLst/>
          </a:prstGeom>
          <a:solidFill>
            <a:srgbClr val="ECEAF0"/>
          </a:solidFill>
          <a:ln w="12700">
            <a:solidFill>
              <a:srgbClr val="ECEAF0"/>
            </a:solidFill>
            <a:prstDash val="solid"/>
          </a:ln>
        </p:spPr>
      </p:sp>
      <p:sp>
        <p:nvSpPr>
          <p:cNvPr id="38" name="Shape 35"/>
          <p:cNvSpPr/>
          <p:nvPr/>
        </p:nvSpPr>
        <p:spPr>
          <a:xfrm>
            <a:off x="1673352" y="4032504"/>
            <a:ext cx="516636" cy="516636"/>
          </a:xfrm>
          <a:prstGeom prst="rect">
            <a:avLst/>
          </a:prstGeom>
          <a:solidFill>
            <a:srgbClr val="ECEAF0"/>
          </a:solidFill>
          <a:ln w="12700">
            <a:solidFill>
              <a:srgbClr val="ECEAF0"/>
            </a:solidFill>
            <a:prstDash val="solid"/>
          </a:ln>
        </p:spPr>
      </p:sp>
      <p:sp>
        <p:nvSpPr>
          <p:cNvPr id="39" name="Shape 36"/>
          <p:cNvSpPr/>
          <p:nvPr/>
        </p:nvSpPr>
        <p:spPr>
          <a:xfrm>
            <a:off x="2212848" y="4032504"/>
            <a:ext cx="516636" cy="516636"/>
          </a:xfrm>
          <a:prstGeom prst="rect">
            <a:avLst/>
          </a:prstGeom>
          <a:solidFill>
            <a:srgbClr val="ECEAF0"/>
          </a:solidFill>
          <a:ln w="12700">
            <a:solidFill>
              <a:srgbClr val="ECEAF0"/>
            </a:solidFill>
            <a:prstDash val="solid"/>
          </a:ln>
        </p:spPr>
      </p:sp>
      <p:sp>
        <p:nvSpPr>
          <p:cNvPr id="40" name="Shape 37"/>
          <p:cNvSpPr/>
          <p:nvPr/>
        </p:nvSpPr>
        <p:spPr>
          <a:xfrm>
            <a:off x="2752344" y="4032504"/>
            <a:ext cx="516636" cy="516636"/>
          </a:xfrm>
          <a:prstGeom prst="rect">
            <a:avLst/>
          </a:prstGeom>
          <a:solidFill>
            <a:srgbClr val="ECEAF0"/>
          </a:solidFill>
          <a:ln w="12700">
            <a:solidFill>
              <a:srgbClr val="ECEAF0"/>
            </a:solidFill>
            <a:prstDash val="solid"/>
          </a:ln>
        </p:spPr>
      </p:sp>
      <p:sp>
        <p:nvSpPr>
          <p:cNvPr id="41" name="Shape 38"/>
          <p:cNvSpPr/>
          <p:nvPr/>
        </p:nvSpPr>
        <p:spPr>
          <a:xfrm>
            <a:off x="3291840" y="4032504"/>
            <a:ext cx="516636" cy="516636"/>
          </a:xfrm>
          <a:prstGeom prst="rect">
            <a:avLst/>
          </a:prstGeom>
          <a:solidFill>
            <a:srgbClr val="ECEAF0"/>
          </a:solidFill>
          <a:ln w="12700">
            <a:solidFill>
              <a:srgbClr val="ECEAF0"/>
            </a:solidFill>
            <a:prstDash val="solid"/>
          </a:ln>
        </p:spPr>
      </p:sp>
      <p:sp>
        <p:nvSpPr>
          <p:cNvPr id="42" name="Shape 39"/>
          <p:cNvSpPr/>
          <p:nvPr/>
        </p:nvSpPr>
        <p:spPr>
          <a:xfrm>
            <a:off x="3831336" y="4032504"/>
            <a:ext cx="516636" cy="516636"/>
          </a:xfrm>
          <a:prstGeom prst="rect">
            <a:avLst/>
          </a:prstGeom>
          <a:solidFill>
            <a:srgbClr val="ECEAF0"/>
          </a:solidFill>
          <a:ln w="12700">
            <a:solidFill>
              <a:srgbClr val="ECEAF0"/>
            </a:solidFill>
            <a:prstDash val="solid"/>
          </a:ln>
        </p:spPr>
      </p:sp>
      <p:sp>
        <p:nvSpPr>
          <p:cNvPr id="43" name="Shape 40"/>
          <p:cNvSpPr/>
          <p:nvPr/>
        </p:nvSpPr>
        <p:spPr>
          <a:xfrm>
            <a:off x="594360" y="4572000"/>
            <a:ext cx="516636" cy="516636"/>
          </a:xfrm>
          <a:prstGeom prst="rect">
            <a:avLst/>
          </a:prstGeom>
          <a:solidFill>
            <a:srgbClr val="ECEAF0"/>
          </a:solidFill>
          <a:ln w="12700">
            <a:solidFill>
              <a:srgbClr val="ECEAF0"/>
            </a:solidFill>
            <a:prstDash val="solid"/>
          </a:ln>
        </p:spPr>
      </p:sp>
      <p:sp>
        <p:nvSpPr>
          <p:cNvPr id="44" name="Shape 41"/>
          <p:cNvSpPr/>
          <p:nvPr/>
        </p:nvSpPr>
        <p:spPr>
          <a:xfrm>
            <a:off x="1133856" y="4572000"/>
            <a:ext cx="516636" cy="516636"/>
          </a:xfrm>
          <a:prstGeom prst="rect">
            <a:avLst/>
          </a:prstGeom>
          <a:solidFill>
            <a:srgbClr val="ECEAF0"/>
          </a:solidFill>
          <a:ln w="12700">
            <a:solidFill>
              <a:srgbClr val="ECEAF0"/>
            </a:solidFill>
            <a:prstDash val="solid"/>
          </a:ln>
        </p:spPr>
      </p:sp>
      <p:sp>
        <p:nvSpPr>
          <p:cNvPr id="45" name="Shape 42"/>
          <p:cNvSpPr/>
          <p:nvPr/>
        </p:nvSpPr>
        <p:spPr>
          <a:xfrm>
            <a:off x="1673352" y="4572000"/>
            <a:ext cx="516636" cy="516636"/>
          </a:xfrm>
          <a:prstGeom prst="rect">
            <a:avLst/>
          </a:prstGeom>
          <a:solidFill>
            <a:srgbClr val="ECEAF0"/>
          </a:solidFill>
          <a:ln w="12700">
            <a:solidFill>
              <a:srgbClr val="ECEAF0"/>
            </a:solidFill>
            <a:prstDash val="solid"/>
          </a:ln>
        </p:spPr>
      </p:sp>
      <p:sp>
        <p:nvSpPr>
          <p:cNvPr id="46" name="Shape 43"/>
          <p:cNvSpPr/>
          <p:nvPr/>
        </p:nvSpPr>
        <p:spPr>
          <a:xfrm>
            <a:off x="2212848" y="4572000"/>
            <a:ext cx="516636" cy="516636"/>
          </a:xfrm>
          <a:prstGeom prst="rect">
            <a:avLst/>
          </a:prstGeom>
          <a:solidFill>
            <a:srgbClr val="ECEAF0"/>
          </a:solidFill>
          <a:ln w="12700">
            <a:solidFill>
              <a:srgbClr val="ECEAF0"/>
            </a:solidFill>
            <a:prstDash val="solid"/>
          </a:ln>
        </p:spPr>
      </p:sp>
      <p:sp>
        <p:nvSpPr>
          <p:cNvPr id="47" name="Shape 44"/>
          <p:cNvSpPr/>
          <p:nvPr/>
        </p:nvSpPr>
        <p:spPr>
          <a:xfrm>
            <a:off x="2752344" y="4572000"/>
            <a:ext cx="516636" cy="516636"/>
          </a:xfrm>
          <a:prstGeom prst="rect">
            <a:avLst/>
          </a:prstGeom>
          <a:solidFill>
            <a:srgbClr val="ECEAF0"/>
          </a:solidFill>
          <a:ln w="12700">
            <a:solidFill>
              <a:srgbClr val="ECEAF0"/>
            </a:solidFill>
            <a:prstDash val="solid"/>
          </a:ln>
        </p:spPr>
      </p:sp>
      <p:sp>
        <p:nvSpPr>
          <p:cNvPr id="48" name="Shape 45"/>
          <p:cNvSpPr/>
          <p:nvPr/>
        </p:nvSpPr>
        <p:spPr>
          <a:xfrm>
            <a:off x="3291840" y="4572000"/>
            <a:ext cx="516636" cy="516636"/>
          </a:xfrm>
          <a:prstGeom prst="rect">
            <a:avLst/>
          </a:prstGeom>
          <a:solidFill>
            <a:srgbClr val="ECEAF0"/>
          </a:solidFill>
          <a:ln w="12700">
            <a:solidFill>
              <a:srgbClr val="ECEAF0"/>
            </a:solidFill>
            <a:prstDash val="solid"/>
          </a:ln>
        </p:spPr>
      </p:sp>
      <p:sp>
        <p:nvSpPr>
          <p:cNvPr id="49" name="Shape 46"/>
          <p:cNvSpPr/>
          <p:nvPr/>
        </p:nvSpPr>
        <p:spPr>
          <a:xfrm>
            <a:off x="3831336" y="4572000"/>
            <a:ext cx="516636" cy="516636"/>
          </a:xfrm>
          <a:prstGeom prst="rect">
            <a:avLst/>
          </a:prstGeom>
          <a:solidFill>
            <a:srgbClr val="ECEAF0"/>
          </a:solidFill>
          <a:ln w="12700">
            <a:solidFill>
              <a:srgbClr val="ECEAF0"/>
            </a:solidFill>
            <a:prstDash val="solid"/>
          </a:ln>
        </p:spPr>
      </p:sp>
      <p:sp>
        <p:nvSpPr>
          <p:cNvPr id="50" name="Shape 47"/>
          <p:cNvSpPr/>
          <p:nvPr/>
        </p:nvSpPr>
        <p:spPr>
          <a:xfrm>
            <a:off x="1133856" y="2414016"/>
            <a:ext cx="516636" cy="516636"/>
          </a:xfrm>
          <a:prstGeom prst="rect">
            <a:avLst/>
          </a:prstGeom>
          <a:solidFill>
            <a:srgbClr val="494985"/>
          </a:solidFill>
          <a:ln w="12700">
            <a:solidFill>
              <a:srgbClr val="494985"/>
            </a:solidFill>
            <a:prstDash val="solid"/>
          </a:ln>
        </p:spPr>
      </p:sp>
      <p:sp>
        <p:nvSpPr>
          <p:cNvPr id="51" name="Shape 48"/>
          <p:cNvSpPr/>
          <p:nvPr/>
        </p:nvSpPr>
        <p:spPr>
          <a:xfrm>
            <a:off x="1673352" y="2414016"/>
            <a:ext cx="516636" cy="516636"/>
          </a:xfrm>
          <a:prstGeom prst="rect">
            <a:avLst/>
          </a:prstGeom>
          <a:solidFill>
            <a:srgbClr val="494985"/>
          </a:solidFill>
          <a:ln w="12700">
            <a:solidFill>
              <a:srgbClr val="494985"/>
            </a:solidFill>
            <a:prstDash val="solid"/>
          </a:ln>
        </p:spPr>
      </p:sp>
      <p:sp>
        <p:nvSpPr>
          <p:cNvPr id="52" name="Shape 49"/>
          <p:cNvSpPr/>
          <p:nvPr/>
        </p:nvSpPr>
        <p:spPr>
          <a:xfrm>
            <a:off x="2752344" y="2414016"/>
            <a:ext cx="516636" cy="516636"/>
          </a:xfrm>
          <a:prstGeom prst="rect">
            <a:avLst/>
          </a:prstGeom>
          <a:solidFill>
            <a:srgbClr val="494985"/>
          </a:solidFill>
          <a:ln w="12700">
            <a:solidFill>
              <a:srgbClr val="494985"/>
            </a:solidFill>
            <a:prstDash val="solid"/>
          </a:ln>
        </p:spPr>
      </p:sp>
      <p:sp>
        <p:nvSpPr>
          <p:cNvPr id="53" name="Shape 50"/>
          <p:cNvSpPr/>
          <p:nvPr/>
        </p:nvSpPr>
        <p:spPr>
          <a:xfrm>
            <a:off x="2752344" y="2953512"/>
            <a:ext cx="516636" cy="516636"/>
          </a:xfrm>
          <a:prstGeom prst="rect">
            <a:avLst/>
          </a:prstGeom>
          <a:solidFill>
            <a:srgbClr val="494985"/>
          </a:solidFill>
          <a:ln w="12700">
            <a:solidFill>
              <a:srgbClr val="494985"/>
            </a:solidFill>
            <a:prstDash val="solid"/>
          </a:ln>
        </p:spPr>
      </p:sp>
      <p:sp>
        <p:nvSpPr>
          <p:cNvPr id="54" name="Shape 51"/>
          <p:cNvSpPr/>
          <p:nvPr/>
        </p:nvSpPr>
        <p:spPr>
          <a:xfrm>
            <a:off x="1673352" y="3493008"/>
            <a:ext cx="516636" cy="516636"/>
          </a:xfrm>
          <a:prstGeom prst="rect">
            <a:avLst/>
          </a:prstGeom>
          <a:solidFill>
            <a:srgbClr val="494985"/>
          </a:solidFill>
          <a:ln w="12700">
            <a:solidFill>
              <a:srgbClr val="494985"/>
            </a:solidFill>
            <a:prstDash val="solid"/>
          </a:ln>
        </p:spPr>
      </p:sp>
      <p:sp>
        <p:nvSpPr>
          <p:cNvPr id="55" name="Shape 52"/>
          <p:cNvSpPr/>
          <p:nvPr/>
        </p:nvSpPr>
        <p:spPr>
          <a:xfrm>
            <a:off x="2212848" y="3493008"/>
            <a:ext cx="516636" cy="516636"/>
          </a:xfrm>
          <a:prstGeom prst="rect">
            <a:avLst/>
          </a:prstGeom>
          <a:solidFill>
            <a:srgbClr val="494985"/>
          </a:solidFill>
          <a:ln w="12700">
            <a:solidFill>
              <a:srgbClr val="494985"/>
            </a:solidFill>
            <a:prstDash val="solid"/>
          </a:ln>
        </p:spPr>
      </p:sp>
      <p:sp>
        <p:nvSpPr>
          <p:cNvPr id="56" name="Shape 53"/>
          <p:cNvSpPr/>
          <p:nvPr/>
        </p:nvSpPr>
        <p:spPr>
          <a:xfrm>
            <a:off x="1673352" y="4032504"/>
            <a:ext cx="516636" cy="516636"/>
          </a:xfrm>
          <a:prstGeom prst="rect">
            <a:avLst/>
          </a:prstGeom>
          <a:solidFill>
            <a:srgbClr val="494985"/>
          </a:solidFill>
          <a:ln w="12700">
            <a:solidFill>
              <a:srgbClr val="494985"/>
            </a:solidFill>
            <a:prstDash val="solid"/>
          </a:ln>
        </p:spPr>
      </p:sp>
      <p:sp>
        <p:nvSpPr>
          <p:cNvPr id="57" name="Shape 54"/>
          <p:cNvSpPr/>
          <p:nvPr/>
        </p:nvSpPr>
        <p:spPr>
          <a:xfrm>
            <a:off x="3291840" y="4032504"/>
            <a:ext cx="516636" cy="516636"/>
          </a:xfrm>
          <a:prstGeom prst="rect">
            <a:avLst/>
          </a:prstGeom>
          <a:solidFill>
            <a:srgbClr val="494985"/>
          </a:solidFill>
          <a:ln w="12700">
            <a:solidFill>
              <a:srgbClr val="494985"/>
            </a:solidFill>
            <a:prstDash val="solid"/>
          </a:ln>
        </p:spPr>
      </p:sp>
      <p:sp>
        <p:nvSpPr>
          <p:cNvPr id="58" name="Shape 55"/>
          <p:cNvSpPr/>
          <p:nvPr/>
        </p:nvSpPr>
        <p:spPr>
          <a:xfrm flipV="1">
            <a:off x="859536" y="3762756"/>
            <a:ext cx="914" cy="1065276"/>
          </a:xfrm>
          <a:prstGeom prst="line">
            <a:avLst/>
          </a:prstGeom>
          <a:noFill/>
          <a:ln w="25400">
            <a:solidFill>
              <a:srgbClr val="494985"/>
            </a:solidFill>
            <a:prstDash val="solid"/>
            <a:tailEnd type="triangle"/>
          </a:ln>
        </p:spPr>
      </p:sp>
      <p:sp>
        <p:nvSpPr>
          <p:cNvPr id="59" name="Shape 56"/>
          <p:cNvSpPr/>
          <p:nvPr/>
        </p:nvSpPr>
        <p:spPr>
          <a:xfrm>
            <a:off x="859536" y="3762756"/>
            <a:ext cx="1060704" cy="914"/>
          </a:xfrm>
          <a:prstGeom prst="line">
            <a:avLst/>
          </a:prstGeom>
          <a:noFill/>
          <a:ln w="25400">
            <a:solidFill>
              <a:srgbClr val="494985"/>
            </a:solidFill>
            <a:prstDash val="solid"/>
            <a:tailEnd type="triangle"/>
          </a:ln>
        </p:spPr>
      </p:sp>
      <p:sp>
        <p:nvSpPr>
          <p:cNvPr id="60" name="Text 57"/>
          <p:cNvSpPr txBox="1"/>
          <p:nvPr/>
        </p:nvSpPr>
        <p:spPr>
          <a:xfrm>
            <a:off x="1810512" y="3534156"/>
            <a:ext cx="457200" cy="502920"/>
          </a:xfrm>
          <a:prstGeom prst="rect">
            <a:avLst/>
          </a:prstGeom>
          <a:noFill/>
          <a:ln/>
        </p:spPr>
        <p:txBody>
          <a:bodyPr wrap="square" lIns="0" tIns="0" rIns="0" bIns="0" rtlCol="0" anchor="t"/>
          <a:lstStyle/>
          <a:p>
            <a:pPr indent="0" marL="0">
              <a:buNone/>
            </a:pPr>
            <a:r>
              <a:rPr lang="en-US" sz="3200" b="1" dirty="0">
                <a:solidFill>
                  <a:srgbClr val="B3261E"/>
                </a:solidFill>
                <a:latin typeface="Quicksand" pitchFamily="34" charset="0"/>
                <a:ea typeface="Quicksand" pitchFamily="34" charset="-122"/>
                <a:cs typeface="Quicksand" pitchFamily="34" charset="-120"/>
              </a:rPr>
              <a:t>×</a:t>
            </a:r>
            <a:endParaRPr lang="en-US" sz="3200" dirty="0"/>
          </a:p>
        </p:txBody>
      </p:sp>
      <p:sp>
        <p:nvSpPr>
          <p:cNvPr id="61" name="Shape 58"/>
          <p:cNvSpPr/>
          <p:nvPr/>
        </p:nvSpPr>
        <p:spPr>
          <a:xfrm>
            <a:off x="859536" y="4828032"/>
            <a:ext cx="3227832" cy="914"/>
          </a:xfrm>
          <a:prstGeom prst="line">
            <a:avLst/>
          </a:prstGeom>
          <a:noFill/>
          <a:ln w="25400">
            <a:solidFill>
              <a:srgbClr val="2E7D5B"/>
            </a:solidFill>
            <a:prstDash val="solid"/>
            <a:tailEnd type="triangle"/>
          </a:ln>
        </p:spPr>
      </p:sp>
      <p:sp>
        <p:nvSpPr>
          <p:cNvPr id="62" name="Text 59"/>
          <p:cNvSpPr txBox="1"/>
          <p:nvPr/>
        </p:nvSpPr>
        <p:spPr>
          <a:xfrm>
            <a:off x="594360" y="5303520"/>
            <a:ext cx="146304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START</a:t>
            </a:r>
            <a:endParaRPr lang="en-US" sz="1200" dirty="0"/>
          </a:p>
        </p:txBody>
      </p:sp>
      <p:sp>
        <p:nvSpPr>
          <p:cNvPr id="63" name="Text 60"/>
          <p:cNvSpPr txBox="1"/>
          <p:nvPr/>
        </p:nvSpPr>
        <p:spPr>
          <a:xfrm>
            <a:off x="3438144" y="5303520"/>
            <a:ext cx="96012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GOAL</a:t>
            </a:r>
            <a:endParaRPr lang="en-US" sz="1200" dirty="0"/>
          </a:p>
        </p:txBody>
      </p:sp>
      <p:sp>
        <p:nvSpPr>
          <p:cNvPr id="64" name="Text 61"/>
          <p:cNvSpPr txBox="1"/>
          <p:nvPr/>
        </p:nvSpPr>
        <p:spPr>
          <a:xfrm>
            <a:off x="5074920" y="196596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65" name="Text 62"/>
          <p:cNvSpPr txBox="1"/>
          <p:nvPr/>
        </p:nvSpPr>
        <p:spPr>
          <a:xfrm>
            <a:off x="5715000" y="1952244"/>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evidence should it keep?</a:t>
            </a:r>
            <a:endParaRPr lang="en-US" sz="2500" dirty="0"/>
          </a:p>
        </p:txBody>
      </p:sp>
      <p:sp>
        <p:nvSpPr>
          <p:cNvPr id="66" name="Shape 63"/>
          <p:cNvSpPr/>
          <p:nvPr/>
        </p:nvSpPr>
        <p:spPr>
          <a:xfrm>
            <a:off x="5715000" y="2843784"/>
            <a:ext cx="5760720" cy="0"/>
          </a:xfrm>
          <a:prstGeom prst="line">
            <a:avLst/>
          </a:prstGeom>
          <a:noFill/>
          <a:ln w="8890">
            <a:solidFill>
              <a:srgbClr val="DDDBE5"/>
            </a:solidFill>
            <a:prstDash val="solid"/>
          </a:ln>
        </p:spPr>
      </p:sp>
      <p:sp>
        <p:nvSpPr>
          <p:cNvPr id="67" name="Text 64"/>
          <p:cNvSpPr txBox="1"/>
          <p:nvPr/>
        </p:nvSpPr>
        <p:spPr>
          <a:xfrm>
            <a:off x="5074920" y="299923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68" name="Text 65"/>
          <p:cNvSpPr txBox="1"/>
          <p:nvPr/>
        </p:nvSpPr>
        <p:spPr>
          <a:xfrm>
            <a:off x="5715000" y="2985516"/>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should change next time?</a:t>
            </a:r>
            <a:endParaRPr lang="en-US" sz="2500" dirty="0"/>
          </a:p>
        </p:txBody>
      </p:sp>
      <p:sp>
        <p:nvSpPr>
          <p:cNvPr id="69" name="Shape 66"/>
          <p:cNvSpPr/>
          <p:nvPr/>
        </p:nvSpPr>
        <p:spPr>
          <a:xfrm>
            <a:off x="5715000" y="3877056"/>
            <a:ext cx="5760720" cy="0"/>
          </a:xfrm>
          <a:prstGeom prst="line">
            <a:avLst/>
          </a:prstGeom>
          <a:noFill/>
          <a:ln w="8890">
            <a:solidFill>
              <a:srgbClr val="DDDBE5"/>
            </a:solidFill>
            <a:prstDash val="solid"/>
          </a:ln>
        </p:spPr>
      </p:sp>
      <p:sp>
        <p:nvSpPr>
          <p:cNvPr id="70" name="Text 67"/>
          <p:cNvSpPr txBox="1"/>
          <p:nvPr/>
        </p:nvSpPr>
        <p:spPr>
          <a:xfrm>
            <a:off x="5074920" y="4032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71" name="Text 68"/>
          <p:cNvSpPr txBox="1"/>
          <p:nvPr/>
        </p:nvSpPr>
        <p:spPr>
          <a:xfrm>
            <a:off x="5715000" y="4018788"/>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would count as a successful action?</a:t>
            </a:r>
            <a:endParaRPr lang="en-US" sz="2500" dirty="0"/>
          </a:p>
        </p:txBody>
      </p:sp>
      <p:sp>
        <p:nvSpPr>
          <p:cNvPr id="72" name="Text 6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Record the outcome → use experience → choose a different future action.</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PAIRS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behaviour, not the gadget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15</a:t>
            </a:r>
            <a:endParaRPr lang="en-US" sz="1100" dirty="0"/>
          </a:p>
        </p:txBody>
      </p:sp>
      <p:pic>
        <p:nvPicPr>
          <p:cNvPr id="8" name="Image 0" descr="Modern British LED Traffic Light.jpg">    </p:cNvPr>
          <p:cNvPicPr>
            <a:picLocks noChangeAspect="1"/>
          </p:cNvPicPr>
          <p:nvPr/>
        </p:nvPicPr>
        <p:blipFill>
          <a:blip r:embed="rId1"/>
          <a:stretch>
            <a:fillRect/>
          </a:stretch>
        </p:blipFill>
        <p:spPr>
          <a:xfrm>
            <a:off x="931545" y="1783080"/>
            <a:ext cx="2160270" cy="2880360"/>
          </a:xfrm>
          <a:prstGeom prst="rect">
            <a:avLst/>
          </a:prstGeom>
        </p:spPr>
      </p:pic>
      <p:sp>
        <p:nvSpPr>
          <p:cNvPr id="9" name="Text 5"/>
          <p:cNvSpPr txBox="1"/>
          <p:nvPr/>
        </p:nvSpPr>
        <p:spPr>
          <a:xfrm>
            <a:off x="931545" y="4727448"/>
            <a:ext cx="216027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Unisouth · CC BY 3.0</a:t>
            </a:r>
            <a:endParaRPr lang="en-US" sz="900" dirty="0"/>
          </a:p>
        </p:txBody>
      </p:sp>
      <p:pic>
        <p:nvPicPr>
          <p:cNvPr id="11" name="Image 1" descr="NOAA weather station at Wake Island harbor.jpg">    </p:cNvPr>
          <p:cNvPicPr>
            <a:picLocks noChangeAspect="1"/>
          </p:cNvPicPr>
          <p:nvPr/>
        </p:nvPicPr>
        <p:blipFill>
          <a:blip r:embed="rId2"/>
          <a:stretch>
            <a:fillRect/>
          </a:stretch>
        </p:blipFill>
        <p:spPr>
          <a:xfrm>
            <a:off x="4053078" y="1783080"/>
            <a:ext cx="2592324" cy="2880360"/>
          </a:xfrm>
          <a:prstGeom prst="rect">
            <a:avLst/>
          </a:prstGeom>
        </p:spPr>
      </p:pic>
      <p:sp>
        <p:nvSpPr>
          <p:cNvPr id="12" name="Text 6"/>
          <p:cNvSpPr txBox="1"/>
          <p:nvPr/>
        </p:nvSpPr>
        <p:spPr>
          <a:xfrm>
            <a:off x="4053078" y="4727448"/>
            <a:ext cx="2592324"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NOAA / US government · Public domain</a:t>
            </a:r>
            <a:endParaRPr lang="en-US" sz="900" dirty="0"/>
          </a:p>
        </p:txBody>
      </p:sp>
      <p:sp>
        <p:nvSpPr>
          <p:cNvPr id="14" name="Text 7"/>
          <p:cNvSpPr txBox="1"/>
          <p:nvPr/>
        </p:nvSpPr>
        <p:spPr>
          <a:xfrm>
            <a:off x="594360" y="5029200"/>
            <a:ext cx="2834640" cy="777240"/>
          </a:xfrm>
          <a:prstGeom prst="rect">
            <a:avLst/>
          </a:prstGeom>
          <a:noFill/>
          <a:ln/>
        </p:spPr>
        <p:txBody>
          <a:bodyPr wrap="square" lIns="0" tIns="0" rIns="0" bIns="0" rtlCol="0" anchor="t"/>
          <a:lstStyle/>
          <a:p>
            <a:pPr algn="ctr" indent="0" marL="0">
              <a:buNone/>
            </a:pPr>
            <a:r>
              <a:rPr lang="en-US" sz="1900" b="1" dirty="0">
                <a:solidFill>
                  <a:srgbClr val="252341"/>
                </a:solidFill>
                <a:latin typeface="Quicksand" pitchFamily="34" charset="0"/>
                <a:ea typeface="Quicksand" pitchFamily="34" charset="-122"/>
                <a:cs typeface="Quicksand" pitchFamily="34" charset="-120"/>
              </a:rPr>
              <a:t>A  Repeats a fixed</a:t>
            </a:r>
            <a:endParaRPr lang="en-US" sz="1900" dirty="0"/>
          </a:p>
          <a:p>
            <a:pPr algn="ctr" indent="0" marL="0">
              <a:buNone/>
            </a:pPr>
            <a:r>
              <a:rPr lang="en-US" sz="1900" b="1" dirty="0">
                <a:solidFill>
                  <a:srgbClr val="252341"/>
                </a:solidFill>
                <a:latin typeface="Quicksand" pitchFamily="34" charset="0"/>
                <a:ea typeface="Quicksand" pitchFamily="34" charset="-122"/>
                <a:cs typeface="Quicksand" pitchFamily="34" charset="-120"/>
              </a:rPr>
              <a:t>red–amber–green cycle.</a:t>
            </a:r>
            <a:endParaRPr lang="en-US" sz="1900" dirty="0"/>
          </a:p>
        </p:txBody>
      </p:sp>
      <p:sp>
        <p:nvSpPr>
          <p:cNvPr id="15" name="Text 8"/>
          <p:cNvSpPr txBox="1"/>
          <p:nvPr/>
        </p:nvSpPr>
        <p:spPr>
          <a:xfrm>
            <a:off x="3931920" y="5029200"/>
            <a:ext cx="2834640" cy="777240"/>
          </a:xfrm>
          <a:prstGeom prst="rect">
            <a:avLst/>
          </a:prstGeom>
          <a:noFill/>
          <a:ln/>
        </p:spPr>
        <p:txBody>
          <a:bodyPr wrap="square" lIns="0" tIns="0" rIns="0" bIns="0" rtlCol="0" anchor="t"/>
          <a:lstStyle/>
          <a:p>
            <a:pPr algn="ctr" indent="0" marL="0">
              <a:buNone/>
            </a:pPr>
            <a:r>
              <a:rPr lang="en-US" sz="1900" b="1" dirty="0">
                <a:solidFill>
                  <a:srgbClr val="252341"/>
                </a:solidFill>
                <a:latin typeface="Quicksand" pitchFamily="34" charset="0"/>
                <a:ea typeface="Quicksand" pitchFamily="34" charset="-122"/>
                <a:cs typeface="Quicksand" pitchFamily="34" charset="-120"/>
              </a:rPr>
              <a:t>B  Learns seasonal patterns</a:t>
            </a:r>
            <a:endParaRPr lang="en-US" sz="1900" dirty="0"/>
          </a:p>
          <a:p>
            <a:pPr algn="ctr" indent="0" marL="0">
              <a:buNone/>
            </a:pPr>
            <a:r>
              <a:rPr lang="en-US" sz="1900" b="1" dirty="0">
                <a:solidFill>
                  <a:srgbClr val="252341"/>
                </a:solidFill>
                <a:latin typeface="Quicksand" pitchFamily="34" charset="0"/>
                <a:ea typeface="Quicksand" pitchFamily="34" charset="-122"/>
                <a:cs typeface="Quicksand" pitchFamily="34" charset="-120"/>
              </a:rPr>
              <a:t>to predict tomorrow’s weather.</a:t>
            </a:r>
            <a:endParaRPr lang="en-US" sz="1900" dirty="0"/>
          </a:p>
        </p:txBody>
      </p:sp>
      <p:sp>
        <p:nvSpPr>
          <p:cNvPr id="16" name="Text 9"/>
          <p:cNvSpPr txBox="1"/>
          <p:nvPr/>
        </p:nvSpPr>
        <p:spPr>
          <a:xfrm>
            <a:off x="7543800" y="2103120"/>
            <a:ext cx="3749040" cy="173736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Automation?</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AI?</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Machine learning?</a:t>
            </a:r>
            <a:endParaRPr lang="en-US" sz="2900" dirty="0"/>
          </a:p>
        </p:txBody>
      </p:sp>
      <p:sp>
        <p:nvSpPr>
          <p:cNvPr id="17" name="Text 10"/>
          <p:cNvSpPr txBox="1"/>
          <p:nvPr/>
        </p:nvSpPr>
        <p:spPr>
          <a:xfrm>
            <a:off x="7543800" y="4114800"/>
            <a:ext cx="3749040" cy="109728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Explain what in the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description supports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your choice.</a:t>
            </a:r>
            <a:endParaRPr lang="en-US" sz="2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CONSOLIDATE · CONNECT THE IDEAS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Two approaches that can work together</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5486400"/>
                <a:gridCol w="5486400"/>
              </a:tblGrid>
              <a:tr h="758952">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Expert system</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Machine learning</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Expert facts and explicit IF–THEN rules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Patterns learned from examples / experience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Engine applies rules to reach advice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Uses learned patterns to predict or decide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operate with fixed expert knowledge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adapt data or processes through learning</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combined system can use BOTH approaches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system need not learn during every use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one difference, then give an example of how the approaches could be combined.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INDIVIDUAL</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Ready to explain a new situation?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facts, rules and applying rules in your own words.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Why can a fixed-rule expert system work without learning?</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A recycling camera misclassifies waste. What experience could help it improve?</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Discuss the mechanism first. If it is unclear, return to the worked examples.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EXAM PRACTICE · TRANSITION</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Now turn understanding into an answer</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18</a:t>
            </a:r>
            <a:endParaRPr lang="en-US" sz="1100" dirty="0"/>
          </a:p>
        </p:txBody>
      </p:sp>
      <p:sp>
        <p:nvSpPr>
          <p:cNvPr id="8" name="Text 5"/>
          <p:cNvSpPr txBox="1"/>
          <p:nvPr/>
        </p:nvSpPr>
        <p:spPr>
          <a:xfrm>
            <a:off x="731520" y="1920240"/>
            <a:ext cx="10698480" cy="201168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Understand the system.</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Read what is being asked.</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Explain the relevant mechanism.</a:t>
            </a:r>
            <a:endParaRPr lang="en-US" sz="3500" dirty="0"/>
          </a:p>
        </p:txBody>
      </p:sp>
      <p:sp>
        <p:nvSpPr>
          <p:cNvPr id="9" name="Text 6"/>
          <p:cNvSpPr txBox="1"/>
          <p:nvPr/>
        </p:nvSpPr>
        <p:spPr>
          <a:xfrm>
            <a:off x="731520" y="4663440"/>
            <a:ext cx="10698480" cy="777240"/>
          </a:xfrm>
          <a:prstGeom prst="rect">
            <a:avLst/>
          </a:prstGeom>
          <a:noFill/>
          <a:ln/>
        </p:spPr>
        <p:txBody>
          <a:bodyPr wrap="square" lIns="0" tIns="0" rIns="0" bIns="0" rtlCol="0" anchor="t"/>
          <a:lstStyle/>
          <a:p>
            <a:pPr indent="0" marL="0">
              <a:buNone/>
            </a:pPr>
            <a:r>
              <a:rPr lang="en-US" sz="2300" dirty="0">
                <a:solidFill>
                  <a:srgbClr val="DCD9E9"/>
                </a:solidFill>
                <a:latin typeface="Quicksand" pitchFamily="34" charset="0"/>
                <a:ea typeface="Quicksand" pitchFamily="34" charset="-122"/>
                <a:cs typeface="Quicksand" pitchFamily="34" charset="-120"/>
              </a:rPr>
              <a:t>Tasks 2–5: selected practice today.</a:t>
            </a:r>
            <a:endParaRPr lang="en-US" sz="2300" dirty="0"/>
          </a:p>
          <a:p>
            <a:pPr indent="0" marL="0">
              <a:buNone/>
            </a:pPr>
            <a:r>
              <a:rPr lang="en-US" sz="2300" dirty="0">
                <a:solidFill>
                  <a:srgbClr val="DCD9E9"/>
                </a:solidFill>
                <a:latin typeface="Quicksand" pitchFamily="34" charset="0"/>
                <a:ea typeface="Quicksand" pitchFamily="34" charset="-122"/>
                <a:cs typeface="Quicksand" pitchFamily="34" charset="-120"/>
              </a:rPr>
              <a:t>Task 6 and remaining questions: follow-up.</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2</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 what has already been given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19</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Q6(a)</a:t>
            </a:r>
            <a:endParaRPr lang="en-US" sz="900" dirty="0"/>
          </a:p>
        </p:txBody>
      </p:sp>
      <p:sp>
        <p:nvSpPr>
          <p:cNvPr id="9" name="Shape 6"/>
          <p:cNvSpPr/>
          <p:nvPr/>
        </p:nvSpPr>
        <p:spPr>
          <a:xfrm>
            <a:off x="731520" y="1828800"/>
            <a:ext cx="10698480" cy="777240"/>
          </a:xfrm>
          <a:prstGeom prst="rect">
            <a:avLst/>
          </a:prstGeom>
          <a:solidFill>
            <a:srgbClr val="FFF0AD"/>
          </a:solidFill>
          <a:ln w="12700">
            <a:solidFill>
              <a:srgbClr val="FFF0AD"/>
            </a:solidFill>
            <a:prstDash val="solid"/>
          </a:ln>
        </p:spPr>
      </p:sp>
      <p:sp>
        <p:nvSpPr>
          <p:cNvPr id="10" name="Text 7"/>
          <p:cNvSpPr txBox="1"/>
          <p:nvPr/>
        </p:nvSpPr>
        <p:spPr>
          <a:xfrm>
            <a:off x="914400" y="2039112"/>
            <a:ext cx="10332720" cy="411480"/>
          </a:xfrm>
          <a:prstGeom prst="rect">
            <a:avLst/>
          </a:prstGeom>
          <a:noFill/>
          <a:ln/>
        </p:spPr>
        <p:txBody>
          <a:bodyPr wrap="square" lIns="0" tIns="0" rIns="0" bIns="0" rtlCol="0" anchor="t"/>
          <a:lstStyle/>
          <a:p>
            <a:pPr indent="0" marL="0">
              <a:buNone/>
            </a:pPr>
            <a:r>
              <a:rPr lang="en-US" sz="2300" b="1" dirty="0">
                <a:solidFill>
                  <a:srgbClr val="252341"/>
                </a:solidFill>
                <a:latin typeface="Quicksand" pitchFamily="34" charset="0"/>
                <a:ea typeface="Quicksand" pitchFamily="34" charset="-122"/>
                <a:cs typeface="Quicksand" pitchFamily="34" charset="-120"/>
              </a:rPr>
              <a:t>Given feature: learning. Supply three OTHER characteristics.</a:t>
            </a:r>
            <a:endParaRPr lang="en-US" sz="2300" dirty="0"/>
          </a:p>
        </p:txBody>
      </p:sp>
      <p:sp>
        <p:nvSpPr>
          <p:cNvPr id="11" name="Text 8"/>
          <p:cNvSpPr txBox="1"/>
          <p:nvPr/>
        </p:nvSpPr>
        <p:spPr>
          <a:xfrm>
            <a:off x="731520" y="2971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9"/>
          <p:cNvSpPr txBox="1"/>
          <p:nvPr/>
        </p:nvSpPr>
        <p:spPr>
          <a:xfrm>
            <a:off x="1371600" y="2958084"/>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Read the supplied feature.</a:t>
            </a:r>
            <a:endParaRPr lang="en-US" sz="2300" dirty="0"/>
          </a:p>
        </p:txBody>
      </p:sp>
      <p:sp>
        <p:nvSpPr>
          <p:cNvPr id="13" name="Shape 10"/>
          <p:cNvSpPr/>
          <p:nvPr/>
        </p:nvSpPr>
        <p:spPr>
          <a:xfrm>
            <a:off x="1371600" y="3538728"/>
            <a:ext cx="10012680" cy="0"/>
          </a:xfrm>
          <a:prstGeom prst="line">
            <a:avLst/>
          </a:prstGeom>
          <a:noFill/>
          <a:ln w="8890">
            <a:solidFill>
              <a:srgbClr val="DDDBE5"/>
            </a:solidFill>
            <a:prstDash val="solid"/>
          </a:ln>
        </p:spPr>
      </p:sp>
      <p:sp>
        <p:nvSpPr>
          <p:cNvPr id="14" name="Text 11"/>
          <p:cNvSpPr txBox="1"/>
          <p:nvPr/>
        </p:nvSpPr>
        <p:spPr>
          <a:xfrm>
            <a:off x="731520" y="369417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2"/>
          <p:cNvSpPr txBox="1"/>
          <p:nvPr/>
        </p:nvSpPr>
        <p:spPr>
          <a:xfrm>
            <a:off x="1371600" y="3680460"/>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Choose different features you understand.</a:t>
            </a:r>
            <a:endParaRPr lang="en-US" sz="2300" dirty="0"/>
          </a:p>
        </p:txBody>
      </p:sp>
      <p:sp>
        <p:nvSpPr>
          <p:cNvPr id="16" name="Shape 13"/>
          <p:cNvSpPr/>
          <p:nvPr/>
        </p:nvSpPr>
        <p:spPr>
          <a:xfrm>
            <a:off x="1371600" y="4261104"/>
            <a:ext cx="10012680" cy="0"/>
          </a:xfrm>
          <a:prstGeom prst="line">
            <a:avLst/>
          </a:prstGeom>
          <a:noFill/>
          <a:ln w="8890">
            <a:solidFill>
              <a:srgbClr val="DDDBE5"/>
            </a:solidFill>
            <a:prstDash val="solid"/>
          </a:ln>
        </p:spPr>
      </p:sp>
      <p:sp>
        <p:nvSpPr>
          <p:cNvPr id="17" name="Text 14"/>
          <p:cNvSpPr txBox="1"/>
          <p:nvPr/>
        </p:nvSpPr>
        <p:spPr>
          <a:xfrm>
            <a:off x="731520" y="441655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5"/>
          <p:cNvSpPr txBox="1"/>
          <p:nvPr/>
        </p:nvSpPr>
        <p:spPr>
          <a:xfrm>
            <a:off x="1371600" y="4402836"/>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State each clearly without repeating the same idea.</a:t>
            </a:r>
            <a:endParaRPr lang="en-US" sz="2300" dirty="0"/>
          </a:p>
        </p:txBody>
      </p:sp>
      <p:sp>
        <p:nvSpPr>
          <p:cNvPr id="19" name="Text 16"/>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Task 2 before the definition model on the next slide.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definition with three distinct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Computers simulate intelligent behaviour.</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use data and rules for that data.</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can learn from experience.</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simulation phrase is one idea. “Computer” and “intelligent” are not two separate marks.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Name the component; explain its job</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 · 0478/13 May/June 2023 Q7(b)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2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inference engine in an expert system.</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2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rule base in an expert system.</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Connect the mechanism to its result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Applies stored rules to facts in the knowledge base.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Produces a diagnosis / decision from that evidence.</a:t>
            </a:r>
            <a:endParaRPr lang="en-US" sz="22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what the engine does, then the decision it produces.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Whole process or deciding the diagnosis?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2024 Q10(b) · 0478/12 May/June 2025 Q5(a)</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5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car with faulty brakes arrives at a garage. Explain how its expert system operates to help diagnose the fault.</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3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doctor has already entered symptoms through an interface. A diagnosis will be output. Describe how the expert system DECIDES that diagnosis.</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processing in between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2025 Q5(a)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 inference engine is used to decide the diagnosis.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chooses follow-up questions from earlier answers.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matches symptoms to expert facts and applies rules.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Input and output are already given. Spend the answer on how the diagnosis is decided.</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Describe what machine learning can do</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The garage’s expert system also has machine-learning capabilities. Describe what these capabilities mean.</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Four distinct learning capabilities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26</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 form of artificial intelligence.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be trained using examples / experience.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automatically adapt its own processes.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change its own data.</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These are distinct capabilities; explain each clearly rather than repeating learning.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Apply learning to a particular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27</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 · 0478/12 Feb/Mar 2023 Q6(d)(ii)</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3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robot vacuum cleaner can use machine learning.</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4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robot must navigate puzzles containing paths, obstacles and dead ends. Explain how its program can use AI.</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specific explanation of improvement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28</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obstacle-location data while cleaning.</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the data to adapt its route-planning process.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Avoid known obstacles on later cleaning runs.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Name the relevant data and the changed future behaviour.</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6</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Try the same ideas in unfamiliar contexts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29</a:t>
            </a:r>
            <a:endParaRPr lang="en-US" sz="1100" dirty="0"/>
          </a:p>
        </p:txBody>
      </p:sp>
      <p:pic>
        <p:nvPicPr>
          <p:cNvPr id="8" name="Image 0" descr="Cumulus clouds in fair weather.jpeg">    </p:cNvPr>
          <p:cNvPicPr>
            <a:picLocks noChangeAspect="1"/>
          </p:cNvPicPr>
          <p:nvPr/>
        </p:nvPicPr>
        <p:blipFill>
          <a:blip r:embed="rId1"/>
          <a:srcRect l="0" r="0" t="0" b="19380"/>
          <a:stretch/>
        </p:blipFill>
        <p:spPr>
          <a:xfrm>
            <a:off x="594360" y="1783080"/>
            <a:ext cx="3931920" cy="2377440"/>
          </a:xfrm>
          <a:prstGeom prst="rect">
            <a:avLst/>
          </a:prstGeom>
        </p:spPr>
      </p:pic>
      <p:sp>
        <p:nvSpPr>
          <p:cNvPr id="9" name="Text 5"/>
          <p:cNvSpPr txBox="1"/>
          <p:nvPr/>
        </p:nvSpPr>
        <p:spPr>
          <a:xfrm>
            <a:off x="59436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Michael Jastremski · CC BY-SA 2.0</a:t>
            </a:r>
            <a:endParaRPr lang="en-US" sz="900" dirty="0"/>
          </a:p>
        </p:txBody>
      </p:sp>
      <p:pic>
        <p:nvPicPr>
          <p:cNvPr id="11" name="Image 1" descr="Google Home sitting on table.jpg">    </p:cNvPr>
          <p:cNvPicPr>
            <a:picLocks noChangeAspect="1"/>
          </p:cNvPicPr>
          <p:nvPr/>
        </p:nvPicPr>
        <p:blipFill>
          <a:blip r:embed="rId2"/>
          <a:stretch>
            <a:fillRect/>
          </a:stretch>
        </p:blipFill>
        <p:spPr>
          <a:xfrm>
            <a:off x="5109972" y="1783080"/>
            <a:ext cx="1941576" cy="2377440"/>
          </a:xfrm>
          <a:prstGeom prst="rect">
            <a:avLst/>
          </a:prstGeom>
        </p:spPr>
      </p:pic>
      <p:sp>
        <p:nvSpPr>
          <p:cNvPr id="12" name="Text 6"/>
          <p:cNvSpPr txBox="1"/>
          <p:nvPr/>
        </p:nvSpPr>
        <p:spPr>
          <a:xfrm>
            <a:off x="5109972" y="4224528"/>
            <a:ext cx="1941576"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NDB Photos · CC BY-SA 2.0</a:t>
            </a:r>
            <a:endParaRPr lang="en-US" sz="900" dirty="0"/>
          </a:p>
        </p:txBody>
      </p:sp>
      <p:pic>
        <p:nvPicPr>
          <p:cNvPr id="14" name="Image 2" descr="Gaming Section 1 - Retrosystems 2010.jpg">    </p:cNvPr>
          <p:cNvPicPr>
            <a:picLocks noChangeAspect="1"/>
          </p:cNvPicPr>
          <p:nvPr/>
        </p:nvPicPr>
        <p:blipFill>
          <a:blip r:embed="rId3"/>
          <a:srcRect l="0" r="0" t="0" b="8961"/>
          <a:stretch/>
        </p:blipFill>
        <p:spPr>
          <a:xfrm>
            <a:off x="7635240" y="1783080"/>
            <a:ext cx="3931920" cy="2377440"/>
          </a:xfrm>
          <a:prstGeom prst="rect">
            <a:avLst/>
          </a:prstGeom>
        </p:spPr>
      </p:pic>
      <p:sp>
        <p:nvSpPr>
          <p:cNvPr id="15" name="Text 7"/>
          <p:cNvSpPr txBox="1"/>
          <p:nvPr/>
        </p:nvSpPr>
        <p:spPr>
          <a:xfrm>
            <a:off x="763524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Soupmeister · CC BY-SA 2.0</a:t>
            </a:r>
            <a:endParaRPr lang="en-US" sz="900" dirty="0"/>
          </a:p>
        </p:txBody>
      </p:sp>
      <p:sp>
        <p:nvSpPr>
          <p:cNvPr id="17" name="Text 8"/>
          <p:cNvSpPr txBox="1"/>
          <p:nvPr/>
        </p:nvSpPr>
        <p:spPr>
          <a:xfrm>
            <a:off x="594360" y="4599432"/>
            <a:ext cx="393192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Weather prediction</a:t>
            </a:r>
            <a:endParaRPr lang="en-US" sz="2200" dirty="0"/>
          </a:p>
        </p:txBody>
      </p:sp>
      <p:sp>
        <p:nvSpPr>
          <p:cNvPr id="18" name="Text 9"/>
          <p:cNvSpPr txBox="1"/>
          <p:nvPr/>
        </p:nvSpPr>
        <p:spPr>
          <a:xfrm>
            <a:off x="4800600" y="4599432"/>
            <a:ext cx="2560320" cy="640080"/>
          </a:xfrm>
          <a:prstGeom prst="rect">
            <a:avLst/>
          </a:prstGeom>
          <a:noFill/>
          <a:ln/>
        </p:spPr>
        <p:txBody>
          <a:bodyPr wrap="square" lIns="0" tIns="0" rIns="0" bIns="0" rtlCol="0" anchor="t"/>
          <a:lstStyle/>
          <a:p>
            <a:pPr algn="ctr" indent="0" marL="0">
              <a:buNone/>
            </a:pPr>
            <a:r>
              <a:rPr lang="en-US" sz="2000" b="1" dirty="0">
                <a:solidFill>
                  <a:srgbClr val="252341"/>
                </a:solidFill>
                <a:latin typeface="Quicksand" pitchFamily="34" charset="0"/>
                <a:ea typeface="Quicksand" pitchFamily="34" charset="-122"/>
                <a:cs typeface="Quicksand" pitchFamily="34" charset="-120"/>
              </a:rPr>
              <a:t>Voice recognition</a:t>
            </a:r>
            <a:endParaRPr lang="en-US" sz="2000" dirty="0"/>
          </a:p>
        </p:txBody>
      </p:sp>
      <p:sp>
        <p:nvSpPr>
          <p:cNvPr id="19" name="Text 10"/>
          <p:cNvSpPr txBox="1"/>
          <p:nvPr/>
        </p:nvSpPr>
        <p:spPr>
          <a:xfrm>
            <a:off x="7635240" y="4599432"/>
            <a:ext cx="393192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Game behaviour</a:t>
            </a:r>
            <a:endParaRPr lang="en-US" sz="2200" dirty="0"/>
          </a:p>
        </p:txBody>
      </p:sp>
      <p:sp>
        <p:nvSpPr>
          <p:cNvPr id="20"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the scenario: data → patterns or feedback → changed prediction or action.</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an improvement in voice input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smart speaker can use machine learning to improve voice-command input.</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Search: feedback changes later results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that a result was unsuitable / unhelpful.</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change data or ranking rules.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Return more relevant results in a later search.</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Keyword matching alone does not explain machine learning.</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Weather: use the patterns to predict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May/June 2025 Q6(f)(ii)</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Analyse historical weather data for patterns.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those patterns to predict future weather.</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revise later predictions.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Collecting readings is only the starting point; explain their use.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Voice: explain four useful learning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Gather samples of the user’s voice.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Identify pronunciation / accent patterns.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successful and failed commands.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processes to recognise later commands.</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Accents, alternative phrasing and background noise can also be learned from.</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Games: respond to what the player does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data about the player’s actions.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patterns and predict the next movement.</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the character’s response using that prediction.</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Graphics quality is separate from intelligent behaviour.</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Three ways means three different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0478/11 Oct/Nov 2025 Q5(e)</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a route to a customer’s house.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where obstacles occur on that route.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Reason which areas are paths rather than roads.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Repeating “learn the route” does not supply three different ways.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REVIEW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Make the explanation precise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36</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4114800"/>
                <a:gridCol w="6858000"/>
              </a:tblGrid>
              <a:tr h="603504">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Weak answer</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What to add</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“AI is smart.”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 recognised feature with a clear meaning.</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database diagnoses it.”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Engine + applying rules to expert facts.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robot uses sensors.”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Recorded experience + changed future actions.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“It learns and gets better.”</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Relevant data + patterns/feedback + improvement.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“Every expert system must learn.”</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Fixed rules can work; learning can be added.</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Underline distinct ideas. Circle the details that belong to this particular scenario.</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PLENARY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Finish with an explanation of your own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one difference between facts and rules.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does an inference engine do with them?</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how a recycling camera could improve later classifications.</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a relevant mechanism, rather than the phrase “it is intelligent”.</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38</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DELIVERY · Q0ywo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https://commons.wikimedia.org/wiki/File:Alepa_delivery_robot.jpg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FACTORY · Mixabest · CC BY-SA 3.0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https://commons.wikimedia.org/wiki/File:KUKA_Industrial_Robots_IR.jpg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WASHING · zzpza · CC BY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https://commons.wikimedia.org/wiki/File:Washing_Machine_Beko.jpg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CAR · Grendelkhan · CC BY-SA 4.0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https://commons.wikimedia.org/wiki/File:Waymo_self-driving_car_front_view.gk.jpg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CHESS · Jorge Royan · CC BY-SA 3.0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https://commons.wikimedia.org/wiki/File:Paris_-_Playing_chess_at_the_Jardins_du_Luxembourg_-_2955.jpg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GARAGE · ANT Berezhnyi · CC BY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https://commons.wikimedia.org/wiki/File:Chery_A1_-_service_shop_in_Ukraine_%287%29.jpg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39</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PRINTER · Kskhh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https://commons.wikimedia.org/wiki/File:HP_DeskJet_2630_All-in-One_Printer.jpg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DOCTOR · University of Michigan Medical School Information Services · CC BY 2.0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https://commons.wikimedia.org/wiki/File:Standardized-Patient-Program-examining-t_he-abdomen.jpg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CAT · Alvesgaspar · CC BY-SA 3.0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https://commons.wikimedia.org/wiki/File:Cat_August_2010-4.jpg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DOG · Losch · CC BY-SA 3.0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https://commons.wikimedia.org/wiki/File:Black_Labrador_Retriever_-_Male_IMG_3323_%28cropped%29.jpg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ASSISTANT · Maurizio Pesce from Milan, Italia · CC BY-SA 4.0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https://commons.wikimedia.org/wiki/File:Android_Assistant_on_the_Google_Pixel_XL_smartphone_%2829526761674%29.jpg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VACUUM · Autopilot · CC BY-SA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https://commons.wikimedia.org/wiki/File:Neato_XV-11.jpg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40</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TRAFFIC · Unisouth · CC BY 3.0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https://commons.wikimedia.org/wiki/File:Modern_British_LED_Traffic_Light.jpg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WEATHER · NOAA / US government (photographer uncredited) · Public domain</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https://commons.wikimedia.org/wiki/File:NOAA_weather_station_at_Wake_Island_harbor.jpg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https://commons.wikimedia.org/wiki/Commons:Copyright_rules_by_territory/United_States#Federal_works</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CLOUDS · Michael Jastremski · CC BY-SA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https://commons.wikimedia.org/wiki/File:Cumulus_clouds_in_fair_weather.jpeg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SPEAKER · NDB Photos · CC BY-SA 2.0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https://commons.wikimedia.org/wiki/File:Google_Home_sitting_on_table.jpg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GAMES · Soupmeister · CC BY-SA 2.0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https://commons.wikimedia.org/wiki/File:Gaming_Section_1_-_Retrosystems_2010.jpg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Teaching sources and exam coverage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41</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3931920"/>
                <a:gridCol w="7040880"/>
              </a:tblGrid>
              <a:tr h="777240">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Source</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Role in this lesson</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Teacher-supplied Hodder extract</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Core AI, expert-system and machine-learning concepts.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2023–2025: all 21 Paper 1 papers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Coverage audit: 29 AI parts, with 20 adapted for practice.</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Cambridge published mark schemes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Verified allocations, alternatives and mark ceilings.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Delivery</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 concepts first; selected practice; follow-up bank.</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Complete question-by-question sources: AI_Exam_Coverage.md.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 understand, apply, answer</dc:title>
  <dc:subject>PptxGenJS Presentation</dc:subject>
  <dc:creator>PptxGenJS</dc:creator>
  <cp:lastModifiedBy>PptxGenJS</cp:lastModifiedBy>
  <cp:revision>1</cp:revision>
  <dcterms:created xsi:type="dcterms:W3CDTF">2026-10-12T03:56:52Z</dcterms:created>
  <dcterms:modified xsi:type="dcterms:W3CDTF">2026-10-12T03:56:52Z</dcterms:modified>
</cp:coreProperties>
</file>