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60-minute theory lesson after Robotics (6.2). Suggested timings: recall 6 min; AI 7 min; expert systems 18 min; ML 16 min; compare/exit 8 min; discussion buffer 5 min. Task 6 may be homework. Pause slides before practice; do not reveal answers from notes.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Task 1 closed book before teaching AI. Use the separate key to review. If fewer than 2/3 on robot characteristics or 2/4 on the safety chain, recap those ideas. Total 15 suggested marks.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5 outcomes and how the tasks fit them.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simulation of intelligent human behaviour by a computer. Core characteristics: rules and data; ability to reason, learn and adapt to external stimuli. Not every AI system learns during use. Do not teach the textbook claim that every cognitive function can be replicated as established fact.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three examples. A fixed repeating robot program is automated but need not learn or adapt. Expert systems are AI even when their rules do not change. ML is one way to implement AI. Ask students to explain the basis of the decision rather than just say “smart”.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containment diagram: expert systems and machine learning are approaches within AI, not synonyms for all AI. They can be combined; do not claim mutually exclusive technologies. Not all robots use AI, and AI can be software without a physical robot.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expert system mimics the knowledge and decision-making of a human expert in a particular domain. It has a restricted domain and is only as good as its knowledge, rules and input. Examples: equipment fault diagnosis, mineral prospecting, financial advice.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core components: user interface, knowledge base, rules base, inference engine. Explanation facility is useful supporting enrichment, not required as a fifth core item in Task 3(a). Diagram arrows show information flows, not a mandatory execution order.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demonstration uses a printer, separate from worksheet laptop cases. Facts: no paper, power light on. Rules: IF power off THEN check supply; IF power on AND no paper THEN load paper. No match should not be treated as proof of “no fault”.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rules: R1 power light off → check power cable; R2 power light on AND paper empty → load paper; R3 power light on AND paper present AND jam → clear jam. Given light on, paper empty, jam no: R2 matches. Do not substitute worksheet inputs.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the worked trace. R2 matches because the light is on and tray empty. Explanation facility exposes those reasons. This does not guarantee correctness. Inputs might be wrong or rules missing. Pause for Task 3; then Task 4(a).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 expertise from humans/written sources; create facts in knowledge base and inference rules in rules base; develop engine and UI; test known cases and compare with expected conclusions. Test unmatched/conflicting rules too.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each benefit with its limitation. Decision support not replacement of all expert responsibility. Expert systems usually do not learn by themselves. Do Task 4(b).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is a subset of AI. Algorithms are trained using examples to learn patterns and make predictions/decisions on new data, rather than explicitly programming every new case. Training does not imply continuous learning during every prediction. Labelled examples are one method (this lesson uses supervised learning), not a requirement of all ML.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held-out test examples separate from training. Using the same examples can hide memorisation and overstate performance. Example training emails are made up. Worksheet uses image classification rather than exact email data.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spam label is a prediction, not certainty. False positives: real email moved to spam. False negatives: spam reaches inbox. No statistical vocabulary required; focus impact and improvement.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about unrepresentative examples, incorrect labels and unfamiliar input; do not promise that more data always fixes performance. Worksheet plant examples A/B/C test correct labels independently.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comparison of a conventional rule-based expert system with ML, not a claim that every expert system/ML implementation is identical. The approaches can be combined. Show after Tasks 3–5, not before classification practice.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marks are suggested, not verified official Cambridge allocations. Point + applied explanation. Example: available outside office hours → technicians can get advice on a night shift. Do not reveal Task 6 conclusions; model different printer scenario.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Task 6 independently before discussion. One scenario benefits from auditable fixed policy rules; the other requires learning visual patterns from many labelled images. Accept a justified hybrid. Do not require neural-network implementation.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corrections orally. Expected: not all robots AI; expert facts/rules need updates; prediction not proof; learning subset AI; more data only helps when suitable and correctly prepared. Notes hold answers, student booklet uses a question-only review slide.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KB expert facts; RB IF–THEN rules; inference engine applies rules to facts; ML model trained from examples to predict labels; wrong input/rules or unrepresentative data can cause error. Use as diagnostic, not claimed Cambridge mark scheme.
Source: teacher-supplied Hodder Cambridge IGCSE Computer Science extract, section 6.3, printed pp. 241–249. Original diagrams and activities. Questions and marking points are suggested, not verified official Cambridge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148840"/>
            <a:ext cx="6858000" cy="1645920"/>
          </a:xfrm>
          <a:prstGeom prst="rect">
            <a:avLst/>
          </a:prstGeom>
          <a:noFill/>
          <a:ln/>
        </p:spPr>
        <p:txBody>
          <a:bodyPr wrap="square" lIns="0" tIns="0" rIns="0" bIns="0" rtlCol="0" anchor="t"/>
          <a:lstStyle/>
          <a:p>
            <a:pPr indent="0" marL="0">
              <a:spcAft>
                <a:spcPts val="600"/>
              </a:spcAft>
              <a:buNone/>
            </a:pPr>
            <a:r>
              <a:rPr lang="en-US" sz="4600" b="1" dirty="0">
                <a:solidFill>
                  <a:srgbClr val="202124"/>
                </a:solidFill>
                <a:latin typeface="Quicksand" pitchFamily="34" charset="0"/>
                <a:ea typeface="Quicksand" pitchFamily="34" charset="-122"/>
                <a:cs typeface="Quicksand" pitchFamily="34" charset="-120"/>
              </a:rPr>
              <a:t>Artificial</a:t>
            </a:r>
            <a:endParaRPr lang="en-US" sz="4600" dirty="0"/>
          </a:p>
          <a:p>
            <a:pPr indent="0" marL="0">
              <a:spcAft>
                <a:spcPts val="600"/>
              </a:spcAft>
              <a:buNone/>
            </a:pPr>
            <a:r>
              <a:rPr lang="en-US" sz="4600" b="1" dirty="0">
                <a:solidFill>
                  <a:srgbClr val="202124"/>
                </a:solidFill>
                <a:latin typeface="Quicksand" pitchFamily="34" charset="0"/>
                <a:ea typeface="Quicksand" pitchFamily="34" charset="-122"/>
                <a:cs typeface="Quicksand" pitchFamily="34" charset="-120"/>
              </a:rPr>
              <a:t>intelligence</a:t>
            </a:r>
            <a:endParaRPr lang="en-US" sz="4600" dirty="0"/>
          </a:p>
        </p:txBody>
      </p:sp>
      <p:sp>
        <p:nvSpPr>
          <p:cNvPr id="4" name="Text 2"/>
          <p:cNvSpPr txBox="1"/>
          <p:nvPr/>
        </p:nvSpPr>
        <p:spPr>
          <a:xfrm>
            <a:off x="685800" y="4041648"/>
            <a:ext cx="6583680" cy="457200"/>
          </a:xfrm>
          <a:prstGeom prst="rect">
            <a:avLst/>
          </a:prstGeom>
          <a:noFill/>
          <a:ln/>
        </p:spPr>
        <p:txBody>
          <a:bodyPr wrap="square" lIns="0" tIns="0" rIns="0" bIns="0" rtlCol="0" anchor="t"/>
          <a:lstStyle/>
          <a:p>
            <a:pPr indent="0" marL="0">
              <a:spcAft>
                <a:spcPts val="600"/>
              </a:spcAft>
              <a:buNone/>
            </a:pPr>
            <a:r>
              <a:rPr lang="en-US" sz="2000" dirty="0">
                <a:solidFill>
                  <a:srgbClr val="666666"/>
                </a:solidFill>
                <a:latin typeface="Quicksand" pitchFamily="34" charset="0"/>
                <a:ea typeface="Quicksand" pitchFamily="34" charset="-122"/>
                <a:cs typeface="Quicksand" pitchFamily="34" charset="-120"/>
              </a:rPr>
              <a:t>IGCSE 0478 · Paper 1 · 6.3</a:t>
            </a:r>
            <a:endParaRPr lang="en-US" sz="2000" dirty="0"/>
          </a:p>
        </p:txBody>
      </p:sp>
      <p:sp>
        <p:nvSpPr>
          <p:cNvPr id="5" name="Text 3"/>
          <p:cNvSpPr txBox="1"/>
          <p:nvPr/>
        </p:nvSpPr>
        <p:spPr>
          <a:xfrm>
            <a:off x="685800" y="4663440"/>
            <a:ext cx="6583680" cy="457200"/>
          </a:xfrm>
          <a:prstGeom prst="rect">
            <a:avLst/>
          </a:prstGeom>
          <a:noFill/>
          <a:ln/>
        </p:spPr>
        <p:txBody>
          <a:bodyPr wrap="square" lIns="0" tIns="0" rIns="0" bIns="0" rtlCol="0" anchor="t"/>
          <a:lstStyle/>
          <a:p>
            <a:pPr indent="0" marL="0">
              <a:spcAft>
                <a:spcPts val="600"/>
              </a:spcAft>
              <a:buNone/>
            </a:pPr>
            <a:r>
              <a:rPr lang="en-US" sz="2000" dirty="0">
                <a:solidFill>
                  <a:srgbClr val="494985"/>
                </a:solidFill>
                <a:latin typeface="Quicksand" pitchFamily="34" charset="0"/>
                <a:ea typeface="Quicksand" pitchFamily="34" charset="-122"/>
                <a:cs typeface="Quicksand" pitchFamily="34" charset="-120"/>
              </a:rPr>
              <a:t>Rules. Reasoning. Learning.</a:t>
            </a:r>
            <a:endParaRPr lang="en-US" sz="2000" dirty="0"/>
          </a:p>
        </p:txBody>
      </p:sp>
      <p:sp>
        <p:nvSpPr>
          <p:cNvPr id="6" name="Text 4"/>
          <p:cNvSpPr txBox="1"/>
          <p:nvPr/>
        </p:nvSpPr>
        <p:spPr>
          <a:xfrm>
            <a:off x="8503920" y="2194560"/>
            <a:ext cx="2926080" cy="1097280"/>
          </a:xfrm>
          <a:prstGeom prst="rect">
            <a:avLst/>
          </a:prstGeom>
          <a:noFill/>
          <a:ln/>
        </p:spPr>
        <p:txBody>
          <a:bodyPr wrap="square" lIns="0" tIns="0" rIns="0" bIns="0" rtlCol="0" anchor="t"/>
          <a:lstStyle/>
          <a:p>
            <a:pPr algn="ctr" indent="0" marL="0">
              <a:spcAft>
                <a:spcPts val="600"/>
              </a:spcAft>
              <a:buNone/>
            </a:pPr>
            <a:r>
              <a:rPr lang="en-US" sz="8000" b="1" dirty="0">
                <a:solidFill>
                  <a:srgbClr val="494985"/>
                </a:solidFill>
                <a:latin typeface="Quicksand" pitchFamily="34" charset="0"/>
                <a:ea typeface="Quicksand" pitchFamily="34" charset="-122"/>
                <a:cs typeface="Quicksand" pitchFamily="34" charset="-120"/>
              </a:rPr>
              <a:t>AI</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robotics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 6 min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789920" cy="914400"/>
        </p:xfrm>
        <a:graphic>
          <a:graphicData uri="http://schemas.openxmlformats.org/drawingml/2006/table">
            <a:tbl>
              <a:tblPr/>
              <a:tblGrid>
                <a:gridCol w="9052560"/>
                <a:gridCol w="1737360"/>
              </a:tblGrid>
              <a:tr h="640080">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Recall focus</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Marks</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4008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Three characteristics of a robot</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3</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Sensor → microprocessor → actuator</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3</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A factory benefit and a drawback</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4</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Stopping safely + autonomous meaning</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5</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Closed book first. AI is the next step—not a requirement for every robot.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7" name="Shape 4"/>
          <p:cNvSpPr/>
          <p:nvPr/>
        </p:nvSpPr>
        <p:spPr>
          <a:xfrm>
            <a:off x="685800" y="1325880"/>
            <a:ext cx="10789920" cy="868680"/>
          </a:xfrm>
          <a:prstGeom prst="rect">
            <a:avLst/>
          </a:prstGeom>
          <a:solidFill>
            <a:srgbClr val="F6F5FC"/>
          </a:solidFill>
          <a:ln w="12700">
            <a:solidFill>
              <a:srgbClr val="F6F5FC"/>
            </a:solidFill>
            <a:prstDash val="solid"/>
          </a:ln>
        </p:spPr>
      </p:sp>
      <p:sp>
        <p:nvSpPr>
          <p:cNvPr id="8" name="Text 5"/>
          <p:cNvSpPr/>
          <p:nvPr/>
        </p:nvSpPr>
        <p:spPr>
          <a:xfrm>
            <a:off x="82296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344168" y="1435608"/>
            <a:ext cx="100126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Define AI</a:t>
            </a:r>
            <a:endParaRPr lang="en-US" sz="1700" dirty="0"/>
          </a:p>
        </p:txBody>
      </p:sp>
      <p:sp>
        <p:nvSpPr>
          <p:cNvPr id="10" name="Text 7"/>
          <p:cNvSpPr txBox="1"/>
          <p:nvPr/>
        </p:nvSpPr>
        <p:spPr>
          <a:xfrm>
            <a:off x="1344168" y="1828800"/>
            <a:ext cx="10012680" cy="3017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Rules/data, reasoning, learning and adapting</a:t>
            </a:r>
            <a:endParaRPr lang="en-US" sz="1400" dirty="0"/>
          </a:p>
        </p:txBody>
      </p:sp>
      <p:sp>
        <p:nvSpPr>
          <p:cNvPr id="11" name="Shape 8"/>
          <p:cNvSpPr/>
          <p:nvPr/>
        </p:nvSpPr>
        <p:spPr>
          <a:xfrm>
            <a:off x="685800" y="2240280"/>
            <a:ext cx="10789920" cy="868680"/>
          </a:xfrm>
          <a:prstGeom prst="rect">
            <a:avLst/>
          </a:prstGeom>
          <a:solidFill>
            <a:srgbClr val="F6F5FC"/>
          </a:solidFill>
          <a:ln w="12700">
            <a:solidFill>
              <a:srgbClr val="F6F5FC"/>
            </a:solidFill>
            <a:prstDash val="solid"/>
          </a:ln>
        </p:spPr>
      </p:sp>
      <p:sp>
        <p:nvSpPr>
          <p:cNvPr id="12" name="Text 9"/>
          <p:cNvSpPr/>
          <p:nvPr/>
        </p:nvSpPr>
        <p:spPr>
          <a:xfrm>
            <a:off x="822960" y="2377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344168" y="2350008"/>
            <a:ext cx="100126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Map an expert system</a:t>
            </a:r>
            <a:endParaRPr lang="en-US" sz="1700" dirty="0"/>
          </a:p>
        </p:txBody>
      </p:sp>
      <p:sp>
        <p:nvSpPr>
          <p:cNvPr id="14" name="Text 11"/>
          <p:cNvSpPr txBox="1"/>
          <p:nvPr/>
        </p:nvSpPr>
        <p:spPr>
          <a:xfrm>
            <a:off x="1344168" y="2743200"/>
            <a:ext cx="10012680" cy="3017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Explain four core components</a:t>
            </a:r>
            <a:endParaRPr lang="en-US" sz="1400" dirty="0"/>
          </a:p>
        </p:txBody>
      </p:sp>
      <p:sp>
        <p:nvSpPr>
          <p:cNvPr id="15" name="Shape 12"/>
          <p:cNvSpPr/>
          <p:nvPr/>
        </p:nvSpPr>
        <p:spPr>
          <a:xfrm>
            <a:off x="685800" y="3154680"/>
            <a:ext cx="10789920" cy="868680"/>
          </a:xfrm>
          <a:prstGeom prst="rect">
            <a:avLst/>
          </a:prstGeom>
          <a:solidFill>
            <a:srgbClr val="F6F5FC"/>
          </a:solidFill>
          <a:ln w="12700">
            <a:solidFill>
              <a:srgbClr val="F6F5FC"/>
            </a:solidFill>
            <a:prstDash val="solid"/>
          </a:ln>
        </p:spPr>
      </p:sp>
      <p:sp>
        <p:nvSpPr>
          <p:cNvPr id="16" name="Text 13"/>
          <p:cNvSpPr/>
          <p:nvPr/>
        </p:nvSpPr>
        <p:spPr>
          <a:xfrm>
            <a:off x="822960" y="3291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344168" y="3264408"/>
            <a:ext cx="100126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Apply IF–THEN rules</a:t>
            </a:r>
            <a:endParaRPr lang="en-US" sz="1700" dirty="0"/>
          </a:p>
        </p:txBody>
      </p:sp>
      <p:sp>
        <p:nvSpPr>
          <p:cNvPr id="18" name="Text 15"/>
          <p:cNvSpPr txBox="1"/>
          <p:nvPr/>
        </p:nvSpPr>
        <p:spPr>
          <a:xfrm>
            <a:off x="1344168" y="3657600"/>
            <a:ext cx="10012680" cy="3017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Trace how evidence leads to a conclusion</a:t>
            </a:r>
            <a:endParaRPr lang="en-US" sz="1400" dirty="0"/>
          </a:p>
        </p:txBody>
      </p:sp>
      <p:sp>
        <p:nvSpPr>
          <p:cNvPr id="19" name="Shape 16"/>
          <p:cNvSpPr/>
          <p:nvPr/>
        </p:nvSpPr>
        <p:spPr>
          <a:xfrm>
            <a:off x="685800" y="4069080"/>
            <a:ext cx="10789920" cy="868680"/>
          </a:xfrm>
          <a:prstGeom prst="rect">
            <a:avLst/>
          </a:prstGeom>
          <a:solidFill>
            <a:srgbClr val="F6F5FC"/>
          </a:solidFill>
          <a:ln w="12700">
            <a:solidFill>
              <a:srgbClr val="F6F5FC"/>
            </a:solidFill>
            <a:prstDash val="solid"/>
          </a:ln>
        </p:spPr>
      </p:sp>
      <p:sp>
        <p:nvSpPr>
          <p:cNvPr id="20" name="Text 17"/>
          <p:cNvSpPr/>
          <p:nvPr/>
        </p:nvSpPr>
        <p:spPr>
          <a:xfrm>
            <a:off x="822960"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1344168" y="4178808"/>
            <a:ext cx="100126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Explain machine learning</a:t>
            </a:r>
            <a:endParaRPr lang="en-US" sz="1700" dirty="0"/>
          </a:p>
        </p:txBody>
      </p:sp>
      <p:sp>
        <p:nvSpPr>
          <p:cNvPr id="22" name="Text 19"/>
          <p:cNvSpPr txBox="1"/>
          <p:nvPr/>
        </p:nvSpPr>
        <p:spPr>
          <a:xfrm>
            <a:off x="1344168" y="4572000"/>
            <a:ext cx="10012680" cy="3017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Training examples → patterns → predictions</a:t>
            </a:r>
            <a:endParaRPr lang="en-US" sz="1400" dirty="0"/>
          </a:p>
        </p:txBody>
      </p:sp>
      <p:sp>
        <p:nvSpPr>
          <p:cNvPr id="23" name="Shape 20"/>
          <p:cNvSpPr/>
          <p:nvPr/>
        </p:nvSpPr>
        <p:spPr>
          <a:xfrm>
            <a:off x="685800" y="4983480"/>
            <a:ext cx="10789920" cy="868680"/>
          </a:xfrm>
          <a:prstGeom prst="rect">
            <a:avLst/>
          </a:prstGeom>
          <a:solidFill>
            <a:srgbClr val="F6F5FC"/>
          </a:solidFill>
          <a:ln w="12700">
            <a:solidFill>
              <a:srgbClr val="F6F5FC"/>
            </a:solidFill>
            <a:prstDash val="solid"/>
          </a:ln>
        </p:spPr>
      </p:sp>
      <p:sp>
        <p:nvSpPr>
          <p:cNvPr id="24" name="Text 21"/>
          <p:cNvSpPr/>
          <p:nvPr/>
        </p:nvSpPr>
        <p:spPr>
          <a:xfrm>
            <a:off x="822960" y="5120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5" name="Text 22"/>
          <p:cNvSpPr txBox="1"/>
          <p:nvPr/>
        </p:nvSpPr>
        <p:spPr>
          <a:xfrm>
            <a:off x="1344168" y="5093208"/>
            <a:ext cx="100126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Evaluate an AI decision</a:t>
            </a:r>
            <a:endParaRPr lang="en-US" sz="1700" dirty="0"/>
          </a:p>
        </p:txBody>
      </p:sp>
      <p:sp>
        <p:nvSpPr>
          <p:cNvPr id="26" name="Text 23"/>
          <p:cNvSpPr txBox="1"/>
          <p:nvPr/>
        </p:nvSpPr>
        <p:spPr>
          <a:xfrm>
            <a:off x="1344168" y="5486400"/>
            <a:ext cx="10012680" cy="3017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Benefits, limitations and human checking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makes a system AI?</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Shape 4"/>
          <p:cNvSpPr/>
          <p:nvPr/>
        </p:nvSpPr>
        <p:spPr>
          <a:xfrm>
            <a:off x="685800" y="1508760"/>
            <a:ext cx="5166360" cy="1691640"/>
          </a:xfrm>
          <a:prstGeom prst="roundRect">
            <a:avLst>
              <a:gd name="adj" fmla="val 6486"/>
            </a:avLst>
          </a:prstGeom>
          <a:solidFill>
            <a:srgbClr val="F6F5FC"/>
          </a:solidFill>
          <a:ln w="12700">
            <a:solidFill>
              <a:srgbClr val="E1E0EF"/>
            </a:solidFill>
            <a:prstDash val="solid"/>
          </a:ln>
        </p:spPr>
      </p:sp>
      <p:sp>
        <p:nvSpPr>
          <p:cNvPr id="8" name="Text 5"/>
          <p:cNvSpPr txBox="1"/>
          <p:nvPr/>
        </p:nvSpPr>
        <p:spPr>
          <a:xfrm>
            <a:off x="868680" y="1673352"/>
            <a:ext cx="48006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Rules &amp; data</a:t>
            </a:r>
            <a:endParaRPr lang="en-US" sz="2000" dirty="0"/>
          </a:p>
        </p:txBody>
      </p:sp>
      <p:sp>
        <p:nvSpPr>
          <p:cNvPr id="9" name="Text 6"/>
          <p:cNvSpPr txBox="1"/>
          <p:nvPr/>
        </p:nvSpPr>
        <p:spPr>
          <a:xfrm>
            <a:off x="868680" y="2286000"/>
            <a:ext cx="4800600" cy="8229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Knowledge, examples and instructions provide the basis.</a:t>
            </a:r>
            <a:endParaRPr lang="en-US" sz="1600" dirty="0"/>
          </a:p>
        </p:txBody>
      </p:sp>
      <p:sp>
        <p:nvSpPr>
          <p:cNvPr id="10" name="Shape 7"/>
          <p:cNvSpPr/>
          <p:nvPr/>
        </p:nvSpPr>
        <p:spPr>
          <a:xfrm>
            <a:off x="6172200" y="1508760"/>
            <a:ext cx="5166360" cy="1691640"/>
          </a:xfrm>
          <a:prstGeom prst="roundRect">
            <a:avLst>
              <a:gd name="adj" fmla="val 6486"/>
            </a:avLst>
          </a:prstGeom>
          <a:solidFill>
            <a:srgbClr val="F6F5FC"/>
          </a:solidFill>
          <a:ln w="12700">
            <a:solidFill>
              <a:srgbClr val="E1E0EF"/>
            </a:solidFill>
            <a:prstDash val="solid"/>
          </a:ln>
        </p:spPr>
      </p:sp>
      <p:sp>
        <p:nvSpPr>
          <p:cNvPr id="11" name="Text 8"/>
          <p:cNvSpPr txBox="1"/>
          <p:nvPr/>
        </p:nvSpPr>
        <p:spPr>
          <a:xfrm>
            <a:off x="6355080" y="1673352"/>
            <a:ext cx="48006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Reasoning</a:t>
            </a:r>
            <a:endParaRPr lang="en-US" sz="2000" dirty="0"/>
          </a:p>
        </p:txBody>
      </p:sp>
      <p:sp>
        <p:nvSpPr>
          <p:cNvPr id="12" name="Text 9"/>
          <p:cNvSpPr txBox="1"/>
          <p:nvPr/>
        </p:nvSpPr>
        <p:spPr>
          <a:xfrm>
            <a:off x="6355080" y="2286000"/>
            <a:ext cx="4800600" cy="8229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Use evidence to reach a conclusion or make a decision.</a:t>
            </a:r>
            <a:endParaRPr lang="en-US" sz="1600" dirty="0"/>
          </a:p>
        </p:txBody>
      </p:sp>
      <p:sp>
        <p:nvSpPr>
          <p:cNvPr id="13" name="Shape 10"/>
          <p:cNvSpPr/>
          <p:nvPr/>
        </p:nvSpPr>
        <p:spPr>
          <a:xfrm>
            <a:off x="685800" y="3456432"/>
            <a:ext cx="5166360" cy="1691640"/>
          </a:xfrm>
          <a:prstGeom prst="roundRect">
            <a:avLst>
              <a:gd name="adj" fmla="val 6486"/>
            </a:avLst>
          </a:prstGeom>
          <a:solidFill>
            <a:srgbClr val="F6F5FC"/>
          </a:solidFill>
          <a:ln w="12700">
            <a:solidFill>
              <a:srgbClr val="E1E0EF"/>
            </a:solidFill>
            <a:prstDash val="solid"/>
          </a:ln>
        </p:spPr>
      </p:sp>
      <p:sp>
        <p:nvSpPr>
          <p:cNvPr id="14" name="Text 11"/>
          <p:cNvSpPr txBox="1"/>
          <p:nvPr/>
        </p:nvSpPr>
        <p:spPr>
          <a:xfrm>
            <a:off x="868680" y="3621024"/>
            <a:ext cx="48006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Learning</a:t>
            </a:r>
            <a:endParaRPr lang="en-US" sz="2000" dirty="0"/>
          </a:p>
        </p:txBody>
      </p:sp>
      <p:sp>
        <p:nvSpPr>
          <p:cNvPr id="15" name="Text 12"/>
          <p:cNvSpPr txBox="1"/>
          <p:nvPr/>
        </p:nvSpPr>
        <p:spPr>
          <a:xfrm>
            <a:off x="868680" y="4233672"/>
            <a:ext cx="4800600" cy="8229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Identify patterns from examples or past experience.</a:t>
            </a:r>
            <a:endParaRPr lang="en-US" sz="1600" dirty="0"/>
          </a:p>
        </p:txBody>
      </p:sp>
      <p:sp>
        <p:nvSpPr>
          <p:cNvPr id="16" name="Shape 13"/>
          <p:cNvSpPr/>
          <p:nvPr/>
        </p:nvSpPr>
        <p:spPr>
          <a:xfrm>
            <a:off x="6172200" y="3456432"/>
            <a:ext cx="5166360" cy="1691640"/>
          </a:xfrm>
          <a:prstGeom prst="roundRect">
            <a:avLst>
              <a:gd name="adj" fmla="val 6486"/>
            </a:avLst>
          </a:prstGeom>
          <a:solidFill>
            <a:srgbClr val="F6F5FC"/>
          </a:solidFill>
          <a:ln w="12700">
            <a:solidFill>
              <a:srgbClr val="E1E0EF"/>
            </a:solidFill>
            <a:prstDash val="solid"/>
          </a:ln>
        </p:spPr>
      </p:sp>
      <p:sp>
        <p:nvSpPr>
          <p:cNvPr id="17" name="Text 14"/>
          <p:cNvSpPr txBox="1"/>
          <p:nvPr/>
        </p:nvSpPr>
        <p:spPr>
          <a:xfrm>
            <a:off x="6355080" y="3621024"/>
            <a:ext cx="48006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Adapting</a:t>
            </a:r>
            <a:endParaRPr lang="en-US" sz="2000" dirty="0"/>
          </a:p>
        </p:txBody>
      </p:sp>
      <p:sp>
        <p:nvSpPr>
          <p:cNvPr id="18" name="Text 15"/>
          <p:cNvSpPr txBox="1"/>
          <p:nvPr/>
        </p:nvSpPr>
        <p:spPr>
          <a:xfrm>
            <a:off x="6355080" y="4233672"/>
            <a:ext cx="4800600" cy="8229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Change responses or processes as circumstances change.</a:t>
            </a:r>
            <a:endParaRPr lang="en-US" sz="1600" dirty="0"/>
          </a:p>
        </p:txBody>
      </p:sp>
      <p:sp>
        <p:nvSpPr>
          <p:cNvPr id="19" name="Text 16"/>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AI simulates intelligent human behaviour; it does not prove human understanding.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Automation is not always AI</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Think · pair · share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Shape 4"/>
          <p:cNvSpPr/>
          <p:nvPr/>
        </p:nvSpPr>
        <p:spPr>
          <a:xfrm>
            <a:off x="685800" y="173736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Fixed robot arm</a:t>
            </a:r>
            <a:endParaRPr lang="en-US" sz="2000" dirty="0"/>
          </a:p>
        </p:txBody>
      </p:sp>
      <p:sp>
        <p:nvSpPr>
          <p:cNvPr id="9" name="Text 6"/>
          <p:cNvSpPr txBox="1"/>
          <p:nvPr/>
        </p:nvSpPr>
        <p:spPr>
          <a:xfrm>
            <a:off x="86868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Repeats the same stored movement sequence.</a:t>
            </a:r>
            <a:endParaRPr lang="en-US" sz="1600" dirty="0"/>
          </a:p>
        </p:txBody>
      </p:sp>
      <p:sp>
        <p:nvSpPr>
          <p:cNvPr id="10" name="Shape 7"/>
          <p:cNvSpPr/>
          <p:nvPr/>
        </p:nvSpPr>
        <p:spPr>
          <a:xfrm>
            <a:off x="4434840" y="1737360"/>
            <a:ext cx="3337560" cy="1920240"/>
          </a:xfrm>
          <a:prstGeom prst="roundRect">
            <a:avLst>
              <a:gd name="adj" fmla="val 5714"/>
            </a:avLst>
          </a:prstGeom>
          <a:solidFill>
            <a:srgbClr val="F6F5FC"/>
          </a:solidFill>
          <a:ln w="12700">
            <a:solidFill>
              <a:srgbClr val="E1E0EF"/>
            </a:solidFill>
            <a:prstDash val="solid"/>
          </a:ln>
        </p:spPr>
      </p:sp>
      <p:sp>
        <p:nvSpPr>
          <p:cNvPr id="11" name="Text 8"/>
          <p:cNvSpPr txBox="1"/>
          <p:nvPr/>
        </p:nvSpPr>
        <p:spPr>
          <a:xfrm>
            <a:off x="461772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Fault adviser</a:t>
            </a:r>
            <a:endParaRPr lang="en-US" sz="2000" dirty="0"/>
          </a:p>
        </p:txBody>
      </p:sp>
      <p:sp>
        <p:nvSpPr>
          <p:cNvPr id="12" name="Text 9"/>
          <p:cNvSpPr txBox="1"/>
          <p:nvPr/>
        </p:nvSpPr>
        <p:spPr>
          <a:xfrm>
            <a:off x="461772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Applies expert IF–THEN rules to answers.</a:t>
            </a:r>
            <a:endParaRPr lang="en-US" sz="1600" dirty="0"/>
          </a:p>
        </p:txBody>
      </p:sp>
      <p:sp>
        <p:nvSpPr>
          <p:cNvPr id="13" name="Shape 10"/>
          <p:cNvSpPr/>
          <p:nvPr/>
        </p:nvSpPr>
        <p:spPr>
          <a:xfrm>
            <a:off x="8183880" y="1737360"/>
            <a:ext cx="3337560" cy="1920240"/>
          </a:xfrm>
          <a:prstGeom prst="roundRect">
            <a:avLst>
              <a:gd name="adj" fmla="val 5714"/>
            </a:avLst>
          </a:prstGeom>
          <a:solidFill>
            <a:srgbClr val="F6F5FC"/>
          </a:solidFill>
          <a:ln w="12700">
            <a:solidFill>
              <a:srgbClr val="E1E0EF"/>
            </a:solidFill>
            <a:prstDash val="solid"/>
          </a:ln>
        </p:spPr>
      </p:sp>
      <p:sp>
        <p:nvSpPr>
          <p:cNvPr id="14" name="Text 11"/>
          <p:cNvSpPr txBox="1"/>
          <p:nvPr/>
        </p:nvSpPr>
        <p:spPr>
          <a:xfrm>
            <a:off x="836676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Image classifier</a:t>
            </a:r>
            <a:endParaRPr lang="en-US" sz="2000" dirty="0"/>
          </a:p>
        </p:txBody>
      </p:sp>
      <p:sp>
        <p:nvSpPr>
          <p:cNvPr id="15" name="Text 12"/>
          <p:cNvSpPr txBox="1"/>
          <p:nvPr/>
        </p:nvSpPr>
        <p:spPr>
          <a:xfrm>
            <a:off x="836676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Learns patterns from labelled images.</a:t>
            </a:r>
            <a:endParaRPr lang="en-US" sz="1600" dirty="0"/>
          </a:p>
        </p:txBody>
      </p:sp>
      <p:sp>
        <p:nvSpPr>
          <p:cNvPr id="16" name="Text 13"/>
          <p:cNvSpPr txBox="1"/>
          <p:nvPr/>
        </p:nvSpPr>
        <p:spPr>
          <a:xfrm>
            <a:off x="777240" y="4297680"/>
            <a:ext cx="10607040" cy="914400"/>
          </a:xfrm>
          <a:prstGeom prst="rect">
            <a:avLst/>
          </a:prstGeom>
          <a:noFill/>
          <a:ln/>
        </p:spPr>
        <p:txBody>
          <a:bodyPr wrap="square" lIns="0" tIns="0" rIns="0" bIns="0" rtlCol="0" anchor="t"/>
          <a:lstStyle/>
          <a:p>
            <a:pPr indent="0" marL="0">
              <a:spcAft>
                <a:spcPts val="600"/>
              </a:spcAft>
              <a:buNone/>
            </a:pPr>
            <a:r>
              <a:rPr lang="en-US" sz="2300" dirty="0">
                <a:solidFill>
                  <a:srgbClr val="202124"/>
                </a:solidFill>
                <a:latin typeface="Quicksand" pitchFamily="34" charset="0"/>
                <a:ea typeface="Quicksand" pitchFamily="34" charset="-122"/>
                <a:cs typeface="Quicksand" pitchFamily="34" charset="-120"/>
              </a:rPr>
              <a:t>Which system repeats instructions? Which uses expert rules? Which learns from examples?</a:t>
            </a:r>
            <a:endParaRPr lang="en-US" sz="2300" dirty="0"/>
          </a:p>
        </p:txBody>
      </p:sp>
      <p:sp>
        <p:nvSpPr>
          <p:cNvPr id="17" name="Text 14"/>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Now do Task 2. Explain the behaviour, not just the device name.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AI: a family of approaches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822960" y="1463040"/>
            <a:ext cx="10515600" cy="3931920"/>
          </a:xfrm>
          <a:prstGeom prst="roundRect">
            <a:avLst/>
          </a:prstGeom>
          <a:solidFill>
            <a:srgbClr val="E9E8F5"/>
          </a:solidFill>
          <a:ln w="25400">
            <a:solidFill>
              <a:srgbClr val="494985"/>
            </a:solidFill>
            <a:prstDash val="solid"/>
          </a:ln>
        </p:spPr>
      </p:sp>
      <p:sp>
        <p:nvSpPr>
          <p:cNvPr id="8" name="Text 5"/>
          <p:cNvSpPr txBox="1"/>
          <p:nvPr/>
        </p:nvSpPr>
        <p:spPr>
          <a:xfrm>
            <a:off x="1051560" y="1691640"/>
            <a:ext cx="9692640" cy="548640"/>
          </a:xfrm>
          <a:prstGeom prst="rect">
            <a:avLst/>
          </a:prstGeom>
          <a:noFill/>
          <a:ln/>
        </p:spPr>
        <p:txBody>
          <a:bodyPr wrap="square" lIns="0" tIns="0" rIns="0" bIns="0" rtlCol="0" anchor="t"/>
          <a:lstStyle/>
          <a:p>
            <a:pPr algn="ctr" indent="0" marL="0">
              <a:spcAft>
                <a:spcPts val="600"/>
              </a:spcAft>
              <a:buNone/>
            </a:pPr>
            <a:r>
              <a:rPr lang="en-US" sz="2500" b="1" dirty="0">
                <a:solidFill>
                  <a:srgbClr val="494985"/>
                </a:solidFill>
                <a:latin typeface="Quicksand" pitchFamily="34" charset="0"/>
                <a:ea typeface="Quicksand" pitchFamily="34" charset="-122"/>
                <a:cs typeface="Quicksand" pitchFamily="34" charset="-120"/>
              </a:rPr>
              <a:t>ARTIFICIAL INTELLIGENCE</a:t>
            </a:r>
            <a:endParaRPr lang="en-US" sz="2500" dirty="0"/>
          </a:p>
        </p:txBody>
      </p:sp>
      <p:sp>
        <p:nvSpPr>
          <p:cNvPr id="9" name="Shape 6"/>
          <p:cNvSpPr/>
          <p:nvPr/>
        </p:nvSpPr>
        <p:spPr>
          <a:xfrm>
            <a:off x="1463040" y="2560320"/>
            <a:ext cx="4206240" cy="1920240"/>
          </a:xfrm>
          <a:prstGeom prst="roundRect">
            <a:avLst>
              <a:gd name="adj" fmla="val 5714"/>
            </a:avLst>
          </a:prstGeom>
          <a:solidFill>
            <a:srgbClr val="F6F5FC"/>
          </a:solidFill>
          <a:ln w="12700">
            <a:solidFill>
              <a:srgbClr val="E1E0EF"/>
            </a:solidFill>
            <a:prstDash val="solid"/>
          </a:ln>
        </p:spPr>
      </p:sp>
      <p:sp>
        <p:nvSpPr>
          <p:cNvPr id="10" name="Text 7"/>
          <p:cNvSpPr txBox="1"/>
          <p:nvPr/>
        </p:nvSpPr>
        <p:spPr>
          <a:xfrm>
            <a:off x="1645920" y="2724912"/>
            <a:ext cx="384048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Expert systems</a:t>
            </a:r>
            <a:endParaRPr lang="en-US" sz="2000" dirty="0"/>
          </a:p>
        </p:txBody>
      </p:sp>
      <p:sp>
        <p:nvSpPr>
          <p:cNvPr id="11" name="Text 8"/>
          <p:cNvSpPr txBox="1"/>
          <p:nvPr/>
        </p:nvSpPr>
        <p:spPr>
          <a:xfrm>
            <a:off x="1645920" y="3337560"/>
            <a:ext cx="384048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Human expertise → stored facts and rules</a:t>
            </a:r>
            <a:endParaRPr lang="en-US" sz="1600" dirty="0"/>
          </a:p>
        </p:txBody>
      </p:sp>
      <p:sp>
        <p:nvSpPr>
          <p:cNvPr id="12" name="Shape 9"/>
          <p:cNvSpPr/>
          <p:nvPr/>
        </p:nvSpPr>
        <p:spPr>
          <a:xfrm>
            <a:off x="6400800" y="2560320"/>
            <a:ext cx="4206240" cy="1920240"/>
          </a:xfrm>
          <a:prstGeom prst="roundRect">
            <a:avLst>
              <a:gd name="adj" fmla="val 5714"/>
            </a:avLst>
          </a:prstGeom>
          <a:solidFill>
            <a:srgbClr val="F6F5FC"/>
          </a:solidFill>
          <a:ln w="12700">
            <a:solidFill>
              <a:srgbClr val="E1E0EF"/>
            </a:solidFill>
            <a:prstDash val="solid"/>
          </a:ln>
        </p:spPr>
      </p:sp>
      <p:sp>
        <p:nvSpPr>
          <p:cNvPr id="13" name="Text 10"/>
          <p:cNvSpPr txBox="1"/>
          <p:nvPr/>
        </p:nvSpPr>
        <p:spPr>
          <a:xfrm>
            <a:off x="6583680" y="2724912"/>
            <a:ext cx="384048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Machine learning</a:t>
            </a:r>
            <a:endParaRPr lang="en-US" sz="2000" dirty="0"/>
          </a:p>
        </p:txBody>
      </p:sp>
      <p:sp>
        <p:nvSpPr>
          <p:cNvPr id="14" name="Text 11"/>
          <p:cNvSpPr txBox="1"/>
          <p:nvPr/>
        </p:nvSpPr>
        <p:spPr>
          <a:xfrm>
            <a:off x="6583680" y="3337560"/>
            <a:ext cx="384048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Examples → learned patterns and a model</a:t>
            </a:r>
            <a:endParaRPr lang="en-US" sz="1600" dirty="0"/>
          </a:p>
        </p:txBody>
      </p:sp>
      <p:sp>
        <p:nvSpPr>
          <p:cNvPr id="15" name="Text 12"/>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AI is the broad field. Machine learning is a subset of AI.</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Expert systems: expertise on tap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685800" y="164592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81051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Expert knowledge</a:t>
            </a:r>
            <a:endParaRPr lang="en-US" sz="2000" dirty="0"/>
          </a:p>
        </p:txBody>
      </p:sp>
      <p:sp>
        <p:nvSpPr>
          <p:cNvPr id="9" name="Text 6"/>
          <p:cNvSpPr txBox="1"/>
          <p:nvPr/>
        </p:nvSpPr>
        <p:spPr>
          <a:xfrm>
            <a:off x="868680" y="242316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Technicians explain common printer faults.</a:t>
            </a:r>
            <a:endParaRPr lang="en-US" sz="1600" dirty="0"/>
          </a:p>
        </p:txBody>
      </p:sp>
      <p:sp>
        <p:nvSpPr>
          <p:cNvPr id="10" name="Shape 7"/>
          <p:cNvSpPr/>
          <p:nvPr/>
        </p:nvSpPr>
        <p:spPr>
          <a:xfrm>
            <a:off x="4114800" y="2560320"/>
            <a:ext cx="301752" cy="914"/>
          </a:xfrm>
          <a:prstGeom prst="line">
            <a:avLst/>
          </a:prstGeom>
          <a:noFill/>
          <a:ln w="25400">
            <a:solidFill>
              <a:srgbClr val="494985"/>
            </a:solidFill>
            <a:prstDash val="solid"/>
            <a:tailEnd type="triangle"/>
          </a:ln>
        </p:spPr>
      </p:sp>
      <p:sp>
        <p:nvSpPr>
          <p:cNvPr id="11" name="Shape 8"/>
          <p:cNvSpPr/>
          <p:nvPr/>
        </p:nvSpPr>
        <p:spPr>
          <a:xfrm>
            <a:off x="4434840" y="1645920"/>
            <a:ext cx="3337560" cy="1920240"/>
          </a:xfrm>
          <a:prstGeom prst="roundRect">
            <a:avLst>
              <a:gd name="adj" fmla="val 5714"/>
            </a:avLst>
          </a:prstGeom>
          <a:solidFill>
            <a:srgbClr val="F6F5FC"/>
          </a:solidFill>
          <a:ln w="12700">
            <a:solidFill>
              <a:srgbClr val="E1E0EF"/>
            </a:solidFill>
            <a:prstDash val="solid"/>
          </a:ln>
        </p:spPr>
      </p:sp>
      <p:sp>
        <p:nvSpPr>
          <p:cNvPr id="12" name="Text 9"/>
          <p:cNvSpPr txBox="1"/>
          <p:nvPr/>
        </p:nvSpPr>
        <p:spPr>
          <a:xfrm>
            <a:off x="4617720" y="181051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Computer system</a:t>
            </a:r>
            <a:endParaRPr lang="en-US" sz="2000" dirty="0"/>
          </a:p>
        </p:txBody>
      </p:sp>
      <p:sp>
        <p:nvSpPr>
          <p:cNvPr id="13" name="Text 10"/>
          <p:cNvSpPr txBox="1"/>
          <p:nvPr/>
        </p:nvSpPr>
        <p:spPr>
          <a:xfrm>
            <a:off x="4617720" y="242316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Stores the knowledge and applies rules.</a:t>
            </a:r>
            <a:endParaRPr lang="en-US" sz="1600" dirty="0"/>
          </a:p>
        </p:txBody>
      </p:sp>
      <p:sp>
        <p:nvSpPr>
          <p:cNvPr id="14" name="Shape 11"/>
          <p:cNvSpPr/>
          <p:nvPr/>
        </p:nvSpPr>
        <p:spPr>
          <a:xfrm>
            <a:off x="7863840" y="2560320"/>
            <a:ext cx="292608" cy="914"/>
          </a:xfrm>
          <a:prstGeom prst="line">
            <a:avLst/>
          </a:prstGeom>
          <a:noFill/>
          <a:ln w="25400">
            <a:solidFill>
              <a:srgbClr val="494985"/>
            </a:solidFill>
            <a:prstDash val="solid"/>
            <a:tailEnd type="triangle"/>
          </a:ln>
        </p:spPr>
      </p:sp>
      <p:sp>
        <p:nvSpPr>
          <p:cNvPr id="15" name="Shape 12"/>
          <p:cNvSpPr/>
          <p:nvPr/>
        </p:nvSpPr>
        <p:spPr>
          <a:xfrm>
            <a:off x="8183880" y="1645920"/>
            <a:ext cx="3337560" cy="1920240"/>
          </a:xfrm>
          <a:prstGeom prst="roundRect">
            <a:avLst>
              <a:gd name="adj" fmla="val 5714"/>
            </a:avLst>
          </a:prstGeom>
          <a:solidFill>
            <a:srgbClr val="F6F5FC"/>
          </a:solidFill>
          <a:ln w="12700">
            <a:solidFill>
              <a:srgbClr val="E1E0EF"/>
            </a:solidFill>
            <a:prstDash val="solid"/>
          </a:ln>
        </p:spPr>
      </p:sp>
      <p:sp>
        <p:nvSpPr>
          <p:cNvPr id="16" name="Text 13"/>
          <p:cNvSpPr txBox="1"/>
          <p:nvPr/>
        </p:nvSpPr>
        <p:spPr>
          <a:xfrm>
            <a:off x="8366760" y="181051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Advice for a user</a:t>
            </a:r>
            <a:endParaRPr lang="en-US" sz="2000" dirty="0"/>
          </a:p>
        </p:txBody>
      </p:sp>
      <p:sp>
        <p:nvSpPr>
          <p:cNvPr id="17" name="Text 14"/>
          <p:cNvSpPr txBox="1"/>
          <p:nvPr/>
        </p:nvSpPr>
        <p:spPr>
          <a:xfrm>
            <a:off x="8366760" y="242316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Suggests a cause and an action to take.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3977640"/>
          <a:ext cx="10789920" cy="914400"/>
        </p:xfrm>
        <a:graphic>
          <a:graphicData uri="http://schemas.openxmlformats.org/drawingml/2006/table">
            <a:tbl>
              <a:tblPr/>
              <a:tblGrid>
                <a:gridCol w="4937760"/>
                <a:gridCol w="5852160"/>
              </a:tblGrid>
              <a:tr h="548640">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Other applications</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Expertise needed</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Oil / mineral prospecting</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Geological evidence</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Medical decision support</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Clinical knowledge (human oversight)</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Inside an expert system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685800" y="2423160"/>
            <a:ext cx="2834640" cy="1828800"/>
          </a:xfrm>
          <a:prstGeom prst="roundRect">
            <a:avLst>
              <a:gd name="adj" fmla="val 6000"/>
            </a:avLst>
          </a:prstGeom>
          <a:solidFill>
            <a:srgbClr val="F6F5FC"/>
          </a:solidFill>
          <a:ln w="12700">
            <a:solidFill>
              <a:srgbClr val="E1E0EF"/>
            </a:solidFill>
            <a:prstDash val="solid"/>
          </a:ln>
        </p:spPr>
      </p:sp>
      <p:sp>
        <p:nvSpPr>
          <p:cNvPr id="8" name="Text 5"/>
          <p:cNvSpPr txBox="1"/>
          <p:nvPr/>
        </p:nvSpPr>
        <p:spPr>
          <a:xfrm>
            <a:off x="868680" y="2587752"/>
            <a:ext cx="246888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User interface</a:t>
            </a:r>
            <a:endParaRPr lang="en-US" sz="2000" dirty="0"/>
          </a:p>
        </p:txBody>
      </p:sp>
      <p:sp>
        <p:nvSpPr>
          <p:cNvPr id="9" name="Text 6"/>
          <p:cNvSpPr txBox="1"/>
          <p:nvPr/>
        </p:nvSpPr>
        <p:spPr>
          <a:xfrm>
            <a:off x="868680" y="3200400"/>
            <a:ext cx="2468880" cy="96012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Accepts user answers; displays questions and advice.</a:t>
            </a:r>
            <a:endParaRPr lang="en-US" sz="1600" dirty="0"/>
          </a:p>
        </p:txBody>
      </p:sp>
      <p:sp>
        <p:nvSpPr>
          <p:cNvPr id="10" name="Shape 7"/>
          <p:cNvSpPr/>
          <p:nvPr/>
        </p:nvSpPr>
        <p:spPr>
          <a:xfrm>
            <a:off x="4389120" y="2423160"/>
            <a:ext cx="3383280" cy="1828800"/>
          </a:xfrm>
          <a:prstGeom prst="roundRect">
            <a:avLst>
              <a:gd name="adj" fmla="val 6000"/>
            </a:avLst>
          </a:prstGeom>
          <a:solidFill>
            <a:srgbClr val="F6F5FC"/>
          </a:solidFill>
          <a:ln w="12700">
            <a:solidFill>
              <a:srgbClr val="E1E0EF"/>
            </a:solidFill>
            <a:prstDash val="solid"/>
          </a:ln>
        </p:spPr>
      </p:sp>
      <p:sp>
        <p:nvSpPr>
          <p:cNvPr id="11" name="Text 8"/>
          <p:cNvSpPr txBox="1"/>
          <p:nvPr/>
        </p:nvSpPr>
        <p:spPr>
          <a:xfrm>
            <a:off x="4572000" y="2587752"/>
            <a:ext cx="301752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Inference engine</a:t>
            </a:r>
            <a:endParaRPr lang="en-US" sz="2000" dirty="0"/>
          </a:p>
        </p:txBody>
      </p:sp>
      <p:sp>
        <p:nvSpPr>
          <p:cNvPr id="12" name="Text 9"/>
          <p:cNvSpPr txBox="1"/>
          <p:nvPr/>
        </p:nvSpPr>
        <p:spPr>
          <a:xfrm>
            <a:off x="4572000" y="3200400"/>
            <a:ext cx="3017520" cy="96012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Matches facts and applies rules to draw a conclusion.</a:t>
            </a:r>
            <a:endParaRPr lang="en-US" sz="1600" dirty="0"/>
          </a:p>
        </p:txBody>
      </p:sp>
      <p:sp>
        <p:nvSpPr>
          <p:cNvPr id="13" name="Shape 10"/>
          <p:cNvSpPr/>
          <p:nvPr/>
        </p:nvSpPr>
        <p:spPr>
          <a:xfrm>
            <a:off x="8321040" y="1417320"/>
            <a:ext cx="3108960" cy="1554480"/>
          </a:xfrm>
          <a:prstGeom prst="roundRect">
            <a:avLst>
              <a:gd name="adj" fmla="val 7059"/>
            </a:avLst>
          </a:prstGeom>
          <a:solidFill>
            <a:srgbClr val="F6F5FC"/>
          </a:solidFill>
          <a:ln w="12700">
            <a:solidFill>
              <a:srgbClr val="E1E0EF"/>
            </a:solidFill>
            <a:prstDash val="solid"/>
          </a:ln>
        </p:spPr>
      </p:sp>
      <p:sp>
        <p:nvSpPr>
          <p:cNvPr id="14" name="Text 11"/>
          <p:cNvSpPr txBox="1"/>
          <p:nvPr/>
        </p:nvSpPr>
        <p:spPr>
          <a:xfrm>
            <a:off x="8503920" y="1581912"/>
            <a:ext cx="27432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Knowledge base</a:t>
            </a:r>
            <a:endParaRPr lang="en-US" sz="2000" dirty="0"/>
          </a:p>
        </p:txBody>
      </p:sp>
      <p:sp>
        <p:nvSpPr>
          <p:cNvPr id="15" name="Text 12"/>
          <p:cNvSpPr txBox="1"/>
          <p:nvPr/>
        </p:nvSpPr>
        <p:spPr>
          <a:xfrm>
            <a:off x="8503920" y="2194560"/>
            <a:ext cx="2743200" cy="68580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Stores expert facts about the domain.</a:t>
            </a:r>
            <a:endParaRPr lang="en-US" sz="1600" dirty="0"/>
          </a:p>
        </p:txBody>
      </p:sp>
      <p:sp>
        <p:nvSpPr>
          <p:cNvPr id="16" name="Shape 13"/>
          <p:cNvSpPr/>
          <p:nvPr/>
        </p:nvSpPr>
        <p:spPr>
          <a:xfrm>
            <a:off x="8321040" y="3749040"/>
            <a:ext cx="3108960" cy="1554480"/>
          </a:xfrm>
          <a:prstGeom prst="roundRect">
            <a:avLst>
              <a:gd name="adj" fmla="val 7059"/>
            </a:avLst>
          </a:prstGeom>
          <a:solidFill>
            <a:srgbClr val="F6F5FC"/>
          </a:solidFill>
          <a:ln w="12700">
            <a:solidFill>
              <a:srgbClr val="E1E0EF"/>
            </a:solidFill>
            <a:prstDash val="solid"/>
          </a:ln>
        </p:spPr>
      </p:sp>
      <p:sp>
        <p:nvSpPr>
          <p:cNvPr id="17" name="Text 14"/>
          <p:cNvSpPr txBox="1"/>
          <p:nvPr/>
        </p:nvSpPr>
        <p:spPr>
          <a:xfrm>
            <a:off x="8503920" y="3913632"/>
            <a:ext cx="27432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Rules base</a:t>
            </a:r>
            <a:endParaRPr lang="en-US" sz="2000" dirty="0"/>
          </a:p>
        </p:txBody>
      </p:sp>
      <p:sp>
        <p:nvSpPr>
          <p:cNvPr id="18" name="Text 15"/>
          <p:cNvSpPr txBox="1"/>
          <p:nvPr/>
        </p:nvSpPr>
        <p:spPr>
          <a:xfrm>
            <a:off x="8503920" y="4526280"/>
            <a:ext cx="2743200" cy="68580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Stores IF–THEN rules for drawing conclusions.</a:t>
            </a:r>
            <a:endParaRPr lang="en-US" sz="1600" dirty="0"/>
          </a:p>
        </p:txBody>
      </p:sp>
      <p:sp>
        <p:nvSpPr>
          <p:cNvPr id="19" name="Shape 16"/>
          <p:cNvSpPr/>
          <p:nvPr/>
        </p:nvSpPr>
        <p:spPr>
          <a:xfrm>
            <a:off x="3566160" y="3246120"/>
            <a:ext cx="777240" cy="914"/>
          </a:xfrm>
          <a:prstGeom prst="line">
            <a:avLst/>
          </a:prstGeom>
          <a:noFill/>
          <a:ln w="25400">
            <a:solidFill>
              <a:srgbClr val="494985"/>
            </a:solidFill>
            <a:prstDash val="solid"/>
            <a:tailEnd type="triangle"/>
          </a:ln>
        </p:spPr>
      </p:sp>
      <p:sp>
        <p:nvSpPr>
          <p:cNvPr id="20" name="Shape 17"/>
          <p:cNvSpPr/>
          <p:nvPr/>
        </p:nvSpPr>
        <p:spPr>
          <a:xfrm flipH="1">
            <a:off x="7818120" y="2560320"/>
            <a:ext cx="457200" cy="365760"/>
          </a:xfrm>
          <a:prstGeom prst="line">
            <a:avLst/>
          </a:prstGeom>
          <a:noFill/>
          <a:ln w="25400">
            <a:solidFill>
              <a:srgbClr val="494985"/>
            </a:solidFill>
            <a:prstDash val="solid"/>
            <a:tailEnd type="triangle"/>
          </a:ln>
        </p:spPr>
      </p:sp>
      <p:sp>
        <p:nvSpPr>
          <p:cNvPr id="21" name="Shape 18"/>
          <p:cNvSpPr/>
          <p:nvPr/>
        </p:nvSpPr>
        <p:spPr>
          <a:xfrm flipH="1" flipV="1">
            <a:off x="7818120" y="3657600"/>
            <a:ext cx="457200" cy="502920"/>
          </a:xfrm>
          <a:prstGeom prst="line">
            <a:avLst/>
          </a:prstGeom>
          <a:noFill/>
          <a:ln w="25400">
            <a:solidFill>
              <a:srgbClr val="494985"/>
            </a:solidFill>
            <a:prstDash val="solid"/>
            <a:tailEnd type="triangle"/>
          </a:ln>
        </p:spPr>
      </p:sp>
      <p:sp>
        <p:nvSpPr>
          <p:cNvPr id="22" name="Text 19"/>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Facts are not rules. The inference engine uses both.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Facts and rules do different jobs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789920" cy="914400"/>
        </p:xfrm>
        <a:graphic>
          <a:graphicData uri="http://schemas.openxmlformats.org/drawingml/2006/table">
            <a:tbl>
              <a:tblPr/>
              <a:tblGrid>
                <a:gridCol w="3474720"/>
                <a:gridCol w="7315200"/>
              </a:tblGrid>
              <a:tr h="777240">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Part</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Printer example</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Knowledge base / facts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Power light: ON. Paper tray: EMPTY.</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Rules base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IF power is on AND tray is empty THEN advise “load paper”.</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Inference engine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Matches the evidence to the rule and selects advice.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User interface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Asks about the tray and displays the advice.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fact describes what is known. A rule says what to infer if conditions match.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Trace a rule before you trust it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10789920" cy="914400"/>
        </p:xfrm>
        <a:graphic>
          <a:graphicData uri="http://schemas.openxmlformats.org/drawingml/2006/table">
            <a:tbl>
              <a:tblPr/>
              <a:tblGrid>
                <a:gridCol w="1097280"/>
                <a:gridCol w="5760720"/>
                <a:gridCol w="3931920"/>
              </a:tblGrid>
              <a:tr h="731520">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Rule</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Condition</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Advice</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3152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R1</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Light OFF</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Check power cable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3152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R2</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Light ON and paper EMPTY</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Load paper</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3152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R3</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Light ON, paper PRESENT and jam YES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Clear paper jam</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22960" y="4754880"/>
            <a:ext cx="6858000" cy="731520"/>
          </a:xfrm>
          <a:prstGeom prst="roundRect">
            <a:avLst>
              <a:gd name="adj" fmla="val 15000"/>
            </a:avLst>
          </a:prstGeom>
          <a:solidFill>
            <a:srgbClr val="F6F5FC"/>
          </a:solidFill>
          <a:ln w="12700">
            <a:solidFill>
              <a:srgbClr val="E1E0EF"/>
            </a:solidFill>
            <a:prstDash val="solid"/>
          </a:ln>
        </p:spPr>
      </p:sp>
      <p:sp>
        <p:nvSpPr>
          <p:cNvPr id="9" name="Text 5"/>
          <p:cNvSpPr txBox="1"/>
          <p:nvPr/>
        </p:nvSpPr>
        <p:spPr>
          <a:xfrm>
            <a:off x="1005840" y="4892040"/>
            <a:ext cx="2057400" cy="502920"/>
          </a:xfrm>
          <a:prstGeom prst="rect">
            <a:avLst/>
          </a:prstGeom>
          <a:noFill/>
          <a:ln/>
        </p:spPr>
        <p:txBody>
          <a:bodyPr wrap="square" lIns="0" tIns="0" rIns="0" bIns="0" rtlCol="0" anchor="t"/>
          <a:lstStyle/>
          <a:p>
            <a:pPr indent="0" marL="0">
              <a:spcAft>
                <a:spcPts val="600"/>
              </a:spcAft>
              <a:buNone/>
            </a:pPr>
            <a:r>
              <a:rPr lang="en-US" sz="1700" b="1" dirty="0">
                <a:solidFill>
                  <a:srgbClr val="494985"/>
                </a:solidFill>
                <a:latin typeface="Quicksand" pitchFamily="34" charset="0"/>
                <a:ea typeface="Quicksand" pitchFamily="34" charset="-122"/>
                <a:cs typeface="Quicksand" pitchFamily="34" charset="-120"/>
              </a:rPr>
              <a:t>Evidence</a:t>
            </a:r>
            <a:endParaRPr lang="en-US" sz="1700" dirty="0"/>
          </a:p>
        </p:txBody>
      </p:sp>
      <p:sp>
        <p:nvSpPr>
          <p:cNvPr id="10" name="Text 6"/>
          <p:cNvSpPr txBox="1"/>
          <p:nvPr/>
        </p:nvSpPr>
        <p:spPr>
          <a:xfrm>
            <a:off x="3017520" y="4892040"/>
            <a:ext cx="4343400" cy="50292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Light ON · paper EMPTY · jam NO</a:t>
            </a:r>
            <a:endParaRPr lang="en-US" sz="1500" dirty="0"/>
          </a:p>
        </p:txBody>
      </p:sp>
      <p:sp>
        <p:nvSpPr>
          <p:cNvPr id="11" name="Text 7"/>
          <p:cNvSpPr txBox="1"/>
          <p:nvPr/>
        </p:nvSpPr>
        <p:spPr>
          <a:xfrm>
            <a:off x="8229600" y="4846320"/>
            <a:ext cx="2926080" cy="457200"/>
          </a:xfrm>
          <a:prstGeom prst="rect">
            <a:avLst/>
          </a:prstGeom>
          <a:noFill/>
          <a:ln/>
        </p:spPr>
        <p:txBody>
          <a:bodyPr wrap="square" lIns="0" tIns="0" rIns="0" bIns="0" rtlCol="0" anchor="t"/>
          <a:lstStyle/>
          <a:p>
            <a:pPr indent="0" marL="0">
              <a:spcAft>
                <a:spcPts val="600"/>
              </a:spcAft>
              <a:buNone/>
            </a:pPr>
            <a:r>
              <a:rPr lang="en-US" sz="1900" b="1" dirty="0">
                <a:solidFill>
                  <a:srgbClr val="494985"/>
                </a:solidFill>
                <a:latin typeface="Quicksand" pitchFamily="34" charset="0"/>
                <a:ea typeface="Quicksand" pitchFamily="34" charset="-122"/>
                <a:cs typeface="Quicksand" pitchFamily="34" charset="-120"/>
              </a:rPr>
              <a:t>Which rule matches?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Explain the advice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Shape 4"/>
          <p:cNvSpPr/>
          <p:nvPr/>
        </p:nvSpPr>
        <p:spPr>
          <a:xfrm>
            <a:off x="685800" y="173736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Evidence</a:t>
            </a:r>
            <a:endParaRPr lang="en-US" sz="2000" dirty="0"/>
          </a:p>
        </p:txBody>
      </p:sp>
      <p:sp>
        <p:nvSpPr>
          <p:cNvPr id="9" name="Text 6"/>
          <p:cNvSpPr txBox="1"/>
          <p:nvPr/>
        </p:nvSpPr>
        <p:spPr>
          <a:xfrm>
            <a:off x="86868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The printer is powered on. There is no paper in the tray.</a:t>
            </a:r>
            <a:endParaRPr lang="en-US" sz="1600" dirty="0"/>
          </a:p>
        </p:txBody>
      </p:sp>
      <p:sp>
        <p:nvSpPr>
          <p:cNvPr id="10" name="Shape 7"/>
          <p:cNvSpPr/>
          <p:nvPr/>
        </p:nvSpPr>
        <p:spPr>
          <a:xfrm>
            <a:off x="4434840" y="1737360"/>
            <a:ext cx="3337560" cy="1920240"/>
          </a:xfrm>
          <a:prstGeom prst="roundRect">
            <a:avLst>
              <a:gd name="adj" fmla="val 5714"/>
            </a:avLst>
          </a:prstGeom>
          <a:solidFill>
            <a:srgbClr val="F6F5FC"/>
          </a:solidFill>
          <a:ln w="12700">
            <a:solidFill>
              <a:srgbClr val="E1E0EF"/>
            </a:solidFill>
            <a:prstDash val="solid"/>
          </a:ln>
        </p:spPr>
      </p:sp>
      <p:sp>
        <p:nvSpPr>
          <p:cNvPr id="11" name="Text 8"/>
          <p:cNvSpPr txBox="1"/>
          <p:nvPr/>
        </p:nvSpPr>
        <p:spPr>
          <a:xfrm>
            <a:off x="461772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Rule matched</a:t>
            </a:r>
            <a:endParaRPr lang="en-US" sz="2000" dirty="0"/>
          </a:p>
        </p:txBody>
      </p:sp>
      <p:sp>
        <p:nvSpPr>
          <p:cNvPr id="12" name="Text 9"/>
          <p:cNvSpPr txBox="1"/>
          <p:nvPr/>
        </p:nvSpPr>
        <p:spPr>
          <a:xfrm>
            <a:off x="461772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R2: powered on + empty tray → load paper.</a:t>
            </a:r>
            <a:endParaRPr lang="en-US" sz="1600" dirty="0"/>
          </a:p>
        </p:txBody>
      </p:sp>
      <p:sp>
        <p:nvSpPr>
          <p:cNvPr id="13" name="Shape 10"/>
          <p:cNvSpPr/>
          <p:nvPr/>
        </p:nvSpPr>
        <p:spPr>
          <a:xfrm>
            <a:off x="8183880" y="1737360"/>
            <a:ext cx="3337560" cy="1920240"/>
          </a:xfrm>
          <a:prstGeom prst="roundRect">
            <a:avLst>
              <a:gd name="adj" fmla="val 5714"/>
            </a:avLst>
          </a:prstGeom>
          <a:solidFill>
            <a:srgbClr val="F6F5FC"/>
          </a:solidFill>
          <a:ln w="12700">
            <a:solidFill>
              <a:srgbClr val="E1E0EF"/>
            </a:solidFill>
            <a:prstDash val="solid"/>
          </a:ln>
        </p:spPr>
      </p:sp>
      <p:sp>
        <p:nvSpPr>
          <p:cNvPr id="14" name="Text 11"/>
          <p:cNvSpPr txBox="1"/>
          <p:nvPr/>
        </p:nvSpPr>
        <p:spPr>
          <a:xfrm>
            <a:off x="836676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Explain</a:t>
            </a:r>
            <a:endParaRPr lang="en-US" sz="2000" dirty="0"/>
          </a:p>
        </p:txBody>
      </p:sp>
      <p:sp>
        <p:nvSpPr>
          <p:cNvPr id="15" name="Text 12"/>
          <p:cNvSpPr txBox="1"/>
          <p:nvPr/>
        </p:nvSpPr>
        <p:spPr>
          <a:xfrm>
            <a:off x="836676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“Load paper because the printer is on but its tray is empty.”</a:t>
            </a:r>
            <a:endParaRPr lang="en-US" sz="1600" dirty="0"/>
          </a:p>
        </p:txBody>
      </p:sp>
      <p:sp>
        <p:nvSpPr>
          <p:cNvPr id="16" name="Text 13"/>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conclusion should follow evidence and rules—not guesswork. Do Tasks 3 and 4(a).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Build and test an expert system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731520" y="1508760"/>
            <a:ext cx="10607040" cy="822960"/>
          </a:xfrm>
          <a:prstGeom prst="rect">
            <a:avLst/>
          </a:prstGeom>
          <a:solidFill>
            <a:srgbClr val="F6F5FC"/>
          </a:solidFill>
          <a:ln w="12700">
            <a:solidFill>
              <a:srgbClr val="F6F5FC"/>
            </a:solidFill>
            <a:prstDash val="solid"/>
          </a:ln>
        </p:spPr>
      </p:sp>
      <p:sp>
        <p:nvSpPr>
          <p:cNvPr id="8" name="Text 5"/>
          <p:cNvSpPr/>
          <p:nvPr/>
        </p:nvSpPr>
        <p:spPr>
          <a:xfrm>
            <a:off x="868680" y="1645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389888" y="1618488"/>
            <a:ext cx="9829800" cy="411480"/>
          </a:xfrm>
          <a:prstGeom prst="rect">
            <a:avLst/>
          </a:prstGeom>
          <a:noFill/>
          <a:ln/>
        </p:spPr>
        <p:txBody>
          <a:bodyPr wrap="square" lIns="0" tIns="0" rIns="0" bIns="0" rtlCol="0" anchor="ctr"/>
          <a:lstStyle/>
          <a:p>
            <a:pPr indent="0" marL="0">
              <a:buNone/>
            </a:pPr>
            <a:r>
              <a:rPr lang="en-US" sz="1800" b="1" dirty="0">
                <a:solidFill>
                  <a:srgbClr val="202124"/>
                </a:solidFill>
                <a:latin typeface="Quicksand" pitchFamily="34" charset="0"/>
                <a:ea typeface="Quicksand" pitchFamily="34" charset="-122"/>
                <a:cs typeface="Quicksand" pitchFamily="34" charset="-120"/>
              </a:rPr>
              <a:t>Collect expertise</a:t>
            </a:r>
            <a:endParaRPr lang="en-US" sz="1800" dirty="0"/>
          </a:p>
        </p:txBody>
      </p:sp>
      <p:sp>
        <p:nvSpPr>
          <p:cNvPr id="10" name="Text 7"/>
          <p:cNvSpPr txBox="1"/>
          <p:nvPr/>
        </p:nvSpPr>
        <p:spPr>
          <a:xfrm>
            <a:off x="1389888" y="2011680"/>
            <a:ext cx="9829800" cy="25603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Interview experts; use reliable written sources.</a:t>
            </a:r>
            <a:endParaRPr lang="en-US" sz="1500" dirty="0"/>
          </a:p>
        </p:txBody>
      </p:sp>
      <p:sp>
        <p:nvSpPr>
          <p:cNvPr id="11" name="Shape 8"/>
          <p:cNvSpPr/>
          <p:nvPr/>
        </p:nvSpPr>
        <p:spPr>
          <a:xfrm>
            <a:off x="731520" y="2468880"/>
            <a:ext cx="10607040" cy="822960"/>
          </a:xfrm>
          <a:prstGeom prst="rect">
            <a:avLst/>
          </a:prstGeom>
          <a:solidFill>
            <a:srgbClr val="F6F5FC"/>
          </a:solidFill>
          <a:ln w="12700">
            <a:solidFill>
              <a:srgbClr val="F6F5FC"/>
            </a:solidFill>
            <a:prstDash val="solid"/>
          </a:ln>
        </p:spPr>
      </p:sp>
      <p:sp>
        <p:nvSpPr>
          <p:cNvPr id="12" name="Text 9"/>
          <p:cNvSpPr/>
          <p:nvPr/>
        </p:nvSpPr>
        <p:spPr>
          <a:xfrm>
            <a:off x="868680" y="2606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389888" y="2578608"/>
            <a:ext cx="9829800" cy="411480"/>
          </a:xfrm>
          <a:prstGeom prst="rect">
            <a:avLst/>
          </a:prstGeom>
          <a:noFill/>
          <a:ln/>
        </p:spPr>
        <p:txBody>
          <a:bodyPr wrap="square" lIns="0" tIns="0" rIns="0" bIns="0" rtlCol="0" anchor="ctr"/>
          <a:lstStyle/>
          <a:p>
            <a:pPr indent="0" marL="0">
              <a:buNone/>
            </a:pPr>
            <a:r>
              <a:rPr lang="en-US" sz="1800" b="1" dirty="0">
                <a:solidFill>
                  <a:srgbClr val="202124"/>
                </a:solidFill>
                <a:latin typeface="Quicksand" pitchFamily="34" charset="0"/>
                <a:ea typeface="Quicksand" pitchFamily="34" charset="-122"/>
                <a:cs typeface="Quicksand" pitchFamily="34" charset="-120"/>
              </a:rPr>
              <a:t>Store facts and rules</a:t>
            </a:r>
            <a:endParaRPr lang="en-US" sz="1800" dirty="0"/>
          </a:p>
        </p:txBody>
      </p:sp>
      <p:sp>
        <p:nvSpPr>
          <p:cNvPr id="14" name="Text 11"/>
          <p:cNvSpPr txBox="1"/>
          <p:nvPr/>
        </p:nvSpPr>
        <p:spPr>
          <a:xfrm>
            <a:off x="1389888" y="2971800"/>
            <a:ext cx="9829800" cy="25603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Create the knowledge base and rules base.</a:t>
            </a:r>
            <a:endParaRPr lang="en-US" sz="1500" dirty="0"/>
          </a:p>
        </p:txBody>
      </p:sp>
      <p:sp>
        <p:nvSpPr>
          <p:cNvPr id="15" name="Shape 12"/>
          <p:cNvSpPr/>
          <p:nvPr/>
        </p:nvSpPr>
        <p:spPr>
          <a:xfrm>
            <a:off x="731520" y="3429000"/>
            <a:ext cx="10607040" cy="822960"/>
          </a:xfrm>
          <a:prstGeom prst="rect">
            <a:avLst/>
          </a:prstGeom>
          <a:solidFill>
            <a:srgbClr val="F6F5FC"/>
          </a:solidFill>
          <a:ln w="12700">
            <a:solidFill>
              <a:srgbClr val="F6F5FC"/>
            </a:solidFill>
            <a:prstDash val="solid"/>
          </a:ln>
        </p:spPr>
      </p:sp>
      <p:sp>
        <p:nvSpPr>
          <p:cNvPr id="16" name="Text 13"/>
          <p:cNvSpPr/>
          <p:nvPr/>
        </p:nvSpPr>
        <p:spPr>
          <a:xfrm>
            <a:off x="868680" y="3566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389888" y="3538728"/>
            <a:ext cx="9829800" cy="411480"/>
          </a:xfrm>
          <a:prstGeom prst="rect">
            <a:avLst/>
          </a:prstGeom>
          <a:noFill/>
          <a:ln/>
        </p:spPr>
        <p:txBody>
          <a:bodyPr wrap="square" lIns="0" tIns="0" rIns="0" bIns="0" rtlCol="0" anchor="ctr"/>
          <a:lstStyle/>
          <a:p>
            <a:pPr indent="0" marL="0">
              <a:buNone/>
            </a:pPr>
            <a:r>
              <a:rPr lang="en-US" sz="1800" b="1" dirty="0">
                <a:solidFill>
                  <a:srgbClr val="202124"/>
                </a:solidFill>
                <a:latin typeface="Quicksand" pitchFamily="34" charset="0"/>
                <a:ea typeface="Quicksand" pitchFamily="34" charset="-122"/>
                <a:cs typeface="Quicksand" pitchFamily="34" charset="-120"/>
              </a:rPr>
              <a:t>Connect the engine and interface</a:t>
            </a:r>
            <a:endParaRPr lang="en-US" sz="1800" dirty="0"/>
          </a:p>
        </p:txBody>
      </p:sp>
      <p:sp>
        <p:nvSpPr>
          <p:cNvPr id="18" name="Text 15"/>
          <p:cNvSpPr txBox="1"/>
          <p:nvPr/>
        </p:nvSpPr>
        <p:spPr>
          <a:xfrm>
            <a:off x="1389888" y="3931920"/>
            <a:ext cx="9829800" cy="25603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Ask useful questions and display advice.</a:t>
            </a:r>
            <a:endParaRPr lang="en-US" sz="1500" dirty="0"/>
          </a:p>
        </p:txBody>
      </p:sp>
      <p:sp>
        <p:nvSpPr>
          <p:cNvPr id="19" name="Shape 16"/>
          <p:cNvSpPr/>
          <p:nvPr/>
        </p:nvSpPr>
        <p:spPr>
          <a:xfrm>
            <a:off x="731520" y="4389120"/>
            <a:ext cx="10607040" cy="822960"/>
          </a:xfrm>
          <a:prstGeom prst="rect">
            <a:avLst/>
          </a:prstGeom>
          <a:solidFill>
            <a:srgbClr val="F6F5FC"/>
          </a:solidFill>
          <a:ln w="12700">
            <a:solidFill>
              <a:srgbClr val="F6F5FC"/>
            </a:solidFill>
            <a:prstDash val="solid"/>
          </a:ln>
        </p:spPr>
      </p:sp>
      <p:sp>
        <p:nvSpPr>
          <p:cNvPr id="20" name="Text 17"/>
          <p:cNvSpPr/>
          <p:nvPr/>
        </p:nvSpPr>
        <p:spPr>
          <a:xfrm>
            <a:off x="868680" y="4526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1389888" y="4498848"/>
            <a:ext cx="9829800" cy="411480"/>
          </a:xfrm>
          <a:prstGeom prst="rect">
            <a:avLst/>
          </a:prstGeom>
          <a:noFill/>
          <a:ln/>
        </p:spPr>
        <p:txBody>
          <a:bodyPr wrap="square" lIns="0" tIns="0" rIns="0" bIns="0" rtlCol="0" anchor="ctr"/>
          <a:lstStyle/>
          <a:p>
            <a:pPr indent="0" marL="0">
              <a:buNone/>
            </a:pPr>
            <a:r>
              <a:rPr lang="en-US" sz="1800" b="1" dirty="0">
                <a:solidFill>
                  <a:srgbClr val="202124"/>
                </a:solidFill>
                <a:latin typeface="Quicksand" pitchFamily="34" charset="0"/>
                <a:ea typeface="Quicksand" pitchFamily="34" charset="-122"/>
                <a:cs typeface="Quicksand" pitchFamily="34" charset="-120"/>
              </a:rPr>
              <a:t>Test known cases</a:t>
            </a:r>
            <a:endParaRPr lang="en-US" sz="1800" dirty="0"/>
          </a:p>
        </p:txBody>
      </p:sp>
      <p:sp>
        <p:nvSpPr>
          <p:cNvPr id="22" name="Text 19"/>
          <p:cNvSpPr txBox="1"/>
          <p:nvPr/>
        </p:nvSpPr>
        <p:spPr>
          <a:xfrm>
            <a:off x="1389888" y="4892040"/>
            <a:ext cx="9829800" cy="25603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Compare outputs with agreed expert conclusions.</a:t>
            </a:r>
            <a:endParaRPr lang="en-US" sz="1500" dirty="0"/>
          </a:p>
        </p:txBody>
      </p:sp>
      <p:sp>
        <p:nvSpPr>
          <p:cNvPr id="23" name="Text 20"/>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If known cases give incorrect advice, correct the facts or rules and retest.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Benefits need a matching limit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789920" cy="914400"/>
        </p:xfrm>
        <a:graphic>
          <a:graphicData uri="http://schemas.openxmlformats.org/drawingml/2006/table">
            <a:tbl>
              <a:tblPr/>
              <a:tblGrid>
                <a:gridCol w="5394960"/>
                <a:gridCol w="5394960"/>
              </a:tblGrid>
              <a:tr h="777240">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Potential benefit</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Why checking still matters</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Consistent use of stored rules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 consistently wrong rule gives consistently wrong advice.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Available when an expert is not</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Unusual cases may not be covered by the knowledge.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Fast access to specialist knowledge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Incorrect input can lead to the wrong conclusion.</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Knowledge shared across locations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Experts must maintain and update facts and rules.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Machine learning: learn a pattern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685800" y="173736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Training examples</a:t>
            </a:r>
            <a:endParaRPr lang="en-US" sz="2000" dirty="0"/>
          </a:p>
        </p:txBody>
      </p:sp>
      <p:sp>
        <p:nvSpPr>
          <p:cNvPr id="9" name="Text 6"/>
          <p:cNvSpPr txBox="1"/>
          <p:nvPr/>
        </p:nvSpPr>
        <p:spPr>
          <a:xfrm>
            <a:off x="86868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Past emails labelled spam or legitimate.</a:t>
            </a:r>
            <a:endParaRPr lang="en-US" sz="1600" dirty="0"/>
          </a:p>
        </p:txBody>
      </p:sp>
      <p:sp>
        <p:nvSpPr>
          <p:cNvPr id="10" name="Shape 7"/>
          <p:cNvSpPr/>
          <p:nvPr/>
        </p:nvSpPr>
        <p:spPr>
          <a:xfrm>
            <a:off x="4114800" y="2560320"/>
            <a:ext cx="301752" cy="914"/>
          </a:xfrm>
          <a:prstGeom prst="line">
            <a:avLst/>
          </a:prstGeom>
          <a:noFill/>
          <a:ln w="25400">
            <a:solidFill>
              <a:srgbClr val="494985"/>
            </a:solidFill>
            <a:prstDash val="solid"/>
            <a:tailEnd type="triangle"/>
          </a:ln>
        </p:spPr>
      </p:sp>
      <p:sp>
        <p:nvSpPr>
          <p:cNvPr id="11" name="Shape 8"/>
          <p:cNvSpPr/>
          <p:nvPr/>
        </p:nvSpPr>
        <p:spPr>
          <a:xfrm>
            <a:off x="4434840" y="1737360"/>
            <a:ext cx="3337560" cy="1920240"/>
          </a:xfrm>
          <a:prstGeom prst="roundRect">
            <a:avLst>
              <a:gd name="adj" fmla="val 5714"/>
            </a:avLst>
          </a:prstGeom>
          <a:solidFill>
            <a:srgbClr val="F6F5FC"/>
          </a:solidFill>
          <a:ln w="12700">
            <a:solidFill>
              <a:srgbClr val="E1E0EF"/>
            </a:solidFill>
            <a:prstDash val="solid"/>
          </a:ln>
        </p:spPr>
      </p:sp>
      <p:sp>
        <p:nvSpPr>
          <p:cNvPr id="12" name="Text 9"/>
          <p:cNvSpPr txBox="1"/>
          <p:nvPr/>
        </p:nvSpPr>
        <p:spPr>
          <a:xfrm>
            <a:off x="461772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Learned model</a:t>
            </a:r>
            <a:endParaRPr lang="en-US" sz="2000" dirty="0"/>
          </a:p>
        </p:txBody>
      </p:sp>
      <p:sp>
        <p:nvSpPr>
          <p:cNvPr id="13" name="Text 10"/>
          <p:cNvSpPr txBox="1"/>
          <p:nvPr/>
        </p:nvSpPr>
        <p:spPr>
          <a:xfrm>
            <a:off x="461772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Finds useful patterns across the examples.</a:t>
            </a:r>
            <a:endParaRPr lang="en-US" sz="1600" dirty="0"/>
          </a:p>
        </p:txBody>
      </p:sp>
      <p:sp>
        <p:nvSpPr>
          <p:cNvPr id="14" name="Shape 11"/>
          <p:cNvSpPr/>
          <p:nvPr/>
        </p:nvSpPr>
        <p:spPr>
          <a:xfrm>
            <a:off x="7863840" y="2560320"/>
            <a:ext cx="292608" cy="914"/>
          </a:xfrm>
          <a:prstGeom prst="line">
            <a:avLst/>
          </a:prstGeom>
          <a:noFill/>
          <a:ln w="25400">
            <a:solidFill>
              <a:srgbClr val="494985"/>
            </a:solidFill>
            <a:prstDash val="solid"/>
            <a:tailEnd type="triangle"/>
          </a:ln>
        </p:spPr>
      </p:sp>
      <p:sp>
        <p:nvSpPr>
          <p:cNvPr id="15" name="Shape 12"/>
          <p:cNvSpPr/>
          <p:nvPr/>
        </p:nvSpPr>
        <p:spPr>
          <a:xfrm>
            <a:off x="8183880" y="1737360"/>
            <a:ext cx="3337560" cy="1920240"/>
          </a:xfrm>
          <a:prstGeom prst="roundRect">
            <a:avLst>
              <a:gd name="adj" fmla="val 5714"/>
            </a:avLst>
          </a:prstGeom>
          <a:solidFill>
            <a:srgbClr val="F6F5FC"/>
          </a:solidFill>
          <a:ln w="12700">
            <a:solidFill>
              <a:srgbClr val="E1E0EF"/>
            </a:solidFill>
            <a:prstDash val="solid"/>
          </a:ln>
        </p:spPr>
      </p:sp>
      <p:sp>
        <p:nvSpPr>
          <p:cNvPr id="16" name="Text 13"/>
          <p:cNvSpPr txBox="1"/>
          <p:nvPr/>
        </p:nvSpPr>
        <p:spPr>
          <a:xfrm>
            <a:off x="836676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Unseen email</a:t>
            </a:r>
            <a:endParaRPr lang="en-US" sz="2000" dirty="0"/>
          </a:p>
        </p:txBody>
      </p:sp>
      <p:sp>
        <p:nvSpPr>
          <p:cNvPr id="17" name="Text 14"/>
          <p:cNvSpPr txBox="1"/>
          <p:nvPr/>
        </p:nvSpPr>
        <p:spPr>
          <a:xfrm>
            <a:off x="836676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Predicts a class for a message it has not seen.</a:t>
            </a:r>
            <a:endParaRPr lang="en-US" sz="1600" dirty="0"/>
          </a:p>
        </p:txBody>
      </p:sp>
      <p:sp>
        <p:nvSpPr>
          <p:cNvPr id="18" name="Text 15"/>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It learns from examples. It does not need a separate hand-written rule for every email.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Training is not the final test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10789920" cy="914400"/>
        </p:xfrm>
        <a:graphic>
          <a:graphicData uri="http://schemas.openxmlformats.org/drawingml/2006/table">
            <a:tbl>
              <a:tblPr/>
              <a:tblGrid>
                <a:gridCol w="3291840"/>
                <a:gridCol w="7498080"/>
              </a:tblGrid>
              <a:tr h="777240">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Stage</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Email-filter example</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Collect and prepare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Examples from many senders; correct labels; useful email features.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Train</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Learn patterns linking email content to spam / legitimate labels.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Evaluate separately</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Predict labels of held-out emails and compare with known labels.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Improve and deploy</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Correct data/model problems, then evaluate again before use.</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good score on remembered examples does not prove good predictions on new data.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Errors have real consequences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789920" cy="914400"/>
        </p:xfrm>
        <a:graphic>
          <a:graphicData uri="http://schemas.openxmlformats.org/drawingml/2006/table">
            <a:tbl>
              <a:tblPr/>
              <a:tblGrid>
                <a:gridCol w="3474720"/>
                <a:gridCol w="2651760"/>
                <a:gridCol w="4663440"/>
              </a:tblGrid>
              <a:tr h="1005840">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Actual email</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Prediction</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What happens?</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100584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Legitimate homework email</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Spam</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Student misses an important message.</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100584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Spam message</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Legitimate</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Unwanted or harmful message reaches the inbox.</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914400" y="4480560"/>
            <a:ext cx="10241280" cy="1005840"/>
          </a:xfrm>
          <a:prstGeom prst="roundRect">
            <a:avLst>
              <a:gd name="adj" fmla="val 10909"/>
            </a:avLst>
          </a:prstGeom>
          <a:solidFill>
            <a:srgbClr val="F6F5FC"/>
          </a:solidFill>
          <a:ln w="12700">
            <a:solidFill>
              <a:srgbClr val="E1E0EF"/>
            </a:solidFill>
            <a:prstDash val="solid"/>
          </a:ln>
        </p:spPr>
      </p:sp>
      <p:sp>
        <p:nvSpPr>
          <p:cNvPr id="9" name="Text 5"/>
          <p:cNvSpPr txBox="1"/>
          <p:nvPr/>
        </p:nvSpPr>
        <p:spPr>
          <a:xfrm>
            <a:off x="1097280" y="4617720"/>
            <a:ext cx="2743200" cy="777240"/>
          </a:xfrm>
          <a:prstGeom prst="rect">
            <a:avLst/>
          </a:prstGeom>
          <a:noFill/>
          <a:ln/>
        </p:spPr>
        <p:txBody>
          <a:bodyPr wrap="square" lIns="0" tIns="0" rIns="0" bIns="0" rtlCol="0" anchor="t"/>
          <a:lstStyle/>
          <a:p>
            <a:pPr indent="0" marL="0">
              <a:spcAft>
                <a:spcPts val="600"/>
              </a:spcAft>
              <a:buNone/>
            </a:pPr>
            <a:r>
              <a:rPr lang="en-US" sz="1700" b="1" dirty="0">
                <a:solidFill>
                  <a:srgbClr val="494985"/>
                </a:solidFill>
                <a:latin typeface="Quicksand" pitchFamily="34" charset="0"/>
                <a:ea typeface="Quicksand" pitchFamily="34" charset="-122"/>
                <a:cs typeface="Quicksand" pitchFamily="34" charset="-120"/>
              </a:rPr>
              <a:t>Improve the evidence</a:t>
            </a:r>
            <a:endParaRPr lang="en-US" sz="1700" dirty="0"/>
          </a:p>
        </p:txBody>
      </p:sp>
      <p:sp>
        <p:nvSpPr>
          <p:cNvPr id="10" name="Text 6"/>
          <p:cNvSpPr txBox="1"/>
          <p:nvPr/>
        </p:nvSpPr>
        <p:spPr>
          <a:xfrm>
            <a:off x="4191610" y="4617720"/>
            <a:ext cx="6576365" cy="77724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Use accurate labels and varied, representative examples.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Data quality changes predictions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a:off x="685800" y="173736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Too narrow</a:t>
            </a:r>
            <a:endParaRPr lang="en-US" sz="2000" dirty="0"/>
          </a:p>
        </p:txBody>
      </p:sp>
      <p:sp>
        <p:nvSpPr>
          <p:cNvPr id="9" name="Text 6"/>
          <p:cNvSpPr txBox="1"/>
          <p:nvPr/>
        </p:nvSpPr>
        <p:spPr>
          <a:xfrm>
            <a:off x="86868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All training photos have bright, plain backgrounds.</a:t>
            </a:r>
            <a:endParaRPr lang="en-US" sz="1600" dirty="0"/>
          </a:p>
        </p:txBody>
      </p:sp>
      <p:sp>
        <p:nvSpPr>
          <p:cNvPr id="10" name="Shape 7"/>
          <p:cNvSpPr/>
          <p:nvPr/>
        </p:nvSpPr>
        <p:spPr>
          <a:xfrm>
            <a:off x="4434840" y="1737360"/>
            <a:ext cx="3337560" cy="1920240"/>
          </a:xfrm>
          <a:prstGeom prst="roundRect">
            <a:avLst>
              <a:gd name="adj" fmla="val 5714"/>
            </a:avLst>
          </a:prstGeom>
          <a:solidFill>
            <a:srgbClr val="F6F5FC"/>
          </a:solidFill>
          <a:ln w="12700">
            <a:solidFill>
              <a:srgbClr val="E1E0EF"/>
            </a:solidFill>
            <a:prstDash val="solid"/>
          </a:ln>
        </p:spPr>
      </p:sp>
      <p:sp>
        <p:nvSpPr>
          <p:cNvPr id="11" name="Text 8"/>
          <p:cNvSpPr txBox="1"/>
          <p:nvPr/>
        </p:nvSpPr>
        <p:spPr>
          <a:xfrm>
            <a:off x="461772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Wrong labels</a:t>
            </a:r>
            <a:endParaRPr lang="en-US" sz="2000" dirty="0"/>
          </a:p>
        </p:txBody>
      </p:sp>
      <p:sp>
        <p:nvSpPr>
          <p:cNvPr id="12" name="Text 9"/>
          <p:cNvSpPr txBox="1"/>
          <p:nvPr/>
        </p:nvSpPr>
        <p:spPr>
          <a:xfrm>
            <a:off x="461772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Some examples are labelled as the wrong class.</a:t>
            </a:r>
            <a:endParaRPr lang="en-US" sz="1600" dirty="0"/>
          </a:p>
        </p:txBody>
      </p:sp>
      <p:sp>
        <p:nvSpPr>
          <p:cNvPr id="13" name="Shape 10"/>
          <p:cNvSpPr/>
          <p:nvPr/>
        </p:nvSpPr>
        <p:spPr>
          <a:xfrm>
            <a:off x="8183880" y="1737360"/>
            <a:ext cx="3337560" cy="1920240"/>
          </a:xfrm>
          <a:prstGeom prst="roundRect">
            <a:avLst>
              <a:gd name="adj" fmla="val 5714"/>
            </a:avLst>
          </a:prstGeom>
          <a:solidFill>
            <a:srgbClr val="F6F5FC"/>
          </a:solidFill>
          <a:ln w="12700">
            <a:solidFill>
              <a:srgbClr val="E1E0EF"/>
            </a:solidFill>
            <a:prstDash val="solid"/>
          </a:ln>
        </p:spPr>
      </p:sp>
      <p:sp>
        <p:nvSpPr>
          <p:cNvPr id="14" name="Text 11"/>
          <p:cNvSpPr txBox="1"/>
          <p:nvPr/>
        </p:nvSpPr>
        <p:spPr>
          <a:xfrm>
            <a:off x="836676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Changed conditions</a:t>
            </a:r>
            <a:endParaRPr lang="en-US" sz="2000" dirty="0"/>
          </a:p>
        </p:txBody>
      </p:sp>
      <p:sp>
        <p:nvSpPr>
          <p:cNvPr id="15" name="Text 12"/>
          <p:cNvSpPr txBox="1"/>
          <p:nvPr/>
        </p:nvSpPr>
        <p:spPr>
          <a:xfrm>
            <a:off x="836676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New photos are dark or partly obstructed.</a:t>
            </a:r>
            <a:endParaRPr lang="en-US" sz="1600" dirty="0"/>
          </a:p>
        </p:txBody>
      </p:sp>
      <p:sp>
        <p:nvSpPr>
          <p:cNvPr id="16" name="Text 13"/>
          <p:cNvSpPr txBox="1"/>
          <p:nvPr/>
        </p:nvSpPr>
        <p:spPr>
          <a:xfrm>
            <a:off x="777240" y="4389120"/>
            <a:ext cx="10515600" cy="1005840"/>
          </a:xfrm>
          <a:prstGeom prst="rect">
            <a:avLst/>
          </a:prstGeom>
          <a:noFill/>
          <a:ln/>
        </p:spPr>
        <p:txBody>
          <a:bodyPr wrap="square" lIns="0" tIns="0" rIns="0" bIns="0" rtlCol="0" anchor="t"/>
          <a:lstStyle/>
          <a:p>
            <a:pPr indent="0" marL="0">
              <a:spcAft>
                <a:spcPts val="600"/>
              </a:spcAft>
              <a:buNone/>
            </a:pPr>
            <a:r>
              <a:rPr lang="en-US" sz="2200" dirty="0">
                <a:solidFill>
                  <a:srgbClr val="202124"/>
                </a:solidFill>
                <a:latin typeface="Quicksand" pitchFamily="34" charset="0"/>
                <a:ea typeface="Quicksand" pitchFamily="34" charset="-122"/>
                <a:cs typeface="Quicksand" pitchFamily="34" charset="-120"/>
              </a:rPr>
              <a:t>Predict the effect. Then suggest a specific improvement to the training or testing.</a:t>
            </a:r>
            <a:endParaRPr lang="en-US" sz="2200" dirty="0"/>
          </a:p>
        </p:txBody>
      </p:sp>
      <p:sp>
        <p:nvSpPr>
          <p:cNvPr id="17" name="Text 14"/>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Now do Task 5. Explain how a model can be useful without being infallible.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Rules or learned patterns?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Compare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10789920" cy="914400"/>
        </p:xfrm>
        <a:graphic>
          <a:graphicData uri="http://schemas.openxmlformats.org/drawingml/2006/table">
            <a:tbl>
              <a:tblPr/>
              <a:tblGrid>
                <a:gridCol w="3200400"/>
                <a:gridCol w="3794760"/>
                <a:gridCol w="3794760"/>
              </a:tblGrid>
              <a:tr h="786384">
                <a:tc>
                  <a:txBody>
                    <a:bodyPr/>
                    <a:lstStyle/>
                    <a:p>
                      <a:pPr indent="0" marL="0">
                        <a:buNone/>
                      </a:pPr>
                      <a:r>
                        <a:rPr lang="en-US" sz="1600" b="1" dirty="0">
                          <a:solidFill>
                            <a:srgbClr val="FFFFFF"/>
                          </a:solidFill>
                          <a:latin typeface="Quicksand" pitchFamily="34" charset="0"/>
                          <a:ea typeface="Quicksand" pitchFamily="34" charset="-122"/>
                          <a:cs typeface="Quicksand" pitchFamily="34" charset="-120"/>
                        </a:rPr>
                        <a:t>Question</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00" b="1" dirty="0">
                          <a:solidFill>
                            <a:srgbClr val="FFFFFF"/>
                          </a:solidFill>
                          <a:latin typeface="Quicksand" pitchFamily="34" charset="0"/>
                          <a:ea typeface="Quicksand" pitchFamily="34" charset="-122"/>
                          <a:cs typeface="Quicksand" pitchFamily="34" charset="-120"/>
                        </a:rPr>
                        <a:t>Rule-based expert system</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00" b="1" dirty="0">
                          <a:solidFill>
                            <a:srgbClr val="FFFFFF"/>
                          </a:solidFill>
                          <a:latin typeface="Quicksand" pitchFamily="34" charset="0"/>
                          <a:ea typeface="Quicksand" pitchFamily="34" charset="-122"/>
                          <a:cs typeface="Quicksand" pitchFamily="34" charset="-120"/>
                        </a:rPr>
                        <a:t>Machine learning</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86384">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Where does its knowledge come from?</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Experts supply facts and rules.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Algorithms learn patterns from examples.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86384">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How is a decision reached?</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Engine applies stored rules to facts.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Model predicts using learned patterns.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86384">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How can it improve?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Experts update facts/rules and test.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Improve data/training; evaluate again.</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86384">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What can go wrong?</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Missing rules or incorrect input.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50" dirty="0">
                          <a:solidFill>
                            <a:srgbClr val="202124"/>
                          </a:solidFill>
                          <a:latin typeface="Quicksand" pitchFamily="34" charset="0"/>
                          <a:ea typeface="Quicksand" pitchFamily="34" charset="-122"/>
                          <a:cs typeface="Quicksand" pitchFamily="34" charset="-120"/>
                        </a:rPr>
                        <a:t>Poor data or unfamiliar examples.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technique: explain the link</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Exam-style practice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sp>
        <p:nvSpPr>
          <p:cNvPr id="7" name="Shape 4"/>
          <p:cNvSpPr/>
          <p:nvPr/>
        </p:nvSpPr>
        <p:spPr>
          <a:xfrm>
            <a:off x="685800" y="1737360"/>
            <a:ext cx="3337560" cy="1920240"/>
          </a:xfrm>
          <a:prstGeom prst="roundRect">
            <a:avLst>
              <a:gd name="adj" fmla="val 5714"/>
            </a:avLst>
          </a:prstGeom>
          <a:solidFill>
            <a:srgbClr val="F6F5FC"/>
          </a:solidFill>
          <a:ln w="12700">
            <a:solidFill>
              <a:srgbClr val="E1E0EF"/>
            </a:solidFill>
            <a:prstDash val="solid"/>
          </a:ln>
        </p:spPr>
      </p:sp>
      <p:sp>
        <p:nvSpPr>
          <p:cNvPr id="8" name="Text 5"/>
          <p:cNvSpPr txBox="1"/>
          <p:nvPr/>
        </p:nvSpPr>
        <p:spPr>
          <a:xfrm>
            <a:off x="86868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Name the mechanism</a:t>
            </a:r>
            <a:endParaRPr lang="en-US" sz="2000" dirty="0"/>
          </a:p>
        </p:txBody>
      </p:sp>
      <p:sp>
        <p:nvSpPr>
          <p:cNvPr id="9" name="Text 6"/>
          <p:cNvSpPr txBox="1"/>
          <p:nvPr/>
        </p:nvSpPr>
        <p:spPr>
          <a:xfrm>
            <a:off x="86868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Stored expert rules are applied consistently.</a:t>
            </a:r>
            <a:endParaRPr lang="en-US" sz="1600" dirty="0"/>
          </a:p>
        </p:txBody>
      </p:sp>
      <p:sp>
        <p:nvSpPr>
          <p:cNvPr id="10" name="Shape 7"/>
          <p:cNvSpPr/>
          <p:nvPr/>
        </p:nvSpPr>
        <p:spPr>
          <a:xfrm>
            <a:off x="4434840" y="1737360"/>
            <a:ext cx="3337560" cy="1920240"/>
          </a:xfrm>
          <a:prstGeom prst="roundRect">
            <a:avLst>
              <a:gd name="adj" fmla="val 5714"/>
            </a:avLst>
          </a:prstGeom>
          <a:solidFill>
            <a:srgbClr val="F6F5FC"/>
          </a:solidFill>
          <a:ln w="12700">
            <a:solidFill>
              <a:srgbClr val="E1E0EF"/>
            </a:solidFill>
            <a:prstDash val="solid"/>
          </a:ln>
        </p:spPr>
      </p:sp>
      <p:sp>
        <p:nvSpPr>
          <p:cNvPr id="11" name="Text 8"/>
          <p:cNvSpPr txBox="1"/>
          <p:nvPr/>
        </p:nvSpPr>
        <p:spPr>
          <a:xfrm>
            <a:off x="461772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Apply to the scenario</a:t>
            </a:r>
            <a:endParaRPr lang="en-US" sz="2000" dirty="0"/>
          </a:p>
        </p:txBody>
      </p:sp>
      <p:sp>
        <p:nvSpPr>
          <p:cNvPr id="12" name="Text 9"/>
          <p:cNvSpPr txBox="1"/>
          <p:nvPr/>
        </p:nvSpPr>
        <p:spPr>
          <a:xfrm>
            <a:off x="461772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Different technicians receive the same advice for the same printer evidence.</a:t>
            </a:r>
            <a:endParaRPr lang="en-US" sz="1600" dirty="0"/>
          </a:p>
        </p:txBody>
      </p:sp>
      <p:sp>
        <p:nvSpPr>
          <p:cNvPr id="13" name="Shape 10"/>
          <p:cNvSpPr/>
          <p:nvPr/>
        </p:nvSpPr>
        <p:spPr>
          <a:xfrm>
            <a:off x="8183880" y="1737360"/>
            <a:ext cx="3337560" cy="1920240"/>
          </a:xfrm>
          <a:prstGeom prst="roundRect">
            <a:avLst>
              <a:gd name="adj" fmla="val 5714"/>
            </a:avLst>
          </a:prstGeom>
          <a:solidFill>
            <a:srgbClr val="F6F5FC"/>
          </a:solidFill>
          <a:ln w="12700">
            <a:solidFill>
              <a:srgbClr val="E1E0EF"/>
            </a:solidFill>
            <a:prstDash val="solid"/>
          </a:ln>
        </p:spPr>
      </p:sp>
      <p:sp>
        <p:nvSpPr>
          <p:cNvPr id="14" name="Text 11"/>
          <p:cNvSpPr txBox="1"/>
          <p:nvPr/>
        </p:nvSpPr>
        <p:spPr>
          <a:xfrm>
            <a:off x="8366760" y="1901952"/>
            <a:ext cx="2971800" cy="548640"/>
          </a:xfrm>
          <a:prstGeom prst="rect">
            <a:avLst/>
          </a:prstGeom>
          <a:noFill/>
          <a:ln/>
        </p:spPr>
        <p:txBody>
          <a:bodyPr wrap="square" lIns="0" tIns="0" rIns="0" bIns="0" rtlCol="0" anchor="t"/>
          <a:lstStyle/>
          <a:p>
            <a:pPr indent="0" marL="0">
              <a:spcAft>
                <a:spcPts val="600"/>
              </a:spcAft>
              <a:buNone/>
            </a:pPr>
            <a:r>
              <a:rPr lang="en-US" sz="2000" b="1" dirty="0">
                <a:solidFill>
                  <a:srgbClr val="494985"/>
                </a:solidFill>
                <a:latin typeface="Quicksand" pitchFamily="34" charset="0"/>
                <a:ea typeface="Quicksand" pitchFamily="34" charset="-122"/>
                <a:cs typeface="Quicksand" pitchFamily="34" charset="-120"/>
              </a:rPr>
              <a:t>Recognise a limit</a:t>
            </a:r>
            <a:endParaRPr lang="en-US" sz="2000" dirty="0"/>
          </a:p>
        </p:txBody>
      </p:sp>
      <p:sp>
        <p:nvSpPr>
          <p:cNvPr id="15" name="Text 12"/>
          <p:cNvSpPr txBox="1"/>
          <p:nvPr/>
        </p:nvSpPr>
        <p:spPr>
          <a:xfrm>
            <a:off x="8366760" y="2514600"/>
            <a:ext cx="2971800" cy="10515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A missing rule may prevent the system handling a new printer fault.</a:t>
            </a:r>
            <a:endParaRPr lang="en-US" sz="1600" dirty="0"/>
          </a:p>
        </p:txBody>
      </p:sp>
      <p:sp>
        <p:nvSpPr>
          <p:cNvPr id="16" name="Text 13"/>
          <p:cNvSpPr txBox="1"/>
          <p:nvPr/>
        </p:nvSpPr>
        <p:spPr>
          <a:xfrm>
            <a:off x="685800" y="5623560"/>
            <a:ext cx="10698480" cy="438912"/>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“It is better” or “it is smarter” is not an explanation.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Choose, justify, challenge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Task 6 · extension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5029200"/>
                <a:gridCol w="5760720"/>
              </a:tblGrid>
              <a:tr h="1005840">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Scenario</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850" b="1" dirty="0">
                          <a:solidFill>
                            <a:srgbClr val="FFFFFF"/>
                          </a:solidFill>
                          <a:latin typeface="Quicksand" pitchFamily="34" charset="0"/>
                          <a:ea typeface="Quicksand" pitchFamily="34" charset="-122"/>
                          <a:cs typeface="Quicksand" pitchFamily="34" charset="-120"/>
                        </a:rPr>
                        <a:t>Questions to ask</a:t>
                      </a:r>
                      <a:endParaRPr lang="en-US" sz="18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100584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Library fines under a fixed published policy</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Can the knowledge be written as clear rules?</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1005840">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Sorting mixed waste from camera images</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800" dirty="0">
                          <a:solidFill>
                            <a:srgbClr val="202124"/>
                          </a:solidFill>
                          <a:latin typeface="Quicksand" pitchFamily="34" charset="0"/>
                          <a:ea typeface="Quicksand" pitchFamily="34" charset="-122"/>
                          <a:cs typeface="Quicksand" pitchFamily="34" charset="-120"/>
                        </a:rPr>
                        <a:t>Do examples reveal patterns too complex to list?</a:t>
                      </a:r>
                      <a:endParaRPr lang="en-US" sz="18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22960" y="5166360"/>
            <a:ext cx="10424160" cy="777240"/>
          </a:xfrm>
          <a:prstGeom prst="rect">
            <a:avLst/>
          </a:prstGeom>
          <a:noFill/>
          <a:ln/>
        </p:spPr>
        <p:txBody>
          <a:bodyPr wrap="square" lIns="0" tIns="0" rIns="0" bIns="0" rtlCol="0" anchor="t"/>
          <a:lstStyle/>
          <a:p>
            <a:pPr indent="0" marL="0">
              <a:spcAft>
                <a:spcPts val="600"/>
              </a:spcAft>
              <a:buNone/>
            </a:pPr>
            <a:r>
              <a:rPr lang="en-US" sz="2400" b="1" dirty="0">
                <a:solidFill>
                  <a:srgbClr val="494985"/>
                </a:solidFill>
                <a:latin typeface="Quicksand" pitchFamily="34" charset="0"/>
                <a:ea typeface="Quicksand" pitchFamily="34" charset="-122"/>
                <a:cs typeface="Quicksand" pitchFamily="34" charset="-120"/>
              </a:rPr>
              <a:t>Choose an approach. Explain why. Identify a failure. Suggest a safeguard.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Spot the misconception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789920" cy="914400"/>
        </p:xfrm>
        <a:graphic>
          <a:graphicData uri="http://schemas.openxmlformats.org/drawingml/2006/table">
            <a:tbl>
              <a:tblPr/>
              <a:tblGrid>
                <a:gridCol w="5852160"/>
                <a:gridCol w="4937760"/>
              </a:tblGrid>
              <a:tr h="822960">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Claim</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750" b="1" dirty="0">
                          <a:solidFill>
                            <a:srgbClr val="FFFFFF"/>
                          </a:solidFill>
                          <a:latin typeface="Quicksand" pitchFamily="34" charset="0"/>
                          <a:ea typeface="Quicksand" pitchFamily="34" charset="-122"/>
                          <a:cs typeface="Quicksand" pitchFamily="34" charset="-120"/>
                        </a:rPr>
                        <a:t>Your correction</a:t>
                      </a:r>
                      <a:endParaRPr lang="en-US" sz="17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82296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Every robot uses AI.</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Explain the difference between repeating and learning.</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82296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An expert system knows everything.</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Think about its domain and missing rules.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2296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 machine-learning prediction is always correct.</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Think about the input and training examples.</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822960">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AI and machine learning mean the same thing.</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02124"/>
                          </a:solidFill>
                          <a:latin typeface="Quicksand" pitchFamily="34" charset="0"/>
                          <a:ea typeface="Quicksand" pitchFamily="34" charset="-122"/>
                          <a:cs typeface="Quicksand" pitchFamily="34" charset="-120"/>
                        </a:rPr>
                        <a:t>Use the family diagram.</a:t>
                      </a:r>
                      <a:endParaRPr lang="en-US" sz="17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ticket: rules and learning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Exit · 3 min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Shape 4"/>
          <p:cNvSpPr/>
          <p:nvPr/>
        </p:nvSpPr>
        <p:spPr>
          <a:xfrm>
            <a:off x="777240" y="1645920"/>
            <a:ext cx="10424160" cy="1097280"/>
          </a:xfrm>
          <a:prstGeom prst="rect">
            <a:avLst/>
          </a:prstGeom>
          <a:solidFill>
            <a:srgbClr val="F6F5FC"/>
          </a:solidFill>
          <a:ln w="12700">
            <a:solidFill>
              <a:srgbClr val="F6F5FC"/>
            </a:solidFill>
            <a:prstDash val="solid"/>
          </a:ln>
        </p:spPr>
      </p:sp>
      <p:sp>
        <p:nvSpPr>
          <p:cNvPr id="8" name="Text 5"/>
          <p:cNvSpPr/>
          <p:nvPr/>
        </p:nvSpPr>
        <p:spPr>
          <a:xfrm>
            <a:off x="914400" y="1783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435608" y="1755648"/>
            <a:ext cx="9646920" cy="411480"/>
          </a:xfrm>
          <a:prstGeom prst="rect">
            <a:avLst/>
          </a:prstGeom>
          <a:noFill/>
          <a:ln/>
        </p:spPr>
        <p:txBody>
          <a:bodyPr wrap="square" lIns="0" tIns="0" rIns="0" bIns="0" rtlCol="0" anchor="ctr"/>
          <a:lstStyle/>
          <a:p>
            <a:pPr indent="0" marL="0">
              <a:buNone/>
            </a:pPr>
            <a:r>
              <a:rPr lang="en-US" sz="2100" b="1" dirty="0">
                <a:solidFill>
                  <a:srgbClr val="202124"/>
                </a:solidFill>
                <a:latin typeface="Quicksand" pitchFamily="34" charset="0"/>
                <a:ea typeface="Quicksand" pitchFamily="34" charset="-122"/>
                <a:cs typeface="Quicksand" pitchFamily="34" charset="-120"/>
              </a:rPr>
              <a:t>Rule-based adviser</a:t>
            </a:r>
            <a:endParaRPr lang="en-US" sz="2100" dirty="0"/>
          </a:p>
        </p:txBody>
      </p:sp>
      <p:sp>
        <p:nvSpPr>
          <p:cNvPr id="10" name="Text 7"/>
          <p:cNvSpPr txBox="1"/>
          <p:nvPr/>
        </p:nvSpPr>
        <p:spPr>
          <a:xfrm>
            <a:off x="1435608" y="2148840"/>
            <a:ext cx="9646920" cy="530352"/>
          </a:xfrm>
          <a:prstGeom prst="rect">
            <a:avLst/>
          </a:prstGeom>
          <a:noFill/>
          <a:ln/>
        </p:spPr>
        <p:txBody>
          <a:bodyPr wrap="square" lIns="0" tIns="0" rIns="0" bIns="0" rtlCol="0" anchor="t"/>
          <a:lstStyle/>
          <a:p>
            <a:pPr indent="0" marL="0">
              <a:buNone/>
            </a:pPr>
            <a:r>
              <a:rPr lang="en-US" sz="1800" dirty="0">
                <a:solidFill>
                  <a:srgbClr val="202124"/>
                </a:solidFill>
                <a:latin typeface="Quicksand" pitchFamily="34" charset="0"/>
                <a:ea typeface="Quicksand" pitchFamily="34" charset="-122"/>
                <a:cs typeface="Quicksand" pitchFamily="34" charset="-120"/>
              </a:rPr>
              <a:t>Name the component that applies stored rules to the user’s facts.</a:t>
            </a:r>
            <a:endParaRPr lang="en-US" sz="1800" dirty="0"/>
          </a:p>
        </p:txBody>
      </p:sp>
      <p:sp>
        <p:nvSpPr>
          <p:cNvPr id="11" name="Shape 8"/>
          <p:cNvSpPr/>
          <p:nvPr/>
        </p:nvSpPr>
        <p:spPr>
          <a:xfrm>
            <a:off x="777240" y="3063240"/>
            <a:ext cx="10424160" cy="1097280"/>
          </a:xfrm>
          <a:prstGeom prst="rect">
            <a:avLst/>
          </a:prstGeom>
          <a:solidFill>
            <a:srgbClr val="F6F5FC"/>
          </a:solidFill>
          <a:ln w="12700">
            <a:solidFill>
              <a:srgbClr val="F6F5FC"/>
            </a:solidFill>
            <a:prstDash val="solid"/>
          </a:ln>
        </p:spPr>
      </p:sp>
      <p:sp>
        <p:nvSpPr>
          <p:cNvPr id="12" name="Text 9"/>
          <p:cNvSpPr/>
          <p:nvPr/>
        </p:nvSpPr>
        <p:spPr>
          <a:xfrm>
            <a:off x="914400" y="3200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435608" y="3172968"/>
            <a:ext cx="9646920" cy="411480"/>
          </a:xfrm>
          <a:prstGeom prst="rect">
            <a:avLst/>
          </a:prstGeom>
          <a:noFill/>
          <a:ln/>
        </p:spPr>
        <p:txBody>
          <a:bodyPr wrap="square" lIns="0" tIns="0" rIns="0" bIns="0" rtlCol="0" anchor="ctr"/>
          <a:lstStyle/>
          <a:p>
            <a:pPr indent="0" marL="0">
              <a:buNone/>
            </a:pPr>
            <a:r>
              <a:rPr lang="en-US" sz="2100" b="1" dirty="0">
                <a:solidFill>
                  <a:srgbClr val="202124"/>
                </a:solidFill>
                <a:latin typeface="Quicksand" pitchFamily="34" charset="0"/>
                <a:ea typeface="Quicksand" pitchFamily="34" charset="-122"/>
                <a:cs typeface="Quicksand" pitchFamily="34" charset="-120"/>
              </a:rPr>
              <a:t>Learning image classifier</a:t>
            </a:r>
            <a:endParaRPr lang="en-US" sz="2100" dirty="0"/>
          </a:p>
        </p:txBody>
      </p:sp>
      <p:sp>
        <p:nvSpPr>
          <p:cNvPr id="14" name="Text 11"/>
          <p:cNvSpPr txBox="1"/>
          <p:nvPr/>
        </p:nvSpPr>
        <p:spPr>
          <a:xfrm>
            <a:off x="1435608" y="3566160"/>
            <a:ext cx="9646920" cy="530352"/>
          </a:xfrm>
          <a:prstGeom prst="rect">
            <a:avLst/>
          </a:prstGeom>
          <a:noFill/>
          <a:ln/>
        </p:spPr>
        <p:txBody>
          <a:bodyPr wrap="square" lIns="0" tIns="0" rIns="0" bIns="0" rtlCol="0" anchor="t"/>
          <a:lstStyle/>
          <a:p>
            <a:pPr indent="0" marL="0">
              <a:buNone/>
            </a:pPr>
            <a:r>
              <a:rPr lang="en-US" sz="1800" dirty="0">
                <a:solidFill>
                  <a:srgbClr val="202124"/>
                </a:solidFill>
                <a:latin typeface="Quicksand" pitchFamily="34" charset="0"/>
                <a:ea typeface="Quicksand" pitchFamily="34" charset="-122"/>
                <a:cs typeface="Quicksand" pitchFamily="34" charset="-120"/>
              </a:rPr>
              <a:t>Explain how it can classify a photo it has never seen before.</a:t>
            </a:r>
            <a:endParaRPr lang="en-US" sz="1800" dirty="0"/>
          </a:p>
        </p:txBody>
      </p:sp>
      <p:sp>
        <p:nvSpPr>
          <p:cNvPr id="15" name="Shape 12"/>
          <p:cNvSpPr/>
          <p:nvPr/>
        </p:nvSpPr>
        <p:spPr>
          <a:xfrm>
            <a:off x="777240" y="4480560"/>
            <a:ext cx="10424160" cy="1097280"/>
          </a:xfrm>
          <a:prstGeom prst="rect">
            <a:avLst/>
          </a:prstGeom>
          <a:solidFill>
            <a:srgbClr val="F6F5FC"/>
          </a:solidFill>
          <a:ln w="12700">
            <a:solidFill>
              <a:srgbClr val="F6F5FC"/>
            </a:solidFill>
            <a:prstDash val="solid"/>
          </a:ln>
        </p:spPr>
      </p:sp>
      <p:sp>
        <p:nvSpPr>
          <p:cNvPr id="16" name="Text 13"/>
          <p:cNvSpPr/>
          <p:nvPr/>
        </p:nvSpPr>
        <p:spPr>
          <a:xfrm>
            <a:off x="914400" y="46177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435608" y="4590288"/>
            <a:ext cx="9646920" cy="411480"/>
          </a:xfrm>
          <a:prstGeom prst="rect">
            <a:avLst/>
          </a:prstGeom>
          <a:noFill/>
          <a:ln/>
        </p:spPr>
        <p:txBody>
          <a:bodyPr wrap="square" lIns="0" tIns="0" rIns="0" bIns="0" rtlCol="0" anchor="ctr"/>
          <a:lstStyle/>
          <a:p>
            <a:pPr indent="0" marL="0">
              <a:buNone/>
            </a:pPr>
            <a:r>
              <a:rPr lang="en-US" sz="2100" b="1" dirty="0">
                <a:solidFill>
                  <a:srgbClr val="202124"/>
                </a:solidFill>
                <a:latin typeface="Quicksand" pitchFamily="34" charset="0"/>
                <a:ea typeface="Quicksand" pitchFamily="34" charset="-122"/>
                <a:cs typeface="Quicksand" pitchFamily="34" charset="-120"/>
              </a:rPr>
              <a:t>Check before trusting</a:t>
            </a:r>
            <a:endParaRPr lang="en-US" sz="2100" dirty="0"/>
          </a:p>
        </p:txBody>
      </p:sp>
      <p:sp>
        <p:nvSpPr>
          <p:cNvPr id="18" name="Text 15"/>
          <p:cNvSpPr txBox="1"/>
          <p:nvPr/>
        </p:nvSpPr>
        <p:spPr>
          <a:xfrm>
            <a:off x="1435608" y="4983480"/>
            <a:ext cx="9646920" cy="530352"/>
          </a:xfrm>
          <a:prstGeom prst="rect">
            <a:avLst/>
          </a:prstGeom>
          <a:noFill/>
          <a:ln/>
        </p:spPr>
        <p:txBody>
          <a:bodyPr wrap="square" lIns="0" tIns="0" rIns="0" bIns="0" rtlCol="0" anchor="t"/>
          <a:lstStyle/>
          <a:p>
            <a:pPr indent="0" marL="0">
              <a:buNone/>
            </a:pPr>
            <a:r>
              <a:rPr lang="en-US" sz="1800" dirty="0">
                <a:solidFill>
                  <a:srgbClr val="202124"/>
                </a:solidFill>
                <a:latin typeface="Quicksand" pitchFamily="34" charset="0"/>
                <a:ea typeface="Quicksand" pitchFamily="34" charset="-122"/>
                <a:cs typeface="Quicksand" pitchFamily="34" charset="-120"/>
              </a:rPr>
              <a:t>Give one reason why either system may make a wrong decision.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subject>PptxGenJS Presentation</dc:subject>
  <dc:creator>PptxGenJS</dc:creator>
  <cp:lastModifiedBy>PptxGenJS</cp:lastModifiedBy>
  <cp:revision>1</cp:revision>
  <dcterms:created xsi:type="dcterms:W3CDTF">2026-10-11T16:20:52Z</dcterms:created>
  <dcterms:modified xsi:type="dcterms:W3CDTF">2026-10-11T16:20:52Z</dcterms:modified>
</cp:coreProperties>
</file>