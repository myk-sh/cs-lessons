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Lst>
  <p:notesMasterIdLst>
    <p:notesMasterId r:id="rId4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notesMaster" Target="notesMasters/notesMaster1.xml"/><Relationship Id="rId44" Type="http://schemas.openxmlformats.org/officeDocument/2006/relationships/presProps" Target="presProps.xml"/><Relationship Id="rId45" Type="http://schemas.openxmlformats.org/officeDocument/2006/relationships/viewProps" Target="viewProps.xml"/><Relationship Id="rId46" Type="http://schemas.openxmlformats.org/officeDocument/2006/relationships/theme" Target="theme/theme1.xml"/><Relationship Id="rId4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Start with the delivery scene. Ask what the robot would need to detect, decide and do. Do not introduce exam command words or mark allocations yet. Core concept lesson 45–50 minutes, selected exam practice 10–15 minutes; full bank is follow-up.
Teacher research: 21 Paper 1 papers and their published Cambridge mark schemes (2023–2025); 29 AI parts audited. Practice questions are adapted/paraphrased from the cited papers; official mark allocations retained. Model answers and teaching commentary are our own.
Photo: Alepa_delivery_robot.jpg
Author: Q0ywo
Source: https://commons.wikimedia.org/wiki/File:Alepa_delivery_robot.jpg
Licence: https://creativecommons.org/licenses/by-sa/4.0/
Resized/recompressed; aspect-preserving crop in slide placement. No subject alterations. Representative hardware/settings; hypothetical lesson capabilities are not certified for the pictured products.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selected parts (a), (b), (d), 5–6 minutes. A programmed industrial robot need not learn. Recap mechanical/electrical/programmed characteristics and sensor–processor–actuator before new teaching.
Teacher research: 21 Paper 1 papers and their published Cambridge mark schemes (2023–2025); 29 AI parts audited. Practice questions are adapted/paraphrased from the cited papers; official mark allocations retained. Model answers and teaching commentary are our own.
Photo: KUKA_Industrial_Robots_IR.jpg
Author: Mixabest
Source: https://commons.wikimedia.org/wiki/File:KUKA_Industrial_Robots_IR.jpg
Licence: https://creativecommons.org/licenses/by-sa/3.0/
Resized/recompressed; aspect-preserving crop in slide placement. No subject alterations. Representative hardware/settings; hypothetical lesson capabilities are not certified for the pictured products.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Contrast a hypothetical stored wash cycle with self-driving perception and decision-making. Do not assert the pictured appliance cannot use AI. Ask which situation demands reasoning about changing surroundings.
Teacher research: 21 Paper 1 papers and their published Cambridge mark schemes (2023–2025); 29 AI parts audited. Practice questions are adapted/paraphrased from the cited papers; official mark allocations retained. Model answers and teaching commentary are our own.
Photo: Washing_Machine_Beko.jpg
Author: zzpza
Source: https://commons.wikimedia.org/wiki/File:Washing_Machine_Beko.jpg
Licence: https://creativecommons.org/licenses/by/2.0/
Resized/recompressed; uncropped aspect-preserving placement. No subject alterations. Representative hardware/settings; hypothetical lesson capabilities are not certified for the pictured products.Photo: Waymo_self-driving_car_front_view.gk.jpg
Author: Grendelkhan
Source: https://commons.wikimedia.org/wiki/File:Waymo_self-driving_car_front_view.gk.jpg
Licence: https://creativecommons.org/licenses/by-sa/4.0/
Resized/recompressed; uncropped aspect-preserving placement. No subject alterations. Representative hardware/settings; hypothetical lesson capabilities are not certified for the pictured products.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AI simulates intelligent behaviour. Reasoning, learning and adaptation are possible features; not every AI system learns continuously. Chess photograph illustrates human reasoning, not a claim that this photograph contains AI. Ask pupils how a computer opponent could make a choice.
Teacher research: 21 Paper 1 papers and their published Cambridge mark schemes (2023–2025); 29 AI parts audited. Practice questions are adapted/paraphrased from the cited papers; official mark allocations retained. Model answers and teaching commentary are our own.
Photo: Paris_-_Playing_chess_at_the_Jardins_du_Luxembourg_-_2955.jpg
Author: Jorge Royan
Source: https://commons.wikimedia.org/wiki/File:Paris_-_Playing_chess_at_the_Jardins_du_Luxembourg_-_2955.jpg
Licence: https://creativecommons.org/licenses/by-sa/3.0/
Resized/recompressed; aspect-preserving crop in slide placement. No subject alterations. Representative hardware/settings; hypothetical lesson capabilities are not certified for the pictured products.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Explore expertise before components. A domain-specific expert system uses stored expert facts and rules to offer advice or a diagnosis. Ask pairs to suggest two mechanic questions. No diagnosis claimed from the photograph.
Teacher research: 21 Paper 1 papers and their published Cambridge mark schemes (2023–2025); 29 AI parts audited. Practice questions are adapted/paraphrased from the cited papers; official mark allocations retained. Model answers and teaching commentary are our own.
Photo: Chery_A1_-_service_shop_in_Ukraine_(7).jpg
Author: ANT Berezhnyi
Source: https://commons.wikimedia.org/wiki/File:Chery_A1_-_service_shop_in_Ukraine_%287%29.jpg
Licence: https://creativecommons.org/licenses/by/3.0/
Resized/recompressed; aspect-preserving crop in slide placement. No subject alterations. Representative hardware/settings; hypothetical lesson capabilities are not certified for the pictured products.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Definitions paraphrased from actual questions and published Cambridge schemes. 2023 Nov13 Q10(a): KB contains a list of facts; engine applies rule base to knowledge base to reach diagnosis; user supplies data via interface. 2023 Jun13 Q7(b): rule base stores rules for engine use, links facts in KB. 2023 Jun12 Q9(b): engine makes decisions by applying rules/logic to facts/knowledge to produce result/diagnosis. 2024 Nov11 Q9(a): engine chooses questions linking facts in KB to RB, engine decides diagnosis, interface outputs it. 2024 Jun12 Q10(b) specifies choosing questions using previous answers. See source audit for links. Arrows show functional relationships, not physical networking.
Teacher research: 21 Paper 1 papers and their published Cambridge mark schemes (2023–2025); 29 AI parts audited. Practice questions are adapted/paraphrased from the cited papers; official mark allocations retained. Model answers and teaching commentary are our own.
0478/12 May/June 2023 Q9(b)
QP: https://pastpapers.papacambridge.com/directories/CAIE/CAIE-pastpapers/upload/0478_s23_qp_12.pdf
MS: https://pastpapers.papacambridge.com/directories/CAIE/CAIE-pastpapers/upload/0478_s23_ms_12.pdf
0478/13 May/June 2023 Q7(b)
QP: https://pastpapers.papacambridge.com/directories/CAIE/CAIE-pastpapers/upload/0478_s23_qp_13.pdf
MS: https://pastpapers.papacambridge.com/directories/CAIE/CAIE-pastpapers/upload/0478_s23_ms_13.pdf
0478/13 Oct/Nov 2023 Q10(a)
QP: https://pastpapers.papacambridge.com/directories/CAIE/CAIE-pastpapers/upload/0478_w23_qp_13.pdf
MS: https://pastpapers.papacambridge.com/directories/CAIE/CAIE-pastpapers/upload/0478_w23_ms_13.pdf
0478/11 Oct/Nov 2024 Q9(a)
QP: https://pastpapers.papacambridge.com/directories/CAIE/CAIE-pastpapers/upload/0478_w24_qp_11.pdf
MS: https://pastpapers.papacambridge.com/directories/CAIE/CAIE-pastpapers/upload/0478_w24_ms_11.pdf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a different printer example from the garage practice. Teacher explains which component stores which knowledge; students trace the engine from input to advice. This is conceptual teaching without mark language.
Teacher research: 21 Paper 1 papers and their published Cambridge mark schemes (2023–2025); 29 AI parts audited. Practice questions are adapted/paraphrased from the cited papers; official mark allocations retained. Model answers and teaching commentary are our own.
Photo: HP_DeskJet_2630_All-in-One_Printer.jpg
Author: Kskhh
Source: https://commons.wikimedia.org/wiki/File:HP_DeskJet_2630_All-in-One_Printer.jpg
Licence: https://creativecommons.org/licenses/by-sa/4.0/
Resized/recompressed; uncropped aspect-preserving placement. No subject alterations. Representative hardware/settings; hypothetical lesson capabilities are not certified for the pictured products.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a hypothetical symptom-advice system, questions depend on earlier answers. This rule-based selection is not automatically ML. Medical photograph depicts a training examination, not an automated diagnosis. Examples simplified, not medical advice.
Teacher research: 21 Paper 1 papers and their published Cambridge mark schemes (2023–2025); 29 AI parts audited. Practice questions are adapted/paraphrased from the cited papers; official mark allocations retained. Model answers and teaching commentary are our own.
Photo: Standardized-Patient-Program-examining-t_he-abdomen.jpg
Author: University of Michigan Medical School Information Services
Source: https://commons.wikimedia.org/wiki/File:Standardized-Patient-Program-examining-t_he-abdomen.jpg
Licence: https://creativecommons.org/licenses/by/2.0/
Resized/recompressed; uncropped aspect-preserving placement. No subject alterations. Representative hardware/settings; hypothetical lesson capabilities are not certified for the pictured products.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Pairs narrate a printer diagnosis. This is a different context from the worksheet. Explanation facility is an optional additional supporting function, not one of the four core components.
Teacher research: 21 Paper 1 papers and their published Cambridge mark schemes (2023–2025); 29 AI parts audited. Practice questions are adapted/paraphrased from the cited papers; official mark allocations retained. Model answers and teaching commentary are our own.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Machine learning is a form of AI: systems use data/examples to learn patterns and can change data/processes. Labelled images illustrate supervised training. Two images here are examples, not a sufficient dataset. Use varied examples and held-out data.
Teacher research: 21 Paper 1 papers and their published Cambridge mark schemes (2023–2025); 29 AI parts audited. Practice questions are adapted/paraphrased from the cited papers; official mark allocations retained. Model answers and teaching commentary are our own.
Photo: Cat_August_2010-4.jpg
Author: Alvesgaspar
Source: https://commons.wikimedia.org/wiki/File:Cat_August_2010-4.jpg
Licence: https://creativecommons.org/licenses/by-sa/3.0/
Resized/recompressed; uncropped aspect-preserving placement. No subject alterations. Representative hardware/settings; hypothetical lesson capabilities are not certified for the pictured products.Photo: Black_Labrador_Retriever_-_Male_IMG_3323_(cropped).jpg
Author: Losch
Source: https://commons.wikimedia.org/wiki/File:Black_Labrador_Retriever_-_Male_IMG_3323_%28cropped%29.jpg
Licence: https://creativecommons.org/licenses/by-sa/3.0/
Resized/recompressed; uncropped aspect-preserving placement. No subject alterations. Representative hardware/settings; hypothetical lesson capabilities are not certified for the pictured products.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Training/retraining may be separate from use: not every prediction retrains automatically. Data, patterns, decisions and feedback illustrate general mechanism.
Teacher research: 21 Paper 1 papers and their published Cambridge mark schemes (2023–2025); 29 AI parts audited. Practice questions are adapted/paraphrased from the cited papers; official mark allocations retained. Model answers and teaching commentary are our own.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Supervised desired outputs, unsupervised discovers patterns without supplied labels, held-out testing. These are supporting learning ideas; core IGCSE does not require neural-network internals. Photograph is Google Assistant representative voice hardware, not a performance claim.
Teacher research: 21 Paper 1 papers and their published Cambridge mark schemes (2023–2025); 29 AI parts audited. Practice questions are adapted/paraphrased from the cited papers; official mark allocations retained. Model answers and teaching commentary are our own.
Photo: Android_Assistant_on_the_Google_Pixel_XL_smartphone_(29526761674).jpg
Author: Maurizio Pesce from Milan, Italia
Source: https://commons.wikimedia.org/wiki/File:Android_Assistant_on_the_Google_Pixel_XL_smartphone_%2829526761674%29.jpg
Licence: https://creativecommons.org/licenses/by-sa/4.0/
Resized/recompressed; uncropped aspect-preserving placement. No subject alterations. Representative hardware/settings; hypothetical lesson capabilities are not certified for the pictured products.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hypothetical learning cleaner can store actions/outcomes and adapt future navigation. Distinguish sensing a current obstacle from learning to avoid it on a later run; not a claim of this specific model’s ML internals.
Teacher research: 21 Paper 1 papers and their published Cambridge mark schemes (2023–2025); 29 AI parts audited. Practice questions are adapted/paraphrased from the cited papers; official mark allocations retained. Model answers and teaching commentary are our own.
Photo: Neato_XV-11.jpg
Author: Autopilot
Source: https://commons.wikimedia.org/wiki/File:Neato_XV-11.jpg
Licence: https://creativecommons.org/licenses/by-sa/3.0/
Resized/recompressed; aspect-preserving crop in slide placement. No subject alterations. Representative hardware/settings; hypothetical lesson capabilities are not certified for the pictured products.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Concept illustration, not a full ML algorithm. Blue route reaches obstacle; green avoids it. Ask pupil to narrate collect/store/pattern/change without looking at prior slide.
Teacher research: 21 Paper 1 papers and their published Cambridge mark schemes (2023–2025); 29 AI parts audited. Practice questions are adapted/paraphrased from the cited papers; official mark allocations retained. Model answers and teaching commentary are our own.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Photo hardware does not reveal its algorithm. A is hypothetical fixed timing; B is hypothetical historical-data predictor. AI/ML depends on method, not appearance. Ask each pair to justify before reveal in notes: A automation not evidence of AI; B learned patterns predict weather, ML.
Teacher research: 21 Paper 1 papers and their published Cambridge mark schemes (2023–2025); 29 AI parts audited. Practice questions are adapted/paraphrased from the cited papers; official mark allocations retained. Model answers and teaching commentary are our own.
Photo: Modern_British_LED_Traffic_Light.jpg
Author: Unisouth
Source: https://commons.wikimedia.org/wiki/File:Modern_British_LED_Traffic_Light.jpg
Licence: https://creativecommons.org/licenses/by/3.0/
Resized/recompressed; uncropped aspect-preserving placement. No subject alterations. Representative hardware/settings; hypothetical lesson capabilities are not certified for the pictured products.Photo: NOAA_weather_station_at_Wake_Island_harbor.jpg
Author: NOAA / US government (photographer uncredited)
Source: https://commons.wikimedia.org/wiki/File:NOAA_weather_station_at_Wake_Island_harbor.jpg
Licence: https://commons.wikimedia.org/wiki/Commons:Copyright_rules_by_territory/United_States#Federal_works
Resized/recompressed; uncropped aspect-preserving placement. No subject alterations. Representative hardware/settings; hypothetical lesson capabilities are not certified for the pictured products.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Expert systems use explicit expert facts and rules, often fixed; ML learns from data. Some actual papers combine expert systems and ML; avoid mutually exclusive claim. AI broader than either.
Teacher research: 21 Paper 1 papers and their published Cambridge mark schemes (2023–2025); 29 AI parts audited. Practice questions are adapted/paraphrased from the cited papers; official mark allocations retained. Model answers and teaching commentary are our own.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any exam framing, check foundations. Answers in notes: KB facts; RB rules; engine applies rules to facts; ML can collect labelled recycling images, learn patterns, use feedback and improve later classification. These are original unmarked checks.
Teacher research: 21 Paper 1 papers and their published Cambridge mark schemes (2023–2025); 29 AI parts audited. Practice questions are adapted/paraphrased from the cited papers; official mark allocations retained. Model answers and teaching commentary are our own.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Concepts and understanding checks are complete. Introduce precise terminology, question scope and mark allocations now. Existing audit and all seven observed families are retained.
Teacher research: 21 Paper 1 papers and their published Cambridge mark schemes (2023–2025); 29 AI parts audited. Practice questions are adapted/paraphrased from the cited papers; official mark allocations retained. Model answers and teaching commentary are our own.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2025 March Q6(a) supplies learning. Must supply three OTHER characteristics. Teach exam reading only after all conceptual content. Data collection/rules separate in this scheme.
Teacher research: 21 Paper 1 papers and their published Cambridge mark schemes (2023–2025); 29 AI parts audited. Practice questions are adapted/paraphrased from the cited papers; official mark allocations retained. Model answers and teaching commentary are our own.
0478/12 Feb/Mar 2025 Q6(a)
QP: https://pastpapers.papacambridge.com/directories/CAIE/CAIE-pastpapers/upload/0478_m25_qp_12.pdf
MS: https://pastpapers.papacambridge.com/directories/CAIE/CAIE-pastpapers/upload/0478_m25_ms_12.pdf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only after the matching question has been attempted. These are model routes; retain accepted alternatives in the teacher key. Any three distinct ideas. “Computer” and “intelligent” alone do not create two separate points; do not just repeat “smart”.
Teacher research: 21 Paper 1 papers and their published Cambridge mark schemes (2023–2025); 29 AI parts audited. Practice questions are adapted/paraphrased from the cited papers; official mark allocations retained. Model answers and teaching commentary are our own.
0478/13 Oct/Nov 2025 Q6(a)
QP: https://pastpapers.papacambridge.com/directories/CAIE/CAIE-pastpapers/upload/0478_w25_qp_13.pdf
MS: https://pastpapers.papacambridge.com/directories/CAIE/CAIE-pastpapers/upload/0478_w25_ms_13.pdf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3 includes component names, role descriptions, selection with distractors and a cloze. Attempt independently before feedback.
Teacher research: 21 Paper 1 papers and their published Cambridge mark schemes (2023–2025); 29 AI parts audited. Practice questions are adapted/paraphrased from the cited papers; official mark allocations retained. Model answers and teaching commentary are our own.
0478/12 May/June 2023 Q9(b)
QP: https://pastpapers.papacambridge.com/directories/CAIE/CAIE-pastpapers/upload/0478_s23_qp_12.pdf
MS: https://pastpapers.papacambridge.com/directories/CAIE/CAIE-pastpapers/upload/0478_s23_ms_12.pdf
0478/13 May/June 2023 Q7(b)
QP: https://pastpapers.papacambridge.com/directories/CAIE/CAIE-pastpapers/upload/0478_s23_qp_13.pdf
MS: https://pastpapers.papacambridge.com/directories/CAIE/CAIE-pastpapers/upload/0478_s23_ms_13.pdf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only after the matching question has been attempted. These are model routes; retain accepted alternatives in the teacher key. Any two. Naming the component without what it does is not a description.
Teacher research: 21 Paper 1 papers and their published Cambridge mark schemes (2023–2025); 29 AI parts audited. Practice questions are adapted/paraphrased from the cited papers; official mark allocations retained. Model answers and teaching commentary are our own.
0478/12 May/June 2023 Q9(b)
QP: https://pastpapers.papacambridge.com/directories/CAIE/CAIE-pastpapers/upload/0478_s23_qp_12.pdf
MS: https://pastpapers.papacambridge.com/directories/CAIE/CAIE-pastpapers/upload/0478_s23_ms_12.pdf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Attempt Task 4. Identify where input and output are already supplied.
Teacher research: 21 Paper 1 papers and their published Cambridge mark schemes (2023–2025); 29 AI parts audited. Practice questions are adapted/paraphrased from the cited papers; official mark allocations retained. Model answers and teaching commentary are our own.
0478/12 May/June 2024 Q10(b)
QP: https://pastpapers.papacambridge.com/directories/CAIE/CAIE-pastpapers/upload/0478_s24_qp_12.pdf
MS: https://pastpapers.papacambridge.com/directories/CAIE/CAIE-pastpapers/upload/0478_s24_ms_12.pdf
0478/12 May/June 2025 Q5(a)
QP: https://pastpapers.papacambridge.com/directories/CAIE/CAIE-pastpapers/upload/0478_s25_qp_12.pdf
MS: https://pastpapers.papacambridge.com/directories/CAIE/CAIE-pastpapers/upload/0478_s25_ms_12.pdf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only after the matching question has been attempted. These are model routes; retain accepted alternatives in the teacher key. Any three. Input and output have been given; focus on processing. Do not assume that writing “the doctor types” again earns a point.
Teacher research: 21 Paper 1 papers and their published Cambridge mark schemes (2023–2025); 29 AI parts audited. Practice questions are adapted/paraphrased from the cited papers; official mark allocations retained. Model answers and teaching commentary are our own.
0478/12 May/June 2025 Q5(a)
QP: https://pastpapers.papacambridge.com/directories/CAIE/CAIE-pastpapers/upload/0478_s25_qp_12.pdf
MS: https://pastpapers.papacambridge.com/directories/CAIE/CAIE-pastpapers/upload/0478_s25_ms_12.pdf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Attempt Task 5(a) independently before the capabilities feedback. These ideas have been taught conceptually; now explain them precisely.
Teacher research: 21 Paper 1 papers and their published Cambridge mark schemes (2023–2025); 29 AI parts audited. Practice questions are adapted/paraphrased from the cited papers; official mark allocations retained. Model answers and teaching commentary are our own.
0478/13 Oct/Nov 2023 Q10(b)
QP: https://pastpapers.papacambridge.com/directories/CAIE/CAIE-pastpapers/upload/0478_w23_qp_13.pdf
MS: https://pastpapers.papacambridge.com/directories/CAIE/CAIE-pastpapers/upload/0478_w23_ms_13.pdf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only after the matching question has been attempted. These are model routes; retain accepted alternatives in the teacher key. Any four. This actual four-mark question needs more than “it learns”. Supervised/unsupervised details are accepted alternatives, not compulsory in every answer.
Teacher research: 21 Paper 1 papers and their published Cambridge mark schemes (2023–2025); 29 AI parts audited. Practice questions are adapted/paraphrased from the cited papers; official mark allocations retained. Model answers and teaching commentary are our own.
0478/13 Oct/Nov 2023 Q10(b)
QP: https://pastpapers.papacambridge.com/directories/CAIE/CAIE-pastpapers/upload/0478_w23_qp_13.pdf
MS: https://pastpapers.papacambridge.com/directories/CAIE/CAIE-pastpapers/upload/0478_w23_ms_13.pdf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Attempt Task 5 navigation. A sensor-and-motor description alone does not explain learning.
Teacher research: 21 Paper 1 papers and their published Cambridge mark schemes (2023–2025); 29 AI parts audited. Practice questions are adapted/paraphrased from the cited papers; official mark allocations retained. Model answers and teaching commentary are our own.
0478/12 Oct/Nov 2024 Q8(c)
QP: https://pastpapers.papacambridge.com/directories/CAIE/CAIE-pastpapers/upload/0478_w24_qp_12.pdf
MS: https://pastpapers.papacambridge.com/directories/CAIE/CAIE-pastpapers/upload/0478_w24_ms_12.pdf
0478/12 Feb/Mar 2023 Q6(d)(ii)
QP: https://pastpapers.papacambridge.com/directories/CAIE/CAIE-pastpapers/upload/0478_m23_qp_12.pdf
MS: https://pastpapers.papacambridge.com/directories/CAIE/CAIE-pastpapers/upload/0478_m23_ms_12.pdf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only after the matching question has been attempted. These are model routes; retain accepted alternatives in the teacher key. Any three. Link specific data to a changed future action, rather than “cleans better”.
Teacher research: 21 Paper 1 papers and their published Cambridge mark schemes (2023–2025); 29 AI parts audited. Practice questions are adapted/paraphrased from the cited papers; official mark allocations retained. Model answers and teaching commentary are our own.
0478/12 Oct/Nov 2024 Q8(c)
QP: https://pastpapers.papacambridge.com/directories/CAIE/CAIE-pastpapers/upload/0478_w24_qp_12.pdf
MS: https://pastpapers.papacambridge.com/directories/CAIE/CAIE-pastpapers/upload/0478_w24_ms_12.pdf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Follow-up bank. Attempt all five tasks independently before feedback. Photos introduce three distinct contexts with no reuse. Full pack needs a second period or homework feedback.
Teacher research: 21 Paper 1 papers and their published Cambridge mark schemes (2023–2025); 29 AI parts audited. Practice questions are adapted/paraphrased from the cited papers; official mark allocations retained. Model answers and teaching commentary are our own.
Photo: Cumulus_clouds_in_fair_weather.jpeg
Author: Michael Jastremski
Source: https://commons.wikimedia.org/wiki/File:Cumulus_clouds_in_fair_weather.jpeg
Licence: https://creativecommons.org/licenses/by-sa/2.0/
Resized/recompressed; aspect-preserving crop in slide placement. No subject alterations. Representative hardware/settings; hypothetical lesson capabilities are not certified for the pictured products.Photo: Google_Home_sitting_on_table.jpg
Author: NDB Photos
Source: https://commons.wikimedia.org/wiki/File:Google_Home_sitting_on_table.jpg
Licence: https://creativecommons.org/licenses/by-sa/2.0/
Resized/recompressed; uncropped aspect-preserving placement. No subject alterations. Representative hardware/settings; hypothetical lesson capabilities are not certified for the pictured products.Photo: Gaming_Section_1_-_Retrosystems_2010.jpg
Author: Soupmeister
Source: https://commons.wikimedia.org/wiki/File:Gaming_Section_1_-_Retrosystems_2010.jpg
Licence: https://creativecommons.org/licenses/by-sa/2.0/
Resized/recompressed; aspect-preserving crop in slide placement. No subject alterations. Representative hardware/settings; hypothetical lesson capabilities are not certified for the pictured products.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Attempt Task 6(c). No matching answer here. Discuss why simply naming a microphone is insufficient.
Teacher research: 21 Paper 1 papers and their published Cambridge mark schemes (2023–2025); 29 AI parts audited. Practice questions are adapted/paraphrased from the cited papers; official mark allocations retained. Model answers and teaching commentary are our own.
0478/12 Oct/Nov 2025 Q7(c)
QP: https://pastpapers.papacambridge.com/directories/CAIE/CAIE-pastpapers/upload/0478_w25_qp_12.pdf
MS: https://pastpapers.papacambridge.com/directories/CAIE/CAIE-pastpapers/upload/0478_w25_ms_12.pdf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only after the matching question has been attempted. These are model routes; retain accepted alternatives in the teacher key. Any three. Merely searching a database or matching keywords does not show learning.
Teacher research: 21 Paper 1 papers and their published Cambridge mark schemes (2023–2025); 29 AI parts audited. Practice questions are adapted/paraphrased from the cited papers; official mark allocations retained. Model answers and teaching commentary are our own.
0478/12 Feb/Mar 2025 Q6(b)
QP: https://pastpapers.papacambridge.com/directories/CAIE/CAIE-pastpapers/upload/0478_m25_qp_12.pdf
MS: https://pastpapers.papacambridge.com/directories/CAIE/CAIE-pastpapers/upload/0478_m25_ms_12.pdf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only after the matching question has been attempted. These are model routes; retain accepted alternatives in the teacher key. Any three. Collecting sensor readings alone is not a complete account of prediction.
Teacher research: 21 Paper 1 papers and their published Cambridge mark schemes (2023–2025); 29 AI parts audited. Practice questions are adapted/paraphrased from the cited papers; official mark allocations retained. Model answers and teaching commentary are our own.
0478/13 May/June 2025 Q6(f)(ii)
QP: https://pastpapers.papacambridge.com/directories/CAIE/CAIE-pastpapers/upload/0478_s25_qp_13.pdf
MS: https://pastpapers.papacambridge.com/directories/CAIE/CAIE-pastpapers/upload/0478_s25_ms_13.pdf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only after the matching question has been attempted. These are model routes; retain accepted alternatives in the teacher key. Any four. A microphone converting sound into data does not explain how recognition improves.
Teacher research: 21 Paper 1 papers and their published Cambridge mark schemes (2023–2025); 29 AI parts audited. Practice questions are adapted/paraphrased from the cited papers; official mark allocations retained. Model answers and teaching commentary are our own.
0478/12 Oct/Nov 2025 Q7(c)
QP: https://pastpapers.papacambridge.com/directories/CAIE/CAIE-pastpapers/upload/0478_w25_qp_12.pdf
MS: https://pastpapers.papacambridge.com/directories/CAIE/CAIE-pastpapers/upload/0478_w25_ms_12.pdf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only after the matching question has been attempted. These are model routes; retain accepted alternatives in the teacher key. Any three. Better graphics and faster hardware do not explain intelligent movement.
Teacher research: 21 Paper 1 papers and their published Cambridge mark schemes (2023–2025); 29 AI parts audited. Practice questions are adapted/paraphrased from the cited papers; official mark allocations retained. Model answers and teaching commentary are our own.
0478/13 Oct/Nov 2025 Q6(b)
QP: https://pastpapers.papacambridge.com/directories/CAIE/CAIE-pastpapers/upload/0478_w25_qp_13.pdf
MS: https://pastpapers.papacambridge.com/directories/CAIE/CAIE-pastpapers/upload/0478_w25_ms_13.pdf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only after the matching question has been attempted. These are model routes; retain accepted alternatives in the teacher key. Give three distinct ways, not three rewordings of “find the route”.
Teacher research: 21 Paper 1 papers and their published Cambridge mark schemes (2023–2025); 29 AI parts audited. Practice questions are adapted/paraphrased from the cited papers; official mark allocations retained. Model answers and teaching commentary are our own.
0478/11 Oct/Nov 2025 Q5(e)
QP: https://pastpapers.papacambridge.com/directories/CAIE/CAIE-pastpapers/upload/0478_w25_qp_11.pdf
MS: https://pastpapers.papacambridge.com/directories/CAIE/CAIE-pastpapers/upload/0478_w25_ms_11.pdf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Repair weak answers after practice. Keep the actual mark ceiling and accepted alternatives in mind.
Teacher research: 21 Paper 1 papers and their published Cambridge mark schemes (2023–2025); 29 AI parts audited. Practice questions are adapted/paraphrased from the cited papers; official mark allocations retained. Model answers and teaching commentary are our own.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Original exit task, suggested answers only. Explain component roles and learned image patterns. This is a new context, not a memorised past-paper answer.
Teacher research: 21 Paper 1 papers and their published Cambridge mark schemes (2023–2025); 29 AI parts audited. Practice questions are adapted/paraphrased from the cited papers; official mark allocations retained. Model answers and teaching commentary are our own.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Actual photographs from Wikimedia Commons. No generated photographs. Resized/recompressed; some aspect-preserving slide crops. Full metadata in assets/ai/photos/credits.json.
Teacher research: 21 Paper 1 papers and their published Cambridge mark schemes (2023–2025); 29 AI parts audited. Practice questions are adapted/paraphrased from the cited papers; official mark allocations retained. Model answers and teaching commentary are our own.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Actual photographs from Wikimedia Commons. No generated photographs. Resized/recompressed; some aspect-preserving slide crops. Full metadata in assets/ai/photos/credits.json.
Teacher research: 21 Paper 1 papers and their published Cambridge mark schemes (2023–2025); 29 AI parts audited. Practice questions are adapted/paraphrased from the cited papers; official mark allocations retained. Model answers and teaching commentary are our own.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Actual photographs from Wikimedia Commons. No generated photographs. Resized/recompressed; some aspect-preserving slide crops. Full metadata in assets/ai/photos/credits.json.
Teacher research: 21 Paper 1 papers and their published Cambridge mark schemes (2023–2025); 29 AI parts audited. Practice questions are adapted/paraphrased from the cited papers; official mark allocations retained. Model answers and teaching commentary are our own.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Original teacher-supplied Hodder extract pp241–249. All21 QPs/MS2023–25 checked;29AIparts;20selected60officialmarks. See full source audit with links.
Teacher research: 21 Paper 1 papers and their published Cambridge mark schemes (2023–2025); 29 AI parts audited. Practice questions are adapted/paraphrased from the cited papers; official mark allocations retained. Model answers and teaching commentary are our own.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image" Target="../media/image-3-2.jp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image" Target="../media/image-10-2.jp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g"/><Relationship Id="rId2" Type="http://schemas.openxmlformats.org/officeDocument/2006/relationships/image" Target="../media/image-15-2.jp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jpg"/><Relationship Id="rId2" Type="http://schemas.openxmlformats.org/officeDocument/2006/relationships/image" Target="../media/image-29-2.jpg"/><Relationship Id="rId3" Type="http://schemas.openxmlformats.org/officeDocument/2006/relationships/image" Target="../media/image-29-3.jpg"/><Relationship Id="rId4" Type="http://schemas.openxmlformats.org/officeDocument/2006/relationships/slideLayout" Target="../slideLayouts/slideLayout1.xml"/><Relationship Id="rId5"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hyperlink" Target="https://commons.wikimedia.org/wiki/File:Alepa_delivery_robot.jpg" TargetMode="External"/><Relationship Id="rId2" Type="http://schemas.openxmlformats.org/officeDocument/2006/relationships/hyperlink" Target="https://creativecommons.org/licenses/by-sa/4.0/" TargetMode="External"/><Relationship Id="rId3" Type="http://schemas.openxmlformats.org/officeDocument/2006/relationships/hyperlink" Target="https://commons.wikimedia.org/wiki/File:KUKA_Industrial_Robots_IR.jpg" TargetMode="External"/><Relationship Id="rId4" Type="http://schemas.openxmlformats.org/officeDocument/2006/relationships/hyperlink" Target="https://creativecommons.org/licenses/by-sa/3.0/" TargetMode="External"/><Relationship Id="rId5" Type="http://schemas.openxmlformats.org/officeDocument/2006/relationships/hyperlink" Target="https://commons.wikimedia.org/wiki/File:Washing_Machine_Beko.jpg" TargetMode="External"/><Relationship Id="rId6" Type="http://schemas.openxmlformats.org/officeDocument/2006/relationships/hyperlink" Target="https://creativecommons.org/licenses/by/2.0/" TargetMode="External"/><Relationship Id="rId7" Type="http://schemas.openxmlformats.org/officeDocument/2006/relationships/hyperlink" Target="https://commons.wikimedia.org/wiki/File:Waymo_self-driving_car_front_view.gk.jpg" TargetMode="External"/><Relationship Id="rId8" Type="http://schemas.openxmlformats.org/officeDocument/2006/relationships/hyperlink" Target="https://creativecommons.org/licenses/by-sa/4.0/" TargetMode="External"/><Relationship Id="rId9" Type="http://schemas.openxmlformats.org/officeDocument/2006/relationships/hyperlink" Target="https://commons.wikimedia.org/wiki/File:Paris_-_Playing_chess_at_the_Jardins_du_Luxembourg_-_2955.jpg" TargetMode="External"/><Relationship Id="rId10" Type="http://schemas.openxmlformats.org/officeDocument/2006/relationships/hyperlink" Target="https://creativecommons.org/licenses/by-sa/3.0/" TargetMode="External"/><Relationship Id="rId11" Type="http://schemas.openxmlformats.org/officeDocument/2006/relationships/hyperlink" Target="https://commons.wikimedia.org/wiki/File:Chery_A1_-_service_shop_in_Ukraine_%287%29.jpg" TargetMode="External"/><Relationship Id="rId12" Type="http://schemas.openxmlformats.org/officeDocument/2006/relationships/hyperlink" Target="https://creativecommons.org/licenses/by/3.0/" TargetMode="External"/><Relationship Id="rId13" Type="http://schemas.openxmlformats.org/officeDocument/2006/relationships/slideLayout" Target="../slideLayouts/slideLayout1.xml"/><Relationship Id="rId1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hyperlink" Target="https://commons.wikimedia.org/wiki/File:HP_DeskJet_2630_All-in-One_Printer.jpg" TargetMode="External"/><Relationship Id="rId2" Type="http://schemas.openxmlformats.org/officeDocument/2006/relationships/hyperlink" Target="https://creativecommons.org/licenses/by-sa/4.0/" TargetMode="External"/><Relationship Id="rId3" Type="http://schemas.openxmlformats.org/officeDocument/2006/relationships/hyperlink" Target="https://commons.wikimedia.org/wiki/File:Standardized-Patient-Program-examining-t_he-abdomen.jpg" TargetMode="External"/><Relationship Id="rId4" Type="http://schemas.openxmlformats.org/officeDocument/2006/relationships/hyperlink" Target="https://creativecommons.org/licenses/by/2.0/" TargetMode="External"/><Relationship Id="rId5" Type="http://schemas.openxmlformats.org/officeDocument/2006/relationships/hyperlink" Target="https://commons.wikimedia.org/wiki/File:Cat_August_2010-4.jpg" TargetMode="External"/><Relationship Id="rId6" Type="http://schemas.openxmlformats.org/officeDocument/2006/relationships/hyperlink" Target="https://creativecommons.org/licenses/by-sa/3.0/" TargetMode="External"/><Relationship Id="rId7" Type="http://schemas.openxmlformats.org/officeDocument/2006/relationships/hyperlink" Target="https://commons.wikimedia.org/wiki/File:Black_Labrador_Retriever_-_Male_IMG_3323_%28cropped%29.jpg" TargetMode="External"/><Relationship Id="rId8" Type="http://schemas.openxmlformats.org/officeDocument/2006/relationships/hyperlink" Target="https://creativecommons.org/licenses/by-sa/3.0/" TargetMode="External"/><Relationship Id="rId9" Type="http://schemas.openxmlformats.org/officeDocument/2006/relationships/hyperlink" Target="https://commons.wikimedia.org/wiki/File:Android_Assistant_on_the_Google_Pixel_XL_smartphone_%2829526761674%29.jpg" TargetMode="External"/><Relationship Id="rId10" Type="http://schemas.openxmlformats.org/officeDocument/2006/relationships/hyperlink" Target="https://creativecommons.org/licenses/by-sa/4.0/" TargetMode="External"/><Relationship Id="rId11" Type="http://schemas.openxmlformats.org/officeDocument/2006/relationships/hyperlink" Target="https://commons.wikimedia.org/wiki/File:Neato_XV-11.jpg" TargetMode="External"/><Relationship Id="rId12" Type="http://schemas.openxmlformats.org/officeDocument/2006/relationships/hyperlink" Target="https://creativecommons.org/licenses/by-sa/3.0/" TargetMode="External"/><Relationship Id="rId13" Type="http://schemas.openxmlformats.org/officeDocument/2006/relationships/slideLayout" Target="../slideLayouts/slideLayout1.xml"/><Relationship Id="rId14"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hyperlink" Target="https://commons.wikimedia.org/wiki/File:Modern_British_LED_Traffic_Light.jpg" TargetMode="External"/><Relationship Id="rId2" Type="http://schemas.openxmlformats.org/officeDocument/2006/relationships/hyperlink" Target="https://creativecommons.org/licenses/by/3.0/" TargetMode="External"/><Relationship Id="rId3" Type="http://schemas.openxmlformats.org/officeDocument/2006/relationships/hyperlink" Target="https://commons.wikimedia.org/wiki/File:NOAA_weather_station_at_Wake_Island_harbor.jpg" TargetMode="External"/><Relationship Id="rId4" Type="http://schemas.openxmlformats.org/officeDocument/2006/relationships/hyperlink" Target="https://commons.wikimedia.org/wiki/Commons:Copyright_rules_by_territory/United_States#Federal_works" TargetMode="External"/><Relationship Id="rId5" Type="http://schemas.openxmlformats.org/officeDocument/2006/relationships/hyperlink" Target="https://commons.wikimedia.org/wiki/File:Cumulus_clouds_in_fair_weather.jpeg" TargetMode="External"/><Relationship Id="rId6" Type="http://schemas.openxmlformats.org/officeDocument/2006/relationships/hyperlink" Target="https://creativecommons.org/licenses/by-sa/2.0/" TargetMode="External"/><Relationship Id="rId7" Type="http://schemas.openxmlformats.org/officeDocument/2006/relationships/hyperlink" Target="https://commons.wikimedia.org/wiki/File:Google_Home_sitting_on_table.jpg" TargetMode="External"/><Relationship Id="rId8" Type="http://schemas.openxmlformats.org/officeDocument/2006/relationships/hyperlink" Target="https://creativecommons.org/licenses/by-sa/2.0/" TargetMode="External"/><Relationship Id="rId9" Type="http://schemas.openxmlformats.org/officeDocument/2006/relationships/hyperlink" Target="https://commons.wikimedia.org/wiki/File:Gaming_Section_1_-_Retrosystems_2010.jpg" TargetMode="External"/><Relationship Id="rId10" Type="http://schemas.openxmlformats.org/officeDocument/2006/relationships/hyperlink" Target="https://creativecommons.org/licenses/by-sa/2.0/" TargetMode="External"/><Relationship Id="rId11" Type="http://schemas.openxmlformats.org/officeDocument/2006/relationships/slideLayout" Target="../slideLayouts/slideLayout1.xml"/><Relationship Id="rId1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52341"/>
        </a:solidFill>
      </p:bgPr>
    </p:bg>
    <p:spTree>
      <p:nvGrpSpPr>
        <p:cNvPr id="1" name=""/>
        <p:cNvGrpSpPr/>
        <p:nvPr/>
      </p:nvGrpSpPr>
      <p:grpSpPr>
        <a:xfrm>
          <a:off x="0" y="0"/>
          <a:ext cx="0" cy="0"/>
          <a:chOff x="0" y="0"/>
          <a:chExt cx="0" cy="0"/>
        </a:xfrm>
      </p:grpSpPr>
      <p:sp>
        <p:nvSpPr>
          <p:cNvPr id="2" name="Text 0"/>
          <p:cNvSpPr txBox="1"/>
          <p:nvPr/>
        </p:nvSpPr>
        <p:spPr>
          <a:xfrm>
            <a:off x="594360" y="301752"/>
            <a:ext cx="10424160" cy="274320"/>
          </a:xfrm>
          <a:prstGeom prst="rect">
            <a:avLst/>
          </a:prstGeom>
          <a:noFill/>
          <a:ln/>
        </p:spPr>
        <p:txBody>
          <a:bodyPr wrap="square" lIns="0" tIns="0" rIns="0" bIns="0" rtlCol="0" anchor="t"/>
          <a:lstStyle/>
          <a:p>
            <a:pPr indent="0" marL="0">
              <a:buNone/>
            </a:pPr>
            <a:r>
              <a:rPr lang="en-US" sz="1100" b="1" spc="200" kern="0" dirty="0">
                <a:solidFill>
                  <a:srgbClr val="CECBDC"/>
                </a:solidFill>
                <a:latin typeface="Quicksand" pitchFamily="34" charset="0"/>
                <a:ea typeface="Quicksand" pitchFamily="34" charset="-122"/>
                <a:cs typeface="Quicksand" pitchFamily="34" charset="-120"/>
              </a:rPr>
              <a:t>EXPLORE · UNDERSTAND · APPLY</a:t>
            </a:r>
            <a:endParaRPr lang="en-US" sz="1100" dirty="0"/>
          </a:p>
        </p:txBody>
      </p:sp>
      <p:sp>
        <p:nvSpPr>
          <p:cNvPr id="3" name="Text 1"/>
          <p:cNvSpPr txBox="1"/>
          <p:nvPr/>
        </p:nvSpPr>
        <p:spPr>
          <a:xfrm>
            <a:off x="594360" y="822960"/>
            <a:ext cx="10972800" cy="640080"/>
          </a:xfrm>
          <a:prstGeom prst="rect">
            <a:avLst/>
          </a:prstGeom>
          <a:noFill/>
          <a:ln/>
        </p:spPr>
        <p:txBody>
          <a:bodyPr wrap="square" lIns="0" tIns="0" rIns="0" bIns="0" rtlCol="0" anchor="t"/>
          <a:lstStyle/>
          <a:p>
            <a:pPr indent="0" marL="0">
              <a:buNone/>
            </a:pPr>
            <a:r>
              <a:rPr lang="en-US" sz="3200" b="1" dirty="0">
                <a:solidFill>
                  <a:srgbClr val="FFFFFF"/>
                </a:solidFill>
                <a:latin typeface="Quicksand" pitchFamily="34" charset="0"/>
                <a:ea typeface="Quicksand" pitchFamily="34" charset="-122"/>
                <a:cs typeface="Quicksand" pitchFamily="34" charset="-120"/>
              </a:rPr>
              <a:t>Artificial intelligence</a:t>
            </a:r>
            <a:endParaRPr lang="en-US" sz="3200" dirty="0"/>
          </a:p>
        </p:txBody>
      </p:sp>
      <p:sp>
        <p:nvSpPr>
          <p:cNvPr id="4" name="Shape 2"/>
          <p:cNvSpPr/>
          <p:nvPr/>
        </p:nvSpPr>
        <p:spPr>
          <a:xfrm>
            <a:off x="594360" y="6355080"/>
            <a:ext cx="10972800" cy="0"/>
          </a:xfrm>
          <a:prstGeom prst="line">
            <a:avLst/>
          </a:prstGeom>
          <a:noFill/>
          <a:ln w="8890">
            <a:solidFill>
              <a:srgbClr val="66627B"/>
            </a:solidFill>
            <a:prstDash val="solid"/>
          </a:ln>
        </p:spPr>
      </p:sp>
      <p:sp>
        <p:nvSpPr>
          <p:cNvPr id="5" name="Text 3"/>
          <p:cNvSpPr txBox="1"/>
          <p:nvPr/>
        </p:nvSpPr>
        <p:spPr>
          <a:xfrm>
            <a:off x="594360" y="6473952"/>
            <a:ext cx="5486400" cy="164592"/>
          </a:xfrm>
          <a:prstGeom prst="rect">
            <a:avLst/>
          </a:prstGeom>
          <a:noFill/>
          <a:ln/>
        </p:spPr>
        <p:txBody>
          <a:bodyPr wrap="square" lIns="0" tIns="0" rIns="0" bIns="0" rtlCol="0" anchor="t"/>
          <a:lstStyle/>
          <a:p>
            <a:pPr indent="0" marL="0">
              <a:buNone/>
            </a:pPr>
            <a:r>
              <a:rPr lang="en-US" sz="800" dirty="0">
                <a:solidFill>
                  <a:srgbClr val="CECBDC"/>
                </a:solidFill>
                <a:latin typeface="Quicksand" pitchFamily="34" charset="0"/>
                <a:ea typeface="Quicksand" pitchFamily="34" charset="-122"/>
                <a:cs typeface="Quicksand" pitchFamily="34" charset="-120"/>
              </a:rPr>
              <a:t>IGCSE 0478  /  ARTIFICIAL INTELLIGENCE</a:t>
            </a:r>
            <a:endParaRPr lang="en-US" sz="800" dirty="0"/>
          </a:p>
        </p:txBody>
      </p:sp>
      <p:sp>
        <p:nvSpPr>
          <p:cNvPr id="6" name="Text 4"/>
          <p:cNvSpPr txBox="1"/>
          <p:nvPr/>
        </p:nvSpPr>
        <p:spPr>
          <a:xfrm>
            <a:off x="11018520" y="6419088"/>
            <a:ext cx="530352" cy="228600"/>
          </a:xfrm>
          <a:prstGeom prst="rect">
            <a:avLst/>
          </a:prstGeom>
          <a:noFill/>
          <a:ln/>
        </p:spPr>
        <p:txBody>
          <a:bodyPr wrap="square" lIns="0" tIns="0" rIns="0" bIns="0" rtlCol="0" anchor="t"/>
          <a:lstStyle/>
          <a:p>
            <a:pPr algn="r" indent="0" marL="0">
              <a:buNone/>
            </a:pPr>
            <a:r>
              <a:rPr lang="en-US" sz="1100" dirty="0">
                <a:solidFill>
                  <a:srgbClr val="FFFFFF"/>
                </a:solidFill>
                <a:latin typeface="Quicksand" pitchFamily="34" charset="0"/>
                <a:ea typeface="Quicksand" pitchFamily="34" charset="-122"/>
                <a:cs typeface="Quicksand" pitchFamily="34" charset="-120"/>
              </a:rPr>
              <a:t>01</a:t>
            </a:r>
            <a:endParaRPr lang="en-US" sz="1100" dirty="0"/>
          </a:p>
        </p:txBody>
      </p:sp>
      <p:pic>
        <p:nvPicPr>
          <p:cNvPr id="8" name="Image 0" descr="Alepa delivery robot.jpg">    </p:cNvPr>
          <p:cNvPicPr>
            <a:picLocks noChangeAspect="1"/>
          </p:cNvPicPr>
          <p:nvPr/>
        </p:nvPicPr>
        <p:blipFill>
          <a:blip r:embed="rId1"/>
          <a:srcRect l="0" r="0" t="0" b="6577"/>
          <a:stretch/>
        </p:blipFill>
        <p:spPr>
          <a:xfrm>
            <a:off x="6035040" y="1783080"/>
            <a:ext cx="5532120" cy="4160520"/>
          </a:xfrm>
          <a:prstGeom prst="rect">
            <a:avLst/>
          </a:prstGeom>
        </p:spPr>
      </p:pic>
      <p:sp>
        <p:nvSpPr>
          <p:cNvPr id="9" name="Text 5"/>
          <p:cNvSpPr txBox="1"/>
          <p:nvPr/>
        </p:nvSpPr>
        <p:spPr>
          <a:xfrm>
            <a:off x="6035040" y="6007608"/>
            <a:ext cx="5532120" cy="246888"/>
          </a:xfrm>
          <a:prstGeom prst="rect">
            <a:avLst/>
          </a:prstGeom>
          <a:noFill/>
          <a:ln/>
        </p:spPr>
        <p:txBody>
          <a:bodyPr wrap="square" lIns="0" tIns="0" rIns="0" bIns="0" rtlCol="0" anchor="t"/>
          <a:lstStyle/>
          <a:p>
            <a:pPr indent="0" marL="0">
              <a:buNone/>
            </a:pPr>
            <a:r>
              <a:rPr lang="en-US" sz="900" dirty="0">
                <a:solidFill>
                  <a:srgbClr val="CECBDC"/>
                </a:solidFill>
                <a:latin typeface="Quicksand" pitchFamily="34" charset="0"/>
                <a:ea typeface="Quicksand" pitchFamily="34" charset="-122"/>
                <a:cs typeface="Quicksand" pitchFamily="34" charset="-120"/>
              </a:rPr>
              <a:t>Q0ywo · CC BY-SA 4.0</a:t>
            </a:r>
            <a:endParaRPr lang="en-US" sz="900" dirty="0"/>
          </a:p>
        </p:txBody>
      </p:sp>
      <p:sp>
        <p:nvSpPr>
          <p:cNvPr id="11" name="Text 6"/>
          <p:cNvSpPr txBox="1"/>
          <p:nvPr/>
        </p:nvSpPr>
        <p:spPr>
          <a:xfrm>
            <a:off x="594360" y="2103120"/>
            <a:ext cx="4983480" cy="1463040"/>
          </a:xfrm>
          <a:prstGeom prst="rect">
            <a:avLst/>
          </a:prstGeom>
          <a:noFill/>
          <a:ln/>
        </p:spPr>
        <p:txBody>
          <a:bodyPr wrap="square" lIns="0" tIns="0" rIns="0" bIns="0" rtlCol="0" anchor="t"/>
          <a:lstStyle/>
          <a:p>
            <a:pPr indent="0" marL="0">
              <a:buNone/>
            </a:pPr>
            <a:r>
              <a:rPr lang="en-US" sz="3500" b="1" dirty="0">
                <a:solidFill>
                  <a:srgbClr val="FFFFFF"/>
                </a:solidFill>
                <a:latin typeface="Quicksand" pitchFamily="34" charset="0"/>
                <a:ea typeface="Quicksand" pitchFamily="34" charset="-122"/>
                <a:cs typeface="Quicksand" pitchFamily="34" charset="-120"/>
              </a:rPr>
              <a:t>How could a robot</a:t>
            </a:r>
            <a:endParaRPr lang="en-US" sz="3500" dirty="0"/>
          </a:p>
          <a:p>
            <a:pPr indent="0" marL="0">
              <a:buNone/>
            </a:pPr>
            <a:r>
              <a:rPr lang="en-US" sz="3500" b="1" dirty="0">
                <a:solidFill>
                  <a:srgbClr val="FFFFFF"/>
                </a:solidFill>
                <a:latin typeface="Quicksand" pitchFamily="34" charset="0"/>
                <a:ea typeface="Quicksand" pitchFamily="34" charset="-122"/>
                <a:cs typeface="Quicksand" pitchFamily="34" charset="-120"/>
              </a:rPr>
              <a:t>find its way here?</a:t>
            </a:r>
            <a:endParaRPr lang="en-US" sz="3500" dirty="0"/>
          </a:p>
        </p:txBody>
      </p:sp>
      <p:sp>
        <p:nvSpPr>
          <p:cNvPr id="12" name="Text 7"/>
          <p:cNvSpPr txBox="1"/>
          <p:nvPr/>
        </p:nvSpPr>
        <p:spPr>
          <a:xfrm>
            <a:off x="594360" y="4041648"/>
            <a:ext cx="4663440" cy="960120"/>
          </a:xfrm>
          <a:prstGeom prst="rect">
            <a:avLst/>
          </a:prstGeom>
          <a:noFill/>
          <a:ln/>
        </p:spPr>
        <p:txBody>
          <a:bodyPr wrap="square" lIns="0" tIns="0" rIns="0" bIns="0" rtlCol="0" anchor="t"/>
          <a:lstStyle/>
          <a:p>
            <a:pPr indent="0" marL="0">
              <a:buNone/>
            </a:pPr>
            <a:r>
              <a:rPr lang="en-US" sz="2500" dirty="0">
                <a:solidFill>
                  <a:srgbClr val="DCD9E9"/>
                </a:solidFill>
                <a:latin typeface="Quicksand" pitchFamily="34" charset="0"/>
                <a:ea typeface="Quicksand" pitchFamily="34" charset="-122"/>
                <a:cs typeface="Quicksand" pitchFamily="34" charset="-120"/>
              </a:rPr>
              <a:t>A changing world.</a:t>
            </a:r>
            <a:endParaRPr lang="en-US" sz="2500" dirty="0"/>
          </a:p>
          <a:p>
            <a:pPr indent="0" marL="0">
              <a:buNone/>
            </a:pPr>
            <a:r>
              <a:rPr lang="en-US" sz="2500" dirty="0">
                <a:solidFill>
                  <a:srgbClr val="DCD9E9"/>
                </a:solidFill>
                <a:latin typeface="Quicksand" pitchFamily="34" charset="0"/>
                <a:ea typeface="Quicksand" pitchFamily="34" charset="-122"/>
                <a:cs typeface="Quicksand" pitchFamily="34" charset="-120"/>
              </a:rPr>
              <a:t>A decision to make.</a:t>
            </a:r>
            <a:endParaRPr lang="en-US" sz="2500" dirty="0"/>
          </a:p>
        </p:txBody>
      </p:sp>
      <p:sp>
        <p:nvSpPr>
          <p:cNvPr id="13" name="Text 8"/>
          <p:cNvSpPr txBox="1"/>
          <p:nvPr/>
        </p:nvSpPr>
        <p:spPr>
          <a:xfrm>
            <a:off x="594360" y="5705856"/>
            <a:ext cx="4937760" cy="365760"/>
          </a:xfrm>
          <a:prstGeom prst="rect">
            <a:avLst/>
          </a:prstGeom>
          <a:noFill/>
          <a:ln/>
        </p:spPr>
        <p:txBody>
          <a:bodyPr wrap="square" lIns="0" tIns="0" rIns="0" bIns="0" rtlCol="0" anchor="t"/>
          <a:lstStyle/>
          <a:p>
            <a:pPr indent="0" marL="0">
              <a:buNone/>
            </a:pPr>
            <a:r>
              <a:rPr lang="en-US" sz="1100" b="1" dirty="0">
                <a:solidFill>
                  <a:srgbClr val="FFD84D"/>
                </a:solidFill>
                <a:latin typeface="Quicksand" pitchFamily="34" charset="0"/>
                <a:ea typeface="Quicksand" pitchFamily="34" charset="-122"/>
                <a:cs typeface="Quicksand" pitchFamily="34" charset="-120"/>
              </a:rPr>
              <a:t>6.3  /  AI · EXPERT SYSTEMS · MACHINE LEARNING</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AF9F6"/>
        </a:solidFill>
      </p:bgPr>
    </p:bg>
    <p:spTree>
      <p:nvGrpSpPr>
        <p:cNvPr id="1" name=""/>
        <p:cNvGrpSpPr/>
        <p:nvPr/>
      </p:nvGrpSpPr>
      <p:grpSpPr>
        <a:xfrm>
          <a:off x="0" y="0"/>
          <a:ext cx="0" cy="0"/>
          <a:chOff x="0" y="0"/>
          <a:chExt cx="0" cy="0"/>
        </a:xfrm>
      </p:grpSpPr>
      <p:sp>
        <p:nvSpPr>
          <p:cNvPr id="2" name="Text 0"/>
          <p:cNvSpPr txBox="1"/>
          <p:nvPr/>
        </p:nvSpPr>
        <p:spPr>
          <a:xfrm>
            <a:off x="594360" y="301752"/>
            <a:ext cx="10424160" cy="274320"/>
          </a:xfrm>
          <a:prstGeom prst="rect">
            <a:avLst/>
          </a:prstGeom>
          <a:noFill/>
          <a:ln/>
        </p:spPr>
        <p:txBody>
          <a:bodyPr wrap="square" lIns="0" tIns="0" rIns="0" bIns="0" rtlCol="0" anchor="t"/>
          <a:lstStyle/>
          <a:p>
            <a:pPr indent="0" marL="0">
              <a:buNone/>
            </a:pPr>
            <a:r>
              <a:rPr lang="en-US" sz="1100" b="1" spc="200" kern="0" dirty="0">
                <a:solidFill>
                  <a:srgbClr val="494985"/>
                </a:solidFill>
                <a:latin typeface="Quicksand" pitchFamily="34" charset="0"/>
                <a:ea typeface="Quicksand" pitchFamily="34" charset="-122"/>
                <a:cs typeface="Quicksand" pitchFamily="34" charset="-120"/>
              </a:rPr>
              <a:t>RECALL · ROBOTICS</a:t>
            </a:r>
            <a:endParaRPr lang="en-US" sz="1100" dirty="0"/>
          </a:p>
        </p:txBody>
      </p:sp>
      <p:sp>
        <p:nvSpPr>
          <p:cNvPr id="3" name="Text 1"/>
          <p:cNvSpPr txBox="1"/>
          <p:nvPr/>
        </p:nvSpPr>
        <p:spPr>
          <a:xfrm>
            <a:off x="594360" y="822960"/>
            <a:ext cx="10972800" cy="640080"/>
          </a:xfrm>
          <a:prstGeom prst="rect">
            <a:avLst/>
          </a:prstGeom>
          <a:noFill/>
          <a:ln/>
        </p:spPr>
        <p:txBody>
          <a:bodyPr wrap="square" lIns="0" tIns="0" rIns="0" bIns="0" rtlCol="0" anchor="t"/>
          <a:lstStyle/>
          <a:p>
            <a:pPr indent="0" marL="0">
              <a:buNone/>
            </a:pPr>
            <a:r>
              <a:rPr lang="en-US" sz="3200" b="1" dirty="0">
                <a:solidFill>
                  <a:srgbClr val="252341"/>
                </a:solidFill>
                <a:latin typeface="Quicksand" pitchFamily="34" charset="0"/>
                <a:ea typeface="Quicksand" pitchFamily="34" charset="-122"/>
                <a:cs typeface="Quicksand" pitchFamily="34" charset="-120"/>
              </a:rPr>
              <a:t>Start with what you already know</a:t>
            </a:r>
            <a:endParaRPr lang="en-US" sz="3200" dirty="0"/>
          </a:p>
        </p:txBody>
      </p:sp>
      <p:sp>
        <p:nvSpPr>
          <p:cNvPr id="4" name="Shape 2"/>
          <p:cNvSpPr/>
          <p:nvPr/>
        </p:nvSpPr>
        <p:spPr>
          <a:xfrm>
            <a:off x="594360" y="6355080"/>
            <a:ext cx="10972800" cy="0"/>
          </a:xfrm>
          <a:prstGeom prst="line">
            <a:avLst/>
          </a:prstGeom>
          <a:noFill/>
          <a:ln w="8890">
            <a:solidFill>
              <a:srgbClr val="DDDBE5"/>
            </a:solidFill>
            <a:prstDash val="solid"/>
          </a:ln>
        </p:spPr>
      </p:sp>
      <p:sp>
        <p:nvSpPr>
          <p:cNvPr id="5" name="Text 3"/>
          <p:cNvSpPr txBox="1"/>
          <p:nvPr/>
        </p:nvSpPr>
        <p:spPr>
          <a:xfrm>
            <a:off x="594360" y="6473952"/>
            <a:ext cx="5486400" cy="164592"/>
          </a:xfrm>
          <a:prstGeom prst="rect">
            <a:avLst/>
          </a:prstGeom>
          <a:noFill/>
          <a:ln/>
        </p:spPr>
        <p:txBody>
          <a:bodyPr wrap="square" lIns="0" tIns="0" rIns="0" bIns="0" rtlCol="0" anchor="t"/>
          <a:lstStyle/>
          <a:p>
            <a:pPr indent="0" marL="0">
              <a:buNone/>
            </a:pPr>
            <a:r>
              <a:rPr lang="en-US" sz="800" dirty="0">
                <a:solidFill>
                  <a:srgbClr val="777584"/>
                </a:solidFill>
                <a:latin typeface="Quicksand" pitchFamily="34" charset="0"/>
                <a:ea typeface="Quicksand" pitchFamily="34" charset="-122"/>
                <a:cs typeface="Quicksand" pitchFamily="34" charset="-120"/>
              </a:rPr>
              <a:t>IGCSE 0478  /  ARTIFICIAL INTELLIGENCE</a:t>
            </a:r>
            <a:endParaRPr lang="en-US" sz="800" dirty="0"/>
          </a:p>
        </p:txBody>
      </p:sp>
      <p:sp>
        <p:nvSpPr>
          <p:cNvPr id="6" name="Text 4"/>
          <p:cNvSpPr txBox="1"/>
          <p:nvPr/>
        </p:nvSpPr>
        <p:spPr>
          <a:xfrm>
            <a:off x="11018520" y="6419088"/>
            <a:ext cx="530352" cy="228600"/>
          </a:xfrm>
          <a:prstGeom prst="rect">
            <a:avLst/>
          </a:prstGeom>
          <a:noFill/>
          <a:ln/>
        </p:spPr>
        <p:txBody>
          <a:bodyPr wrap="square" lIns="0" tIns="0" rIns="0" bIns="0" rtlCol="0" anchor="t"/>
          <a:lstStyle/>
          <a:p>
            <a:pPr algn="r" indent="0" marL="0">
              <a:buNone/>
            </a:pPr>
            <a:r>
              <a:rPr lang="en-US" sz="1100" dirty="0">
                <a:solidFill>
                  <a:srgbClr val="777584"/>
                </a:solidFill>
                <a:latin typeface="Quicksand" pitchFamily="34" charset="0"/>
                <a:ea typeface="Quicksand" pitchFamily="34" charset="-122"/>
                <a:cs typeface="Quicksand" pitchFamily="34" charset="-120"/>
              </a:rPr>
              <a:t>02</a:t>
            </a:r>
            <a:endParaRPr lang="en-US" sz="1100" dirty="0"/>
          </a:p>
        </p:txBody>
      </p:sp>
      <p:pic>
        <p:nvPicPr>
          <p:cNvPr id="8" name="Image 0" descr="KUKA Industrial Robots IR.jpg">    </p:cNvPr>
          <p:cNvPicPr>
            <a:picLocks noChangeAspect="1"/>
          </p:cNvPicPr>
          <p:nvPr/>
        </p:nvPicPr>
        <p:blipFill>
          <a:blip r:embed="rId1"/>
          <a:srcRect l="0" r="0" t="0" b="15732"/>
          <a:stretch/>
        </p:blipFill>
        <p:spPr>
          <a:xfrm>
            <a:off x="594360" y="1783080"/>
            <a:ext cx="6446520" cy="3611880"/>
          </a:xfrm>
          <a:prstGeom prst="rect">
            <a:avLst/>
          </a:prstGeom>
        </p:spPr>
      </p:pic>
      <p:sp>
        <p:nvSpPr>
          <p:cNvPr id="9" name="Text 5"/>
          <p:cNvSpPr txBox="1"/>
          <p:nvPr/>
        </p:nvSpPr>
        <p:spPr>
          <a:xfrm>
            <a:off x="594360" y="5458968"/>
            <a:ext cx="6446520" cy="246888"/>
          </a:xfrm>
          <a:prstGeom prst="rect">
            <a:avLst/>
          </a:prstGeom>
          <a:noFill/>
          <a:ln/>
        </p:spPr>
        <p:txBody>
          <a:bodyPr wrap="square" lIns="0" tIns="0" rIns="0" bIns="0" rtlCol="0" anchor="t"/>
          <a:lstStyle/>
          <a:p>
            <a:pPr indent="0" marL="0">
              <a:buNone/>
            </a:pPr>
            <a:r>
              <a:rPr lang="en-US" sz="900" dirty="0">
                <a:solidFill>
                  <a:srgbClr val="777584"/>
                </a:solidFill>
                <a:latin typeface="Quicksand" pitchFamily="34" charset="0"/>
                <a:ea typeface="Quicksand" pitchFamily="34" charset="-122"/>
                <a:cs typeface="Quicksand" pitchFamily="34" charset="-120"/>
              </a:rPr>
              <a:t>Mixabest · CC BY-SA 3.0</a:t>
            </a:r>
            <a:endParaRPr lang="en-US" sz="900" dirty="0"/>
          </a:p>
        </p:txBody>
      </p:sp>
      <p:sp>
        <p:nvSpPr>
          <p:cNvPr id="11" name="Text 6"/>
          <p:cNvSpPr txBox="1"/>
          <p:nvPr/>
        </p:nvSpPr>
        <p:spPr>
          <a:xfrm>
            <a:off x="7498080" y="1874520"/>
            <a:ext cx="4023360" cy="777240"/>
          </a:xfrm>
          <a:prstGeom prst="rect">
            <a:avLst/>
          </a:prstGeom>
          <a:noFill/>
          <a:ln/>
        </p:spPr>
        <p:txBody>
          <a:bodyPr wrap="square" lIns="0" tIns="0" rIns="0" bIns="0" rtlCol="0" anchor="t"/>
          <a:lstStyle/>
          <a:p>
            <a:pPr indent="0" marL="0">
              <a:buNone/>
            </a:pPr>
            <a:r>
              <a:rPr lang="en-US" sz="2800" b="1" dirty="0">
                <a:solidFill>
                  <a:srgbClr val="252341"/>
                </a:solidFill>
                <a:latin typeface="Quicksand" pitchFamily="34" charset="0"/>
                <a:ea typeface="Quicksand" pitchFamily="34" charset="-122"/>
                <a:cs typeface="Quicksand" pitchFamily="34" charset="-120"/>
              </a:rPr>
              <a:t>What makes it a robot?</a:t>
            </a:r>
            <a:endParaRPr lang="en-US" sz="2800" dirty="0"/>
          </a:p>
        </p:txBody>
      </p:sp>
      <p:sp>
        <p:nvSpPr>
          <p:cNvPr id="12" name="Text 7"/>
          <p:cNvSpPr txBox="1"/>
          <p:nvPr/>
        </p:nvSpPr>
        <p:spPr>
          <a:xfrm>
            <a:off x="7498080" y="2926080"/>
            <a:ext cx="457200" cy="365760"/>
          </a:xfrm>
          <a:prstGeom prst="rect">
            <a:avLst/>
          </a:prstGeom>
          <a:noFill/>
          <a:ln/>
        </p:spPr>
        <p:txBody>
          <a:bodyPr wrap="square" lIns="0" tIns="0" rIns="0" bIns="0" rtlCol="0" anchor="t"/>
          <a:lstStyle/>
          <a:p>
            <a:pPr indent="0" marL="0">
              <a:buNone/>
            </a:pPr>
            <a:r>
              <a:rPr lang="en-US" sz="1600" b="1" dirty="0">
                <a:solidFill>
                  <a:srgbClr val="494985"/>
                </a:solidFill>
                <a:latin typeface="Quicksand" pitchFamily="34" charset="0"/>
                <a:ea typeface="Quicksand" pitchFamily="34" charset="-122"/>
                <a:cs typeface="Quicksand" pitchFamily="34" charset="-120"/>
              </a:rPr>
              <a:t>01</a:t>
            </a:r>
            <a:endParaRPr lang="en-US" sz="1600" dirty="0"/>
          </a:p>
        </p:txBody>
      </p:sp>
      <p:sp>
        <p:nvSpPr>
          <p:cNvPr id="13" name="Text 8"/>
          <p:cNvSpPr txBox="1"/>
          <p:nvPr/>
        </p:nvSpPr>
        <p:spPr>
          <a:xfrm>
            <a:off x="8138160" y="2912364"/>
            <a:ext cx="3337560" cy="640080"/>
          </a:xfrm>
          <a:prstGeom prst="rect">
            <a:avLst/>
          </a:prstGeom>
          <a:noFill/>
          <a:ln/>
        </p:spPr>
        <p:txBody>
          <a:bodyPr wrap="square" lIns="0" tIns="0" rIns="0" bIns="0" rtlCol="0" anchor="t"/>
          <a:lstStyle/>
          <a:p>
            <a:pPr indent="0" marL="0">
              <a:buNone/>
            </a:pPr>
            <a:r>
              <a:rPr lang="en-US" sz="2100" dirty="0">
                <a:solidFill>
                  <a:srgbClr val="252341"/>
                </a:solidFill>
                <a:latin typeface="Quicksand" pitchFamily="34" charset="0"/>
                <a:ea typeface="Quicksand" pitchFamily="34" charset="-122"/>
                <a:cs typeface="Quicksand" pitchFamily="34" charset="-120"/>
              </a:rPr>
              <a:t>What detects the distance?</a:t>
            </a:r>
            <a:endParaRPr lang="en-US" sz="2100" dirty="0"/>
          </a:p>
        </p:txBody>
      </p:sp>
      <p:sp>
        <p:nvSpPr>
          <p:cNvPr id="14" name="Shape 9"/>
          <p:cNvSpPr/>
          <p:nvPr/>
        </p:nvSpPr>
        <p:spPr>
          <a:xfrm>
            <a:off x="8138160" y="3520440"/>
            <a:ext cx="3337560" cy="0"/>
          </a:xfrm>
          <a:prstGeom prst="line">
            <a:avLst/>
          </a:prstGeom>
          <a:noFill/>
          <a:ln w="8890">
            <a:solidFill>
              <a:srgbClr val="DDDBE5"/>
            </a:solidFill>
            <a:prstDash val="solid"/>
          </a:ln>
        </p:spPr>
      </p:sp>
      <p:sp>
        <p:nvSpPr>
          <p:cNvPr id="15" name="Text 10"/>
          <p:cNvSpPr txBox="1"/>
          <p:nvPr/>
        </p:nvSpPr>
        <p:spPr>
          <a:xfrm>
            <a:off x="7498080" y="3675888"/>
            <a:ext cx="457200" cy="365760"/>
          </a:xfrm>
          <a:prstGeom prst="rect">
            <a:avLst/>
          </a:prstGeom>
          <a:noFill/>
          <a:ln/>
        </p:spPr>
        <p:txBody>
          <a:bodyPr wrap="square" lIns="0" tIns="0" rIns="0" bIns="0" rtlCol="0" anchor="t"/>
          <a:lstStyle/>
          <a:p>
            <a:pPr indent="0" marL="0">
              <a:buNone/>
            </a:pPr>
            <a:r>
              <a:rPr lang="en-US" sz="1600" b="1" dirty="0">
                <a:solidFill>
                  <a:srgbClr val="494985"/>
                </a:solidFill>
                <a:latin typeface="Quicksand" pitchFamily="34" charset="0"/>
                <a:ea typeface="Quicksand" pitchFamily="34" charset="-122"/>
                <a:cs typeface="Quicksand" pitchFamily="34" charset="-120"/>
              </a:rPr>
              <a:t>02</a:t>
            </a:r>
            <a:endParaRPr lang="en-US" sz="1600" dirty="0"/>
          </a:p>
        </p:txBody>
      </p:sp>
      <p:sp>
        <p:nvSpPr>
          <p:cNvPr id="16" name="Text 11"/>
          <p:cNvSpPr txBox="1"/>
          <p:nvPr/>
        </p:nvSpPr>
        <p:spPr>
          <a:xfrm>
            <a:off x="8138160" y="3662172"/>
            <a:ext cx="3337560" cy="640080"/>
          </a:xfrm>
          <a:prstGeom prst="rect">
            <a:avLst/>
          </a:prstGeom>
          <a:noFill/>
          <a:ln/>
        </p:spPr>
        <p:txBody>
          <a:bodyPr wrap="square" lIns="0" tIns="0" rIns="0" bIns="0" rtlCol="0" anchor="t"/>
          <a:lstStyle/>
          <a:p>
            <a:pPr indent="0" marL="0">
              <a:buNone/>
            </a:pPr>
            <a:r>
              <a:rPr lang="en-US" sz="2100" dirty="0">
                <a:solidFill>
                  <a:srgbClr val="252341"/>
                </a:solidFill>
                <a:latin typeface="Quicksand" pitchFamily="34" charset="0"/>
                <a:ea typeface="Quicksand" pitchFamily="34" charset="-122"/>
                <a:cs typeface="Quicksand" pitchFamily="34" charset="-120"/>
              </a:rPr>
              <a:t>What makes the decision?</a:t>
            </a:r>
            <a:endParaRPr lang="en-US" sz="2100" dirty="0"/>
          </a:p>
        </p:txBody>
      </p:sp>
      <p:sp>
        <p:nvSpPr>
          <p:cNvPr id="17" name="Shape 12"/>
          <p:cNvSpPr/>
          <p:nvPr/>
        </p:nvSpPr>
        <p:spPr>
          <a:xfrm>
            <a:off x="8138160" y="4270248"/>
            <a:ext cx="3337560" cy="0"/>
          </a:xfrm>
          <a:prstGeom prst="line">
            <a:avLst/>
          </a:prstGeom>
          <a:noFill/>
          <a:ln w="8890">
            <a:solidFill>
              <a:srgbClr val="DDDBE5"/>
            </a:solidFill>
            <a:prstDash val="solid"/>
          </a:ln>
        </p:spPr>
      </p:sp>
      <p:sp>
        <p:nvSpPr>
          <p:cNvPr id="18" name="Text 13"/>
          <p:cNvSpPr txBox="1"/>
          <p:nvPr/>
        </p:nvSpPr>
        <p:spPr>
          <a:xfrm>
            <a:off x="7498080" y="4425696"/>
            <a:ext cx="457200" cy="365760"/>
          </a:xfrm>
          <a:prstGeom prst="rect">
            <a:avLst/>
          </a:prstGeom>
          <a:noFill/>
          <a:ln/>
        </p:spPr>
        <p:txBody>
          <a:bodyPr wrap="square" lIns="0" tIns="0" rIns="0" bIns="0" rtlCol="0" anchor="t"/>
          <a:lstStyle/>
          <a:p>
            <a:pPr indent="0" marL="0">
              <a:buNone/>
            </a:pPr>
            <a:r>
              <a:rPr lang="en-US" sz="1600" b="1" dirty="0">
                <a:solidFill>
                  <a:srgbClr val="494985"/>
                </a:solidFill>
                <a:latin typeface="Quicksand" pitchFamily="34" charset="0"/>
                <a:ea typeface="Quicksand" pitchFamily="34" charset="-122"/>
                <a:cs typeface="Quicksand" pitchFamily="34" charset="-120"/>
              </a:rPr>
              <a:t>03</a:t>
            </a:r>
            <a:endParaRPr lang="en-US" sz="1600" dirty="0"/>
          </a:p>
        </p:txBody>
      </p:sp>
      <p:sp>
        <p:nvSpPr>
          <p:cNvPr id="19" name="Text 14"/>
          <p:cNvSpPr txBox="1"/>
          <p:nvPr/>
        </p:nvSpPr>
        <p:spPr>
          <a:xfrm>
            <a:off x="8138160" y="4411980"/>
            <a:ext cx="3337560" cy="640080"/>
          </a:xfrm>
          <a:prstGeom prst="rect">
            <a:avLst/>
          </a:prstGeom>
          <a:noFill/>
          <a:ln/>
        </p:spPr>
        <p:txBody>
          <a:bodyPr wrap="square" lIns="0" tIns="0" rIns="0" bIns="0" rtlCol="0" anchor="t"/>
          <a:lstStyle/>
          <a:p>
            <a:pPr indent="0" marL="0">
              <a:buNone/>
            </a:pPr>
            <a:r>
              <a:rPr lang="en-US" sz="2100" dirty="0">
                <a:solidFill>
                  <a:srgbClr val="252341"/>
                </a:solidFill>
                <a:latin typeface="Quicksand" pitchFamily="34" charset="0"/>
                <a:ea typeface="Quicksand" pitchFamily="34" charset="-122"/>
                <a:cs typeface="Quicksand" pitchFamily="34" charset="-120"/>
              </a:rPr>
              <a:t>What stops the movement?</a:t>
            </a:r>
            <a:endParaRPr lang="en-US" sz="2100" dirty="0"/>
          </a:p>
        </p:txBody>
      </p:sp>
      <p:sp>
        <p:nvSpPr>
          <p:cNvPr id="20" name="Text 15"/>
          <p:cNvSpPr txBox="1"/>
          <p:nvPr/>
        </p:nvSpPr>
        <p:spPr>
          <a:xfrm>
            <a:off x="594360" y="5650992"/>
            <a:ext cx="10972800" cy="384048"/>
          </a:xfrm>
          <a:prstGeom prst="rect">
            <a:avLst/>
          </a:prstGeom>
          <a:noFill/>
          <a:ln/>
        </p:spPr>
        <p:txBody>
          <a:bodyPr wrap="square" lIns="0" tIns="0" rIns="0" bIns="0" rtlCol="0" anchor="t"/>
          <a:lstStyle/>
          <a:p>
            <a:pPr indent="0" marL="0">
              <a:buNone/>
            </a:pPr>
            <a:r>
              <a:rPr lang="en-US" sz="1700" b="1" dirty="0">
                <a:solidFill>
                  <a:srgbClr val="494985"/>
                </a:solidFill>
                <a:latin typeface="Quicksand" pitchFamily="34" charset="0"/>
                <a:ea typeface="Quicksand" pitchFamily="34" charset="-122"/>
                <a:cs typeface="Quicksand" pitchFamily="34" charset="-120"/>
              </a:rPr>
              <a:t>Task 1: closed book first. Then explain the sensor → processor → actuator chain.</a:t>
            </a:r>
            <a:endParaRPr lang="en-US" sz="1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AF9F6"/>
        </a:solidFill>
      </p:bgPr>
    </p:bg>
    <p:spTree>
      <p:nvGrpSpPr>
        <p:cNvPr id="1" name=""/>
        <p:cNvGrpSpPr/>
        <p:nvPr/>
      </p:nvGrpSpPr>
      <p:grpSpPr>
        <a:xfrm>
          <a:off x="0" y="0"/>
          <a:ext cx="0" cy="0"/>
          <a:chOff x="0" y="0"/>
          <a:chExt cx="0" cy="0"/>
        </a:xfrm>
      </p:grpSpPr>
      <p:sp>
        <p:nvSpPr>
          <p:cNvPr id="2" name="Text 0"/>
          <p:cNvSpPr txBox="1"/>
          <p:nvPr/>
        </p:nvSpPr>
        <p:spPr>
          <a:xfrm>
            <a:off x="594360" y="301752"/>
            <a:ext cx="10424160" cy="274320"/>
          </a:xfrm>
          <a:prstGeom prst="rect">
            <a:avLst/>
          </a:prstGeom>
          <a:noFill/>
          <a:ln/>
        </p:spPr>
        <p:txBody>
          <a:bodyPr wrap="square" lIns="0" tIns="0" rIns="0" bIns="0" rtlCol="0" anchor="t"/>
          <a:lstStyle/>
          <a:p>
            <a:pPr indent="0" marL="0">
              <a:buNone/>
            </a:pPr>
            <a:r>
              <a:rPr lang="en-US" sz="1100" b="1" spc="200" kern="0" dirty="0">
                <a:solidFill>
                  <a:srgbClr val="494985"/>
                </a:solidFill>
                <a:latin typeface="Quicksand" pitchFamily="34" charset="0"/>
                <a:ea typeface="Quicksand" pitchFamily="34" charset="-122"/>
                <a:cs typeface="Quicksand" pitchFamily="34" charset="-120"/>
              </a:rPr>
              <a:t>EXPLORE · COMPARE</a:t>
            </a:r>
            <a:endParaRPr lang="en-US" sz="1100" dirty="0"/>
          </a:p>
        </p:txBody>
      </p:sp>
      <p:sp>
        <p:nvSpPr>
          <p:cNvPr id="3" name="Text 1"/>
          <p:cNvSpPr txBox="1"/>
          <p:nvPr/>
        </p:nvSpPr>
        <p:spPr>
          <a:xfrm>
            <a:off x="594360" y="822960"/>
            <a:ext cx="10972800" cy="640080"/>
          </a:xfrm>
          <a:prstGeom prst="rect">
            <a:avLst/>
          </a:prstGeom>
          <a:noFill/>
          <a:ln/>
        </p:spPr>
        <p:txBody>
          <a:bodyPr wrap="square" lIns="0" tIns="0" rIns="0" bIns="0" rtlCol="0" anchor="t"/>
          <a:lstStyle/>
          <a:p>
            <a:pPr indent="0" marL="0">
              <a:buNone/>
            </a:pPr>
            <a:r>
              <a:rPr lang="en-US" sz="3200" b="1" dirty="0">
                <a:solidFill>
                  <a:srgbClr val="252341"/>
                </a:solidFill>
                <a:latin typeface="Quicksand" pitchFamily="34" charset="0"/>
                <a:ea typeface="Quicksand" pitchFamily="34" charset="-122"/>
                <a:cs typeface="Quicksand" pitchFamily="34" charset="-120"/>
              </a:rPr>
              <a:t>Automatic does not always mean intelligent</a:t>
            </a:r>
            <a:endParaRPr lang="en-US" sz="3200" dirty="0"/>
          </a:p>
        </p:txBody>
      </p:sp>
      <p:sp>
        <p:nvSpPr>
          <p:cNvPr id="4" name="Shape 2"/>
          <p:cNvSpPr/>
          <p:nvPr/>
        </p:nvSpPr>
        <p:spPr>
          <a:xfrm>
            <a:off x="594360" y="6355080"/>
            <a:ext cx="10972800" cy="0"/>
          </a:xfrm>
          <a:prstGeom prst="line">
            <a:avLst/>
          </a:prstGeom>
          <a:noFill/>
          <a:ln w="8890">
            <a:solidFill>
              <a:srgbClr val="DDDBE5"/>
            </a:solidFill>
            <a:prstDash val="solid"/>
          </a:ln>
        </p:spPr>
      </p:sp>
      <p:sp>
        <p:nvSpPr>
          <p:cNvPr id="5" name="Text 3"/>
          <p:cNvSpPr txBox="1"/>
          <p:nvPr/>
        </p:nvSpPr>
        <p:spPr>
          <a:xfrm>
            <a:off x="594360" y="6473952"/>
            <a:ext cx="5486400" cy="164592"/>
          </a:xfrm>
          <a:prstGeom prst="rect">
            <a:avLst/>
          </a:prstGeom>
          <a:noFill/>
          <a:ln/>
        </p:spPr>
        <p:txBody>
          <a:bodyPr wrap="square" lIns="0" tIns="0" rIns="0" bIns="0" rtlCol="0" anchor="t"/>
          <a:lstStyle/>
          <a:p>
            <a:pPr indent="0" marL="0">
              <a:buNone/>
            </a:pPr>
            <a:r>
              <a:rPr lang="en-US" sz="800" dirty="0">
                <a:solidFill>
                  <a:srgbClr val="777584"/>
                </a:solidFill>
                <a:latin typeface="Quicksand" pitchFamily="34" charset="0"/>
                <a:ea typeface="Quicksand" pitchFamily="34" charset="-122"/>
                <a:cs typeface="Quicksand" pitchFamily="34" charset="-120"/>
              </a:rPr>
              <a:t>IGCSE 0478  /  ARTIFICIAL INTELLIGENCE</a:t>
            </a:r>
            <a:endParaRPr lang="en-US" sz="800" dirty="0"/>
          </a:p>
        </p:txBody>
      </p:sp>
      <p:sp>
        <p:nvSpPr>
          <p:cNvPr id="6" name="Text 4"/>
          <p:cNvSpPr txBox="1"/>
          <p:nvPr/>
        </p:nvSpPr>
        <p:spPr>
          <a:xfrm>
            <a:off x="11018520" y="6419088"/>
            <a:ext cx="530352" cy="228600"/>
          </a:xfrm>
          <a:prstGeom prst="rect">
            <a:avLst/>
          </a:prstGeom>
          <a:noFill/>
          <a:ln/>
        </p:spPr>
        <p:txBody>
          <a:bodyPr wrap="square" lIns="0" tIns="0" rIns="0" bIns="0" rtlCol="0" anchor="t"/>
          <a:lstStyle/>
          <a:p>
            <a:pPr algn="r" indent="0" marL="0">
              <a:buNone/>
            </a:pPr>
            <a:r>
              <a:rPr lang="en-US" sz="1100" dirty="0">
                <a:solidFill>
                  <a:srgbClr val="777584"/>
                </a:solidFill>
                <a:latin typeface="Quicksand" pitchFamily="34" charset="0"/>
                <a:ea typeface="Quicksand" pitchFamily="34" charset="-122"/>
                <a:cs typeface="Quicksand" pitchFamily="34" charset="-120"/>
              </a:rPr>
              <a:t>03</a:t>
            </a:r>
            <a:endParaRPr lang="en-US" sz="1100" dirty="0"/>
          </a:p>
        </p:txBody>
      </p:sp>
      <p:pic>
        <p:nvPicPr>
          <p:cNvPr id="8" name="Image 0" descr="Washing Machine Beko.jpg">    </p:cNvPr>
          <p:cNvPicPr>
            <a:picLocks noChangeAspect="1"/>
          </p:cNvPicPr>
          <p:nvPr/>
        </p:nvPicPr>
        <p:blipFill>
          <a:blip r:embed="rId1"/>
          <a:stretch>
            <a:fillRect/>
          </a:stretch>
        </p:blipFill>
        <p:spPr>
          <a:xfrm>
            <a:off x="1354455" y="1737360"/>
            <a:ext cx="2228850" cy="2971800"/>
          </a:xfrm>
          <a:prstGeom prst="rect">
            <a:avLst/>
          </a:prstGeom>
        </p:spPr>
      </p:pic>
      <p:sp>
        <p:nvSpPr>
          <p:cNvPr id="9" name="Text 5"/>
          <p:cNvSpPr txBox="1"/>
          <p:nvPr/>
        </p:nvSpPr>
        <p:spPr>
          <a:xfrm>
            <a:off x="1354455" y="4773168"/>
            <a:ext cx="2228850" cy="246888"/>
          </a:xfrm>
          <a:prstGeom prst="rect">
            <a:avLst/>
          </a:prstGeom>
          <a:noFill/>
          <a:ln/>
        </p:spPr>
        <p:txBody>
          <a:bodyPr wrap="square" lIns="0" tIns="0" rIns="0" bIns="0" rtlCol="0" anchor="t"/>
          <a:lstStyle/>
          <a:p>
            <a:pPr indent="0" marL="0">
              <a:buNone/>
            </a:pPr>
            <a:r>
              <a:rPr lang="en-US" sz="900" dirty="0">
                <a:solidFill>
                  <a:srgbClr val="777584"/>
                </a:solidFill>
                <a:latin typeface="Quicksand" pitchFamily="34" charset="0"/>
                <a:ea typeface="Quicksand" pitchFamily="34" charset="-122"/>
                <a:cs typeface="Quicksand" pitchFamily="34" charset="-120"/>
              </a:rPr>
              <a:t>zzpza · CC BY 2.0</a:t>
            </a:r>
            <a:endParaRPr lang="en-US" sz="900" dirty="0"/>
          </a:p>
        </p:txBody>
      </p:sp>
      <p:pic>
        <p:nvPicPr>
          <p:cNvPr id="11" name="Image 1" descr="Waymo self-driving car front view.gk.jpg">    </p:cNvPr>
          <p:cNvPicPr>
            <a:picLocks noChangeAspect="1"/>
          </p:cNvPicPr>
          <p:nvPr/>
        </p:nvPicPr>
        <p:blipFill>
          <a:blip r:embed="rId2"/>
          <a:stretch>
            <a:fillRect/>
          </a:stretch>
        </p:blipFill>
        <p:spPr>
          <a:xfrm>
            <a:off x="5863590" y="1737360"/>
            <a:ext cx="4457700" cy="2971800"/>
          </a:xfrm>
          <a:prstGeom prst="rect">
            <a:avLst/>
          </a:prstGeom>
        </p:spPr>
      </p:pic>
      <p:sp>
        <p:nvSpPr>
          <p:cNvPr id="12" name="Text 6"/>
          <p:cNvSpPr txBox="1"/>
          <p:nvPr/>
        </p:nvSpPr>
        <p:spPr>
          <a:xfrm>
            <a:off x="5863590" y="4773168"/>
            <a:ext cx="4457700" cy="246888"/>
          </a:xfrm>
          <a:prstGeom prst="rect">
            <a:avLst/>
          </a:prstGeom>
          <a:noFill/>
          <a:ln/>
        </p:spPr>
        <p:txBody>
          <a:bodyPr wrap="square" lIns="0" tIns="0" rIns="0" bIns="0" rtlCol="0" anchor="t"/>
          <a:lstStyle/>
          <a:p>
            <a:pPr indent="0" marL="0">
              <a:buNone/>
            </a:pPr>
            <a:r>
              <a:rPr lang="en-US" sz="900" dirty="0">
                <a:solidFill>
                  <a:srgbClr val="777584"/>
                </a:solidFill>
                <a:latin typeface="Quicksand" pitchFamily="34" charset="0"/>
                <a:ea typeface="Quicksand" pitchFamily="34" charset="-122"/>
                <a:cs typeface="Quicksand" pitchFamily="34" charset="-120"/>
              </a:rPr>
              <a:t>Grendelkhan · CC BY-SA 4.0</a:t>
            </a:r>
            <a:endParaRPr lang="en-US" sz="900" dirty="0"/>
          </a:p>
        </p:txBody>
      </p:sp>
      <p:sp>
        <p:nvSpPr>
          <p:cNvPr id="14" name="Text 7"/>
          <p:cNvSpPr txBox="1"/>
          <p:nvPr/>
        </p:nvSpPr>
        <p:spPr>
          <a:xfrm>
            <a:off x="594360" y="5074920"/>
            <a:ext cx="3749040" cy="411480"/>
          </a:xfrm>
          <a:prstGeom prst="rect">
            <a:avLst/>
          </a:prstGeom>
          <a:noFill/>
          <a:ln/>
        </p:spPr>
        <p:txBody>
          <a:bodyPr wrap="square" lIns="0" tIns="0" rIns="0" bIns="0" rtlCol="0" anchor="t"/>
          <a:lstStyle/>
          <a:p>
            <a:pPr algn="ctr" indent="0" marL="0">
              <a:buNone/>
            </a:pPr>
            <a:r>
              <a:rPr lang="en-US" sz="2200" b="1" dirty="0">
                <a:solidFill>
                  <a:srgbClr val="252341"/>
                </a:solidFill>
                <a:latin typeface="Quicksand" pitchFamily="34" charset="0"/>
                <a:ea typeface="Quicksand" pitchFamily="34" charset="-122"/>
                <a:cs typeface="Quicksand" pitchFamily="34" charset="-120"/>
              </a:rPr>
              <a:t>Repeat a stored wash cycle</a:t>
            </a:r>
            <a:endParaRPr lang="en-US" sz="2200" dirty="0"/>
          </a:p>
        </p:txBody>
      </p:sp>
      <p:sp>
        <p:nvSpPr>
          <p:cNvPr id="15" name="Text 8"/>
          <p:cNvSpPr txBox="1"/>
          <p:nvPr/>
        </p:nvSpPr>
        <p:spPr>
          <a:xfrm>
            <a:off x="4617720" y="5074920"/>
            <a:ext cx="6949440" cy="411480"/>
          </a:xfrm>
          <a:prstGeom prst="rect">
            <a:avLst/>
          </a:prstGeom>
          <a:noFill/>
          <a:ln/>
        </p:spPr>
        <p:txBody>
          <a:bodyPr wrap="square" lIns="0" tIns="0" rIns="0" bIns="0" rtlCol="0" anchor="t"/>
          <a:lstStyle/>
          <a:p>
            <a:pPr algn="ctr" indent="0" marL="0">
              <a:buNone/>
            </a:pPr>
            <a:r>
              <a:rPr lang="en-US" sz="2200" b="1" dirty="0">
                <a:solidFill>
                  <a:srgbClr val="252341"/>
                </a:solidFill>
                <a:latin typeface="Quicksand" pitchFamily="34" charset="0"/>
                <a:ea typeface="Quicksand" pitchFamily="34" charset="-122"/>
                <a:cs typeface="Quicksand" pitchFamily="34" charset="-120"/>
              </a:rPr>
              <a:t>Respond to unfamiliar traffic</a:t>
            </a:r>
            <a:endParaRPr lang="en-US" sz="2200" dirty="0"/>
          </a:p>
        </p:txBody>
      </p:sp>
      <p:sp>
        <p:nvSpPr>
          <p:cNvPr id="16" name="Text 9"/>
          <p:cNvSpPr txBox="1"/>
          <p:nvPr/>
        </p:nvSpPr>
        <p:spPr>
          <a:xfrm>
            <a:off x="594360" y="5650992"/>
            <a:ext cx="10972800" cy="384048"/>
          </a:xfrm>
          <a:prstGeom prst="rect">
            <a:avLst/>
          </a:prstGeom>
          <a:noFill/>
          <a:ln/>
        </p:spPr>
        <p:txBody>
          <a:bodyPr wrap="square" lIns="0" tIns="0" rIns="0" bIns="0" rtlCol="0" anchor="t"/>
          <a:lstStyle/>
          <a:p>
            <a:pPr indent="0" marL="0">
              <a:buNone/>
            </a:pPr>
            <a:r>
              <a:rPr lang="en-US" sz="1700" b="1" dirty="0">
                <a:solidFill>
                  <a:srgbClr val="494985"/>
                </a:solidFill>
                <a:latin typeface="Quicksand" pitchFamily="34" charset="0"/>
                <a:ea typeface="Quicksand" pitchFamily="34" charset="-122"/>
                <a:cs typeface="Quicksand" pitchFamily="34" charset="-120"/>
              </a:rPr>
              <a:t>Both are automated. Which situation needs decisions about changing conditions?</a:t>
            </a:r>
            <a:endParaRPr lang="en-US" sz="1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AF9F6"/>
        </a:solidFill>
      </p:bgPr>
    </p:bg>
    <p:spTree>
      <p:nvGrpSpPr>
        <p:cNvPr id="1" name=""/>
        <p:cNvGrpSpPr/>
        <p:nvPr/>
      </p:nvGrpSpPr>
      <p:grpSpPr>
        <a:xfrm>
          <a:off x="0" y="0"/>
          <a:ext cx="0" cy="0"/>
          <a:chOff x="0" y="0"/>
          <a:chExt cx="0" cy="0"/>
        </a:xfrm>
      </p:grpSpPr>
      <p:sp>
        <p:nvSpPr>
          <p:cNvPr id="2" name="Text 0"/>
          <p:cNvSpPr txBox="1"/>
          <p:nvPr/>
        </p:nvSpPr>
        <p:spPr>
          <a:xfrm>
            <a:off x="594360" y="301752"/>
            <a:ext cx="10424160" cy="274320"/>
          </a:xfrm>
          <a:prstGeom prst="rect">
            <a:avLst/>
          </a:prstGeom>
          <a:noFill/>
          <a:ln/>
        </p:spPr>
        <p:txBody>
          <a:bodyPr wrap="square" lIns="0" tIns="0" rIns="0" bIns="0" rtlCol="0" anchor="t"/>
          <a:lstStyle/>
          <a:p>
            <a:pPr indent="0" marL="0">
              <a:buNone/>
            </a:pPr>
            <a:r>
              <a:rPr lang="en-US" sz="1100" b="1" spc="200" kern="0" dirty="0">
                <a:solidFill>
                  <a:srgbClr val="494985"/>
                </a:solidFill>
                <a:latin typeface="Quicksand" pitchFamily="34" charset="0"/>
                <a:ea typeface="Quicksand" pitchFamily="34" charset="-122"/>
                <a:cs typeface="Quicksand" pitchFamily="34" charset="-120"/>
              </a:rPr>
              <a:t>UNDERSTAND · ARTIFICIAL INTELLIGENCE</a:t>
            </a:r>
            <a:endParaRPr lang="en-US" sz="1100" dirty="0"/>
          </a:p>
        </p:txBody>
      </p:sp>
      <p:sp>
        <p:nvSpPr>
          <p:cNvPr id="3" name="Text 1"/>
          <p:cNvSpPr txBox="1"/>
          <p:nvPr/>
        </p:nvSpPr>
        <p:spPr>
          <a:xfrm>
            <a:off x="594360" y="822960"/>
            <a:ext cx="10972800" cy="640080"/>
          </a:xfrm>
          <a:prstGeom prst="rect">
            <a:avLst/>
          </a:prstGeom>
          <a:noFill/>
          <a:ln/>
        </p:spPr>
        <p:txBody>
          <a:bodyPr wrap="square" lIns="0" tIns="0" rIns="0" bIns="0" rtlCol="0" anchor="t"/>
          <a:lstStyle/>
          <a:p>
            <a:pPr indent="0" marL="0">
              <a:buNone/>
            </a:pPr>
            <a:r>
              <a:rPr lang="en-US" sz="3200" b="1" dirty="0">
                <a:solidFill>
                  <a:srgbClr val="252341"/>
                </a:solidFill>
                <a:latin typeface="Quicksand" pitchFamily="34" charset="0"/>
                <a:ea typeface="Quicksand" pitchFamily="34" charset="-122"/>
                <a:cs typeface="Quicksand" pitchFamily="34" charset="-120"/>
              </a:rPr>
              <a:t>What do we mean by AI?</a:t>
            </a:r>
            <a:endParaRPr lang="en-US" sz="3200" dirty="0"/>
          </a:p>
        </p:txBody>
      </p:sp>
      <p:sp>
        <p:nvSpPr>
          <p:cNvPr id="4" name="Shape 2"/>
          <p:cNvSpPr/>
          <p:nvPr/>
        </p:nvSpPr>
        <p:spPr>
          <a:xfrm>
            <a:off x="594360" y="6355080"/>
            <a:ext cx="10972800" cy="0"/>
          </a:xfrm>
          <a:prstGeom prst="line">
            <a:avLst/>
          </a:prstGeom>
          <a:noFill/>
          <a:ln w="8890">
            <a:solidFill>
              <a:srgbClr val="DDDBE5"/>
            </a:solidFill>
            <a:prstDash val="solid"/>
          </a:ln>
        </p:spPr>
      </p:sp>
      <p:sp>
        <p:nvSpPr>
          <p:cNvPr id="5" name="Text 3"/>
          <p:cNvSpPr txBox="1"/>
          <p:nvPr/>
        </p:nvSpPr>
        <p:spPr>
          <a:xfrm>
            <a:off x="594360" y="6473952"/>
            <a:ext cx="5486400" cy="164592"/>
          </a:xfrm>
          <a:prstGeom prst="rect">
            <a:avLst/>
          </a:prstGeom>
          <a:noFill/>
          <a:ln/>
        </p:spPr>
        <p:txBody>
          <a:bodyPr wrap="square" lIns="0" tIns="0" rIns="0" bIns="0" rtlCol="0" anchor="t"/>
          <a:lstStyle/>
          <a:p>
            <a:pPr indent="0" marL="0">
              <a:buNone/>
            </a:pPr>
            <a:r>
              <a:rPr lang="en-US" sz="800" dirty="0">
                <a:solidFill>
                  <a:srgbClr val="777584"/>
                </a:solidFill>
                <a:latin typeface="Quicksand" pitchFamily="34" charset="0"/>
                <a:ea typeface="Quicksand" pitchFamily="34" charset="-122"/>
                <a:cs typeface="Quicksand" pitchFamily="34" charset="-120"/>
              </a:rPr>
              <a:t>IGCSE 0478  /  ARTIFICIAL INTELLIGENCE</a:t>
            </a:r>
            <a:endParaRPr lang="en-US" sz="800" dirty="0"/>
          </a:p>
        </p:txBody>
      </p:sp>
      <p:sp>
        <p:nvSpPr>
          <p:cNvPr id="6" name="Text 4"/>
          <p:cNvSpPr txBox="1"/>
          <p:nvPr/>
        </p:nvSpPr>
        <p:spPr>
          <a:xfrm>
            <a:off x="11018520" y="6419088"/>
            <a:ext cx="530352" cy="228600"/>
          </a:xfrm>
          <a:prstGeom prst="rect">
            <a:avLst/>
          </a:prstGeom>
          <a:noFill/>
          <a:ln/>
        </p:spPr>
        <p:txBody>
          <a:bodyPr wrap="square" lIns="0" tIns="0" rIns="0" bIns="0" rtlCol="0" anchor="t"/>
          <a:lstStyle/>
          <a:p>
            <a:pPr algn="r" indent="0" marL="0">
              <a:buNone/>
            </a:pPr>
            <a:r>
              <a:rPr lang="en-US" sz="1100" dirty="0">
                <a:solidFill>
                  <a:srgbClr val="777584"/>
                </a:solidFill>
                <a:latin typeface="Quicksand" pitchFamily="34" charset="0"/>
                <a:ea typeface="Quicksand" pitchFamily="34" charset="-122"/>
                <a:cs typeface="Quicksand" pitchFamily="34" charset="-120"/>
              </a:rPr>
              <a:t>04</a:t>
            </a:r>
            <a:endParaRPr lang="en-US" sz="1100" dirty="0"/>
          </a:p>
        </p:txBody>
      </p:sp>
      <p:pic>
        <p:nvPicPr>
          <p:cNvPr id="8" name="Image 0" descr="Paris - Playing chess at the Jardins du Luxembourg - 2955.jpg">    </p:cNvPr>
          <p:cNvPicPr>
            <a:picLocks noChangeAspect="1"/>
          </p:cNvPicPr>
          <p:nvPr/>
        </p:nvPicPr>
        <p:blipFill>
          <a:blip r:embed="rId1"/>
          <a:srcRect l="0" r="0" t="0" b="4878"/>
          <a:stretch/>
        </p:blipFill>
        <p:spPr>
          <a:xfrm>
            <a:off x="594360" y="1783080"/>
            <a:ext cx="5623560" cy="3566160"/>
          </a:xfrm>
          <a:prstGeom prst="rect">
            <a:avLst/>
          </a:prstGeom>
        </p:spPr>
      </p:pic>
      <p:sp>
        <p:nvSpPr>
          <p:cNvPr id="9" name="Text 5"/>
          <p:cNvSpPr txBox="1"/>
          <p:nvPr/>
        </p:nvSpPr>
        <p:spPr>
          <a:xfrm>
            <a:off x="594360" y="5413248"/>
            <a:ext cx="5623560" cy="246888"/>
          </a:xfrm>
          <a:prstGeom prst="rect">
            <a:avLst/>
          </a:prstGeom>
          <a:noFill/>
          <a:ln/>
        </p:spPr>
        <p:txBody>
          <a:bodyPr wrap="square" lIns="0" tIns="0" rIns="0" bIns="0" rtlCol="0" anchor="t"/>
          <a:lstStyle/>
          <a:p>
            <a:pPr indent="0" marL="0">
              <a:buNone/>
            </a:pPr>
            <a:r>
              <a:rPr lang="en-US" sz="900" dirty="0">
                <a:solidFill>
                  <a:srgbClr val="777584"/>
                </a:solidFill>
                <a:latin typeface="Quicksand" pitchFamily="34" charset="0"/>
                <a:ea typeface="Quicksand" pitchFamily="34" charset="-122"/>
                <a:cs typeface="Quicksand" pitchFamily="34" charset="-120"/>
              </a:rPr>
              <a:t>Jorge Royan · CC BY-SA 3.0</a:t>
            </a:r>
            <a:endParaRPr lang="en-US" sz="900" dirty="0"/>
          </a:p>
        </p:txBody>
      </p:sp>
      <p:sp>
        <p:nvSpPr>
          <p:cNvPr id="11" name="Text 6"/>
          <p:cNvSpPr txBox="1"/>
          <p:nvPr/>
        </p:nvSpPr>
        <p:spPr>
          <a:xfrm>
            <a:off x="6720840" y="1920240"/>
            <a:ext cx="4800600" cy="1188720"/>
          </a:xfrm>
          <a:prstGeom prst="rect">
            <a:avLst/>
          </a:prstGeom>
          <a:noFill/>
          <a:ln/>
        </p:spPr>
        <p:txBody>
          <a:bodyPr wrap="square" lIns="0" tIns="0" rIns="0" bIns="0" rtlCol="0" anchor="t"/>
          <a:lstStyle/>
          <a:p>
            <a:pPr indent="0" marL="0">
              <a:buNone/>
            </a:pPr>
            <a:r>
              <a:rPr lang="en-US" sz="2900" b="1" dirty="0">
                <a:solidFill>
                  <a:srgbClr val="252341"/>
                </a:solidFill>
                <a:latin typeface="Quicksand" pitchFamily="34" charset="0"/>
                <a:ea typeface="Quicksand" pitchFamily="34" charset="-122"/>
                <a:cs typeface="Quicksand" pitchFamily="34" charset="-120"/>
              </a:rPr>
              <a:t>Computers simulate</a:t>
            </a:r>
            <a:endParaRPr lang="en-US" sz="2900" dirty="0"/>
          </a:p>
          <a:p>
            <a:pPr indent="0" marL="0">
              <a:buNone/>
            </a:pPr>
            <a:r>
              <a:rPr lang="en-US" sz="2900" b="1" dirty="0">
                <a:solidFill>
                  <a:srgbClr val="252341"/>
                </a:solidFill>
                <a:latin typeface="Quicksand" pitchFamily="34" charset="0"/>
                <a:ea typeface="Quicksand" pitchFamily="34" charset="-122"/>
                <a:cs typeface="Quicksand" pitchFamily="34" charset="-120"/>
              </a:rPr>
              <a:t>intelligent behaviour.</a:t>
            </a:r>
            <a:endParaRPr lang="en-US" sz="2900" dirty="0"/>
          </a:p>
        </p:txBody>
      </p:sp>
      <p:sp>
        <p:nvSpPr>
          <p:cNvPr id="12" name="Text 7"/>
          <p:cNvSpPr txBox="1"/>
          <p:nvPr/>
        </p:nvSpPr>
        <p:spPr>
          <a:xfrm>
            <a:off x="6720840" y="3474720"/>
            <a:ext cx="4800600" cy="1508760"/>
          </a:xfrm>
          <a:prstGeom prst="rect">
            <a:avLst/>
          </a:prstGeom>
          <a:noFill/>
          <a:ln/>
        </p:spPr>
        <p:txBody>
          <a:bodyPr wrap="square" lIns="0" tIns="0" rIns="0" bIns="0" rtlCol="0" anchor="t"/>
          <a:lstStyle/>
          <a:p>
            <a:pPr indent="0" marL="0">
              <a:buNone/>
            </a:pPr>
            <a:r>
              <a:rPr lang="en-US" sz="2300" dirty="0">
                <a:solidFill>
                  <a:srgbClr val="252341"/>
                </a:solidFill>
                <a:latin typeface="Quicksand" pitchFamily="34" charset="0"/>
                <a:ea typeface="Quicksand" pitchFamily="34" charset="-122"/>
                <a:cs typeface="Quicksand" pitchFamily="34" charset="-120"/>
              </a:rPr>
              <a:t>Use data and rules.</a:t>
            </a:r>
            <a:endParaRPr lang="en-US" sz="2300" dirty="0"/>
          </a:p>
          <a:p>
            <a:pPr indent="0" marL="0">
              <a:buNone/>
            </a:pPr>
            <a:r>
              <a:rPr lang="en-US" sz="2300" dirty="0">
                <a:solidFill>
                  <a:srgbClr val="252341"/>
                </a:solidFill>
                <a:latin typeface="Quicksand" pitchFamily="34" charset="0"/>
                <a:ea typeface="Quicksand" pitchFamily="34" charset="-122"/>
                <a:cs typeface="Quicksand" pitchFamily="34" charset="-120"/>
              </a:rPr>
              <a:t>Reason about a decision.</a:t>
            </a:r>
            <a:endParaRPr lang="en-US" sz="2300" dirty="0"/>
          </a:p>
          <a:p>
            <a:pPr indent="0" marL="0">
              <a:buNone/>
            </a:pPr>
            <a:r>
              <a:rPr lang="en-US" sz="2300" dirty="0">
                <a:solidFill>
                  <a:srgbClr val="252341"/>
                </a:solidFill>
                <a:latin typeface="Quicksand" pitchFamily="34" charset="0"/>
                <a:ea typeface="Quicksand" pitchFamily="34" charset="-122"/>
                <a:cs typeface="Quicksand" pitchFamily="34" charset="-120"/>
              </a:rPr>
              <a:t>Learn or adapt where designed to.</a:t>
            </a:r>
            <a:endParaRPr lang="en-US" sz="2300" dirty="0"/>
          </a:p>
        </p:txBody>
      </p:sp>
      <p:sp>
        <p:nvSpPr>
          <p:cNvPr id="13" name="Text 8"/>
          <p:cNvSpPr txBox="1"/>
          <p:nvPr/>
        </p:nvSpPr>
        <p:spPr>
          <a:xfrm>
            <a:off x="594360" y="5650992"/>
            <a:ext cx="10972800" cy="384048"/>
          </a:xfrm>
          <a:prstGeom prst="rect">
            <a:avLst/>
          </a:prstGeom>
          <a:noFill/>
          <a:ln/>
        </p:spPr>
        <p:txBody>
          <a:bodyPr wrap="square" lIns="0" tIns="0" rIns="0" bIns="0" rtlCol="0" anchor="t"/>
          <a:lstStyle/>
          <a:p>
            <a:pPr indent="0" marL="0">
              <a:buNone/>
            </a:pPr>
            <a:r>
              <a:rPr lang="en-US" sz="1700" b="1" dirty="0">
                <a:solidFill>
                  <a:srgbClr val="494985"/>
                </a:solidFill>
                <a:latin typeface="Quicksand" pitchFamily="34" charset="0"/>
                <a:ea typeface="Quicksand" pitchFamily="34" charset="-122"/>
                <a:cs typeface="Quicksand" pitchFamily="34" charset="-120"/>
              </a:rPr>
              <a:t>Think: a chess computer has several legal moves. How could it choose between them?</a:t>
            </a:r>
            <a:endParaRPr lang="en-US" sz="1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AF9F6"/>
        </a:solidFill>
      </p:bgPr>
    </p:bg>
    <p:spTree>
      <p:nvGrpSpPr>
        <p:cNvPr id="1" name=""/>
        <p:cNvGrpSpPr/>
        <p:nvPr/>
      </p:nvGrpSpPr>
      <p:grpSpPr>
        <a:xfrm>
          <a:off x="0" y="0"/>
          <a:ext cx="0" cy="0"/>
          <a:chOff x="0" y="0"/>
          <a:chExt cx="0" cy="0"/>
        </a:xfrm>
      </p:grpSpPr>
      <p:sp>
        <p:nvSpPr>
          <p:cNvPr id="2" name="Text 0"/>
          <p:cNvSpPr txBox="1"/>
          <p:nvPr/>
        </p:nvSpPr>
        <p:spPr>
          <a:xfrm>
            <a:off x="594360" y="301752"/>
            <a:ext cx="10424160" cy="274320"/>
          </a:xfrm>
          <a:prstGeom prst="rect">
            <a:avLst/>
          </a:prstGeom>
          <a:noFill/>
          <a:ln/>
        </p:spPr>
        <p:txBody>
          <a:bodyPr wrap="square" lIns="0" tIns="0" rIns="0" bIns="0" rtlCol="0" anchor="t"/>
          <a:lstStyle/>
          <a:p>
            <a:pPr indent="0" marL="0">
              <a:buNone/>
            </a:pPr>
            <a:r>
              <a:rPr lang="en-US" sz="1100" b="1" spc="200" kern="0" dirty="0">
                <a:solidFill>
                  <a:srgbClr val="494985"/>
                </a:solidFill>
                <a:latin typeface="Quicksand" pitchFamily="34" charset="0"/>
                <a:ea typeface="Quicksand" pitchFamily="34" charset="-122"/>
                <a:cs typeface="Quicksand" pitchFamily="34" charset="-120"/>
              </a:rPr>
              <a:t>UNDERSTAND · EXPERT SYSTEMS</a:t>
            </a:r>
            <a:endParaRPr lang="en-US" sz="1100" dirty="0"/>
          </a:p>
        </p:txBody>
      </p:sp>
      <p:sp>
        <p:nvSpPr>
          <p:cNvPr id="3" name="Text 1"/>
          <p:cNvSpPr txBox="1"/>
          <p:nvPr/>
        </p:nvSpPr>
        <p:spPr>
          <a:xfrm>
            <a:off x="594360" y="822960"/>
            <a:ext cx="10972800" cy="640080"/>
          </a:xfrm>
          <a:prstGeom prst="rect">
            <a:avLst/>
          </a:prstGeom>
          <a:noFill/>
          <a:ln/>
        </p:spPr>
        <p:txBody>
          <a:bodyPr wrap="square" lIns="0" tIns="0" rIns="0" bIns="0" rtlCol="0" anchor="t"/>
          <a:lstStyle/>
          <a:p>
            <a:pPr indent="0" marL="0">
              <a:buNone/>
            </a:pPr>
            <a:r>
              <a:rPr lang="en-US" sz="3200" b="1" dirty="0">
                <a:solidFill>
                  <a:srgbClr val="252341"/>
                </a:solidFill>
                <a:latin typeface="Quicksand" pitchFamily="34" charset="0"/>
                <a:ea typeface="Quicksand" pitchFamily="34" charset="-122"/>
                <a:cs typeface="Quicksand" pitchFamily="34" charset="-120"/>
              </a:rPr>
              <a:t>A specialist, not a know-it-all</a:t>
            </a:r>
            <a:endParaRPr lang="en-US" sz="3200" dirty="0"/>
          </a:p>
        </p:txBody>
      </p:sp>
      <p:sp>
        <p:nvSpPr>
          <p:cNvPr id="4" name="Shape 2"/>
          <p:cNvSpPr/>
          <p:nvPr/>
        </p:nvSpPr>
        <p:spPr>
          <a:xfrm>
            <a:off x="594360" y="6355080"/>
            <a:ext cx="10972800" cy="0"/>
          </a:xfrm>
          <a:prstGeom prst="line">
            <a:avLst/>
          </a:prstGeom>
          <a:noFill/>
          <a:ln w="8890">
            <a:solidFill>
              <a:srgbClr val="DDDBE5"/>
            </a:solidFill>
            <a:prstDash val="solid"/>
          </a:ln>
        </p:spPr>
      </p:sp>
      <p:sp>
        <p:nvSpPr>
          <p:cNvPr id="5" name="Text 3"/>
          <p:cNvSpPr txBox="1"/>
          <p:nvPr/>
        </p:nvSpPr>
        <p:spPr>
          <a:xfrm>
            <a:off x="594360" y="6473952"/>
            <a:ext cx="5486400" cy="164592"/>
          </a:xfrm>
          <a:prstGeom prst="rect">
            <a:avLst/>
          </a:prstGeom>
          <a:noFill/>
          <a:ln/>
        </p:spPr>
        <p:txBody>
          <a:bodyPr wrap="square" lIns="0" tIns="0" rIns="0" bIns="0" rtlCol="0" anchor="t"/>
          <a:lstStyle/>
          <a:p>
            <a:pPr indent="0" marL="0">
              <a:buNone/>
            </a:pPr>
            <a:r>
              <a:rPr lang="en-US" sz="800" dirty="0">
                <a:solidFill>
                  <a:srgbClr val="777584"/>
                </a:solidFill>
                <a:latin typeface="Quicksand" pitchFamily="34" charset="0"/>
                <a:ea typeface="Quicksand" pitchFamily="34" charset="-122"/>
                <a:cs typeface="Quicksand" pitchFamily="34" charset="-120"/>
              </a:rPr>
              <a:t>IGCSE 0478  /  ARTIFICIAL INTELLIGENCE</a:t>
            </a:r>
            <a:endParaRPr lang="en-US" sz="800" dirty="0"/>
          </a:p>
        </p:txBody>
      </p:sp>
      <p:sp>
        <p:nvSpPr>
          <p:cNvPr id="6" name="Text 4"/>
          <p:cNvSpPr txBox="1"/>
          <p:nvPr/>
        </p:nvSpPr>
        <p:spPr>
          <a:xfrm>
            <a:off x="11018520" y="6419088"/>
            <a:ext cx="530352" cy="228600"/>
          </a:xfrm>
          <a:prstGeom prst="rect">
            <a:avLst/>
          </a:prstGeom>
          <a:noFill/>
          <a:ln/>
        </p:spPr>
        <p:txBody>
          <a:bodyPr wrap="square" lIns="0" tIns="0" rIns="0" bIns="0" rtlCol="0" anchor="t"/>
          <a:lstStyle/>
          <a:p>
            <a:pPr algn="r" indent="0" marL="0">
              <a:buNone/>
            </a:pPr>
            <a:r>
              <a:rPr lang="en-US" sz="1100" dirty="0">
                <a:solidFill>
                  <a:srgbClr val="777584"/>
                </a:solidFill>
                <a:latin typeface="Quicksand" pitchFamily="34" charset="0"/>
                <a:ea typeface="Quicksand" pitchFamily="34" charset="-122"/>
                <a:cs typeface="Quicksand" pitchFamily="34" charset="-120"/>
              </a:rPr>
              <a:t>05</a:t>
            </a:r>
            <a:endParaRPr lang="en-US" sz="1100" dirty="0"/>
          </a:p>
        </p:txBody>
      </p:sp>
      <p:pic>
        <p:nvPicPr>
          <p:cNvPr id="8" name="Image 0" descr="Chery A1 - service shop in Ukraine (7).jpg">    </p:cNvPr>
          <p:cNvPicPr>
            <a:picLocks noChangeAspect="1"/>
          </p:cNvPicPr>
          <p:nvPr/>
        </p:nvPicPr>
        <p:blipFill>
          <a:blip r:embed="rId1"/>
          <a:srcRect l="0" r="0" t="0" b="23114"/>
          <a:stretch/>
        </p:blipFill>
        <p:spPr>
          <a:xfrm>
            <a:off x="594360" y="1783080"/>
            <a:ext cx="6263640" cy="3611880"/>
          </a:xfrm>
          <a:prstGeom prst="rect">
            <a:avLst/>
          </a:prstGeom>
        </p:spPr>
      </p:pic>
      <p:sp>
        <p:nvSpPr>
          <p:cNvPr id="9" name="Text 5"/>
          <p:cNvSpPr txBox="1"/>
          <p:nvPr/>
        </p:nvSpPr>
        <p:spPr>
          <a:xfrm>
            <a:off x="594360" y="5458968"/>
            <a:ext cx="6263640" cy="246888"/>
          </a:xfrm>
          <a:prstGeom prst="rect">
            <a:avLst/>
          </a:prstGeom>
          <a:noFill/>
          <a:ln/>
        </p:spPr>
        <p:txBody>
          <a:bodyPr wrap="square" lIns="0" tIns="0" rIns="0" bIns="0" rtlCol="0" anchor="t"/>
          <a:lstStyle/>
          <a:p>
            <a:pPr indent="0" marL="0">
              <a:buNone/>
            </a:pPr>
            <a:r>
              <a:rPr lang="en-US" sz="900" dirty="0">
                <a:solidFill>
                  <a:srgbClr val="777584"/>
                </a:solidFill>
                <a:latin typeface="Quicksand" pitchFamily="34" charset="0"/>
                <a:ea typeface="Quicksand" pitchFamily="34" charset="-122"/>
                <a:cs typeface="Quicksand" pitchFamily="34" charset="-120"/>
              </a:rPr>
              <a:t>ANT Berezhnyi · CC BY 3.0</a:t>
            </a:r>
            <a:endParaRPr lang="en-US" sz="900" dirty="0"/>
          </a:p>
        </p:txBody>
      </p:sp>
      <p:sp>
        <p:nvSpPr>
          <p:cNvPr id="11" name="Text 6"/>
          <p:cNvSpPr txBox="1"/>
          <p:nvPr/>
        </p:nvSpPr>
        <p:spPr>
          <a:xfrm>
            <a:off x="7315200" y="1874520"/>
            <a:ext cx="4160520" cy="777240"/>
          </a:xfrm>
          <a:prstGeom prst="rect">
            <a:avLst/>
          </a:prstGeom>
          <a:noFill/>
          <a:ln/>
        </p:spPr>
        <p:txBody>
          <a:bodyPr wrap="square" lIns="0" tIns="0" rIns="0" bIns="0" rtlCol="0" anchor="t"/>
          <a:lstStyle/>
          <a:p>
            <a:pPr indent="0" marL="0">
              <a:buNone/>
            </a:pPr>
            <a:r>
              <a:rPr lang="en-US" sz="2900" b="1" dirty="0">
                <a:solidFill>
                  <a:srgbClr val="252341"/>
                </a:solidFill>
                <a:latin typeface="Quicksand" pitchFamily="34" charset="0"/>
                <a:ea typeface="Quicksand" pitchFamily="34" charset="-122"/>
                <a:cs typeface="Quicksand" pitchFamily="34" charset="-120"/>
              </a:rPr>
              <a:t>“My brakes feel wrong.”</a:t>
            </a:r>
            <a:endParaRPr lang="en-US" sz="2900" dirty="0"/>
          </a:p>
        </p:txBody>
      </p:sp>
      <p:sp>
        <p:nvSpPr>
          <p:cNvPr id="12" name="Text 7"/>
          <p:cNvSpPr txBox="1"/>
          <p:nvPr/>
        </p:nvSpPr>
        <p:spPr>
          <a:xfrm>
            <a:off x="7315200" y="2926080"/>
            <a:ext cx="4160520" cy="1874520"/>
          </a:xfrm>
          <a:prstGeom prst="rect">
            <a:avLst/>
          </a:prstGeom>
          <a:noFill/>
          <a:ln/>
        </p:spPr>
        <p:txBody>
          <a:bodyPr wrap="square" lIns="0" tIns="0" rIns="0" bIns="0" rtlCol="0" anchor="t"/>
          <a:lstStyle/>
          <a:p>
            <a:pPr indent="0" marL="0">
              <a:buNone/>
            </a:pPr>
            <a:r>
              <a:rPr lang="en-US" sz="2300" dirty="0">
                <a:solidFill>
                  <a:srgbClr val="252341"/>
                </a:solidFill>
                <a:latin typeface="Quicksand" pitchFamily="34" charset="0"/>
                <a:ea typeface="Quicksand" pitchFamily="34" charset="-122"/>
                <a:cs typeface="Quicksand" pitchFamily="34" charset="-120"/>
              </a:rPr>
              <a:t>What would a mechanic ask?</a:t>
            </a:r>
            <a:endParaRPr lang="en-US" sz="2300" dirty="0"/>
          </a:p>
          <a:p>
            <a:pPr indent="0" marL="0">
              <a:buNone/>
            </a:pPr>
            <a:r>
              <a:rPr lang="en-US" sz="2300" dirty="0">
                <a:solidFill>
                  <a:srgbClr val="252341"/>
                </a:solidFill>
                <a:latin typeface="Quicksand" pitchFamily="34" charset="0"/>
                <a:ea typeface="Quicksand" pitchFamily="34" charset="-122"/>
                <a:cs typeface="Quicksand" pitchFamily="34" charset="-120"/>
              </a:rPr>
              <a:t>What facts would they use?</a:t>
            </a:r>
            <a:endParaRPr lang="en-US" sz="2300" dirty="0"/>
          </a:p>
          <a:p>
            <a:pPr indent="0" marL="0">
              <a:buNone/>
            </a:pPr>
            <a:r>
              <a:rPr lang="en-US" sz="2300" dirty="0">
                <a:solidFill>
                  <a:srgbClr val="252341"/>
                </a:solidFill>
                <a:latin typeface="Quicksand" pitchFamily="34" charset="0"/>
                <a:ea typeface="Quicksand" pitchFamily="34" charset="-122"/>
                <a:cs typeface="Quicksand" pitchFamily="34" charset="-120"/>
              </a:rPr>
              <a:t>How would they reach advice?</a:t>
            </a:r>
            <a:endParaRPr lang="en-US" sz="2300" dirty="0"/>
          </a:p>
        </p:txBody>
      </p:sp>
      <p:sp>
        <p:nvSpPr>
          <p:cNvPr id="13" name="Text 8"/>
          <p:cNvSpPr txBox="1"/>
          <p:nvPr/>
        </p:nvSpPr>
        <p:spPr>
          <a:xfrm>
            <a:off x="594360" y="5650992"/>
            <a:ext cx="10972800" cy="384048"/>
          </a:xfrm>
          <a:prstGeom prst="rect">
            <a:avLst/>
          </a:prstGeom>
          <a:noFill/>
          <a:ln/>
        </p:spPr>
        <p:txBody>
          <a:bodyPr wrap="square" lIns="0" tIns="0" rIns="0" bIns="0" rtlCol="0" anchor="t"/>
          <a:lstStyle/>
          <a:p>
            <a:pPr indent="0" marL="0">
              <a:buNone/>
            </a:pPr>
            <a:r>
              <a:rPr lang="en-US" sz="1700" b="1" dirty="0">
                <a:solidFill>
                  <a:srgbClr val="494985"/>
                </a:solidFill>
                <a:latin typeface="Quicksand" pitchFamily="34" charset="0"/>
                <a:ea typeface="Quicksand" pitchFamily="34" charset="-122"/>
                <a:cs typeface="Quicksand" pitchFamily="34" charset="-120"/>
              </a:rPr>
              <a:t>An expert system models expert decision-making within a particular domain.</a:t>
            </a:r>
            <a:endParaRPr lang="en-US" sz="1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AF9F6"/>
        </a:solidFill>
      </p:bgPr>
    </p:bg>
    <p:spTree>
      <p:nvGrpSpPr>
        <p:cNvPr id="1" name=""/>
        <p:cNvGrpSpPr/>
        <p:nvPr/>
      </p:nvGrpSpPr>
      <p:grpSpPr>
        <a:xfrm>
          <a:off x="0" y="0"/>
          <a:ext cx="0" cy="0"/>
          <a:chOff x="0" y="0"/>
          <a:chExt cx="0" cy="0"/>
        </a:xfrm>
      </p:grpSpPr>
      <p:sp>
        <p:nvSpPr>
          <p:cNvPr id="2" name="Text 0"/>
          <p:cNvSpPr txBox="1"/>
          <p:nvPr/>
        </p:nvSpPr>
        <p:spPr>
          <a:xfrm>
            <a:off x="594360" y="301752"/>
            <a:ext cx="10424160" cy="274320"/>
          </a:xfrm>
          <a:prstGeom prst="rect">
            <a:avLst/>
          </a:prstGeom>
          <a:noFill/>
          <a:ln/>
        </p:spPr>
        <p:txBody>
          <a:bodyPr wrap="square" lIns="0" tIns="0" rIns="0" bIns="0" rtlCol="0" anchor="t"/>
          <a:lstStyle/>
          <a:p>
            <a:pPr indent="0" marL="0">
              <a:buNone/>
            </a:pPr>
            <a:r>
              <a:rPr lang="en-US" sz="1100" b="1" spc="200" kern="0" dirty="0">
                <a:solidFill>
                  <a:srgbClr val="494985"/>
                </a:solidFill>
                <a:latin typeface="Quicksand" pitchFamily="34" charset="0"/>
                <a:ea typeface="Quicksand" pitchFamily="34" charset="-122"/>
                <a:cs typeface="Quicksand" pitchFamily="34" charset="-120"/>
              </a:rPr>
              <a:t>UNDERSTAND · FOUR COMPONENTS</a:t>
            </a:r>
            <a:endParaRPr lang="en-US" sz="1100" dirty="0"/>
          </a:p>
        </p:txBody>
      </p:sp>
      <p:sp>
        <p:nvSpPr>
          <p:cNvPr id="3" name="Text 1"/>
          <p:cNvSpPr txBox="1"/>
          <p:nvPr/>
        </p:nvSpPr>
        <p:spPr>
          <a:xfrm>
            <a:off x="594360" y="822960"/>
            <a:ext cx="10972800" cy="640080"/>
          </a:xfrm>
          <a:prstGeom prst="rect">
            <a:avLst/>
          </a:prstGeom>
          <a:noFill/>
          <a:ln/>
        </p:spPr>
        <p:txBody>
          <a:bodyPr wrap="square" lIns="0" tIns="0" rIns="0" bIns="0" rtlCol="0" anchor="t"/>
          <a:lstStyle/>
          <a:p>
            <a:pPr indent="0" marL="0">
              <a:buNone/>
            </a:pPr>
            <a:r>
              <a:rPr lang="en-US" sz="3200" b="1" dirty="0">
                <a:solidFill>
                  <a:srgbClr val="252341"/>
                </a:solidFill>
                <a:latin typeface="Quicksand" pitchFamily="34" charset="0"/>
                <a:ea typeface="Quicksand" pitchFamily="34" charset="-122"/>
                <a:cs typeface="Quicksand" pitchFamily="34" charset="-120"/>
              </a:rPr>
              <a:t>Inside an expert system</a:t>
            </a:r>
            <a:endParaRPr lang="en-US" sz="3200" dirty="0"/>
          </a:p>
        </p:txBody>
      </p:sp>
      <p:sp>
        <p:nvSpPr>
          <p:cNvPr id="4" name="Shape 2"/>
          <p:cNvSpPr/>
          <p:nvPr/>
        </p:nvSpPr>
        <p:spPr>
          <a:xfrm>
            <a:off x="594360" y="6355080"/>
            <a:ext cx="10972800" cy="0"/>
          </a:xfrm>
          <a:prstGeom prst="line">
            <a:avLst/>
          </a:prstGeom>
          <a:noFill/>
          <a:ln w="8890">
            <a:solidFill>
              <a:srgbClr val="DDDBE5"/>
            </a:solidFill>
            <a:prstDash val="solid"/>
          </a:ln>
        </p:spPr>
      </p:sp>
      <p:sp>
        <p:nvSpPr>
          <p:cNvPr id="5" name="Text 3"/>
          <p:cNvSpPr txBox="1"/>
          <p:nvPr/>
        </p:nvSpPr>
        <p:spPr>
          <a:xfrm>
            <a:off x="594360" y="6473952"/>
            <a:ext cx="5486400" cy="164592"/>
          </a:xfrm>
          <a:prstGeom prst="rect">
            <a:avLst/>
          </a:prstGeom>
          <a:noFill/>
          <a:ln/>
        </p:spPr>
        <p:txBody>
          <a:bodyPr wrap="square" lIns="0" tIns="0" rIns="0" bIns="0" rtlCol="0" anchor="t"/>
          <a:lstStyle/>
          <a:p>
            <a:pPr indent="0" marL="0">
              <a:buNone/>
            </a:pPr>
            <a:r>
              <a:rPr lang="en-US" sz="800" dirty="0">
                <a:solidFill>
                  <a:srgbClr val="777584"/>
                </a:solidFill>
                <a:latin typeface="Quicksand" pitchFamily="34" charset="0"/>
                <a:ea typeface="Quicksand" pitchFamily="34" charset="-122"/>
                <a:cs typeface="Quicksand" pitchFamily="34" charset="-120"/>
              </a:rPr>
              <a:t>IGCSE 0478  /  ARTIFICIAL INTELLIGENCE</a:t>
            </a:r>
            <a:endParaRPr lang="en-US" sz="800" dirty="0"/>
          </a:p>
        </p:txBody>
      </p:sp>
      <p:sp>
        <p:nvSpPr>
          <p:cNvPr id="6" name="Text 4"/>
          <p:cNvSpPr txBox="1"/>
          <p:nvPr/>
        </p:nvSpPr>
        <p:spPr>
          <a:xfrm>
            <a:off x="11018520" y="6419088"/>
            <a:ext cx="530352" cy="228600"/>
          </a:xfrm>
          <a:prstGeom prst="rect">
            <a:avLst/>
          </a:prstGeom>
          <a:noFill/>
          <a:ln/>
        </p:spPr>
        <p:txBody>
          <a:bodyPr wrap="square" lIns="0" tIns="0" rIns="0" bIns="0" rtlCol="0" anchor="t"/>
          <a:lstStyle/>
          <a:p>
            <a:pPr algn="r" indent="0" marL="0">
              <a:buNone/>
            </a:pPr>
            <a:r>
              <a:rPr lang="en-US" sz="1100" dirty="0">
                <a:solidFill>
                  <a:srgbClr val="777584"/>
                </a:solidFill>
                <a:latin typeface="Quicksand" pitchFamily="34" charset="0"/>
                <a:ea typeface="Quicksand" pitchFamily="34" charset="-122"/>
                <a:cs typeface="Quicksand" pitchFamily="34" charset="-120"/>
              </a:rPr>
              <a:t>06</a:t>
            </a:r>
            <a:endParaRPr lang="en-US" sz="1100" dirty="0"/>
          </a:p>
        </p:txBody>
      </p:sp>
      <p:sp>
        <p:nvSpPr>
          <p:cNvPr id="7" name="Text 5"/>
          <p:cNvSpPr txBox="1"/>
          <p:nvPr/>
        </p:nvSpPr>
        <p:spPr>
          <a:xfrm>
            <a:off x="594360" y="6144768"/>
            <a:ext cx="10607040" cy="164592"/>
          </a:xfrm>
          <a:prstGeom prst="rect">
            <a:avLst/>
          </a:prstGeom>
          <a:noFill/>
          <a:ln/>
        </p:spPr>
        <p:txBody>
          <a:bodyPr wrap="square" lIns="0" tIns="0" rIns="0" bIns="0" rtlCol="0" anchor="t"/>
          <a:lstStyle/>
          <a:p>
            <a:pPr indent="0" marL="0">
              <a:buNone/>
            </a:pPr>
            <a:r>
              <a:rPr lang="en-US" sz="900" dirty="0">
                <a:solidFill>
                  <a:srgbClr val="777584"/>
                </a:solidFill>
                <a:latin typeface="Quicksand" pitchFamily="34" charset="0"/>
                <a:ea typeface="Quicksand" pitchFamily="34" charset="-122"/>
                <a:cs typeface="Quicksand" pitchFamily="34" charset="-120"/>
              </a:rPr>
              <a:t>0478/12 May/June 2023 Q9(b) · 0478/13 May/June 2023 Q7(b) · 0478/13 Oct/Nov 2023 Q10(a) · 0478/11 Oct/Nov 2024 Q9(a)</a:t>
            </a:r>
            <a:endParaRPr lang="en-US" sz="900" dirty="0"/>
          </a:p>
        </p:txBody>
      </p:sp>
      <p:sp>
        <p:nvSpPr>
          <p:cNvPr id="9" name="Shape 6"/>
          <p:cNvSpPr/>
          <p:nvPr/>
        </p:nvSpPr>
        <p:spPr>
          <a:xfrm>
            <a:off x="594360" y="2423160"/>
            <a:ext cx="2788920" cy="2423160"/>
          </a:xfrm>
          <a:prstGeom prst="rect">
            <a:avLst/>
          </a:prstGeom>
          <a:solidFill>
            <a:srgbClr val="EFEEF5"/>
          </a:solidFill>
          <a:ln w="12700">
            <a:solidFill>
              <a:srgbClr val="EFEEF5"/>
            </a:solidFill>
            <a:prstDash val="solid"/>
          </a:ln>
        </p:spPr>
      </p:sp>
      <p:sp>
        <p:nvSpPr>
          <p:cNvPr id="10" name="Text 7"/>
          <p:cNvSpPr txBox="1"/>
          <p:nvPr/>
        </p:nvSpPr>
        <p:spPr>
          <a:xfrm>
            <a:off x="777240" y="2560320"/>
            <a:ext cx="2423160" cy="594360"/>
          </a:xfrm>
          <a:prstGeom prst="rect">
            <a:avLst/>
          </a:prstGeom>
          <a:noFill/>
          <a:ln/>
        </p:spPr>
        <p:txBody>
          <a:bodyPr wrap="square" lIns="0" tIns="0" rIns="0" bIns="0" rtlCol="0" anchor="t"/>
          <a:lstStyle/>
          <a:p>
            <a:pPr indent="0" marL="0">
              <a:buNone/>
            </a:pPr>
            <a:r>
              <a:rPr lang="en-US" sz="2200" b="1" dirty="0">
                <a:solidFill>
                  <a:srgbClr val="494985"/>
                </a:solidFill>
                <a:latin typeface="Quicksand" pitchFamily="34" charset="0"/>
                <a:ea typeface="Quicksand" pitchFamily="34" charset="-122"/>
                <a:cs typeface="Quicksand" pitchFamily="34" charset="-120"/>
              </a:rPr>
              <a:t>Interface</a:t>
            </a:r>
            <a:endParaRPr lang="en-US" sz="2200" dirty="0"/>
          </a:p>
        </p:txBody>
      </p:sp>
      <p:sp>
        <p:nvSpPr>
          <p:cNvPr id="11" name="Text 8"/>
          <p:cNvSpPr txBox="1"/>
          <p:nvPr/>
        </p:nvSpPr>
        <p:spPr>
          <a:xfrm>
            <a:off x="777240" y="3209544"/>
            <a:ext cx="2423160" cy="1545336"/>
          </a:xfrm>
          <a:prstGeom prst="rect">
            <a:avLst/>
          </a:prstGeom>
          <a:noFill/>
          <a:ln/>
        </p:spPr>
        <p:txBody>
          <a:bodyPr wrap="square" lIns="0" tIns="0" rIns="0" bIns="0" rtlCol="0" anchor="t"/>
          <a:lstStyle/>
          <a:p>
            <a:pPr indent="0" marL="0">
              <a:buNone/>
            </a:pPr>
            <a:r>
              <a:rPr lang="en-US" sz="2000" dirty="0">
                <a:solidFill>
                  <a:srgbClr val="252341"/>
                </a:solidFill>
                <a:latin typeface="Quicksand" pitchFamily="34" charset="0"/>
                <a:ea typeface="Quicksand" pitchFamily="34" charset="-122"/>
                <a:cs typeface="Quicksand" pitchFamily="34" charset="-120"/>
              </a:rPr>
              <a:t>User enters data here.</a:t>
            </a:r>
            <a:endParaRPr lang="en-US" sz="2000" dirty="0"/>
          </a:p>
          <a:p>
            <a:pPr indent="0" marL="0">
              <a:buNone/>
            </a:pPr>
            <a:r>
              <a:rPr lang="en-US" sz="2000" dirty="0">
                <a:solidFill>
                  <a:srgbClr val="252341"/>
                </a:solidFill>
                <a:latin typeface="Quicksand" pitchFamily="34" charset="0"/>
                <a:ea typeface="Quicksand" pitchFamily="34" charset="-122"/>
                <a:cs typeface="Quicksand" pitchFamily="34" charset="-120"/>
              </a:rPr>
              <a:t>Displays questions and the diagnosis.</a:t>
            </a:r>
            <a:endParaRPr lang="en-US" sz="2000" dirty="0"/>
          </a:p>
        </p:txBody>
      </p:sp>
      <p:sp>
        <p:nvSpPr>
          <p:cNvPr id="12" name="Shape 9"/>
          <p:cNvSpPr/>
          <p:nvPr/>
        </p:nvSpPr>
        <p:spPr>
          <a:xfrm>
            <a:off x="3977640" y="1874520"/>
            <a:ext cx="3657600" cy="3520440"/>
          </a:xfrm>
          <a:prstGeom prst="rect">
            <a:avLst/>
          </a:prstGeom>
          <a:solidFill>
            <a:srgbClr val="EFEEF5"/>
          </a:solidFill>
          <a:ln w="12700">
            <a:solidFill>
              <a:srgbClr val="EFEEF5"/>
            </a:solidFill>
            <a:prstDash val="solid"/>
          </a:ln>
        </p:spPr>
      </p:sp>
      <p:sp>
        <p:nvSpPr>
          <p:cNvPr id="13" name="Text 10"/>
          <p:cNvSpPr txBox="1"/>
          <p:nvPr/>
        </p:nvSpPr>
        <p:spPr>
          <a:xfrm>
            <a:off x="4160520" y="2011680"/>
            <a:ext cx="3291840" cy="594360"/>
          </a:xfrm>
          <a:prstGeom prst="rect">
            <a:avLst/>
          </a:prstGeom>
          <a:noFill/>
          <a:ln/>
        </p:spPr>
        <p:txBody>
          <a:bodyPr wrap="square" lIns="0" tIns="0" rIns="0" bIns="0" rtlCol="0" anchor="t"/>
          <a:lstStyle/>
          <a:p>
            <a:pPr indent="0" marL="0">
              <a:buNone/>
            </a:pPr>
            <a:r>
              <a:rPr lang="en-US" sz="2200" b="1" dirty="0">
                <a:solidFill>
                  <a:srgbClr val="494985"/>
                </a:solidFill>
                <a:latin typeface="Quicksand" pitchFamily="34" charset="0"/>
                <a:ea typeface="Quicksand" pitchFamily="34" charset="-122"/>
                <a:cs typeface="Quicksand" pitchFamily="34" charset="-120"/>
              </a:rPr>
              <a:t>Inference engine</a:t>
            </a:r>
            <a:endParaRPr lang="en-US" sz="2200" dirty="0"/>
          </a:p>
        </p:txBody>
      </p:sp>
      <p:sp>
        <p:nvSpPr>
          <p:cNvPr id="14" name="Text 11"/>
          <p:cNvSpPr txBox="1"/>
          <p:nvPr/>
        </p:nvSpPr>
        <p:spPr>
          <a:xfrm>
            <a:off x="4160520" y="2660904"/>
            <a:ext cx="3291840" cy="2642616"/>
          </a:xfrm>
          <a:prstGeom prst="rect">
            <a:avLst/>
          </a:prstGeom>
          <a:noFill/>
          <a:ln/>
        </p:spPr>
        <p:txBody>
          <a:bodyPr wrap="square" lIns="0" tIns="0" rIns="0" bIns="0" rtlCol="0" anchor="t"/>
          <a:lstStyle/>
          <a:p>
            <a:pPr indent="0" marL="0">
              <a:buNone/>
            </a:pPr>
            <a:r>
              <a:rPr lang="en-US" sz="2000" dirty="0">
                <a:solidFill>
                  <a:srgbClr val="252341"/>
                </a:solidFill>
                <a:latin typeface="Quicksand" pitchFamily="34" charset="0"/>
                <a:ea typeface="Quicksand" pitchFamily="34" charset="-122"/>
                <a:cs typeface="Quicksand" pitchFamily="34" charset="-120"/>
              </a:rPr>
              <a:t>Applies rules to facts to reach a diagnosis.</a:t>
            </a:r>
            <a:endParaRPr lang="en-US" sz="2000" dirty="0"/>
          </a:p>
          <a:p>
            <a:pPr indent="0" marL="0">
              <a:buNone/>
            </a:pPr>
            <a:r>
              <a:rPr lang="en-US" sz="2000" dirty="0">
                <a:solidFill>
                  <a:srgbClr val="252341"/>
                </a:solidFill>
                <a:latin typeface="Quicksand" pitchFamily="34" charset="0"/>
                <a:ea typeface="Quicksand" pitchFamily="34" charset="-122"/>
                <a:cs typeface="Quicksand" pitchFamily="34" charset="-120"/>
              </a:rPr>
              <a:t>Chooses questions using previous answers.</a:t>
            </a:r>
            <a:endParaRPr lang="en-US" sz="2000" dirty="0"/>
          </a:p>
        </p:txBody>
      </p:sp>
      <p:sp>
        <p:nvSpPr>
          <p:cNvPr id="15" name="Shape 12"/>
          <p:cNvSpPr/>
          <p:nvPr/>
        </p:nvSpPr>
        <p:spPr>
          <a:xfrm>
            <a:off x="8275320" y="1783080"/>
            <a:ext cx="3291840" cy="1645920"/>
          </a:xfrm>
          <a:prstGeom prst="rect">
            <a:avLst/>
          </a:prstGeom>
          <a:solidFill>
            <a:srgbClr val="EFEEF5"/>
          </a:solidFill>
          <a:ln w="12700">
            <a:solidFill>
              <a:srgbClr val="EFEEF5"/>
            </a:solidFill>
            <a:prstDash val="solid"/>
          </a:ln>
        </p:spPr>
      </p:sp>
      <p:sp>
        <p:nvSpPr>
          <p:cNvPr id="16" name="Text 13"/>
          <p:cNvSpPr txBox="1"/>
          <p:nvPr/>
        </p:nvSpPr>
        <p:spPr>
          <a:xfrm>
            <a:off x="8458200" y="1920240"/>
            <a:ext cx="2926080" cy="594360"/>
          </a:xfrm>
          <a:prstGeom prst="rect">
            <a:avLst/>
          </a:prstGeom>
          <a:noFill/>
          <a:ln/>
        </p:spPr>
        <p:txBody>
          <a:bodyPr wrap="square" lIns="0" tIns="0" rIns="0" bIns="0" rtlCol="0" anchor="t"/>
          <a:lstStyle/>
          <a:p>
            <a:pPr indent="0" marL="0">
              <a:buNone/>
            </a:pPr>
            <a:r>
              <a:rPr lang="en-US" sz="2200" b="1" dirty="0">
                <a:solidFill>
                  <a:srgbClr val="494985"/>
                </a:solidFill>
                <a:latin typeface="Quicksand" pitchFamily="34" charset="0"/>
                <a:ea typeface="Quicksand" pitchFamily="34" charset="-122"/>
                <a:cs typeface="Quicksand" pitchFamily="34" charset="-120"/>
              </a:rPr>
              <a:t>Knowledge base</a:t>
            </a:r>
            <a:endParaRPr lang="en-US" sz="2200" dirty="0"/>
          </a:p>
        </p:txBody>
      </p:sp>
      <p:sp>
        <p:nvSpPr>
          <p:cNvPr id="17" name="Text 14"/>
          <p:cNvSpPr txBox="1"/>
          <p:nvPr/>
        </p:nvSpPr>
        <p:spPr>
          <a:xfrm>
            <a:off x="8458200" y="2569464"/>
            <a:ext cx="2926080" cy="768096"/>
          </a:xfrm>
          <a:prstGeom prst="rect">
            <a:avLst/>
          </a:prstGeom>
          <a:noFill/>
          <a:ln/>
        </p:spPr>
        <p:txBody>
          <a:bodyPr wrap="square" lIns="0" tIns="0" rIns="0" bIns="0" rtlCol="0" anchor="t"/>
          <a:lstStyle/>
          <a:p>
            <a:pPr indent="0" marL="0">
              <a:buNone/>
            </a:pPr>
            <a:r>
              <a:rPr lang="en-US" sz="2000" dirty="0">
                <a:solidFill>
                  <a:srgbClr val="252341"/>
                </a:solidFill>
                <a:latin typeface="Quicksand" pitchFamily="34" charset="0"/>
                <a:ea typeface="Quicksand" pitchFamily="34" charset="-122"/>
                <a:cs typeface="Quicksand" pitchFamily="34" charset="-120"/>
              </a:rPr>
              <a:t>Stores a list of facts.</a:t>
            </a:r>
            <a:endParaRPr lang="en-US" sz="2000" dirty="0"/>
          </a:p>
        </p:txBody>
      </p:sp>
      <p:sp>
        <p:nvSpPr>
          <p:cNvPr id="18" name="Shape 15"/>
          <p:cNvSpPr/>
          <p:nvPr/>
        </p:nvSpPr>
        <p:spPr>
          <a:xfrm>
            <a:off x="8275320" y="3611880"/>
            <a:ext cx="3291840" cy="1874520"/>
          </a:xfrm>
          <a:prstGeom prst="rect">
            <a:avLst/>
          </a:prstGeom>
          <a:solidFill>
            <a:srgbClr val="EFEEF5"/>
          </a:solidFill>
          <a:ln w="12700">
            <a:solidFill>
              <a:srgbClr val="EFEEF5"/>
            </a:solidFill>
            <a:prstDash val="solid"/>
          </a:ln>
        </p:spPr>
      </p:sp>
      <p:sp>
        <p:nvSpPr>
          <p:cNvPr id="19" name="Text 16"/>
          <p:cNvSpPr txBox="1"/>
          <p:nvPr/>
        </p:nvSpPr>
        <p:spPr>
          <a:xfrm>
            <a:off x="8458200" y="3749040"/>
            <a:ext cx="2926080" cy="594360"/>
          </a:xfrm>
          <a:prstGeom prst="rect">
            <a:avLst/>
          </a:prstGeom>
          <a:noFill/>
          <a:ln/>
        </p:spPr>
        <p:txBody>
          <a:bodyPr wrap="square" lIns="0" tIns="0" rIns="0" bIns="0" rtlCol="0" anchor="t"/>
          <a:lstStyle/>
          <a:p>
            <a:pPr indent="0" marL="0">
              <a:buNone/>
            </a:pPr>
            <a:r>
              <a:rPr lang="en-US" sz="2200" b="1" dirty="0">
                <a:solidFill>
                  <a:srgbClr val="494985"/>
                </a:solidFill>
                <a:latin typeface="Quicksand" pitchFamily="34" charset="0"/>
                <a:ea typeface="Quicksand" pitchFamily="34" charset="-122"/>
                <a:cs typeface="Quicksand" pitchFamily="34" charset="-120"/>
              </a:rPr>
              <a:t>Rule base</a:t>
            </a:r>
            <a:endParaRPr lang="en-US" sz="2200" dirty="0"/>
          </a:p>
        </p:txBody>
      </p:sp>
      <p:sp>
        <p:nvSpPr>
          <p:cNvPr id="20" name="Text 17"/>
          <p:cNvSpPr txBox="1"/>
          <p:nvPr/>
        </p:nvSpPr>
        <p:spPr>
          <a:xfrm>
            <a:off x="8458200" y="4398264"/>
            <a:ext cx="2926080" cy="996696"/>
          </a:xfrm>
          <a:prstGeom prst="rect">
            <a:avLst/>
          </a:prstGeom>
          <a:noFill/>
          <a:ln/>
        </p:spPr>
        <p:txBody>
          <a:bodyPr wrap="square" lIns="0" tIns="0" rIns="0" bIns="0" rtlCol="0" anchor="t"/>
          <a:lstStyle/>
          <a:p>
            <a:pPr indent="0" marL="0">
              <a:buNone/>
            </a:pPr>
            <a:r>
              <a:rPr lang="en-US" sz="2000" dirty="0">
                <a:solidFill>
                  <a:srgbClr val="252341"/>
                </a:solidFill>
                <a:latin typeface="Quicksand" pitchFamily="34" charset="0"/>
                <a:ea typeface="Quicksand" pitchFamily="34" charset="-122"/>
                <a:cs typeface="Quicksand" pitchFamily="34" charset="-120"/>
              </a:rPr>
              <a:t>Stores rules that link facts in the knowledge base.</a:t>
            </a:r>
            <a:endParaRPr lang="en-US" sz="2000" dirty="0"/>
          </a:p>
        </p:txBody>
      </p:sp>
      <p:sp>
        <p:nvSpPr>
          <p:cNvPr id="21" name="Shape 18"/>
          <p:cNvSpPr/>
          <p:nvPr/>
        </p:nvSpPr>
        <p:spPr>
          <a:xfrm>
            <a:off x="3474720" y="3108960"/>
            <a:ext cx="411480" cy="914"/>
          </a:xfrm>
          <a:prstGeom prst="line">
            <a:avLst/>
          </a:prstGeom>
          <a:noFill/>
          <a:ln w="25400">
            <a:solidFill>
              <a:srgbClr val="494985"/>
            </a:solidFill>
            <a:prstDash val="solid"/>
            <a:tailEnd type="triangle"/>
          </a:ln>
        </p:spPr>
      </p:sp>
      <p:sp>
        <p:nvSpPr>
          <p:cNvPr id="22" name="Shape 19"/>
          <p:cNvSpPr/>
          <p:nvPr/>
        </p:nvSpPr>
        <p:spPr>
          <a:xfrm flipH="1">
            <a:off x="3474720" y="4206240"/>
            <a:ext cx="411480" cy="914"/>
          </a:xfrm>
          <a:prstGeom prst="line">
            <a:avLst/>
          </a:prstGeom>
          <a:noFill/>
          <a:ln w="25400">
            <a:solidFill>
              <a:srgbClr val="494985"/>
            </a:solidFill>
            <a:prstDash val="solid"/>
            <a:tailEnd type="triangle"/>
          </a:ln>
        </p:spPr>
      </p:sp>
      <p:sp>
        <p:nvSpPr>
          <p:cNvPr id="23" name="Shape 20"/>
          <p:cNvSpPr/>
          <p:nvPr/>
        </p:nvSpPr>
        <p:spPr>
          <a:xfrm flipH="1">
            <a:off x="7726680" y="2560320"/>
            <a:ext cx="457200" cy="274320"/>
          </a:xfrm>
          <a:prstGeom prst="line">
            <a:avLst/>
          </a:prstGeom>
          <a:noFill/>
          <a:ln w="25400">
            <a:solidFill>
              <a:srgbClr val="494985"/>
            </a:solidFill>
            <a:prstDash val="solid"/>
            <a:tailEnd type="triangle"/>
          </a:ln>
        </p:spPr>
      </p:sp>
      <p:sp>
        <p:nvSpPr>
          <p:cNvPr id="24" name="Shape 21"/>
          <p:cNvSpPr/>
          <p:nvPr/>
        </p:nvSpPr>
        <p:spPr>
          <a:xfrm flipH="1" flipV="1">
            <a:off x="7726680" y="4297680"/>
            <a:ext cx="457200" cy="320040"/>
          </a:xfrm>
          <a:prstGeom prst="line">
            <a:avLst/>
          </a:prstGeom>
          <a:noFill/>
          <a:ln w="25400">
            <a:solidFill>
              <a:srgbClr val="494985"/>
            </a:solidFill>
            <a:prstDash val="solid"/>
            <a:tailEnd type="triangle"/>
          </a:ln>
        </p:spPr>
      </p:sp>
      <p:sp>
        <p:nvSpPr>
          <p:cNvPr id="25" name="Text 22"/>
          <p:cNvSpPr txBox="1"/>
          <p:nvPr/>
        </p:nvSpPr>
        <p:spPr>
          <a:xfrm>
            <a:off x="594360" y="5650992"/>
            <a:ext cx="10972800" cy="384048"/>
          </a:xfrm>
          <a:prstGeom prst="rect">
            <a:avLst/>
          </a:prstGeom>
          <a:noFill/>
          <a:ln/>
        </p:spPr>
        <p:txBody>
          <a:bodyPr wrap="square" lIns="0" tIns="0" rIns="0" bIns="0" rtlCol="0" anchor="t"/>
          <a:lstStyle/>
          <a:p>
            <a:pPr indent="0" marL="0">
              <a:buNone/>
            </a:pPr>
            <a:r>
              <a:rPr lang="en-US" sz="1700" b="1" dirty="0">
                <a:solidFill>
                  <a:srgbClr val="494985"/>
                </a:solidFill>
                <a:latin typeface="Quicksand" pitchFamily="34" charset="0"/>
                <a:ea typeface="Quicksand" pitchFamily="34" charset="-122"/>
                <a:cs typeface="Quicksand" pitchFamily="34" charset="-120"/>
              </a:rPr>
              <a:t>Facts are stored; rules link the facts; the engine applies the rules to make a decision.</a:t>
            </a:r>
            <a:endParaRPr lang="en-US" sz="17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AF9F6"/>
        </a:solidFill>
      </p:bgPr>
    </p:bg>
    <p:spTree>
      <p:nvGrpSpPr>
        <p:cNvPr id="1" name=""/>
        <p:cNvGrpSpPr/>
        <p:nvPr/>
      </p:nvGrpSpPr>
      <p:grpSpPr>
        <a:xfrm>
          <a:off x="0" y="0"/>
          <a:ext cx="0" cy="0"/>
          <a:chOff x="0" y="0"/>
          <a:chExt cx="0" cy="0"/>
        </a:xfrm>
      </p:grpSpPr>
      <p:sp>
        <p:nvSpPr>
          <p:cNvPr id="2" name="Text 0"/>
          <p:cNvSpPr txBox="1"/>
          <p:nvPr/>
        </p:nvSpPr>
        <p:spPr>
          <a:xfrm>
            <a:off x="594360" y="301752"/>
            <a:ext cx="10424160" cy="274320"/>
          </a:xfrm>
          <a:prstGeom prst="rect">
            <a:avLst/>
          </a:prstGeom>
          <a:noFill/>
          <a:ln/>
        </p:spPr>
        <p:txBody>
          <a:bodyPr wrap="square" lIns="0" tIns="0" rIns="0" bIns="0" rtlCol="0" anchor="t"/>
          <a:lstStyle/>
          <a:p>
            <a:pPr indent="0" marL="0">
              <a:buNone/>
            </a:pPr>
            <a:r>
              <a:rPr lang="en-US" sz="1100" b="1" spc="200" kern="0" dirty="0">
                <a:solidFill>
                  <a:srgbClr val="494985"/>
                </a:solidFill>
                <a:latin typeface="Quicksand" pitchFamily="34" charset="0"/>
                <a:ea typeface="Quicksand" pitchFamily="34" charset="-122"/>
                <a:cs typeface="Quicksand" pitchFamily="34" charset="-120"/>
              </a:rPr>
              <a:t>UNDERSTAND · WORKED EXAMPLE</a:t>
            </a:r>
            <a:endParaRPr lang="en-US" sz="1100" dirty="0"/>
          </a:p>
        </p:txBody>
      </p:sp>
      <p:sp>
        <p:nvSpPr>
          <p:cNvPr id="3" name="Text 1"/>
          <p:cNvSpPr txBox="1"/>
          <p:nvPr/>
        </p:nvSpPr>
        <p:spPr>
          <a:xfrm>
            <a:off x="594360" y="822960"/>
            <a:ext cx="10972800" cy="640080"/>
          </a:xfrm>
          <a:prstGeom prst="rect">
            <a:avLst/>
          </a:prstGeom>
          <a:noFill/>
          <a:ln/>
        </p:spPr>
        <p:txBody>
          <a:bodyPr wrap="square" lIns="0" tIns="0" rIns="0" bIns="0" rtlCol="0" anchor="t"/>
          <a:lstStyle/>
          <a:p>
            <a:pPr indent="0" marL="0">
              <a:buNone/>
            </a:pPr>
            <a:r>
              <a:rPr lang="en-US" sz="3200" b="1" dirty="0">
                <a:solidFill>
                  <a:srgbClr val="252341"/>
                </a:solidFill>
                <a:latin typeface="Quicksand" pitchFamily="34" charset="0"/>
                <a:ea typeface="Quicksand" pitchFamily="34" charset="-122"/>
                <a:cs typeface="Quicksand" pitchFamily="34" charset="-120"/>
              </a:rPr>
              <a:t>One problem, four different jobs</a:t>
            </a:r>
            <a:endParaRPr lang="en-US" sz="3200" dirty="0"/>
          </a:p>
        </p:txBody>
      </p:sp>
      <p:sp>
        <p:nvSpPr>
          <p:cNvPr id="4" name="Shape 2"/>
          <p:cNvSpPr/>
          <p:nvPr/>
        </p:nvSpPr>
        <p:spPr>
          <a:xfrm>
            <a:off x="594360" y="6355080"/>
            <a:ext cx="10972800" cy="0"/>
          </a:xfrm>
          <a:prstGeom prst="line">
            <a:avLst/>
          </a:prstGeom>
          <a:noFill/>
          <a:ln w="8890">
            <a:solidFill>
              <a:srgbClr val="DDDBE5"/>
            </a:solidFill>
            <a:prstDash val="solid"/>
          </a:ln>
        </p:spPr>
      </p:sp>
      <p:sp>
        <p:nvSpPr>
          <p:cNvPr id="5" name="Text 3"/>
          <p:cNvSpPr txBox="1"/>
          <p:nvPr/>
        </p:nvSpPr>
        <p:spPr>
          <a:xfrm>
            <a:off x="594360" y="6473952"/>
            <a:ext cx="5486400" cy="164592"/>
          </a:xfrm>
          <a:prstGeom prst="rect">
            <a:avLst/>
          </a:prstGeom>
          <a:noFill/>
          <a:ln/>
        </p:spPr>
        <p:txBody>
          <a:bodyPr wrap="square" lIns="0" tIns="0" rIns="0" bIns="0" rtlCol="0" anchor="t"/>
          <a:lstStyle/>
          <a:p>
            <a:pPr indent="0" marL="0">
              <a:buNone/>
            </a:pPr>
            <a:r>
              <a:rPr lang="en-US" sz="800" dirty="0">
                <a:solidFill>
                  <a:srgbClr val="777584"/>
                </a:solidFill>
                <a:latin typeface="Quicksand" pitchFamily="34" charset="0"/>
                <a:ea typeface="Quicksand" pitchFamily="34" charset="-122"/>
                <a:cs typeface="Quicksand" pitchFamily="34" charset="-120"/>
              </a:rPr>
              <a:t>IGCSE 0478  /  ARTIFICIAL INTELLIGENCE</a:t>
            </a:r>
            <a:endParaRPr lang="en-US" sz="800" dirty="0"/>
          </a:p>
        </p:txBody>
      </p:sp>
      <p:sp>
        <p:nvSpPr>
          <p:cNvPr id="6" name="Text 4"/>
          <p:cNvSpPr txBox="1"/>
          <p:nvPr/>
        </p:nvSpPr>
        <p:spPr>
          <a:xfrm>
            <a:off x="11018520" y="6419088"/>
            <a:ext cx="530352" cy="228600"/>
          </a:xfrm>
          <a:prstGeom prst="rect">
            <a:avLst/>
          </a:prstGeom>
          <a:noFill/>
          <a:ln/>
        </p:spPr>
        <p:txBody>
          <a:bodyPr wrap="square" lIns="0" tIns="0" rIns="0" bIns="0" rtlCol="0" anchor="t"/>
          <a:lstStyle/>
          <a:p>
            <a:pPr algn="r" indent="0" marL="0">
              <a:buNone/>
            </a:pPr>
            <a:r>
              <a:rPr lang="en-US" sz="1100" dirty="0">
                <a:solidFill>
                  <a:srgbClr val="777584"/>
                </a:solidFill>
                <a:latin typeface="Quicksand" pitchFamily="34" charset="0"/>
                <a:ea typeface="Quicksand" pitchFamily="34" charset="-122"/>
                <a:cs typeface="Quicksand" pitchFamily="34" charset="-120"/>
              </a:rPr>
              <a:t>07</a:t>
            </a:r>
            <a:endParaRPr lang="en-US" sz="1100" dirty="0"/>
          </a:p>
        </p:txBody>
      </p:sp>
      <p:pic>
        <p:nvPicPr>
          <p:cNvPr id="8" name="Image 0" descr="HP DeskJet 2630 All-in-One Printer.jpg">    </p:cNvPr>
          <p:cNvPicPr>
            <a:picLocks noChangeAspect="1"/>
          </p:cNvPicPr>
          <p:nvPr/>
        </p:nvPicPr>
        <p:blipFill>
          <a:blip r:embed="rId1"/>
          <a:stretch>
            <a:fillRect/>
          </a:stretch>
        </p:blipFill>
        <p:spPr>
          <a:xfrm>
            <a:off x="594360" y="1864760"/>
            <a:ext cx="4206240" cy="3402801"/>
          </a:xfrm>
          <a:prstGeom prst="rect">
            <a:avLst/>
          </a:prstGeom>
        </p:spPr>
      </p:pic>
      <p:sp>
        <p:nvSpPr>
          <p:cNvPr id="9" name="Text 5"/>
          <p:cNvSpPr txBox="1"/>
          <p:nvPr/>
        </p:nvSpPr>
        <p:spPr>
          <a:xfrm>
            <a:off x="594360" y="5331568"/>
            <a:ext cx="4206240" cy="246888"/>
          </a:xfrm>
          <a:prstGeom prst="rect">
            <a:avLst/>
          </a:prstGeom>
          <a:noFill/>
          <a:ln/>
        </p:spPr>
        <p:txBody>
          <a:bodyPr wrap="square" lIns="0" tIns="0" rIns="0" bIns="0" rtlCol="0" anchor="t"/>
          <a:lstStyle/>
          <a:p>
            <a:pPr indent="0" marL="0">
              <a:buNone/>
            </a:pPr>
            <a:r>
              <a:rPr lang="en-US" sz="900" dirty="0">
                <a:solidFill>
                  <a:srgbClr val="777584"/>
                </a:solidFill>
                <a:latin typeface="Quicksand" pitchFamily="34" charset="0"/>
                <a:ea typeface="Quicksand" pitchFamily="34" charset="-122"/>
                <a:cs typeface="Quicksand" pitchFamily="34" charset="-120"/>
              </a:rPr>
              <a:t>Kskhh · CC BY-SA 4.0</a:t>
            </a:r>
            <a:endParaRPr lang="en-US" sz="900" dirty="0"/>
          </a:p>
        </p:txBody>
      </p:sp>
      <p:sp>
        <p:nvSpPr>
          <p:cNvPr id="11" name="Text 6"/>
          <p:cNvSpPr txBox="1"/>
          <p:nvPr/>
        </p:nvSpPr>
        <p:spPr>
          <a:xfrm>
            <a:off x="5349240" y="1783080"/>
            <a:ext cx="6172200" cy="594360"/>
          </a:xfrm>
          <a:prstGeom prst="rect">
            <a:avLst/>
          </a:prstGeom>
          <a:noFill/>
          <a:ln/>
        </p:spPr>
        <p:txBody>
          <a:bodyPr wrap="square" lIns="0" tIns="0" rIns="0" bIns="0" rtlCol="0" anchor="t"/>
          <a:lstStyle/>
          <a:p>
            <a:pPr indent="0" marL="0">
              <a:buNone/>
            </a:pPr>
            <a:r>
              <a:rPr lang="en-US" sz="2500" b="1" dirty="0">
                <a:solidFill>
                  <a:srgbClr val="252341"/>
                </a:solidFill>
                <a:latin typeface="Quicksand" pitchFamily="34" charset="0"/>
                <a:ea typeface="Quicksand" pitchFamily="34" charset="-122"/>
                <a:cs typeface="Quicksand" pitchFamily="34" charset="-120"/>
              </a:rPr>
              <a:t>The printer is on, but no page comes out.</a:t>
            </a:r>
            <a:endParaRPr lang="en-US" sz="2500" dirty="0"/>
          </a:p>
        </p:txBody>
      </p:sp>
      <p:sp>
        <p:nvSpPr>
          <p:cNvPr id="12" name="Text 7"/>
          <p:cNvSpPr txBox="1"/>
          <p:nvPr/>
        </p:nvSpPr>
        <p:spPr>
          <a:xfrm>
            <a:off x="5349240" y="2697480"/>
            <a:ext cx="457200" cy="365760"/>
          </a:xfrm>
          <a:prstGeom prst="rect">
            <a:avLst/>
          </a:prstGeom>
          <a:noFill/>
          <a:ln/>
        </p:spPr>
        <p:txBody>
          <a:bodyPr wrap="square" lIns="0" tIns="0" rIns="0" bIns="0" rtlCol="0" anchor="t"/>
          <a:lstStyle/>
          <a:p>
            <a:pPr indent="0" marL="0">
              <a:buNone/>
            </a:pPr>
            <a:r>
              <a:rPr lang="en-US" sz="1600" b="1" dirty="0">
                <a:solidFill>
                  <a:srgbClr val="494985"/>
                </a:solidFill>
                <a:latin typeface="Quicksand" pitchFamily="34" charset="0"/>
                <a:ea typeface="Quicksand" pitchFamily="34" charset="-122"/>
                <a:cs typeface="Quicksand" pitchFamily="34" charset="-120"/>
              </a:rPr>
              <a:t>01</a:t>
            </a:r>
            <a:endParaRPr lang="en-US" sz="1600" dirty="0"/>
          </a:p>
        </p:txBody>
      </p:sp>
      <p:sp>
        <p:nvSpPr>
          <p:cNvPr id="13" name="Text 8"/>
          <p:cNvSpPr txBox="1"/>
          <p:nvPr/>
        </p:nvSpPr>
        <p:spPr>
          <a:xfrm>
            <a:off x="5989320" y="2683764"/>
            <a:ext cx="5486400" cy="576072"/>
          </a:xfrm>
          <a:prstGeom prst="rect">
            <a:avLst/>
          </a:prstGeom>
          <a:noFill/>
          <a:ln/>
        </p:spPr>
        <p:txBody>
          <a:bodyPr wrap="square" lIns="0" tIns="0" rIns="0" bIns="0" rtlCol="0" anchor="t"/>
          <a:lstStyle/>
          <a:p>
            <a:pPr indent="0" marL="0">
              <a:buNone/>
            </a:pPr>
            <a:r>
              <a:rPr lang="en-US" sz="2000" dirty="0">
                <a:solidFill>
                  <a:srgbClr val="252341"/>
                </a:solidFill>
                <a:latin typeface="Quicksand" pitchFamily="34" charset="0"/>
                <a:ea typeface="Quicksand" pitchFamily="34" charset="-122"/>
                <a:cs typeface="Quicksand" pitchFamily="34" charset="-120"/>
              </a:rPr>
              <a:t>Fact: an empty paper tray prevents printing.</a:t>
            </a:r>
            <a:endParaRPr lang="en-US" sz="2000" dirty="0"/>
          </a:p>
        </p:txBody>
      </p:sp>
      <p:sp>
        <p:nvSpPr>
          <p:cNvPr id="14" name="Shape 9"/>
          <p:cNvSpPr/>
          <p:nvPr/>
        </p:nvSpPr>
        <p:spPr>
          <a:xfrm>
            <a:off x="5989320" y="3227832"/>
            <a:ext cx="5486400" cy="0"/>
          </a:xfrm>
          <a:prstGeom prst="line">
            <a:avLst/>
          </a:prstGeom>
          <a:noFill/>
          <a:ln w="8890">
            <a:solidFill>
              <a:srgbClr val="DDDBE5"/>
            </a:solidFill>
            <a:prstDash val="solid"/>
          </a:ln>
        </p:spPr>
      </p:sp>
      <p:sp>
        <p:nvSpPr>
          <p:cNvPr id="15" name="Text 10"/>
          <p:cNvSpPr txBox="1"/>
          <p:nvPr/>
        </p:nvSpPr>
        <p:spPr>
          <a:xfrm>
            <a:off x="5349240" y="3383280"/>
            <a:ext cx="457200" cy="365760"/>
          </a:xfrm>
          <a:prstGeom prst="rect">
            <a:avLst/>
          </a:prstGeom>
          <a:noFill/>
          <a:ln/>
        </p:spPr>
        <p:txBody>
          <a:bodyPr wrap="square" lIns="0" tIns="0" rIns="0" bIns="0" rtlCol="0" anchor="t"/>
          <a:lstStyle/>
          <a:p>
            <a:pPr indent="0" marL="0">
              <a:buNone/>
            </a:pPr>
            <a:r>
              <a:rPr lang="en-US" sz="1600" b="1" dirty="0">
                <a:solidFill>
                  <a:srgbClr val="494985"/>
                </a:solidFill>
                <a:latin typeface="Quicksand" pitchFamily="34" charset="0"/>
                <a:ea typeface="Quicksand" pitchFamily="34" charset="-122"/>
                <a:cs typeface="Quicksand" pitchFamily="34" charset="-120"/>
              </a:rPr>
              <a:t>02</a:t>
            </a:r>
            <a:endParaRPr lang="en-US" sz="1600" dirty="0"/>
          </a:p>
        </p:txBody>
      </p:sp>
      <p:sp>
        <p:nvSpPr>
          <p:cNvPr id="16" name="Text 11"/>
          <p:cNvSpPr txBox="1"/>
          <p:nvPr/>
        </p:nvSpPr>
        <p:spPr>
          <a:xfrm>
            <a:off x="5989320" y="3369564"/>
            <a:ext cx="5486400" cy="576072"/>
          </a:xfrm>
          <a:prstGeom prst="rect">
            <a:avLst/>
          </a:prstGeom>
          <a:noFill/>
          <a:ln/>
        </p:spPr>
        <p:txBody>
          <a:bodyPr wrap="square" lIns="0" tIns="0" rIns="0" bIns="0" rtlCol="0" anchor="t"/>
          <a:lstStyle/>
          <a:p>
            <a:pPr indent="0" marL="0">
              <a:buNone/>
            </a:pPr>
            <a:r>
              <a:rPr lang="en-US" sz="2000" dirty="0">
                <a:solidFill>
                  <a:srgbClr val="252341"/>
                </a:solidFill>
                <a:latin typeface="Quicksand" pitchFamily="34" charset="0"/>
                <a:ea typeface="Quicksand" pitchFamily="34" charset="-122"/>
                <a:cs typeface="Quicksand" pitchFamily="34" charset="-120"/>
              </a:rPr>
              <a:t>Rule: IF tray empty THEN recommend loading paper.</a:t>
            </a:r>
            <a:endParaRPr lang="en-US" sz="2000" dirty="0"/>
          </a:p>
        </p:txBody>
      </p:sp>
      <p:sp>
        <p:nvSpPr>
          <p:cNvPr id="17" name="Shape 12"/>
          <p:cNvSpPr/>
          <p:nvPr/>
        </p:nvSpPr>
        <p:spPr>
          <a:xfrm>
            <a:off x="5989320" y="3913632"/>
            <a:ext cx="5486400" cy="0"/>
          </a:xfrm>
          <a:prstGeom prst="line">
            <a:avLst/>
          </a:prstGeom>
          <a:noFill/>
          <a:ln w="8890">
            <a:solidFill>
              <a:srgbClr val="DDDBE5"/>
            </a:solidFill>
            <a:prstDash val="solid"/>
          </a:ln>
        </p:spPr>
      </p:sp>
      <p:sp>
        <p:nvSpPr>
          <p:cNvPr id="18" name="Text 13"/>
          <p:cNvSpPr txBox="1"/>
          <p:nvPr/>
        </p:nvSpPr>
        <p:spPr>
          <a:xfrm>
            <a:off x="5349240" y="4069080"/>
            <a:ext cx="457200" cy="365760"/>
          </a:xfrm>
          <a:prstGeom prst="rect">
            <a:avLst/>
          </a:prstGeom>
          <a:noFill/>
          <a:ln/>
        </p:spPr>
        <p:txBody>
          <a:bodyPr wrap="square" lIns="0" tIns="0" rIns="0" bIns="0" rtlCol="0" anchor="t"/>
          <a:lstStyle/>
          <a:p>
            <a:pPr indent="0" marL="0">
              <a:buNone/>
            </a:pPr>
            <a:r>
              <a:rPr lang="en-US" sz="1600" b="1" dirty="0">
                <a:solidFill>
                  <a:srgbClr val="494985"/>
                </a:solidFill>
                <a:latin typeface="Quicksand" pitchFamily="34" charset="0"/>
                <a:ea typeface="Quicksand" pitchFamily="34" charset="-122"/>
                <a:cs typeface="Quicksand" pitchFamily="34" charset="-120"/>
              </a:rPr>
              <a:t>03</a:t>
            </a:r>
            <a:endParaRPr lang="en-US" sz="1600" dirty="0"/>
          </a:p>
        </p:txBody>
      </p:sp>
      <p:sp>
        <p:nvSpPr>
          <p:cNvPr id="19" name="Text 14"/>
          <p:cNvSpPr txBox="1"/>
          <p:nvPr/>
        </p:nvSpPr>
        <p:spPr>
          <a:xfrm>
            <a:off x="5989320" y="4055364"/>
            <a:ext cx="5486400" cy="576072"/>
          </a:xfrm>
          <a:prstGeom prst="rect">
            <a:avLst/>
          </a:prstGeom>
          <a:noFill/>
          <a:ln/>
        </p:spPr>
        <p:txBody>
          <a:bodyPr wrap="square" lIns="0" tIns="0" rIns="0" bIns="0" rtlCol="0" anchor="t"/>
          <a:lstStyle/>
          <a:p>
            <a:pPr indent="0" marL="0">
              <a:buNone/>
            </a:pPr>
            <a:r>
              <a:rPr lang="en-US" sz="2000" dirty="0">
                <a:solidFill>
                  <a:srgbClr val="252341"/>
                </a:solidFill>
                <a:latin typeface="Quicksand" pitchFamily="34" charset="0"/>
                <a:ea typeface="Quicksand" pitchFamily="34" charset="-122"/>
                <a:cs typeface="Quicksand" pitchFamily="34" charset="-120"/>
              </a:rPr>
              <a:t>Engine: matches answers and applies the rule.</a:t>
            </a:r>
            <a:endParaRPr lang="en-US" sz="2000" dirty="0"/>
          </a:p>
        </p:txBody>
      </p:sp>
      <p:sp>
        <p:nvSpPr>
          <p:cNvPr id="20" name="Shape 15"/>
          <p:cNvSpPr/>
          <p:nvPr/>
        </p:nvSpPr>
        <p:spPr>
          <a:xfrm>
            <a:off x="5989320" y="4599432"/>
            <a:ext cx="5486400" cy="0"/>
          </a:xfrm>
          <a:prstGeom prst="line">
            <a:avLst/>
          </a:prstGeom>
          <a:noFill/>
          <a:ln w="8890">
            <a:solidFill>
              <a:srgbClr val="DDDBE5"/>
            </a:solidFill>
            <a:prstDash val="solid"/>
          </a:ln>
        </p:spPr>
      </p:sp>
      <p:sp>
        <p:nvSpPr>
          <p:cNvPr id="21" name="Text 16"/>
          <p:cNvSpPr txBox="1"/>
          <p:nvPr/>
        </p:nvSpPr>
        <p:spPr>
          <a:xfrm>
            <a:off x="5349240" y="4754880"/>
            <a:ext cx="457200" cy="365760"/>
          </a:xfrm>
          <a:prstGeom prst="rect">
            <a:avLst/>
          </a:prstGeom>
          <a:noFill/>
          <a:ln/>
        </p:spPr>
        <p:txBody>
          <a:bodyPr wrap="square" lIns="0" tIns="0" rIns="0" bIns="0" rtlCol="0" anchor="t"/>
          <a:lstStyle/>
          <a:p>
            <a:pPr indent="0" marL="0">
              <a:buNone/>
            </a:pPr>
            <a:r>
              <a:rPr lang="en-US" sz="1600" b="1" dirty="0">
                <a:solidFill>
                  <a:srgbClr val="494985"/>
                </a:solidFill>
                <a:latin typeface="Quicksand" pitchFamily="34" charset="0"/>
                <a:ea typeface="Quicksand" pitchFamily="34" charset="-122"/>
                <a:cs typeface="Quicksand" pitchFamily="34" charset="-120"/>
              </a:rPr>
              <a:t>04</a:t>
            </a:r>
            <a:endParaRPr lang="en-US" sz="1600" dirty="0"/>
          </a:p>
        </p:txBody>
      </p:sp>
      <p:sp>
        <p:nvSpPr>
          <p:cNvPr id="22" name="Text 17"/>
          <p:cNvSpPr txBox="1"/>
          <p:nvPr/>
        </p:nvSpPr>
        <p:spPr>
          <a:xfrm>
            <a:off x="5989320" y="4741164"/>
            <a:ext cx="5486400" cy="576072"/>
          </a:xfrm>
          <a:prstGeom prst="rect">
            <a:avLst/>
          </a:prstGeom>
          <a:noFill/>
          <a:ln/>
        </p:spPr>
        <p:txBody>
          <a:bodyPr wrap="square" lIns="0" tIns="0" rIns="0" bIns="0" rtlCol="0" anchor="t"/>
          <a:lstStyle/>
          <a:p>
            <a:pPr indent="0" marL="0">
              <a:buNone/>
            </a:pPr>
            <a:r>
              <a:rPr lang="en-US" sz="2000" dirty="0">
                <a:solidFill>
                  <a:srgbClr val="252341"/>
                </a:solidFill>
                <a:latin typeface="Quicksand" pitchFamily="34" charset="0"/>
                <a:ea typeface="Quicksand" pitchFamily="34" charset="-122"/>
                <a:cs typeface="Quicksand" pitchFamily="34" charset="-120"/>
              </a:rPr>
              <a:t>Interface: asks about the tray and shows advice.</a:t>
            </a:r>
            <a:endParaRPr lang="en-US" sz="2000" dirty="0"/>
          </a:p>
        </p:txBody>
      </p:sp>
      <p:sp>
        <p:nvSpPr>
          <p:cNvPr id="23" name="Text 18"/>
          <p:cNvSpPr txBox="1"/>
          <p:nvPr/>
        </p:nvSpPr>
        <p:spPr>
          <a:xfrm>
            <a:off x="594360" y="5650992"/>
            <a:ext cx="10972800" cy="384048"/>
          </a:xfrm>
          <a:prstGeom prst="rect">
            <a:avLst/>
          </a:prstGeom>
          <a:noFill/>
          <a:ln/>
        </p:spPr>
        <p:txBody>
          <a:bodyPr wrap="square" lIns="0" tIns="0" rIns="0" bIns="0" rtlCol="0" anchor="t"/>
          <a:lstStyle/>
          <a:p>
            <a:pPr indent="0" marL="0">
              <a:buNone/>
            </a:pPr>
            <a:r>
              <a:rPr lang="en-US" sz="1700" b="1" dirty="0">
                <a:solidFill>
                  <a:srgbClr val="494985"/>
                </a:solidFill>
                <a:latin typeface="Quicksand" pitchFamily="34" charset="0"/>
                <a:ea typeface="Quicksand" pitchFamily="34" charset="-122"/>
                <a:cs typeface="Quicksand" pitchFamily="34" charset="-120"/>
              </a:rPr>
              <a:t>Explain it to a partner without swapping the jobs of the facts, rules and engine.</a:t>
            </a:r>
            <a:endParaRPr lang="en-US" sz="17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AF9F6"/>
        </a:solidFill>
      </p:bgPr>
    </p:bg>
    <p:spTree>
      <p:nvGrpSpPr>
        <p:cNvPr id="1" name=""/>
        <p:cNvGrpSpPr/>
        <p:nvPr/>
      </p:nvGrpSpPr>
      <p:grpSpPr>
        <a:xfrm>
          <a:off x="0" y="0"/>
          <a:ext cx="0" cy="0"/>
          <a:chOff x="0" y="0"/>
          <a:chExt cx="0" cy="0"/>
        </a:xfrm>
      </p:grpSpPr>
      <p:sp>
        <p:nvSpPr>
          <p:cNvPr id="2" name="Text 0"/>
          <p:cNvSpPr txBox="1"/>
          <p:nvPr/>
        </p:nvSpPr>
        <p:spPr>
          <a:xfrm>
            <a:off x="594360" y="301752"/>
            <a:ext cx="10424160" cy="274320"/>
          </a:xfrm>
          <a:prstGeom prst="rect">
            <a:avLst/>
          </a:prstGeom>
          <a:noFill/>
          <a:ln/>
        </p:spPr>
        <p:txBody>
          <a:bodyPr wrap="square" lIns="0" tIns="0" rIns="0" bIns="0" rtlCol="0" anchor="t"/>
          <a:lstStyle/>
          <a:p>
            <a:pPr indent="0" marL="0">
              <a:buNone/>
            </a:pPr>
            <a:r>
              <a:rPr lang="en-US" sz="1100" b="1" spc="200" kern="0" dirty="0">
                <a:solidFill>
                  <a:srgbClr val="494985"/>
                </a:solidFill>
                <a:latin typeface="Quicksand" pitchFamily="34" charset="0"/>
                <a:ea typeface="Quicksand" pitchFamily="34" charset="-122"/>
                <a:cs typeface="Quicksand" pitchFamily="34" charset="-120"/>
              </a:rPr>
              <a:t>UNDERSTAND · REASONING</a:t>
            </a:r>
            <a:endParaRPr lang="en-US" sz="1100" dirty="0"/>
          </a:p>
        </p:txBody>
      </p:sp>
      <p:sp>
        <p:nvSpPr>
          <p:cNvPr id="3" name="Text 1"/>
          <p:cNvSpPr txBox="1"/>
          <p:nvPr/>
        </p:nvSpPr>
        <p:spPr>
          <a:xfrm>
            <a:off x="594360" y="822960"/>
            <a:ext cx="10972800" cy="640080"/>
          </a:xfrm>
          <a:prstGeom prst="rect">
            <a:avLst/>
          </a:prstGeom>
          <a:noFill/>
          <a:ln/>
        </p:spPr>
        <p:txBody>
          <a:bodyPr wrap="square" lIns="0" tIns="0" rIns="0" bIns="0" rtlCol="0" anchor="t"/>
          <a:lstStyle/>
          <a:p>
            <a:pPr indent="0" marL="0">
              <a:buNone/>
            </a:pPr>
            <a:r>
              <a:rPr lang="en-US" sz="3200" b="1" dirty="0">
                <a:solidFill>
                  <a:srgbClr val="252341"/>
                </a:solidFill>
                <a:latin typeface="Quicksand" pitchFamily="34" charset="0"/>
                <a:ea typeface="Quicksand" pitchFamily="34" charset="-122"/>
                <a:cs typeface="Quicksand" pitchFamily="34" charset="-120"/>
              </a:rPr>
              <a:t>Why ask a different next question?</a:t>
            </a:r>
            <a:endParaRPr lang="en-US" sz="3200" dirty="0"/>
          </a:p>
        </p:txBody>
      </p:sp>
      <p:sp>
        <p:nvSpPr>
          <p:cNvPr id="4" name="Shape 2"/>
          <p:cNvSpPr/>
          <p:nvPr/>
        </p:nvSpPr>
        <p:spPr>
          <a:xfrm>
            <a:off x="594360" y="6355080"/>
            <a:ext cx="10972800" cy="0"/>
          </a:xfrm>
          <a:prstGeom prst="line">
            <a:avLst/>
          </a:prstGeom>
          <a:noFill/>
          <a:ln w="8890">
            <a:solidFill>
              <a:srgbClr val="DDDBE5"/>
            </a:solidFill>
            <a:prstDash val="solid"/>
          </a:ln>
        </p:spPr>
      </p:sp>
      <p:sp>
        <p:nvSpPr>
          <p:cNvPr id="5" name="Text 3"/>
          <p:cNvSpPr txBox="1"/>
          <p:nvPr/>
        </p:nvSpPr>
        <p:spPr>
          <a:xfrm>
            <a:off x="594360" y="6473952"/>
            <a:ext cx="5486400" cy="164592"/>
          </a:xfrm>
          <a:prstGeom prst="rect">
            <a:avLst/>
          </a:prstGeom>
          <a:noFill/>
          <a:ln/>
        </p:spPr>
        <p:txBody>
          <a:bodyPr wrap="square" lIns="0" tIns="0" rIns="0" bIns="0" rtlCol="0" anchor="t"/>
          <a:lstStyle/>
          <a:p>
            <a:pPr indent="0" marL="0">
              <a:buNone/>
            </a:pPr>
            <a:r>
              <a:rPr lang="en-US" sz="800" dirty="0">
                <a:solidFill>
                  <a:srgbClr val="777584"/>
                </a:solidFill>
                <a:latin typeface="Quicksand" pitchFamily="34" charset="0"/>
                <a:ea typeface="Quicksand" pitchFamily="34" charset="-122"/>
                <a:cs typeface="Quicksand" pitchFamily="34" charset="-120"/>
              </a:rPr>
              <a:t>IGCSE 0478  /  ARTIFICIAL INTELLIGENCE</a:t>
            </a:r>
            <a:endParaRPr lang="en-US" sz="800" dirty="0"/>
          </a:p>
        </p:txBody>
      </p:sp>
      <p:sp>
        <p:nvSpPr>
          <p:cNvPr id="6" name="Text 4"/>
          <p:cNvSpPr txBox="1"/>
          <p:nvPr/>
        </p:nvSpPr>
        <p:spPr>
          <a:xfrm>
            <a:off x="11018520" y="6419088"/>
            <a:ext cx="530352" cy="228600"/>
          </a:xfrm>
          <a:prstGeom prst="rect">
            <a:avLst/>
          </a:prstGeom>
          <a:noFill/>
          <a:ln/>
        </p:spPr>
        <p:txBody>
          <a:bodyPr wrap="square" lIns="0" tIns="0" rIns="0" bIns="0" rtlCol="0" anchor="t"/>
          <a:lstStyle/>
          <a:p>
            <a:pPr algn="r" indent="0" marL="0">
              <a:buNone/>
            </a:pPr>
            <a:r>
              <a:rPr lang="en-US" sz="1100" dirty="0">
                <a:solidFill>
                  <a:srgbClr val="777584"/>
                </a:solidFill>
                <a:latin typeface="Quicksand" pitchFamily="34" charset="0"/>
                <a:ea typeface="Quicksand" pitchFamily="34" charset="-122"/>
                <a:cs typeface="Quicksand" pitchFamily="34" charset="-120"/>
              </a:rPr>
              <a:t>08</a:t>
            </a:r>
            <a:endParaRPr lang="en-US" sz="1100" dirty="0"/>
          </a:p>
        </p:txBody>
      </p:sp>
      <p:pic>
        <p:nvPicPr>
          <p:cNvPr id="8" name="Image 0" descr="Standardized-Patient-Program-examining-t he-abdomen.jpg">    </p:cNvPr>
          <p:cNvPicPr>
            <a:picLocks noChangeAspect="1"/>
          </p:cNvPicPr>
          <p:nvPr/>
        </p:nvPicPr>
        <p:blipFill>
          <a:blip r:embed="rId1"/>
          <a:stretch>
            <a:fillRect/>
          </a:stretch>
        </p:blipFill>
        <p:spPr>
          <a:xfrm>
            <a:off x="594360" y="1844543"/>
            <a:ext cx="3977640" cy="3214634"/>
          </a:xfrm>
          <a:prstGeom prst="rect">
            <a:avLst/>
          </a:prstGeom>
        </p:spPr>
      </p:pic>
      <p:sp>
        <p:nvSpPr>
          <p:cNvPr id="9" name="Text 5"/>
          <p:cNvSpPr txBox="1"/>
          <p:nvPr/>
        </p:nvSpPr>
        <p:spPr>
          <a:xfrm>
            <a:off x="594360" y="5123185"/>
            <a:ext cx="3977640" cy="246888"/>
          </a:xfrm>
          <a:prstGeom prst="rect">
            <a:avLst/>
          </a:prstGeom>
          <a:noFill/>
          <a:ln/>
        </p:spPr>
        <p:txBody>
          <a:bodyPr wrap="square" lIns="0" tIns="0" rIns="0" bIns="0" rtlCol="0" anchor="t"/>
          <a:lstStyle/>
          <a:p>
            <a:pPr indent="0" marL="0">
              <a:buNone/>
            </a:pPr>
            <a:r>
              <a:rPr lang="en-US" sz="900" dirty="0">
                <a:solidFill>
                  <a:srgbClr val="777584"/>
                </a:solidFill>
                <a:latin typeface="Quicksand" pitchFamily="34" charset="0"/>
                <a:ea typeface="Quicksand" pitchFamily="34" charset="-122"/>
                <a:cs typeface="Quicksand" pitchFamily="34" charset="-120"/>
              </a:rPr>
              <a:t>University of Michigan Medical School · CC BY 2.0</a:t>
            </a:r>
            <a:endParaRPr lang="en-US" sz="900" dirty="0"/>
          </a:p>
        </p:txBody>
      </p:sp>
      <p:sp>
        <p:nvSpPr>
          <p:cNvPr id="11" name="Text 6"/>
          <p:cNvSpPr txBox="1"/>
          <p:nvPr/>
        </p:nvSpPr>
        <p:spPr>
          <a:xfrm>
            <a:off x="5166360" y="1810512"/>
            <a:ext cx="6309360" cy="640080"/>
          </a:xfrm>
          <a:prstGeom prst="rect">
            <a:avLst/>
          </a:prstGeom>
          <a:noFill/>
          <a:ln/>
        </p:spPr>
        <p:txBody>
          <a:bodyPr wrap="square" lIns="0" tIns="0" rIns="0" bIns="0" rtlCol="0" anchor="t"/>
          <a:lstStyle/>
          <a:p>
            <a:pPr indent="0" marL="0">
              <a:buNone/>
            </a:pPr>
            <a:r>
              <a:rPr lang="en-US" sz="2500" b="1" dirty="0">
                <a:solidFill>
                  <a:srgbClr val="252341"/>
                </a:solidFill>
                <a:latin typeface="Quicksand" pitchFamily="34" charset="0"/>
                <a:ea typeface="Quicksand" pitchFamily="34" charset="-122"/>
                <a:cs typeface="Quicksand" pitchFamily="34" charset="-120"/>
              </a:rPr>
              <a:t>Question: is the pain linked to a meal?</a:t>
            </a:r>
            <a:endParaRPr lang="en-US" sz="2500" dirty="0"/>
          </a:p>
        </p:txBody>
      </p:sp>
      <p:sp>
        <p:nvSpPr>
          <p:cNvPr id="12" name="Text 7"/>
          <p:cNvSpPr txBox="1"/>
          <p:nvPr/>
        </p:nvSpPr>
        <p:spPr>
          <a:xfrm>
            <a:off x="5166360" y="2788920"/>
            <a:ext cx="2468880" cy="274320"/>
          </a:xfrm>
          <a:prstGeom prst="rect">
            <a:avLst/>
          </a:prstGeom>
          <a:noFill/>
          <a:ln/>
        </p:spPr>
        <p:txBody>
          <a:bodyPr wrap="square" lIns="0" tIns="0" rIns="0" bIns="0" rtlCol="0" anchor="t"/>
          <a:lstStyle/>
          <a:p>
            <a:pPr indent="0" marL="0">
              <a:buNone/>
            </a:pPr>
            <a:r>
              <a:rPr lang="en-US" sz="1300" b="1" dirty="0">
                <a:solidFill>
                  <a:srgbClr val="494985"/>
                </a:solidFill>
                <a:latin typeface="Quicksand" pitchFamily="34" charset="0"/>
                <a:ea typeface="Quicksand" pitchFamily="34" charset="-122"/>
                <a:cs typeface="Quicksand" pitchFamily="34" charset="-120"/>
              </a:rPr>
              <a:t>YES</a:t>
            </a:r>
            <a:endParaRPr lang="en-US" sz="1300" dirty="0"/>
          </a:p>
        </p:txBody>
      </p:sp>
      <p:sp>
        <p:nvSpPr>
          <p:cNvPr id="13" name="Text 8"/>
          <p:cNvSpPr txBox="1"/>
          <p:nvPr/>
        </p:nvSpPr>
        <p:spPr>
          <a:xfrm>
            <a:off x="8686800" y="2788920"/>
            <a:ext cx="2468880" cy="274320"/>
          </a:xfrm>
          <a:prstGeom prst="rect">
            <a:avLst/>
          </a:prstGeom>
          <a:noFill/>
          <a:ln/>
        </p:spPr>
        <p:txBody>
          <a:bodyPr wrap="square" lIns="0" tIns="0" rIns="0" bIns="0" rtlCol="0" anchor="t"/>
          <a:lstStyle/>
          <a:p>
            <a:pPr indent="0" marL="0">
              <a:buNone/>
            </a:pPr>
            <a:r>
              <a:rPr lang="en-US" sz="1300" b="1" dirty="0">
                <a:solidFill>
                  <a:srgbClr val="494985"/>
                </a:solidFill>
                <a:latin typeface="Quicksand" pitchFamily="34" charset="0"/>
                <a:ea typeface="Quicksand" pitchFamily="34" charset="-122"/>
                <a:cs typeface="Quicksand" pitchFamily="34" charset="-120"/>
              </a:rPr>
              <a:t>NO</a:t>
            </a:r>
            <a:endParaRPr lang="en-US" sz="1300" dirty="0"/>
          </a:p>
        </p:txBody>
      </p:sp>
      <p:sp>
        <p:nvSpPr>
          <p:cNvPr id="14" name="Shape 9"/>
          <p:cNvSpPr/>
          <p:nvPr/>
        </p:nvSpPr>
        <p:spPr>
          <a:xfrm flipH="1">
            <a:off x="6400800" y="2606040"/>
            <a:ext cx="1143000" cy="868680"/>
          </a:xfrm>
          <a:prstGeom prst="line">
            <a:avLst/>
          </a:prstGeom>
          <a:noFill/>
          <a:ln w="25400">
            <a:solidFill>
              <a:srgbClr val="494985"/>
            </a:solidFill>
            <a:prstDash val="solid"/>
            <a:tailEnd type="triangle"/>
          </a:ln>
        </p:spPr>
      </p:sp>
      <p:sp>
        <p:nvSpPr>
          <p:cNvPr id="15" name="Shape 10"/>
          <p:cNvSpPr/>
          <p:nvPr/>
        </p:nvSpPr>
        <p:spPr>
          <a:xfrm>
            <a:off x="7543800" y="2606040"/>
            <a:ext cx="2286000" cy="868680"/>
          </a:xfrm>
          <a:prstGeom prst="line">
            <a:avLst/>
          </a:prstGeom>
          <a:noFill/>
          <a:ln w="25400">
            <a:solidFill>
              <a:srgbClr val="494985"/>
            </a:solidFill>
            <a:prstDash val="solid"/>
            <a:tailEnd type="triangle"/>
          </a:ln>
        </p:spPr>
      </p:sp>
      <p:sp>
        <p:nvSpPr>
          <p:cNvPr id="16" name="Shape 11"/>
          <p:cNvSpPr/>
          <p:nvPr/>
        </p:nvSpPr>
        <p:spPr>
          <a:xfrm>
            <a:off x="5166360" y="3657600"/>
            <a:ext cx="2880360" cy="1234440"/>
          </a:xfrm>
          <a:prstGeom prst="rect">
            <a:avLst/>
          </a:prstGeom>
          <a:solidFill>
            <a:srgbClr val="EFEEF5"/>
          </a:solidFill>
          <a:ln w="12700">
            <a:solidFill>
              <a:srgbClr val="EFEEF5"/>
            </a:solidFill>
            <a:prstDash val="solid"/>
          </a:ln>
        </p:spPr>
      </p:sp>
      <p:sp>
        <p:nvSpPr>
          <p:cNvPr id="17" name="Shape 12"/>
          <p:cNvSpPr/>
          <p:nvPr/>
        </p:nvSpPr>
        <p:spPr>
          <a:xfrm>
            <a:off x="8686800" y="3657600"/>
            <a:ext cx="2880360" cy="1234440"/>
          </a:xfrm>
          <a:prstGeom prst="rect">
            <a:avLst/>
          </a:prstGeom>
          <a:solidFill>
            <a:srgbClr val="EFEEF5"/>
          </a:solidFill>
          <a:ln w="12700">
            <a:solidFill>
              <a:srgbClr val="EFEEF5"/>
            </a:solidFill>
            <a:prstDash val="solid"/>
          </a:ln>
        </p:spPr>
      </p:sp>
      <p:sp>
        <p:nvSpPr>
          <p:cNvPr id="18" name="Text 13"/>
          <p:cNvSpPr txBox="1"/>
          <p:nvPr/>
        </p:nvSpPr>
        <p:spPr>
          <a:xfrm>
            <a:off x="5349240" y="3840480"/>
            <a:ext cx="2514600" cy="868680"/>
          </a:xfrm>
          <a:prstGeom prst="rect">
            <a:avLst/>
          </a:prstGeom>
          <a:noFill/>
          <a:ln/>
        </p:spPr>
        <p:txBody>
          <a:bodyPr wrap="square" lIns="0" tIns="0" rIns="0" bIns="0" rtlCol="0" anchor="t"/>
          <a:lstStyle/>
          <a:p>
            <a:pPr indent="0" marL="0">
              <a:buNone/>
            </a:pPr>
            <a:r>
              <a:rPr lang="en-US" sz="2100" dirty="0">
                <a:solidFill>
                  <a:srgbClr val="252341"/>
                </a:solidFill>
                <a:latin typeface="Quicksand" pitchFamily="34" charset="0"/>
                <a:ea typeface="Quicksand" pitchFamily="34" charset="-122"/>
                <a:cs typeface="Quicksand" pitchFamily="34" charset="-120"/>
              </a:rPr>
              <a:t>Ask about timing</a:t>
            </a:r>
            <a:endParaRPr lang="en-US" sz="2100" dirty="0"/>
          </a:p>
          <a:p>
            <a:pPr indent="0" marL="0">
              <a:buNone/>
            </a:pPr>
            <a:r>
              <a:rPr lang="en-US" sz="2100" dirty="0">
                <a:solidFill>
                  <a:srgbClr val="252341"/>
                </a:solidFill>
                <a:latin typeface="Quicksand" pitchFamily="34" charset="0"/>
                <a:ea typeface="Quicksand" pitchFamily="34" charset="-122"/>
                <a:cs typeface="Quicksand" pitchFamily="34" charset="-120"/>
              </a:rPr>
              <a:t>and food.</a:t>
            </a:r>
            <a:endParaRPr lang="en-US" sz="2100" dirty="0"/>
          </a:p>
        </p:txBody>
      </p:sp>
      <p:sp>
        <p:nvSpPr>
          <p:cNvPr id="19" name="Text 14"/>
          <p:cNvSpPr txBox="1"/>
          <p:nvPr/>
        </p:nvSpPr>
        <p:spPr>
          <a:xfrm>
            <a:off x="8869680" y="3840480"/>
            <a:ext cx="2514600" cy="868680"/>
          </a:xfrm>
          <a:prstGeom prst="rect">
            <a:avLst/>
          </a:prstGeom>
          <a:noFill/>
          <a:ln/>
        </p:spPr>
        <p:txBody>
          <a:bodyPr wrap="square" lIns="0" tIns="0" rIns="0" bIns="0" rtlCol="0" anchor="t"/>
          <a:lstStyle/>
          <a:p>
            <a:pPr indent="0" marL="0">
              <a:buNone/>
            </a:pPr>
            <a:r>
              <a:rPr lang="en-US" sz="2100" dirty="0">
                <a:solidFill>
                  <a:srgbClr val="252341"/>
                </a:solidFill>
                <a:latin typeface="Quicksand" pitchFamily="34" charset="0"/>
                <a:ea typeface="Quicksand" pitchFamily="34" charset="-122"/>
                <a:cs typeface="Quicksand" pitchFamily="34" charset="-120"/>
              </a:rPr>
              <a:t>Ask about other</a:t>
            </a:r>
            <a:endParaRPr lang="en-US" sz="2100" dirty="0"/>
          </a:p>
          <a:p>
            <a:pPr indent="0" marL="0">
              <a:buNone/>
            </a:pPr>
            <a:r>
              <a:rPr lang="en-US" sz="2100" dirty="0">
                <a:solidFill>
                  <a:srgbClr val="252341"/>
                </a:solidFill>
                <a:latin typeface="Quicksand" pitchFamily="34" charset="0"/>
                <a:ea typeface="Quicksand" pitchFamily="34" charset="-122"/>
                <a:cs typeface="Quicksand" pitchFamily="34" charset="-120"/>
              </a:rPr>
              <a:t>symptoms.</a:t>
            </a:r>
            <a:endParaRPr lang="en-US" sz="2100" dirty="0"/>
          </a:p>
        </p:txBody>
      </p:sp>
      <p:sp>
        <p:nvSpPr>
          <p:cNvPr id="20" name="Text 15"/>
          <p:cNvSpPr txBox="1"/>
          <p:nvPr/>
        </p:nvSpPr>
        <p:spPr>
          <a:xfrm>
            <a:off x="594360" y="5650992"/>
            <a:ext cx="10972800" cy="384048"/>
          </a:xfrm>
          <a:prstGeom prst="rect">
            <a:avLst/>
          </a:prstGeom>
          <a:noFill/>
          <a:ln/>
        </p:spPr>
        <p:txBody>
          <a:bodyPr wrap="square" lIns="0" tIns="0" rIns="0" bIns="0" rtlCol="0" anchor="t"/>
          <a:lstStyle/>
          <a:p>
            <a:pPr indent="0" marL="0">
              <a:buNone/>
            </a:pPr>
            <a:r>
              <a:rPr lang="en-US" sz="1700" b="1" dirty="0">
                <a:solidFill>
                  <a:srgbClr val="494985"/>
                </a:solidFill>
                <a:latin typeface="Quicksand" pitchFamily="34" charset="0"/>
                <a:ea typeface="Quicksand" pitchFamily="34" charset="-122"/>
                <a:cs typeface="Quicksand" pitchFamily="34" charset="-120"/>
              </a:rPr>
              <a:t>The inference engine chooses follow-up questions using previous answers.</a:t>
            </a:r>
            <a:endParaRPr lang="en-US" sz="17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AF9F6"/>
        </a:solidFill>
      </p:bgPr>
    </p:bg>
    <p:spTree>
      <p:nvGrpSpPr>
        <p:cNvPr id="1" name=""/>
        <p:cNvGrpSpPr/>
        <p:nvPr/>
      </p:nvGrpSpPr>
      <p:grpSpPr>
        <a:xfrm>
          <a:off x="0" y="0"/>
          <a:ext cx="0" cy="0"/>
          <a:chOff x="0" y="0"/>
          <a:chExt cx="0" cy="0"/>
        </a:xfrm>
      </p:grpSpPr>
      <p:sp>
        <p:nvSpPr>
          <p:cNvPr id="2" name="Text 0"/>
          <p:cNvSpPr txBox="1"/>
          <p:nvPr/>
        </p:nvSpPr>
        <p:spPr>
          <a:xfrm>
            <a:off x="594360" y="301752"/>
            <a:ext cx="10424160" cy="274320"/>
          </a:xfrm>
          <a:prstGeom prst="rect">
            <a:avLst/>
          </a:prstGeom>
          <a:noFill/>
          <a:ln/>
        </p:spPr>
        <p:txBody>
          <a:bodyPr wrap="square" lIns="0" tIns="0" rIns="0" bIns="0" rtlCol="0" anchor="t"/>
          <a:lstStyle/>
          <a:p>
            <a:pPr indent="0" marL="0">
              <a:buNone/>
            </a:pPr>
            <a:r>
              <a:rPr lang="en-US" sz="1100" b="1" spc="200" kern="0" dirty="0">
                <a:solidFill>
                  <a:srgbClr val="494985"/>
                </a:solidFill>
                <a:latin typeface="Quicksand" pitchFamily="34" charset="0"/>
                <a:ea typeface="Quicksand" pitchFamily="34" charset="-122"/>
                <a:cs typeface="Quicksand" pitchFamily="34" charset="-120"/>
              </a:rPr>
              <a:t>APPLY · EXPERT SYSTEMS</a:t>
            </a:r>
            <a:endParaRPr lang="en-US" sz="1100" dirty="0"/>
          </a:p>
        </p:txBody>
      </p:sp>
      <p:sp>
        <p:nvSpPr>
          <p:cNvPr id="3" name="Text 1"/>
          <p:cNvSpPr txBox="1"/>
          <p:nvPr/>
        </p:nvSpPr>
        <p:spPr>
          <a:xfrm>
            <a:off x="594360" y="822960"/>
            <a:ext cx="10972800" cy="640080"/>
          </a:xfrm>
          <a:prstGeom prst="rect">
            <a:avLst/>
          </a:prstGeom>
          <a:noFill/>
          <a:ln/>
        </p:spPr>
        <p:txBody>
          <a:bodyPr wrap="square" lIns="0" tIns="0" rIns="0" bIns="0" rtlCol="0" anchor="t"/>
          <a:lstStyle/>
          <a:p>
            <a:pPr indent="0" marL="0">
              <a:buNone/>
            </a:pPr>
            <a:r>
              <a:rPr lang="en-US" sz="3200" b="1" dirty="0">
                <a:solidFill>
                  <a:srgbClr val="252341"/>
                </a:solidFill>
                <a:latin typeface="Quicksand" pitchFamily="34" charset="0"/>
                <a:ea typeface="Quicksand" pitchFamily="34" charset="-122"/>
                <a:cs typeface="Quicksand" pitchFamily="34" charset="-120"/>
              </a:rPr>
              <a:t>Trace a diagnosis from start to finish</a:t>
            </a:r>
            <a:endParaRPr lang="en-US" sz="3200" dirty="0"/>
          </a:p>
        </p:txBody>
      </p:sp>
      <p:sp>
        <p:nvSpPr>
          <p:cNvPr id="4" name="Shape 2"/>
          <p:cNvSpPr/>
          <p:nvPr/>
        </p:nvSpPr>
        <p:spPr>
          <a:xfrm>
            <a:off x="594360" y="6355080"/>
            <a:ext cx="10972800" cy="0"/>
          </a:xfrm>
          <a:prstGeom prst="line">
            <a:avLst/>
          </a:prstGeom>
          <a:noFill/>
          <a:ln w="8890">
            <a:solidFill>
              <a:srgbClr val="DDDBE5"/>
            </a:solidFill>
            <a:prstDash val="solid"/>
          </a:ln>
        </p:spPr>
      </p:sp>
      <p:sp>
        <p:nvSpPr>
          <p:cNvPr id="5" name="Text 3"/>
          <p:cNvSpPr txBox="1"/>
          <p:nvPr/>
        </p:nvSpPr>
        <p:spPr>
          <a:xfrm>
            <a:off x="594360" y="6473952"/>
            <a:ext cx="5486400" cy="164592"/>
          </a:xfrm>
          <a:prstGeom prst="rect">
            <a:avLst/>
          </a:prstGeom>
          <a:noFill/>
          <a:ln/>
        </p:spPr>
        <p:txBody>
          <a:bodyPr wrap="square" lIns="0" tIns="0" rIns="0" bIns="0" rtlCol="0" anchor="t"/>
          <a:lstStyle/>
          <a:p>
            <a:pPr indent="0" marL="0">
              <a:buNone/>
            </a:pPr>
            <a:r>
              <a:rPr lang="en-US" sz="800" dirty="0">
                <a:solidFill>
                  <a:srgbClr val="777584"/>
                </a:solidFill>
                <a:latin typeface="Quicksand" pitchFamily="34" charset="0"/>
                <a:ea typeface="Quicksand" pitchFamily="34" charset="-122"/>
                <a:cs typeface="Quicksand" pitchFamily="34" charset="-120"/>
              </a:rPr>
              <a:t>IGCSE 0478  /  ARTIFICIAL INTELLIGENCE</a:t>
            </a:r>
            <a:endParaRPr lang="en-US" sz="800" dirty="0"/>
          </a:p>
        </p:txBody>
      </p:sp>
      <p:sp>
        <p:nvSpPr>
          <p:cNvPr id="6" name="Text 4"/>
          <p:cNvSpPr txBox="1"/>
          <p:nvPr/>
        </p:nvSpPr>
        <p:spPr>
          <a:xfrm>
            <a:off x="11018520" y="6419088"/>
            <a:ext cx="530352" cy="228600"/>
          </a:xfrm>
          <a:prstGeom prst="rect">
            <a:avLst/>
          </a:prstGeom>
          <a:noFill/>
          <a:ln/>
        </p:spPr>
        <p:txBody>
          <a:bodyPr wrap="square" lIns="0" tIns="0" rIns="0" bIns="0" rtlCol="0" anchor="t"/>
          <a:lstStyle/>
          <a:p>
            <a:pPr algn="r" indent="0" marL="0">
              <a:buNone/>
            </a:pPr>
            <a:r>
              <a:rPr lang="en-US" sz="1100" dirty="0">
                <a:solidFill>
                  <a:srgbClr val="777584"/>
                </a:solidFill>
                <a:latin typeface="Quicksand" pitchFamily="34" charset="0"/>
                <a:ea typeface="Quicksand" pitchFamily="34" charset="-122"/>
                <a:cs typeface="Quicksand" pitchFamily="34" charset="-120"/>
              </a:rPr>
              <a:t>09</a:t>
            </a:r>
            <a:endParaRPr lang="en-US" sz="1100" dirty="0"/>
          </a:p>
        </p:txBody>
      </p:sp>
      <p:sp>
        <p:nvSpPr>
          <p:cNvPr id="8" name="Text 5"/>
          <p:cNvSpPr txBox="1"/>
          <p:nvPr/>
        </p:nvSpPr>
        <p:spPr>
          <a:xfrm>
            <a:off x="731520" y="1783080"/>
            <a:ext cx="457200" cy="365760"/>
          </a:xfrm>
          <a:prstGeom prst="rect">
            <a:avLst/>
          </a:prstGeom>
          <a:noFill/>
          <a:ln/>
        </p:spPr>
        <p:txBody>
          <a:bodyPr wrap="square" lIns="0" tIns="0" rIns="0" bIns="0" rtlCol="0" anchor="t"/>
          <a:lstStyle/>
          <a:p>
            <a:pPr indent="0" marL="0">
              <a:buNone/>
            </a:pPr>
            <a:r>
              <a:rPr lang="en-US" sz="1600" b="1" dirty="0">
                <a:solidFill>
                  <a:srgbClr val="494985"/>
                </a:solidFill>
                <a:latin typeface="Quicksand" pitchFamily="34" charset="0"/>
                <a:ea typeface="Quicksand" pitchFamily="34" charset="-122"/>
                <a:cs typeface="Quicksand" pitchFamily="34" charset="-120"/>
              </a:rPr>
              <a:t>01</a:t>
            </a:r>
            <a:endParaRPr lang="en-US" sz="1600" dirty="0"/>
          </a:p>
        </p:txBody>
      </p:sp>
      <p:sp>
        <p:nvSpPr>
          <p:cNvPr id="9" name="Text 6"/>
          <p:cNvSpPr txBox="1"/>
          <p:nvPr/>
        </p:nvSpPr>
        <p:spPr>
          <a:xfrm>
            <a:off x="1371600" y="1769364"/>
            <a:ext cx="10012680" cy="585216"/>
          </a:xfrm>
          <a:prstGeom prst="rect">
            <a:avLst/>
          </a:prstGeom>
          <a:noFill/>
          <a:ln/>
        </p:spPr>
        <p:txBody>
          <a:bodyPr wrap="square" lIns="0" tIns="0" rIns="0" bIns="0" rtlCol="0" anchor="t"/>
          <a:lstStyle/>
          <a:p>
            <a:pPr indent="0" marL="0">
              <a:buNone/>
            </a:pPr>
            <a:r>
              <a:rPr lang="en-US" sz="2200" dirty="0">
                <a:solidFill>
                  <a:srgbClr val="252341"/>
                </a:solidFill>
                <a:latin typeface="Quicksand" pitchFamily="34" charset="0"/>
                <a:ea typeface="Quicksand" pitchFamily="34" charset="-122"/>
                <a:cs typeface="Quicksand" pitchFamily="34" charset="-120"/>
              </a:rPr>
              <a:t>User enters symptoms through the interface.</a:t>
            </a:r>
            <a:endParaRPr lang="en-US" sz="2200" dirty="0"/>
          </a:p>
        </p:txBody>
      </p:sp>
      <p:sp>
        <p:nvSpPr>
          <p:cNvPr id="10" name="Shape 7"/>
          <p:cNvSpPr/>
          <p:nvPr/>
        </p:nvSpPr>
        <p:spPr>
          <a:xfrm>
            <a:off x="1371600" y="2322576"/>
            <a:ext cx="10012680" cy="0"/>
          </a:xfrm>
          <a:prstGeom prst="line">
            <a:avLst/>
          </a:prstGeom>
          <a:noFill/>
          <a:ln w="8890">
            <a:solidFill>
              <a:srgbClr val="DDDBE5"/>
            </a:solidFill>
            <a:prstDash val="solid"/>
          </a:ln>
        </p:spPr>
      </p:sp>
      <p:sp>
        <p:nvSpPr>
          <p:cNvPr id="11" name="Text 8"/>
          <p:cNvSpPr txBox="1"/>
          <p:nvPr/>
        </p:nvSpPr>
        <p:spPr>
          <a:xfrm>
            <a:off x="731520" y="2478024"/>
            <a:ext cx="457200" cy="365760"/>
          </a:xfrm>
          <a:prstGeom prst="rect">
            <a:avLst/>
          </a:prstGeom>
          <a:noFill/>
          <a:ln/>
        </p:spPr>
        <p:txBody>
          <a:bodyPr wrap="square" lIns="0" tIns="0" rIns="0" bIns="0" rtlCol="0" anchor="t"/>
          <a:lstStyle/>
          <a:p>
            <a:pPr indent="0" marL="0">
              <a:buNone/>
            </a:pPr>
            <a:r>
              <a:rPr lang="en-US" sz="1600" b="1" dirty="0">
                <a:solidFill>
                  <a:srgbClr val="494985"/>
                </a:solidFill>
                <a:latin typeface="Quicksand" pitchFamily="34" charset="0"/>
                <a:ea typeface="Quicksand" pitchFamily="34" charset="-122"/>
                <a:cs typeface="Quicksand" pitchFamily="34" charset="-120"/>
              </a:rPr>
              <a:t>02</a:t>
            </a:r>
            <a:endParaRPr lang="en-US" sz="1600" dirty="0"/>
          </a:p>
        </p:txBody>
      </p:sp>
      <p:sp>
        <p:nvSpPr>
          <p:cNvPr id="12" name="Text 9"/>
          <p:cNvSpPr txBox="1"/>
          <p:nvPr/>
        </p:nvSpPr>
        <p:spPr>
          <a:xfrm>
            <a:off x="1371600" y="2464308"/>
            <a:ext cx="10012680" cy="585216"/>
          </a:xfrm>
          <a:prstGeom prst="rect">
            <a:avLst/>
          </a:prstGeom>
          <a:noFill/>
          <a:ln/>
        </p:spPr>
        <p:txBody>
          <a:bodyPr wrap="square" lIns="0" tIns="0" rIns="0" bIns="0" rtlCol="0" anchor="t"/>
          <a:lstStyle/>
          <a:p>
            <a:pPr indent="0" marL="0">
              <a:buNone/>
            </a:pPr>
            <a:r>
              <a:rPr lang="en-US" sz="2200" dirty="0">
                <a:solidFill>
                  <a:srgbClr val="252341"/>
                </a:solidFill>
                <a:latin typeface="Quicksand" pitchFamily="34" charset="0"/>
                <a:ea typeface="Quicksand" pitchFamily="34" charset="-122"/>
                <a:cs typeface="Quicksand" pitchFamily="34" charset="-120"/>
              </a:rPr>
              <a:t>Engine chooses questions from previous answers.</a:t>
            </a:r>
            <a:endParaRPr lang="en-US" sz="2200" dirty="0"/>
          </a:p>
        </p:txBody>
      </p:sp>
      <p:sp>
        <p:nvSpPr>
          <p:cNvPr id="13" name="Shape 10"/>
          <p:cNvSpPr/>
          <p:nvPr/>
        </p:nvSpPr>
        <p:spPr>
          <a:xfrm>
            <a:off x="1371600" y="3017520"/>
            <a:ext cx="10012680" cy="0"/>
          </a:xfrm>
          <a:prstGeom prst="line">
            <a:avLst/>
          </a:prstGeom>
          <a:noFill/>
          <a:ln w="8890">
            <a:solidFill>
              <a:srgbClr val="DDDBE5"/>
            </a:solidFill>
            <a:prstDash val="solid"/>
          </a:ln>
        </p:spPr>
      </p:sp>
      <p:sp>
        <p:nvSpPr>
          <p:cNvPr id="14" name="Text 11"/>
          <p:cNvSpPr txBox="1"/>
          <p:nvPr/>
        </p:nvSpPr>
        <p:spPr>
          <a:xfrm>
            <a:off x="731520" y="3172968"/>
            <a:ext cx="457200" cy="365760"/>
          </a:xfrm>
          <a:prstGeom prst="rect">
            <a:avLst/>
          </a:prstGeom>
          <a:noFill/>
          <a:ln/>
        </p:spPr>
        <p:txBody>
          <a:bodyPr wrap="square" lIns="0" tIns="0" rIns="0" bIns="0" rtlCol="0" anchor="t"/>
          <a:lstStyle/>
          <a:p>
            <a:pPr indent="0" marL="0">
              <a:buNone/>
            </a:pPr>
            <a:r>
              <a:rPr lang="en-US" sz="1600" b="1" dirty="0">
                <a:solidFill>
                  <a:srgbClr val="494985"/>
                </a:solidFill>
                <a:latin typeface="Quicksand" pitchFamily="34" charset="0"/>
                <a:ea typeface="Quicksand" pitchFamily="34" charset="-122"/>
                <a:cs typeface="Quicksand" pitchFamily="34" charset="-120"/>
              </a:rPr>
              <a:t>03</a:t>
            </a:r>
            <a:endParaRPr lang="en-US" sz="1600" dirty="0"/>
          </a:p>
        </p:txBody>
      </p:sp>
      <p:sp>
        <p:nvSpPr>
          <p:cNvPr id="15" name="Text 12"/>
          <p:cNvSpPr txBox="1"/>
          <p:nvPr/>
        </p:nvSpPr>
        <p:spPr>
          <a:xfrm>
            <a:off x="1371600" y="3159252"/>
            <a:ext cx="10012680" cy="585216"/>
          </a:xfrm>
          <a:prstGeom prst="rect">
            <a:avLst/>
          </a:prstGeom>
          <a:noFill/>
          <a:ln/>
        </p:spPr>
        <p:txBody>
          <a:bodyPr wrap="square" lIns="0" tIns="0" rIns="0" bIns="0" rtlCol="0" anchor="t"/>
          <a:lstStyle/>
          <a:p>
            <a:pPr indent="0" marL="0">
              <a:buNone/>
            </a:pPr>
            <a:r>
              <a:rPr lang="en-US" sz="2200" dirty="0">
                <a:solidFill>
                  <a:srgbClr val="252341"/>
                </a:solidFill>
                <a:latin typeface="Quicksand" pitchFamily="34" charset="0"/>
                <a:ea typeface="Quicksand" pitchFamily="34" charset="-122"/>
                <a:cs typeface="Quicksand" pitchFamily="34" charset="-120"/>
              </a:rPr>
              <a:t>Evidence is compared with expert facts.</a:t>
            </a:r>
            <a:endParaRPr lang="en-US" sz="2200" dirty="0"/>
          </a:p>
        </p:txBody>
      </p:sp>
      <p:sp>
        <p:nvSpPr>
          <p:cNvPr id="16" name="Shape 13"/>
          <p:cNvSpPr/>
          <p:nvPr/>
        </p:nvSpPr>
        <p:spPr>
          <a:xfrm>
            <a:off x="1371600" y="3712464"/>
            <a:ext cx="10012680" cy="0"/>
          </a:xfrm>
          <a:prstGeom prst="line">
            <a:avLst/>
          </a:prstGeom>
          <a:noFill/>
          <a:ln w="8890">
            <a:solidFill>
              <a:srgbClr val="DDDBE5"/>
            </a:solidFill>
            <a:prstDash val="solid"/>
          </a:ln>
        </p:spPr>
      </p:sp>
      <p:sp>
        <p:nvSpPr>
          <p:cNvPr id="17" name="Text 14"/>
          <p:cNvSpPr txBox="1"/>
          <p:nvPr/>
        </p:nvSpPr>
        <p:spPr>
          <a:xfrm>
            <a:off x="731520" y="3867912"/>
            <a:ext cx="457200" cy="365760"/>
          </a:xfrm>
          <a:prstGeom prst="rect">
            <a:avLst/>
          </a:prstGeom>
          <a:noFill/>
          <a:ln/>
        </p:spPr>
        <p:txBody>
          <a:bodyPr wrap="square" lIns="0" tIns="0" rIns="0" bIns="0" rtlCol="0" anchor="t"/>
          <a:lstStyle/>
          <a:p>
            <a:pPr indent="0" marL="0">
              <a:buNone/>
            </a:pPr>
            <a:r>
              <a:rPr lang="en-US" sz="1600" b="1" dirty="0">
                <a:solidFill>
                  <a:srgbClr val="494985"/>
                </a:solidFill>
                <a:latin typeface="Quicksand" pitchFamily="34" charset="0"/>
                <a:ea typeface="Quicksand" pitchFamily="34" charset="-122"/>
                <a:cs typeface="Quicksand" pitchFamily="34" charset="-120"/>
              </a:rPr>
              <a:t>04</a:t>
            </a:r>
            <a:endParaRPr lang="en-US" sz="1600" dirty="0"/>
          </a:p>
        </p:txBody>
      </p:sp>
      <p:sp>
        <p:nvSpPr>
          <p:cNvPr id="18" name="Text 15"/>
          <p:cNvSpPr txBox="1"/>
          <p:nvPr/>
        </p:nvSpPr>
        <p:spPr>
          <a:xfrm>
            <a:off x="1371600" y="3854196"/>
            <a:ext cx="10012680" cy="585216"/>
          </a:xfrm>
          <a:prstGeom prst="rect">
            <a:avLst/>
          </a:prstGeom>
          <a:noFill/>
          <a:ln/>
        </p:spPr>
        <p:txBody>
          <a:bodyPr wrap="square" lIns="0" tIns="0" rIns="0" bIns="0" rtlCol="0" anchor="t"/>
          <a:lstStyle/>
          <a:p>
            <a:pPr indent="0" marL="0">
              <a:buNone/>
            </a:pPr>
            <a:r>
              <a:rPr lang="en-US" sz="2200" dirty="0">
                <a:solidFill>
                  <a:srgbClr val="252341"/>
                </a:solidFill>
                <a:latin typeface="Quicksand" pitchFamily="34" charset="0"/>
                <a:ea typeface="Quicksand" pitchFamily="34" charset="-122"/>
                <a:cs typeface="Quicksand" pitchFamily="34" charset="-120"/>
              </a:rPr>
              <a:t>Engine applies rules to decide a likely fault.</a:t>
            </a:r>
            <a:endParaRPr lang="en-US" sz="2200" dirty="0"/>
          </a:p>
        </p:txBody>
      </p:sp>
      <p:sp>
        <p:nvSpPr>
          <p:cNvPr id="19" name="Shape 16"/>
          <p:cNvSpPr/>
          <p:nvPr/>
        </p:nvSpPr>
        <p:spPr>
          <a:xfrm>
            <a:off x="1371600" y="4407408"/>
            <a:ext cx="10012680" cy="0"/>
          </a:xfrm>
          <a:prstGeom prst="line">
            <a:avLst/>
          </a:prstGeom>
          <a:noFill/>
          <a:ln w="8890">
            <a:solidFill>
              <a:srgbClr val="DDDBE5"/>
            </a:solidFill>
            <a:prstDash val="solid"/>
          </a:ln>
        </p:spPr>
      </p:sp>
      <p:sp>
        <p:nvSpPr>
          <p:cNvPr id="20" name="Text 17"/>
          <p:cNvSpPr txBox="1"/>
          <p:nvPr/>
        </p:nvSpPr>
        <p:spPr>
          <a:xfrm>
            <a:off x="731520" y="4562856"/>
            <a:ext cx="457200" cy="365760"/>
          </a:xfrm>
          <a:prstGeom prst="rect">
            <a:avLst/>
          </a:prstGeom>
          <a:noFill/>
          <a:ln/>
        </p:spPr>
        <p:txBody>
          <a:bodyPr wrap="square" lIns="0" tIns="0" rIns="0" bIns="0" rtlCol="0" anchor="t"/>
          <a:lstStyle/>
          <a:p>
            <a:pPr indent="0" marL="0">
              <a:buNone/>
            </a:pPr>
            <a:r>
              <a:rPr lang="en-US" sz="1600" b="1" dirty="0">
                <a:solidFill>
                  <a:srgbClr val="494985"/>
                </a:solidFill>
                <a:latin typeface="Quicksand" pitchFamily="34" charset="0"/>
                <a:ea typeface="Quicksand" pitchFamily="34" charset="-122"/>
                <a:cs typeface="Quicksand" pitchFamily="34" charset="-120"/>
              </a:rPr>
              <a:t>05</a:t>
            </a:r>
            <a:endParaRPr lang="en-US" sz="1600" dirty="0"/>
          </a:p>
        </p:txBody>
      </p:sp>
      <p:sp>
        <p:nvSpPr>
          <p:cNvPr id="21" name="Text 18"/>
          <p:cNvSpPr txBox="1"/>
          <p:nvPr/>
        </p:nvSpPr>
        <p:spPr>
          <a:xfrm>
            <a:off x="1371600" y="4549140"/>
            <a:ext cx="10012680" cy="585216"/>
          </a:xfrm>
          <a:prstGeom prst="rect">
            <a:avLst/>
          </a:prstGeom>
          <a:noFill/>
          <a:ln/>
        </p:spPr>
        <p:txBody>
          <a:bodyPr wrap="square" lIns="0" tIns="0" rIns="0" bIns="0" rtlCol="0" anchor="t"/>
          <a:lstStyle/>
          <a:p>
            <a:pPr indent="0" marL="0">
              <a:buNone/>
            </a:pPr>
            <a:r>
              <a:rPr lang="en-US" sz="2200" dirty="0">
                <a:solidFill>
                  <a:srgbClr val="252341"/>
                </a:solidFill>
                <a:latin typeface="Quicksand" pitchFamily="34" charset="0"/>
                <a:ea typeface="Quicksand" pitchFamily="34" charset="-122"/>
                <a:cs typeface="Quicksand" pitchFamily="34" charset="-120"/>
              </a:rPr>
              <a:t>Interface displays advice or a diagnosis.</a:t>
            </a:r>
            <a:endParaRPr lang="en-US" sz="2200" dirty="0"/>
          </a:p>
        </p:txBody>
      </p:sp>
      <p:sp>
        <p:nvSpPr>
          <p:cNvPr id="22" name="Text 19"/>
          <p:cNvSpPr txBox="1"/>
          <p:nvPr/>
        </p:nvSpPr>
        <p:spPr>
          <a:xfrm>
            <a:off x="594360" y="5650992"/>
            <a:ext cx="10972800" cy="384048"/>
          </a:xfrm>
          <a:prstGeom prst="rect">
            <a:avLst/>
          </a:prstGeom>
          <a:noFill/>
          <a:ln/>
        </p:spPr>
        <p:txBody>
          <a:bodyPr wrap="square" lIns="0" tIns="0" rIns="0" bIns="0" rtlCol="0" anchor="t"/>
          <a:lstStyle/>
          <a:p>
            <a:pPr indent="0" marL="0">
              <a:buNone/>
            </a:pPr>
            <a:r>
              <a:rPr lang="en-US" sz="1700" b="1" dirty="0">
                <a:solidFill>
                  <a:srgbClr val="494985"/>
                </a:solidFill>
                <a:latin typeface="Quicksand" pitchFamily="34" charset="0"/>
                <a:ea typeface="Quicksand" pitchFamily="34" charset="-122"/>
                <a:cs typeface="Quicksand" pitchFamily="34" charset="-120"/>
              </a:rPr>
              <a:t>Check: why must the engine use facts as well as rules?</a:t>
            </a:r>
            <a:endParaRPr lang="en-US" sz="17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AF9F6"/>
        </a:solidFill>
      </p:bgPr>
    </p:bg>
    <p:spTree>
      <p:nvGrpSpPr>
        <p:cNvPr id="1" name=""/>
        <p:cNvGrpSpPr/>
        <p:nvPr/>
      </p:nvGrpSpPr>
      <p:grpSpPr>
        <a:xfrm>
          <a:off x="0" y="0"/>
          <a:ext cx="0" cy="0"/>
          <a:chOff x="0" y="0"/>
          <a:chExt cx="0" cy="0"/>
        </a:xfrm>
      </p:grpSpPr>
      <p:sp>
        <p:nvSpPr>
          <p:cNvPr id="2" name="Text 0"/>
          <p:cNvSpPr txBox="1"/>
          <p:nvPr/>
        </p:nvSpPr>
        <p:spPr>
          <a:xfrm>
            <a:off x="594360" y="301752"/>
            <a:ext cx="10424160" cy="274320"/>
          </a:xfrm>
          <a:prstGeom prst="rect">
            <a:avLst/>
          </a:prstGeom>
          <a:noFill/>
          <a:ln/>
        </p:spPr>
        <p:txBody>
          <a:bodyPr wrap="square" lIns="0" tIns="0" rIns="0" bIns="0" rtlCol="0" anchor="t"/>
          <a:lstStyle/>
          <a:p>
            <a:pPr indent="0" marL="0">
              <a:buNone/>
            </a:pPr>
            <a:r>
              <a:rPr lang="en-US" sz="1100" b="1" spc="200" kern="0" dirty="0">
                <a:solidFill>
                  <a:srgbClr val="494985"/>
                </a:solidFill>
                <a:latin typeface="Quicksand" pitchFamily="34" charset="0"/>
                <a:ea typeface="Quicksand" pitchFamily="34" charset="-122"/>
                <a:cs typeface="Quicksand" pitchFamily="34" charset="-120"/>
              </a:rPr>
              <a:t>UNDERSTAND · MACHINE LEARNING</a:t>
            </a:r>
            <a:endParaRPr lang="en-US" sz="1100" dirty="0"/>
          </a:p>
        </p:txBody>
      </p:sp>
      <p:sp>
        <p:nvSpPr>
          <p:cNvPr id="3" name="Text 1"/>
          <p:cNvSpPr txBox="1"/>
          <p:nvPr/>
        </p:nvSpPr>
        <p:spPr>
          <a:xfrm>
            <a:off x="594360" y="822960"/>
            <a:ext cx="10972800" cy="640080"/>
          </a:xfrm>
          <a:prstGeom prst="rect">
            <a:avLst/>
          </a:prstGeom>
          <a:noFill/>
          <a:ln/>
        </p:spPr>
        <p:txBody>
          <a:bodyPr wrap="square" lIns="0" tIns="0" rIns="0" bIns="0" rtlCol="0" anchor="t"/>
          <a:lstStyle/>
          <a:p>
            <a:pPr indent="0" marL="0">
              <a:buNone/>
            </a:pPr>
            <a:r>
              <a:rPr lang="en-US" sz="3200" b="1" dirty="0">
                <a:solidFill>
                  <a:srgbClr val="252341"/>
                </a:solidFill>
                <a:latin typeface="Quicksand" pitchFamily="34" charset="0"/>
                <a:ea typeface="Quicksand" pitchFamily="34" charset="-122"/>
                <a:cs typeface="Quicksand" pitchFamily="34" charset="-120"/>
              </a:rPr>
              <a:t>Can a system learn from examples?</a:t>
            </a:r>
            <a:endParaRPr lang="en-US" sz="3200" dirty="0"/>
          </a:p>
        </p:txBody>
      </p:sp>
      <p:sp>
        <p:nvSpPr>
          <p:cNvPr id="4" name="Shape 2"/>
          <p:cNvSpPr/>
          <p:nvPr/>
        </p:nvSpPr>
        <p:spPr>
          <a:xfrm>
            <a:off x="594360" y="6355080"/>
            <a:ext cx="10972800" cy="0"/>
          </a:xfrm>
          <a:prstGeom prst="line">
            <a:avLst/>
          </a:prstGeom>
          <a:noFill/>
          <a:ln w="8890">
            <a:solidFill>
              <a:srgbClr val="DDDBE5"/>
            </a:solidFill>
            <a:prstDash val="solid"/>
          </a:ln>
        </p:spPr>
      </p:sp>
      <p:sp>
        <p:nvSpPr>
          <p:cNvPr id="5" name="Text 3"/>
          <p:cNvSpPr txBox="1"/>
          <p:nvPr/>
        </p:nvSpPr>
        <p:spPr>
          <a:xfrm>
            <a:off x="594360" y="6473952"/>
            <a:ext cx="5486400" cy="164592"/>
          </a:xfrm>
          <a:prstGeom prst="rect">
            <a:avLst/>
          </a:prstGeom>
          <a:noFill/>
          <a:ln/>
        </p:spPr>
        <p:txBody>
          <a:bodyPr wrap="square" lIns="0" tIns="0" rIns="0" bIns="0" rtlCol="0" anchor="t"/>
          <a:lstStyle/>
          <a:p>
            <a:pPr indent="0" marL="0">
              <a:buNone/>
            </a:pPr>
            <a:r>
              <a:rPr lang="en-US" sz="800" dirty="0">
                <a:solidFill>
                  <a:srgbClr val="777584"/>
                </a:solidFill>
                <a:latin typeface="Quicksand" pitchFamily="34" charset="0"/>
                <a:ea typeface="Quicksand" pitchFamily="34" charset="-122"/>
                <a:cs typeface="Quicksand" pitchFamily="34" charset="-120"/>
              </a:rPr>
              <a:t>IGCSE 0478  /  ARTIFICIAL INTELLIGENCE</a:t>
            </a:r>
            <a:endParaRPr lang="en-US" sz="800" dirty="0"/>
          </a:p>
        </p:txBody>
      </p:sp>
      <p:sp>
        <p:nvSpPr>
          <p:cNvPr id="6" name="Text 4"/>
          <p:cNvSpPr txBox="1"/>
          <p:nvPr/>
        </p:nvSpPr>
        <p:spPr>
          <a:xfrm>
            <a:off x="11018520" y="6419088"/>
            <a:ext cx="530352" cy="228600"/>
          </a:xfrm>
          <a:prstGeom prst="rect">
            <a:avLst/>
          </a:prstGeom>
          <a:noFill/>
          <a:ln/>
        </p:spPr>
        <p:txBody>
          <a:bodyPr wrap="square" lIns="0" tIns="0" rIns="0" bIns="0" rtlCol="0" anchor="t"/>
          <a:lstStyle/>
          <a:p>
            <a:pPr algn="r" indent="0" marL="0">
              <a:buNone/>
            </a:pPr>
            <a:r>
              <a:rPr lang="en-US" sz="1100" dirty="0">
                <a:solidFill>
                  <a:srgbClr val="777584"/>
                </a:solidFill>
                <a:latin typeface="Quicksand" pitchFamily="34" charset="0"/>
                <a:ea typeface="Quicksand" pitchFamily="34" charset="-122"/>
                <a:cs typeface="Quicksand" pitchFamily="34" charset="-120"/>
              </a:rPr>
              <a:t>10</a:t>
            </a:r>
            <a:endParaRPr lang="en-US" sz="1100" dirty="0"/>
          </a:p>
        </p:txBody>
      </p:sp>
      <p:pic>
        <p:nvPicPr>
          <p:cNvPr id="8" name="Image 0" descr="Cat August 2010-4.jpg">    </p:cNvPr>
          <p:cNvPicPr>
            <a:picLocks noChangeAspect="1"/>
          </p:cNvPicPr>
          <p:nvPr/>
        </p:nvPicPr>
        <p:blipFill>
          <a:blip r:embed="rId1"/>
          <a:stretch>
            <a:fillRect/>
          </a:stretch>
        </p:blipFill>
        <p:spPr>
          <a:xfrm>
            <a:off x="1237106" y="1783080"/>
            <a:ext cx="4036316" cy="2468880"/>
          </a:xfrm>
          <a:prstGeom prst="rect">
            <a:avLst/>
          </a:prstGeom>
        </p:spPr>
      </p:pic>
      <p:sp>
        <p:nvSpPr>
          <p:cNvPr id="9" name="Text 5"/>
          <p:cNvSpPr txBox="1"/>
          <p:nvPr/>
        </p:nvSpPr>
        <p:spPr>
          <a:xfrm>
            <a:off x="1237106" y="4315968"/>
            <a:ext cx="4036316" cy="246888"/>
          </a:xfrm>
          <a:prstGeom prst="rect">
            <a:avLst/>
          </a:prstGeom>
          <a:noFill/>
          <a:ln/>
        </p:spPr>
        <p:txBody>
          <a:bodyPr wrap="square" lIns="0" tIns="0" rIns="0" bIns="0" rtlCol="0" anchor="t"/>
          <a:lstStyle/>
          <a:p>
            <a:pPr indent="0" marL="0">
              <a:buNone/>
            </a:pPr>
            <a:r>
              <a:rPr lang="en-US" sz="900" dirty="0">
                <a:solidFill>
                  <a:srgbClr val="777584"/>
                </a:solidFill>
                <a:latin typeface="Quicksand" pitchFamily="34" charset="0"/>
                <a:ea typeface="Quicksand" pitchFamily="34" charset="-122"/>
                <a:cs typeface="Quicksand" pitchFamily="34" charset="-120"/>
              </a:rPr>
              <a:t>Alvesgaspar · CC BY-SA 3.0</a:t>
            </a:r>
            <a:endParaRPr lang="en-US" sz="900" dirty="0"/>
          </a:p>
        </p:txBody>
      </p:sp>
      <p:pic>
        <p:nvPicPr>
          <p:cNvPr id="11" name="Image 1" descr="Black Labrador Retriever - Male IMG 3323 (cropped).jpg">    </p:cNvPr>
          <p:cNvPicPr>
            <a:picLocks noChangeAspect="1"/>
          </p:cNvPicPr>
          <p:nvPr/>
        </p:nvPicPr>
        <p:blipFill>
          <a:blip r:embed="rId2"/>
          <a:stretch>
            <a:fillRect/>
          </a:stretch>
        </p:blipFill>
        <p:spPr>
          <a:xfrm>
            <a:off x="7066051" y="1783080"/>
            <a:ext cx="3662121" cy="2468880"/>
          </a:xfrm>
          <a:prstGeom prst="rect">
            <a:avLst/>
          </a:prstGeom>
        </p:spPr>
      </p:pic>
      <p:sp>
        <p:nvSpPr>
          <p:cNvPr id="12" name="Text 6"/>
          <p:cNvSpPr txBox="1"/>
          <p:nvPr/>
        </p:nvSpPr>
        <p:spPr>
          <a:xfrm>
            <a:off x="7066051" y="4315968"/>
            <a:ext cx="3662121" cy="246888"/>
          </a:xfrm>
          <a:prstGeom prst="rect">
            <a:avLst/>
          </a:prstGeom>
          <a:noFill/>
          <a:ln/>
        </p:spPr>
        <p:txBody>
          <a:bodyPr wrap="square" lIns="0" tIns="0" rIns="0" bIns="0" rtlCol="0" anchor="t"/>
          <a:lstStyle/>
          <a:p>
            <a:pPr indent="0" marL="0">
              <a:buNone/>
            </a:pPr>
            <a:r>
              <a:rPr lang="en-US" sz="900" dirty="0">
                <a:solidFill>
                  <a:srgbClr val="777584"/>
                </a:solidFill>
                <a:latin typeface="Quicksand" pitchFamily="34" charset="0"/>
                <a:ea typeface="Quicksand" pitchFamily="34" charset="-122"/>
                <a:cs typeface="Quicksand" pitchFamily="34" charset="-120"/>
              </a:rPr>
              <a:t>Losch · CC BY-SA 3.0</a:t>
            </a:r>
            <a:endParaRPr lang="en-US" sz="900" dirty="0"/>
          </a:p>
        </p:txBody>
      </p:sp>
      <p:sp>
        <p:nvSpPr>
          <p:cNvPr id="14" name="Text 7"/>
          <p:cNvSpPr txBox="1"/>
          <p:nvPr/>
        </p:nvSpPr>
        <p:spPr>
          <a:xfrm>
            <a:off x="594360" y="4617720"/>
            <a:ext cx="5321808" cy="393192"/>
          </a:xfrm>
          <a:prstGeom prst="rect">
            <a:avLst/>
          </a:prstGeom>
          <a:noFill/>
          <a:ln/>
        </p:spPr>
        <p:txBody>
          <a:bodyPr wrap="square" lIns="0" tIns="0" rIns="0" bIns="0" rtlCol="0" anchor="t"/>
          <a:lstStyle/>
          <a:p>
            <a:pPr algn="ctr" indent="0" marL="0">
              <a:buNone/>
            </a:pPr>
            <a:r>
              <a:rPr lang="en-US" sz="2400" b="1" dirty="0">
                <a:solidFill>
                  <a:srgbClr val="494985"/>
                </a:solidFill>
                <a:latin typeface="Quicksand" pitchFamily="34" charset="0"/>
                <a:ea typeface="Quicksand" pitchFamily="34" charset="-122"/>
                <a:cs typeface="Quicksand" pitchFamily="34" charset="-120"/>
              </a:rPr>
              <a:t>Label: CAT</a:t>
            </a:r>
            <a:endParaRPr lang="en-US" sz="2400" dirty="0"/>
          </a:p>
        </p:txBody>
      </p:sp>
      <p:sp>
        <p:nvSpPr>
          <p:cNvPr id="15" name="Text 8"/>
          <p:cNvSpPr txBox="1"/>
          <p:nvPr/>
        </p:nvSpPr>
        <p:spPr>
          <a:xfrm>
            <a:off x="6236208" y="4617720"/>
            <a:ext cx="5321808" cy="393192"/>
          </a:xfrm>
          <a:prstGeom prst="rect">
            <a:avLst/>
          </a:prstGeom>
          <a:noFill/>
          <a:ln/>
        </p:spPr>
        <p:txBody>
          <a:bodyPr wrap="square" lIns="0" tIns="0" rIns="0" bIns="0" rtlCol="0" anchor="t"/>
          <a:lstStyle/>
          <a:p>
            <a:pPr algn="ctr" indent="0" marL="0">
              <a:buNone/>
            </a:pPr>
            <a:r>
              <a:rPr lang="en-US" sz="2400" b="1" dirty="0">
                <a:solidFill>
                  <a:srgbClr val="494985"/>
                </a:solidFill>
                <a:latin typeface="Quicksand" pitchFamily="34" charset="0"/>
                <a:ea typeface="Quicksand" pitchFamily="34" charset="-122"/>
                <a:cs typeface="Quicksand" pitchFamily="34" charset="-120"/>
              </a:rPr>
              <a:t>Label: DOG</a:t>
            </a:r>
            <a:endParaRPr lang="en-US" sz="2400" dirty="0"/>
          </a:p>
        </p:txBody>
      </p:sp>
      <p:sp>
        <p:nvSpPr>
          <p:cNvPr id="16" name="Text 9"/>
          <p:cNvSpPr txBox="1"/>
          <p:nvPr/>
        </p:nvSpPr>
        <p:spPr>
          <a:xfrm>
            <a:off x="594360" y="5166360"/>
            <a:ext cx="10972800" cy="347472"/>
          </a:xfrm>
          <a:prstGeom prst="rect">
            <a:avLst/>
          </a:prstGeom>
          <a:noFill/>
          <a:ln/>
        </p:spPr>
        <p:txBody>
          <a:bodyPr wrap="square" lIns="0" tIns="0" rIns="0" bIns="0" rtlCol="0" anchor="t"/>
          <a:lstStyle/>
          <a:p>
            <a:pPr indent="0" marL="0">
              <a:buNone/>
            </a:pPr>
            <a:r>
              <a:rPr lang="en-US" sz="2000" b="1" dirty="0">
                <a:solidFill>
                  <a:srgbClr val="494985"/>
                </a:solidFill>
                <a:latin typeface="Quicksand" pitchFamily="34" charset="0"/>
                <a:ea typeface="Quicksand" pitchFamily="34" charset="-122"/>
                <a:cs typeface="Quicksand" pitchFamily="34" charset="-120"/>
              </a:rPr>
              <a:t>Machine learning is a form of AI that learns patterns from data.</a:t>
            </a:r>
            <a:endParaRPr lang="en-US" sz="2000" dirty="0"/>
          </a:p>
        </p:txBody>
      </p:sp>
      <p:sp>
        <p:nvSpPr>
          <p:cNvPr id="17" name="Text 10"/>
          <p:cNvSpPr txBox="1"/>
          <p:nvPr/>
        </p:nvSpPr>
        <p:spPr>
          <a:xfrm>
            <a:off x="594360" y="5650992"/>
            <a:ext cx="10972800" cy="384048"/>
          </a:xfrm>
          <a:prstGeom prst="rect">
            <a:avLst/>
          </a:prstGeom>
          <a:noFill/>
          <a:ln/>
        </p:spPr>
        <p:txBody>
          <a:bodyPr wrap="square" lIns="0" tIns="0" rIns="0" bIns="0" rtlCol="0" anchor="t"/>
          <a:lstStyle/>
          <a:p>
            <a:pPr indent="0" marL="0">
              <a:buNone/>
            </a:pPr>
            <a:r>
              <a:rPr lang="en-US" sz="1700" b="1" dirty="0">
                <a:solidFill>
                  <a:srgbClr val="494985"/>
                </a:solidFill>
                <a:latin typeface="Quicksand" pitchFamily="34" charset="0"/>
                <a:ea typeface="Quicksand" pitchFamily="34" charset="-122"/>
                <a:cs typeface="Quicksand" pitchFamily="34" charset="-120"/>
              </a:rPr>
              <a:t>Many varied examples → learned patterns → a prediction for an unfamiliar photograph.</a:t>
            </a:r>
            <a:endParaRPr lang="en-US" sz="17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AF9F6"/>
        </a:solidFill>
      </p:bgPr>
    </p:bg>
    <p:spTree>
      <p:nvGrpSpPr>
        <p:cNvPr id="1" name=""/>
        <p:cNvGrpSpPr/>
        <p:nvPr/>
      </p:nvGrpSpPr>
      <p:grpSpPr>
        <a:xfrm>
          <a:off x="0" y="0"/>
          <a:ext cx="0" cy="0"/>
          <a:chOff x="0" y="0"/>
          <a:chExt cx="0" cy="0"/>
        </a:xfrm>
      </p:grpSpPr>
      <p:sp>
        <p:nvSpPr>
          <p:cNvPr id="2" name="Text 0"/>
          <p:cNvSpPr txBox="1"/>
          <p:nvPr/>
        </p:nvSpPr>
        <p:spPr>
          <a:xfrm>
            <a:off x="594360" y="301752"/>
            <a:ext cx="10424160" cy="274320"/>
          </a:xfrm>
          <a:prstGeom prst="rect">
            <a:avLst/>
          </a:prstGeom>
          <a:noFill/>
          <a:ln/>
        </p:spPr>
        <p:txBody>
          <a:bodyPr wrap="square" lIns="0" tIns="0" rIns="0" bIns="0" rtlCol="0" anchor="t"/>
          <a:lstStyle/>
          <a:p>
            <a:pPr indent="0" marL="0">
              <a:buNone/>
            </a:pPr>
            <a:r>
              <a:rPr lang="en-US" sz="1100" b="1" spc="200" kern="0" dirty="0">
                <a:solidFill>
                  <a:srgbClr val="494985"/>
                </a:solidFill>
                <a:latin typeface="Quicksand" pitchFamily="34" charset="0"/>
                <a:ea typeface="Quicksand" pitchFamily="34" charset="-122"/>
                <a:cs typeface="Quicksand" pitchFamily="34" charset="-120"/>
              </a:rPr>
              <a:t>UNDERSTAND · LEARNING MECHANISM</a:t>
            </a:r>
            <a:endParaRPr lang="en-US" sz="1100" dirty="0"/>
          </a:p>
        </p:txBody>
      </p:sp>
      <p:sp>
        <p:nvSpPr>
          <p:cNvPr id="3" name="Text 1"/>
          <p:cNvSpPr txBox="1"/>
          <p:nvPr/>
        </p:nvSpPr>
        <p:spPr>
          <a:xfrm>
            <a:off x="594360" y="822960"/>
            <a:ext cx="10972800" cy="640080"/>
          </a:xfrm>
          <a:prstGeom prst="rect">
            <a:avLst/>
          </a:prstGeom>
          <a:noFill/>
          <a:ln/>
        </p:spPr>
        <p:txBody>
          <a:bodyPr wrap="square" lIns="0" tIns="0" rIns="0" bIns="0" rtlCol="0" anchor="t"/>
          <a:lstStyle/>
          <a:p>
            <a:pPr indent="0" marL="0">
              <a:buNone/>
            </a:pPr>
            <a:r>
              <a:rPr lang="en-US" sz="3200" b="1" dirty="0">
                <a:solidFill>
                  <a:srgbClr val="252341"/>
                </a:solidFill>
                <a:latin typeface="Quicksand" pitchFamily="34" charset="0"/>
                <a:ea typeface="Quicksand" pitchFamily="34" charset="-122"/>
                <a:cs typeface="Quicksand" pitchFamily="34" charset="-120"/>
              </a:rPr>
              <a:t>Experience changes later decisions</a:t>
            </a:r>
            <a:endParaRPr lang="en-US" sz="3200" dirty="0"/>
          </a:p>
        </p:txBody>
      </p:sp>
      <p:sp>
        <p:nvSpPr>
          <p:cNvPr id="4" name="Shape 2"/>
          <p:cNvSpPr/>
          <p:nvPr/>
        </p:nvSpPr>
        <p:spPr>
          <a:xfrm>
            <a:off x="594360" y="6355080"/>
            <a:ext cx="10972800" cy="0"/>
          </a:xfrm>
          <a:prstGeom prst="line">
            <a:avLst/>
          </a:prstGeom>
          <a:noFill/>
          <a:ln w="8890">
            <a:solidFill>
              <a:srgbClr val="DDDBE5"/>
            </a:solidFill>
            <a:prstDash val="solid"/>
          </a:ln>
        </p:spPr>
      </p:sp>
      <p:sp>
        <p:nvSpPr>
          <p:cNvPr id="5" name="Text 3"/>
          <p:cNvSpPr txBox="1"/>
          <p:nvPr/>
        </p:nvSpPr>
        <p:spPr>
          <a:xfrm>
            <a:off x="594360" y="6473952"/>
            <a:ext cx="5486400" cy="164592"/>
          </a:xfrm>
          <a:prstGeom prst="rect">
            <a:avLst/>
          </a:prstGeom>
          <a:noFill/>
          <a:ln/>
        </p:spPr>
        <p:txBody>
          <a:bodyPr wrap="square" lIns="0" tIns="0" rIns="0" bIns="0" rtlCol="0" anchor="t"/>
          <a:lstStyle/>
          <a:p>
            <a:pPr indent="0" marL="0">
              <a:buNone/>
            </a:pPr>
            <a:r>
              <a:rPr lang="en-US" sz="800" dirty="0">
                <a:solidFill>
                  <a:srgbClr val="777584"/>
                </a:solidFill>
                <a:latin typeface="Quicksand" pitchFamily="34" charset="0"/>
                <a:ea typeface="Quicksand" pitchFamily="34" charset="-122"/>
                <a:cs typeface="Quicksand" pitchFamily="34" charset="-120"/>
              </a:rPr>
              <a:t>IGCSE 0478  /  ARTIFICIAL INTELLIGENCE</a:t>
            </a:r>
            <a:endParaRPr lang="en-US" sz="800" dirty="0"/>
          </a:p>
        </p:txBody>
      </p:sp>
      <p:sp>
        <p:nvSpPr>
          <p:cNvPr id="6" name="Text 4"/>
          <p:cNvSpPr txBox="1"/>
          <p:nvPr/>
        </p:nvSpPr>
        <p:spPr>
          <a:xfrm>
            <a:off x="11018520" y="6419088"/>
            <a:ext cx="530352" cy="228600"/>
          </a:xfrm>
          <a:prstGeom prst="rect">
            <a:avLst/>
          </a:prstGeom>
          <a:noFill/>
          <a:ln/>
        </p:spPr>
        <p:txBody>
          <a:bodyPr wrap="square" lIns="0" tIns="0" rIns="0" bIns="0" rtlCol="0" anchor="t"/>
          <a:lstStyle/>
          <a:p>
            <a:pPr algn="r" indent="0" marL="0">
              <a:buNone/>
            </a:pPr>
            <a:r>
              <a:rPr lang="en-US" sz="1100" dirty="0">
                <a:solidFill>
                  <a:srgbClr val="777584"/>
                </a:solidFill>
                <a:latin typeface="Quicksand" pitchFamily="34" charset="0"/>
                <a:ea typeface="Quicksand" pitchFamily="34" charset="-122"/>
                <a:cs typeface="Quicksand" pitchFamily="34" charset="-120"/>
              </a:rPr>
              <a:t>11</a:t>
            </a:r>
            <a:endParaRPr lang="en-US" sz="1100" dirty="0"/>
          </a:p>
        </p:txBody>
      </p:sp>
      <p:sp>
        <p:nvSpPr>
          <p:cNvPr id="8" name="Shape 5"/>
          <p:cNvSpPr/>
          <p:nvPr/>
        </p:nvSpPr>
        <p:spPr>
          <a:xfrm>
            <a:off x="594360" y="2057400"/>
            <a:ext cx="2423160" cy="2423160"/>
          </a:xfrm>
          <a:prstGeom prst="rect">
            <a:avLst/>
          </a:prstGeom>
          <a:solidFill>
            <a:srgbClr val="EFEEF5"/>
          </a:solidFill>
          <a:ln w="12700">
            <a:solidFill>
              <a:srgbClr val="EFEEF5"/>
            </a:solidFill>
            <a:prstDash val="solid"/>
          </a:ln>
        </p:spPr>
      </p:sp>
      <p:sp>
        <p:nvSpPr>
          <p:cNvPr id="9" name="Text 6"/>
          <p:cNvSpPr txBox="1"/>
          <p:nvPr/>
        </p:nvSpPr>
        <p:spPr>
          <a:xfrm>
            <a:off x="758952" y="2286000"/>
            <a:ext cx="2093976" cy="411480"/>
          </a:xfrm>
          <a:prstGeom prst="rect">
            <a:avLst/>
          </a:prstGeom>
          <a:noFill/>
          <a:ln/>
        </p:spPr>
        <p:txBody>
          <a:bodyPr wrap="square" lIns="0" tIns="0" rIns="0" bIns="0" rtlCol="0" anchor="t"/>
          <a:lstStyle/>
          <a:p>
            <a:pPr indent="0" marL="0">
              <a:buNone/>
            </a:pPr>
            <a:r>
              <a:rPr lang="en-US" sz="1800" b="1" dirty="0">
                <a:solidFill>
                  <a:srgbClr val="494985"/>
                </a:solidFill>
                <a:latin typeface="Quicksand" pitchFamily="34" charset="0"/>
                <a:ea typeface="Quicksand" pitchFamily="34" charset="-122"/>
                <a:cs typeface="Quicksand" pitchFamily="34" charset="-120"/>
              </a:rPr>
              <a:t>DATA</a:t>
            </a:r>
            <a:endParaRPr lang="en-US" sz="1800" dirty="0"/>
          </a:p>
        </p:txBody>
      </p:sp>
      <p:sp>
        <p:nvSpPr>
          <p:cNvPr id="10" name="Text 7"/>
          <p:cNvSpPr txBox="1"/>
          <p:nvPr/>
        </p:nvSpPr>
        <p:spPr>
          <a:xfrm>
            <a:off x="758952" y="3017520"/>
            <a:ext cx="2093976" cy="1005840"/>
          </a:xfrm>
          <a:prstGeom prst="rect">
            <a:avLst/>
          </a:prstGeom>
          <a:noFill/>
          <a:ln/>
        </p:spPr>
        <p:txBody>
          <a:bodyPr wrap="square" lIns="0" tIns="0" rIns="0" bIns="0" rtlCol="0" anchor="t"/>
          <a:lstStyle/>
          <a:p>
            <a:pPr indent="0" marL="0">
              <a:buNone/>
            </a:pPr>
            <a:r>
              <a:rPr lang="en-US" sz="2200" dirty="0">
                <a:solidFill>
                  <a:srgbClr val="252341"/>
                </a:solidFill>
                <a:latin typeface="Quicksand" pitchFamily="34" charset="0"/>
                <a:ea typeface="Quicksand" pitchFamily="34" charset="-122"/>
                <a:cs typeface="Quicksand" pitchFamily="34" charset="-120"/>
              </a:rPr>
              <a:t>Past examples</a:t>
            </a:r>
            <a:endParaRPr lang="en-US" sz="2200" dirty="0"/>
          </a:p>
          <a:p>
            <a:pPr indent="0" marL="0">
              <a:buNone/>
            </a:pPr>
            <a:r>
              <a:rPr lang="en-US" sz="2200" dirty="0">
                <a:solidFill>
                  <a:srgbClr val="252341"/>
                </a:solidFill>
                <a:latin typeface="Quicksand" pitchFamily="34" charset="0"/>
                <a:ea typeface="Quicksand" pitchFamily="34" charset="-122"/>
                <a:cs typeface="Quicksand" pitchFamily="34" charset="-120"/>
              </a:rPr>
              <a:t>or experience</a:t>
            </a:r>
            <a:endParaRPr lang="en-US" sz="2200" dirty="0"/>
          </a:p>
        </p:txBody>
      </p:sp>
      <p:sp>
        <p:nvSpPr>
          <p:cNvPr id="11" name="Shape 8"/>
          <p:cNvSpPr/>
          <p:nvPr/>
        </p:nvSpPr>
        <p:spPr>
          <a:xfrm>
            <a:off x="3081528" y="3108960"/>
            <a:ext cx="274320" cy="914"/>
          </a:xfrm>
          <a:prstGeom prst="line">
            <a:avLst/>
          </a:prstGeom>
          <a:noFill/>
          <a:ln w="25400">
            <a:solidFill>
              <a:srgbClr val="494985"/>
            </a:solidFill>
            <a:prstDash val="solid"/>
            <a:tailEnd type="triangle"/>
          </a:ln>
        </p:spPr>
      </p:sp>
      <p:sp>
        <p:nvSpPr>
          <p:cNvPr id="12" name="Shape 9"/>
          <p:cNvSpPr/>
          <p:nvPr/>
        </p:nvSpPr>
        <p:spPr>
          <a:xfrm>
            <a:off x="3447288" y="2057400"/>
            <a:ext cx="2423160" cy="2423160"/>
          </a:xfrm>
          <a:prstGeom prst="rect">
            <a:avLst/>
          </a:prstGeom>
          <a:solidFill>
            <a:srgbClr val="EFEEF5"/>
          </a:solidFill>
          <a:ln w="12700">
            <a:solidFill>
              <a:srgbClr val="EFEEF5"/>
            </a:solidFill>
            <a:prstDash val="solid"/>
          </a:ln>
        </p:spPr>
      </p:sp>
      <p:sp>
        <p:nvSpPr>
          <p:cNvPr id="13" name="Text 10"/>
          <p:cNvSpPr txBox="1"/>
          <p:nvPr/>
        </p:nvSpPr>
        <p:spPr>
          <a:xfrm>
            <a:off x="3611880" y="2286000"/>
            <a:ext cx="2093976" cy="411480"/>
          </a:xfrm>
          <a:prstGeom prst="rect">
            <a:avLst/>
          </a:prstGeom>
          <a:noFill/>
          <a:ln/>
        </p:spPr>
        <p:txBody>
          <a:bodyPr wrap="square" lIns="0" tIns="0" rIns="0" bIns="0" rtlCol="0" anchor="t"/>
          <a:lstStyle/>
          <a:p>
            <a:pPr indent="0" marL="0">
              <a:buNone/>
            </a:pPr>
            <a:r>
              <a:rPr lang="en-US" sz="1800" b="1" dirty="0">
                <a:solidFill>
                  <a:srgbClr val="494985"/>
                </a:solidFill>
                <a:latin typeface="Quicksand" pitchFamily="34" charset="0"/>
                <a:ea typeface="Quicksand" pitchFamily="34" charset="-122"/>
                <a:cs typeface="Quicksand" pitchFamily="34" charset="-120"/>
              </a:rPr>
              <a:t>PATTERNS</a:t>
            </a:r>
            <a:endParaRPr lang="en-US" sz="1800" dirty="0"/>
          </a:p>
        </p:txBody>
      </p:sp>
      <p:sp>
        <p:nvSpPr>
          <p:cNvPr id="14" name="Text 11"/>
          <p:cNvSpPr txBox="1"/>
          <p:nvPr/>
        </p:nvSpPr>
        <p:spPr>
          <a:xfrm>
            <a:off x="3611880" y="3017520"/>
            <a:ext cx="2093976" cy="1005840"/>
          </a:xfrm>
          <a:prstGeom prst="rect">
            <a:avLst/>
          </a:prstGeom>
          <a:noFill/>
          <a:ln/>
        </p:spPr>
        <p:txBody>
          <a:bodyPr wrap="square" lIns="0" tIns="0" rIns="0" bIns="0" rtlCol="0" anchor="t"/>
          <a:lstStyle/>
          <a:p>
            <a:pPr indent="0" marL="0">
              <a:buNone/>
            </a:pPr>
            <a:r>
              <a:rPr lang="en-US" sz="2200" dirty="0">
                <a:solidFill>
                  <a:srgbClr val="252341"/>
                </a:solidFill>
                <a:latin typeface="Quicksand" pitchFamily="34" charset="0"/>
                <a:ea typeface="Quicksand" pitchFamily="34" charset="-122"/>
                <a:cs typeface="Quicksand" pitchFamily="34" charset="-120"/>
              </a:rPr>
              <a:t>Find useful</a:t>
            </a:r>
            <a:endParaRPr lang="en-US" sz="2200" dirty="0"/>
          </a:p>
          <a:p>
            <a:pPr indent="0" marL="0">
              <a:buNone/>
            </a:pPr>
            <a:r>
              <a:rPr lang="en-US" sz="2200" dirty="0">
                <a:solidFill>
                  <a:srgbClr val="252341"/>
                </a:solidFill>
                <a:latin typeface="Quicksand" pitchFamily="34" charset="0"/>
                <a:ea typeface="Quicksand" pitchFamily="34" charset="-122"/>
                <a:cs typeface="Quicksand" pitchFamily="34" charset="-120"/>
              </a:rPr>
              <a:t>relationships</a:t>
            </a:r>
            <a:endParaRPr lang="en-US" sz="2200" dirty="0"/>
          </a:p>
        </p:txBody>
      </p:sp>
      <p:sp>
        <p:nvSpPr>
          <p:cNvPr id="15" name="Shape 12"/>
          <p:cNvSpPr/>
          <p:nvPr/>
        </p:nvSpPr>
        <p:spPr>
          <a:xfrm>
            <a:off x="5934456" y="3108960"/>
            <a:ext cx="274320" cy="914"/>
          </a:xfrm>
          <a:prstGeom prst="line">
            <a:avLst/>
          </a:prstGeom>
          <a:noFill/>
          <a:ln w="25400">
            <a:solidFill>
              <a:srgbClr val="494985"/>
            </a:solidFill>
            <a:prstDash val="solid"/>
            <a:tailEnd type="triangle"/>
          </a:ln>
        </p:spPr>
      </p:sp>
      <p:sp>
        <p:nvSpPr>
          <p:cNvPr id="16" name="Shape 13"/>
          <p:cNvSpPr/>
          <p:nvPr/>
        </p:nvSpPr>
        <p:spPr>
          <a:xfrm>
            <a:off x="6300216" y="2057400"/>
            <a:ext cx="2423160" cy="2423160"/>
          </a:xfrm>
          <a:prstGeom prst="rect">
            <a:avLst/>
          </a:prstGeom>
          <a:solidFill>
            <a:srgbClr val="EFEEF5"/>
          </a:solidFill>
          <a:ln w="12700">
            <a:solidFill>
              <a:srgbClr val="EFEEF5"/>
            </a:solidFill>
            <a:prstDash val="solid"/>
          </a:ln>
        </p:spPr>
      </p:sp>
      <p:sp>
        <p:nvSpPr>
          <p:cNvPr id="17" name="Text 14"/>
          <p:cNvSpPr txBox="1"/>
          <p:nvPr/>
        </p:nvSpPr>
        <p:spPr>
          <a:xfrm>
            <a:off x="6464808" y="2286000"/>
            <a:ext cx="2093976" cy="411480"/>
          </a:xfrm>
          <a:prstGeom prst="rect">
            <a:avLst/>
          </a:prstGeom>
          <a:noFill/>
          <a:ln/>
        </p:spPr>
        <p:txBody>
          <a:bodyPr wrap="square" lIns="0" tIns="0" rIns="0" bIns="0" rtlCol="0" anchor="t"/>
          <a:lstStyle/>
          <a:p>
            <a:pPr indent="0" marL="0">
              <a:buNone/>
            </a:pPr>
            <a:r>
              <a:rPr lang="en-US" sz="1800" b="1" dirty="0">
                <a:solidFill>
                  <a:srgbClr val="494985"/>
                </a:solidFill>
                <a:latin typeface="Quicksand" pitchFamily="34" charset="0"/>
                <a:ea typeface="Quicksand" pitchFamily="34" charset="-122"/>
                <a:cs typeface="Quicksand" pitchFamily="34" charset="-120"/>
              </a:rPr>
              <a:t>DECISION</a:t>
            </a:r>
            <a:endParaRPr lang="en-US" sz="1800" dirty="0"/>
          </a:p>
        </p:txBody>
      </p:sp>
      <p:sp>
        <p:nvSpPr>
          <p:cNvPr id="18" name="Text 15"/>
          <p:cNvSpPr txBox="1"/>
          <p:nvPr/>
        </p:nvSpPr>
        <p:spPr>
          <a:xfrm>
            <a:off x="6464808" y="3017520"/>
            <a:ext cx="2093976" cy="1005840"/>
          </a:xfrm>
          <a:prstGeom prst="rect">
            <a:avLst/>
          </a:prstGeom>
          <a:noFill/>
          <a:ln/>
        </p:spPr>
        <p:txBody>
          <a:bodyPr wrap="square" lIns="0" tIns="0" rIns="0" bIns="0" rtlCol="0" anchor="t"/>
          <a:lstStyle/>
          <a:p>
            <a:pPr indent="0" marL="0">
              <a:buNone/>
            </a:pPr>
            <a:r>
              <a:rPr lang="en-US" sz="2200" dirty="0">
                <a:solidFill>
                  <a:srgbClr val="252341"/>
                </a:solidFill>
                <a:latin typeface="Quicksand" pitchFamily="34" charset="0"/>
                <a:ea typeface="Quicksand" pitchFamily="34" charset="-122"/>
                <a:cs typeface="Quicksand" pitchFamily="34" charset="-120"/>
              </a:rPr>
              <a:t>Predict or</a:t>
            </a:r>
            <a:endParaRPr lang="en-US" sz="2200" dirty="0"/>
          </a:p>
          <a:p>
            <a:pPr indent="0" marL="0">
              <a:buNone/>
            </a:pPr>
            <a:r>
              <a:rPr lang="en-US" sz="2200" dirty="0">
                <a:solidFill>
                  <a:srgbClr val="252341"/>
                </a:solidFill>
                <a:latin typeface="Quicksand" pitchFamily="34" charset="0"/>
                <a:ea typeface="Quicksand" pitchFamily="34" charset="-122"/>
                <a:cs typeface="Quicksand" pitchFamily="34" charset="-120"/>
              </a:rPr>
              <a:t>choose an action</a:t>
            </a:r>
            <a:endParaRPr lang="en-US" sz="2200" dirty="0"/>
          </a:p>
        </p:txBody>
      </p:sp>
      <p:sp>
        <p:nvSpPr>
          <p:cNvPr id="19" name="Shape 16"/>
          <p:cNvSpPr/>
          <p:nvPr/>
        </p:nvSpPr>
        <p:spPr>
          <a:xfrm>
            <a:off x="8787384" y="3108960"/>
            <a:ext cx="274320" cy="914"/>
          </a:xfrm>
          <a:prstGeom prst="line">
            <a:avLst/>
          </a:prstGeom>
          <a:noFill/>
          <a:ln w="25400">
            <a:solidFill>
              <a:srgbClr val="494985"/>
            </a:solidFill>
            <a:prstDash val="solid"/>
            <a:tailEnd type="triangle"/>
          </a:ln>
        </p:spPr>
      </p:sp>
      <p:sp>
        <p:nvSpPr>
          <p:cNvPr id="20" name="Shape 17"/>
          <p:cNvSpPr/>
          <p:nvPr/>
        </p:nvSpPr>
        <p:spPr>
          <a:xfrm>
            <a:off x="9153144" y="2057400"/>
            <a:ext cx="2423160" cy="2423160"/>
          </a:xfrm>
          <a:prstGeom prst="rect">
            <a:avLst/>
          </a:prstGeom>
          <a:solidFill>
            <a:srgbClr val="EFEEF5"/>
          </a:solidFill>
          <a:ln w="12700">
            <a:solidFill>
              <a:srgbClr val="EFEEF5"/>
            </a:solidFill>
            <a:prstDash val="solid"/>
          </a:ln>
        </p:spPr>
      </p:sp>
      <p:sp>
        <p:nvSpPr>
          <p:cNvPr id="21" name="Text 18"/>
          <p:cNvSpPr txBox="1"/>
          <p:nvPr/>
        </p:nvSpPr>
        <p:spPr>
          <a:xfrm>
            <a:off x="9317736" y="2286000"/>
            <a:ext cx="2093976" cy="411480"/>
          </a:xfrm>
          <a:prstGeom prst="rect">
            <a:avLst/>
          </a:prstGeom>
          <a:noFill/>
          <a:ln/>
        </p:spPr>
        <p:txBody>
          <a:bodyPr wrap="square" lIns="0" tIns="0" rIns="0" bIns="0" rtlCol="0" anchor="t"/>
          <a:lstStyle/>
          <a:p>
            <a:pPr indent="0" marL="0">
              <a:buNone/>
            </a:pPr>
            <a:r>
              <a:rPr lang="en-US" sz="1800" b="1" dirty="0">
                <a:solidFill>
                  <a:srgbClr val="494985"/>
                </a:solidFill>
                <a:latin typeface="Quicksand" pitchFamily="34" charset="0"/>
                <a:ea typeface="Quicksand" pitchFamily="34" charset="-122"/>
                <a:cs typeface="Quicksand" pitchFamily="34" charset="-120"/>
              </a:rPr>
              <a:t>FEEDBACK</a:t>
            </a:r>
            <a:endParaRPr lang="en-US" sz="1800" dirty="0"/>
          </a:p>
        </p:txBody>
      </p:sp>
      <p:sp>
        <p:nvSpPr>
          <p:cNvPr id="22" name="Text 19"/>
          <p:cNvSpPr txBox="1"/>
          <p:nvPr/>
        </p:nvSpPr>
        <p:spPr>
          <a:xfrm>
            <a:off x="9317736" y="3017520"/>
            <a:ext cx="2093976" cy="1005840"/>
          </a:xfrm>
          <a:prstGeom prst="rect">
            <a:avLst/>
          </a:prstGeom>
          <a:noFill/>
          <a:ln/>
        </p:spPr>
        <p:txBody>
          <a:bodyPr wrap="square" lIns="0" tIns="0" rIns="0" bIns="0" rtlCol="0" anchor="t"/>
          <a:lstStyle/>
          <a:p>
            <a:pPr indent="0" marL="0">
              <a:buNone/>
            </a:pPr>
            <a:r>
              <a:rPr lang="en-US" sz="2200" dirty="0">
                <a:solidFill>
                  <a:srgbClr val="252341"/>
                </a:solidFill>
                <a:latin typeface="Quicksand" pitchFamily="34" charset="0"/>
                <a:ea typeface="Quicksand" pitchFamily="34" charset="-122"/>
                <a:cs typeface="Quicksand" pitchFamily="34" charset="-120"/>
              </a:rPr>
              <a:t>Check success</a:t>
            </a:r>
            <a:endParaRPr lang="en-US" sz="2200" dirty="0"/>
          </a:p>
          <a:p>
            <a:pPr indent="0" marL="0">
              <a:buNone/>
            </a:pPr>
            <a:r>
              <a:rPr lang="en-US" sz="2200" dirty="0">
                <a:solidFill>
                  <a:srgbClr val="252341"/>
                </a:solidFill>
                <a:latin typeface="Quicksand" pitchFamily="34" charset="0"/>
                <a:ea typeface="Quicksand" pitchFamily="34" charset="-122"/>
                <a:cs typeface="Quicksand" pitchFamily="34" charset="-120"/>
              </a:rPr>
              <a:t>and failure</a:t>
            </a:r>
            <a:endParaRPr lang="en-US" sz="2200" dirty="0"/>
          </a:p>
        </p:txBody>
      </p:sp>
      <p:sp>
        <p:nvSpPr>
          <p:cNvPr id="23" name="Shape 20"/>
          <p:cNvSpPr/>
          <p:nvPr/>
        </p:nvSpPr>
        <p:spPr>
          <a:xfrm>
            <a:off x="10515600" y="4663440"/>
            <a:ext cx="914" cy="502920"/>
          </a:xfrm>
          <a:prstGeom prst="line">
            <a:avLst/>
          </a:prstGeom>
          <a:noFill/>
          <a:ln w="25400">
            <a:solidFill>
              <a:srgbClr val="494985"/>
            </a:solidFill>
            <a:prstDash val="solid"/>
            <a:tailEnd type="triangle"/>
          </a:ln>
        </p:spPr>
      </p:sp>
      <p:sp>
        <p:nvSpPr>
          <p:cNvPr id="24" name="Shape 21"/>
          <p:cNvSpPr/>
          <p:nvPr/>
        </p:nvSpPr>
        <p:spPr>
          <a:xfrm flipH="1">
            <a:off x="1737360" y="5166360"/>
            <a:ext cx="8778240" cy="914"/>
          </a:xfrm>
          <a:prstGeom prst="line">
            <a:avLst/>
          </a:prstGeom>
          <a:noFill/>
          <a:ln w="25400">
            <a:solidFill>
              <a:srgbClr val="494985"/>
            </a:solidFill>
            <a:prstDash val="solid"/>
            <a:tailEnd type="triangle"/>
          </a:ln>
        </p:spPr>
      </p:sp>
      <p:sp>
        <p:nvSpPr>
          <p:cNvPr id="25" name="Shape 22"/>
          <p:cNvSpPr/>
          <p:nvPr/>
        </p:nvSpPr>
        <p:spPr>
          <a:xfrm flipV="1">
            <a:off x="1737360" y="4663440"/>
            <a:ext cx="914" cy="502920"/>
          </a:xfrm>
          <a:prstGeom prst="line">
            <a:avLst/>
          </a:prstGeom>
          <a:noFill/>
          <a:ln w="25400">
            <a:solidFill>
              <a:srgbClr val="494985"/>
            </a:solidFill>
            <a:prstDash val="solid"/>
            <a:tailEnd type="triangle"/>
          </a:ln>
        </p:spPr>
      </p:sp>
      <p:sp>
        <p:nvSpPr>
          <p:cNvPr id="26" name="Text 23"/>
          <p:cNvSpPr txBox="1"/>
          <p:nvPr/>
        </p:nvSpPr>
        <p:spPr>
          <a:xfrm>
            <a:off x="594360" y="5650992"/>
            <a:ext cx="10972800" cy="384048"/>
          </a:xfrm>
          <a:prstGeom prst="rect">
            <a:avLst/>
          </a:prstGeom>
          <a:noFill/>
          <a:ln/>
        </p:spPr>
        <p:txBody>
          <a:bodyPr wrap="square" lIns="0" tIns="0" rIns="0" bIns="0" rtlCol="0" anchor="t"/>
          <a:lstStyle/>
          <a:p>
            <a:pPr indent="0" marL="0">
              <a:buNone/>
            </a:pPr>
            <a:r>
              <a:rPr lang="en-US" sz="1700" b="1" dirty="0">
                <a:solidFill>
                  <a:srgbClr val="494985"/>
                </a:solidFill>
                <a:latin typeface="Quicksand" pitchFamily="34" charset="0"/>
                <a:ea typeface="Quicksand" pitchFamily="34" charset="-122"/>
                <a:cs typeface="Quicksand" pitchFamily="34" charset="-120"/>
              </a:rPr>
              <a:t>Feedback can update data or processes, changing a later prediction or action.</a:t>
            </a:r>
            <a:endParaRPr lang="en-US" sz="17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AF9F6"/>
        </a:solidFill>
      </p:bgPr>
    </p:bg>
    <p:spTree>
      <p:nvGrpSpPr>
        <p:cNvPr id="1" name=""/>
        <p:cNvGrpSpPr/>
        <p:nvPr/>
      </p:nvGrpSpPr>
      <p:grpSpPr>
        <a:xfrm>
          <a:off x="0" y="0"/>
          <a:ext cx="0" cy="0"/>
          <a:chOff x="0" y="0"/>
          <a:chExt cx="0" cy="0"/>
        </a:xfrm>
      </p:grpSpPr>
      <p:sp>
        <p:nvSpPr>
          <p:cNvPr id="2" name="Text 0"/>
          <p:cNvSpPr txBox="1"/>
          <p:nvPr/>
        </p:nvSpPr>
        <p:spPr>
          <a:xfrm>
            <a:off x="594360" y="301752"/>
            <a:ext cx="10424160" cy="274320"/>
          </a:xfrm>
          <a:prstGeom prst="rect">
            <a:avLst/>
          </a:prstGeom>
          <a:noFill/>
          <a:ln/>
        </p:spPr>
        <p:txBody>
          <a:bodyPr wrap="square" lIns="0" tIns="0" rIns="0" bIns="0" rtlCol="0" anchor="t"/>
          <a:lstStyle/>
          <a:p>
            <a:pPr indent="0" marL="0">
              <a:buNone/>
            </a:pPr>
            <a:r>
              <a:rPr lang="en-US" sz="1100" b="1" spc="200" kern="0" dirty="0">
                <a:solidFill>
                  <a:srgbClr val="494985"/>
                </a:solidFill>
                <a:latin typeface="Quicksand" pitchFamily="34" charset="0"/>
                <a:ea typeface="Quicksand" pitchFamily="34" charset="-122"/>
                <a:cs typeface="Quicksand" pitchFamily="34" charset="-120"/>
              </a:rPr>
              <a:t>UNDERSTAND · TRAINING AND TESTING</a:t>
            </a:r>
            <a:endParaRPr lang="en-US" sz="1100" dirty="0"/>
          </a:p>
        </p:txBody>
      </p:sp>
      <p:sp>
        <p:nvSpPr>
          <p:cNvPr id="3" name="Text 1"/>
          <p:cNvSpPr txBox="1"/>
          <p:nvPr/>
        </p:nvSpPr>
        <p:spPr>
          <a:xfrm>
            <a:off x="594360" y="822960"/>
            <a:ext cx="10972800" cy="640080"/>
          </a:xfrm>
          <a:prstGeom prst="rect">
            <a:avLst/>
          </a:prstGeom>
          <a:noFill/>
          <a:ln/>
        </p:spPr>
        <p:txBody>
          <a:bodyPr wrap="square" lIns="0" tIns="0" rIns="0" bIns="0" rtlCol="0" anchor="t"/>
          <a:lstStyle/>
          <a:p>
            <a:pPr indent="0" marL="0">
              <a:buNone/>
            </a:pPr>
            <a:r>
              <a:rPr lang="en-US" sz="3200" b="1" dirty="0">
                <a:solidFill>
                  <a:srgbClr val="252341"/>
                </a:solidFill>
                <a:latin typeface="Quicksand" pitchFamily="34" charset="0"/>
                <a:ea typeface="Quicksand" pitchFamily="34" charset="-122"/>
                <a:cs typeface="Quicksand" pitchFamily="34" charset="-120"/>
              </a:rPr>
              <a:t>Teach with examples; test on new ones</a:t>
            </a:r>
            <a:endParaRPr lang="en-US" sz="3200" dirty="0"/>
          </a:p>
        </p:txBody>
      </p:sp>
      <p:sp>
        <p:nvSpPr>
          <p:cNvPr id="4" name="Shape 2"/>
          <p:cNvSpPr/>
          <p:nvPr/>
        </p:nvSpPr>
        <p:spPr>
          <a:xfrm>
            <a:off x="594360" y="6355080"/>
            <a:ext cx="10972800" cy="0"/>
          </a:xfrm>
          <a:prstGeom prst="line">
            <a:avLst/>
          </a:prstGeom>
          <a:noFill/>
          <a:ln w="8890">
            <a:solidFill>
              <a:srgbClr val="DDDBE5"/>
            </a:solidFill>
            <a:prstDash val="solid"/>
          </a:ln>
        </p:spPr>
      </p:sp>
      <p:sp>
        <p:nvSpPr>
          <p:cNvPr id="5" name="Text 3"/>
          <p:cNvSpPr txBox="1"/>
          <p:nvPr/>
        </p:nvSpPr>
        <p:spPr>
          <a:xfrm>
            <a:off x="594360" y="6473952"/>
            <a:ext cx="5486400" cy="164592"/>
          </a:xfrm>
          <a:prstGeom prst="rect">
            <a:avLst/>
          </a:prstGeom>
          <a:noFill/>
          <a:ln/>
        </p:spPr>
        <p:txBody>
          <a:bodyPr wrap="square" lIns="0" tIns="0" rIns="0" bIns="0" rtlCol="0" anchor="t"/>
          <a:lstStyle/>
          <a:p>
            <a:pPr indent="0" marL="0">
              <a:buNone/>
            </a:pPr>
            <a:r>
              <a:rPr lang="en-US" sz="800" dirty="0">
                <a:solidFill>
                  <a:srgbClr val="777584"/>
                </a:solidFill>
                <a:latin typeface="Quicksand" pitchFamily="34" charset="0"/>
                <a:ea typeface="Quicksand" pitchFamily="34" charset="-122"/>
                <a:cs typeface="Quicksand" pitchFamily="34" charset="-120"/>
              </a:rPr>
              <a:t>IGCSE 0478  /  ARTIFICIAL INTELLIGENCE</a:t>
            </a:r>
            <a:endParaRPr lang="en-US" sz="800" dirty="0"/>
          </a:p>
        </p:txBody>
      </p:sp>
      <p:sp>
        <p:nvSpPr>
          <p:cNvPr id="6" name="Text 4"/>
          <p:cNvSpPr txBox="1"/>
          <p:nvPr/>
        </p:nvSpPr>
        <p:spPr>
          <a:xfrm>
            <a:off x="11018520" y="6419088"/>
            <a:ext cx="530352" cy="228600"/>
          </a:xfrm>
          <a:prstGeom prst="rect">
            <a:avLst/>
          </a:prstGeom>
          <a:noFill/>
          <a:ln/>
        </p:spPr>
        <p:txBody>
          <a:bodyPr wrap="square" lIns="0" tIns="0" rIns="0" bIns="0" rtlCol="0" anchor="t"/>
          <a:lstStyle/>
          <a:p>
            <a:pPr algn="r" indent="0" marL="0">
              <a:buNone/>
            </a:pPr>
            <a:r>
              <a:rPr lang="en-US" sz="1100" dirty="0">
                <a:solidFill>
                  <a:srgbClr val="777584"/>
                </a:solidFill>
                <a:latin typeface="Quicksand" pitchFamily="34" charset="0"/>
                <a:ea typeface="Quicksand" pitchFamily="34" charset="-122"/>
                <a:cs typeface="Quicksand" pitchFamily="34" charset="-120"/>
              </a:rPr>
              <a:t>12</a:t>
            </a:r>
            <a:endParaRPr lang="en-US" sz="1100" dirty="0"/>
          </a:p>
        </p:txBody>
      </p:sp>
      <p:pic>
        <p:nvPicPr>
          <p:cNvPr id="8" name="Image 0" descr="Android Assistant on the Google Pixel XL smartphone (29526761674).jpg">    </p:cNvPr>
          <p:cNvPicPr>
            <a:picLocks noChangeAspect="1"/>
          </p:cNvPicPr>
          <p:nvPr/>
        </p:nvPicPr>
        <p:blipFill>
          <a:blip r:embed="rId1"/>
          <a:stretch>
            <a:fillRect/>
          </a:stretch>
        </p:blipFill>
        <p:spPr>
          <a:xfrm>
            <a:off x="1015975" y="1783080"/>
            <a:ext cx="2494331" cy="3566160"/>
          </a:xfrm>
          <a:prstGeom prst="rect">
            <a:avLst/>
          </a:prstGeom>
        </p:spPr>
      </p:pic>
      <p:sp>
        <p:nvSpPr>
          <p:cNvPr id="9" name="Text 5"/>
          <p:cNvSpPr txBox="1"/>
          <p:nvPr/>
        </p:nvSpPr>
        <p:spPr>
          <a:xfrm>
            <a:off x="1015975" y="5413248"/>
            <a:ext cx="2494331" cy="246888"/>
          </a:xfrm>
          <a:prstGeom prst="rect">
            <a:avLst/>
          </a:prstGeom>
          <a:noFill/>
          <a:ln/>
        </p:spPr>
        <p:txBody>
          <a:bodyPr wrap="square" lIns="0" tIns="0" rIns="0" bIns="0" rtlCol="0" anchor="t"/>
          <a:lstStyle/>
          <a:p>
            <a:pPr indent="0" marL="0">
              <a:buNone/>
            </a:pPr>
            <a:r>
              <a:rPr lang="en-US" sz="900" dirty="0">
                <a:solidFill>
                  <a:srgbClr val="777584"/>
                </a:solidFill>
                <a:latin typeface="Quicksand" pitchFamily="34" charset="0"/>
                <a:ea typeface="Quicksand" pitchFamily="34" charset="-122"/>
                <a:cs typeface="Quicksand" pitchFamily="34" charset="-120"/>
              </a:rPr>
              <a:t>Maurizio Pesce · CC BY-SA 4.0</a:t>
            </a:r>
            <a:endParaRPr lang="en-US" sz="900" dirty="0"/>
          </a:p>
        </p:txBody>
      </p:sp>
      <p:sp>
        <p:nvSpPr>
          <p:cNvPr id="11" name="Text 6"/>
          <p:cNvSpPr txBox="1"/>
          <p:nvPr/>
        </p:nvSpPr>
        <p:spPr>
          <a:xfrm>
            <a:off x="4526280" y="1783080"/>
            <a:ext cx="6995160" cy="594360"/>
          </a:xfrm>
          <a:prstGeom prst="rect">
            <a:avLst/>
          </a:prstGeom>
          <a:noFill/>
          <a:ln/>
        </p:spPr>
        <p:txBody>
          <a:bodyPr wrap="square" lIns="0" tIns="0" rIns="0" bIns="0" rtlCol="0" anchor="t"/>
          <a:lstStyle/>
          <a:p>
            <a:pPr indent="0" marL="0">
              <a:buNone/>
            </a:pPr>
            <a:r>
              <a:rPr lang="en-US" sz="2500" b="1" dirty="0">
                <a:solidFill>
                  <a:srgbClr val="252341"/>
                </a:solidFill>
                <a:latin typeface="Quicksand" pitchFamily="34" charset="0"/>
                <a:ea typeface="Quicksand" pitchFamily="34" charset="-122"/>
                <a:cs typeface="Quicksand" pitchFamily="34" charset="-120"/>
              </a:rPr>
              <a:t>Voice sample → intended command</a:t>
            </a:r>
            <a:endParaRPr lang="en-US" sz="2500" dirty="0"/>
          </a:p>
        </p:txBody>
      </p:sp>
      <p:sp>
        <p:nvSpPr>
          <p:cNvPr id="12" name="Text 7"/>
          <p:cNvSpPr txBox="1"/>
          <p:nvPr/>
        </p:nvSpPr>
        <p:spPr>
          <a:xfrm>
            <a:off x="4526280" y="2743200"/>
            <a:ext cx="457200" cy="365760"/>
          </a:xfrm>
          <a:prstGeom prst="rect">
            <a:avLst/>
          </a:prstGeom>
          <a:noFill/>
          <a:ln/>
        </p:spPr>
        <p:txBody>
          <a:bodyPr wrap="square" lIns="0" tIns="0" rIns="0" bIns="0" rtlCol="0" anchor="t"/>
          <a:lstStyle/>
          <a:p>
            <a:pPr indent="0" marL="0">
              <a:buNone/>
            </a:pPr>
            <a:r>
              <a:rPr lang="en-US" sz="1600" b="1" dirty="0">
                <a:solidFill>
                  <a:srgbClr val="494985"/>
                </a:solidFill>
                <a:latin typeface="Quicksand" pitchFamily="34" charset="0"/>
                <a:ea typeface="Quicksand" pitchFamily="34" charset="-122"/>
                <a:cs typeface="Quicksand" pitchFamily="34" charset="-120"/>
              </a:rPr>
              <a:t>01</a:t>
            </a:r>
            <a:endParaRPr lang="en-US" sz="1600" dirty="0"/>
          </a:p>
        </p:txBody>
      </p:sp>
      <p:sp>
        <p:nvSpPr>
          <p:cNvPr id="13" name="Text 8"/>
          <p:cNvSpPr txBox="1"/>
          <p:nvPr/>
        </p:nvSpPr>
        <p:spPr>
          <a:xfrm>
            <a:off x="5166360" y="2729484"/>
            <a:ext cx="6309360" cy="694944"/>
          </a:xfrm>
          <a:prstGeom prst="rect">
            <a:avLst/>
          </a:prstGeom>
          <a:noFill/>
          <a:ln/>
        </p:spPr>
        <p:txBody>
          <a:bodyPr wrap="square" lIns="0" tIns="0" rIns="0" bIns="0" rtlCol="0" anchor="t"/>
          <a:lstStyle/>
          <a:p>
            <a:pPr indent="0" marL="0">
              <a:buNone/>
            </a:pPr>
            <a:r>
              <a:rPr lang="en-US" sz="2100" dirty="0">
                <a:solidFill>
                  <a:srgbClr val="252341"/>
                </a:solidFill>
                <a:latin typeface="Quicksand" pitchFamily="34" charset="0"/>
                <a:ea typeface="Quicksand" pitchFamily="34" charset="-122"/>
                <a:cs typeface="Quicksand" pitchFamily="34" charset="-120"/>
              </a:rPr>
              <a:t>Supervised: training examples have output labels.</a:t>
            </a:r>
            <a:endParaRPr lang="en-US" sz="2100" dirty="0"/>
          </a:p>
        </p:txBody>
      </p:sp>
      <p:sp>
        <p:nvSpPr>
          <p:cNvPr id="14" name="Shape 9"/>
          <p:cNvSpPr/>
          <p:nvPr/>
        </p:nvSpPr>
        <p:spPr>
          <a:xfrm>
            <a:off x="5166360" y="3392424"/>
            <a:ext cx="6309360" cy="0"/>
          </a:xfrm>
          <a:prstGeom prst="line">
            <a:avLst/>
          </a:prstGeom>
          <a:noFill/>
          <a:ln w="8890">
            <a:solidFill>
              <a:srgbClr val="DDDBE5"/>
            </a:solidFill>
            <a:prstDash val="solid"/>
          </a:ln>
        </p:spPr>
      </p:sp>
      <p:sp>
        <p:nvSpPr>
          <p:cNvPr id="15" name="Text 10"/>
          <p:cNvSpPr txBox="1"/>
          <p:nvPr/>
        </p:nvSpPr>
        <p:spPr>
          <a:xfrm>
            <a:off x="4526280" y="3547872"/>
            <a:ext cx="457200" cy="365760"/>
          </a:xfrm>
          <a:prstGeom prst="rect">
            <a:avLst/>
          </a:prstGeom>
          <a:noFill/>
          <a:ln/>
        </p:spPr>
        <p:txBody>
          <a:bodyPr wrap="square" lIns="0" tIns="0" rIns="0" bIns="0" rtlCol="0" anchor="t"/>
          <a:lstStyle/>
          <a:p>
            <a:pPr indent="0" marL="0">
              <a:buNone/>
            </a:pPr>
            <a:r>
              <a:rPr lang="en-US" sz="1600" b="1" dirty="0">
                <a:solidFill>
                  <a:srgbClr val="494985"/>
                </a:solidFill>
                <a:latin typeface="Quicksand" pitchFamily="34" charset="0"/>
                <a:ea typeface="Quicksand" pitchFamily="34" charset="-122"/>
                <a:cs typeface="Quicksand" pitchFamily="34" charset="-120"/>
              </a:rPr>
              <a:t>02</a:t>
            </a:r>
            <a:endParaRPr lang="en-US" sz="1600" dirty="0"/>
          </a:p>
        </p:txBody>
      </p:sp>
      <p:sp>
        <p:nvSpPr>
          <p:cNvPr id="16" name="Text 11"/>
          <p:cNvSpPr txBox="1"/>
          <p:nvPr/>
        </p:nvSpPr>
        <p:spPr>
          <a:xfrm>
            <a:off x="5166360" y="3534156"/>
            <a:ext cx="6309360" cy="694944"/>
          </a:xfrm>
          <a:prstGeom prst="rect">
            <a:avLst/>
          </a:prstGeom>
          <a:noFill/>
          <a:ln/>
        </p:spPr>
        <p:txBody>
          <a:bodyPr wrap="square" lIns="0" tIns="0" rIns="0" bIns="0" rtlCol="0" anchor="t"/>
          <a:lstStyle/>
          <a:p>
            <a:pPr indent="0" marL="0">
              <a:buNone/>
            </a:pPr>
            <a:r>
              <a:rPr lang="en-US" sz="2100" dirty="0">
                <a:solidFill>
                  <a:srgbClr val="252341"/>
                </a:solidFill>
                <a:latin typeface="Quicksand" pitchFamily="34" charset="0"/>
                <a:ea typeface="Quicksand" pitchFamily="34" charset="-122"/>
                <a:cs typeface="Quicksand" pitchFamily="34" charset="-120"/>
              </a:rPr>
              <a:t>Unsupervised: discover patterns without given labels.</a:t>
            </a:r>
            <a:endParaRPr lang="en-US" sz="2100" dirty="0"/>
          </a:p>
        </p:txBody>
      </p:sp>
      <p:sp>
        <p:nvSpPr>
          <p:cNvPr id="17" name="Shape 12"/>
          <p:cNvSpPr/>
          <p:nvPr/>
        </p:nvSpPr>
        <p:spPr>
          <a:xfrm>
            <a:off x="5166360" y="4197096"/>
            <a:ext cx="6309360" cy="0"/>
          </a:xfrm>
          <a:prstGeom prst="line">
            <a:avLst/>
          </a:prstGeom>
          <a:noFill/>
          <a:ln w="8890">
            <a:solidFill>
              <a:srgbClr val="DDDBE5"/>
            </a:solidFill>
            <a:prstDash val="solid"/>
          </a:ln>
        </p:spPr>
      </p:sp>
      <p:sp>
        <p:nvSpPr>
          <p:cNvPr id="18" name="Text 13"/>
          <p:cNvSpPr txBox="1"/>
          <p:nvPr/>
        </p:nvSpPr>
        <p:spPr>
          <a:xfrm>
            <a:off x="4526280" y="4352544"/>
            <a:ext cx="457200" cy="365760"/>
          </a:xfrm>
          <a:prstGeom prst="rect">
            <a:avLst/>
          </a:prstGeom>
          <a:noFill/>
          <a:ln/>
        </p:spPr>
        <p:txBody>
          <a:bodyPr wrap="square" lIns="0" tIns="0" rIns="0" bIns="0" rtlCol="0" anchor="t"/>
          <a:lstStyle/>
          <a:p>
            <a:pPr indent="0" marL="0">
              <a:buNone/>
            </a:pPr>
            <a:r>
              <a:rPr lang="en-US" sz="1600" b="1" dirty="0">
                <a:solidFill>
                  <a:srgbClr val="494985"/>
                </a:solidFill>
                <a:latin typeface="Quicksand" pitchFamily="34" charset="0"/>
                <a:ea typeface="Quicksand" pitchFamily="34" charset="-122"/>
                <a:cs typeface="Quicksand" pitchFamily="34" charset="-120"/>
              </a:rPr>
              <a:t>03</a:t>
            </a:r>
            <a:endParaRPr lang="en-US" sz="1600" dirty="0"/>
          </a:p>
        </p:txBody>
      </p:sp>
      <p:sp>
        <p:nvSpPr>
          <p:cNvPr id="19" name="Text 14"/>
          <p:cNvSpPr txBox="1"/>
          <p:nvPr/>
        </p:nvSpPr>
        <p:spPr>
          <a:xfrm>
            <a:off x="5166360" y="4338828"/>
            <a:ext cx="6309360" cy="694944"/>
          </a:xfrm>
          <a:prstGeom prst="rect">
            <a:avLst/>
          </a:prstGeom>
          <a:noFill/>
          <a:ln/>
        </p:spPr>
        <p:txBody>
          <a:bodyPr wrap="square" lIns="0" tIns="0" rIns="0" bIns="0" rtlCol="0" anchor="t"/>
          <a:lstStyle/>
          <a:p>
            <a:pPr indent="0" marL="0">
              <a:buNone/>
            </a:pPr>
            <a:r>
              <a:rPr lang="en-US" sz="2100" dirty="0">
                <a:solidFill>
                  <a:srgbClr val="252341"/>
                </a:solidFill>
                <a:latin typeface="Quicksand" pitchFamily="34" charset="0"/>
                <a:ea typeface="Quicksand" pitchFamily="34" charset="-122"/>
                <a:cs typeface="Quicksand" pitchFamily="34" charset="-120"/>
              </a:rPr>
              <a:t>Testing: use examples kept out of training.</a:t>
            </a:r>
            <a:endParaRPr lang="en-US" sz="2100" dirty="0"/>
          </a:p>
        </p:txBody>
      </p:sp>
      <p:sp>
        <p:nvSpPr>
          <p:cNvPr id="20" name="Text 15"/>
          <p:cNvSpPr txBox="1"/>
          <p:nvPr/>
        </p:nvSpPr>
        <p:spPr>
          <a:xfrm>
            <a:off x="594360" y="5650992"/>
            <a:ext cx="10972800" cy="384048"/>
          </a:xfrm>
          <a:prstGeom prst="rect">
            <a:avLst/>
          </a:prstGeom>
          <a:noFill/>
          <a:ln/>
        </p:spPr>
        <p:txBody>
          <a:bodyPr wrap="square" lIns="0" tIns="0" rIns="0" bIns="0" rtlCol="0" anchor="t"/>
          <a:lstStyle/>
          <a:p>
            <a:pPr indent="0" marL="0">
              <a:buNone/>
            </a:pPr>
            <a:r>
              <a:rPr lang="en-US" sz="1700" b="1" dirty="0">
                <a:solidFill>
                  <a:srgbClr val="494985"/>
                </a:solidFill>
                <a:latin typeface="Quicksand" pitchFamily="34" charset="0"/>
                <a:ea typeface="Quicksand" pitchFamily="34" charset="-122"/>
                <a:cs typeface="Quicksand" pitchFamily="34" charset="-120"/>
              </a:rPr>
              <a:t>Why would testing only on memorised training examples give misleading confidence?</a:t>
            </a:r>
            <a:endParaRPr lang="en-US" sz="17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AF9F6"/>
        </a:solidFill>
      </p:bgPr>
    </p:bg>
    <p:spTree>
      <p:nvGrpSpPr>
        <p:cNvPr id="1" name=""/>
        <p:cNvGrpSpPr/>
        <p:nvPr/>
      </p:nvGrpSpPr>
      <p:grpSpPr>
        <a:xfrm>
          <a:off x="0" y="0"/>
          <a:ext cx="0" cy="0"/>
          <a:chOff x="0" y="0"/>
          <a:chExt cx="0" cy="0"/>
        </a:xfrm>
      </p:grpSpPr>
      <p:sp>
        <p:nvSpPr>
          <p:cNvPr id="2" name="Text 0"/>
          <p:cNvSpPr txBox="1"/>
          <p:nvPr/>
        </p:nvSpPr>
        <p:spPr>
          <a:xfrm>
            <a:off x="594360" y="301752"/>
            <a:ext cx="10424160" cy="274320"/>
          </a:xfrm>
          <a:prstGeom prst="rect">
            <a:avLst/>
          </a:prstGeom>
          <a:noFill/>
          <a:ln/>
        </p:spPr>
        <p:txBody>
          <a:bodyPr wrap="square" lIns="0" tIns="0" rIns="0" bIns="0" rtlCol="0" anchor="t"/>
          <a:lstStyle/>
          <a:p>
            <a:pPr indent="0" marL="0">
              <a:buNone/>
            </a:pPr>
            <a:r>
              <a:rPr lang="en-US" sz="1100" b="1" spc="200" kern="0" dirty="0">
                <a:solidFill>
                  <a:srgbClr val="494985"/>
                </a:solidFill>
                <a:latin typeface="Quicksand" pitchFamily="34" charset="0"/>
                <a:ea typeface="Quicksand" pitchFamily="34" charset="-122"/>
                <a:cs typeface="Quicksand" pitchFamily="34" charset="-120"/>
              </a:rPr>
              <a:t>APPLY · LEARNING</a:t>
            </a:r>
            <a:endParaRPr lang="en-US" sz="1100" dirty="0"/>
          </a:p>
        </p:txBody>
      </p:sp>
      <p:sp>
        <p:nvSpPr>
          <p:cNvPr id="3" name="Text 1"/>
          <p:cNvSpPr txBox="1"/>
          <p:nvPr/>
        </p:nvSpPr>
        <p:spPr>
          <a:xfrm>
            <a:off x="594360" y="822960"/>
            <a:ext cx="10972800" cy="640080"/>
          </a:xfrm>
          <a:prstGeom prst="rect">
            <a:avLst/>
          </a:prstGeom>
          <a:noFill/>
          <a:ln/>
        </p:spPr>
        <p:txBody>
          <a:bodyPr wrap="square" lIns="0" tIns="0" rIns="0" bIns="0" rtlCol="0" anchor="t"/>
          <a:lstStyle/>
          <a:p>
            <a:pPr indent="0" marL="0">
              <a:buNone/>
            </a:pPr>
            <a:r>
              <a:rPr lang="en-US" sz="3200" b="1" dirty="0">
                <a:solidFill>
                  <a:srgbClr val="252341"/>
                </a:solidFill>
                <a:latin typeface="Quicksand" pitchFamily="34" charset="0"/>
                <a:ea typeface="Quicksand" pitchFamily="34" charset="-122"/>
                <a:cs typeface="Quicksand" pitchFamily="34" charset="-120"/>
              </a:rPr>
              <a:t>Remember the obstacle; change the route</a:t>
            </a:r>
            <a:endParaRPr lang="en-US" sz="3200" dirty="0"/>
          </a:p>
        </p:txBody>
      </p:sp>
      <p:sp>
        <p:nvSpPr>
          <p:cNvPr id="4" name="Shape 2"/>
          <p:cNvSpPr/>
          <p:nvPr/>
        </p:nvSpPr>
        <p:spPr>
          <a:xfrm>
            <a:off x="594360" y="6355080"/>
            <a:ext cx="10972800" cy="0"/>
          </a:xfrm>
          <a:prstGeom prst="line">
            <a:avLst/>
          </a:prstGeom>
          <a:noFill/>
          <a:ln w="8890">
            <a:solidFill>
              <a:srgbClr val="DDDBE5"/>
            </a:solidFill>
            <a:prstDash val="solid"/>
          </a:ln>
        </p:spPr>
      </p:sp>
      <p:sp>
        <p:nvSpPr>
          <p:cNvPr id="5" name="Text 3"/>
          <p:cNvSpPr txBox="1"/>
          <p:nvPr/>
        </p:nvSpPr>
        <p:spPr>
          <a:xfrm>
            <a:off x="594360" y="6473952"/>
            <a:ext cx="5486400" cy="164592"/>
          </a:xfrm>
          <a:prstGeom prst="rect">
            <a:avLst/>
          </a:prstGeom>
          <a:noFill/>
          <a:ln/>
        </p:spPr>
        <p:txBody>
          <a:bodyPr wrap="square" lIns="0" tIns="0" rIns="0" bIns="0" rtlCol="0" anchor="t"/>
          <a:lstStyle/>
          <a:p>
            <a:pPr indent="0" marL="0">
              <a:buNone/>
            </a:pPr>
            <a:r>
              <a:rPr lang="en-US" sz="800" dirty="0">
                <a:solidFill>
                  <a:srgbClr val="777584"/>
                </a:solidFill>
                <a:latin typeface="Quicksand" pitchFamily="34" charset="0"/>
                <a:ea typeface="Quicksand" pitchFamily="34" charset="-122"/>
                <a:cs typeface="Quicksand" pitchFamily="34" charset="-120"/>
              </a:rPr>
              <a:t>IGCSE 0478  /  ARTIFICIAL INTELLIGENCE</a:t>
            </a:r>
            <a:endParaRPr lang="en-US" sz="800" dirty="0"/>
          </a:p>
        </p:txBody>
      </p:sp>
      <p:sp>
        <p:nvSpPr>
          <p:cNvPr id="6" name="Text 4"/>
          <p:cNvSpPr txBox="1"/>
          <p:nvPr/>
        </p:nvSpPr>
        <p:spPr>
          <a:xfrm>
            <a:off x="11018520" y="6419088"/>
            <a:ext cx="530352" cy="228600"/>
          </a:xfrm>
          <a:prstGeom prst="rect">
            <a:avLst/>
          </a:prstGeom>
          <a:noFill/>
          <a:ln/>
        </p:spPr>
        <p:txBody>
          <a:bodyPr wrap="square" lIns="0" tIns="0" rIns="0" bIns="0" rtlCol="0" anchor="t"/>
          <a:lstStyle/>
          <a:p>
            <a:pPr algn="r" indent="0" marL="0">
              <a:buNone/>
            </a:pPr>
            <a:r>
              <a:rPr lang="en-US" sz="1100" dirty="0">
                <a:solidFill>
                  <a:srgbClr val="777584"/>
                </a:solidFill>
                <a:latin typeface="Quicksand" pitchFamily="34" charset="0"/>
                <a:ea typeface="Quicksand" pitchFamily="34" charset="-122"/>
                <a:cs typeface="Quicksand" pitchFamily="34" charset="-120"/>
              </a:rPr>
              <a:t>13</a:t>
            </a:r>
            <a:endParaRPr lang="en-US" sz="1100" dirty="0"/>
          </a:p>
        </p:txBody>
      </p:sp>
      <p:pic>
        <p:nvPicPr>
          <p:cNvPr id="8" name="Image 0" descr="Neato XV-11.jpg">    </p:cNvPr>
          <p:cNvPicPr>
            <a:picLocks noChangeAspect="1"/>
          </p:cNvPicPr>
          <p:nvPr/>
        </p:nvPicPr>
        <p:blipFill>
          <a:blip r:embed="rId1"/>
          <a:srcRect l="0" r="0" t="0" b="14754"/>
          <a:stretch/>
        </p:blipFill>
        <p:spPr>
          <a:xfrm>
            <a:off x="594360" y="1783080"/>
            <a:ext cx="5577840" cy="3566160"/>
          </a:xfrm>
          <a:prstGeom prst="rect">
            <a:avLst/>
          </a:prstGeom>
        </p:spPr>
      </p:pic>
      <p:sp>
        <p:nvSpPr>
          <p:cNvPr id="9" name="Text 5"/>
          <p:cNvSpPr txBox="1"/>
          <p:nvPr/>
        </p:nvSpPr>
        <p:spPr>
          <a:xfrm>
            <a:off x="594360" y="5413248"/>
            <a:ext cx="5577840" cy="246888"/>
          </a:xfrm>
          <a:prstGeom prst="rect">
            <a:avLst/>
          </a:prstGeom>
          <a:noFill/>
          <a:ln/>
        </p:spPr>
        <p:txBody>
          <a:bodyPr wrap="square" lIns="0" tIns="0" rIns="0" bIns="0" rtlCol="0" anchor="t"/>
          <a:lstStyle/>
          <a:p>
            <a:pPr indent="0" marL="0">
              <a:buNone/>
            </a:pPr>
            <a:r>
              <a:rPr lang="en-US" sz="900" dirty="0">
                <a:solidFill>
                  <a:srgbClr val="777584"/>
                </a:solidFill>
                <a:latin typeface="Quicksand" pitchFamily="34" charset="0"/>
                <a:ea typeface="Quicksand" pitchFamily="34" charset="-122"/>
                <a:cs typeface="Quicksand" pitchFamily="34" charset="-120"/>
              </a:rPr>
              <a:t>Autopilot · CC BY-SA 3.0</a:t>
            </a:r>
            <a:endParaRPr lang="en-US" sz="900" dirty="0"/>
          </a:p>
        </p:txBody>
      </p:sp>
      <p:sp>
        <p:nvSpPr>
          <p:cNvPr id="11" name="Text 6"/>
          <p:cNvSpPr txBox="1"/>
          <p:nvPr/>
        </p:nvSpPr>
        <p:spPr>
          <a:xfrm>
            <a:off x="6720840" y="1938528"/>
            <a:ext cx="457200" cy="365760"/>
          </a:xfrm>
          <a:prstGeom prst="rect">
            <a:avLst/>
          </a:prstGeom>
          <a:noFill/>
          <a:ln/>
        </p:spPr>
        <p:txBody>
          <a:bodyPr wrap="square" lIns="0" tIns="0" rIns="0" bIns="0" rtlCol="0" anchor="t"/>
          <a:lstStyle/>
          <a:p>
            <a:pPr indent="0" marL="0">
              <a:buNone/>
            </a:pPr>
            <a:r>
              <a:rPr lang="en-US" sz="1600" b="1" dirty="0">
                <a:solidFill>
                  <a:srgbClr val="494985"/>
                </a:solidFill>
                <a:latin typeface="Quicksand" pitchFamily="34" charset="0"/>
                <a:ea typeface="Quicksand" pitchFamily="34" charset="-122"/>
                <a:cs typeface="Quicksand" pitchFamily="34" charset="-120"/>
              </a:rPr>
              <a:t>01</a:t>
            </a:r>
            <a:endParaRPr lang="en-US" sz="1600" dirty="0"/>
          </a:p>
        </p:txBody>
      </p:sp>
      <p:sp>
        <p:nvSpPr>
          <p:cNvPr id="12" name="Text 7"/>
          <p:cNvSpPr txBox="1"/>
          <p:nvPr/>
        </p:nvSpPr>
        <p:spPr>
          <a:xfrm>
            <a:off x="7360920" y="1924812"/>
            <a:ext cx="4160520" cy="841248"/>
          </a:xfrm>
          <a:prstGeom prst="rect">
            <a:avLst/>
          </a:prstGeom>
          <a:noFill/>
          <a:ln/>
        </p:spPr>
        <p:txBody>
          <a:bodyPr wrap="square" lIns="0" tIns="0" rIns="0" bIns="0" rtlCol="0" anchor="t"/>
          <a:lstStyle/>
          <a:p>
            <a:pPr indent="0" marL="0">
              <a:buNone/>
            </a:pPr>
            <a:r>
              <a:rPr lang="en-US" sz="2300" dirty="0">
                <a:solidFill>
                  <a:srgbClr val="252341"/>
                </a:solidFill>
                <a:latin typeface="Quicksand" pitchFamily="34" charset="0"/>
                <a:ea typeface="Quicksand" pitchFamily="34" charset="-122"/>
                <a:cs typeface="Quicksand" pitchFamily="34" charset="-120"/>
              </a:rPr>
              <a:t>Collect obstacle and route data.</a:t>
            </a:r>
            <a:endParaRPr lang="en-US" sz="2300" dirty="0"/>
          </a:p>
        </p:txBody>
      </p:sp>
      <p:sp>
        <p:nvSpPr>
          <p:cNvPr id="13" name="Shape 8"/>
          <p:cNvSpPr/>
          <p:nvPr/>
        </p:nvSpPr>
        <p:spPr>
          <a:xfrm>
            <a:off x="7360920" y="2734056"/>
            <a:ext cx="4160520" cy="0"/>
          </a:xfrm>
          <a:prstGeom prst="line">
            <a:avLst/>
          </a:prstGeom>
          <a:noFill/>
          <a:ln w="8890">
            <a:solidFill>
              <a:srgbClr val="DDDBE5"/>
            </a:solidFill>
            <a:prstDash val="solid"/>
          </a:ln>
        </p:spPr>
      </p:sp>
      <p:sp>
        <p:nvSpPr>
          <p:cNvPr id="14" name="Text 9"/>
          <p:cNvSpPr txBox="1"/>
          <p:nvPr/>
        </p:nvSpPr>
        <p:spPr>
          <a:xfrm>
            <a:off x="6720840" y="2889504"/>
            <a:ext cx="457200" cy="365760"/>
          </a:xfrm>
          <a:prstGeom prst="rect">
            <a:avLst/>
          </a:prstGeom>
          <a:noFill/>
          <a:ln/>
        </p:spPr>
        <p:txBody>
          <a:bodyPr wrap="square" lIns="0" tIns="0" rIns="0" bIns="0" rtlCol="0" anchor="t"/>
          <a:lstStyle/>
          <a:p>
            <a:pPr indent="0" marL="0">
              <a:buNone/>
            </a:pPr>
            <a:r>
              <a:rPr lang="en-US" sz="1600" b="1" dirty="0">
                <a:solidFill>
                  <a:srgbClr val="494985"/>
                </a:solidFill>
                <a:latin typeface="Quicksand" pitchFamily="34" charset="0"/>
                <a:ea typeface="Quicksand" pitchFamily="34" charset="-122"/>
                <a:cs typeface="Quicksand" pitchFamily="34" charset="-120"/>
              </a:rPr>
              <a:t>02</a:t>
            </a:r>
            <a:endParaRPr lang="en-US" sz="1600" dirty="0"/>
          </a:p>
        </p:txBody>
      </p:sp>
      <p:sp>
        <p:nvSpPr>
          <p:cNvPr id="15" name="Text 10"/>
          <p:cNvSpPr txBox="1"/>
          <p:nvPr/>
        </p:nvSpPr>
        <p:spPr>
          <a:xfrm>
            <a:off x="7360920" y="2875788"/>
            <a:ext cx="4160520" cy="841248"/>
          </a:xfrm>
          <a:prstGeom prst="rect">
            <a:avLst/>
          </a:prstGeom>
          <a:noFill/>
          <a:ln/>
        </p:spPr>
        <p:txBody>
          <a:bodyPr wrap="square" lIns="0" tIns="0" rIns="0" bIns="0" rtlCol="0" anchor="t"/>
          <a:lstStyle/>
          <a:p>
            <a:pPr indent="0" marL="0">
              <a:buNone/>
            </a:pPr>
            <a:r>
              <a:rPr lang="en-US" sz="2300" dirty="0">
                <a:solidFill>
                  <a:srgbClr val="252341"/>
                </a:solidFill>
                <a:latin typeface="Quicksand" pitchFamily="34" charset="0"/>
                <a:ea typeface="Quicksand" pitchFamily="34" charset="-122"/>
                <a:cs typeface="Quicksand" pitchFamily="34" charset="-120"/>
              </a:rPr>
              <a:t>Record which actions fail or succeed.</a:t>
            </a:r>
            <a:endParaRPr lang="en-US" sz="2300" dirty="0"/>
          </a:p>
        </p:txBody>
      </p:sp>
      <p:sp>
        <p:nvSpPr>
          <p:cNvPr id="16" name="Shape 11"/>
          <p:cNvSpPr/>
          <p:nvPr/>
        </p:nvSpPr>
        <p:spPr>
          <a:xfrm>
            <a:off x="7360920" y="3685032"/>
            <a:ext cx="4160520" cy="0"/>
          </a:xfrm>
          <a:prstGeom prst="line">
            <a:avLst/>
          </a:prstGeom>
          <a:noFill/>
          <a:ln w="8890">
            <a:solidFill>
              <a:srgbClr val="DDDBE5"/>
            </a:solidFill>
            <a:prstDash val="solid"/>
          </a:ln>
        </p:spPr>
      </p:sp>
      <p:sp>
        <p:nvSpPr>
          <p:cNvPr id="17" name="Text 12"/>
          <p:cNvSpPr txBox="1"/>
          <p:nvPr/>
        </p:nvSpPr>
        <p:spPr>
          <a:xfrm>
            <a:off x="6720840" y="3840480"/>
            <a:ext cx="457200" cy="365760"/>
          </a:xfrm>
          <a:prstGeom prst="rect">
            <a:avLst/>
          </a:prstGeom>
          <a:noFill/>
          <a:ln/>
        </p:spPr>
        <p:txBody>
          <a:bodyPr wrap="square" lIns="0" tIns="0" rIns="0" bIns="0" rtlCol="0" anchor="t"/>
          <a:lstStyle/>
          <a:p>
            <a:pPr indent="0" marL="0">
              <a:buNone/>
            </a:pPr>
            <a:r>
              <a:rPr lang="en-US" sz="1600" b="1" dirty="0">
                <a:solidFill>
                  <a:srgbClr val="494985"/>
                </a:solidFill>
                <a:latin typeface="Quicksand" pitchFamily="34" charset="0"/>
                <a:ea typeface="Quicksand" pitchFamily="34" charset="-122"/>
                <a:cs typeface="Quicksand" pitchFamily="34" charset="-120"/>
              </a:rPr>
              <a:t>03</a:t>
            </a:r>
            <a:endParaRPr lang="en-US" sz="1600" dirty="0"/>
          </a:p>
        </p:txBody>
      </p:sp>
      <p:sp>
        <p:nvSpPr>
          <p:cNvPr id="18" name="Text 13"/>
          <p:cNvSpPr txBox="1"/>
          <p:nvPr/>
        </p:nvSpPr>
        <p:spPr>
          <a:xfrm>
            <a:off x="7360920" y="3826764"/>
            <a:ext cx="4160520" cy="841248"/>
          </a:xfrm>
          <a:prstGeom prst="rect">
            <a:avLst/>
          </a:prstGeom>
          <a:noFill/>
          <a:ln/>
        </p:spPr>
        <p:txBody>
          <a:bodyPr wrap="square" lIns="0" tIns="0" rIns="0" bIns="0" rtlCol="0" anchor="t"/>
          <a:lstStyle/>
          <a:p>
            <a:pPr indent="0" marL="0">
              <a:buNone/>
            </a:pPr>
            <a:r>
              <a:rPr lang="en-US" sz="2300" dirty="0">
                <a:solidFill>
                  <a:srgbClr val="252341"/>
                </a:solidFill>
                <a:latin typeface="Quicksand" pitchFamily="34" charset="0"/>
                <a:ea typeface="Quicksand" pitchFamily="34" charset="-122"/>
                <a:cs typeface="Quicksand" pitchFamily="34" charset="-120"/>
              </a:rPr>
              <a:t>Use that experience to change a later route.</a:t>
            </a:r>
            <a:endParaRPr lang="en-US" sz="2300" dirty="0"/>
          </a:p>
        </p:txBody>
      </p:sp>
      <p:sp>
        <p:nvSpPr>
          <p:cNvPr id="19" name="Text 14"/>
          <p:cNvSpPr txBox="1"/>
          <p:nvPr/>
        </p:nvSpPr>
        <p:spPr>
          <a:xfrm>
            <a:off x="594360" y="5650992"/>
            <a:ext cx="10972800" cy="384048"/>
          </a:xfrm>
          <a:prstGeom prst="rect">
            <a:avLst/>
          </a:prstGeom>
          <a:noFill/>
          <a:ln/>
        </p:spPr>
        <p:txBody>
          <a:bodyPr wrap="square" lIns="0" tIns="0" rIns="0" bIns="0" rtlCol="0" anchor="t"/>
          <a:lstStyle/>
          <a:p>
            <a:pPr indent="0" marL="0">
              <a:buNone/>
            </a:pPr>
            <a:r>
              <a:rPr lang="en-US" sz="1700" b="1" dirty="0">
                <a:solidFill>
                  <a:srgbClr val="494985"/>
                </a:solidFill>
                <a:latin typeface="Quicksand" pitchFamily="34" charset="0"/>
                <a:ea typeface="Quicksand" pitchFamily="34" charset="-122"/>
                <a:cs typeface="Quicksand" pitchFamily="34" charset="-120"/>
              </a:rPr>
              <a:t>Explain the learning between runs, rather than only the sensor and motor.</a:t>
            </a:r>
            <a:endParaRPr lang="en-US" sz="17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AF9F6"/>
        </a:solidFill>
      </p:bgPr>
    </p:bg>
    <p:spTree>
      <p:nvGrpSpPr>
        <p:cNvPr id="1" name=""/>
        <p:cNvGrpSpPr/>
        <p:nvPr/>
      </p:nvGrpSpPr>
      <p:grpSpPr>
        <a:xfrm>
          <a:off x="0" y="0"/>
          <a:ext cx="0" cy="0"/>
          <a:chOff x="0" y="0"/>
          <a:chExt cx="0" cy="0"/>
        </a:xfrm>
      </p:grpSpPr>
      <p:sp>
        <p:nvSpPr>
          <p:cNvPr id="2" name="Text 0"/>
          <p:cNvSpPr txBox="1"/>
          <p:nvPr/>
        </p:nvSpPr>
        <p:spPr>
          <a:xfrm>
            <a:off x="594360" y="301752"/>
            <a:ext cx="10424160" cy="274320"/>
          </a:xfrm>
          <a:prstGeom prst="rect">
            <a:avLst/>
          </a:prstGeom>
          <a:noFill/>
          <a:ln/>
        </p:spPr>
        <p:txBody>
          <a:bodyPr wrap="square" lIns="0" tIns="0" rIns="0" bIns="0" rtlCol="0" anchor="t"/>
          <a:lstStyle/>
          <a:p>
            <a:pPr indent="0" marL="0">
              <a:buNone/>
            </a:pPr>
            <a:r>
              <a:rPr lang="en-US" sz="1100" b="1" spc="200" kern="0" dirty="0">
                <a:solidFill>
                  <a:srgbClr val="494985"/>
                </a:solidFill>
                <a:latin typeface="Quicksand" pitchFamily="34" charset="0"/>
                <a:ea typeface="Quicksand" pitchFamily="34" charset="-122"/>
                <a:cs typeface="Quicksand" pitchFamily="34" charset="-120"/>
              </a:rPr>
              <a:t>APPLY · VISUAL TRACE</a:t>
            </a:r>
            <a:endParaRPr lang="en-US" sz="1100" dirty="0"/>
          </a:p>
        </p:txBody>
      </p:sp>
      <p:sp>
        <p:nvSpPr>
          <p:cNvPr id="3" name="Text 1"/>
          <p:cNvSpPr txBox="1"/>
          <p:nvPr/>
        </p:nvSpPr>
        <p:spPr>
          <a:xfrm>
            <a:off x="594360" y="822960"/>
            <a:ext cx="10972800" cy="640080"/>
          </a:xfrm>
          <a:prstGeom prst="rect">
            <a:avLst/>
          </a:prstGeom>
          <a:noFill/>
          <a:ln/>
        </p:spPr>
        <p:txBody>
          <a:bodyPr wrap="square" lIns="0" tIns="0" rIns="0" bIns="0" rtlCol="0" anchor="t"/>
          <a:lstStyle/>
          <a:p>
            <a:pPr indent="0" marL="0">
              <a:buNone/>
            </a:pPr>
            <a:r>
              <a:rPr lang="en-US" sz="3200" b="1" dirty="0">
                <a:solidFill>
                  <a:srgbClr val="252341"/>
                </a:solidFill>
                <a:latin typeface="Quicksand" pitchFamily="34" charset="0"/>
                <a:ea typeface="Quicksand" pitchFamily="34" charset="-122"/>
                <a:cs typeface="Quicksand" pitchFamily="34" charset="-120"/>
              </a:rPr>
              <a:t>A failed attempt can teach a better route</a:t>
            </a:r>
            <a:endParaRPr lang="en-US" sz="3200" dirty="0"/>
          </a:p>
        </p:txBody>
      </p:sp>
      <p:sp>
        <p:nvSpPr>
          <p:cNvPr id="4" name="Shape 2"/>
          <p:cNvSpPr/>
          <p:nvPr/>
        </p:nvSpPr>
        <p:spPr>
          <a:xfrm>
            <a:off x="594360" y="6355080"/>
            <a:ext cx="10972800" cy="0"/>
          </a:xfrm>
          <a:prstGeom prst="line">
            <a:avLst/>
          </a:prstGeom>
          <a:noFill/>
          <a:ln w="8890">
            <a:solidFill>
              <a:srgbClr val="DDDBE5"/>
            </a:solidFill>
            <a:prstDash val="solid"/>
          </a:ln>
        </p:spPr>
      </p:sp>
      <p:sp>
        <p:nvSpPr>
          <p:cNvPr id="5" name="Text 3"/>
          <p:cNvSpPr txBox="1"/>
          <p:nvPr/>
        </p:nvSpPr>
        <p:spPr>
          <a:xfrm>
            <a:off x="594360" y="6473952"/>
            <a:ext cx="5486400" cy="164592"/>
          </a:xfrm>
          <a:prstGeom prst="rect">
            <a:avLst/>
          </a:prstGeom>
          <a:noFill/>
          <a:ln/>
        </p:spPr>
        <p:txBody>
          <a:bodyPr wrap="square" lIns="0" tIns="0" rIns="0" bIns="0" rtlCol="0" anchor="t"/>
          <a:lstStyle/>
          <a:p>
            <a:pPr indent="0" marL="0">
              <a:buNone/>
            </a:pPr>
            <a:r>
              <a:rPr lang="en-US" sz="800" dirty="0">
                <a:solidFill>
                  <a:srgbClr val="777584"/>
                </a:solidFill>
                <a:latin typeface="Quicksand" pitchFamily="34" charset="0"/>
                <a:ea typeface="Quicksand" pitchFamily="34" charset="-122"/>
                <a:cs typeface="Quicksand" pitchFamily="34" charset="-120"/>
              </a:rPr>
              <a:t>IGCSE 0478  /  ARTIFICIAL INTELLIGENCE</a:t>
            </a:r>
            <a:endParaRPr lang="en-US" sz="800" dirty="0"/>
          </a:p>
        </p:txBody>
      </p:sp>
      <p:sp>
        <p:nvSpPr>
          <p:cNvPr id="6" name="Text 4"/>
          <p:cNvSpPr txBox="1"/>
          <p:nvPr/>
        </p:nvSpPr>
        <p:spPr>
          <a:xfrm>
            <a:off x="11018520" y="6419088"/>
            <a:ext cx="530352" cy="228600"/>
          </a:xfrm>
          <a:prstGeom prst="rect">
            <a:avLst/>
          </a:prstGeom>
          <a:noFill/>
          <a:ln/>
        </p:spPr>
        <p:txBody>
          <a:bodyPr wrap="square" lIns="0" tIns="0" rIns="0" bIns="0" rtlCol="0" anchor="t"/>
          <a:lstStyle/>
          <a:p>
            <a:pPr algn="r" indent="0" marL="0">
              <a:buNone/>
            </a:pPr>
            <a:r>
              <a:rPr lang="en-US" sz="1100" dirty="0">
                <a:solidFill>
                  <a:srgbClr val="777584"/>
                </a:solidFill>
                <a:latin typeface="Quicksand" pitchFamily="34" charset="0"/>
                <a:ea typeface="Quicksand" pitchFamily="34" charset="-122"/>
                <a:cs typeface="Quicksand" pitchFamily="34" charset="-120"/>
              </a:rPr>
              <a:t>14</a:t>
            </a:r>
            <a:endParaRPr lang="en-US" sz="1100" dirty="0"/>
          </a:p>
        </p:txBody>
      </p:sp>
      <p:sp>
        <p:nvSpPr>
          <p:cNvPr id="8" name="Shape 5"/>
          <p:cNvSpPr/>
          <p:nvPr/>
        </p:nvSpPr>
        <p:spPr>
          <a:xfrm>
            <a:off x="594360" y="1874520"/>
            <a:ext cx="516636" cy="516636"/>
          </a:xfrm>
          <a:prstGeom prst="rect">
            <a:avLst/>
          </a:prstGeom>
          <a:solidFill>
            <a:srgbClr val="ECEAF0"/>
          </a:solidFill>
          <a:ln w="12700">
            <a:solidFill>
              <a:srgbClr val="ECEAF0"/>
            </a:solidFill>
            <a:prstDash val="solid"/>
          </a:ln>
        </p:spPr>
      </p:sp>
      <p:sp>
        <p:nvSpPr>
          <p:cNvPr id="9" name="Shape 6"/>
          <p:cNvSpPr/>
          <p:nvPr/>
        </p:nvSpPr>
        <p:spPr>
          <a:xfrm>
            <a:off x="1133856" y="1874520"/>
            <a:ext cx="516636" cy="516636"/>
          </a:xfrm>
          <a:prstGeom prst="rect">
            <a:avLst/>
          </a:prstGeom>
          <a:solidFill>
            <a:srgbClr val="ECEAF0"/>
          </a:solidFill>
          <a:ln w="12700">
            <a:solidFill>
              <a:srgbClr val="ECEAF0"/>
            </a:solidFill>
            <a:prstDash val="solid"/>
          </a:ln>
        </p:spPr>
      </p:sp>
      <p:sp>
        <p:nvSpPr>
          <p:cNvPr id="10" name="Shape 7"/>
          <p:cNvSpPr/>
          <p:nvPr/>
        </p:nvSpPr>
        <p:spPr>
          <a:xfrm>
            <a:off x="1673352" y="1874520"/>
            <a:ext cx="516636" cy="516636"/>
          </a:xfrm>
          <a:prstGeom prst="rect">
            <a:avLst/>
          </a:prstGeom>
          <a:solidFill>
            <a:srgbClr val="ECEAF0"/>
          </a:solidFill>
          <a:ln w="12700">
            <a:solidFill>
              <a:srgbClr val="ECEAF0"/>
            </a:solidFill>
            <a:prstDash val="solid"/>
          </a:ln>
        </p:spPr>
      </p:sp>
      <p:sp>
        <p:nvSpPr>
          <p:cNvPr id="11" name="Shape 8"/>
          <p:cNvSpPr/>
          <p:nvPr/>
        </p:nvSpPr>
        <p:spPr>
          <a:xfrm>
            <a:off x="2212848" y="1874520"/>
            <a:ext cx="516636" cy="516636"/>
          </a:xfrm>
          <a:prstGeom prst="rect">
            <a:avLst/>
          </a:prstGeom>
          <a:solidFill>
            <a:srgbClr val="ECEAF0"/>
          </a:solidFill>
          <a:ln w="12700">
            <a:solidFill>
              <a:srgbClr val="ECEAF0"/>
            </a:solidFill>
            <a:prstDash val="solid"/>
          </a:ln>
        </p:spPr>
      </p:sp>
      <p:sp>
        <p:nvSpPr>
          <p:cNvPr id="12" name="Shape 9"/>
          <p:cNvSpPr/>
          <p:nvPr/>
        </p:nvSpPr>
        <p:spPr>
          <a:xfrm>
            <a:off x="2752344" y="1874520"/>
            <a:ext cx="516636" cy="516636"/>
          </a:xfrm>
          <a:prstGeom prst="rect">
            <a:avLst/>
          </a:prstGeom>
          <a:solidFill>
            <a:srgbClr val="ECEAF0"/>
          </a:solidFill>
          <a:ln w="12700">
            <a:solidFill>
              <a:srgbClr val="ECEAF0"/>
            </a:solidFill>
            <a:prstDash val="solid"/>
          </a:ln>
        </p:spPr>
      </p:sp>
      <p:sp>
        <p:nvSpPr>
          <p:cNvPr id="13" name="Shape 10"/>
          <p:cNvSpPr/>
          <p:nvPr/>
        </p:nvSpPr>
        <p:spPr>
          <a:xfrm>
            <a:off x="3291840" y="1874520"/>
            <a:ext cx="516636" cy="516636"/>
          </a:xfrm>
          <a:prstGeom prst="rect">
            <a:avLst/>
          </a:prstGeom>
          <a:solidFill>
            <a:srgbClr val="ECEAF0"/>
          </a:solidFill>
          <a:ln w="12700">
            <a:solidFill>
              <a:srgbClr val="ECEAF0"/>
            </a:solidFill>
            <a:prstDash val="solid"/>
          </a:ln>
        </p:spPr>
      </p:sp>
      <p:sp>
        <p:nvSpPr>
          <p:cNvPr id="14" name="Shape 11"/>
          <p:cNvSpPr/>
          <p:nvPr/>
        </p:nvSpPr>
        <p:spPr>
          <a:xfrm>
            <a:off x="3831336" y="1874520"/>
            <a:ext cx="516636" cy="516636"/>
          </a:xfrm>
          <a:prstGeom prst="rect">
            <a:avLst/>
          </a:prstGeom>
          <a:solidFill>
            <a:srgbClr val="ECEAF0"/>
          </a:solidFill>
          <a:ln w="12700">
            <a:solidFill>
              <a:srgbClr val="ECEAF0"/>
            </a:solidFill>
            <a:prstDash val="solid"/>
          </a:ln>
        </p:spPr>
      </p:sp>
      <p:sp>
        <p:nvSpPr>
          <p:cNvPr id="15" name="Shape 12"/>
          <p:cNvSpPr/>
          <p:nvPr/>
        </p:nvSpPr>
        <p:spPr>
          <a:xfrm>
            <a:off x="594360" y="2414016"/>
            <a:ext cx="516636" cy="516636"/>
          </a:xfrm>
          <a:prstGeom prst="rect">
            <a:avLst/>
          </a:prstGeom>
          <a:solidFill>
            <a:srgbClr val="ECEAF0"/>
          </a:solidFill>
          <a:ln w="12700">
            <a:solidFill>
              <a:srgbClr val="ECEAF0"/>
            </a:solidFill>
            <a:prstDash val="solid"/>
          </a:ln>
        </p:spPr>
      </p:sp>
      <p:sp>
        <p:nvSpPr>
          <p:cNvPr id="16" name="Shape 13"/>
          <p:cNvSpPr/>
          <p:nvPr/>
        </p:nvSpPr>
        <p:spPr>
          <a:xfrm>
            <a:off x="1133856" y="2414016"/>
            <a:ext cx="516636" cy="516636"/>
          </a:xfrm>
          <a:prstGeom prst="rect">
            <a:avLst/>
          </a:prstGeom>
          <a:solidFill>
            <a:srgbClr val="ECEAF0"/>
          </a:solidFill>
          <a:ln w="12700">
            <a:solidFill>
              <a:srgbClr val="ECEAF0"/>
            </a:solidFill>
            <a:prstDash val="solid"/>
          </a:ln>
        </p:spPr>
      </p:sp>
      <p:sp>
        <p:nvSpPr>
          <p:cNvPr id="17" name="Shape 14"/>
          <p:cNvSpPr/>
          <p:nvPr/>
        </p:nvSpPr>
        <p:spPr>
          <a:xfrm>
            <a:off x="1673352" y="2414016"/>
            <a:ext cx="516636" cy="516636"/>
          </a:xfrm>
          <a:prstGeom prst="rect">
            <a:avLst/>
          </a:prstGeom>
          <a:solidFill>
            <a:srgbClr val="ECEAF0"/>
          </a:solidFill>
          <a:ln w="12700">
            <a:solidFill>
              <a:srgbClr val="ECEAF0"/>
            </a:solidFill>
            <a:prstDash val="solid"/>
          </a:ln>
        </p:spPr>
      </p:sp>
      <p:sp>
        <p:nvSpPr>
          <p:cNvPr id="18" name="Shape 15"/>
          <p:cNvSpPr/>
          <p:nvPr/>
        </p:nvSpPr>
        <p:spPr>
          <a:xfrm>
            <a:off x="2212848" y="2414016"/>
            <a:ext cx="516636" cy="516636"/>
          </a:xfrm>
          <a:prstGeom prst="rect">
            <a:avLst/>
          </a:prstGeom>
          <a:solidFill>
            <a:srgbClr val="ECEAF0"/>
          </a:solidFill>
          <a:ln w="12700">
            <a:solidFill>
              <a:srgbClr val="ECEAF0"/>
            </a:solidFill>
            <a:prstDash val="solid"/>
          </a:ln>
        </p:spPr>
      </p:sp>
      <p:sp>
        <p:nvSpPr>
          <p:cNvPr id="19" name="Shape 16"/>
          <p:cNvSpPr/>
          <p:nvPr/>
        </p:nvSpPr>
        <p:spPr>
          <a:xfrm>
            <a:off x="2752344" y="2414016"/>
            <a:ext cx="516636" cy="516636"/>
          </a:xfrm>
          <a:prstGeom prst="rect">
            <a:avLst/>
          </a:prstGeom>
          <a:solidFill>
            <a:srgbClr val="ECEAF0"/>
          </a:solidFill>
          <a:ln w="12700">
            <a:solidFill>
              <a:srgbClr val="ECEAF0"/>
            </a:solidFill>
            <a:prstDash val="solid"/>
          </a:ln>
        </p:spPr>
      </p:sp>
      <p:sp>
        <p:nvSpPr>
          <p:cNvPr id="20" name="Shape 17"/>
          <p:cNvSpPr/>
          <p:nvPr/>
        </p:nvSpPr>
        <p:spPr>
          <a:xfrm>
            <a:off x="3291840" y="2414016"/>
            <a:ext cx="516636" cy="516636"/>
          </a:xfrm>
          <a:prstGeom prst="rect">
            <a:avLst/>
          </a:prstGeom>
          <a:solidFill>
            <a:srgbClr val="ECEAF0"/>
          </a:solidFill>
          <a:ln w="12700">
            <a:solidFill>
              <a:srgbClr val="ECEAF0"/>
            </a:solidFill>
            <a:prstDash val="solid"/>
          </a:ln>
        </p:spPr>
      </p:sp>
      <p:sp>
        <p:nvSpPr>
          <p:cNvPr id="21" name="Shape 18"/>
          <p:cNvSpPr/>
          <p:nvPr/>
        </p:nvSpPr>
        <p:spPr>
          <a:xfrm>
            <a:off x="3831336" y="2414016"/>
            <a:ext cx="516636" cy="516636"/>
          </a:xfrm>
          <a:prstGeom prst="rect">
            <a:avLst/>
          </a:prstGeom>
          <a:solidFill>
            <a:srgbClr val="ECEAF0"/>
          </a:solidFill>
          <a:ln w="12700">
            <a:solidFill>
              <a:srgbClr val="ECEAF0"/>
            </a:solidFill>
            <a:prstDash val="solid"/>
          </a:ln>
        </p:spPr>
      </p:sp>
      <p:sp>
        <p:nvSpPr>
          <p:cNvPr id="22" name="Shape 19"/>
          <p:cNvSpPr/>
          <p:nvPr/>
        </p:nvSpPr>
        <p:spPr>
          <a:xfrm>
            <a:off x="594360" y="2953512"/>
            <a:ext cx="516636" cy="516636"/>
          </a:xfrm>
          <a:prstGeom prst="rect">
            <a:avLst/>
          </a:prstGeom>
          <a:solidFill>
            <a:srgbClr val="ECEAF0"/>
          </a:solidFill>
          <a:ln w="12700">
            <a:solidFill>
              <a:srgbClr val="ECEAF0"/>
            </a:solidFill>
            <a:prstDash val="solid"/>
          </a:ln>
        </p:spPr>
      </p:sp>
      <p:sp>
        <p:nvSpPr>
          <p:cNvPr id="23" name="Shape 20"/>
          <p:cNvSpPr/>
          <p:nvPr/>
        </p:nvSpPr>
        <p:spPr>
          <a:xfrm>
            <a:off x="1133856" y="2953512"/>
            <a:ext cx="516636" cy="516636"/>
          </a:xfrm>
          <a:prstGeom prst="rect">
            <a:avLst/>
          </a:prstGeom>
          <a:solidFill>
            <a:srgbClr val="ECEAF0"/>
          </a:solidFill>
          <a:ln w="12700">
            <a:solidFill>
              <a:srgbClr val="ECEAF0"/>
            </a:solidFill>
            <a:prstDash val="solid"/>
          </a:ln>
        </p:spPr>
      </p:sp>
      <p:sp>
        <p:nvSpPr>
          <p:cNvPr id="24" name="Shape 21"/>
          <p:cNvSpPr/>
          <p:nvPr/>
        </p:nvSpPr>
        <p:spPr>
          <a:xfrm>
            <a:off x="1673352" y="2953512"/>
            <a:ext cx="516636" cy="516636"/>
          </a:xfrm>
          <a:prstGeom prst="rect">
            <a:avLst/>
          </a:prstGeom>
          <a:solidFill>
            <a:srgbClr val="ECEAF0"/>
          </a:solidFill>
          <a:ln w="12700">
            <a:solidFill>
              <a:srgbClr val="ECEAF0"/>
            </a:solidFill>
            <a:prstDash val="solid"/>
          </a:ln>
        </p:spPr>
      </p:sp>
      <p:sp>
        <p:nvSpPr>
          <p:cNvPr id="25" name="Shape 22"/>
          <p:cNvSpPr/>
          <p:nvPr/>
        </p:nvSpPr>
        <p:spPr>
          <a:xfrm>
            <a:off x="2212848" y="2953512"/>
            <a:ext cx="516636" cy="516636"/>
          </a:xfrm>
          <a:prstGeom prst="rect">
            <a:avLst/>
          </a:prstGeom>
          <a:solidFill>
            <a:srgbClr val="ECEAF0"/>
          </a:solidFill>
          <a:ln w="12700">
            <a:solidFill>
              <a:srgbClr val="ECEAF0"/>
            </a:solidFill>
            <a:prstDash val="solid"/>
          </a:ln>
        </p:spPr>
      </p:sp>
      <p:sp>
        <p:nvSpPr>
          <p:cNvPr id="26" name="Shape 23"/>
          <p:cNvSpPr/>
          <p:nvPr/>
        </p:nvSpPr>
        <p:spPr>
          <a:xfrm>
            <a:off x="2752344" y="2953512"/>
            <a:ext cx="516636" cy="516636"/>
          </a:xfrm>
          <a:prstGeom prst="rect">
            <a:avLst/>
          </a:prstGeom>
          <a:solidFill>
            <a:srgbClr val="ECEAF0"/>
          </a:solidFill>
          <a:ln w="12700">
            <a:solidFill>
              <a:srgbClr val="ECEAF0"/>
            </a:solidFill>
            <a:prstDash val="solid"/>
          </a:ln>
        </p:spPr>
      </p:sp>
      <p:sp>
        <p:nvSpPr>
          <p:cNvPr id="27" name="Shape 24"/>
          <p:cNvSpPr/>
          <p:nvPr/>
        </p:nvSpPr>
        <p:spPr>
          <a:xfrm>
            <a:off x="3291840" y="2953512"/>
            <a:ext cx="516636" cy="516636"/>
          </a:xfrm>
          <a:prstGeom prst="rect">
            <a:avLst/>
          </a:prstGeom>
          <a:solidFill>
            <a:srgbClr val="ECEAF0"/>
          </a:solidFill>
          <a:ln w="12700">
            <a:solidFill>
              <a:srgbClr val="ECEAF0"/>
            </a:solidFill>
            <a:prstDash val="solid"/>
          </a:ln>
        </p:spPr>
      </p:sp>
      <p:sp>
        <p:nvSpPr>
          <p:cNvPr id="28" name="Shape 25"/>
          <p:cNvSpPr/>
          <p:nvPr/>
        </p:nvSpPr>
        <p:spPr>
          <a:xfrm>
            <a:off x="3831336" y="2953512"/>
            <a:ext cx="516636" cy="516636"/>
          </a:xfrm>
          <a:prstGeom prst="rect">
            <a:avLst/>
          </a:prstGeom>
          <a:solidFill>
            <a:srgbClr val="ECEAF0"/>
          </a:solidFill>
          <a:ln w="12700">
            <a:solidFill>
              <a:srgbClr val="ECEAF0"/>
            </a:solidFill>
            <a:prstDash val="solid"/>
          </a:ln>
        </p:spPr>
      </p:sp>
      <p:sp>
        <p:nvSpPr>
          <p:cNvPr id="29" name="Shape 26"/>
          <p:cNvSpPr/>
          <p:nvPr/>
        </p:nvSpPr>
        <p:spPr>
          <a:xfrm>
            <a:off x="594360" y="3493008"/>
            <a:ext cx="516636" cy="516636"/>
          </a:xfrm>
          <a:prstGeom prst="rect">
            <a:avLst/>
          </a:prstGeom>
          <a:solidFill>
            <a:srgbClr val="ECEAF0"/>
          </a:solidFill>
          <a:ln w="12700">
            <a:solidFill>
              <a:srgbClr val="ECEAF0"/>
            </a:solidFill>
            <a:prstDash val="solid"/>
          </a:ln>
        </p:spPr>
      </p:sp>
      <p:sp>
        <p:nvSpPr>
          <p:cNvPr id="30" name="Shape 27"/>
          <p:cNvSpPr/>
          <p:nvPr/>
        </p:nvSpPr>
        <p:spPr>
          <a:xfrm>
            <a:off x="1133856" y="3493008"/>
            <a:ext cx="516636" cy="516636"/>
          </a:xfrm>
          <a:prstGeom prst="rect">
            <a:avLst/>
          </a:prstGeom>
          <a:solidFill>
            <a:srgbClr val="ECEAF0"/>
          </a:solidFill>
          <a:ln w="12700">
            <a:solidFill>
              <a:srgbClr val="ECEAF0"/>
            </a:solidFill>
            <a:prstDash val="solid"/>
          </a:ln>
        </p:spPr>
      </p:sp>
      <p:sp>
        <p:nvSpPr>
          <p:cNvPr id="31" name="Shape 28"/>
          <p:cNvSpPr/>
          <p:nvPr/>
        </p:nvSpPr>
        <p:spPr>
          <a:xfrm>
            <a:off x="1673352" y="3493008"/>
            <a:ext cx="516636" cy="516636"/>
          </a:xfrm>
          <a:prstGeom prst="rect">
            <a:avLst/>
          </a:prstGeom>
          <a:solidFill>
            <a:srgbClr val="ECEAF0"/>
          </a:solidFill>
          <a:ln w="12700">
            <a:solidFill>
              <a:srgbClr val="ECEAF0"/>
            </a:solidFill>
            <a:prstDash val="solid"/>
          </a:ln>
        </p:spPr>
      </p:sp>
      <p:sp>
        <p:nvSpPr>
          <p:cNvPr id="32" name="Shape 29"/>
          <p:cNvSpPr/>
          <p:nvPr/>
        </p:nvSpPr>
        <p:spPr>
          <a:xfrm>
            <a:off x="2212848" y="3493008"/>
            <a:ext cx="516636" cy="516636"/>
          </a:xfrm>
          <a:prstGeom prst="rect">
            <a:avLst/>
          </a:prstGeom>
          <a:solidFill>
            <a:srgbClr val="ECEAF0"/>
          </a:solidFill>
          <a:ln w="12700">
            <a:solidFill>
              <a:srgbClr val="ECEAF0"/>
            </a:solidFill>
            <a:prstDash val="solid"/>
          </a:ln>
        </p:spPr>
      </p:sp>
      <p:sp>
        <p:nvSpPr>
          <p:cNvPr id="33" name="Shape 30"/>
          <p:cNvSpPr/>
          <p:nvPr/>
        </p:nvSpPr>
        <p:spPr>
          <a:xfrm>
            <a:off x="2752344" y="3493008"/>
            <a:ext cx="516636" cy="516636"/>
          </a:xfrm>
          <a:prstGeom prst="rect">
            <a:avLst/>
          </a:prstGeom>
          <a:solidFill>
            <a:srgbClr val="ECEAF0"/>
          </a:solidFill>
          <a:ln w="12700">
            <a:solidFill>
              <a:srgbClr val="ECEAF0"/>
            </a:solidFill>
            <a:prstDash val="solid"/>
          </a:ln>
        </p:spPr>
      </p:sp>
      <p:sp>
        <p:nvSpPr>
          <p:cNvPr id="34" name="Shape 31"/>
          <p:cNvSpPr/>
          <p:nvPr/>
        </p:nvSpPr>
        <p:spPr>
          <a:xfrm>
            <a:off x="3291840" y="3493008"/>
            <a:ext cx="516636" cy="516636"/>
          </a:xfrm>
          <a:prstGeom prst="rect">
            <a:avLst/>
          </a:prstGeom>
          <a:solidFill>
            <a:srgbClr val="ECEAF0"/>
          </a:solidFill>
          <a:ln w="12700">
            <a:solidFill>
              <a:srgbClr val="ECEAF0"/>
            </a:solidFill>
            <a:prstDash val="solid"/>
          </a:ln>
        </p:spPr>
      </p:sp>
      <p:sp>
        <p:nvSpPr>
          <p:cNvPr id="35" name="Shape 32"/>
          <p:cNvSpPr/>
          <p:nvPr/>
        </p:nvSpPr>
        <p:spPr>
          <a:xfrm>
            <a:off x="3831336" y="3493008"/>
            <a:ext cx="516636" cy="516636"/>
          </a:xfrm>
          <a:prstGeom prst="rect">
            <a:avLst/>
          </a:prstGeom>
          <a:solidFill>
            <a:srgbClr val="ECEAF0"/>
          </a:solidFill>
          <a:ln w="12700">
            <a:solidFill>
              <a:srgbClr val="ECEAF0"/>
            </a:solidFill>
            <a:prstDash val="solid"/>
          </a:ln>
        </p:spPr>
      </p:sp>
      <p:sp>
        <p:nvSpPr>
          <p:cNvPr id="36" name="Shape 33"/>
          <p:cNvSpPr/>
          <p:nvPr/>
        </p:nvSpPr>
        <p:spPr>
          <a:xfrm>
            <a:off x="594360" y="4032504"/>
            <a:ext cx="516636" cy="516636"/>
          </a:xfrm>
          <a:prstGeom prst="rect">
            <a:avLst/>
          </a:prstGeom>
          <a:solidFill>
            <a:srgbClr val="ECEAF0"/>
          </a:solidFill>
          <a:ln w="12700">
            <a:solidFill>
              <a:srgbClr val="ECEAF0"/>
            </a:solidFill>
            <a:prstDash val="solid"/>
          </a:ln>
        </p:spPr>
      </p:sp>
      <p:sp>
        <p:nvSpPr>
          <p:cNvPr id="37" name="Shape 34"/>
          <p:cNvSpPr/>
          <p:nvPr/>
        </p:nvSpPr>
        <p:spPr>
          <a:xfrm>
            <a:off x="1133856" y="4032504"/>
            <a:ext cx="516636" cy="516636"/>
          </a:xfrm>
          <a:prstGeom prst="rect">
            <a:avLst/>
          </a:prstGeom>
          <a:solidFill>
            <a:srgbClr val="ECEAF0"/>
          </a:solidFill>
          <a:ln w="12700">
            <a:solidFill>
              <a:srgbClr val="ECEAF0"/>
            </a:solidFill>
            <a:prstDash val="solid"/>
          </a:ln>
        </p:spPr>
      </p:sp>
      <p:sp>
        <p:nvSpPr>
          <p:cNvPr id="38" name="Shape 35"/>
          <p:cNvSpPr/>
          <p:nvPr/>
        </p:nvSpPr>
        <p:spPr>
          <a:xfrm>
            <a:off x="1673352" y="4032504"/>
            <a:ext cx="516636" cy="516636"/>
          </a:xfrm>
          <a:prstGeom prst="rect">
            <a:avLst/>
          </a:prstGeom>
          <a:solidFill>
            <a:srgbClr val="ECEAF0"/>
          </a:solidFill>
          <a:ln w="12700">
            <a:solidFill>
              <a:srgbClr val="ECEAF0"/>
            </a:solidFill>
            <a:prstDash val="solid"/>
          </a:ln>
        </p:spPr>
      </p:sp>
      <p:sp>
        <p:nvSpPr>
          <p:cNvPr id="39" name="Shape 36"/>
          <p:cNvSpPr/>
          <p:nvPr/>
        </p:nvSpPr>
        <p:spPr>
          <a:xfrm>
            <a:off x="2212848" y="4032504"/>
            <a:ext cx="516636" cy="516636"/>
          </a:xfrm>
          <a:prstGeom prst="rect">
            <a:avLst/>
          </a:prstGeom>
          <a:solidFill>
            <a:srgbClr val="ECEAF0"/>
          </a:solidFill>
          <a:ln w="12700">
            <a:solidFill>
              <a:srgbClr val="ECEAF0"/>
            </a:solidFill>
            <a:prstDash val="solid"/>
          </a:ln>
        </p:spPr>
      </p:sp>
      <p:sp>
        <p:nvSpPr>
          <p:cNvPr id="40" name="Shape 37"/>
          <p:cNvSpPr/>
          <p:nvPr/>
        </p:nvSpPr>
        <p:spPr>
          <a:xfrm>
            <a:off x="2752344" y="4032504"/>
            <a:ext cx="516636" cy="516636"/>
          </a:xfrm>
          <a:prstGeom prst="rect">
            <a:avLst/>
          </a:prstGeom>
          <a:solidFill>
            <a:srgbClr val="ECEAF0"/>
          </a:solidFill>
          <a:ln w="12700">
            <a:solidFill>
              <a:srgbClr val="ECEAF0"/>
            </a:solidFill>
            <a:prstDash val="solid"/>
          </a:ln>
        </p:spPr>
      </p:sp>
      <p:sp>
        <p:nvSpPr>
          <p:cNvPr id="41" name="Shape 38"/>
          <p:cNvSpPr/>
          <p:nvPr/>
        </p:nvSpPr>
        <p:spPr>
          <a:xfrm>
            <a:off x="3291840" y="4032504"/>
            <a:ext cx="516636" cy="516636"/>
          </a:xfrm>
          <a:prstGeom prst="rect">
            <a:avLst/>
          </a:prstGeom>
          <a:solidFill>
            <a:srgbClr val="ECEAF0"/>
          </a:solidFill>
          <a:ln w="12700">
            <a:solidFill>
              <a:srgbClr val="ECEAF0"/>
            </a:solidFill>
            <a:prstDash val="solid"/>
          </a:ln>
        </p:spPr>
      </p:sp>
      <p:sp>
        <p:nvSpPr>
          <p:cNvPr id="42" name="Shape 39"/>
          <p:cNvSpPr/>
          <p:nvPr/>
        </p:nvSpPr>
        <p:spPr>
          <a:xfrm>
            <a:off x="3831336" y="4032504"/>
            <a:ext cx="516636" cy="516636"/>
          </a:xfrm>
          <a:prstGeom prst="rect">
            <a:avLst/>
          </a:prstGeom>
          <a:solidFill>
            <a:srgbClr val="ECEAF0"/>
          </a:solidFill>
          <a:ln w="12700">
            <a:solidFill>
              <a:srgbClr val="ECEAF0"/>
            </a:solidFill>
            <a:prstDash val="solid"/>
          </a:ln>
        </p:spPr>
      </p:sp>
      <p:sp>
        <p:nvSpPr>
          <p:cNvPr id="43" name="Shape 40"/>
          <p:cNvSpPr/>
          <p:nvPr/>
        </p:nvSpPr>
        <p:spPr>
          <a:xfrm>
            <a:off x="594360" y="4572000"/>
            <a:ext cx="516636" cy="516636"/>
          </a:xfrm>
          <a:prstGeom prst="rect">
            <a:avLst/>
          </a:prstGeom>
          <a:solidFill>
            <a:srgbClr val="ECEAF0"/>
          </a:solidFill>
          <a:ln w="12700">
            <a:solidFill>
              <a:srgbClr val="ECEAF0"/>
            </a:solidFill>
            <a:prstDash val="solid"/>
          </a:ln>
        </p:spPr>
      </p:sp>
      <p:sp>
        <p:nvSpPr>
          <p:cNvPr id="44" name="Shape 41"/>
          <p:cNvSpPr/>
          <p:nvPr/>
        </p:nvSpPr>
        <p:spPr>
          <a:xfrm>
            <a:off x="1133856" y="4572000"/>
            <a:ext cx="516636" cy="516636"/>
          </a:xfrm>
          <a:prstGeom prst="rect">
            <a:avLst/>
          </a:prstGeom>
          <a:solidFill>
            <a:srgbClr val="ECEAF0"/>
          </a:solidFill>
          <a:ln w="12700">
            <a:solidFill>
              <a:srgbClr val="ECEAF0"/>
            </a:solidFill>
            <a:prstDash val="solid"/>
          </a:ln>
        </p:spPr>
      </p:sp>
      <p:sp>
        <p:nvSpPr>
          <p:cNvPr id="45" name="Shape 42"/>
          <p:cNvSpPr/>
          <p:nvPr/>
        </p:nvSpPr>
        <p:spPr>
          <a:xfrm>
            <a:off x="1673352" y="4572000"/>
            <a:ext cx="516636" cy="516636"/>
          </a:xfrm>
          <a:prstGeom prst="rect">
            <a:avLst/>
          </a:prstGeom>
          <a:solidFill>
            <a:srgbClr val="ECEAF0"/>
          </a:solidFill>
          <a:ln w="12700">
            <a:solidFill>
              <a:srgbClr val="ECEAF0"/>
            </a:solidFill>
            <a:prstDash val="solid"/>
          </a:ln>
        </p:spPr>
      </p:sp>
      <p:sp>
        <p:nvSpPr>
          <p:cNvPr id="46" name="Shape 43"/>
          <p:cNvSpPr/>
          <p:nvPr/>
        </p:nvSpPr>
        <p:spPr>
          <a:xfrm>
            <a:off x="2212848" y="4572000"/>
            <a:ext cx="516636" cy="516636"/>
          </a:xfrm>
          <a:prstGeom prst="rect">
            <a:avLst/>
          </a:prstGeom>
          <a:solidFill>
            <a:srgbClr val="ECEAF0"/>
          </a:solidFill>
          <a:ln w="12700">
            <a:solidFill>
              <a:srgbClr val="ECEAF0"/>
            </a:solidFill>
            <a:prstDash val="solid"/>
          </a:ln>
        </p:spPr>
      </p:sp>
      <p:sp>
        <p:nvSpPr>
          <p:cNvPr id="47" name="Shape 44"/>
          <p:cNvSpPr/>
          <p:nvPr/>
        </p:nvSpPr>
        <p:spPr>
          <a:xfrm>
            <a:off x="2752344" y="4572000"/>
            <a:ext cx="516636" cy="516636"/>
          </a:xfrm>
          <a:prstGeom prst="rect">
            <a:avLst/>
          </a:prstGeom>
          <a:solidFill>
            <a:srgbClr val="ECEAF0"/>
          </a:solidFill>
          <a:ln w="12700">
            <a:solidFill>
              <a:srgbClr val="ECEAF0"/>
            </a:solidFill>
            <a:prstDash val="solid"/>
          </a:ln>
        </p:spPr>
      </p:sp>
      <p:sp>
        <p:nvSpPr>
          <p:cNvPr id="48" name="Shape 45"/>
          <p:cNvSpPr/>
          <p:nvPr/>
        </p:nvSpPr>
        <p:spPr>
          <a:xfrm>
            <a:off x="3291840" y="4572000"/>
            <a:ext cx="516636" cy="516636"/>
          </a:xfrm>
          <a:prstGeom prst="rect">
            <a:avLst/>
          </a:prstGeom>
          <a:solidFill>
            <a:srgbClr val="ECEAF0"/>
          </a:solidFill>
          <a:ln w="12700">
            <a:solidFill>
              <a:srgbClr val="ECEAF0"/>
            </a:solidFill>
            <a:prstDash val="solid"/>
          </a:ln>
        </p:spPr>
      </p:sp>
      <p:sp>
        <p:nvSpPr>
          <p:cNvPr id="49" name="Shape 46"/>
          <p:cNvSpPr/>
          <p:nvPr/>
        </p:nvSpPr>
        <p:spPr>
          <a:xfrm>
            <a:off x="3831336" y="4572000"/>
            <a:ext cx="516636" cy="516636"/>
          </a:xfrm>
          <a:prstGeom prst="rect">
            <a:avLst/>
          </a:prstGeom>
          <a:solidFill>
            <a:srgbClr val="ECEAF0"/>
          </a:solidFill>
          <a:ln w="12700">
            <a:solidFill>
              <a:srgbClr val="ECEAF0"/>
            </a:solidFill>
            <a:prstDash val="solid"/>
          </a:ln>
        </p:spPr>
      </p:sp>
      <p:sp>
        <p:nvSpPr>
          <p:cNvPr id="50" name="Shape 47"/>
          <p:cNvSpPr/>
          <p:nvPr/>
        </p:nvSpPr>
        <p:spPr>
          <a:xfrm>
            <a:off x="1133856" y="2414016"/>
            <a:ext cx="516636" cy="516636"/>
          </a:xfrm>
          <a:prstGeom prst="rect">
            <a:avLst/>
          </a:prstGeom>
          <a:solidFill>
            <a:srgbClr val="494985"/>
          </a:solidFill>
          <a:ln w="12700">
            <a:solidFill>
              <a:srgbClr val="494985"/>
            </a:solidFill>
            <a:prstDash val="solid"/>
          </a:ln>
        </p:spPr>
      </p:sp>
      <p:sp>
        <p:nvSpPr>
          <p:cNvPr id="51" name="Shape 48"/>
          <p:cNvSpPr/>
          <p:nvPr/>
        </p:nvSpPr>
        <p:spPr>
          <a:xfrm>
            <a:off x="1673352" y="2414016"/>
            <a:ext cx="516636" cy="516636"/>
          </a:xfrm>
          <a:prstGeom prst="rect">
            <a:avLst/>
          </a:prstGeom>
          <a:solidFill>
            <a:srgbClr val="494985"/>
          </a:solidFill>
          <a:ln w="12700">
            <a:solidFill>
              <a:srgbClr val="494985"/>
            </a:solidFill>
            <a:prstDash val="solid"/>
          </a:ln>
        </p:spPr>
      </p:sp>
      <p:sp>
        <p:nvSpPr>
          <p:cNvPr id="52" name="Shape 49"/>
          <p:cNvSpPr/>
          <p:nvPr/>
        </p:nvSpPr>
        <p:spPr>
          <a:xfrm>
            <a:off x="2752344" y="2414016"/>
            <a:ext cx="516636" cy="516636"/>
          </a:xfrm>
          <a:prstGeom prst="rect">
            <a:avLst/>
          </a:prstGeom>
          <a:solidFill>
            <a:srgbClr val="494985"/>
          </a:solidFill>
          <a:ln w="12700">
            <a:solidFill>
              <a:srgbClr val="494985"/>
            </a:solidFill>
            <a:prstDash val="solid"/>
          </a:ln>
        </p:spPr>
      </p:sp>
      <p:sp>
        <p:nvSpPr>
          <p:cNvPr id="53" name="Shape 50"/>
          <p:cNvSpPr/>
          <p:nvPr/>
        </p:nvSpPr>
        <p:spPr>
          <a:xfrm>
            <a:off x="2752344" y="2953512"/>
            <a:ext cx="516636" cy="516636"/>
          </a:xfrm>
          <a:prstGeom prst="rect">
            <a:avLst/>
          </a:prstGeom>
          <a:solidFill>
            <a:srgbClr val="494985"/>
          </a:solidFill>
          <a:ln w="12700">
            <a:solidFill>
              <a:srgbClr val="494985"/>
            </a:solidFill>
            <a:prstDash val="solid"/>
          </a:ln>
        </p:spPr>
      </p:sp>
      <p:sp>
        <p:nvSpPr>
          <p:cNvPr id="54" name="Shape 51"/>
          <p:cNvSpPr/>
          <p:nvPr/>
        </p:nvSpPr>
        <p:spPr>
          <a:xfrm>
            <a:off x="1673352" y="3493008"/>
            <a:ext cx="516636" cy="516636"/>
          </a:xfrm>
          <a:prstGeom prst="rect">
            <a:avLst/>
          </a:prstGeom>
          <a:solidFill>
            <a:srgbClr val="494985"/>
          </a:solidFill>
          <a:ln w="12700">
            <a:solidFill>
              <a:srgbClr val="494985"/>
            </a:solidFill>
            <a:prstDash val="solid"/>
          </a:ln>
        </p:spPr>
      </p:sp>
      <p:sp>
        <p:nvSpPr>
          <p:cNvPr id="55" name="Shape 52"/>
          <p:cNvSpPr/>
          <p:nvPr/>
        </p:nvSpPr>
        <p:spPr>
          <a:xfrm>
            <a:off x="2212848" y="3493008"/>
            <a:ext cx="516636" cy="516636"/>
          </a:xfrm>
          <a:prstGeom prst="rect">
            <a:avLst/>
          </a:prstGeom>
          <a:solidFill>
            <a:srgbClr val="494985"/>
          </a:solidFill>
          <a:ln w="12700">
            <a:solidFill>
              <a:srgbClr val="494985"/>
            </a:solidFill>
            <a:prstDash val="solid"/>
          </a:ln>
        </p:spPr>
      </p:sp>
      <p:sp>
        <p:nvSpPr>
          <p:cNvPr id="56" name="Shape 53"/>
          <p:cNvSpPr/>
          <p:nvPr/>
        </p:nvSpPr>
        <p:spPr>
          <a:xfrm>
            <a:off x="1673352" y="4032504"/>
            <a:ext cx="516636" cy="516636"/>
          </a:xfrm>
          <a:prstGeom prst="rect">
            <a:avLst/>
          </a:prstGeom>
          <a:solidFill>
            <a:srgbClr val="494985"/>
          </a:solidFill>
          <a:ln w="12700">
            <a:solidFill>
              <a:srgbClr val="494985"/>
            </a:solidFill>
            <a:prstDash val="solid"/>
          </a:ln>
        </p:spPr>
      </p:sp>
      <p:sp>
        <p:nvSpPr>
          <p:cNvPr id="57" name="Shape 54"/>
          <p:cNvSpPr/>
          <p:nvPr/>
        </p:nvSpPr>
        <p:spPr>
          <a:xfrm>
            <a:off x="3291840" y="4032504"/>
            <a:ext cx="516636" cy="516636"/>
          </a:xfrm>
          <a:prstGeom prst="rect">
            <a:avLst/>
          </a:prstGeom>
          <a:solidFill>
            <a:srgbClr val="494985"/>
          </a:solidFill>
          <a:ln w="12700">
            <a:solidFill>
              <a:srgbClr val="494985"/>
            </a:solidFill>
            <a:prstDash val="solid"/>
          </a:ln>
        </p:spPr>
      </p:sp>
      <p:sp>
        <p:nvSpPr>
          <p:cNvPr id="58" name="Shape 55"/>
          <p:cNvSpPr/>
          <p:nvPr/>
        </p:nvSpPr>
        <p:spPr>
          <a:xfrm flipV="1">
            <a:off x="859536" y="3762756"/>
            <a:ext cx="914" cy="1065276"/>
          </a:xfrm>
          <a:prstGeom prst="line">
            <a:avLst/>
          </a:prstGeom>
          <a:noFill/>
          <a:ln w="25400">
            <a:solidFill>
              <a:srgbClr val="494985"/>
            </a:solidFill>
            <a:prstDash val="solid"/>
            <a:tailEnd type="triangle"/>
          </a:ln>
        </p:spPr>
      </p:sp>
      <p:sp>
        <p:nvSpPr>
          <p:cNvPr id="59" name="Shape 56"/>
          <p:cNvSpPr/>
          <p:nvPr/>
        </p:nvSpPr>
        <p:spPr>
          <a:xfrm>
            <a:off x="859536" y="3762756"/>
            <a:ext cx="1060704" cy="914"/>
          </a:xfrm>
          <a:prstGeom prst="line">
            <a:avLst/>
          </a:prstGeom>
          <a:noFill/>
          <a:ln w="25400">
            <a:solidFill>
              <a:srgbClr val="494985"/>
            </a:solidFill>
            <a:prstDash val="solid"/>
            <a:tailEnd type="triangle"/>
          </a:ln>
        </p:spPr>
      </p:sp>
      <p:sp>
        <p:nvSpPr>
          <p:cNvPr id="60" name="Text 57"/>
          <p:cNvSpPr txBox="1"/>
          <p:nvPr/>
        </p:nvSpPr>
        <p:spPr>
          <a:xfrm>
            <a:off x="1810512" y="3534156"/>
            <a:ext cx="457200" cy="502920"/>
          </a:xfrm>
          <a:prstGeom prst="rect">
            <a:avLst/>
          </a:prstGeom>
          <a:noFill/>
          <a:ln/>
        </p:spPr>
        <p:txBody>
          <a:bodyPr wrap="square" lIns="0" tIns="0" rIns="0" bIns="0" rtlCol="0" anchor="t"/>
          <a:lstStyle/>
          <a:p>
            <a:pPr indent="0" marL="0">
              <a:buNone/>
            </a:pPr>
            <a:r>
              <a:rPr lang="en-US" sz="3200" b="1" dirty="0">
                <a:solidFill>
                  <a:srgbClr val="B3261E"/>
                </a:solidFill>
                <a:latin typeface="Quicksand" pitchFamily="34" charset="0"/>
                <a:ea typeface="Quicksand" pitchFamily="34" charset="-122"/>
                <a:cs typeface="Quicksand" pitchFamily="34" charset="-120"/>
              </a:rPr>
              <a:t>×</a:t>
            </a:r>
            <a:endParaRPr lang="en-US" sz="3200" dirty="0"/>
          </a:p>
        </p:txBody>
      </p:sp>
      <p:sp>
        <p:nvSpPr>
          <p:cNvPr id="61" name="Shape 58"/>
          <p:cNvSpPr/>
          <p:nvPr/>
        </p:nvSpPr>
        <p:spPr>
          <a:xfrm>
            <a:off x="859536" y="4828032"/>
            <a:ext cx="3227832" cy="914"/>
          </a:xfrm>
          <a:prstGeom prst="line">
            <a:avLst/>
          </a:prstGeom>
          <a:noFill/>
          <a:ln w="25400">
            <a:solidFill>
              <a:srgbClr val="2E7D5B"/>
            </a:solidFill>
            <a:prstDash val="solid"/>
            <a:tailEnd type="triangle"/>
          </a:ln>
        </p:spPr>
      </p:sp>
      <p:sp>
        <p:nvSpPr>
          <p:cNvPr id="62" name="Text 59"/>
          <p:cNvSpPr txBox="1"/>
          <p:nvPr/>
        </p:nvSpPr>
        <p:spPr>
          <a:xfrm>
            <a:off x="594360" y="5303520"/>
            <a:ext cx="1463040" cy="274320"/>
          </a:xfrm>
          <a:prstGeom prst="rect">
            <a:avLst/>
          </a:prstGeom>
          <a:noFill/>
          <a:ln/>
        </p:spPr>
        <p:txBody>
          <a:bodyPr wrap="square" lIns="0" tIns="0" rIns="0" bIns="0" rtlCol="0" anchor="t"/>
          <a:lstStyle/>
          <a:p>
            <a:pPr indent="0" marL="0">
              <a:buNone/>
            </a:pPr>
            <a:r>
              <a:rPr lang="en-US" sz="1200" b="1" dirty="0">
                <a:solidFill>
                  <a:srgbClr val="252341"/>
                </a:solidFill>
                <a:latin typeface="Quicksand" pitchFamily="34" charset="0"/>
                <a:ea typeface="Quicksand" pitchFamily="34" charset="-122"/>
                <a:cs typeface="Quicksand" pitchFamily="34" charset="-120"/>
              </a:rPr>
              <a:t>START</a:t>
            </a:r>
            <a:endParaRPr lang="en-US" sz="1200" dirty="0"/>
          </a:p>
        </p:txBody>
      </p:sp>
      <p:sp>
        <p:nvSpPr>
          <p:cNvPr id="63" name="Text 60"/>
          <p:cNvSpPr txBox="1"/>
          <p:nvPr/>
        </p:nvSpPr>
        <p:spPr>
          <a:xfrm>
            <a:off x="3438144" y="5303520"/>
            <a:ext cx="960120" cy="274320"/>
          </a:xfrm>
          <a:prstGeom prst="rect">
            <a:avLst/>
          </a:prstGeom>
          <a:noFill/>
          <a:ln/>
        </p:spPr>
        <p:txBody>
          <a:bodyPr wrap="square" lIns="0" tIns="0" rIns="0" bIns="0" rtlCol="0" anchor="t"/>
          <a:lstStyle/>
          <a:p>
            <a:pPr indent="0" marL="0">
              <a:buNone/>
            </a:pPr>
            <a:r>
              <a:rPr lang="en-US" sz="1200" b="1" dirty="0">
                <a:solidFill>
                  <a:srgbClr val="252341"/>
                </a:solidFill>
                <a:latin typeface="Quicksand" pitchFamily="34" charset="0"/>
                <a:ea typeface="Quicksand" pitchFamily="34" charset="-122"/>
                <a:cs typeface="Quicksand" pitchFamily="34" charset="-120"/>
              </a:rPr>
              <a:t>GOAL</a:t>
            </a:r>
            <a:endParaRPr lang="en-US" sz="1200" dirty="0"/>
          </a:p>
        </p:txBody>
      </p:sp>
      <p:sp>
        <p:nvSpPr>
          <p:cNvPr id="64" name="Text 61"/>
          <p:cNvSpPr txBox="1"/>
          <p:nvPr/>
        </p:nvSpPr>
        <p:spPr>
          <a:xfrm>
            <a:off x="5074920" y="1965960"/>
            <a:ext cx="457200" cy="365760"/>
          </a:xfrm>
          <a:prstGeom prst="rect">
            <a:avLst/>
          </a:prstGeom>
          <a:noFill/>
          <a:ln/>
        </p:spPr>
        <p:txBody>
          <a:bodyPr wrap="square" lIns="0" tIns="0" rIns="0" bIns="0" rtlCol="0" anchor="t"/>
          <a:lstStyle/>
          <a:p>
            <a:pPr indent="0" marL="0">
              <a:buNone/>
            </a:pPr>
            <a:r>
              <a:rPr lang="en-US" sz="1600" b="1" dirty="0">
                <a:solidFill>
                  <a:srgbClr val="494985"/>
                </a:solidFill>
                <a:latin typeface="Quicksand" pitchFamily="34" charset="0"/>
                <a:ea typeface="Quicksand" pitchFamily="34" charset="-122"/>
                <a:cs typeface="Quicksand" pitchFamily="34" charset="-120"/>
              </a:rPr>
              <a:t>01</a:t>
            </a:r>
            <a:endParaRPr lang="en-US" sz="1600" dirty="0"/>
          </a:p>
        </p:txBody>
      </p:sp>
      <p:sp>
        <p:nvSpPr>
          <p:cNvPr id="65" name="Text 62"/>
          <p:cNvSpPr txBox="1"/>
          <p:nvPr/>
        </p:nvSpPr>
        <p:spPr>
          <a:xfrm>
            <a:off x="5715000" y="1952244"/>
            <a:ext cx="5760720" cy="923544"/>
          </a:xfrm>
          <a:prstGeom prst="rect">
            <a:avLst/>
          </a:prstGeom>
          <a:noFill/>
          <a:ln/>
        </p:spPr>
        <p:txBody>
          <a:bodyPr wrap="square" lIns="0" tIns="0" rIns="0" bIns="0" rtlCol="0" anchor="t"/>
          <a:lstStyle/>
          <a:p>
            <a:pPr indent="0" marL="0">
              <a:buNone/>
            </a:pPr>
            <a:r>
              <a:rPr lang="en-US" sz="2500" dirty="0">
                <a:solidFill>
                  <a:srgbClr val="252341"/>
                </a:solidFill>
                <a:latin typeface="Quicksand" pitchFamily="34" charset="0"/>
                <a:ea typeface="Quicksand" pitchFamily="34" charset="-122"/>
                <a:cs typeface="Quicksand" pitchFamily="34" charset="-120"/>
              </a:rPr>
              <a:t>What evidence should it keep?</a:t>
            </a:r>
            <a:endParaRPr lang="en-US" sz="2500" dirty="0"/>
          </a:p>
        </p:txBody>
      </p:sp>
      <p:sp>
        <p:nvSpPr>
          <p:cNvPr id="66" name="Shape 63"/>
          <p:cNvSpPr/>
          <p:nvPr/>
        </p:nvSpPr>
        <p:spPr>
          <a:xfrm>
            <a:off x="5715000" y="2843784"/>
            <a:ext cx="5760720" cy="0"/>
          </a:xfrm>
          <a:prstGeom prst="line">
            <a:avLst/>
          </a:prstGeom>
          <a:noFill/>
          <a:ln w="8890">
            <a:solidFill>
              <a:srgbClr val="DDDBE5"/>
            </a:solidFill>
            <a:prstDash val="solid"/>
          </a:ln>
        </p:spPr>
      </p:sp>
      <p:sp>
        <p:nvSpPr>
          <p:cNvPr id="67" name="Text 64"/>
          <p:cNvSpPr txBox="1"/>
          <p:nvPr/>
        </p:nvSpPr>
        <p:spPr>
          <a:xfrm>
            <a:off x="5074920" y="2999232"/>
            <a:ext cx="457200" cy="365760"/>
          </a:xfrm>
          <a:prstGeom prst="rect">
            <a:avLst/>
          </a:prstGeom>
          <a:noFill/>
          <a:ln/>
        </p:spPr>
        <p:txBody>
          <a:bodyPr wrap="square" lIns="0" tIns="0" rIns="0" bIns="0" rtlCol="0" anchor="t"/>
          <a:lstStyle/>
          <a:p>
            <a:pPr indent="0" marL="0">
              <a:buNone/>
            </a:pPr>
            <a:r>
              <a:rPr lang="en-US" sz="1600" b="1" dirty="0">
                <a:solidFill>
                  <a:srgbClr val="494985"/>
                </a:solidFill>
                <a:latin typeface="Quicksand" pitchFamily="34" charset="0"/>
                <a:ea typeface="Quicksand" pitchFamily="34" charset="-122"/>
                <a:cs typeface="Quicksand" pitchFamily="34" charset="-120"/>
              </a:rPr>
              <a:t>02</a:t>
            </a:r>
            <a:endParaRPr lang="en-US" sz="1600" dirty="0"/>
          </a:p>
        </p:txBody>
      </p:sp>
      <p:sp>
        <p:nvSpPr>
          <p:cNvPr id="68" name="Text 65"/>
          <p:cNvSpPr txBox="1"/>
          <p:nvPr/>
        </p:nvSpPr>
        <p:spPr>
          <a:xfrm>
            <a:off x="5715000" y="2985516"/>
            <a:ext cx="5760720" cy="923544"/>
          </a:xfrm>
          <a:prstGeom prst="rect">
            <a:avLst/>
          </a:prstGeom>
          <a:noFill/>
          <a:ln/>
        </p:spPr>
        <p:txBody>
          <a:bodyPr wrap="square" lIns="0" tIns="0" rIns="0" bIns="0" rtlCol="0" anchor="t"/>
          <a:lstStyle/>
          <a:p>
            <a:pPr indent="0" marL="0">
              <a:buNone/>
            </a:pPr>
            <a:r>
              <a:rPr lang="en-US" sz="2500" dirty="0">
                <a:solidFill>
                  <a:srgbClr val="252341"/>
                </a:solidFill>
                <a:latin typeface="Quicksand" pitchFamily="34" charset="0"/>
                <a:ea typeface="Quicksand" pitchFamily="34" charset="-122"/>
                <a:cs typeface="Quicksand" pitchFamily="34" charset="-120"/>
              </a:rPr>
              <a:t>What should change next time?</a:t>
            </a:r>
            <a:endParaRPr lang="en-US" sz="2500" dirty="0"/>
          </a:p>
        </p:txBody>
      </p:sp>
      <p:sp>
        <p:nvSpPr>
          <p:cNvPr id="69" name="Shape 66"/>
          <p:cNvSpPr/>
          <p:nvPr/>
        </p:nvSpPr>
        <p:spPr>
          <a:xfrm>
            <a:off x="5715000" y="3877056"/>
            <a:ext cx="5760720" cy="0"/>
          </a:xfrm>
          <a:prstGeom prst="line">
            <a:avLst/>
          </a:prstGeom>
          <a:noFill/>
          <a:ln w="8890">
            <a:solidFill>
              <a:srgbClr val="DDDBE5"/>
            </a:solidFill>
            <a:prstDash val="solid"/>
          </a:ln>
        </p:spPr>
      </p:sp>
      <p:sp>
        <p:nvSpPr>
          <p:cNvPr id="70" name="Text 67"/>
          <p:cNvSpPr txBox="1"/>
          <p:nvPr/>
        </p:nvSpPr>
        <p:spPr>
          <a:xfrm>
            <a:off x="5074920" y="4032504"/>
            <a:ext cx="457200" cy="365760"/>
          </a:xfrm>
          <a:prstGeom prst="rect">
            <a:avLst/>
          </a:prstGeom>
          <a:noFill/>
          <a:ln/>
        </p:spPr>
        <p:txBody>
          <a:bodyPr wrap="square" lIns="0" tIns="0" rIns="0" bIns="0" rtlCol="0" anchor="t"/>
          <a:lstStyle/>
          <a:p>
            <a:pPr indent="0" marL="0">
              <a:buNone/>
            </a:pPr>
            <a:r>
              <a:rPr lang="en-US" sz="1600" b="1" dirty="0">
                <a:solidFill>
                  <a:srgbClr val="494985"/>
                </a:solidFill>
                <a:latin typeface="Quicksand" pitchFamily="34" charset="0"/>
                <a:ea typeface="Quicksand" pitchFamily="34" charset="-122"/>
                <a:cs typeface="Quicksand" pitchFamily="34" charset="-120"/>
              </a:rPr>
              <a:t>03</a:t>
            </a:r>
            <a:endParaRPr lang="en-US" sz="1600" dirty="0"/>
          </a:p>
        </p:txBody>
      </p:sp>
      <p:sp>
        <p:nvSpPr>
          <p:cNvPr id="71" name="Text 68"/>
          <p:cNvSpPr txBox="1"/>
          <p:nvPr/>
        </p:nvSpPr>
        <p:spPr>
          <a:xfrm>
            <a:off x="5715000" y="4018788"/>
            <a:ext cx="5760720" cy="923544"/>
          </a:xfrm>
          <a:prstGeom prst="rect">
            <a:avLst/>
          </a:prstGeom>
          <a:noFill/>
          <a:ln/>
        </p:spPr>
        <p:txBody>
          <a:bodyPr wrap="square" lIns="0" tIns="0" rIns="0" bIns="0" rtlCol="0" anchor="t"/>
          <a:lstStyle/>
          <a:p>
            <a:pPr indent="0" marL="0">
              <a:buNone/>
            </a:pPr>
            <a:r>
              <a:rPr lang="en-US" sz="2500" dirty="0">
                <a:solidFill>
                  <a:srgbClr val="252341"/>
                </a:solidFill>
                <a:latin typeface="Quicksand" pitchFamily="34" charset="0"/>
                <a:ea typeface="Quicksand" pitchFamily="34" charset="-122"/>
                <a:cs typeface="Quicksand" pitchFamily="34" charset="-120"/>
              </a:rPr>
              <a:t>What would count as a successful action?</a:t>
            </a:r>
            <a:endParaRPr lang="en-US" sz="2500" dirty="0"/>
          </a:p>
        </p:txBody>
      </p:sp>
      <p:sp>
        <p:nvSpPr>
          <p:cNvPr id="72" name="Text 69"/>
          <p:cNvSpPr txBox="1"/>
          <p:nvPr/>
        </p:nvSpPr>
        <p:spPr>
          <a:xfrm>
            <a:off x="594360" y="5650992"/>
            <a:ext cx="10972800" cy="384048"/>
          </a:xfrm>
          <a:prstGeom prst="rect">
            <a:avLst/>
          </a:prstGeom>
          <a:noFill/>
          <a:ln/>
        </p:spPr>
        <p:txBody>
          <a:bodyPr wrap="square" lIns="0" tIns="0" rIns="0" bIns="0" rtlCol="0" anchor="t"/>
          <a:lstStyle/>
          <a:p>
            <a:pPr indent="0" marL="0">
              <a:buNone/>
            </a:pPr>
            <a:r>
              <a:rPr lang="en-US" sz="1700" b="1" dirty="0">
                <a:solidFill>
                  <a:srgbClr val="494985"/>
                </a:solidFill>
                <a:latin typeface="Quicksand" pitchFamily="34" charset="0"/>
                <a:ea typeface="Quicksand" pitchFamily="34" charset="-122"/>
                <a:cs typeface="Quicksand" pitchFamily="34" charset="-120"/>
              </a:rPr>
              <a:t>Record the outcome → use experience → choose a different future action.</a:t>
            </a:r>
            <a:endParaRPr lang="en-US" sz="17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AF9F6"/>
        </a:solidFill>
      </p:bgPr>
    </p:bg>
    <p:spTree>
      <p:nvGrpSpPr>
        <p:cNvPr id="1" name=""/>
        <p:cNvGrpSpPr/>
        <p:nvPr/>
      </p:nvGrpSpPr>
      <p:grpSpPr>
        <a:xfrm>
          <a:off x="0" y="0"/>
          <a:ext cx="0" cy="0"/>
          <a:chOff x="0" y="0"/>
          <a:chExt cx="0" cy="0"/>
        </a:xfrm>
      </p:grpSpPr>
      <p:sp>
        <p:nvSpPr>
          <p:cNvPr id="2" name="Text 0"/>
          <p:cNvSpPr txBox="1"/>
          <p:nvPr/>
        </p:nvSpPr>
        <p:spPr>
          <a:xfrm>
            <a:off x="594360" y="301752"/>
            <a:ext cx="10424160" cy="274320"/>
          </a:xfrm>
          <a:prstGeom prst="rect">
            <a:avLst/>
          </a:prstGeom>
          <a:noFill/>
          <a:ln/>
        </p:spPr>
        <p:txBody>
          <a:bodyPr wrap="square" lIns="0" tIns="0" rIns="0" bIns="0" rtlCol="0" anchor="t"/>
          <a:lstStyle/>
          <a:p>
            <a:pPr indent="0" marL="0">
              <a:buNone/>
            </a:pPr>
            <a:r>
              <a:rPr lang="en-US" sz="1100" b="1" spc="200" kern="0" dirty="0">
                <a:solidFill>
                  <a:srgbClr val="494985"/>
                </a:solidFill>
                <a:latin typeface="Quicksand" pitchFamily="34" charset="0"/>
                <a:ea typeface="Quicksand" pitchFamily="34" charset="-122"/>
                <a:cs typeface="Quicksand" pitchFamily="34" charset="-120"/>
              </a:rPr>
              <a:t>CHECK UNDERSTANDING · PAIRS</a:t>
            </a:r>
            <a:endParaRPr lang="en-US" sz="1100" dirty="0"/>
          </a:p>
        </p:txBody>
      </p:sp>
      <p:sp>
        <p:nvSpPr>
          <p:cNvPr id="3" name="Text 1"/>
          <p:cNvSpPr txBox="1"/>
          <p:nvPr/>
        </p:nvSpPr>
        <p:spPr>
          <a:xfrm>
            <a:off x="594360" y="822960"/>
            <a:ext cx="10972800" cy="640080"/>
          </a:xfrm>
          <a:prstGeom prst="rect">
            <a:avLst/>
          </a:prstGeom>
          <a:noFill/>
          <a:ln/>
        </p:spPr>
        <p:txBody>
          <a:bodyPr wrap="square" lIns="0" tIns="0" rIns="0" bIns="0" rtlCol="0" anchor="t"/>
          <a:lstStyle/>
          <a:p>
            <a:pPr indent="0" marL="0">
              <a:buNone/>
            </a:pPr>
            <a:r>
              <a:rPr lang="en-US" sz="3200" b="1" dirty="0">
                <a:solidFill>
                  <a:srgbClr val="252341"/>
                </a:solidFill>
                <a:latin typeface="Quicksand" pitchFamily="34" charset="0"/>
                <a:ea typeface="Quicksand" pitchFamily="34" charset="-122"/>
                <a:cs typeface="Quicksand" pitchFamily="34" charset="-120"/>
              </a:rPr>
              <a:t>Explain the behaviour, not the gadget</a:t>
            </a:r>
            <a:endParaRPr lang="en-US" sz="3200" dirty="0"/>
          </a:p>
        </p:txBody>
      </p:sp>
      <p:sp>
        <p:nvSpPr>
          <p:cNvPr id="4" name="Shape 2"/>
          <p:cNvSpPr/>
          <p:nvPr/>
        </p:nvSpPr>
        <p:spPr>
          <a:xfrm>
            <a:off x="594360" y="6355080"/>
            <a:ext cx="10972800" cy="0"/>
          </a:xfrm>
          <a:prstGeom prst="line">
            <a:avLst/>
          </a:prstGeom>
          <a:noFill/>
          <a:ln w="8890">
            <a:solidFill>
              <a:srgbClr val="DDDBE5"/>
            </a:solidFill>
            <a:prstDash val="solid"/>
          </a:ln>
        </p:spPr>
      </p:sp>
      <p:sp>
        <p:nvSpPr>
          <p:cNvPr id="5" name="Text 3"/>
          <p:cNvSpPr txBox="1"/>
          <p:nvPr/>
        </p:nvSpPr>
        <p:spPr>
          <a:xfrm>
            <a:off x="594360" y="6473952"/>
            <a:ext cx="5486400" cy="164592"/>
          </a:xfrm>
          <a:prstGeom prst="rect">
            <a:avLst/>
          </a:prstGeom>
          <a:noFill/>
          <a:ln/>
        </p:spPr>
        <p:txBody>
          <a:bodyPr wrap="square" lIns="0" tIns="0" rIns="0" bIns="0" rtlCol="0" anchor="t"/>
          <a:lstStyle/>
          <a:p>
            <a:pPr indent="0" marL="0">
              <a:buNone/>
            </a:pPr>
            <a:r>
              <a:rPr lang="en-US" sz="800" dirty="0">
                <a:solidFill>
                  <a:srgbClr val="777584"/>
                </a:solidFill>
                <a:latin typeface="Quicksand" pitchFamily="34" charset="0"/>
                <a:ea typeface="Quicksand" pitchFamily="34" charset="-122"/>
                <a:cs typeface="Quicksand" pitchFamily="34" charset="-120"/>
              </a:rPr>
              <a:t>IGCSE 0478  /  ARTIFICIAL INTELLIGENCE</a:t>
            </a:r>
            <a:endParaRPr lang="en-US" sz="800" dirty="0"/>
          </a:p>
        </p:txBody>
      </p:sp>
      <p:sp>
        <p:nvSpPr>
          <p:cNvPr id="6" name="Text 4"/>
          <p:cNvSpPr txBox="1"/>
          <p:nvPr/>
        </p:nvSpPr>
        <p:spPr>
          <a:xfrm>
            <a:off x="11018520" y="6419088"/>
            <a:ext cx="530352" cy="228600"/>
          </a:xfrm>
          <a:prstGeom prst="rect">
            <a:avLst/>
          </a:prstGeom>
          <a:noFill/>
          <a:ln/>
        </p:spPr>
        <p:txBody>
          <a:bodyPr wrap="square" lIns="0" tIns="0" rIns="0" bIns="0" rtlCol="0" anchor="t"/>
          <a:lstStyle/>
          <a:p>
            <a:pPr algn="r" indent="0" marL="0">
              <a:buNone/>
            </a:pPr>
            <a:r>
              <a:rPr lang="en-US" sz="1100" dirty="0">
                <a:solidFill>
                  <a:srgbClr val="777584"/>
                </a:solidFill>
                <a:latin typeface="Quicksand" pitchFamily="34" charset="0"/>
                <a:ea typeface="Quicksand" pitchFamily="34" charset="-122"/>
                <a:cs typeface="Quicksand" pitchFamily="34" charset="-120"/>
              </a:rPr>
              <a:t>15</a:t>
            </a:r>
            <a:endParaRPr lang="en-US" sz="1100" dirty="0"/>
          </a:p>
        </p:txBody>
      </p:sp>
      <p:pic>
        <p:nvPicPr>
          <p:cNvPr id="8" name="Image 0" descr="Modern British LED Traffic Light.jpg">    </p:cNvPr>
          <p:cNvPicPr>
            <a:picLocks noChangeAspect="1"/>
          </p:cNvPicPr>
          <p:nvPr/>
        </p:nvPicPr>
        <p:blipFill>
          <a:blip r:embed="rId1"/>
          <a:stretch>
            <a:fillRect/>
          </a:stretch>
        </p:blipFill>
        <p:spPr>
          <a:xfrm>
            <a:off x="931545" y="1783080"/>
            <a:ext cx="2160270" cy="2880360"/>
          </a:xfrm>
          <a:prstGeom prst="rect">
            <a:avLst/>
          </a:prstGeom>
        </p:spPr>
      </p:pic>
      <p:sp>
        <p:nvSpPr>
          <p:cNvPr id="9" name="Text 5"/>
          <p:cNvSpPr txBox="1"/>
          <p:nvPr/>
        </p:nvSpPr>
        <p:spPr>
          <a:xfrm>
            <a:off x="931545" y="4727448"/>
            <a:ext cx="2160270" cy="246888"/>
          </a:xfrm>
          <a:prstGeom prst="rect">
            <a:avLst/>
          </a:prstGeom>
          <a:noFill/>
          <a:ln/>
        </p:spPr>
        <p:txBody>
          <a:bodyPr wrap="square" lIns="0" tIns="0" rIns="0" bIns="0" rtlCol="0" anchor="t"/>
          <a:lstStyle/>
          <a:p>
            <a:pPr indent="0" marL="0">
              <a:buNone/>
            </a:pPr>
            <a:r>
              <a:rPr lang="en-US" sz="900" dirty="0">
                <a:solidFill>
                  <a:srgbClr val="777584"/>
                </a:solidFill>
                <a:latin typeface="Quicksand" pitchFamily="34" charset="0"/>
                <a:ea typeface="Quicksand" pitchFamily="34" charset="-122"/>
                <a:cs typeface="Quicksand" pitchFamily="34" charset="-120"/>
              </a:rPr>
              <a:t>Unisouth · CC BY 3.0</a:t>
            </a:r>
            <a:endParaRPr lang="en-US" sz="900" dirty="0"/>
          </a:p>
        </p:txBody>
      </p:sp>
      <p:pic>
        <p:nvPicPr>
          <p:cNvPr id="11" name="Image 1" descr="NOAA weather station at Wake Island harbor.jpg">    </p:cNvPr>
          <p:cNvPicPr>
            <a:picLocks noChangeAspect="1"/>
          </p:cNvPicPr>
          <p:nvPr/>
        </p:nvPicPr>
        <p:blipFill>
          <a:blip r:embed="rId2"/>
          <a:stretch>
            <a:fillRect/>
          </a:stretch>
        </p:blipFill>
        <p:spPr>
          <a:xfrm>
            <a:off x="4053078" y="1783080"/>
            <a:ext cx="2592324" cy="2880360"/>
          </a:xfrm>
          <a:prstGeom prst="rect">
            <a:avLst/>
          </a:prstGeom>
        </p:spPr>
      </p:pic>
      <p:sp>
        <p:nvSpPr>
          <p:cNvPr id="12" name="Text 6"/>
          <p:cNvSpPr txBox="1"/>
          <p:nvPr/>
        </p:nvSpPr>
        <p:spPr>
          <a:xfrm>
            <a:off x="4053078" y="4727448"/>
            <a:ext cx="2592324" cy="246888"/>
          </a:xfrm>
          <a:prstGeom prst="rect">
            <a:avLst/>
          </a:prstGeom>
          <a:noFill/>
          <a:ln/>
        </p:spPr>
        <p:txBody>
          <a:bodyPr wrap="square" lIns="0" tIns="0" rIns="0" bIns="0" rtlCol="0" anchor="t"/>
          <a:lstStyle/>
          <a:p>
            <a:pPr indent="0" marL="0">
              <a:buNone/>
            </a:pPr>
            <a:r>
              <a:rPr lang="en-US" sz="900" dirty="0">
                <a:solidFill>
                  <a:srgbClr val="777584"/>
                </a:solidFill>
                <a:latin typeface="Quicksand" pitchFamily="34" charset="0"/>
                <a:ea typeface="Quicksand" pitchFamily="34" charset="-122"/>
                <a:cs typeface="Quicksand" pitchFamily="34" charset="-120"/>
              </a:rPr>
              <a:t>NOAA / US government · Public domain</a:t>
            </a:r>
            <a:endParaRPr lang="en-US" sz="900" dirty="0"/>
          </a:p>
        </p:txBody>
      </p:sp>
      <p:sp>
        <p:nvSpPr>
          <p:cNvPr id="14" name="Text 7"/>
          <p:cNvSpPr txBox="1"/>
          <p:nvPr/>
        </p:nvSpPr>
        <p:spPr>
          <a:xfrm>
            <a:off x="594360" y="5029200"/>
            <a:ext cx="2834640" cy="777240"/>
          </a:xfrm>
          <a:prstGeom prst="rect">
            <a:avLst/>
          </a:prstGeom>
          <a:noFill/>
          <a:ln/>
        </p:spPr>
        <p:txBody>
          <a:bodyPr wrap="square" lIns="0" tIns="0" rIns="0" bIns="0" rtlCol="0" anchor="t"/>
          <a:lstStyle/>
          <a:p>
            <a:pPr algn="ctr" indent="0" marL="0">
              <a:buNone/>
            </a:pPr>
            <a:r>
              <a:rPr lang="en-US" sz="1900" b="1" dirty="0">
                <a:solidFill>
                  <a:srgbClr val="252341"/>
                </a:solidFill>
                <a:latin typeface="Quicksand" pitchFamily="34" charset="0"/>
                <a:ea typeface="Quicksand" pitchFamily="34" charset="-122"/>
                <a:cs typeface="Quicksand" pitchFamily="34" charset="-120"/>
              </a:rPr>
              <a:t>A  Repeats a fixed</a:t>
            </a:r>
            <a:endParaRPr lang="en-US" sz="1900" dirty="0"/>
          </a:p>
          <a:p>
            <a:pPr algn="ctr" indent="0" marL="0">
              <a:buNone/>
            </a:pPr>
            <a:r>
              <a:rPr lang="en-US" sz="1900" b="1" dirty="0">
                <a:solidFill>
                  <a:srgbClr val="252341"/>
                </a:solidFill>
                <a:latin typeface="Quicksand" pitchFamily="34" charset="0"/>
                <a:ea typeface="Quicksand" pitchFamily="34" charset="-122"/>
                <a:cs typeface="Quicksand" pitchFamily="34" charset="-120"/>
              </a:rPr>
              <a:t>red–amber–green cycle.</a:t>
            </a:r>
            <a:endParaRPr lang="en-US" sz="1900" dirty="0"/>
          </a:p>
        </p:txBody>
      </p:sp>
      <p:sp>
        <p:nvSpPr>
          <p:cNvPr id="15" name="Text 8"/>
          <p:cNvSpPr txBox="1"/>
          <p:nvPr/>
        </p:nvSpPr>
        <p:spPr>
          <a:xfrm>
            <a:off x="3931920" y="5029200"/>
            <a:ext cx="2834640" cy="777240"/>
          </a:xfrm>
          <a:prstGeom prst="rect">
            <a:avLst/>
          </a:prstGeom>
          <a:noFill/>
          <a:ln/>
        </p:spPr>
        <p:txBody>
          <a:bodyPr wrap="square" lIns="0" tIns="0" rIns="0" bIns="0" rtlCol="0" anchor="t"/>
          <a:lstStyle/>
          <a:p>
            <a:pPr algn="ctr" indent="0" marL="0">
              <a:buNone/>
            </a:pPr>
            <a:r>
              <a:rPr lang="en-US" sz="1900" b="1" dirty="0">
                <a:solidFill>
                  <a:srgbClr val="252341"/>
                </a:solidFill>
                <a:latin typeface="Quicksand" pitchFamily="34" charset="0"/>
                <a:ea typeface="Quicksand" pitchFamily="34" charset="-122"/>
                <a:cs typeface="Quicksand" pitchFamily="34" charset="-120"/>
              </a:rPr>
              <a:t>B  Learns seasonal patterns</a:t>
            </a:r>
            <a:endParaRPr lang="en-US" sz="1900" dirty="0"/>
          </a:p>
          <a:p>
            <a:pPr algn="ctr" indent="0" marL="0">
              <a:buNone/>
            </a:pPr>
            <a:r>
              <a:rPr lang="en-US" sz="1900" b="1" dirty="0">
                <a:solidFill>
                  <a:srgbClr val="252341"/>
                </a:solidFill>
                <a:latin typeface="Quicksand" pitchFamily="34" charset="0"/>
                <a:ea typeface="Quicksand" pitchFamily="34" charset="-122"/>
                <a:cs typeface="Quicksand" pitchFamily="34" charset="-120"/>
              </a:rPr>
              <a:t>to predict tomorrow’s weather.</a:t>
            </a:r>
            <a:endParaRPr lang="en-US" sz="1900" dirty="0"/>
          </a:p>
        </p:txBody>
      </p:sp>
      <p:sp>
        <p:nvSpPr>
          <p:cNvPr id="16" name="Text 9"/>
          <p:cNvSpPr txBox="1"/>
          <p:nvPr/>
        </p:nvSpPr>
        <p:spPr>
          <a:xfrm>
            <a:off x="7543800" y="2103120"/>
            <a:ext cx="3749040" cy="1737360"/>
          </a:xfrm>
          <a:prstGeom prst="rect">
            <a:avLst/>
          </a:prstGeom>
          <a:noFill/>
          <a:ln/>
        </p:spPr>
        <p:txBody>
          <a:bodyPr wrap="square" lIns="0" tIns="0" rIns="0" bIns="0" rtlCol="0" anchor="t"/>
          <a:lstStyle/>
          <a:p>
            <a:pPr indent="0" marL="0">
              <a:buNone/>
            </a:pPr>
            <a:r>
              <a:rPr lang="en-US" sz="2900" b="1" dirty="0">
                <a:solidFill>
                  <a:srgbClr val="252341"/>
                </a:solidFill>
                <a:latin typeface="Quicksand" pitchFamily="34" charset="0"/>
                <a:ea typeface="Quicksand" pitchFamily="34" charset="-122"/>
                <a:cs typeface="Quicksand" pitchFamily="34" charset="-120"/>
              </a:rPr>
              <a:t>Automation?</a:t>
            </a:r>
            <a:endParaRPr lang="en-US" sz="2900" dirty="0"/>
          </a:p>
          <a:p>
            <a:pPr indent="0" marL="0">
              <a:buNone/>
            </a:pPr>
            <a:r>
              <a:rPr lang="en-US" sz="2900" b="1" dirty="0">
                <a:solidFill>
                  <a:srgbClr val="252341"/>
                </a:solidFill>
                <a:latin typeface="Quicksand" pitchFamily="34" charset="0"/>
                <a:ea typeface="Quicksand" pitchFamily="34" charset="-122"/>
                <a:cs typeface="Quicksand" pitchFamily="34" charset="-120"/>
              </a:rPr>
              <a:t>AI?</a:t>
            </a:r>
            <a:endParaRPr lang="en-US" sz="2900" dirty="0"/>
          </a:p>
          <a:p>
            <a:pPr indent="0" marL="0">
              <a:buNone/>
            </a:pPr>
            <a:r>
              <a:rPr lang="en-US" sz="2900" b="1" dirty="0">
                <a:solidFill>
                  <a:srgbClr val="252341"/>
                </a:solidFill>
                <a:latin typeface="Quicksand" pitchFamily="34" charset="0"/>
                <a:ea typeface="Quicksand" pitchFamily="34" charset="-122"/>
                <a:cs typeface="Quicksand" pitchFamily="34" charset="-120"/>
              </a:rPr>
              <a:t>Machine learning?</a:t>
            </a:r>
            <a:endParaRPr lang="en-US" sz="2900" dirty="0"/>
          </a:p>
        </p:txBody>
      </p:sp>
      <p:sp>
        <p:nvSpPr>
          <p:cNvPr id="17" name="Text 10"/>
          <p:cNvSpPr txBox="1"/>
          <p:nvPr/>
        </p:nvSpPr>
        <p:spPr>
          <a:xfrm>
            <a:off x="7543800" y="4114800"/>
            <a:ext cx="3749040" cy="1097280"/>
          </a:xfrm>
          <a:prstGeom prst="rect">
            <a:avLst/>
          </a:prstGeom>
          <a:noFill/>
          <a:ln/>
        </p:spPr>
        <p:txBody>
          <a:bodyPr wrap="square" lIns="0" tIns="0" rIns="0" bIns="0" rtlCol="0" anchor="t"/>
          <a:lstStyle/>
          <a:p>
            <a:pPr indent="0" marL="0">
              <a:buNone/>
            </a:pPr>
            <a:r>
              <a:rPr lang="en-US" sz="2300" dirty="0">
                <a:solidFill>
                  <a:srgbClr val="252341"/>
                </a:solidFill>
                <a:latin typeface="Quicksand" pitchFamily="34" charset="0"/>
                <a:ea typeface="Quicksand" pitchFamily="34" charset="-122"/>
                <a:cs typeface="Quicksand" pitchFamily="34" charset="-120"/>
              </a:rPr>
              <a:t>Explain what in the</a:t>
            </a:r>
            <a:endParaRPr lang="en-US" sz="2300" dirty="0"/>
          </a:p>
          <a:p>
            <a:pPr indent="0" marL="0">
              <a:buNone/>
            </a:pPr>
            <a:r>
              <a:rPr lang="en-US" sz="2300" dirty="0">
                <a:solidFill>
                  <a:srgbClr val="252341"/>
                </a:solidFill>
                <a:latin typeface="Quicksand" pitchFamily="34" charset="0"/>
                <a:ea typeface="Quicksand" pitchFamily="34" charset="-122"/>
                <a:cs typeface="Quicksand" pitchFamily="34" charset="-120"/>
              </a:rPr>
              <a:t>description supports</a:t>
            </a:r>
            <a:endParaRPr lang="en-US" sz="2300" dirty="0"/>
          </a:p>
          <a:p>
            <a:pPr indent="0" marL="0">
              <a:buNone/>
            </a:pPr>
            <a:r>
              <a:rPr lang="en-US" sz="2300" dirty="0">
                <a:solidFill>
                  <a:srgbClr val="252341"/>
                </a:solidFill>
                <a:latin typeface="Quicksand" pitchFamily="34" charset="0"/>
                <a:ea typeface="Quicksand" pitchFamily="34" charset="-122"/>
                <a:cs typeface="Quicksand" pitchFamily="34" charset="-120"/>
              </a:rPr>
              <a:t>your choice.</a:t>
            </a:r>
            <a:endParaRPr lang="en-US" sz="23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AF9F6"/>
        </a:solidFill>
      </p:bgPr>
    </p:bg>
    <p:spTree>
      <p:nvGrpSpPr>
        <p:cNvPr id="1" name=""/>
        <p:cNvGrpSpPr/>
        <p:nvPr/>
      </p:nvGrpSpPr>
      <p:grpSpPr>
        <a:xfrm>
          <a:off x="0" y="0"/>
          <a:ext cx="0" cy="0"/>
          <a:chOff x="0" y="0"/>
          <a:chExt cx="0" cy="0"/>
        </a:xfrm>
      </p:grpSpPr>
      <p:sp>
        <p:nvSpPr>
          <p:cNvPr id="2" name="Text 0"/>
          <p:cNvSpPr txBox="1"/>
          <p:nvPr/>
        </p:nvSpPr>
        <p:spPr>
          <a:xfrm>
            <a:off x="594360" y="301752"/>
            <a:ext cx="10424160" cy="274320"/>
          </a:xfrm>
          <a:prstGeom prst="rect">
            <a:avLst/>
          </a:prstGeom>
          <a:noFill/>
          <a:ln/>
        </p:spPr>
        <p:txBody>
          <a:bodyPr wrap="square" lIns="0" tIns="0" rIns="0" bIns="0" rtlCol="0" anchor="t"/>
          <a:lstStyle/>
          <a:p>
            <a:pPr indent="0" marL="0">
              <a:buNone/>
            </a:pPr>
            <a:r>
              <a:rPr lang="en-US" sz="1100" b="1" spc="200" kern="0" dirty="0">
                <a:solidFill>
                  <a:srgbClr val="494985"/>
                </a:solidFill>
                <a:latin typeface="Quicksand" pitchFamily="34" charset="0"/>
                <a:ea typeface="Quicksand" pitchFamily="34" charset="-122"/>
                <a:cs typeface="Quicksand" pitchFamily="34" charset="-120"/>
              </a:rPr>
              <a:t>CONSOLIDATE · CONNECT THE IDEAS</a:t>
            </a:r>
            <a:endParaRPr lang="en-US" sz="1100" dirty="0"/>
          </a:p>
        </p:txBody>
      </p:sp>
      <p:sp>
        <p:nvSpPr>
          <p:cNvPr id="3" name="Text 1"/>
          <p:cNvSpPr txBox="1"/>
          <p:nvPr/>
        </p:nvSpPr>
        <p:spPr>
          <a:xfrm>
            <a:off x="594360" y="822960"/>
            <a:ext cx="10972800" cy="640080"/>
          </a:xfrm>
          <a:prstGeom prst="rect">
            <a:avLst/>
          </a:prstGeom>
          <a:noFill/>
          <a:ln/>
        </p:spPr>
        <p:txBody>
          <a:bodyPr wrap="square" lIns="0" tIns="0" rIns="0" bIns="0" rtlCol="0" anchor="t"/>
          <a:lstStyle/>
          <a:p>
            <a:pPr indent="0" marL="0">
              <a:buNone/>
            </a:pPr>
            <a:r>
              <a:rPr lang="en-US" sz="3200" b="1" dirty="0">
                <a:solidFill>
                  <a:srgbClr val="252341"/>
                </a:solidFill>
                <a:latin typeface="Quicksand" pitchFamily="34" charset="0"/>
                <a:ea typeface="Quicksand" pitchFamily="34" charset="-122"/>
                <a:cs typeface="Quicksand" pitchFamily="34" charset="-120"/>
              </a:rPr>
              <a:t>Two approaches that can work together</a:t>
            </a:r>
            <a:endParaRPr lang="en-US" sz="3200" dirty="0"/>
          </a:p>
        </p:txBody>
      </p:sp>
      <p:sp>
        <p:nvSpPr>
          <p:cNvPr id="4" name="Shape 2"/>
          <p:cNvSpPr/>
          <p:nvPr/>
        </p:nvSpPr>
        <p:spPr>
          <a:xfrm>
            <a:off x="594360" y="6355080"/>
            <a:ext cx="10972800" cy="0"/>
          </a:xfrm>
          <a:prstGeom prst="line">
            <a:avLst/>
          </a:prstGeom>
          <a:noFill/>
          <a:ln w="8890">
            <a:solidFill>
              <a:srgbClr val="DDDBE5"/>
            </a:solidFill>
            <a:prstDash val="solid"/>
          </a:ln>
        </p:spPr>
      </p:sp>
      <p:sp>
        <p:nvSpPr>
          <p:cNvPr id="5" name="Text 3"/>
          <p:cNvSpPr txBox="1"/>
          <p:nvPr/>
        </p:nvSpPr>
        <p:spPr>
          <a:xfrm>
            <a:off x="594360" y="6473952"/>
            <a:ext cx="5486400" cy="164592"/>
          </a:xfrm>
          <a:prstGeom prst="rect">
            <a:avLst/>
          </a:prstGeom>
          <a:noFill/>
          <a:ln/>
        </p:spPr>
        <p:txBody>
          <a:bodyPr wrap="square" lIns="0" tIns="0" rIns="0" bIns="0" rtlCol="0" anchor="t"/>
          <a:lstStyle/>
          <a:p>
            <a:pPr indent="0" marL="0">
              <a:buNone/>
            </a:pPr>
            <a:r>
              <a:rPr lang="en-US" sz="800" dirty="0">
                <a:solidFill>
                  <a:srgbClr val="777584"/>
                </a:solidFill>
                <a:latin typeface="Quicksand" pitchFamily="34" charset="0"/>
                <a:ea typeface="Quicksand" pitchFamily="34" charset="-122"/>
                <a:cs typeface="Quicksand" pitchFamily="34" charset="-120"/>
              </a:rPr>
              <a:t>IGCSE 0478  /  ARTIFICIAL INTELLIGENCE</a:t>
            </a:r>
            <a:endParaRPr lang="en-US" sz="800" dirty="0"/>
          </a:p>
        </p:txBody>
      </p:sp>
      <p:sp>
        <p:nvSpPr>
          <p:cNvPr id="6" name="Text 4"/>
          <p:cNvSpPr txBox="1"/>
          <p:nvPr/>
        </p:nvSpPr>
        <p:spPr>
          <a:xfrm>
            <a:off x="11018520" y="6419088"/>
            <a:ext cx="530352" cy="228600"/>
          </a:xfrm>
          <a:prstGeom prst="rect">
            <a:avLst/>
          </a:prstGeom>
          <a:noFill/>
          <a:ln/>
        </p:spPr>
        <p:txBody>
          <a:bodyPr wrap="square" lIns="0" tIns="0" rIns="0" bIns="0" rtlCol="0" anchor="t"/>
          <a:lstStyle/>
          <a:p>
            <a:pPr algn="r" indent="0" marL="0">
              <a:buNone/>
            </a:pPr>
            <a:r>
              <a:rPr lang="en-US" sz="1100" dirty="0">
                <a:solidFill>
                  <a:srgbClr val="777584"/>
                </a:solidFill>
                <a:latin typeface="Quicksand" pitchFamily="34" charset="0"/>
                <a:ea typeface="Quicksand" pitchFamily="34" charset="-122"/>
                <a:cs typeface="Quicksand" pitchFamily="34" charset="-120"/>
              </a:rPr>
              <a:t>16</a:t>
            </a:r>
            <a:endParaRPr lang="en-US" sz="11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94360" y="1783080"/>
          <a:ext cx="10972800" cy="914400"/>
        </p:xfrm>
        <a:graphic>
          <a:graphicData uri="http://schemas.openxmlformats.org/drawingml/2006/table">
            <a:tbl>
              <a:tblPr/>
              <a:tblGrid>
                <a:gridCol w="5486400"/>
                <a:gridCol w="5486400"/>
              </a:tblGrid>
              <a:tr h="758952">
                <a:tc>
                  <a:txBody>
                    <a:bodyPr/>
                    <a:lstStyle/>
                    <a:p>
                      <a:pPr indent="0" marL="0">
                        <a:buNone/>
                      </a:pPr>
                      <a:r>
                        <a:rPr lang="en-US" sz="2150" b="1" dirty="0">
                          <a:solidFill>
                            <a:srgbClr val="FFFFFF"/>
                          </a:solidFill>
                          <a:latin typeface="Quicksand" pitchFamily="34" charset="0"/>
                          <a:ea typeface="Quicksand" pitchFamily="34" charset="-122"/>
                          <a:cs typeface="Quicksand" pitchFamily="34" charset="-120"/>
                        </a:rPr>
                        <a:t>Expert system</a:t>
                      </a:r>
                      <a:endParaRPr lang="en-US" sz="2150" dirty="0">
                        <a:latin typeface="Quicksand" charset="0"/>
                        <a:ea typeface="Quicksand" charset="0"/>
                        <a:cs typeface="Quicksand" charset="0"/>
                      </a:endParaRPr>
                    </a:p>
                  </a:txBody>
                  <a:tcPr marL="91440" marR="91440"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494985"/>
                    </a:solidFill>
                  </a:tcPr>
                </a:tc>
                <a:tc>
                  <a:txBody>
                    <a:bodyPr/>
                    <a:lstStyle/>
                    <a:p>
                      <a:pPr indent="0" marL="0">
                        <a:buNone/>
                      </a:pPr>
                      <a:r>
                        <a:rPr lang="en-US" sz="2150" b="1" dirty="0">
                          <a:solidFill>
                            <a:srgbClr val="FFFFFF"/>
                          </a:solidFill>
                          <a:latin typeface="Quicksand" pitchFamily="34" charset="0"/>
                          <a:ea typeface="Quicksand" pitchFamily="34" charset="-122"/>
                          <a:cs typeface="Quicksand" pitchFamily="34" charset="-120"/>
                        </a:rPr>
                        <a:t>Machine learning</a:t>
                      </a:r>
                      <a:endParaRPr lang="en-US" sz="2150" dirty="0">
                        <a:latin typeface="Quicksand" charset="0"/>
                        <a:ea typeface="Quicksand" charset="0"/>
                        <a:cs typeface="Quicksand" charset="0"/>
                      </a:endParaRPr>
                    </a:p>
                  </a:txBody>
                  <a:tcPr marL="91440" marR="91440"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494985"/>
                    </a:solidFill>
                  </a:tcPr>
                </a:tc>
              </a:tr>
              <a:tr h="758952">
                <a:tc>
                  <a:txBody>
                    <a:bodyPr/>
                    <a:lstStyle/>
                    <a:p>
                      <a:pPr indent="0" marL="0">
                        <a:buNone/>
                      </a:pPr>
                      <a:r>
                        <a:rPr lang="en-US" sz="2100" dirty="0">
                          <a:solidFill>
                            <a:srgbClr val="202124"/>
                          </a:solidFill>
                          <a:latin typeface="Quicksand" pitchFamily="34" charset="0"/>
                          <a:ea typeface="Quicksand" pitchFamily="34" charset="-122"/>
                          <a:cs typeface="Quicksand" pitchFamily="34" charset="-120"/>
                        </a:rPr>
                        <a:t>Expert facts and explicit IF–THEN rules</a:t>
                      </a:r>
                      <a:endParaRPr lang="en-US" sz="2100" dirty="0">
                        <a:latin typeface="Quicksand" charset="0"/>
                        <a:ea typeface="Quicksand" charset="0"/>
                        <a:cs typeface="Quicksand" charset="0"/>
                      </a:endParaRPr>
                    </a:p>
                  </a:txBody>
                  <a:tcPr marL="91440" marR="91440"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6F5FC"/>
                    </a:solidFill>
                  </a:tcPr>
                </a:tc>
                <a:tc>
                  <a:txBody>
                    <a:bodyPr/>
                    <a:lstStyle/>
                    <a:p>
                      <a:pPr indent="0" marL="0">
                        <a:buNone/>
                      </a:pPr>
                      <a:r>
                        <a:rPr lang="en-US" sz="2100" dirty="0">
                          <a:solidFill>
                            <a:srgbClr val="202124"/>
                          </a:solidFill>
                          <a:latin typeface="Quicksand" pitchFamily="34" charset="0"/>
                          <a:ea typeface="Quicksand" pitchFamily="34" charset="-122"/>
                          <a:cs typeface="Quicksand" pitchFamily="34" charset="-120"/>
                        </a:rPr>
                        <a:t>Patterns learned from examples / experience</a:t>
                      </a:r>
                      <a:endParaRPr lang="en-US" sz="2100" dirty="0">
                        <a:latin typeface="Quicksand" charset="0"/>
                        <a:ea typeface="Quicksand" charset="0"/>
                        <a:cs typeface="Quicksand" charset="0"/>
                      </a:endParaRPr>
                    </a:p>
                  </a:txBody>
                  <a:tcPr marL="91440" marR="91440"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6F5FC"/>
                    </a:solidFill>
                  </a:tcPr>
                </a:tc>
              </a:tr>
              <a:tr h="758952">
                <a:tc>
                  <a:txBody>
                    <a:bodyPr/>
                    <a:lstStyle/>
                    <a:p>
                      <a:pPr indent="0" marL="0">
                        <a:buNone/>
                      </a:pPr>
                      <a:r>
                        <a:rPr lang="en-US" sz="2100" dirty="0">
                          <a:solidFill>
                            <a:srgbClr val="202124"/>
                          </a:solidFill>
                          <a:latin typeface="Quicksand" pitchFamily="34" charset="0"/>
                          <a:ea typeface="Quicksand" pitchFamily="34" charset="-122"/>
                          <a:cs typeface="Quicksand" pitchFamily="34" charset="-120"/>
                        </a:rPr>
                        <a:t>Engine applies rules to reach advice</a:t>
                      </a:r>
                      <a:endParaRPr lang="en-US" sz="2100" dirty="0">
                        <a:latin typeface="Quicksand" charset="0"/>
                        <a:ea typeface="Quicksand" charset="0"/>
                        <a:cs typeface="Quicksand" charset="0"/>
                      </a:endParaRPr>
                    </a:p>
                  </a:txBody>
                  <a:tcPr marL="91440" marR="91440"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indent="0" marL="0">
                        <a:buNone/>
                      </a:pPr>
                      <a:r>
                        <a:rPr lang="en-US" sz="2100" dirty="0">
                          <a:solidFill>
                            <a:srgbClr val="202124"/>
                          </a:solidFill>
                          <a:latin typeface="Quicksand" pitchFamily="34" charset="0"/>
                          <a:ea typeface="Quicksand" pitchFamily="34" charset="-122"/>
                          <a:cs typeface="Quicksand" pitchFamily="34" charset="-120"/>
                        </a:rPr>
                        <a:t>Uses learned patterns to predict or decide</a:t>
                      </a:r>
                      <a:endParaRPr lang="en-US" sz="2100" dirty="0">
                        <a:latin typeface="Quicksand" charset="0"/>
                        <a:ea typeface="Quicksand" charset="0"/>
                        <a:cs typeface="Quicksand" charset="0"/>
                      </a:endParaRPr>
                    </a:p>
                  </a:txBody>
                  <a:tcPr marL="91440" marR="91440"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758952">
                <a:tc>
                  <a:txBody>
                    <a:bodyPr/>
                    <a:lstStyle/>
                    <a:p>
                      <a:pPr indent="0" marL="0">
                        <a:buNone/>
                      </a:pPr>
                      <a:r>
                        <a:rPr lang="en-US" sz="2100" dirty="0">
                          <a:solidFill>
                            <a:srgbClr val="202124"/>
                          </a:solidFill>
                          <a:latin typeface="Quicksand" pitchFamily="34" charset="0"/>
                          <a:ea typeface="Quicksand" pitchFamily="34" charset="-122"/>
                          <a:cs typeface="Quicksand" pitchFamily="34" charset="-120"/>
                        </a:rPr>
                        <a:t>Can operate with fixed expert knowledge</a:t>
                      </a:r>
                      <a:endParaRPr lang="en-US" sz="2100" dirty="0">
                        <a:latin typeface="Quicksand" charset="0"/>
                        <a:ea typeface="Quicksand" charset="0"/>
                        <a:cs typeface="Quicksand" charset="0"/>
                      </a:endParaRPr>
                    </a:p>
                  </a:txBody>
                  <a:tcPr marL="91440" marR="91440"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6F5FC"/>
                    </a:solidFill>
                  </a:tcPr>
                </a:tc>
                <a:tc>
                  <a:txBody>
                    <a:bodyPr/>
                    <a:lstStyle/>
                    <a:p>
                      <a:pPr indent="0" marL="0">
                        <a:buNone/>
                      </a:pPr>
                      <a:r>
                        <a:rPr lang="en-US" sz="2100" dirty="0">
                          <a:solidFill>
                            <a:srgbClr val="202124"/>
                          </a:solidFill>
                          <a:latin typeface="Quicksand" pitchFamily="34" charset="0"/>
                          <a:ea typeface="Quicksand" pitchFamily="34" charset="-122"/>
                          <a:cs typeface="Quicksand" pitchFamily="34" charset="-120"/>
                        </a:rPr>
                        <a:t>Can adapt data or processes through learning</a:t>
                      </a:r>
                      <a:endParaRPr lang="en-US" sz="2100" dirty="0">
                        <a:latin typeface="Quicksand" charset="0"/>
                        <a:ea typeface="Quicksand" charset="0"/>
                        <a:cs typeface="Quicksand" charset="0"/>
                      </a:endParaRPr>
                    </a:p>
                  </a:txBody>
                  <a:tcPr marL="91440" marR="91440"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6F5FC"/>
                    </a:solidFill>
                  </a:tcPr>
                </a:tc>
              </a:tr>
              <a:tr h="758952">
                <a:tc>
                  <a:txBody>
                    <a:bodyPr/>
                    <a:lstStyle/>
                    <a:p>
                      <a:pPr indent="0" marL="0">
                        <a:buNone/>
                      </a:pPr>
                      <a:r>
                        <a:rPr lang="en-US" sz="2100" dirty="0">
                          <a:solidFill>
                            <a:srgbClr val="202124"/>
                          </a:solidFill>
                          <a:latin typeface="Quicksand" pitchFamily="34" charset="0"/>
                          <a:ea typeface="Quicksand" pitchFamily="34" charset="-122"/>
                          <a:cs typeface="Quicksand" pitchFamily="34" charset="-120"/>
                        </a:rPr>
                        <a:t>A combined system can use BOTH approaches</a:t>
                      </a:r>
                      <a:endParaRPr lang="en-US" sz="2100" dirty="0">
                        <a:latin typeface="Quicksand" charset="0"/>
                        <a:ea typeface="Quicksand" charset="0"/>
                        <a:cs typeface="Quicksand" charset="0"/>
                      </a:endParaRPr>
                    </a:p>
                  </a:txBody>
                  <a:tcPr marL="91440" marR="91440"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indent="0" marL="0">
                        <a:buNone/>
                      </a:pPr>
                      <a:r>
                        <a:rPr lang="en-US" sz="2100" dirty="0">
                          <a:solidFill>
                            <a:srgbClr val="202124"/>
                          </a:solidFill>
                          <a:latin typeface="Quicksand" pitchFamily="34" charset="0"/>
                          <a:ea typeface="Quicksand" pitchFamily="34" charset="-122"/>
                          <a:cs typeface="Quicksand" pitchFamily="34" charset="-120"/>
                        </a:rPr>
                        <a:t>A system need not learn during every use</a:t>
                      </a:r>
                      <a:endParaRPr lang="en-US" sz="2100" dirty="0">
                        <a:latin typeface="Quicksand" charset="0"/>
                        <a:ea typeface="Quicksand" charset="0"/>
                        <a:cs typeface="Quicksand" charset="0"/>
                      </a:endParaRPr>
                    </a:p>
                  </a:txBody>
                  <a:tcPr marL="91440" marR="91440"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bl>
          </a:graphicData>
        </a:graphic>
      </p:graphicFrame>
      <p:sp>
        <p:nvSpPr>
          <p:cNvPr id="9" name="Text 5"/>
          <p:cNvSpPr txBox="1"/>
          <p:nvPr/>
        </p:nvSpPr>
        <p:spPr>
          <a:xfrm>
            <a:off x="594360" y="5650992"/>
            <a:ext cx="10972800" cy="384048"/>
          </a:xfrm>
          <a:prstGeom prst="rect">
            <a:avLst/>
          </a:prstGeom>
          <a:noFill/>
          <a:ln/>
        </p:spPr>
        <p:txBody>
          <a:bodyPr wrap="square" lIns="0" tIns="0" rIns="0" bIns="0" rtlCol="0" anchor="t"/>
          <a:lstStyle/>
          <a:p>
            <a:pPr indent="0" marL="0">
              <a:buNone/>
            </a:pPr>
            <a:r>
              <a:rPr lang="en-US" sz="1700" b="1" dirty="0">
                <a:solidFill>
                  <a:srgbClr val="494985"/>
                </a:solidFill>
                <a:latin typeface="Quicksand" pitchFamily="34" charset="0"/>
                <a:ea typeface="Quicksand" pitchFamily="34" charset="-122"/>
                <a:cs typeface="Quicksand" pitchFamily="34" charset="-120"/>
              </a:rPr>
              <a:t>Explain one difference, then give an example of how the approaches could be combined.</a:t>
            </a:r>
            <a:endParaRPr lang="en-US" sz="17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AF9F6"/>
        </a:solidFill>
      </p:bgPr>
    </p:bg>
    <p:spTree>
      <p:nvGrpSpPr>
        <p:cNvPr id="1" name=""/>
        <p:cNvGrpSpPr/>
        <p:nvPr/>
      </p:nvGrpSpPr>
      <p:grpSpPr>
        <a:xfrm>
          <a:off x="0" y="0"/>
          <a:ext cx="0" cy="0"/>
          <a:chOff x="0" y="0"/>
          <a:chExt cx="0" cy="0"/>
        </a:xfrm>
      </p:grpSpPr>
      <p:sp>
        <p:nvSpPr>
          <p:cNvPr id="2" name="Text 0"/>
          <p:cNvSpPr txBox="1"/>
          <p:nvPr/>
        </p:nvSpPr>
        <p:spPr>
          <a:xfrm>
            <a:off x="594360" y="301752"/>
            <a:ext cx="10424160" cy="274320"/>
          </a:xfrm>
          <a:prstGeom prst="rect">
            <a:avLst/>
          </a:prstGeom>
          <a:noFill/>
          <a:ln/>
        </p:spPr>
        <p:txBody>
          <a:bodyPr wrap="square" lIns="0" tIns="0" rIns="0" bIns="0" rtlCol="0" anchor="t"/>
          <a:lstStyle/>
          <a:p>
            <a:pPr indent="0" marL="0">
              <a:buNone/>
            </a:pPr>
            <a:r>
              <a:rPr lang="en-US" sz="1100" b="1" spc="200" kern="0" dirty="0">
                <a:solidFill>
                  <a:srgbClr val="494985"/>
                </a:solidFill>
                <a:latin typeface="Quicksand" pitchFamily="34" charset="0"/>
                <a:ea typeface="Quicksand" pitchFamily="34" charset="-122"/>
                <a:cs typeface="Quicksand" pitchFamily="34" charset="-120"/>
              </a:rPr>
              <a:t>CHECK UNDERSTANDING · INDIVIDUAL</a:t>
            </a:r>
            <a:endParaRPr lang="en-US" sz="1100" dirty="0"/>
          </a:p>
        </p:txBody>
      </p:sp>
      <p:sp>
        <p:nvSpPr>
          <p:cNvPr id="3" name="Text 1"/>
          <p:cNvSpPr txBox="1"/>
          <p:nvPr/>
        </p:nvSpPr>
        <p:spPr>
          <a:xfrm>
            <a:off x="594360" y="822960"/>
            <a:ext cx="10972800" cy="640080"/>
          </a:xfrm>
          <a:prstGeom prst="rect">
            <a:avLst/>
          </a:prstGeom>
          <a:noFill/>
          <a:ln/>
        </p:spPr>
        <p:txBody>
          <a:bodyPr wrap="square" lIns="0" tIns="0" rIns="0" bIns="0" rtlCol="0" anchor="t"/>
          <a:lstStyle/>
          <a:p>
            <a:pPr indent="0" marL="0">
              <a:buNone/>
            </a:pPr>
            <a:r>
              <a:rPr lang="en-US" sz="3200" b="1" dirty="0">
                <a:solidFill>
                  <a:srgbClr val="252341"/>
                </a:solidFill>
                <a:latin typeface="Quicksand" pitchFamily="34" charset="0"/>
                <a:ea typeface="Quicksand" pitchFamily="34" charset="-122"/>
                <a:cs typeface="Quicksand" pitchFamily="34" charset="-120"/>
              </a:rPr>
              <a:t>Ready to explain a new situation?</a:t>
            </a:r>
            <a:endParaRPr lang="en-US" sz="3200" dirty="0"/>
          </a:p>
        </p:txBody>
      </p:sp>
      <p:sp>
        <p:nvSpPr>
          <p:cNvPr id="4" name="Shape 2"/>
          <p:cNvSpPr/>
          <p:nvPr/>
        </p:nvSpPr>
        <p:spPr>
          <a:xfrm>
            <a:off x="594360" y="6355080"/>
            <a:ext cx="10972800" cy="0"/>
          </a:xfrm>
          <a:prstGeom prst="line">
            <a:avLst/>
          </a:prstGeom>
          <a:noFill/>
          <a:ln w="8890">
            <a:solidFill>
              <a:srgbClr val="DDDBE5"/>
            </a:solidFill>
            <a:prstDash val="solid"/>
          </a:ln>
        </p:spPr>
      </p:sp>
      <p:sp>
        <p:nvSpPr>
          <p:cNvPr id="5" name="Text 3"/>
          <p:cNvSpPr txBox="1"/>
          <p:nvPr/>
        </p:nvSpPr>
        <p:spPr>
          <a:xfrm>
            <a:off x="594360" y="6473952"/>
            <a:ext cx="5486400" cy="164592"/>
          </a:xfrm>
          <a:prstGeom prst="rect">
            <a:avLst/>
          </a:prstGeom>
          <a:noFill/>
          <a:ln/>
        </p:spPr>
        <p:txBody>
          <a:bodyPr wrap="square" lIns="0" tIns="0" rIns="0" bIns="0" rtlCol="0" anchor="t"/>
          <a:lstStyle/>
          <a:p>
            <a:pPr indent="0" marL="0">
              <a:buNone/>
            </a:pPr>
            <a:r>
              <a:rPr lang="en-US" sz="800" dirty="0">
                <a:solidFill>
                  <a:srgbClr val="777584"/>
                </a:solidFill>
                <a:latin typeface="Quicksand" pitchFamily="34" charset="0"/>
                <a:ea typeface="Quicksand" pitchFamily="34" charset="-122"/>
                <a:cs typeface="Quicksand" pitchFamily="34" charset="-120"/>
              </a:rPr>
              <a:t>IGCSE 0478  /  ARTIFICIAL INTELLIGENCE</a:t>
            </a:r>
            <a:endParaRPr lang="en-US" sz="800" dirty="0"/>
          </a:p>
        </p:txBody>
      </p:sp>
      <p:sp>
        <p:nvSpPr>
          <p:cNvPr id="6" name="Text 4"/>
          <p:cNvSpPr txBox="1"/>
          <p:nvPr/>
        </p:nvSpPr>
        <p:spPr>
          <a:xfrm>
            <a:off x="11018520" y="6419088"/>
            <a:ext cx="530352" cy="228600"/>
          </a:xfrm>
          <a:prstGeom prst="rect">
            <a:avLst/>
          </a:prstGeom>
          <a:noFill/>
          <a:ln/>
        </p:spPr>
        <p:txBody>
          <a:bodyPr wrap="square" lIns="0" tIns="0" rIns="0" bIns="0" rtlCol="0" anchor="t"/>
          <a:lstStyle/>
          <a:p>
            <a:pPr algn="r" indent="0" marL="0">
              <a:buNone/>
            </a:pPr>
            <a:r>
              <a:rPr lang="en-US" sz="1100" dirty="0">
                <a:solidFill>
                  <a:srgbClr val="777584"/>
                </a:solidFill>
                <a:latin typeface="Quicksand" pitchFamily="34" charset="0"/>
                <a:ea typeface="Quicksand" pitchFamily="34" charset="-122"/>
                <a:cs typeface="Quicksand" pitchFamily="34" charset="-120"/>
              </a:rPr>
              <a:t>17</a:t>
            </a:r>
            <a:endParaRPr lang="en-US" sz="1100" dirty="0"/>
          </a:p>
        </p:txBody>
      </p:sp>
      <p:sp>
        <p:nvSpPr>
          <p:cNvPr id="8" name="Text 5"/>
          <p:cNvSpPr txBox="1"/>
          <p:nvPr/>
        </p:nvSpPr>
        <p:spPr>
          <a:xfrm>
            <a:off x="731520" y="1920240"/>
            <a:ext cx="457200" cy="365760"/>
          </a:xfrm>
          <a:prstGeom prst="rect">
            <a:avLst/>
          </a:prstGeom>
          <a:noFill/>
          <a:ln/>
        </p:spPr>
        <p:txBody>
          <a:bodyPr wrap="square" lIns="0" tIns="0" rIns="0" bIns="0" rtlCol="0" anchor="t"/>
          <a:lstStyle/>
          <a:p>
            <a:pPr indent="0" marL="0">
              <a:buNone/>
            </a:pPr>
            <a:r>
              <a:rPr lang="en-US" sz="1600" b="1" dirty="0">
                <a:solidFill>
                  <a:srgbClr val="494985"/>
                </a:solidFill>
                <a:latin typeface="Quicksand" pitchFamily="34" charset="0"/>
                <a:ea typeface="Quicksand" pitchFamily="34" charset="-122"/>
                <a:cs typeface="Quicksand" pitchFamily="34" charset="-120"/>
              </a:rPr>
              <a:t>01</a:t>
            </a:r>
            <a:endParaRPr lang="en-US" sz="1600" dirty="0"/>
          </a:p>
        </p:txBody>
      </p:sp>
      <p:sp>
        <p:nvSpPr>
          <p:cNvPr id="9" name="Text 6"/>
          <p:cNvSpPr txBox="1"/>
          <p:nvPr/>
        </p:nvSpPr>
        <p:spPr>
          <a:xfrm>
            <a:off x="1371600" y="1906524"/>
            <a:ext cx="10012680" cy="914400"/>
          </a:xfrm>
          <a:prstGeom prst="rect">
            <a:avLst/>
          </a:prstGeom>
          <a:noFill/>
          <a:ln/>
        </p:spPr>
        <p:txBody>
          <a:bodyPr wrap="square" lIns="0" tIns="0" rIns="0" bIns="0" rtlCol="0" anchor="t"/>
          <a:lstStyle/>
          <a:p>
            <a:pPr indent="0" marL="0">
              <a:buNone/>
            </a:pPr>
            <a:r>
              <a:rPr lang="en-US" sz="2500" dirty="0">
                <a:solidFill>
                  <a:srgbClr val="252341"/>
                </a:solidFill>
                <a:latin typeface="Quicksand" pitchFamily="34" charset="0"/>
                <a:ea typeface="Quicksand" pitchFamily="34" charset="-122"/>
                <a:cs typeface="Quicksand" pitchFamily="34" charset="-120"/>
              </a:rPr>
              <a:t>Explain facts, rules and applying rules in your own words.</a:t>
            </a:r>
            <a:endParaRPr lang="en-US" sz="2500" dirty="0"/>
          </a:p>
        </p:txBody>
      </p:sp>
      <p:sp>
        <p:nvSpPr>
          <p:cNvPr id="10" name="Shape 7"/>
          <p:cNvSpPr/>
          <p:nvPr/>
        </p:nvSpPr>
        <p:spPr>
          <a:xfrm>
            <a:off x="1371600" y="2788920"/>
            <a:ext cx="10012680" cy="0"/>
          </a:xfrm>
          <a:prstGeom prst="line">
            <a:avLst/>
          </a:prstGeom>
          <a:noFill/>
          <a:ln w="8890">
            <a:solidFill>
              <a:srgbClr val="DDDBE5"/>
            </a:solidFill>
            <a:prstDash val="solid"/>
          </a:ln>
        </p:spPr>
      </p:sp>
      <p:sp>
        <p:nvSpPr>
          <p:cNvPr id="11" name="Text 8"/>
          <p:cNvSpPr txBox="1"/>
          <p:nvPr/>
        </p:nvSpPr>
        <p:spPr>
          <a:xfrm>
            <a:off x="731520" y="2944368"/>
            <a:ext cx="457200" cy="365760"/>
          </a:xfrm>
          <a:prstGeom prst="rect">
            <a:avLst/>
          </a:prstGeom>
          <a:noFill/>
          <a:ln/>
        </p:spPr>
        <p:txBody>
          <a:bodyPr wrap="square" lIns="0" tIns="0" rIns="0" bIns="0" rtlCol="0" anchor="t"/>
          <a:lstStyle/>
          <a:p>
            <a:pPr indent="0" marL="0">
              <a:buNone/>
            </a:pPr>
            <a:r>
              <a:rPr lang="en-US" sz="1600" b="1" dirty="0">
                <a:solidFill>
                  <a:srgbClr val="494985"/>
                </a:solidFill>
                <a:latin typeface="Quicksand" pitchFamily="34" charset="0"/>
                <a:ea typeface="Quicksand" pitchFamily="34" charset="-122"/>
                <a:cs typeface="Quicksand" pitchFamily="34" charset="-120"/>
              </a:rPr>
              <a:t>02</a:t>
            </a:r>
            <a:endParaRPr lang="en-US" sz="1600" dirty="0"/>
          </a:p>
        </p:txBody>
      </p:sp>
      <p:sp>
        <p:nvSpPr>
          <p:cNvPr id="12" name="Text 9"/>
          <p:cNvSpPr txBox="1"/>
          <p:nvPr/>
        </p:nvSpPr>
        <p:spPr>
          <a:xfrm>
            <a:off x="1371600" y="2930652"/>
            <a:ext cx="10012680" cy="914400"/>
          </a:xfrm>
          <a:prstGeom prst="rect">
            <a:avLst/>
          </a:prstGeom>
          <a:noFill/>
          <a:ln/>
        </p:spPr>
        <p:txBody>
          <a:bodyPr wrap="square" lIns="0" tIns="0" rIns="0" bIns="0" rtlCol="0" anchor="t"/>
          <a:lstStyle/>
          <a:p>
            <a:pPr indent="0" marL="0">
              <a:buNone/>
            </a:pPr>
            <a:r>
              <a:rPr lang="en-US" sz="2500" dirty="0">
                <a:solidFill>
                  <a:srgbClr val="252341"/>
                </a:solidFill>
                <a:latin typeface="Quicksand" pitchFamily="34" charset="0"/>
                <a:ea typeface="Quicksand" pitchFamily="34" charset="-122"/>
                <a:cs typeface="Quicksand" pitchFamily="34" charset="-120"/>
              </a:rPr>
              <a:t>Why can a fixed-rule expert system work without learning?</a:t>
            </a:r>
            <a:endParaRPr lang="en-US" sz="2500" dirty="0"/>
          </a:p>
        </p:txBody>
      </p:sp>
      <p:sp>
        <p:nvSpPr>
          <p:cNvPr id="13" name="Shape 10"/>
          <p:cNvSpPr/>
          <p:nvPr/>
        </p:nvSpPr>
        <p:spPr>
          <a:xfrm>
            <a:off x="1371600" y="3813048"/>
            <a:ext cx="10012680" cy="0"/>
          </a:xfrm>
          <a:prstGeom prst="line">
            <a:avLst/>
          </a:prstGeom>
          <a:noFill/>
          <a:ln w="8890">
            <a:solidFill>
              <a:srgbClr val="DDDBE5"/>
            </a:solidFill>
            <a:prstDash val="solid"/>
          </a:ln>
        </p:spPr>
      </p:sp>
      <p:sp>
        <p:nvSpPr>
          <p:cNvPr id="14" name="Text 11"/>
          <p:cNvSpPr txBox="1"/>
          <p:nvPr/>
        </p:nvSpPr>
        <p:spPr>
          <a:xfrm>
            <a:off x="731520" y="3968496"/>
            <a:ext cx="457200" cy="365760"/>
          </a:xfrm>
          <a:prstGeom prst="rect">
            <a:avLst/>
          </a:prstGeom>
          <a:noFill/>
          <a:ln/>
        </p:spPr>
        <p:txBody>
          <a:bodyPr wrap="square" lIns="0" tIns="0" rIns="0" bIns="0" rtlCol="0" anchor="t"/>
          <a:lstStyle/>
          <a:p>
            <a:pPr indent="0" marL="0">
              <a:buNone/>
            </a:pPr>
            <a:r>
              <a:rPr lang="en-US" sz="1600" b="1" dirty="0">
                <a:solidFill>
                  <a:srgbClr val="494985"/>
                </a:solidFill>
                <a:latin typeface="Quicksand" pitchFamily="34" charset="0"/>
                <a:ea typeface="Quicksand" pitchFamily="34" charset="-122"/>
                <a:cs typeface="Quicksand" pitchFamily="34" charset="-120"/>
              </a:rPr>
              <a:t>03</a:t>
            </a:r>
            <a:endParaRPr lang="en-US" sz="1600" dirty="0"/>
          </a:p>
        </p:txBody>
      </p:sp>
      <p:sp>
        <p:nvSpPr>
          <p:cNvPr id="15" name="Text 12"/>
          <p:cNvSpPr txBox="1"/>
          <p:nvPr/>
        </p:nvSpPr>
        <p:spPr>
          <a:xfrm>
            <a:off x="1371600" y="3954780"/>
            <a:ext cx="10012680" cy="914400"/>
          </a:xfrm>
          <a:prstGeom prst="rect">
            <a:avLst/>
          </a:prstGeom>
          <a:noFill/>
          <a:ln/>
        </p:spPr>
        <p:txBody>
          <a:bodyPr wrap="square" lIns="0" tIns="0" rIns="0" bIns="0" rtlCol="0" anchor="t"/>
          <a:lstStyle/>
          <a:p>
            <a:pPr indent="0" marL="0">
              <a:buNone/>
            </a:pPr>
            <a:r>
              <a:rPr lang="en-US" sz="2500" dirty="0">
                <a:solidFill>
                  <a:srgbClr val="252341"/>
                </a:solidFill>
                <a:latin typeface="Quicksand" pitchFamily="34" charset="0"/>
                <a:ea typeface="Quicksand" pitchFamily="34" charset="-122"/>
                <a:cs typeface="Quicksand" pitchFamily="34" charset="-120"/>
              </a:rPr>
              <a:t>A recycling camera misclassifies waste. What experience could help it improve?</a:t>
            </a:r>
            <a:endParaRPr lang="en-US" sz="2500" dirty="0"/>
          </a:p>
        </p:txBody>
      </p:sp>
      <p:sp>
        <p:nvSpPr>
          <p:cNvPr id="16" name="Text 13"/>
          <p:cNvSpPr txBox="1"/>
          <p:nvPr/>
        </p:nvSpPr>
        <p:spPr>
          <a:xfrm>
            <a:off x="594360" y="5650992"/>
            <a:ext cx="10972800" cy="384048"/>
          </a:xfrm>
          <a:prstGeom prst="rect">
            <a:avLst/>
          </a:prstGeom>
          <a:noFill/>
          <a:ln/>
        </p:spPr>
        <p:txBody>
          <a:bodyPr wrap="square" lIns="0" tIns="0" rIns="0" bIns="0" rtlCol="0" anchor="t"/>
          <a:lstStyle/>
          <a:p>
            <a:pPr indent="0" marL="0">
              <a:buNone/>
            </a:pPr>
            <a:r>
              <a:rPr lang="en-US" sz="1700" b="1" dirty="0">
                <a:solidFill>
                  <a:srgbClr val="494985"/>
                </a:solidFill>
                <a:latin typeface="Quicksand" pitchFamily="34" charset="0"/>
                <a:ea typeface="Quicksand" pitchFamily="34" charset="-122"/>
                <a:cs typeface="Quicksand" pitchFamily="34" charset="-120"/>
              </a:rPr>
              <a:t>Discuss the mechanism first. If it is unclear, return to the worked examples.</a:t>
            </a:r>
            <a:endParaRPr lang="en-US" sz="17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252341"/>
        </a:solidFill>
      </p:bgPr>
    </p:bg>
    <p:spTree>
      <p:nvGrpSpPr>
        <p:cNvPr id="1" name=""/>
        <p:cNvGrpSpPr/>
        <p:nvPr/>
      </p:nvGrpSpPr>
      <p:grpSpPr>
        <a:xfrm>
          <a:off x="0" y="0"/>
          <a:ext cx="0" cy="0"/>
          <a:chOff x="0" y="0"/>
          <a:chExt cx="0" cy="0"/>
        </a:xfrm>
      </p:grpSpPr>
      <p:sp>
        <p:nvSpPr>
          <p:cNvPr id="2" name="Text 0"/>
          <p:cNvSpPr txBox="1"/>
          <p:nvPr/>
        </p:nvSpPr>
        <p:spPr>
          <a:xfrm>
            <a:off x="594360" y="301752"/>
            <a:ext cx="10424160" cy="274320"/>
          </a:xfrm>
          <a:prstGeom prst="rect">
            <a:avLst/>
          </a:prstGeom>
          <a:noFill/>
          <a:ln/>
        </p:spPr>
        <p:txBody>
          <a:bodyPr wrap="square" lIns="0" tIns="0" rIns="0" bIns="0" rtlCol="0" anchor="t"/>
          <a:lstStyle/>
          <a:p>
            <a:pPr indent="0" marL="0">
              <a:buNone/>
            </a:pPr>
            <a:r>
              <a:rPr lang="en-US" sz="1100" b="1" spc="200" kern="0" dirty="0">
                <a:solidFill>
                  <a:srgbClr val="CECBDC"/>
                </a:solidFill>
                <a:latin typeface="Quicksand" pitchFamily="34" charset="0"/>
                <a:ea typeface="Quicksand" pitchFamily="34" charset="-122"/>
                <a:cs typeface="Quicksand" pitchFamily="34" charset="-120"/>
              </a:rPr>
              <a:t>EXAM PRACTICE · TRANSITION</a:t>
            </a:r>
            <a:endParaRPr lang="en-US" sz="1100" dirty="0"/>
          </a:p>
        </p:txBody>
      </p:sp>
      <p:sp>
        <p:nvSpPr>
          <p:cNvPr id="3" name="Text 1"/>
          <p:cNvSpPr txBox="1"/>
          <p:nvPr/>
        </p:nvSpPr>
        <p:spPr>
          <a:xfrm>
            <a:off x="594360" y="822960"/>
            <a:ext cx="10972800" cy="640080"/>
          </a:xfrm>
          <a:prstGeom prst="rect">
            <a:avLst/>
          </a:prstGeom>
          <a:noFill/>
          <a:ln/>
        </p:spPr>
        <p:txBody>
          <a:bodyPr wrap="square" lIns="0" tIns="0" rIns="0" bIns="0" rtlCol="0" anchor="t"/>
          <a:lstStyle/>
          <a:p>
            <a:pPr indent="0" marL="0">
              <a:buNone/>
            </a:pPr>
            <a:r>
              <a:rPr lang="en-US" sz="3200" b="1" dirty="0">
                <a:solidFill>
                  <a:srgbClr val="FFFFFF"/>
                </a:solidFill>
                <a:latin typeface="Quicksand" pitchFamily="34" charset="0"/>
                <a:ea typeface="Quicksand" pitchFamily="34" charset="-122"/>
                <a:cs typeface="Quicksand" pitchFamily="34" charset="-120"/>
              </a:rPr>
              <a:t>Now turn understanding into an answer</a:t>
            </a:r>
            <a:endParaRPr lang="en-US" sz="3200" dirty="0"/>
          </a:p>
        </p:txBody>
      </p:sp>
      <p:sp>
        <p:nvSpPr>
          <p:cNvPr id="4" name="Shape 2"/>
          <p:cNvSpPr/>
          <p:nvPr/>
        </p:nvSpPr>
        <p:spPr>
          <a:xfrm>
            <a:off x="594360" y="6355080"/>
            <a:ext cx="10972800" cy="0"/>
          </a:xfrm>
          <a:prstGeom prst="line">
            <a:avLst/>
          </a:prstGeom>
          <a:noFill/>
          <a:ln w="8890">
            <a:solidFill>
              <a:srgbClr val="66627B"/>
            </a:solidFill>
            <a:prstDash val="solid"/>
          </a:ln>
        </p:spPr>
      </p:sp>
      <p:sp>
        <p:nvSpPr>
          <p:cNvPr id="5" name="Text 3"/>
          <p:cNvSpPr txBox="1"/>
          <p:nvPr/>
        </p:nvSpPr>
        <p:spPr>
          <a:xfrm>
            <a:off x="594360" y="6473952"/>
            <a:ext cx="5486400" cy="164592"/>
          </a:xfrm>
          <a:prstGeom prst="rect">
            <a:avLst/>
          </a:prstGeom>
          <a:noFill/>
          <a:ln/>
        </p:spPr>
        <p:txBody>
          <a:bodyPr wrap="square" lIns="0" tIns="0" rIns="0" bIns="0" rtlCol="0" anchor="t"/>
          <a:lstStyle/>
          <a:p>
            <a:pPr indent="0" marL="0">
              <a:buNone/>
            </a:pPr>
            <a:r>
              <a:rPr lang="en-US" sz="800" dirty="0">
                <a:solidFill>
                  <a:srgbClr val="CECBDC"/>
                </a:solidFill>
                <a:latin typeface="Quicksand" pitchFamily="34" charset="0"/>
                <a:ea typeface="Quicksand" pitchFamily="34" charset="-122"/>
                <a:cs typeface="Quicksand" pitchFamily="34" charset="-120"/>
              </a:rPr>
              <a:t>IGCSE 0478  /  ARTIFICIAL INTELLIGENCE</a:t>
            </a:r>
            <a:endParaRPr lang="en-US" sz="800" dirty="0"/>
          </a:p>
        </p:txBody>
      </p:sp>
      <p:sp>
        <p:nvSpPr>
          <p:cNvPr id="6" name="Text 4"/>
          <p:cNvSpPr txBox="1"/>
          <p:nvPr/>
        </p:nvSpPr>
        <p:spPr>
          <a:xfrm>
            <a:off x="11018520" y="6419088"/>
            <a:ext cx="530352" cy="228600"/>
          </a:xfrm>
          <a:prstGeom prst="rect">
            <a:avLst/>
          </a:prstGeom>
          <a:noFill/>
          <a:ln/>
        </p:spPr>
        <p:txBody>
          <a:bodyPr wrap="square" lIns="0" tIns="0" rIns="0" bIns="0" rtlCol="0" anchor="t"/>
          <a:lstStyle/>
          <a:p>
            <a:pPr algn="r" indent="0" marL="0">
              <a:buNone/>
            </a:pPr>
            <a:r>
              <a:rPr lang="en-US" sz="1100" dirty="0">
                <a:solidFill>
                  <a:srgbClr val="FFFFFF"/>
                </a:solidFill>
                <a:latin typeface="Quicksand" pitchFamily="34" charset="0"/>
                <a:ea typeface="Quicksand" pitchFamily="34" charset="-122"/>
                <a:cs typeface="Quicksand" pitchFamily="34" charset="-120"/>
              </a:rPr>
              <a:t>18</a:t>
            </a:r>
            <a:endParaRPr lang="en-US" sz="1100" dirty="0"/>
          </a:p>
        </p:txBody>
      </p:sp>
      <p:sp>
        <p:nvSpPr>
          <p:cNvPr id="8" name="Text 5"/>
          <p:cNvSpPr txBox="1"/>
          <p:nvPr/>
        </p:nvSpPr>
        <p:spPr>
          <a:xfrm>
            <a:off x="731520" y="1920240"/>
            <a:ext cx="10698480" cy="2011680"/>
          </a:xfrm>
          <a:prstGeom prst="rect">
            <a:avLst/>
          </a:prstGeom>
          <a:noFill/>
          <a:ln/>
        </p:spPr>
        <p:txBody>
          <a:bodyPr wrap="square" lIns="0" tIns="0" rIns="0" bIns="0" rtlCol="0" anchor="t"/>
          <a:lstStyle/>
          <a:p>
            <a:pPr indent="0" marL="0">
              <a:buNone/>
            </a:pPr>
            <a:r>
              <a:rPr lang="en-US" sz="3500" b="1" dirty="0">
                <a:solidFill>
                  <a:srgbClr val="FFFFFF"/>
                </a:solidFill>
                <a:latin typeface="Quicksand" pitchFamily="34" charset="0"/>
                <a:ea typeface="Quicksand" pitchFamily="34" charset="-122"/>
                <a:cs typeface="Quicksand" pitchFamily="34" charset="-120"/>
              </a:rPr>
              <a:t>Understand the system.</a:t>
            </a:r>
            <a:endParaRPr lang="en-US" sz="3500" dirty="0"/>
          </a:p>
          <a:p>
            <a:pPr indent="0" marL="0">
              <a:buNone/>
            </a:pPr>
            <a:r>
              <a:rPr lang="en-US" sz="3500" b="1" dirty="0">
                <a:solidFill>
                  <a:srgbClr val="FFFFFF"/>
                </a:solidFill>
                <a:latin typeface="Quicksand" pitchFamily="34" charset="0"/>
                <a:ea typeface="Quicksand" pitchFamily="34" charset="-122"/>
                <a:cs typeface="Quicksand" pitchFamily="34" charset="-120"/>
              </a:rPr>
              <a:t>Read what is being asked.</a:t>
            </a:r>
            <a:endParaRPr lang="en-US" sz="3500" dirty="0"/>
          </a:p>
          <a:p>
            <a:pPr indent="0" marL="0">
              <a:buNone/>
            </a:pPr>
            <a:r>
              <a:rPr lang="en-US" sz="3500" b="1" dirty="0">
                <a:solidFill>
                  <a:srgbClr val="FFFFFF"/>
                </a:solidFill>
                <a:latin typeface="Quicksand" pitchFamily="34" charset="0"/>
                <a:ea typeface="Quicksand" pitchFamily="34" charset="-122"/>
                <a:cs typeface="Quicksand" pitchFamily="34" charset="-120"/>
              </a:rPr>
              <a:t>Explain the relevant mechanism.</a:t>
            </a:r>
            <a:endParaRPr lang="en-US" sz="3500" dirty="0"/>
          </a:p>
        </p:txBody>
      </p:sp>
      <p:sp>
        <p:nvSpPr>
          <p:cNvPr id="9" name="Text 6"/>
          <p:cNvSpPr txBox="1"/>
          <p:nvPr/>
        </p:nvSpPr>
        <p:spPr>
          <a:xfrm>
            <a:off x="731520" y="4663440"/>
            <a:ext cx="10698480" cy="777240"/>
          </a:xfrm>
          <a:prstGeom prst="rect">
            <a:avLst/>
          </a:prstGeom>
          <a:noFill/>
          <a:ln/>
        </p:spPr>
        <p:txBody>
          <a:bodyPr wrap="square" lIns="0" tIns="0" rIns="0" bIns="0" rtlCol="0" anchor="t"/>
          <a:lstStyle/>
          <a:p>
            <a:pPr indent="0" marL="0">
              <a:buNone/>
            </a:pPr>
            <a:r>
              <a:rPr lang="en-US" sz="2300" dirty="0">
                <a:solidFill>
                  <a:srgbClr val="DCD9E9"/>
                </a:solidFill>
                <a:latin typeface="Quicksand" pitchFamily="34" charset="0"/>
                <a:ea typeface="Quicksand" pitchFamily="34" charset="-122"/>
                <a:cs typeface="Quicksand" pitchFamily="34" charset="-120"/>
              </a:rPr>
              <a:t>Tasks 2–5: selected practice today.</a:t>
            </a:r>
            <a:endParaRPr lang="en-US" sz="2300" dirty="0"/>
          </a:p>
          <a:p>
            <a:pPr indent="0" marL="0">
              <a:buNone/>
            </a:pPr>
            <a:r>
              <a:rPr lang="en-US" sz="2300" dirty="0">
                <a:solidFill>
                  <a:srgbClr val="DCD9E9"/>
                </a:solidFill>
                <a:latin typeface="Quicksand" pitchFamily="34" charset="0"/>
                <a:ea typeface="Quicksand" pitchFamily="34" charset="-122"/>
                <a:cs typeface="Quicksand" pitchFamily="34" charset="-120"/>
              </a:rPr>
              <a:t>Task 6 and remaining questions: follow-up.</a:t>
            </a:r>
            <a:endParaRPr lang="en-US" sz="23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AF9F6"/>
        </a:solidFill>
      </p:bgPr>
    </p:bg>
    <p:spTree>
      <p:nvGrpSpPr>
        <p:cNvPr id="1" name=""/>
        <p:cNvGrpSpPr/>
        <p:nvPr/>
      </p:nvGrpSpPr>
      <p:grpSpPr>
        <a:xfrm>
          <a:off x="0" y="0"/>
          <a:ext cx="0" cy="0"/>
          <a:chOff x="0" y="0"/>
          <a:chExt cx="0" cy="0"/>
        </a:xfrm>
      </p:grpSpPr>
      <p:sp>
        <p:nvSpPr>
          <p:cNvPr id="2" name="Text 0"/>
          <p:cNvSpPr txBox="1"/>
          <p:nvPr/>
        </p:nvSpPr>
        <p:spPr>
          <a:xfrm>
            <a:off x="594360" y="301752"/>
            <a:ext cx="10424160" cy="274320"/>
          </a:xfrm>
          <a:prstGeom prst="rect">
            <a:avLst/>
          </a:prstGeom>
          <a:noFill/>
          <a:ln/>
        </p:spPr>
        <p:txBody>
          <a:bodyPr wrap="square" lIns="0" tIns="0" rIns="0" bIns="0" rtlCol="0" anchor="t"/>
          <a:lstStyle/>
          <a:p>
            <a:pPr indent="0" marL="0">
              <a:buNone/>
            </a:pPr>
            <a:r>
              <a:rPr lang="en-US" sz="1100" b="1" spc="200" kern="0" dirty="0">
                <a:solidFill>
                  <a:srgbClr val="494985"/>
                </a:solidFill>
                <a:latin typeface="Quicksand" pitchFamily="34" charset="0"/>
                <a:ea typeface="Quicksand" pitchFamily="34" charset="-122"/>
                <a:cs typeface="Quicksand" pitchFamily="34" charset="-120"/>
              </a:rPr>
              <a:t>EXAM PRACTICE · TASK 2</a:t>
            </a:r>
            <a:endParaRPr lang="en-US" sz="1100" dirty="0"/>
          </a:p>
        </p:txBody>
      </p:sp>
      <p:sp>
        <p:nvSpPr>
          <p:cNvPr id="3" name="Text 1"/>
          <p:cNvSpPr txBox="1"/>
          <p:nvPr/>
        </p:nvSpPr>
        <p:spPr>
          <a:xfrm>
            <a:off x="594360" y="822960"/>
            <a:ext cx="10972800" cy="640080"/>
          </a:xfrm>
          <a:prstGeom prst="rect">
            <a:avLst/>
          </a:prstGeom>
          <a:noFill/>
          <a:ln/>
        </p:spPr>
        <p:txBody>
          <a:bodyPr wrap="square" lIns="0" tIns="0" rIns="0" bIns="0" rtlCol="0" anchor="t"/>
          <a:lstStyle/>
          <a:p>
            <a:pPr indent="0" marL="0">
              <a:buNone/>
            </a:pPr>
            <a:r>
              <a:rPr lang="en-US" sz="3200" b="1" dirty="0">
                <a:solidFill>
                  <a:srgbClr val="252341"/>
                </a:solidFill>
                <a:latin typeface="Quicksand" pitchFamily="34" charset="0"/>
                <a:ea typeface="Quicksand" pitchFamily="34" charset="-122"/>
                <a:cs typeface="Quicksand" pitchFamily="34" charset="-120"/>
              </a:rPr>
              <a:t>Read what has already been given</a:t>
            </a:r>
            <a:endParaRPr lang="en-US" sz="3200" dirty="0"/>
          </a:p>
        </p:txBody>
      </p:sp>
      <p:sp>
        <p:nvSpPr>
          <p:cNvPr id="4" name="Shape 2"/>
          <p:cNvSpPr/>
          <p:nvPr/>
        </p:nvSpPr>
        <p:spPr>
          <a:xfrm>
            <a:off x="594360" y="6355080"/>
            <a:ext cx="10972800" cy="0"/>
          </a:xfrm>
          <a:prstGeom prst="line">
            <a:avLst/>
          </a:prstGeom>
          <a:noFill/>
          <a:ln w="8890">
            <a:solidFill>
              <a:srgbClr val="DDDBE5"/>
            </a:solidFill>
            <a:prstDash val="solid"/>
          </a:ln>
        </p:spPr>
      </p:sp>
      <p:sp>
        <p:nvSpPr>
          <p:cNvPr id="5" name="Text 3"/>
          <p:cNvSpPr txBox="1"/>
          <p:nvPr/>
        </p:nvSpPr>
        <p:spPr>
          <a:xfrm>
            <a:off x="594360" y="6473952"/>
            <a:ext cx="5486400" cy="164592"/>
          </a:xfrm>
          <a:prstGeom prst="rect">
            <a:avLst/>
          </a:prstGeom>
          <a:noFill/>
          <a:ln/>
        </p:spPr>
        <p:txBody>
          <a:bodyPr wrap="square" lIns="0" tIns="0" rIns="0" bIns="0" rtlCol="0" anchor="t"/>
          <a:lstStyle/>
          <a:p>
            <a:pPr indent="0" marL="0">
              <a:buNone/>
            </a:pPr>
            <a:r>
              <a:rPr lang="en-US" sz="800" dirty="0">
                <a:solidFill>
                  <a:srgbClr val="777584"/>
                </a:solidFill>
                <a:latin typeface="Quicksand" pitchFamily="34" charset="0"/>
                <a:ea typeface="Quicksand" pitchFamily="34" charset="-122"/>
                <a:cs typeface="Quicksand" pitchFamily="34" charset="-120"/>
              </a:rPr>
              <a:t>IGCSE 0478  /  ARTIFICIAL INTELLIGENCE</a:t>
            </a:r>
            <a:endParaRPr lang="en-US" sz="800" dirty="0"/>
          </a:p>
        </p:txBody>
      </p:sp>
      <p:sp>
        <p:nvSpPr>
          <p:cNvPr id="6" name="Text 4"/>
          <p:cNvSpPr txBox="1"/>
          <p:nvPr/>
        </p:nvSpPr>
        <p:spPr>
          <a:xfrm>
            <a:off x="11018520" y="6419088"/>
            <a:ext cx="530352" cy="228600"/>
          </a:xfrm>
          <a:prstGeom prst="rect">
            <a:avLst/>
          </a:prstGeom>
          <a:noFill/>
          <a:ln/>
        </p:spPr>
        <p:txBody>
          <a:bodyPr wrap="square" lIns="0" tIns="0" rIns="0" bIns="0" rtlCol="0" anchor="t"/>
          <a:lstStyle/>
          <a:p>
            <a:pPr algn="r" indent="0" marL="0">
              <a:buNone/>
            </a:pPr>
            <a:r>
              <a:rPr lang="en-US" sz="1100" dirty="0">
                <a:solidFill>
                  <a:srgbClr val="777584"/>
                </a:solidFill>
                <a:latin typeface="Quicksand" pitchFamily="34" charset="0"/>
                <a:ea typeface="Quicksand" pitchFamily="34" charset="-122"/>
                <a:cs typeface="Quicksand" pitchFamily="34" charset="-120"/>
              </a:rPr>
              <a:t>19</a:t>
            </a:r>
            <a:endParaRPr lang="en-US" sz="1100" dirty="0"/>
          </a:p>
        </p:txBody>
      </p:sp>
      <p:sp>
        <p:nvSpPr>
          <p:cNvPr id="7" name="Text 5"/>
          <p:cNvSpPr txBox="1"/>
          <p:nvPr/>
        </p:nvSpPr>
        <p:spPr>
          <a:xfrm>
            <a:off x="594360" y="6144768"/>
            <a:ext cx="10607040" cy="164592"/>
          </a:xfrm>
          <a:prstGeom prst="rect">
            <a:avLst/>
          </a:prstGeom>
          <a:noFill/>
          <a:ln/>
        </p:spPr>
        <p:txBody>
          <a:bodyPr wrap="square" lIns="0" tIns="0" rIns="0" bIns="0" rtlCol="0" anchor="t"/>
          <a:lstStyle/>
          <a:p>
            <a:pPr indent="0" marL="0">
              <a:buNone/>
            </a:pPr>
            <a:r>
              <a:rPr lang="en-US" sz="900" dirty="0">
                <a:solidFill>
                  <a:srgbClr val="777584"/>
                </a:solidFill>
                <a:latin typeface="Quicksand" pitchFamily="34" charset="0"/>
                <a:ea typeface="Quicksand" pitchFamily="34" charset="-122"/>
                <a:cs typeface="Quicksand" pitchFamily="34" charset="-120"/>
              </a:rPr>
              <a:t>0478/12 Feb/Mar 2025 Q6(a)</a:t>
            </a:r>
            <a:endParaRPr lang="en-US" sz="900" dirty="0"/>
          </a:p>
        </p:txBody>
      </p:sp>
      <p:sp>
        <p:nvSpPr>
          <p:cNvPr id="9" name="Shape 6"/>
          <p:cNvSpPr/>
          <p:nvPr/>
        </p:nvSpPr>
        <p:spPr>
          <a:xfrm>
            <a:off x="731520" y="1828800"/>
            <a:ext cx="10698480" cy="777240"/>
          </a:xfrm>
          <a:prstGeom prst="rect">
            <a:avLst/>
          </a:prstGeom>
          <a:solidFill>
            <a:srgbClr val="FFF0AD"/>
          </a:solidFill>
          <a:ln w="12700">
            <a:solidFill>
              <a:srgbClr val="FFF0AD"/>
            </a:solidFill>
            <a:prstDash val="solid"/>
          </a:ln>
        </p:spPr>
      </p:sp>
      <p:sp>
        <p:nvSpPr>
          <p:cNvPr id="10" name="Text 7"/>
          <p:cNvSpPr txBox="1"/>
          <p:nvPr/>
        </p:nvSpPr>
        <p:spPr>
          <a:xfrm>
            <a:off x="914400" y="2039112"/>
            <a:ext cx="10332720" cy="411480"/>
          </a:xfrm>
          <a:prstGeom prst="rect">
            <a:avLst/>
          </a:prstGeom>
          <a:noFill/>
          <a:ln/>
        </p:spPr>
        <p:txBody>
          <a:bodyPr wrap="square" lIns="0" tIns="0" rIns="0" bIns="0" rtlCol="0" anchor="t"/>
          <a:lstStyle/>
          <a:p>
            <a:pPr indent="0" marL="0">
              <a:buNone/>
            </a:pPr>
            <a:r>
              <a:rPr lang="en-US" sz="2300" b="1" dirty="0">
                <a:solidFill>
                  <a:srgbClr val="252341"/>
                </a:solidFill>
                <a:latin typeface="Quicksand" pitchFamily="34" charset="0"/>
                <a:ea typeface="Quicksand" pitchFamily="34" charset="-122"/>
                <a:cs typeface="Quicksand" pitchFamily="34" charset="-120"/>
              </a:rPr>
              <a:t>Given feature: learning. Supply three OTHER characteristics.</a:t>
            </a:r>
            <a:endParaRPr lang="en-US" sz="2300" dirty="0"/>
          </a:p>
        </p:txBody>
      </p:sp>
      <p:sp>
        <p:nvSpPr>
          <p:cNvPr id="11" name="Text 8"/>
          <p:cNvSpPr txBox="1"/>
          <p:nvPr/>
        </p:nvSpPr>
        <p:spPr>
          <a:xfrm>
            <a:off x="731520" y="2971800"/>
            <a:ext cx="457200" cy="365760"/>
          </a:xfrm>
          <a:prstGeom prst="rect">
            <a:avLst/>
          </a:prstGeom>
          <a:noFill/>
          <a:ln/>
        </p:spPr>
        <p:txBody>
          <a:bodyPr wrap="square" lIns="0" tIns="0" rIns="0" bIns="0" rtlCol="0" anchor="t"/>
          <a:lstStyle/>
          <a:p>
            <a:pPr indent="0" marL="0">
              <a:buNone/>
            </a:pPr>
            <a:r>
              <a:rPr lang="en-US" sz="1600" b="1" dirty="0">
                <a:solidFill>
                  <a:srgbClr val="494985"/>
                </a:solidFill>
                <a:latin typeface="Quicksand" pitchFamily="34" charset="0"/>
                <a:ea typeface="Quicksand" pitchFamily="34" charset="-122"/>
                <a:cs typeface="Quicksand" pitchFamily="34" charset="-120"/>
              </a:rPr>
              <a:t>01</a:t>
            </a:r>
            <a:endParaRPr lang="en-US" sz="1600" dirty="0"/>
          </a:p>
        </p:txBody>
      </p:sp>
      <p:sp>
        <p:nvSpPr>
          <p:cNvPr id="12" name="Text 9"/>
          <p:cNvSpPr txBox="1"/>
          <p:nvPr/>
        </p:nvSpPr>
        <p:spPr>
          <a:xfrm>
            <a:off x="1371600" y="2958084"/>
            <a:ext cx="10012680" cy="612648"/>
          </a:xfrm>
          <a:prstGeom prst="rect">
            <a:avLst/>
          </a:prstGeom>
          <a:noFill/>
          <a:ln/>
        </p:spPr>
        <p:txBody>
          <a:bodyPr wrap="square" lIns="0" tIns="0" rIns="0" bIns="0" rtlCol="0" anchor="t"/>
          <a:lstStyle/>
          <a:p>
            <a:pPr indent="0" marL="0">
              <a:buNone/>
            </a:pPr>
            <a:r>
              <a:rPr lang="en-US" sz="2300" dirty="0">
                <a:solidFill>
                  <a:srgbClr val="252341"/>
                </a:solidFill>
                <a:latin typeface="Quicksand" pitchFamily="34" charset="0"/>
                <a:ea typeface="Quicksand" pitchFamily="34" charset="-122"/>
                <a:cs typeface="Quicksand" pitchFamily="34" charset="-120"/>
              </a:rPr>
              <a:t>Read the supplied feature.</a:t>
            </a:r>
            <a:endParaRPr lang="en-US" sz="2300" dirty="0"/>
          </a:p>
        </p:txBody>
      </p:sp>
      <p:sp>
        <p:nvSpPr>
          <p:cNvPr id="13" name="Shape 10"/>
          <p:cNvSpPr/>
          <p:nvPr/>
        </p:nvSpPr>
        <p:spPr>
          <a:xfrm>
            <a:off x="1371600" y="3538728"/>
            <a:ext cx="10012680" cy="0"/>
          </a:xfrm>
          <a:prstGeom prst="line">
            <a:avLst/>
          </a:prstGeom>
          <a:noFill/>
          <a:ln w="8890">
            <a:solidFill>
              <a:srgbClr val="DDDBE5"/>
            </a:solidFill>
            <a:prstDash val="solid"/>
          </a:ln>
        </p:spPr>
      </p:sp>
      <p:sp>
        <p:nvSpPr>
          <p:cNvPr id="14" name="Text 11"/>
          <p:cNvSpPr txBox="1"/>
          <p:nvPr/>
        </p:nvSpPr>
        <p:spPr>
          <a:xfrm>
            <a:off x="731520" y="3694176"/>
            <a:ext cx="457200" cy="365760"/>
          </a:xfrm>
          <a:prstGeom prst="rect">
            <a:avLst/>
          </a:prstGeom>
          <a:noFill/>
          <a:ln/>
        </p:spPr>
        <p:txBody>
          <a:bodyPr wrap="square" lIns="0" tIns="0" rIns="0" bIns="0" rtlCol="0" anchor="t"/>
          <a:lstStyle/>
          <a:p>
            <a:pPr indent="0" marL="0">
              <a:buNone/>
            </a:pPr>
            <a:r>
              <a:rPr lang="en-US" sz="1600" b="1" dirty="0">
                <a:solidFill>
                  <a:srgbClr val="494985"/>
                </a:solidFill>
                <a:latin typeface="Quicksand" pitchFamily="34" charset="0"/>
                <a:ea typeface="Quicksand" pitchFamily="34" charset="-122"/>
                <a:cs typeface="Quicksand" pitchFamily="34" charset="-120"/>
              </a:rPr>
              <a:t>02</a:t>
            </a:r>
            <a:endParaRPr lang="en-US" sz="1600" dirty="0"/>
          </a:p>
        </p:txBody>
      </p:sp>
      <p:sp>
        <p:nvSpPr>
          <p:cNvPr id="15" name="Text 12"/>
          <p:cNvSpPr txBox="1"/>
          <p:nvPr/>
        </p:nvSpPr>
        <p:spPr>
          <a:xfrm>
            <a:off x="1371600" y="3680460"/>
            <a:ext cx="10012680" cy="612648"/>
          </a:xfrm>
          <a:prstGeom prst="rect">
            <a:avLst/>
          </a:prstGeom>
          <a:noFill/>
          <a:ln/>
        </p:spPr>
        <p:txBody>
          <a:bodyPr wrap="square" lIns="0" tIns="0" rIns="0" bIns="0" rtlCol="0" anchor="t"/>
          <a:lstStyle/>
          <a:p>
            <a:pPr indent="0" marL="0">
              <a:buNone/>
            </a:pPr>
            <a:r>
              <a:rPr lang="en-US" sz="2300" dirty="0">
                <a:solidFill>
                  <a:srgbClr val="252341"/>
                </a:solidFill>
                <a:latin typeface="Quicksand" pitchFamily="34" charset="0"/>
                <a:ea typeface="Quicksand" pitchFamily="34" charset="-122"/>
                <a:cs typeface="Quicksand" pitchFamily="34" charset="-120"/>
              </a:rPr>
              <a:t>Choose different features you understand.</a:t>
            </a:r>
            <a:endParaRPr lang="en-US" sz="2300" dirty="0"/>
          </a:p>
        </p:txBody>
      </p:sp>
      <p:sp>
        <p:nvSpPr>
          <p:cNvPr id="16" name="Shape 13"/>
          <p:cNvSpPr/>
          <p:nvPr/>
        </p:nvSpPr>
        <p:spPr>
          <a:xfrm>
            <a:off x="1371600" y="4261104"/>
            <a:ext cx="10012680" cy="0"/>
          </a:xfrm>
          <a:prstGeom prst="line">
            <a:avLst/>
          </a:prstGeom>
          <a:noFill/>
          <a:ln w="8890">
            <a:solidFill>
              <a:srgbClr val="DDDBE5"/>
            </a:solidFill>
            <a:prstDash val="solid"/>
          </a:ln>
        </p:spPr>
      </p:sp>
      <p:sp>
        <p:nvSpPr>
          <p:cNvPr id="17" name="Text 14"/>
          <p:cNvSpPr txBox="1"/>
          <p:nvPr/>
        </p:nvSpPr>
        <p:spPr>
          <a:xfrm>
            <a:off x="731520" y="4416552"/>
            <a:ext cx="457200" cy="365760"/>
          </a:xfrm>
          <a:prstGeom prst="rect">
            <a:avLst/>
          </a:prstGeom>
          <a:noFill/>
          <a:ln/>
        </p:spPr>
        <p:txBody>
          <a:bodyPr wrap="square" lIns="0" tIns="0" rIns="0" bIns="0" rtlCol="0" anchor="t"/>
          <a:lstStyle/>
          <a:p>
            <a:pPr indent="0" marL="0">
              <a:buNone/>
            </a:pPr>
            <a:r>
              <a:rPr lang="en-US" sz="1600" b="1" dirty="0">
                <a:solidFill>
                  <a:srgbClr val="494985"/>
                </a:solidFill>
                <a:latin typeface="Quicksand" pitchFamily="34" charset="0"/>
                <a:ea typeface="Quicksand" pitchFamily="34" charset="-122"/>
                <a:cs typeface="Quicksand" pitchFamily="34" charset="-120"/>
              </a:rPr>
              <a:t>03</a:t>
            </a:r>
            <a:endParaRPr lang="en-US" sz="1600" dirty="0"/>
          </a:p>
        </p:txBody>
      </p:sp>
      <p:sp>
        <p:nvSpPr>
          <p:cNvPr id="18" name="Text 15"/>
          <p:cNvSpPr txBox="1"/>
          <p:nvPr/>
        </p:nvSpPr>
        <p:spPr>
          <a:xfrm>
            <a:off x="1371600" y="4402836"/>
            <a:ext cx="10012680" cy="612648"/>
          </a:xfrm>
          <a:prstGeom prst="rect">
            <a:avLst/>
          </a:prstGeom>
          <a:noFill/>
          <a:ln/>
        </p:spPr>
        <p:txBody>
          <a:bodyPr wrap="square" lIns="0" tIns="0" rIns="0" bIns="0" rtlCol="0" anchor="t"/>
          <a:lstStyle/>
          <a:p>
            <a:pPr indent="0" marL="0">
              <a:buNone/>
            </a:pPr>
            <a:r>
              <a:rPr lang="en-US" sz="2300" dirty="0">
                <a:solidFill>
                  <a:srgbClr val="252341"/>
                </a:solidFill>
                <a:latin typeface="Quicksand" pitchFamily="34" charset="0"/>
                <a:ea typeface="Quicksand" pitchFamily="34" charset="-122"/>
                <a:cs typeface="Quicksand" pitchFamily="34" charset="-120"/>
              </a:rPr>
              <a:t>State each clearly without repeating the same idea.</a:t>
            </a:r>
            <a:endParaRPr lang="en-US" sz="2300" dirty="0"/>
          </a:p>
        </p:txBody>
      </p:sp>
      <p:sp>
        <p:nvSpPr>
          <p:cNvPr id="19" name="Text 16"/>
          <p:cNvSpPr txBox="1"/>
          <p:nvPr/>
        </p:nvSpPr>
        <p:spPr>
          <a:xfrm>
            <a:off x="594360" y="5650992"/>
            <a:ext cx="10972800" cy="384048"/>
          </a:xfrm>
          <a:prstGeom prst="rect">
            <a:avLst/>
          </a:prstGeom>
          <a:noFill/>
          <a:ln/>
        </p:spPr>
        <p:txBody>
          <a:bodyPr wrap="square" lIns="0" tIns="0" rIns="0" bIns="0" rtlCol="0" anchor="t"/>
          <a:lstStyle/>
          <a:p>
            <a:pPr indent="0" marL="0">
              <a:buNone/>
            </a:pPr>
            <a:r>
              <a:rPr lang="en-US" sz="1700" b="1" dirty="0">
                <a:solidFill>
                  <a:srgbClr val="494985"/>
                </a:solidFill>
                <a:latin typeface="Quicksand" pitchFamily="34" charset="0"/>
                <a:ea typeface="Quicksand" pitchFamily="34" charset="-122"/>
                <a:cs typeface="Quicksand" pitchFamily="34" charset="-120"/>
              </a:rPr>
              <a:t>Attempt Task 2 before the definition model on the next slide.</a:t>
            </a:r>
            <a:endParaRPr lang="en-US" sz="17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AF9F6"/>
        </a:solidFill>
      </p:bgPr>
    </p:bg>
    <p:spTree>
      <p:nvGrpSpPr>
        <p:cNvPr id="1" name=""/>
        <p:cNvGrpSpPr/>
        <p:nvPr/>
      </p:nvGrpSpPr>
      <p:grpSpPr>
        <a:xfrm>
          <a:off x="0" y="0"/>
          <a:ext cx="0" cy="0"/>
          <a:chOff x="0" y="0"/>
          <a:chExt cx="0" cy="0"/>
        </a:xfrm>
      </p:grpSpPr>
      <p:sp>
        <p:nvSpPr>
          <p:cNvPr id="2" name="Text 0"/>
          <p:cNvSpPr txBox="1"/>
          <p:nvPr/>
        </p:nvSpPr>
        <p:spPr>
          <a:xfrm>
            <a:off x="594360" y="301752"/>
            <a:ext cx="10424160" cy="274320"/>
          </a:xfrm>
          <a:prstGeom prst="rect">
            <a:avLst/>
          </a:prstGeom>
          <a:noFill/>
          <a:ln/>
        </p:spPr>
        <p:txBody>
          <a:bodyPr wrap="square" lIns="0" tIns="0" rIns="0" bIns="0" rtlCol="0" anchor="t"/>
          <a:lstStyle/>
          <a:p>
            <a:pPr indent="0" marL="0">
              <a:buNone/>
            </a:pPr>
            <a:r>
              <a:rPr lang="en-US" sz="1100" b="1" spc="200" kern="0" dirty="0">
                <a:solidFill>
                  <a:srgbClr val="494985"/>
                </a:solidFill>
                <a:latin typeface="Quicksand" pitchFamily="34" charset="0"/>
                <a:ea typeface="Quicksand" pitchFamily="34" charset="-122"/>
                <a:cs typeface="Quicksand" pitchFamily="34" charset="-120"/>
              </a:rPr>
              <a:t>FEEDBACK · AFTER PRACTICE</a:t>
            </a:r>
            <a:endParaRPr lang="en-US" sz="1100" dirty="0"/>
          </a:p>
        </p:txBody>
      </p:sp>
      <p:sp>
        <p:nvSpPr>
          <p:cNvPr id="3" name="Text 1"/>
          <p:cNvSpPr txBox="1"/>
          <p:nvPr/>
        </p:nvSpPr>
        <p:spPr>
          <a:xfrm>
            <a:off x="594360" y="822960"/>
            <a:ext cx="10972800" cy="640080"/>
          </a:xfrm>
          <a:prstGeom prst="rect">
            <a:avLst/>
          </a:prstGeom>
          <a:noFill/>
          <a:ln/>
        </p:spPr>
        <p:txBody>
          <a:bodyPr wrap="square" lIns="0" tIns="0" rIns="0" bIns="0" rtlCol="0" anchor="t"/>
          <a:lstStyle/>
          <a:p>
            <a:pPr indent="0" marL="0">
              <a:buNone/>
            </a:pPr>
            <a:r>
              <a:rPr lang="en-US" sz="3200" b="1" dirty="0">
                <a:solidFill>
                  <a:srgbClr val="252341"/>
                </a:solidFill>
                <a:latin typeface="Quicksand" pitchFamily="34" charset="0"/>
                <a:ea typeface="Quicksand" pitchFamily="34" charset="-122"/>
                <a:cs typeface="Quicksand" pitchFamily="34" charset="-120"/>
              </a:rPr>
              <a:t>A definition with three distinct ideas</a:t>
            </a:r>
            <a:endParaRPr lang="en-US" sz="3200" dirty="0"/>
          </a:p>
        </p:txBody>
      </p:sp>
      <p:sp>
        <p:nvSpPr>
          <p:cNvPr id="4" name="Shape 2"/>
          <p:cNvSpPr/>
          <p:nvPr/>
        </p:nvSpPr>
        <p:spPr>
          <a:xfrm>
            <a:off x="594360" y="6355080"/>
            <a:ext cx="10972800" cy="0"/>
          </a:xfrm>
          <a:prstGeom prst="line">
            <a:avLst/>
          </a:prstGeom>
          <a:noFill/>
          <a:ln w="8890">
            <a:solidFill>
              <a:srgbClr val="DDDBE5"/>
            </a:solidFill>
            <a:prstDash val="solid"/>
          </a:ln>
        </p:spPr>
      </p:sp>
      <p:sp>
        <p:nvSpPr>
          <p:cNvPr id="5" name="Text 3"/>
          <p:cNvSpPr txBox="1"/>
          <p:nvPr/>
        </p:nvSpPr>
        <p:spPr>
          <a:xfrm>
            <a:off x="594360" y="6473952"/>
            <a:ext cx="5486400" cy="164592"/>
          </a:xfrm>
          <a:prstGeom prst="rect">
            <a:avLst/>
          </a:prstGeom>
          <a:noFill/>
          <a:ln/>
        </p:spPr>
        <p:txBody>
          <a:bodyPr wrap="square" lIns="0" tIns="0" rIns="0" bIns="0" rtlCol="0" anchor="t"/>
          <a:lstStyle/>
          <a:p>
            <a:pPr indent="0" marL="0">
              <a:buNone/>
            </a:pPr>
            <a:r>
              <a:rPr lang="en-US" sz="800" dirty="0">
                <a:solidFill>
                  <a:srgbClr val="777584"/>
                </a:solidFill>
                <a:latin typeface="Quicksand" pitchFamily="34" charset="0"/>
                <a:ea typeface="Quicksand" pitchFamily="34" charset="-122"/>
                <a:cs typeface="Quicksand" pitchFamily="34" charset="-120"/>
              </a:rPr>
              <a:t>IGCSE 0478  /  ARTIFICIAL INTELLIGENCE</a:t>
            </a:r>
            <a:endParaRPr lang="en-US" sz="800" dirty="0"/>
          </a:p>
        </p:txBody>
      </p:sp>
      <p:sp>
        <p:nvSpPr>
          <p:cNvPr id="6" name="Text 4"/>
          <p:cNvSpPr txBox="1"/>
          <p:nvPr/>
        </p:nvSpPr>
        <p:spPr>
          <a:xfrm>
            <a:off x="11018520" y="6419088"/>
            <a:ext cx="530352" cy="228600"/>
          </a:xfrm>
          <a:prstGeom prst="rect">
            <a:avLst/>
          </a:prstGeom>
          <a:noFill/>
          <a:ln/>
        </p:spPr>
        <p:txBody>
          <a:bodyPr wrap="square" lIns="0" tIns="0" rIns="0" bIns="0" rtlCol="0" anchor="t"/>
          <a:lstStyle/>
          <a:p>
            <a:pPr algn="r" indent="0" marL="0">
              <a:buNone/>
            </a:pPr>
            <a:r>
              <a:rPr lang="en-US" sz="1100" dirty="0">
                <a:solidFill>
                  <a:srgbClr val="777584"/>
                </a:solidFill>
                <a:latin typeface="Quicksand" pitchFamily="34" charset="0"/>
                <a:ea typeface="Quicksand" pitchFamily="34" charset="-122"/>
                <a:cs typeface="Quicksand" pitchFamily="34" charset="-120"/>
              </a:rPr>
              <a:t>20</a:t>
            </a:r>
            <a:endParaRPr lang="en-US" sz="1100" dirty="0"/>
          </a:p>
        </p:txBody>
      </p:sp>
      <p:sp>
        <p:nvSpPr>
          <p:cNvPr id="7" name="Text 5"/>
          <p:cNvSpPr txBox="1"/>
          <p:nvPr/>
        </p:nvSpPr>
        <p:spPr>
          <a:xfrm>
            <a:off x="594360" y="6144768"/>
            <a:ext cx="10607040" cy="164592"/>
          </a:xfrm>
          <a:prstGeom prst="rect">
            <a:avLst/>
          </a:prstGeom>
          <a:noFill/>
          <a:ln/>
        </p:spPr>
        <p:txBody>
          <a:bodyPr wrap="square" lIns="0" tIns="0" rIns="0" bIns="0" rtlCol="0" anchor="t"/>
          <a:lstStyle/>
          <a:p>
            <a:pPr indent="0" marL="0">
              <a:buNone/>
            </a:pPr>
            <a:r>
              <a:rPr lang="en-US" sz="900" dirty="0">
                <a:solidFill>
                  <a:srgbClr val="777584"/>
                </a:solidFill>
                <a:latin typeface="Quicksand" pitchFamily="34" charset="0"/>
                <a:ea typeface="Quicksand" pitchFamily="34" charset="-122"/>
                <a:cs typeface="Quicksand" pitchFamily="34" charset="-120"/>
              </a:rPr>
              <a:t>0478/13 Oct/Nov 2025 Q6(a)</a:t>
            </a:r>
            <a:endParaRPr lang="en-US" sz="900" dirty="0"/>
          </a:p>
        </p:txBody>
      </p:sp>
      <p:sp>
        <p:nvSpPr>
          <p:cNvPr id="9" name="Text 6"/>
          <p:cNvSpPr txBox="1"/>
          <p:nvPr/>
        </p:nvSpPr>
        <p:spPr>
          <a:xfrm>
            <a:off x="731520" y="1828800"/>
            <a:ext cx="457200" cy="365760"/>
          </a:xfrm>
          <a:prstGeom prst="rect">
            <a:avLst/>
          </a:prstGeom>
          <a:noFill/>
          <a:ln/>
        </p:spPr>
        <p:txBody>
          <a:bodyPr wrap="square" lIns="0" tIns="0" rIns="0" bIns="0" rtlCol="0" anchor="t"/>
          <a:lstStyle/>
          <a:p>
            <a:pPr indent="0" marL="0">
              <a:buNone/>
            </a:pPr>
            <a:r>
              <a:rPr lang="en-US" sz="1600" b="1" dirty="0">
                <a:solidFill>
                  <a:srgbClr val="494985"/>
                </a:solidFill>
                <a:latin typeface="Quicksand" pitchFamily="34" charset="0"/>
                <a:ea typeface="Quicksand" pitchFamily="34" charset="-122"/>
                <a:cs typeface="Quicksand" pitchFamily="34" charset="-120"/>
              </a:rPr>
              <a:t>01</a:t>
            </a:r>
            <a:endParaRPr lang="en-US" sz="1600" dirty="0"/>
          </a:p>
        </p:txBody>
      </p:sp>
      <p:sp>
        <p:nvSpPr>
          <p:cNvPr id="10" name="Text 7"/>
          <p:cNvSpPr txBox="1"/>
          <p:nvPr/>
        </p:nvSpPr>
        <p:spPr>
          <a:xfrm>
            <a:off x="1371600" y="1815084"/>
            <a:ext cx="10012680" cy="795528"/>
          </a:xfrm>
          <a:prstGeom prst="rect">
            <a:avLst/>
          </a:prstGeom>
          <a:noFill/>
          <a:ln/>
        </p:spPr>
        <p:txBody>
          <a:bodyPr wrap="square" lIns="0" tIns="0" rIns="0" bIns="0" rtlCol="0" anchor="t"/>
          <a:lstStyle/>
          <a:p>
            <a:pPr indent="0" marL="0">
              <a:buNone/>
            </a:pPr>
            <a:r>
              <a:rPr lang="en-US" sz="2200" dirty="0">
                <a:solidFill>
                  <a:srgbClr val="252341"/>
                </a:solidFill>
                <a:latin typeface="Quicksand" pitchFamily="34" charset="0"/>
                <a:ea typeface="Quicksand" pitchFamily="34" charset="-122"/>
                <a:cs typeface="Quicksand" pitchFamily="34" charset="-120"/>
              </a:rPr>
              <a:t>Computers simulate intelligent behaviour.</a:t>
            </a:r>
            <a:endParaRPr lang="en-US" sz="2200" dirty="0"/>
          </a:p>
        </p:txBody>
      </p:sp>
      <p:sp>
        <p:nvSpPr>
          <p:cNvPr id="11" name="Shape 8"/>
          <p:cNvSpPr/>
          <p:nvPr/>
        </p:nvSpPr>
        <p:spPr>
          <a:xfrm>
            <a:off x="1371600" y="2578608"/>
            <a:ext cx="10012680" cy="0"/>
          </a:xfrm>
          <a:prstGeom prst="line">
            <a:avLst/>
          </a:prstGeom>
          <a:noFill/>
          <a:ln w="8890">
            <a:solidFill>
              <a:srgbClr val="DDDBE5"/>
            </a:solidFill>
            <a:prstDash val="solid"/>
          </a:ln>
        </p:spPr>
      </p:sp>
      <p:sp>
        <p:nvSpPr>
          <p:cNvPr id="12" name="Text 9"/>
          <p:cNvSpPr txBox="1"/>
          <p:nvPr/>
        </p:nvSpPr>
        <p:spPr>
          <a:xfrm>
            <a:off x="731520" y="2734056"/>
            <a:ext cx="457200" cy="365760"/>
          </a:xfrm>
          <a:prstGeom prst="rect">
            <a:avLst/>
          </a:prstGeom>
          <a:noFill/>
          <a:ln/>
        </p:spPr>
        <p:txBody>
          <a:bodyPr wrap="square" lIns="0" tIns="0" rIns="0" bIns="0" rtlCol="0" anchor="t"/>
          <a:lstStyle/>
          <a:p>
            <a:pPr indent="0" marL="0">
              <a:buNone/>
            </a:pPr>
            <a:r>
              <a:rPr lang="en-US" sz="1600" b="1" dirty="0">
                <a:solidFill>
                  <a:srgbClr val="494985"/>
                </a:solidFill>
                <a:latin typeface="Quicksand" pitchFamily="34" charset="0"/>
                <a:ea typeface="Quicksand" pitchFamily="34" charset="-122"/>
                <a:cs typeface="Quicksand" pitchFamily="34" charset="-120"/>
              </a:rPr>
              <a:t>02</a:t>
            </a:r>
            <a:endParaRPr lang="en-US" sz="1600" dirty="0"/>
          </a:p>
        </p:txBody>
      </p:sp>
      <p:sp>
        <p:nvSpPr>
          <p:cNvPr id="13" name="Text 10"/>
          <p:cNvSpPr txBox="1"/>
          <p:nvPr/>
        </p:nvSpPr>
        <p:spPr>
          <a:xfrm>
            <a:off x="1371600" y="2720340"/>
            <a:ext cx="10012680" cy="795528"/>
          </a:xfrm>
          <a:prstGeom prst="rect">
            <a:avLst/>
          </a:prstGeom>
          <a:noFill/>
          <a:ln/>
        </p:spPr>
        <p:txBody>
          <a:bodyPr wrap="square" lIns="0" tIns="0" rIns="0" bIns="0" rtlCol="0" anchor="t"/>
          <a:lstStyle/>
          <a:p>
            <a:pPr indent="0" marL="0">
              <a:buNone/>
            </a:pPr>
            <a:r>
              <a:rPr lang="en-US" sz="2200" dirty="0">
                <a:solidFill>
                  <a:srgbClr val="252341"/>
                </a:solidFill>
                <a:latin typeface="Quicksand" pitchFamily="34" charset="0"/>
                <a:ea typeface="Quicksand" pitchFamily="34" charset="-122"/>
                <a:cs typeface="Quicksand" pitchFamily="34" charset="-120"/>
              </a:rPr>
              <a:t>They use data and rules for that data.</a:t>
            </a:r>
            <a:endParaRPr lang="en-US" sz="2200" dirty="0"/>
          </a:p>
        </p:txBody>
      </p:sp>
      <p:sp>
        <p:nvSpPr>
          <p:cNvPr id="14" name="Shape 11"/>
          <p:cNvSpPr/>
          <p:nvPr/>
        </p:nvSpPr>
        <p:spPr>
          <a:xfrm>
            <a:off x="1371600" y="3483864"/>
            <a:ext cx="10012680" cy="0"/>
          </a:xfrm>
          <a:prstGeom prst="line">
            <a:avLst/>
          </a:prstGeom>
          <a:noFill/>
          <a:ln w="8890">
            <a:solidFill>
              <a:srgbClr val="DDDBE5"/>
            </a:solidFill>
            <a:prstDash val="solid"/>
          </a:ln>
        </p:spPr>
      </p:sp>
      <p:sp>
        <p:nvSpPr>
          <p:cNvPr id="15" name="Text 12"/>
          <p:cNvSpPr txBox="1"/>
          <p:nvPr/>
        </p:nvSpPr>
        <p:spPr>
          <a:xfrm>
            <a:off x="731520" y="3639312"/>
            <a:ext cx="457200" cy="365760"/>
          </a:xfrm>
          <a:prstGeom prst="rect">
            <a:avLst/>
          </a:prstGeom>
          <a:noFill/>
          <a:ln/>
        </p:spPr>
        <p:txBody>
          <a:bodyPr wrap="square" lIns="0" tIns="0" rIns="0" bIns="0" rtlCol="0" anchor="t"/>
          <a:lstStyle/>
          <a:p>
            <a:pPr indent="0" marL="0">
              <a:buNone/>
            </a:pPr>
            <a:r>
              <a:rPr lang="en-US" sz="1600" b="1" dirty="0">
                <a:solidFill>
                  <a:srgbClr val="494985"/>
                </a:solidFill>
                <a:latin typeface="Quicksand" pitchFamily="34" charset="0"/>
                <a:ea typeface="Quicksand" pitchFamily="34" charset="-122"/>
                <a:cs typeface="Quicksand" pitchFamily="34" charset="-120"/>
              </a:rPr>
              <a:t>03</a:t>
            </a:r>
            <a:endParaRPr lang="en-US" sz="1600" dirty="0"/>
          </a:p>
        </p:txBody>
      </p:sp>
      <p:sp>
        <p:nvSpPr>
          <p:cNvPr id="16" name="Text 13"/>
          <p:cNvSpPr txBox="1"/>
          <p:nvPr/>
        </p:nvSpPr>
        <p:spPr>
          <a:xfrm>
            <a:off x="1371600" y="3625596"/>
            <a:ext cx="10012680" cy="795528"/>
          </a:xfrm>
          <a:prstGeom prst="rect">
            <a:avLst/>
          </a:prstGeom>
          <a:noFill/>
          <a:ln/>
        </p:spPr>
        <p:txBody>
          <a:bodyPr wrap="square" lIns="0" tIns="0" rIns="0" bIns="0" rtlCol="0" anchor="t"/>
          <a:lstStyle/>
          <a:p>
            <a:pPr indent="0" marL="0">
              <a:buNone/>
            </a:pPr>
            <a:r>
              <a:rPr lang="en-US" sz="2200" dirty="0">
                <a:solidFill>
                  <a:srgbClr val="252341"/>
                </a:solidFill>
                <a:latin typeface="Quicksand" pitchFamily="34" charset="0"/>
                <a:ea typeface="Quicksand" pitchFamily="34" charset="-122"/>
                <a:cs typeface="Quicksand" pitchFamily="34" charset="-120"/>
              </a:rPr>
              <a:t>They can learn from experience.</a:t>
            </a:r>
            <a:endParaRPr lang="en-US" sz="2200" dirty="0"/>
          </a:p>
        </p:txBody>
      </p:sp>
      <p:sp>
        <p:nvSpPr>
          <p:cNvPr id="17" name="Text 14"/>
          <p:cNvSpPr txBox="1"/>
          <p:nvPr/>
        </p:nvSpPr>
        <p:spPr>
          <a:xfrm>
            <a:off x="594360" y="5650992"/>
            <a:ext cx="10972800" cy="384048"/>
          </a:xfrm>
          <a:prstGeom prst="rect">
            <a:avLst/>
          </a:prstGeom>
          <a:noFill/>
          <a:ln/>
        </p:spPr>
        <p:txBody>
          <a:bodyPr wrap="square" lIns="0" tIns="0" rIns="0" bIns="0" rtlCol="0" anchor="t"/>
          <a:lstStyle/>
          <a:p>
            <a:pPr indent="0" marL="0">
              <a:buNone/>
            </a:pPr>
            <a:r>
              <a:rPr lang="en-US" sz="1700" b="1" dirty="0">
                <a:solidFill>
                  <a:srgbClr val="494985"/>
                </a:solidFill>
                <a:latin typeface="Quicksand" pitchFamily="34" charset="0"/>
                <a:ea typeface="Quicksand" pitchFamily="34" charset="-122"/>
                <a:cs typeface="Quicksand" pitchFamily="34" charset="-120"/>
              </a:rPr>
              <a:t>The simulation phrase is one idea. “Computer” and “intelligent” are not two separate marks.</a:t>
            </a:r>
            <a:endParaRPr lang="en-US" sz="17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AF9F6"/>
        </a:solidFill>
      </p:bgPr>
    </p:bg>
    <p:spTree>
      <p:nvGrpSpPr>
        <p:cNvPr id="1" name=""/>
        <p:cNvGrpSpPr/>
        <p:nvPr/>
      </p:nvGrpSpPr>
      <p:grpSpPr>
        <a:xfrm>
          <a:off x="0" y="0"/>
          <a:ext cx="0" cy="0"/>
          <a:chOff x="0" y="0"/>
          <a:chExt cx="0" cy="0"/>
        </a:xfrm>
      </p:grpSpPr>
      <p:sp>
        <p:nvSpPr>
          <p:cNvPr id="2" name="Text 0"/>
          <p:cNvSpPr txBox="1"/>
          <p:nvPr/>
        </p:nvSpPr>
        <p:spPr>
          <a:xfrm>
            <a:off x="594360" y="301752"/>
            <a:ext cx="10424160" cy="274320"/>
          </a:xfrm>
          <a:prstGeom prst="rect">
            <a:avLst/>
          </a:prstGeom>
          <a:noFill/>
          <a:ln/>
        </p:spPr>
        <p:txBody>
          <a:bodyPr wrap="square" lIns="0" tIns="0" rIns="0" bIns="0" rtlCol="0" anchor="t"/>
          <a:lstStyle/>
          <a:p>
            <a:pPr indent="0" marL="0">
              <a:buNone/>
            </a:pPr>
            <a:r>
              <a:rPr lang="en-US" sz="1100" b="1" spc="200" kern="0" dirty="0">
                <a:solidFill>
                  <a:srgbClr val="494985"/>
                </a:solidFill>
                <a:latin typeface="Quicksand" pitchFamily="34" charset="0"/>
                <a:ea typeface="Quicksand" pitchFamily="34" charset="-122"/>
                <a:cs typeface="Quicksand" pitchFamily="34" charset="-120"/>
              </a:rPr>
              <a:t>EXAM PRACTICE</a:t>
            </a:r>
            <a:endParaRPr lang="en-US" sz="1100" dirty="0"/>
          </a:p>
        </p:txBody>
      </p:sp>
      <p:sp>
        <p:nvSpPr>
          <p:cNvPr id="3" name="Text 1"/>
          <p:cNvSpPr txBox="1"/>
          <p:nvPr/>
        </p:nvSpPr>
        <p:spPr>
          <a:xfrm>
            <a:off x="594360" y="822960"/>
            <a:ext cx="10972800" cy="640080"/>
          </a:xfrm>
          <a:prstGeom prst="rect">
            <a:avLst/>
          </a:prstGeom>
          <a:noFill/>
          <a:ln/>
        </p:spPr>
        <p:txBody>
          <a:bodyPr wrap="square" lIns="0" tIns="0" rIns="0" bIns="0" rtlCol="0" anchor="t"/>
          <a:lstStyle/>
          <a:p>
            <a:pPr indent="0" marL="0">
              <a:buNone/>
            </a:pPr>
            <a:r>
              <a:rPr lang="en-US" sz="3200" b="1" dirty="0">
                <a:solidFill>
                  <a:srgbClr val="252341"/>
                </a:solidFill>
                <a:latin typeface="Quicksand" pitchFamily="34" charset="0"/>
                <a:ea typeface="Quicksand" pitchFamily="34" charset="-122"/>
                <a:cs typeface="Quicksand" pitchFamily="34" charset="-120"/>
              </a:rPr>
              <a:t>Name the component; explain its job</a:t>
            </a:r>
            <a:endParaRPr lang="en-US" sz="3200" dirty="0"/>
          </a:p>
        </p:txBody>
      </p:sp>
      <p:sp>
        <p:nvSpPr>
          <p:cNvPr id="4" name="Shape 2"/>
          <p:cNvSpPr/>
          <p:nvPr/>
        </p:nvSpPr>
        <p:spPr>
          <a:xfrm>
            <a:off x="594360" y="6355080"/>
            <a:ext cx="10972800" cy="0"/>
          </a:xfrm>
          <a:prstGeom prst="line">
            <a:avLst/>
          </a:prstGeom>
          <a:noFill/>
          <a:ln w="8890">
            <a:solidFill>
              <a:srgbClr val="DDDBE5"/>
            </a:solidFill>
            <a:prstDash val="solid"/>
          </a:ln>
        </p:spPr>
      </p:sp>
      <p:sp>
        <p:nvSpPr>
          <p:cNvPr id="5" name="Text 3"/>
          <p:cNvSpPr txBox="1"/>
          <p:nvPr/>
        </p:nvSpPr>
        <p:spPr>
          <a:xfrm>
            <a:off x="594360" y="6473952"/>
            <a:ext cx="5486400" cy="164592"/>
          </a:xfrm>
          <a:prstGeom prst="rect">
            <a:avLst/>
          </a:prstGeom>
          <a:noFill/>
          <a:ln/>
        </p:spPr>
        <p:txBody>
          <a:bodyPr wrap="square" lIns="0" tIns="0" rIns="0" bIns="0" rtlCol="0" anchor="t"/>
          <a:lstStyle/>
          <a:p>
            <a:pPr indent="0" marL="0">
              <a:buNone/>
            </a:pPr>
            <a:r>
              <a:rPr lang="en-US" sz="800" dirty="0">
                <a:solidFill>
                  <a:srgbClr val="777584"/>
                </a:solidFill>
                <a:latin typeface="Quicksand" pitchFamily="34" charset="0"/>
                <a:ea typeface="Quicksand" pitchFamily="34" charset="-122"/>
                <a:cs typeface="Quicksand" pitchFamily="34" charset="-120"/>
              </a:rPr>
              <a:t>IGCSE 0478  /  ARTIFICIAL INTELLIGENCE</a:t>
            </a:r>
            <a:endParaRPr lang="en-US" sz="800" dirty="0"/>
          </a:p>
        </p:txBody>
      </p:sp>
      <p:sp>
        <p:nvSpPr>
          <p:cNvPr id="6" name="Text 4"/>
          <p:cNvSpPr txBox="1"/>
          <p:nvPr/>
        </p:nvSpPr>
        <p:spPr>
          <a:xfrm>
            <a:off x="11018520" y="6419088"/>
            <a:ext cx="530352" cy="228600"/>
          </a:xfrm>
          <a:prstGeom prst="rect">
            <a:avLst/>
          </a:prstGeom>
          <a:noFill/>
          <a:ln/>
        </p:spPr>
        <p:txBody>
          <a:bodyPr wrap="square" lIns="0" tIns="0" rIns="0" bIns="0" rtlCol="0" anchor="t"/>
          <a:lstStyle/>
          <a:p>
            <a:pPr algn="r" indent="0" marL="0">
              <a:buNone/>
            </a:pPr>
            <a:r>
              <a:rPr lang="en-US" sz="1100" dirty="0">
                <a:solidFill>
                  <a:srgbClr val="777584"/>
                </a:solidFill>
                <a:latin typeface="Quicksand" pitchFamily="34" charset="0"/>
                <a:ea typeface="Quicksand" pitchFamily="34" charset="-122"/>
                <a:cs typeface="Quicksand" pitchFamily="34" charset="-120"/>
              </a:rPr>
              <a:t>21</a:t>
            </a:r>
            <a:endParaRPr lang="en-US" sz="1100" dirty="0"/>
          </a:p>
        </p:txBody>
      </p:sp>
      <p:sp>
        <p:nvSpPr>
          <p:cNvPr id="7" name="Text 5"/>
          <p:cNvSpPr txBox="1"/>
          <p:nvPr/>
        </p:nvSpPr>
        <p:spPr>
          <a:xfrm>
            <a:off x="594360" y="6144768"/>
            <a:ext cx="10607040" cy="164592"/>
          </a:xfrm>
          <a:prstGeom prst="rect">
            <a:avLst/>
          </a:prstGeom>
          <a:noFill/>
          <a:ln/>
        </p:spPr>
        <p:txBody>
          <a:bodyPr wrap="square" lIns="0" tIns="0" rIns="0" bIns="0" rtlCol="0" anchor="t"/>
          <a:lstStyle/>
          <a:p>
            <a:pPr indent="0" marL="0">
              <a:buNone/>
            </a:pPr>
            <a:r>
              <a:rPr lang="en-US" sz="900" dirty="0">
                <a:solidFill>
                  <a:srgbClr val="777584"/>
                </a:solidFill>
                <a:latin typeface="Quicksand" pitchFamily="34" charset="0"/>
                <a:ea typeface="Quicksand" pitchFamily="34" charset="-122"/>
                <a:cs typeface="Quicksand" pitchFamily="34" charset="-120"/>
              </a:rPr>
              <a:t>0478/12 May/June 2023 Q9(b) · 0478/13 May/June 2023 Q7(b)</a:t>
            </a:r>
            <a:endParaRPr lang="en-US" sz="900" dirty="0"/>
          </a:p>
        </p:txBody>
      </p:sp>
      <p:sp>
        <p:nvSpPr>
          <p:cNvPr id="9" name="Text 6"/>
          <p:cNvSpPr txBox="1"/>
          <p:nvPr/>
        </p:nvSpPr>
        <p:spPr>
          <a:xfrm>
            <a:off x="731520" y="1828800"/>
            <a:ext cx="10698480" cy="292608"/>
          </a:xfrm>
          <a:prstGeom prst="rect">
            <a:avLst/>
          </a:prstGeom>
          <a:noFill/>
          <a:ln/>
        </p:spPr>
        <p:txBody>
          <a:bodyPr wrap="square" lIns="0" tIns="0" rIns="0" bIns="0" rtlCol="0" anchor="t"/>
          <a:lstStyle/>
          <a:p>
            <a:pPr indent="0" marL="0">
              <a:buNone/>
            </a:pPr>
            <a:r>
              <a:rPr lang="en-US" sz="1200" b="1" dirty="0">
                <a:solidFill>
                  <a:srgbClr val="494985"/>
                </a:solidFill>
                <a:latin typeface="Quicksand" pitchFamily="34" charset="0"/>
                <a:ea typeface="Quicksand" pitchFamily="34" charset="-122"/>
                <a:cs typeface="Quicksand" pitchFamily="34" charset="-120"/>
              </a:rPr>
              <a:t>QUESTION 1  /  2 MARKS</a:t>
            </a:r>
            <a:endParaRPr lang="en-US" sz="1200" dirty="0"/>
          </a:p>
        </p:txBody>
      </p:sp>
      <p:sp>
        <p:nvSpPr>
          <p:cNvPr id="10" name="Text 7"/>
          <p:cNvSpPr txBox="1"/>
          <p:nvPr/>
        </p:nvSpPr>
        <p:spPr>
          <a:xfrm>
            <a:off x="731520" y="2267712"/>
            <a:ext cx="10698480" cy="914400"/>
          </a:xfrm>
          <a:prstGeom prst="rect">
            <a:avLst/>
          </a:prstGeom>
          <a:noFill/>
          <a:ln/>
        </p:spPr>
        <p:txBody>
          <a:bodyPr wrap="square" lIns="0" tIns="0" rIns="0" bIns="0" rtlCol="0" anchor="t"/>
          <a:lstStyle/>
          <a:p>
            <a:pPr indent="0" marL="0">
              <a:buNone/>
            </a:pPr>
            <a:r>
              <a:rPr lang="en-US" sz="2400" dirty="0">
                <a:solidFill>
                  <a:srgbClr val="252341"/>
                </a:solidFill>
                <a:latin typeface="Quicksand" pitchFamily="34" charset="0"/>
                <a:ea typeface="Quicksand" pitchFamily="34" charset="-122"/>
                <a:cs typeface="Quicksand" pitchFamily="34" charset="-120"/>
              </a:rPr>
              <a:t>Describe the role of the inference engine in an expert system.</a:t>
            </a:r>
            <a:endParaRPr lang="en-US" sz="2400" dirty="0"/>
          </a:p>
        </p:txBody>
      </p:sp>
      <p:sp>
        <p:nvSpPr>
          <p:cNvPr id="11" name="Shape 8"/>
          <p:cNvSpPr/>
          <p:nvPr/>
        </p:nvSpPr>
        <p:spPr>
          <a:xfrm>
            <a:off x="731520" y="3200400"/>
            <a:ext cx="10698480" cy="0"/>
          </a:xfrm>
          <a:prstGeom prst="line">
            <a:avLst/>
          </a:prstGeom>
          <a:noFill/>
          <a:ln w="8890">
            <a:solidFill>
              <a:srgbClr val="DDDBE5"/>
            </a:solidFill>
            <a:prstDash val="solid"/>
          </a:ln>
        </p:spPr>
      </p:sp>
      <p:sp>
        <p:nvSpPr>
          <p:cNvPr id="12" name="Text 9"/>
          <p:cNvSpPr txBox="1"/>
          <p:nvPr/>
        </p:nvSpPr>
        <p:spPr>
          <a:xfrm>
            <a:off x="731520" y="3456432"/>
            <a:ext cx="10698480" cy="292608"/>
          </a:xfrm>
          <a:prstGeom prst="rect">
            <a:avLst/>
          </a:prstGeom>
          <a:noFill/>
          <a:ln/>
        </p:spPr>
        <p:txBody>
          <a:bodyPr wrap="square" lIns="0" tIns="0" rIns="0" bIns="0" rtlCol="0" anchor="t"/>
          <a:lstStyle/>
          <a:p>
            <a:pPr indent="0" marL="0">
              <a:buNone/>
            </a:pPr>
            <a:r>
              <a:rPr lang="en-US" sz="1200" b="1" dirty="0">
                <a:solidFill>
                  <a:srgbClr val="494985"/>
                </a:solidFill>
                <a:latin typeface="Quicksand" pitchFamily="34" charset="0"/>
                <a:ea typeface="Quicksand" pitchFamily="34" charset="-122"/>
                <a:cs typeface="Quicksand" pitchFamily="34" charset="-120"/>
              </a:rPr>
              <a:t>QUESTION 2  /  2 MARKS</a:t>
            </a:r>
            <a:endParaRPr lang="en-US" sz="1200" dirty="0"/>
          </a:p>
        </p:txBody>
      </p:sp>
      <p:sp>
        <p:nvSpPr>
          <p:cNvPr id="13" name="Text 10"/>
          <p:cNvSpPr txBox="1"/>
          <p:nvPr/>
        </p:nvSpPr>
        <p:spPr>
          <a:xfrm>
            <a:off x="731520" y="3895344"/>
            <a:ext cx="10698480" cy="914400"/>
          </a:xfrm>
          <a:prstGeom prst="rect">
            <a:avLst/>
          </a:prstGeom>
          <a:noFill/>
          <a:ln/>
        </p:spPr>
        <p:txBody>
          <a:bodyPr wrap="square" lIns="0" tIns="0" rIns="0" bIns="0" rtlCol="0" anchor="t"/>
          <a:lstStyle/>
          <a:p>
            <a:pPr indent="0" marL="0">
              <a:buNone/>
            </a:pPr>
            <a:r>
              <a:rPr lang="en-US" sz="2400" dirty="0">
                <a:solidFill>
                  <a:srgbClr val="252341"/>
                </a:solidFill>
                <a:latin typeface="Quicksand" pitchFamily="34" charset="0"/>
                <a:ea typeface="Quicksand" pitchFamily="34" charset="-122"/>
                <a:cs typeface="Quicksand" pitchFamily="34" charset="-120"/>
              </a:rPr>
              <a:t>Describe the role of the rule base in an expert system.</a:t>
            </a:r>
            <a:endParaRPr lang="en-US" sz="2400" dirty="0"/>
          </a:p>
        </p:txBody>
      </p:sp>
      <p:sp>
        <p:nvSpPr>
          <p:cNvPr id="14" name="Text 11"/>
          <p:cNvSpPr txBox="1"/>
          <p:nvPr/>
        </p:nvSpPr>
        <p:spPr>
          <a:xfrm>
            <a:off x="594360" y="5650992"/>
            <a:ext cx="10972800" cy="384048"/>
          </a:xfrm>
          <a:prstGeom prst="rect">
            <a:avLst/>
          </a:prstGeom>
          <a:noFill/>
          <a:ln/>
        </p:spPr>
        <p:txBody>
          <a:bodyPr wrap="square" lIns="0" tIns="0" rIns="0" bIns="0" rtlCol="0" anchor="t"/>
          <a:lstStyle/>
          <a:p>
            <a:pPr indent="0" marL="0">
              <a:buNone/>
            </a:pPr>
            <a:r>
              <a:rPr lang="en-US" sz="1700" b="1" dirty="0">
                <a:solidFill>
                  <a:srgbClr val="494985"/>
                </a:solidFill>
                <a:latin typeface="Quicksand" pitchFamily="34" charset="0"/>
                <a:ea typeface="Quicksand" pitchFamily="34" charset="-122"/>
                <a:cs typeface="Quicksand" pitchFamily="34" charset="-120"/>
              </a:rPr>
              <a:t>Attempt independently. Discuss the reasoning before checking the model answer.</a:t>
            </a:r>
            <a:endParaRPr lang="en-US" sz="17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AF9F6"/>
        </a:solidFill>
      </p:bgPr>
    </p:bg>
    <p:spTree>
      <p:nvGrpSpPr>
        <p:cNvPr id="1" name=""/>
        <p:cNvGrpSpPr/>
        <p:nvPr/>
      </p:nvGrpSpPr>
      <p:grpSpPr>
        <a:xfrm>
          <a:off x="0" y="0"/>
          <a:ext cx="0" cy="0"/>
          <a:chOff x="0" y="0"/>
          <a:chExt cx="0" cy="0"/>
        </a:xfrm>
      </p:grpSpPr>
      <p:sp>
        <p:nvSpPr>
          <p:cNvPr id="2" name="Text 0"/>
          <p:cNvSpPr txBox="1"/>
          <p:nvPr/>
        </p:nvSpPr>
        <p:spPr>
          <a:xfrm>
            <a:off x="594360" y="301752"/>
            <a:ext cx="10424160" cy="274320"/>
          </a:xfrm>
          <a:prstGeom prst="rect">
            <a:avLst/>
          </a:prstGeom>
          <a:noFill/>
          <a:ln/>
        </p:spPr>
        <p:txBody>
          <a:bodyPr wrap="square" lIns="0" tIns="0" rIns="0" bIns="0" rtlCol="0" anchor="t"/>
          <a:lstStyle/>
          <a:p>
            <a:pPr indent="0" marL="0">
              <a:buNone/>
            </a:pPr>
            <a:r>
              <a:rPr lang="en-US" sz="1100" b="1" spc="200" kern="0" dirty="0">
                <a:solidFill>
                  <a:srgbClr val="494985"/>
                </a:solidFill>
                <a:latin typeface="Quicksand" pitchFamily="34" charset="0"/>
                <a:ea typeface="Quicksand" pitchFamily="34" charset="-122"/>
                <a:cs typeface="Quicksand" pitchFamily="34" charset="-120"/>
              </a:rPr>
              <a:t>FEEDBACK · AFTER PRACTICE</a:t>
            </a:r>
            <a:endParaRPr lang="en-US" sz="1100" dirty="0"/>
          </a:p>
        </p:txBody>
      </p:sp>
      <p:sp>
        <p:nvSpPr>
          <p:cNvPr id="3" name="Text 1"/>
          <p:cNvSpPr txBox="1"/>
          <p:nvPr/>
        </p:nvSpPr>
        <p:spPr>
          <a:xfrm>
            <a:off x="594360" y="822960"/>
            <a:ext cx="10972800" cy="640080"/>
          </a:xfrm>
          <a:prstGeom prst="rect">
            <a:avLst/>
          </a:prstGeom>
          <a:noFill/>
          <a:ln/>
        </p:spPr>
        <p:txBody>
          <a:bodyPr wrap="square" lIns="0" tIns="0" rIns="0" bIns="0" rtlCol="0" anchor="t"/>
          <a:lstStyle/>
          <a:p>
            <a:pPr indent="0" marL="0">
              <a:buNone/>
            </a:pPr>
            <a:r>
              <a:rPr lang="en-US" sz="3200" b="1" dirty="0">
                <a:solidFill>
                  <a:srgbClr val="252341"/>
                </a:solidFill>
                <a:latin typeface="Quicksand" pitchFamily="34" charset="0"/>
                <a:ea typeface="Quicksand" pitchFamily="34" charset="-122"/>
                <a:cs typeface="Quicksand" pitchFamily="34" charset="-120"/>
              </a:rPr>
              <a:t>Connect the mechanism to its result</a:t>
            </a:r>
            <a:endParaRPr lang="en-US" sz="3200" dirty="0"/>
          </a:p>
        </p:txBody>
      </p:sp>
      <p:sp>
        <p:nvSpPr>
          <p:cNvPr id="4" name="Shape 2"/>
          <p:cNvSpPr/>
          <p:nvPr/>
        </p:nvSpPr>
        <p:spPr>
          <a:xfrm>
            <a:off x="594360" y="6355080"/>
            <a:ext cx="10972800" cy="0"/>
          </a:xfrm>
          <a:prstGeom prst="line">
            <a:avLst/>
          </a:prstGeom>
          <a:noFill/>
          <a:ln w="8890">
            <a:solidFill>
              <a:srgbClr val="DDDBE5"/>
            </a:solidFill>
            <a:prstDash val="solid"/>
          </a:ln>
        </p:spPr>
      </p:sp>
      <p:sp>
        <p:nvSpPr>
          <p:cNvPr id="5" name="Text 3"/>
          <p:cNvSpPr txBox="1"/>
          <p:nvPr/>
        </p:nvSpPr>
        <p:spPr>
          <a:xfrm>
            <a:off x="594360" y="6473952"/>
            <a:ext cx="5486400" cy="164592"/>
          </a:xfrm>
          <a:prstGeom prst="rect">
            <a:avLst/>
          </a:prstGeom>
          <a:noFill/>
          <a:ln/>
        </p:spPr>
        <p:txBody>
          <a:bodyPr wrap="square" lIns="0" tIns="0" rIns="0" bIns="0" rtlCol="0" anchor="t"/>
          <a:lstStyle/>
          <a:p>
            <a:pPr indent="0" marL="0">
              <a:buNone/>
            </a:pPr>
            <a:r>
              <a:rPr lang="en-US" sz="800" dirty="0">
                <a:solidFill>
                  <a:srgbClr val="777584"/>
                </a:solidFill>
                <a:latin typeface="Quicksand" pitchFamily="34" charset="0"/>
                <a:ea typeface="Quicksand" pitchFamily="34" charset="-122"/>
                <a:cs typeface="Quicksand" pitchFamily="34" charset="-120"/>
              </a:rPr>
              <a:t>IGCSE 0478  /  ARTIFICIAL INTELLIGENCE</a:t>
            </a:r>
            <a:endParaRPr lang="en-US" sz="800" dirty="0"/>
          </a:p>
        </p:txBody>
      </p:sp>
      <p:sp>
        <p:nvSpPr>
          <p:cNvPr id="6" name="Text 4"/>
          <p:cNvSpPr txBox="1"/>
          <p:nvPr/>
        </p:nvSpPr>
        <p:spPr>
          <a:xfrm>
            <a:off x="11018520" y="6419088"/>
            <a:ext cx="530352" cy="228600"/>
          </a:xfrm>
          <a:prstGeom prst="rect">
            <a:avLst/>
          </a:prstGeom>
          <a:noFill/>
          <a:ln/>
        </p:spPr>
        <p:txBody>
          <a:bodyPr wrap="square" lIns="0" tIns="0" rIns="0" bIns="0" rtlCol="0" anchor="t"/>
          <a:lstStyle/>
          <a:p>
            <a:pPr algn="r" indent="0" marL="0">
              <a:buNone/>
            </a:pPr>
            <a:r>
              <a:rPr lang="en-US" sz="1100" dirty="0">
                <a:solidFill>
                  <a:srgbClr val="777584"/>
                </a:solidFill>
                <a:latin typeface="Quicksand" pitchFamily="34" charset="0"/>
                <a:ea typeface="Quicksand" pitchFamily="34" charset="-122"/>
                <a:cs typeface="Quicksand" pitchFamily="34" charset="-120"/>
              </a:rPr>
              <a:t>22</a:t>
            </a:r>
            <a:endParaRPr lang="en-US" sz="1100" dirty="0"/>
          </a:p>
        </p:txBody>
      </p:sp>
      <p:sp>
        <p:nvSpPr>
          <p:cNvPr id="7" name="Text 5"/>
          <p:cNvSpPr txBox="1"/>
          <p:nvPr/>
        </p:nvSpPr>
        <p:spPr>
          <a:xfrm>
            <a:off x="594360" y="6144768"/>
            <a:ext cx="10607040" cy="164592"/>
          </a:xfrm>
          <a:prstGeom prst="rect">
            <a:avLst/>
          </a:prstGeom>
          <a:noFill/>
          <a:ln/>
        </p:spPr>
        <p:txBody>
          <a:bodyPr wrap="square" lIns="0" tIns="0" rIns="0" bIns="0" rtlCol="0" anchor="t"/>
          <a:lstStyle/>
          <a:p>
            <a:pPr indent="0" marL="0">
              <a:buNone/>
            </a:pPr>
            <a:r>
              <a:rPr lang="en-US" sz="900" dirty="0">
                <a:solidFill>
                  <a:srgbClr val="777584"/>
                </a:solidFill>
                <a:latin typeface="Quicksand" pitchFamily="34" charset="0"/>
                <a:ea typeface="Quicksand" pitchFamily="34" charset="-122"/>
                <a:cs typeface="Quicksand" pitchFamily="34" charset="-120"/>
              </a:rPr>
              <a:t>0478/12 May/June 2023 Q9(b)</a:t>
            </a:r>
            <a:endParaRPr lang="en-US" sz="900" dirty="0"/>
          </a:p>
        </p:txBody>
      </p:sp>
      <p:sp>
        <p:nvSpPr>
          <p:cNvPr id="9" name="Text 6"/>
          <p:cNvSpPr txBox="1"/>
          <p:nvPr/>
        </p:nvSpPr>
        <p:spPr>
          <a:xfrm>
            <a:off x="731520" y="1828800"/>
            <a:ext cx="457200" cy="365760"/>
          </a:xfrm>
          <a:prstGeom prst="rect">
            <a:avLst/>
          </a:prstGeom>
          <a:noFill/>
          <a:ln/>
        </p:spPr>
        <p:txBody>
          <a:bodyPr wrap="square" lIns="0" tIns="0" rIns="0" bIns="0" rtlCol="0" anchor="t"/>
          <a:lstStyle/>
          <a:p>
            <a:pPr indent="0" marL="0">
              <a:buNone/>
            </a:pPr>
            <a:r>
              <a:rPr lang="en-US" sz="1600" b="1" dirty="0">
                <a:solidFill>
                  <a:srgbClr val="494985"/>
                </a:solidFill>
                <a:latin typeface="Quicksand" pitchFamily="34" charset="0"/>
                <a:ea typeface="Quicksand" pitchFamily="34" charset="-122"/>
                <a:cs typeface="Quicksand" pitchFamily="34" charset="-120"/>
              </a:rPr>
              <a:t>01</a:t>
            </a:r>
            <a:endParaRPr lang="en-US" sz="1600" dirty="0"/>
          </a:p>
        </p:txBody>
      </p:sp>
      <p:sp>
        <p:nvSpPr>
          <p:cNvPr id="10" name="Text 7"/>
          <p:cNvSpPr txBox="1"/>
          <p:nvPr/>
        </p:nvSpPr>
        <p:spPr>
          <a:xfrm>
            <a:off x="1371600" y="1815084"/>
            <a:ext cx="10012680" cy="795528"/>
          </a:xfrm>
          <a:prstGeom prst="rect">
            <a:avLst/>
          </a:prstGeom>
          <a:noFill/>
          <a:ln/>
        </p:spPr>
        <p:txBody>
          <a:bodyPr wrap="square" lIns="0" tIns="0" rIns="0" bIns="0" rtlCol="0" anchor="t"/>
          <a:lstStyle/>
          <a:p>
            <a:pPr indent="0" marL="0">
              <a:buNone/>
            </a:pPr>
            <a:r>
              <a:rPr lang="en-US" sz="2200" dirty="0">
                <a:solidFill>
                  <a:srgbClr val="252341"/>
                </a:solidFill>
                <a:latin typeface="Quicksand" pitchFamily="34" charset="0"/>
                <a:ea typeface="Quicksand" pitchFamily="34" charset="-122"/>
                <a:cs typeface="Quicksand" pitchFamily="34" charset="-120"/>
              </a:rPr>
              <a:t>Applies stored rules to facts in the knowledge base.</a:t>
            </a:r>
            <a:endParaRPr lang="en-US" sz="2200" dirty="0"/>
          </a:p>
        </p:txBody>
      </p:sp>
      <p:sp>
        <p:nvSpPr>
          <p:cNvPr id="11" name="Shape 8"/>
          <p:cNvSpPr/>
          <p:nvPr/>
        </p:nvSpPr>
        <p:spPr>
          <a:xfrm>
            <a:off x="1371600" y="2578608"/>
            <a:ext cx="10012680" cy="0"/>
          </a:xfrm>
          <a:prstGeom prst="line">
            <a:avLst/>
          </a:prstGeom>
          <a:noFill/>
          <a:ln w="8890">
            <a:solidFill>
              <a:srgbClr val="DDDBE5"/>
            </a:solidFill>
            <a:prstDash val="solid"/>
          </a:ln>
        </p:spPr>
      </p:sp>
      <p:sp>
        <p:nvSpPr>
          <p:cNvPr id="12" name="Text 9"/>
          <p:cNvSpPr txBox="1"/>
          <p:nvPr/>
        </p:nvSpPr>
        <p:spPr>
          <a:xfrm>
            <a:off x="731520" y="2734056"/>
            <a:ext cx="457200" cy="365760"/>
          </a:xfrm>
          <a:prstGeom prst="rect">
            <a:avLst/>
          </a:prstGeom>
          <a:noFill/>
          <a:ln/>
        </p:spPr>
        <p:txBody>
          <a:bodyPr wrap="square" lIns="0" tIns="0" rIns="0" bIns="0" rtlCol="0" anchor="t"/>
          <a:lstStyle/>
          <a:p>
            <a:pPr indent="0" marL="0">
              <a:buNone/>
            </a:pPr>
            <a:r>
              <a:rPr lang="en-US" sz="1600" b="1" dirty="0">
                <a:solidFill>
                  <a:srgbClr val="494985"/>
                </a:solidFill>
                <a:latin typeface="Quicksand" pitchFamily="34" charset="0"/>
                <a:ea typeface="Quicksand" pitchFamily="34" charset="-122"/>
                <a:cs typeface="Quicksand" pitchFamily="34" charset="-120"/>
              </a:rPr>
              <a:t>02</a:t>
            </a:r>
            <a:endParaRPr lang="en-US" sz="1600" dirty="0"/>
          </a:p>
        </p:txBody>
      </p:sp>
      <p:sp>
        <p:nvSpPr>
          <p:cNvPr id="13" name="Text 10"/>
          <p:cNvSpPr txBox="1"/>
          <p:nvPr/>
        </p:nvSpPr>
        <p:spPr>
          <a:xfrm>
            <a:off x="1371600" y="2720340"/>
            <a:ext cx="10012680" cy="795528"/>
          </a:xfrm>
          <a:prstGeom prst="rect">
            <a:avLst/>
          </a:prstGeom>
          <a:noFill/>
          <a:ln/>
        </p:spPr>
        <p:txBody>
          <a:bodyPr wrap="square" lIns="0" tIns="0" rIns="0" bIns="0" rtlCol="0" anchor="t"/>
          <a:lstStyle/>
          <a:p>
            <a:pPr indent="0" marL="0">
              <a:buNone/>
            </a:pPr>
            <a:r>
              <a:rPr lang="en-US" sz="2200" dirty="0">
                <a:solidFill>
                  <a:srgbClr val="252341"/>
                </a:solidFill>
                <a:latin typeface="Quicksand" pitchFamily="34" charset="0"/>
                <a:ea typeface="Quicksand" pitchFamily="34" charset="-122"/>
                <a:cs typeface="Quicksand" pitchFamily="34" charset="-120"/>
              </a:rPr>
              <a:t>Produces a diagnosis / decision from that evidence.</a:t>
            </a:r>
            <a:endParaRPr lang="en-US" sz="2200" dirty="0"/>
          </a:p>
        </p:txBody>
      </p:sp>
      <p:sp>
        <p:nvSpPr>
          <p:cNvPr id="14" name="Text 11"/>
          <p:cNvSpPr txBox="1"/>
          <p:nvPr/>
        </p:nvSpPr>
        <p:spPr>
          <a:xfrm>
            <a:off x="594360" y="5650992"/>
            <a:ext cx="10972800" cy="384048"/>
          </a:xfrm>
          <a:prstGeom prst="rect">
            <a:avLst/>
          </a:prstGeom>
          <a:noFill/>
          <a:ln/>
        </p:spPr>
        <p:txBody>
          <a:bodyPr wrap="square" lIns="0" tIns="0" rIns="0" bIns="0" rtlCol="0" anchor="t"/>
          <a:lstStyle/>
          <a:p>
            <a:pPr indent="0" marL="0">
              <a:buNone/>
            </a:pPr>
            <a:r>
              <a:rPr lang="en-US" sz="1700" b="1" dirty="0">
                <a:solidFill>
                  <a:srgbClr val="494985"/>
                </a:solidFill>
                <a:latin typeface="Quicksand" pitchFamily="34" charset="0"/>
                <a:ea typeface="Quicksand" pitchFamily="34" charset="-122"/>
                <a:cs typeface="Quicksand" pitchFamily="34" charset="-120"/>
              </a:rPr>
              <a:t>Explain what the engine does, then the decision it produces.</a:t>
            </a:r>
            <a:endParaRPr lang="en-US" sz="17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AF9F6"/>
        </a:solidFill>
      </p:bgPr>
    </p:bg>
    <p:spTree>
      <p:nvGrpSpPr>
        <p:cNvPr id="1" name=""/>
        <p:cNvGrpSpPr/>
        <p:nvPr/>
      </p:nvGrpSpPr>
      <p:grpSpPr>
        <a:xfrm>
          <a:off x="0" y="0"/>
          <a:ext cx="0" cy="0"/>
          <a:chOff x="0" y="0"/>
          <a:chExt cx="0" cy="0"/>
        </a:xfrm>
      </p:grpSpPr>
      <p:sp>
        <p:nvSpPr>
          <p:cNvPr id="2" name="Text 0"/>
          <p:cNvSpPr txBox="1"/>
          <p:nvPr/>
        </p:nvSpPr>
        <p:spPr>
          <a:xfrm>
            <a:off x="594360" y="301752"/>
            <a:ext cx="10424160" cy="274320"/>
          </a:xfrm>
          <a:prstGeom prst="rect">
            <a:avLst/>
          </a:prstGeom>
          <a:noFill/>
          <a:ln/>
        </p:spPr>
        <p:txBody>
          <a:bodyPr wrap="square" lIns="0" tIns="0" rIns="0" bIns="0" rtlCol="0" anchor="t"/>
          <a:lstStyle/>
          <a:p>
            <a:pPr indent="0" marL="0">
              <a:buNone/>
            </a:pPr>
            <a:r>
              <a:rPr lang="en-US" sz="1100" b="1" spc="200" kern="0" dirty="0">
                <a:solidFill>
                  <a:srgbClr val="494985"/>
                </a:solidFill>
                <a:latin typeface="Quicksand" pitchFamily="34" charset="0"/>
                <a:ea typeface="Quicksand" pitchFamily="34" charset="-122"/>
                <a:cs typeface="Quicksand" pitchFamily="34" charset="-120"/>
              </a:rPr>
              <a:t>EXAM PRACTICE</a:t>
            </a:r>
            <a:endParaRPr lang="en-US" sz="1100" dirty="0"/>
          </a:p>
        </p:txBody>
      </p:sp>
      <p:sp>
        <p:nvSpPr>
          <p:cNvPr id="3" name="Text 1"/>
          <p:cNvSpPr txBox="1"/>
          <p:nvPr/>
        </p:nvSpPr>
        <p:spPr>
          <a:xfrm>
            <a:off x="594360" y="822960"/>
            <a:ext cx="10972800" cy="640080"/>
          </a:xfrm>
          <a:prstGeom prst="rect">
            <a:avLst/>
          </a:prstGeom>
          <a:noFill/>
          <a:ln/>
        </p:spPr>
        <p:txBody>
          <a:bodyPr wrap="square" lIns="0" tIns="0" rIns="0" bIns="0" rtlCol="0" anchor="t"/>
          <a:lstStyle/>
          <a:p>
            <a:pPr indent="0" marL="0">
              <a:buNone/>
            </a:pPr>
            <a:r>
              <a:rPr lang="en-US" sz="3200" b="1" dirty="0">
                <a:solidFill>
                  <a:srgbClr val="252341"/>
                </a:solidFill>
                <a:latin typeface="Quicksand" pitchFamily="34" charset="0"/>
                <a:ea typeface="Quicksand" pitchFamily="34" charset="-122"/>
                <a:cs typeface="Quicksand" pitchFamily="34" charset="-120"/>
              </a:rPr>
              <a:t>Whole process or deciding the diagnosis?</a:t>
            </a:r>
            <a:endParaRPr lang="en-US" sz="3200" dirty="0"/>
          </a:p>
        </p:txBody>
      </p:sp>
      <p:sp>
        <p:nvSpPr>
          <p:cNvPr id="4" name="Shape 2"/>
          <p:cNvSpPr/>
          <p:nvPr/>
        </p:nvSpPr>
        <p:spPr>
          <a:xfrm>
            <a:off x="594360" y="6355080"/>
            <a:ext cx="10972800" cy="0"/>
          </a:xfrm>
          <a:prstGeom prst="line">
            <a:avLst/>
          </a:prstGeom>
          <a:noFill/>
          <a:ln w="8890">
            <a:solidFill>
              <a:srgbClr val="DDDBE5"/>
            </a:solidFill>
            <a:prstDash val="solid"/>
          </a:ln>
        </p:spPr>
      </p:sp>
      <p:sp>
        <p:nvSpPr>
          <p:cNvPr id="5" name="Text 3"/>
          <p:cNvSpPr txBox="1"/>
          <p:nvPr/>
        </p:nvSpPr>
        <p:spPr>
          <a:xfrm>
            <a:off x="594360" y="6473952"/>
            <a:ext cx="5486400" cy="164592"/>
          </a:xfrm>
          <a:prstGeom prst="rect">
            <a:avLst/>
          </a:prstGeom>
          <a:noFill/>
          <a:ln/>
        </p:spPr>
        <p:txBody>
          <a:bodyPr wrap="square" lIns="0" tIns="0" rIns="0" bIns="0" rtlCol="0" anchor="t"/>
          <a:lstStyle/>
          <a:p>
            <a:pPr indent="0" marL="0">
              <a:buNone/>
            </a:pPr>
            <a:r>
              <a:rPr lang="en-US" sz="800" dirty="0">
                <a:solidFill>
                  <a:srgbClr val="777584"/>
                </a:solidFill>
                <a:latin typeface="Quicksand" pitchFamily="34" charset="0"/>
                <a:ea typeface="Quicksand" pitchFamily="34" charset="-122"/>
                <a:cs typeface="Quicksand" pitchFamily="34" charset="-120"/>
              </a:rPr>
              <a:t>IGCSE 0478  /  ARTIFICIAL INTELLIGENCE</a:t>
            </a:r>
            <a:endParaRPr lang="en-US" sz="800" dirty="0"/>
          </a:p>
        </p:txBody>
      </p:sp>
      <p:sp>
        <p:nvSpPr>
          <p:cNvPr id="6" name="Text 4"/>
          <p:cNvSpPr txBox="1"/>
          <p:nvPr/>
        </p:nvSpPr>
        <p:spPr>
          <a:xfrm>
            <a:off x="11018520" y="6419088"/>
            <a:ext cx="530352" cy="228600"/>
          </a:xfrm>
          <a:prstGeom prst="rect">
            <a:avLst/>
          </a:prstGeom>
          <a:noFill/>
          <a:ln/>
        </p:spPr>
        <p:txBody>
          <a:bodyPr wrap="square" lIns="0" tIns="0" rIns="0" bIns="0" rtlCol="0" anchor="t"/>
          <a:lstStyle/>
          <a:p>
            <a:pPr algn="r" indent="0" marL="0">
              <a:buNone/>
            </a:pPr>
            <a:r>
              <a:rPr lang="en-US" sz="1100" dirty="0">
                <a:solidFill>
                  <a:srgbClr val="777584"/>
                </a:solidFill>
                <a:latin typeface="Quicksand" pitchFamily="34" charset="0"/>
                <a:ea typeface="Quicksand" pitchFamily="34" charset="-122"/>
                <a:cs typeface="Quicksand" pitchFamily="34" charset="-120"/>
              </a:rPr>
              <a:t>23</a:t>
            </a:r>
            <a:endParaRPr lang="en-US" sz="1100" dirty="0"/>
          </a:p>
        </p:txBody>
      </p:sp>
      <p:sp>
        <p:nvSpPr>
          <p:cNvPr id="7" name="Text 5"/>
          <p:cNvSpPr txBox="1"/>
          <p:nvPr/>
        </p:nvSpPr>
        <p:spPr>
          <a:xfrm>
            <a:off x="594360" y="6144768"/>
            <a:ext cx="10607040" cy="164592"/>
          </a:xfrm>
          <a:prstGeom prst="rect">
            <a:avLst/>
          </a:prstGeom>
          <a:noFill/>
          <a:ln/>
        </p:spPr>
        <p:txBody>
          <a:bodyPr wrap="square" lIns="0" tIns="0" rIns="0" bIns="0" rtlCol="0" anchor="t"/>
          <a:lstStyle/>
          <a:p>
            <a:pPr indent="0" marL="0">
              <a:buNone/>
            </a:pPr>
            <a:r>
              <a:rPr lang="en-US" sz="900" dirty="0">
                <a:solidFill>
                  <a:srgbClr val="777584"/>
                </a:solidFill>
                <a:latin typeface="Quicksand" pitchFamily="34" charset="0"/>
                <a:ea typeface="Quicksand" pitchFamily="34" charset="-122"/>
                <a:cs typeface="Quicksand" pitchFamily="34" charset="-120"/>
              </a:rPr>
              <a:t>0478/12 May/June 2024 Q10(b) · 0478/12 May/June 2025 Q5(a)</a:t>
            </a:r>
            <a:endParaRPr lang="en-US" sz="900" dirty="0"/>
          </a:p>
        </p:txBody>
      </p:sp>
      <p:sp>
        <p:nvSpPr>
          <p:cNvPr id="9" name="Text 6"/>
          <p:cNvSpPr txBox="1"/>
          <p:nvPr/>
        </p:nvSpPr>
        <p:spPr>
          <a:xfrm>
            <a:off x="731520" y="1828800"/>
            <a:ext cx="10698480" cy="292608"/>
          </a:xfrm>
          <a:prstGeom prst="rect">
            <a:avLst/>
          </a:prstGeom>
          <a:noFill/>
          <a:ln/>
        </p:spPr>
        <p:txBody>
          <a:bodyPr wrap="square" lIns="0" tIns="0" rIns="0" bIns="0" rtlCol="0" anchor="t"/>
          <a:lstStyle/>
          <a:p>
            <a:pPr indent="0" marL="0">
              <a:buNone/>
            </a:pPr>
            <a:r>
              <a:rPr lang="en-US" sz="1200" b="1" dirty="0">
                <a:solidFill>
                  <a:srgbClr val="494985"/>
                </a:solidFill>
                <a:latin typeface="Quicksand" pitchFamily="34" charset="0"/>
                <a:ea typeface="Quicksand" pitchFamily="34" charset="-122"/>
                <a:cs typeface="Quicksand" pitchFamily="34" charset="-120"/>
              </a:rPr>
              <a:t>QUESTION 1  /  5 MARKS</a:t>
            </a:r>
            <a:endParaRPr lang="en-US" sz="1200" dirty="0"/>
          </a:p>
        </p:txBody>
      </p:sp>
      <p:sp>
        <p:nvSpPr>
          <p:cNvPr id="10" name="Text 7"/>
          <p:cNvSpPr txBox="1"/>
          <p:nvPr/>
        </p:nvSpPr>
        <p:spPr>
          <a:xfrm>
            <a:off x="731520" y="2267712"/>
            <a:ext cx="10698480" cy="914400"/>
          </a:xfrm>
          <a:prstGeom prst="rect">
            <a:avLst/>
          </a:prstGeom>
          <a:noFill/>
          <a:ln/>
        </p:spPr>
        <p:txBody>
          <a:bodyPr wrap="square" lIns="0" tIns="0" rIns="0" bIns="0" rtlCol="0" anchor="t"/>
          <a:lstStyle/>
          <a:p>
            <a:pPr indent="0" marL="0">
              <a:buNone/>
            </a:pPr>
            <a:r>
              <a:rPr lang="en-US" sz="2400" dirty="0">
                <a:solidFill>
                  <a:srgbClr val="252341"/>
                </a:solidFill>
                <a:latin typeface="Quicksand" pitchFamily="34" charset="0"/>
                <a:ea typeface="Quicksand" pitchFamily="34" charset="-122"/>
                <a:cs typeface="Quicksand" pitchFamily="34" charset="-120"/>
              </a:rPr>
              <a:t>A car with faulty brakes arrives at a garage. Explain how its expert system operates to help diagnose the fault.</a:t>
            </a:r>
            <a:endParaRPr lang="en-US" sz="2400" dirty="0"/>
          </a:p>
        </p:txBody>
      </p:sp>
      <p:sp>
        <p:nvSpPr>
          <p:cNvPr id="11" name="Shape 8"/>
          <p:cNvSpPr/>
          <p:nvPr/>
        </p:nvSpPr>
        <p:spPr>
          <a:xfrm>
            <a:off x="731520" y="3200400"/>
            <a:ext cx="10698480" cy="0"/>
          </a:xfrm>
          <a:prstGeom prst="line">
            <a:avLst/>
          </a:prstGeom>
          <a:noFill/>
          <a:ln w="8890">
            <a:solidFill>
              <a:srgbClr val="DDDBE5"/>
            </a:solidFill>
            <a:prstDash val="solid"/>
          </a:ln>
        </p:spPr>
      </p:sp>
      <p:sp>
        <p:nvSpPr>
          <p:cNvPr id="12" name="Text 9"/>
          <p:cNvSpPr txBox="1"/>
          <p:nvPr/>
        </p:nvSpPr>
        <p:spPr>
          <a:xfrm>
            <a:off x="731520" y="3456432"/>
            <a:ext cx="10698480" cy="292608"/>
          </a:xfrm>
          <a:prstGeom prst="rect">
            <a:avLst/>
          </a:prstGeom>
          <a:noFill/>
          <a:ln/>
        </p:spPr>
        <p:txBody>
          <a:bodyPr wrap="square" lIns="0" tIns="0" rIns="0" bIns="0" rtlCol="0" anchor="t"/>
          <a:lstStyle/>
          <a:p>
            <a:pPr indent="0" marL="0">
              <a:buNone/>
            </a:pPr>
            <a:r>
              <a:rPr lang="en-US" sz="1200" b="1" dirty="0">
                <a:solidFill>
                  <a:srgbClr val="494985"/>
                </a:solidFill>
                <a:latin typeface="Quicksand" pitchFamily="34" charset="0"/>
                <a:ea typeface="Quicksand" pitchFamily="34" charset="-122"/>
                <a:cs typeface="Quicksand" pitchFamily="34" charset="-120"/>
              </a:rPr>
              <a:t>QUESTION 2  /  3 MARKS</a:t>
            </a:r>
            <a:endParaRPr lang="en-US" sz="1200" dirty="0"/>
          </a:p>
        </p:txBody>
      </p:sp>
      <p:sp>
        <p:nvSpPr>
          <p:cNvPr id="13" name="Text 10"/>
          <p:cNvSpPr txBox="1"/>
          <p:nvPr/>
        </p:nvSpPr>
        <p:spPr>
          <a:xfrm>
            <a:off x="731520" y="3895344"/>
            <a:ext cx="10698480" cy="914400"/>
          </a:xfrm>
          <a:prstGeom prst="rect">
            <a:avLst/>
          </a:prstGeom>
          <a:noFill/>
          <a:ln/>
        </p:spPr>
        <p:txBody>
          <a:bodyPr wrap="square" lIns="0" tIns="0" rIns="0" bIns="0" rtlCol="0" anchor="t"/>
          <a:lstStyle/>
          <a:p>
            <a:pPr indent="0" marL="0">
              <a:buNone/>
            </a:pPr>
            <a:r>
              <a:rPr lang="en-US" sz="2400" dirty="0">
                <a:solidFill>
                  <a:srgbClr val="252341"/>
                </a:solidFill>
                <a:latin typeface="Quicksand" pitchFamily="34" charset="0"/>
                <a:ea typeface="Quicksand" pitchFamily="34" charset="-122"/>
                <a:cs typeface="Quicksand" pitchFamily="34" charset="-120"/>
              </a:rPr>
              <a:t>A doctor has already entered symptoms through an interface. A diagnosis will be output. Describe how the expert system DECIDES that diagnosis.</a:t>
            </a:r>
            <a:endParaRPr lang="en-US" sz="2400" dirty="0"/>
          </a:p>
        </p:txBody>
      </p:sp>
      <p:sp>
        <p:nvSpPr>
          <p:cNvPr id="14" name="Text 11"/>
          <p:cNvSpPr txBox="1"/>
          <p:nvPr/>
        </p:nvSpPr>
        <p:spPr>
          <a:xfrm>
            <a:off x="594360" y="5650992"/>
            <a:ext cx="10972800" cy="384048"/>
          </a:xfrm>
          <a:prstGeom prst="rect">
            <a:avLst/>
          </a:prstGeom>
          <a:noFill/>
          <a:ln/>
        </p:spPr>
        <p:txBody>
          <a:bodyPr wrap="square" lIns="0" tIns="0" rIns="0" bIns="0" rtlCol="0" anchor="t"/>
          <a:lstStyle/>
          <a:p>
            <a:pPr indent="0" marL="0">
              <a:buNone/>
            </a:pPr>
            <a:r>
              <a:rPr lang="en-US" sz="1700" b="1" dirty="0">
                <a:solidFill>
                  <a:srgbClr val="494985"/>
                </a:solidFill>
                <a:latin typeface="Quicksand" pitchFamily="34" charset="0"/>
                <a:ea typeface="Quicksand" pitchFamily="34" charset="-122"/>
                <a:cs typeface="Quicksand" pitchFamily="34" charset="-120"/>
              </a:rPr>
              <a:t>Attempt independently. Discuss the reasoning before checking the model answer.</a:t>
            </a:r>
            <a:endParaRPr lang="en-US" sz="17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AF9F6"/>
        </a:solidFill>
      </p:bgPr>
    </p:bg>
    <p:spTree>
      <p:nvGrpSpPr>
        <p:cNvPr id="1" name=""/>
        <p:cNvGrpSpPr/>
        <p:nvPr/>
      </p:nvGrpSpPr>
      <p:grpSpPr>
        <a:xfrm>
          <a:off x="0" y="0"/>
          <a:ext cx="0" cy="0"/>
          <a:chOff x="0" y="0"/>
          <a:chExt cx="0" cy="0"/>
        </a:xfrm>
      </p:grpSpPr>
      <p:sp>
        <p:nvSpPr>
          <p:cNvPr id="2" name="Text 0"/>
          <p:cNvSpPr txBox="1"/>
          <p:nvPr/>
        </p:nvSpPr>
        <p:spPr>
          <a:xfrm>
            <a:off x="594360" y="301752"/>
            <a:ext cx="10424160" cy="274320"/>
          </a:xfrm>
          <a:prstGeom prst="rect">
            <a:avLst/>
          </a:prstGeom>
          <a:noFill/>
          <a:ln/>
        </p:spPr>
        <p:txBody>
          <a:bodyPr wrap="square" lIns="0" tIns="0" rIns="0" bIns="0" rtlCol="0" anchor="t"/>
          <a:lstStyle/>
          <a:p>
            <a:pPr indent="0" marL="0">
              <a:buNone/>
            </a:pPr>
            <a:r>
              <a:rPr lang="en-US" sz="1100" b="1" spc="200" kern="0" dirty="0">
                <a:solidFill>
                  <a:srgbClr val="494985"/>
                </a:solidFill>
                <a:latin typeface="Quicksand" pitchFamily="34" charset="0"/>
                <a:ea typeface="Quicksand" pitchFamily="34" charset="-122"/>
                <a:cs typeface="Quicksand" pitchFamily="34" charset="-120"/>
              </a:rPr>
              <a:t>FEEDBACK · AFTER PRACTICE</a:t>
            </a:r>
            <a:endParaRPr lang="en-US" sz="1100" dirty="0"/>
          </a:p>
        </p:txBody>
      </p:sp>
      <p:sp>
        <p:nvSpPr>
          <p:cNvPr id="3" name="Text 1"/>
          <p:cNvSpPr txBox="1"/>
          <p:nvPr/>
        </p:nvSpPr>
        <p:spPr>
          <a:xfrm>
            <a:off x="594360" y="822960"/>
            <a:ext cx="10972800" cy="640080"/>
          </a:xfrm>
          <a:prstGeom prst="rect">
            <a:avLst/>
          </a:prstGeom>
          <a:noFill/>
          <a:ln/>
        </p:spPr>
        <p:txBody>
          <a:bodyPr wrap="square" lIns="0" tIns="0" rIns="0" bIns="0" rtlCol="0" anchor="t"/>
          <a:lstStyle/>
          <a:p>
            <a:pPr indent="0" marL="0">
              <a:buNone/>
            </a:pPr>
            <a:r>
              <a:rPr lang="en-US" sz="3200" b="1" dirty="0">
                <a:solidFill>
                  <a:srgbClr val="252341"/>
                </a:solidFill>
                <a:latin typeface="Quicksand" pitchFamily="34" charset="0"/>
                <a:ea typeface="Quicksand" pitchFamily="34" charset="-122"/>
                <a:cs typeface="Quicksand" pitchFamily="34" charset="-120"/>
              </a:rPr>
              <a:t>Explain the processing in between</a:t>
            </a:r>
            <a:endParaRPr lang="en-US" sz="3200" dirty="0"/>
          </a:p>
        </p:txBody>
      </p:sp>
      <p:sp>
        <p:nvSpPr>
          <p:cNvPr id="4" name="Shape 2"/>
          <p:cNvSpPr/>
          <p:nvPr/>
        </p:nvSpPr>
        <p:spPr>
          <a:xfrm>
            <a:off x="594360" y="6355080"/>
            <a:ext cx="10972800" cy="0"/>
          </a:xfrm>
          <a:prstGeom prst="line">
            <a:avLst/>
          </a:prstGeom>
          <a:noFill/>
          <a:ln w="8890">
            <a:solidFill>
              <a:srgbClr val="DDDBE5"/>
            </a:solidFill>
            <a:prstDash val="solid"/>
          </a:ln>
        </p:spPr>
      </p:sp>
      <p:sp>
        <p:nvSpPr>
          <p:cNvPr id="5" name="Text 3"/>
          <p:cNvSpPr txBox="1"/>
          <p:nvPr/>
        </p:nvSpPr>
        <p:spPr>
          <a:xfrm>
            <a:off x="594360" y="6473952"/>
            <a:ext cx="5486400" cy="164592"/>
          </a:xfrm>
          <a:prstGeom prst="rect">
            <a:avLst/>
          </a:prstGeom>
          <a:noFill/>
          <a:ln/>
        </p:spPr>
        <p:txBody>
          <a:bodyPr wrap="square" lIns="0" tIns="0" rIns="0" bIns="0" rtlCol="0" anchor="t"/>
          <a:lstStyle/>
          <a:p>
            <a:pPr indent="0" marL="0">
              <a:buNone/>
            </a:pPr>
            <a:r>
              <a:rPr lang="en-US" sz="800" dirty="0">
                <a:solidFill>
                  <a:srgbClr val="777584"/>
                </a:solidFill>
                <a:latin typeface="Quicksand" pitchFamily="34" charset="0"/>
                <a:ea typeface="Quicksand" pitchFamily="34" charset="-122"/>
                <a:cs typeface="Quicksand" pitchFamily="34" charset="-120"/>
              </a:rPr>
              <a:t>IGCSE 0478  /  ARTIFICIAL INTELLIGENCE</a:t>
            </a:r>
            <a:endParaRPr lang="en-US" sz="800" dirty="0"/>
          </a:p>
        </p:txBody>
      </p:sp>
      <p:sp>
        <p:nvSpPr>
          <p:cNvPr id="6" name="Text 4"/>
          <p:cNvSpPr txBox="1"/>
          <p:nvPr/>
        </p:nvSpPr>
        <p:spPr>
          <a:xfrm>
            <a:off x="11018520" y="6419088"/>
            <a:ext cx="530352" cy="228600"/>
          </a:xfrm>
          <a:prstGeom prst="rect">
            <a:avLst/>
          </a:prstGeom>
          <a:noFill/>
          <a:ln/>
        </p:spPr>
        <p:txBody>
          <a:bodyPr wrap="square" lIns="0" tIns="0" rIns="0" bIns="0" rtlCol="0" anchor="t"/>
          <a:lstStyle/>
          <a:p>
            <a:pPr algn="r" indent="0" marL="0">
              <a:buNone/>
            </a:pPr>
            <a:r>
              <a:rPr lang="en-US" sz="1100" dirty="0">
                <a:solidFill>
                  <a:srgbClr val="777584"/>
                </a:solidFill>
                <a:latin typeface="Quicksand" pitchFamily="34" charset="0"/>
                <a:ea typeface="Quicksand" pitchFamily="34" charset="-122"/>
                <a:cs typeface="Quicksand" pitchFamily="34" charset="-120"/>
              </a:rPr>
              <a:t>24</a:t>
            </a:r>
            <a:endParaRPr lang="en-US" sz="1100" dirty="0"/>
          </a:p>
        </p:txBody>
      </p:sp>
      <p:sp>
        <p:nvSpPr>
          <p:cNvPr id="7" name="Text 5"/>
          <p:cNvSpPr txBox="1"/>
          <p:nvPr/>
        </p:nvSpPr>
        <p:spPr>
          <a:xfrm>
            <a:off x="594360" y="6144768"/>
            <a:ext cx="10607040" cy="164592"/>
          </a:xfrm>
          <a:prstGeom prst="rect">
            <a:avLst/>
          </a:prstGeom>
          <a:noFill/>
          <a:ln/>
        </p:spPr>
        <p:txBody>
          <a:bodyPr wrap="square" lIns="0" tIns="0" rIns="0" bIns="0" rtlCol="0" anchor="t"/>
          <a:lstStyle/>
          <a:p>
            <a:pPr indent="0" marL="0">
              <a:buNone/>
            </a:pPr>
            <a:r>
              <a:rPr lang="en-US" sz="900" dirty="0">
                <a:solidFill>
                  <a:srgbClr val="777584"/>
                </a:solidFill>
                <a:latin typeface="Quicksand" pitchFamily="34" charset="0"/>
                <a:ea typeface="Quicksand" pitchFamily="34" charset="-122"/>
                <a:cs typeface="Quicksand" pitchFamily="34" charset="-120"/>
              </a:rPr>
              <a:t>0478/12 May/June 2025 Q5(a)</a:t>
            </a:r>
            <a:endParaRPr lang="en-US" sz="900" dirty="0"/>
          </a:p>
        </p:txBody>
      </p:sp>
      <p:sp>
        <p:nvSpPr>
          <p:cNvPr id="9" name="Text 6"/>
          <p:cNvSpPr txBox="1"/>
          <p:nvPr/>
        </p:nvSpPr>
        <p:spPr>
          <a:xfrm>
            <a:off x="731520" y="1828800"/>
            <a:ext cx="457200" cy="365760"/>
          </a:xfrm>
          <a:prstGeom prst="rect">
            <a:avLst/>
          </a:prstGeom>
          <a:noFill/>
          <a:ln/>
        </p:spPr>
        <p:txBody>
          <a:bodyPr wrap="square" lIns="0" tIns="0" rIns="0" bIns="0" rtlCol="0" anchor="t"/>
          <a:lstStyle/>
          <a:p>
            <a:pPr indent="0" marL="0">
              <a:buNone/>
            </a:pPr>
            <a:r>
              <a:rPr lang="en-US" sz="1600" b="1" dirty="0">
                <a:solidFill>
                  <a:srgbClr val="494985"/>
                </a:solidFill>
                <a:latin typeface="Quicksand" pitchFamily="34" charset="0"/>
                <a:ea typeface="Quicksand" pitchFamily="34" charset="-122"/>
                <a:cs typeface="Quicksand" pitchFamily="34" charset="-120"/>
              </a:rPr>
              <a:t>01</a:t>
            </a:r>
            <a:endParaRPr lang="en-US" sz="1600" dirty="0"/>
          </a:p>
        </p:txBody>
      </p:sp>
      <p:sp>
        <p:nvSpPr>
          <p:cNvPr id="10" name="Text 7"/>
          <p:cNvSpPr txBox="1"/>
          <p:nvPr/>
        </p:nvSpPr>
        <p:spPr>
          <a:xfrm>
            <a:off x="1371600" y="1815084"/>
            <a:ext cx="10012680" cy="795528"/>
          </a:xfrm>
          <a:prstGeom prst="rect">
            <a:avLst/>
          </a:prstGeom>
          <a:noFill/>
          <a:ln/>
        </p:spPr>
        <p:txBody>
          <a:bodyPr wrap="square" lIns="0" tIns="0" rIns="0" bIns="0" rtlCol="0" anchor="t"/>
          <a:lstStyle/>
          <a:p>
            <a:pPr indent="0" marL="0">
              <a:buNone/>
            </a:pPr>
            <a:r>
              <a:rPr lang="en-US" sz="2200" dirty="0">
                <a:solidFill>
                  <a:srgbClr val="252341"/>
                </a:solidFill>
                <a:latin typeface="Quicksand" pitchFamily="34" charset="0"/>
                <a:ea typeface="Quicksand" pitchFamily="34" charset="-122"/>
                <a:cs typeface="Quicksand" pitchFamily="34" charset="-120"/>
              </a:rPr>
              <a:t>The inference engine is used to decide the diagnosis.</a:t>
            </a:r>
            <a:endParaRPr lang="en-US" sz="2200" dirty="0"/>
          </a:p>
        </p:txBody>
      </p:sp>
      <p:sp>
        <p:nvSpPr>
          <p:cNvPr id="11" name="Shape 8"/>
          <p:cNvSpPr/>
          <p:nvPr/>
        </p:nvSpPr>
        <p:spPr>
          <a:xfrm>
            <a:off x="1371600" y="2578608"/>
            <a:ext cx="10012680" cy="0"/>
          </a:xfrm>
          <a:prstGeom prst="line">
            <a:avLst/>
          </a:prstGeom>
          <a:noFill/>
          <a:ln w="8890">
            <a:solidFill>
              <a:srgbClr val="DDDBE5"/>
            </a:solidFill>
            <a:prstDash val="solid"/>
          </a:ln>
        </p:spPr>
      </p:sp>
      <p:sp>
        <p:nvSpPr>
          <p:cNvPr id="12" name="Text 9"/>
          <p:cNvSpPr txBox="1"/>
          <p:nvPr/>
        </p:nvSpPr>
        <p:spPr>
          <a:xfrm>
            <a:off x="731520" y="2734056"/>
            <a:ext cx="457200" cy="365760"/>
          </a:xfrm>
          <a:prstGeom prst="rect">
            <a:avLst/>
          </a:prstGeom>
          <a:noFill/>
          <a:ln/>
        </p:spPr>
        <p:txBody>
          <a:bodyPr wrap="square" lIns="0" tIns="0" rIns="0" bIns="0" rtlCol="0" anchor="t"/>
          <a:lstStyle/>
          <a:p>
            <a:pPr indent="0" marL="0">
              <a:buNone/>
            </a:pPr>
            <a:r>
              <a:rPr lang="en-US" sz="1600" b="1" dirty="0">
                <a:solidFill>
                  <a:srgbClr val="494985"/>
                </a:solidFill>
                <a:latin typeface="Quicksand" pitchFamily="34" charset="0"/>
                <a:ea typeface="Quicksand" pitchFamily="34" charset="-122"/>
                <a:cs typeface="Quicksand" pitchFamily="34" charset="-120"/>
              </a:rPr>
              <a:t>02</a:t>
            </a:r>
            <a:endParaRPr lang="en-US" sz="1600" dirty="0"/>
          </a:p>
        </p:txBody>
      </p:sp>
      <p:sp>
        <p:nvSpPr>
          <p:cNvPr id="13" name="Text 10"/>
          <p:cNvSpPr txBox="1"/>
          <p:nvPr/>
        </p:nvSpPr>
        <p:spPr>
          <a:xfrm>
            <a:off x="1371600" y="2720340"/>
            <a:ext cx="10012680" cy="795528"/>
          </a:xfrm>
          <a:prstGeom prst="rect">
            <a:avLst/>
          </a:prstGeom>
          <a:noFill/>
          <a:ln/>
        </p:spPr>
        <p:txBody>
          <a:bodyPr wrap="square" lIns="0" tIns="0" rIns="0" bIns="0" rtlCol="0" anchor="t"/>
          <a:lstStyle/>
          <a:p>
            <a:pPr indent="0" marL="0">
              <a:buNone/>
            </a:pPr>
            <a:r>
              <a:rPr lang="en-US" sz="2200" dirty="0">
                <a:solidFill>
                  <a:srgbClr val="252341"/>
                </a:solidFill>
                <a:latin typeface="Quicksand" pitchFamily="34" charset="0"/>
                <a:ea typeface="Quicksand" pitchFamily="34" charset="-122"/>
                <a:cs typeface="Quicksand" pitchFamily="34" charset="-120"/>
              </a:rPr>
              <a:t>It chooses follow-up questions from earlier answers.</a:t>
            </a:r>
            <a:endParaRPr lang="en-US" sz="2200" dirty="0"/>
          </a:p>
        </p:txBody>
      </p:sp>
      <p:sp>
        <p:nvSpPr>
          <p:cNvPr id="14" name="Shape 11"/>
          <p:cNvSpPr/>
          <p:nvPr/>
        </p:nvSpPr>
        <p:spPr>
          <a:xfrm>
            <a:off x="1371600" y="3483864"/>
            <a:ext cx="10012680" cy="0"/>
          </a:xfrm>
          <a:prstGeom prst="line">
            <a:avLst/>
          </a:prstGeom>
          <a:noFill/>
          <a:ln w="8890">
            <a:solidFill>
              <a:srgbClr val="DDDBE5"/>
            </a:solidFill>
            <a:prstDash val="solid"/>
          </a:ln>
        </p:spPr>
      </p:sp>
      <p:sp>
        <p:nvSpPr>
          <p:cNvPr id="15" name="Text 12"/>
          <p:cNvSpPr txBox="1"/>
          <p:nvPr/>
        </p:nvSpPr>
        <p:spPr>
          <a:xfrm>
            <a:off x="731520" y="3639312"/>
            <a:ext cx="457200" cy="365760"/>
          </a:xfrm>
          <a:prstGeom prst="rect">
            <a:avLst/>
          </a:prstGeom>
          <a:noFill/>
          <a:ln/>
        </p:spPr>
        <p:txBody>
          <a:bodyPr wrap="square" lIns="0" tIns="0" rIns="0" bIns="0" rtlCol="0" anchor="t"/>
          <a:lstStyle/>
          <a:p>
            <a:pPr indent="0" marL="0">
              <a:buNone/>
            </a:pPr>
            <a:r>
              <a:rPr lang="en-US" sz="1600" b="1" dirty="0">
                <a:solidFill>
                  <a:srgbClr val="494985"/>
                </a:solidFill>
                <a:latin typeface="Quicksand" pitchFamily="34" charset="0"/>
                <a:ea typeface="Quicksand" pitchFamily="34" charset="-122"/>
                <a:cs typeface="Quicksand" pitchFamily="34" charset="-120"/>
              </a:rPr>
              <a:t>03</a:t>
            </a:r>
            <a:endParaRPr lang="en-US" sz="1600" dirty="0"/>
          </a:p>
        </p:txBody>
      </p:sp>
      <p:sp>
        <p:nvSpPr>
          <p:cNvPr id="16" name="Text 13"/>
          <p:cNvSpPr txBox="1"/>
          <p:nvPr/>
        </p:nvSpPr>
        <p:spPr>
          <a:xfrm>
            <a:off x="1371600" y="3625596"/>
            <a:ext cx="10012680" cy="795528"/>
          </a:xfrm>
          <a:prstGeom prst="rect">
            <a:avLst/>
          </a:prstGeom>
          <a:noFill/>
          <a:ln/>
        </p:spPr>
        <p:txBody>
          <a:bodyPr wrap="square" lIns="0" tIns="0" rIns="0" bIns="0" rtlCol="0" anchor="t"/>
          <a:lstStyle/>
          <a:p>
            <a:pPr indent="0" marL="0">
              <a:buNone/>
            </a:pPr>
            <a:r>
              <a:rPr lang="en-US" sz="2200" dirty="0">
                <a:solidFill>
                  <a:srgbClr val="252341"/>
                </a:solidFill>
                <a:latin typeface="Quicksand" pitchFamily="34" charset="0"/>
                <a:ea typeface="Quicksand" pitchFamily="34" charset="-122"/>
                <a:cs typeface="Quicksand" pitchFamily="34" charset="-120"/>
              </a:rPr>
              <a:t>It matches symptoms to expert facts and applies rules.</a:t>
            </a:r>
            <a:endParaRPr lang="en-US" sz="2200" dirty="0"/>
          </a:p>
        </p:txBody>
      </p:sp>
      <p:sp>
        <p:nvSpPr>
          <p:cNvPr id="17" name="Text 14"/>
          <p:cNvSpPr txBox="1"/>
          <p:nvPr/>
        </p:nvSpPr>
        <p:spPr>
          <a:xfrm>
            <a:off x="594360" y="5650992"/>
            <a:ext cx="10972800" cy="384048"/>
          </a:xfrm>
          <a:prstGeom prst="rect">
            <a:avLst/>
          </a:prstGeom>
          <a:noFill/>
          <a:ln/>
        </p:spPr>
        <p:txBody>
          <a:bodyPr wrap="square" lIns="0" tIns="0" rIns="0" bIns="0" rtlCol="0" anchor="t"/>
          <a:lstStyle/>
          <a:p>
            <a:pPr indent="0" marL="0">
              <a:buNone/>
            </a:pPr>
            <a:r>
              <a:rPr lang="en-US" sz="1700" b="1" dirty="0">
                <a:solidFill>
                  <a:srgbClr val="494985"/>
                </a:solidFill>
                <a:latin typeface="Quicksand" pitchFamily="34" charset="0"/>
                <a:ea typeface="Quicksand" pitchFamily="34" charset="-122"/>
                <a:cs typeface="Quicksand" pitchFamily="34" charset="-120"/>
              </a:rPr>
              <a:t>Input and output are already given. Spend the answer on how the diagnosis is decided.</a:t>
            </a:r>
            <a:endParaRPr lang="en-US" sz="17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AF9F6"/>
        </a:solidFill>
      </p:bgPr>
    </p:bg>
    <p:spTree>
      <p:nvGrpSpPr>
        <p:cNvPr id="1" name=""/>
        <p:cNvGrpSpPr/>
        <p:nvPr/>
      </p:nvGrpSpPr>
      <p:grpSpPr>
        <a:xfrm>
          <a:off x="0" y="0"/>
          <a:ext cx="0" cy="0"/>
          <a:chOff x="0" y="0"/>
          <a:chExt cx="0" cy="0"/>
        </a:xfrm>
      </p:grpSpPr>
      <p:sp>
        <p:nvSpPr>
          <p:cNvPr id="2" name="Text 0"/>
          <p:cNvSpPr txBox="1"/>
          <p:nvPr/>
        </p:nvSpPr>
        <p:spPr>
          <a:xfrm>
            <a:off x="594360" y="301752"/>
            <a:ext cx="10424160" cy="274320"/>
          </a:xfrm>
          <a:prstGeom prst="rect">
            <a:avLst/>
          </a:prstGeom>
          <a:noFill/>
          <a:ln/>
        </p:spPr>
        <p:txBody>
          <a:bodyPr wrap="square" lIns="0" tIns="0" rIns="0" bIns="0" rtlCol="0" anchor="t"/>
          <a:lstStyle/>
          <a:p>
            <a:pPr indent="0" marL="0">
              <a:buNone/>
            </a:pPr>
            <a:r>
              <a:rPr lang="en-US" sz="1100" b="1" spc="200" kern="0" dirty="0">
                <a:solidFill>
                  <a:srgbClr val="494985"/>
                </a:solidFill>
                <a:latin typeface="Quicksand" pitchFamily="34" charset="0"/>
                <a:ea typeface="Quicksand" pitchFamily="34" charset="-122"/>
                <a:cs typeface="Quicksand" pitchFamily="34" charset="-120"/>
              </a:rPr>
              <a:t>EXAM PRACTICE</a:t>
            </a:r>
            <a:endParaRPr lang="en-US" sz="1100" dirty="0"/>
          </a:p>
        </p:txBody>
      </p:sp>
      <p:sp>
        <p:nvSpPr>
          <p:cNvPr id="3" name="Text 1"/>
          <p:cNvSpPr txBox="1"/>
          <p:nvPr/>
        </p:nvSpPr>
        <p:spPr>
          <a:xfrm>
            <a:off x="594360" y="822960"/>
            <a:ext cx="10972800" cy="640080"/>
          </a:xfrm>
          <a:prstGeom prst="rect">
            <a:avLst/>
          </a:prstGeom>
          <a:noFill/>
          <a:ln/>
        </p:spPr>
        <p:txBody>
          <a:bodyPr wrap="square" lIns="0" tIns="0" rIns="0" bIns="0" rtlCol="0" anchor="t"/>
          <a:lstStyle/>
          <a:p>
            <a:pPr indent="0" marL="0">
              <a:buNone/>
            </a:pPr>
            <a:r>
              <a:rPr lang="en-US" sz="3200" b="1" dirty="0">
                <a:solidFill>
                  <a:srgbClr val="252341"/>
                </a:solidFill>
                <a:latin typeface="Quicksand" pitchFamily="34" charset="0"/>
                <a:ea typeface="Quicksand" pitchFamily="34" charset="-122"/>
                <a:cs typeface="Quicksand" pitchFamily="34" charset="-120"/>
              </a:rPr>
              <a:t>Describe what machine learning can do</a:t>
            </a:r>
            <a:endParaRPr lang="en-US" sz="3200" dirty="0"/>
          </a:p>
        </p:txBody>
      </p:sp>
      <p:sp>
        <p:nvSpPr>
          <p:cNvPr id="4" name="Shape 2"/>
          <p:cNvSpPr/>
          <p:nvPr/>
        </p:nvSpPr>
        <p:spPr>
          <a:xfrm>
            <a:off x="594360" y="6355080"/>
            <a:ext cx="10972800" cy="0"/>
          </a:xfrm>
          <a:prstGeom prst="line">
            <a:avLst/>
          </a:prstGeom>
          <a:noFill/>
          <a:ln w="8890">
            <a:solidFill>
              <a:srgbClr val="DDDBE5"/>
            </a:solidFill>
            <a:prstDash val="solid"/>
          </a:ln>
        </p:spPr>
      </p:sp>
      <p:sp>
        <p:nvSpPr>
          <p:cNvPr id="5" name="Text 3"/>
          <p:cNvSpPr txBox="1"/>
          <p:nvPr/>
        </p:nvSpPr>
        <p:spPr>
          <a:xfrm>
            <a:off x="594360" y="6473952"/>
            <a:ext cx="5486400" cy="164592"/>
          </a:xfrm>
          <a:prstGeom prst="rect">
            <a:avLst/>
          </a:prstGeom>
          <a:noFill/>
          <a:ln/>
        </p:spPr>
        <p:txBody>
          <a:bodyPr wrap="square" lIns="0" tIns="0" rIns="0" bIns="0" rtlCol="0" anchor="t"/>
          <a:lstStyle/>
          <a:p>
            <a:pPr indent="0" marL="0">
              <a:buNone/>
            </a:pPr>
            <a:r>
              <a:rPr lang="en-US" sz="800" dirty="0">
                <a:solidFill>
                  <a:srgbClr val="777584"/>
                </a:solidFill>
                <a:latin typeface="Quicksand" pitchFamily="34" charset="0"/>
                <a:ea typeface="Quicksand" pitchFamily="34" charset="-122"/>
                <a:cs typeface="Quicksand" pitchFamily="34" charset="-120"/>
              </a:rPr>
              <a:t>IGCSE 0478  /  ARTIFICIAL INTELLIGENCE</a:t>
            </a:r>
            <a:endParaRPr lang="en-US" sz="800" dirty="0"/>
          </a:p>
        </p:txBody>
      </p:sp>
      <p:sp>
        <p:nvSpPr>
          <p:cNvPr id="6" name="Text 4"/>
          <p:cNvSpPr txBox="1"/>
          <p:nvPr/>
        </p:nvSpPr>
        <p:spPr>
          <a:xfrm>
            <a:off x="11018520" y="6419088"/>
            <a:ext cx="530352" cy="228600"/>
          </a:xfrm>
          <a:prstGeom prst="rect">
            <a:avLst/>
          </a:prstGeom>
          <a:noFill/>
          <a:ln/>
        </p:spPr>
        <p:txBody>
          <a:bodyPr wrap="square" lIns="0" tIns="0" rIns="0" bIns="0" rtlCol="0" anchor="t"/>
          <a:lstStyle/>
          <a:p>
            <a:pPr algn="r" indent="0" marL="0">
              <a:buNone/>
            </a:pPr>
            <a:r>
              <a:rPr lang="en-US" sz="1100" dirty="0">
                <a:solidFill>
                  <a:srgbClr val="777584"/>
                </a:solidFill>
                <a:latin typeface="Quicksand" pitchFamily="34" charset="0"/>
                <a:ea typeface="Quicksand" pitchFamily="34" charset="-122"/>
                <a:cs typeface="Quicksand" pitchFamily="34" charset="-120"/>
              </a:rPr>
              <a:t>25</a:t>
            </a:r>
            <a:endParaRPr lang="en-US" sz="1100" dirty="0"/>
          </a:p>
        </p:txBody>
      </p:sp>
      <p:sp>
        <p:nvSpPr>
          <p:cNvPr id="7" name="Text 5"/>
          <p:cNvSpPr txBox="1"/>
          <p:nvPr/>
        </p:nvSpPr>
        <p:spPr>
          <a:xfrm>
            <a:off x="594360" y="6144768"/>
            <a:ext cx="10607040" cy="164592"/>
          </a:xfrm>
          <a:prstGeom prst="rect">
            <a:avLst/>
          </a:prstGeom>
          <a:noFill/>
          <a:ln/>
        </p:spPr>
        <p:txBody>
          <a:bodyPr wrap="square" lIns="0" tIns="0" rIns="0" bIns="0" rtlCol="0" anchor="t"/>
          <a:lstStyle/>
          <a:p>
            <a:pPr indent="0" marL="0">
              <a:buNone/>
            </a:pPr>
            <a:r>
              <a:rPr lang="en-US" sz="900" dirty="0">
                <a:solidFill>
                  <a:srgbClr val="777584"/>
                </a:solidFill>
                <a:latin typeface="Quicksand" pitchFamily="34" charset="0"/>
                <a:ea typeface="Quicksand" pitchFamily="34" charset="-122"/>
                <a:cs typeface="Quicksand" pitchFamily="34" charset="-120"/>
              </a:rPr>
              <a:t>0478/13 Oct/Nov 2023 Q10(b)</a:t>
            </a:r>
            <a:endParaRPr lang="en-US" sz="900" dirty="0"/>
          </a:p>
        </p:txBody>
      </p:sp>
      <p:sp>
        <p:nvSpPr>
          <p:cNvPr id="9" name="Text 6"/>
          <p:cNvSpPr txBox="1"/>
          <p:nvPr/>
        </p:nvSpPr>
        <p:spPr>
          <a:xfrm>
            <a:off x="731520" y="1828800"/>
            <a:ext cx="10698480" cy="292608"/>
          </a:xfrm>
          <a:prstGeom prst="rect">
            <a:avLst/>
          </a:prstGeom>
          <a:noFill/>
          <a:ln/>
        </p:spPr>
        <p:txBody>
          <a:bodyPr wrap="square" lIns="0" tIns="0" rIns="0" bIns="0" rtlCol="0" anchor="t"/>
          <a:lstStyle/>
          <a:p>
            <a:pPr indent="0" marL="0">
              <a:buNone/>
            </a:pPr>
            <a:r>
              <a:rPr lang="en-US" sz="1200" b="1" dirty="0">
                <a:solidFill>
                  <a:srgbClr val="494985"/>
                </a:solidFill>
                <a:latin typeface="Quicksand" pitchFamily="34" charset="0"/>
                <a:ea typeface="Quicksand" pitchFamily="34" charset="-122"/>
                <a:cs typeface="Quicksand" pitchFamily="34" charset="-120"/>
              </a:rPr>
              <a:t>QUESTION 1  /  4 MARKS</a:t>
            </a:r>
            <a:endParaRPr lang="en-US" sz="1200" dirty="0"/>
          </a:p>
        </p:txBody>
      </p:sp>
      <p:sp>
        <p:nvSpPr>
          <p:cNvPr id="10" name="Text 7"/>
          <p:cNvSpPr txBox="1"/>
          <p:nvPr/>
        </p:nvSpPr>
        <p:spPr>
          <a:xfrm>
            <a:off x="731520" y="2267712"/>
            <a:ext cx="10698480" cy="914400"/>
          </a:xfrm>
          <a:prstGeom prst="rect">
            <a:avLst/>
          </a:prstGeom>
          <a:noFill/>
          <a:ln/>
        </p:spPr>
        <p:txBody>
          <a:bodyPr wrap="square" lIns="0" tIns="0" rIns="0" bIns="0" rtlCol="0" anchor="t"/>
          <a:lstStyle/>
          <a:p>
            <a:pPr indent="0" marL="0">
              <a:buNone/>
            </a:pPr>
            <a:r>
              <a:rPr lang="en-US" sz="2400" dirty="0">
                <a:solidFill>
                  <a:srgbClr val="252341"/>
                </a:solidFill>
                <a:latin typeface="Quicksand" pitchFamily="34" charset="0"/>
                <a:ea typeface="Quicksand" pitchFamily="34" charset="-122"/>
                <a:cs typeface="Quicksand" pitchFamily="34" charset="-120"/>
              </a:rPr>
              <a:t>The garage’s expert system also has machine-learning capabilities. Describe what these capabilities mean.</a:t>
            </a:r>
            <a:endParaRPr lang="en-US" sz="2400" dirty="0"/>
          </a:p>
        </p:txBody>
      </p:sp>
      <p:sp>
        <p:nvSpPr>
          <p:cNvPr id="11" name="Text 8"/>
          <p:cNvSpPr txBox="1"/>
          <p:nvPr/>
        </p:nvSpPr>
        <p:spPr>
          <a:xfrm>
            <a:off x="594360" y="5650992"/>
            <a:ext cx="10972800" cy="384048"/>
          </a:xfrm>
          <a:prstGeom prst="rect">
            <a:avLst/>
          </a:prstGeom>
          <a:noFill/>
          <a:ln/>
        </p:spPr>
        <p:txBody>
          <a:bodyPr wrap="square" lIns="0" tIns="0" rIns="0" bIns="0" rtlCol="0" anchor="t"/>
          <a:lstStyle/>
          <a:p>
            <a:pPr indent="0" marL="0">
              <a:buNone/>
            </a:pPr>
            <a:r>
              <a:rPr lang="en-US" sz="1700" b="1" dirty="0">
                <a:solidFill>
                  <a:srgbClr val="494985"/>
                </a:solidFill>
                <a:latin typeface="Quicksand" pitchFamily="34" charset="0"/>
                <a:ea typeface="Quicksand" pitchFamily="34" charset="-122"/>
                <a:cs typeface="Quicksand" pitchFamily="34" charset="-120"/>
              </a:rPr>
              <a:t>Attempt independently. Discuss the reasoning before checking the model answer.</a:t>
            </a:r>
            <a:endParaRPr lang="en-US" sz="17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AF9F6"/>
        </a:solidFill>
      </p:bgPr>
    </p:bg>
    <p:spTree>
      <p:nvGrpSpPr>
        <p:cNvPr id="1" name=""/>
        <p:cNvGrpSpPr/>
        <p:nvPr/>
      </p:nvGrpSpPr>
      <p:grpSpPr>
        <a:xfrm>
          <a:off x="0" y="0"/>
          <a:ext cx="0" cy="0"/>
          <a:chOff x="0" y="0"/>
          <a:chExt cx="0" cy="0"/>
        </a:xfrm>
      </p:grpSpPr>
      <p:sp>
        <p:nvSpPr>
          <p:cNvPr id="2" name="Text 0"/>
          <p:cNvSpPr txBox="1"/>
          <p:nvPr/>
        </p:nvSpPr>
        <p:spPr>
          <a:xfrm>
            <a:off x="594360" y="301752"/>
            <a:ext cx="10424160" cy="274320"/>
          </a:xfrm>
          <a:prstGeom prst="rect">
            <a:avLst/>
          </a:prstGeom>
          <a:noFill/>
          <a:ln/>
        </p:spPr>
        <p:txBody>
          <a:bodyPr wrap="square" lIns="0" tIns="0" rIns="0" bIns="0" rtlCol="0" anchor="t"/>
          <a:lstStyle/>
          <a:p>
            <a:pPr indent="0" marL="0">
              <a:buNone/>
            </a:pPr>
            <a:r>
              <a:rPr lang="en-US" sz="1100" b="1" spc="200" kern="0" dirty="0">
                <a:solidFill>
                  <a:srgbClr val="494985"/>
                </a:solidFill>
                <a:latin typeface="Quicksand" pitchFamily="34" charset="0"/>
                <a:ea typeface="Quicksand" pitchFamily="34" charset="-122"/>
                <a:cs typeface="Quicksand" pitchFamily="34" charset="-120"/>
              </a:rPr>
              <a:t>FEEDBACK · AFTER PRACTICE</a:t>
            </a:r>
            <a:endParaRPr lang="en-US" sz="1100" dirty="0"/>
          </a:p>
        </p:txBody>
      </p:sp>
      <p:sp>
        <p:nvSpPr>
          <p:cNvPr id="3" name="Text 1"/>
          <p:cNvSpPr txBox="1"/>
          <p:nvPr/>
        </p:nvSpPr>
        <p:spPr>
          <a:xfrm>
            <a:off x="594360" y="822960"/>
            <a:ext cx="10972800" cy="640080"/>
          </a:xfrm>
          <a:prstGeom prst="rect">
            <a:avLst/>
          </a:prstGeom>
          <a:noFill/>
          <a:ln/>
        </p:spPr>
        <p:txBody>
          <a:bodyPr wrap="square" lIns="0" tIns="0" rIns="0" bIns="0" rtlCol="0" anchor="t"/>
          <a:lstStyle/>
          <a:p>
            <a:pPr indent="0" marL="0">
              <a:buNone/>
            </a:pPr>
            <a:r>
              <a:rPr lang="en-US" sz="3200" b="1" dirty="0">
                <a:solidFill>
                  <a:srgbClr val="252341"/>
                </a:solidFill>
                <a:latin typeface="Quicksand" pitchFamily="34" charset="0"/>
                <a:ea typeface="Quicksand" pitchFamily="34" charset="-122"/>
                <a:cs typeface="Quicksand" pitchFamily="34" charset="-120"/>
              </a:rPr>
              <a:t>Four distinct learning capabilities</a:t>
            </a:r>
            <a:endParaRPr lang="en-US" sz="3200" dirty="0"/>
          </a:p>
        </p:txBody>
      </p:sp>
      <p:sp>
        <p:nvSpPr>
          <p:cNvPr id="4" name="Shape 2"/>
          <p:cNvSpPr/>
          <p:nvPr/>
        </p:nvSpPr>
        <p:spPr>
          <a:xfrm>
            <a:off x="594360" y="6355080"/>
            <a:ext cx="10972800" cy="0"/>
          </a:xfrm>
          <a:prstGeom prst="line">
            <a:avLst/>
          </a:prstGeom>
          <a:noFill/>
          <a:ln w="8890">
            <a:solidFill>
              <a:srgbClr val="DDDBE5"/>
            </a:solidFill>
            <a:prstDash val="solid"/>
          </a:ln>
        </p:spPr>
      </p:sp>
      <p:sp>
        <p:nvSpPr>
          <p:cNvPr id="5" name="Text 3"/>
          <p:cNvSpPr txBox="1"/>
          <p:nvPr/>
        </p:nvSpPr>
        <p:spPr>
          <a:xfrm>
            <a:off x="594360" y="6473952"/>
            <a:ext cx="5486400" cy="164592"/>
          </a:xfrm>
          <a:prstGeom prst="rect">
            <a:avLst/>
          </a:prstGeom>
          <a:noFill/>
          <a:ln/>
        </p:spPr>
        <p:txBody>
          <a:bodyPr wrap="square" lIns="0" tIns="0" rIns="0" bIns="0" rtlCol="0" anchor="t"/>
          <a:lstStyle/>
          <a:p>
            <a:pPr indent="0" marL="0">
              <a:buNone/>
            </a:pPr>
            <a:r>
              <a:rPr lang="en-US" sz="800" dirty="0">
                <a:solidFill>
                  <a:srgbClr val="777584"/>
                </a:solidFill>
                <a:latin typeface="Quicksand" pitchFamily="34" charset="0"/>
                <a:ea typeface="Quicksand" pitchFamily="34" charset="-122"/>
                <a:cs typeface="Quicksand" pitchFamily="34" charset="-120"/>
              </a:rPr>
              <a:t>IGCSE 0478  /  ARTIFICIAL INTELLIGENCE</a:t>
            </a:r>
            <a:endParaRPr lang="en-US" sz="800" dirty="0"/>
          </a:p>
        </p:txBody>
      </p:sp>
      <p:sp>
        <p:nvSpPr>
          <p:cNvPr id="6" name="Text 4"/>
          <p:cNvSpPr txBox="1"/>
          <p:nvPr/>
        </p:nvSpPr>
        <p:spPr>
          <a:xfrm>
            <a:off x="11018520" y="6419088"/>
            <a:ext cx="530352" cy="228600"/>
          </a:xfrm>
          <a:prstGeom prst="rect">
            <a:avLst/>
          </a:prstGeom>
          <a:noFill/>
          <a:ln/>
        </p:spPr>
        <p:txBody>
          <a:bodyPr wrap="square" lIns="0" tIns="0" rIns="0" bIns="0" rtlCol="0" anchor="t"/>
          <a:lstStyle/>
          <a:p>
            <a:pPr algn="r" indent="0" marL="0">
              <a:buNone/>
            </a:pPr>
            <a:r>
              <a:rPr lang="en-US" sz="1100" dirty="0">
                <a:solidFill>
                  <a:srgbClr val="777584"/>
                </a:solidFill>
                <a:latin typeface="Quicksand" pitchFamily="34" charset="0"/>
                <a:ea typeface="Quicksand" pitchFamily="34" charset="-122"/>
                <a:cs typeface="Quicksand" pitchFamily="34" charset="-120"/>
              </a:rPr>
              <a:t>26</a:t>
            </a:r>
            <a:endParaRPr lang="en-US" sz="1100" dirty="0"/>
          </a:p>
        </p:txBody>
      </p:sp>
      <p:sp>
        <p:nvSpPr>
          <p:cNvPr id="7" name="Text 5"/>
          <p:cNvSpPr txBox="1"/>
          <p:nvPr/>
        </p:nvSpPr>
        <p:spPr>
          <a:xfrm>
            <a:off x="594360" y="6144768"/>
            <a:ext cx="10607040" cy="164592"/>
          </a:xfrm>
          <a:prstGeom prst="rect">
            <a:avLst/>
          </a:prstGeom>
          <a:noFill/>
          <a:ln/>
        </p:spPr>
        <p:txBody>
          <a:bodyPr wrap="square" lIns="0" tIns="0" rIns="0" bIns="0" rtlCol="0" anchor="t"/>
          <a:lstStyle/>
          <a:p>
            <a:pPr indent="0" marL="0">
              <a:buNone/>
            </a:pPr>
            <a:r>
              <a:rPr lang="en-US" sz="900" dirty="0">
                <a:solidFill>
                  <a:srgbClr val="777584"/>
                </a:solidFill>
                <a:latin typeface="Quicksand" pitchFamily="34" charset="0"/>
                <a:ea typeface="Quicksand" pitchFamily="34" charset="-122"/>
                <a:cs typeface="Quicksand" pitchFamily="34" charset="-120"/>
              </a:rPr>
              <a:t>0478/13 Oct/Nov 2023 Q10(b)</a:t>
            </a:r>
            <a:endParaRPr lang="en-US" sz="900" dirty="0"/>
          </a:p>
        </p:txBody>
      </p:sp>
      <p:sp>
        <p:nvSpPr>
          <p:cNvPr id="9" name="Text 6"/>
          <p:cNvSpPr txBox="1"/>
          <p:nvPr/>
        </p:nvSpPr>
        <p:spPr>
          <a:xfrm>
            <a:off x="731520" y="1828800"/>
            <a:ext cx="457200" cy="365760"/>
          </a:xfrm>
          <a:prstGeom prst="rect">
            <a:avLst/>
          </a:prstGeom>
          <a:noFill/>
          <a:ln/>
        </p:spPr>
        <p:txBody>
          <a:bodyPr wrap="square" lIns="0" tIns="0" rIns="0" bIns="0" rtlCol="0" anchor="t"/>
          <a:lstStyle/>
          <a:p>
            <a:pPr indent="0" marL="0">
              <a:buNone/>
            </a:pPr>
            <a:r>
              <a:rPr lang="en-US" sz="1600" b="1" dirty="0">
                <a:solidFill>
                  <a:srgbClr val="494985"/>
                </a:solidFill>
                <a:latin typeface="Quicksand" pitchFamily="34" charset="0"/>
                <a:ea typeface="Quicksand" pitchFamily="34" charset="-122"/>
                <a:cs typeface="Quicksand" pitchFamily="34" charset="-120"/>
              </a:rPr>
              <a:t>01</a:t>
            </a:r>
            <a:endParaRPr lang="en-US" sz="1600" dirty="0"/>
          </a:p>
        </p:txBody>
      </p:sp>
      <p:sp>
        <p:nvSpPr>
          <p:cNvPr id="10" name="Text 7"/>
          <p:cNvSpPr txBox="1"/>
          <p:nvPr/>
        </p:nvSpPr>
        <p:spPr>
          <a:xfrm>
            <a:off x="1371600" y="1815084"/>
            <a:ext cx="10012680" cy="795528"/>
          </a:xfrm>
          <a:prstGeom prst="rect">
            <a:avLst/>
          </a:prstGeom>
          <a:noFill/>
          <a:ln/>
        </p:spPr>
        <p:txBody>
          <a:bodyPr wrap="square" lIns="0" tIns="0" rIns="0" bIns="0" rtlCol="0" anchor="t"/>
          <a:lstStyle/>
          <a:p>
            <a:pPr indent="0" marL="0">
              <a:buNone/>
            </a:pPr>
            <a:r>
              <a:rPr lang="en-US" sz="2200" dirty="0">
                <a:solidFill>
                  <a:srgbClr val="252341"/>
                </a:solidFill>
                <a:latin typeface="Quicksand" pitchFamily="34" charset="0"/>
                <a:ea typeface="Quicksand" pitchFamily="34" charset="-122"/>
                <a:cs typeface="Quicksand" pitchFamily="34" charset="-120"/>
              </a:rPr>
              <a:t>A form of artificial intelligence.</a:t>
            </a:r>
            <a:endParaRPr lang="en-US" sz="2200" dirty="0"/>
          </a:p>
        </p:txBody>
      </p:sp>
      <p:sp>
        <p:nvSpPr>
          <p:cNvPr id="11" name="Shape 8"/>
          <p:cNvSpPr/>
          <p:nvPr/>
        </p:nvSpPr>
        <p:spPr>
          <a:xfrm>
            <a:off x="1371600" y="2578608"/>
            <a:ext cx="10012680" cy="0"/>
          </a:xfrm>
          <a:prstGeom prst="line">
            <a:avLst/>
          </a:prstGeom>
          <a:noFill/>
          <a:ln w="8890">
            <a:solidFill>
              <a:srgbClr val="DDDBE5"/>
            </a:solidFill>
            <a:prstDash val="solid"/>
          </a:ln>
        </p:spPr>
      </p:sp>
      <p:sp>
        <p:nvSpPr>
          <p:cNvPr id="12" name="Text 9"/>
          <p:cNvSpPr txBox="1"/>
          <p:nvPr/>
        </p:nvSpPr>
        <p:spPr>
          <a:xfrm>
            <a:off x="731520" y="2734056"/>
            <a:ext cx="457200" cy="365760"/>
          </a:xfrm>
          <a:prstGeom prst="rect">
            <a:avLst/>
          </a:prstGeom>
          <a:noFill/>
          <a:ln/>
        </p:spPr>
        <p:txBody>
          <a:bodyPr wrap="square" lIns="0" tIns="0" rIns="0" bIns="0" rtlCol="0" anchor="t"/>
          <a:lstStyle/>
          <a:p>
            <a:pPr indent="0" marL="0">
              <a:buNone/>
            </a:pPr>
            <a:r>
              <a:rPr lang="en-US" sz="1600" b="1" dirty="0">
                <a:solidFill>
                  <a:srgbClr val="494985"/>
                </a:solidFill>
                <a:latin typeface="Quicksand" pitchFamily="34" charset="0"/>
                <a:ea typeface="Quicksand" pitchFamily="34" charset="-122"/>
                <a:cs typeface="Quicksand" pitchFamily="34" charset="-120"/>
              </a:rPr>
              <a:t>02</a:t>
            </a:r>
            <a:endParaRPr lang="en-US" sz="1600" dirty="0"/>
          </a:p>
        </p:txBody>
      </p:sp>
      <p:sp>
        <p:nvSpPr>
          <p:cNvPr id="13" name="Text 10"/>
          <p:cNvSpPr txBox="1"/>
          <p:nvPr/>
        </p:nvSpPr>
        <p:spPr>
          <a:xfrm>
            <a:off x="1371600" y="2720340"/>
            <a:ext cx="10012680" cy="795528"/>
          </a:xfrm>
          <a:prstGeom prst="rect">
            <a:avLst/>
          </a:prstGeom>
          <a:noFill/>
          <a:ln/>
        </p:spPr>
        <p:txBody>
          <a:bodyPr wrap="square" lIns="0" tIns="0" rIns="0" bIns="0" rtlCol="0" anchor="t"/>
          <a:lstStyle/>
          <a:p>
            <a:pPr indent="0" marL="0">
              <a:buNone/>
            </a:pPr>
            <a:r>
              <a:rPr lang="en-US" sz="2200" dirty="0">
                <a:solidFill>
                  <a:srgbClr val="252341"/>
                </a:solidFill>
                <a:latin typeface="Quicksand" pitchFamily="34" charset="0"/>
                <a:ea typeface="Quicksand" pitchFamily="34" charset="-122"/>
                <a:cs typeface="Quicksand" pitchFamily="34" charset="-120"/>
              </a:rPr>
              <a:t>Can be trained using examples / experience.</a:t>
            </a:r>
            <a:endParaRPr lang="en-US" sz="2200" dirty="0"/>
          </a:p>
        </p:txBody>
      </p:sp>
      <p:sp>
        <p:nvSpPr>
          <p:cNvPr id="14" name="Shape 11"/>
          <p:cNvSpPr/>
          <p:nvPr/>
        </p:nvSpPr>
        <p:spPr>
          <a:xfrm>
            <a:off x="1371600" y="3483864"/>
            <a:ext cx="10012680" cy="0"/>
          </a:xfrm>
          <a:prstGeom prst="line">
            <a:avLst/>
          </a:prstGeom>
          <a:noFill/>
          <a:ln w="8890">
            <a:solidFill>
              <a:srgbClr val="DDDBE5"/>
            </a:solidFill>
            <a:prstDash val="solid"/>
          </a:ln>
        </p:spPr>
      </p:sp>
      <p:sp>
        <p:nvSpPr>
          <p:cNvPr id="15" name="Text 12"/>
          <p:cNvSpPr txBox="1"/>
          <p:nvPr/>
        </p:nvSpPr>
        <p:spPr>
          <a:xfrm>
            <a:off x="731520" y="3639312"/>
            <a:ext cx="457200" cy="365760"/>
          </a:xfrm>
          <a:prstGeom prst="rect">
            <a:avLst/>
          </a:prstGeom>
          <a:noFill/>
          <a:ln/>
        </p:spPr>
        <p:txBody>
          <a:bodyPr wrap="square" lIns="0" tIns="0" rIns="0" bIns="0" rtlCol="0" anchor="t"/>
          <a:lstStyle/>
          <a:p>
            <a:pPr indent="0" marL="0">
              <a:buNone/>
            </a:pPr>
            <a:r>
              <a:rPr lang="en-US" sz="1600" b="1" dirty="0">
                <a:solidFill>
                  <a:srgbClr val="494985"/>
                </a:solidFill>
                <a:latin typeface="Quicksand" pitchFamily="34" charset="0"/>
                <a:ea typeface="Quicksand" pitchFamily="34" charset="-122"/>
                <a:cs typeface="Quicksand" pitchFamily="34" charset="-120"/>
              </a:rPr>
              <a:t>03</a:t>
            </a:r>
            <a:endParaRPr lang="en-US" sz="1600" dirty="0"/>
          </a:p>
        </p:txBody>
      </p:sp>
      <p:sp>
        <p:nvSpPr>
          <p:cNvPr id="16" name="Text 13"/>
          <p:cNvSpPr txBox="1"/>
          <p:nvPr/>
        </p:nvSpPr>
        <p:spPr>
          <a:xfrm>
            <a:off x="1371600" y="3625596"/>
            <a:ext cx="10012680" cy="795528"/>
          </a:xfrm>
          <a:prstGeom prst="rect">
            <a:avLst/>
          </a:prstGeom>
          <a:noFill/>
          <a:ln/>
        </p:spPr>
        <p:txBody>
          <a:bodyPr wrap="square" lIns="0" tIns="0" rIns="0" bIns="0" rtlCol="0" anchor="t"/>
          <a:lstStyle/>
          <a:p>
            <a:pPr indent="0" marL="0">
              <a:buNone/>
            </a:pPr>
            <a:r>
              <a:rPr lang="en-US" sz="2200" dirty="0">
                <a:solidFill>
                  <a:srgbClr val="252341"/>
                </a:solidFill>
                <a:latin typeface="Quicksand" pitchFamily="34" charset="0"/>
                <a:ea typeface="Quicksand" pitchFamily="34" charset="-122"/>
                <a:cs typeface="Quicksand" pitchFamily="34" charset="-120"/>
              </a:rPr>
              <a:t>Can automatically adapt its own processes.</a:t>
            </a:r>
            <a:endParaRPr lang="en-US" sz="2200" dirty="0"/>
          </a:p>
        </p:txBody>
      </p:sp>
      <p:sp>
        <p:nvSpPr>
          <p:cNvPr id="17" name="Shape 14"/>
          <p:cNvSpPr/>
          <p:nvPr/>
        </p:nvSpPr>
        <p:spPr>
          <a:xfrm>
            <a:off x="1371600" y="4389120"/>
            <a:ext cx="10012680" cy="0"/>
          </a:xfrm>
          <a:prstGeom prst="line">
            <a:avLst/>
          </a:prstGeom>
          <a:noFill/>
          <a:ln w="8890">
            <a:solidFill>
              <a:srgbClr val="DDDBE5"/>
            </a:solidFill>
            <a:prstDash val="solid"/>
          </a:ln>
        </p:spPr>
      </p:sp>
      <p:sp>
        <p:nvSpPr>
          <p:cNvPr id="18" name="Text 15"/>
          <p:cNvSpPr txBox="1"/>
          <p:nvPr/>
        </p:nvSpPr>
        <p:spPr>
          <a:xfrm>
            <a:off x="731520" y="4544568"/>
            <a:ext cx="457200" cy="365760"/>
          </a:xfrm>
          <a:prstGeom prst="rect">
            <a:avLst/>
          </a:prstGeom>
          <a:noFill/>
          <a:ln/>
        </p:spPr>
        <p:txBody>
          <a:bodyPr wrap="square" lIns="0" tIns="0" rIns="0" bIns="0" rtlCol="0" anchor="t"/>
          <a:lstStyle/>
          <a:p>
            <a:pPr indent="0" marL="0">
              <a:buNone/>
            </a:pPr>
            <a:r>
              <a:rPr lang="en-US" sz="1600" b="1" dirty="0">
                <a:solidFill>
                  <a:srgbClr val="494985"/>
                </a:solidFill>
                <a:latin typeface="Quicksand" pitchFamily="34" charset="0"/>
                <a:ea typeface="Quicksand" pitchFamily="34" charset="-122"/>
                <a:cs typeface="Quicksand" pitchFamily="34" charset="-120"/>
              </a:rPr>
              <a:t>04</a:t>
            </a:r>
            <a:endParaRPr lang="en-US" sz="1600" dirty="0"/>
          </a:p>
        </p:txBody>
      </p:sp>
      <p:sp>
        <p:nvSpPr>
          <p:cNvPr id="19" name="Text 16"/>
          <p:cNvSpPr txBox="1"/>
          <p:nvPr/>
        </p:nvSpPr>
        <p:spPr>
          <a:xfrm>
            <a:off x="1371600" y="4530852"/>
            <a:ext cx="10012680" cy="795528"/>
          </a:xfrm>
          <a:prstGeom prst="rect">
            <a:avLst/>
          </a:prstGeom>
          <a:noFill/>
          <a:ln/>
        </p:spPr>
        <p:txBody>
          <a:bodyPr wrap="square" lIns="0" tIns="0" rIns="0" bIns="0" rtlCol="0" anchor="t"/>
          <a:lstStyle/>
          <a:p>
            <a:pPr indent="0" marL="0">
              <a:buNone/>
            </a:pPr>
            <a:r>
              <a:rPr lang="en-US" sz="2200" dirty="0">
                <a:solidFill>
                  <a:srgbClr val="252341"/>
                </a:solidFill>
                <a:latin typeface="Quicksand" pitchFamily="34" charset="0"/>
                <a:ea typeface="Quicksand" pitchFamily="34" charset="-122"/>
                <a:cs typeface="Quicksand" pitchFamily="34" charset="-120"/>
              </a:rPr>
              <a:t>Can change its own data.</a:t>
            </a:r>
            <a:endParaRPr lang="en-US" sz="2200" dirty="0"/>
          </a:p>
        </p:txBody>
      </p:sp>
      <p:sp>
        <p:nvSpPr>
          <p:cNvPr id="20" name="Text 17"/>
          <p:cNvSpPr txBox="1"/>
          <p:nvPr/>
        </p:nvSpPr>
        <p:spPr>
          <a:xfrm>
            <a:off x="594360" y="5650992"/>
            <a:ext cx="10972800" cy="384048"/>
          </a:xfrm>
          <a:prstGeom prst="rect">
            <a:avLst/>
          </a:prstGeom>
          <a:noFill/>
          <a:ln/>
        </p:spPr>
        <p:txBody>
          <a:bodyPr wrap="square" lIns="0" tIns="0" rIns="0" bIns="0" rtlCol="0" anchor="t"/>
          <a:lstStyle/>
          <a:p>
            <a:pPr indent="0" marL="0">
              <a:buNone/>
            </a:pPr>
            <a:r>
              <a:rPr lang="en-US" sz="1700" b="1" dirty="0">
                <a:solidFill>
                  <a:srgbClr val="494985"/>
                </a:solidFill>
                <a:latin typeface="Quicksand" pitchFamily="34" charset="0"/>
                <a:ea typeface="Quicksand" pitchFamily="34" charset="-122"/>
                <a:cs typeface="Quicksand" pitchFamily="34" charset="-120"/>
              </a:rPr>
              <a:t>These are distinct capabilities; explain each clearly rather than repeating learning.</a:t>
            </a:r>
            <a:endParaRPr lang="en-US" sz="17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AF9F6"/>
        </a:solidFill>
      </p:bgPr>
    </p:bg>
    <p:spTree>
      <p:nvGrpSpPr>
        <p:cNvPr id="1" name=""/>
        <p:cNvGrpSpPr/>
        <p:nvPr/>
      </p:nvGrpSpPr>
      <p:grpSpPr>
        <a:xfrm>
          <a:off x="0" y="0"/>
          <a:ext cx="0" cy="0"/>
          <a:chOff x="0" y="0"/>
          <a:chExt cx="0" cy="0"/>
        </a:xfrm>
      </p:grpSpPr>
      <p:sp>
        <p:nvSpPr>
          <p:cNvPr id="2" name="Text 0"/>
          <p:cNvSpPr txBox="1"/>
          <p:nvPr/>
        </p:nvSpPr>
        <p:spPr>
          <a:xfrm>
            <a:off x="594360" y="301752"/>
            <a:ext cx="10424160" cy="274320"/>
          </a:xfrm>
          <a:prstGeom prst="rect">
            <a:avLst/>
          </a:prstGeom>
          <a:noFill/>
          <a:ln/>
        </p:spPr>
        <p:txBody>
          <a:bodyPr wrap="square" lIns="0" tIns="0" rIns="0" bIns="0" rtlCol="0" anchor="t"/>
          <a:lstStyle/>
          <a:p>
            <a:pPr indent="0" marL="0">
              <a:buNone/>
            </a:pPr>
            <a:r>
              <a:rPr lang="en-US" sz="1100" b="1" spc="200" kern="0" dirty="0">
                <a:solidFill>
                  <a:srgbClr val="494985"/>
                </a:solidFill>
                <a:latin typeface="Quicksand" pitchFamily="34" charset="0"/>
                <a:ea typeface="Quicksand" pitchFamily="34" charset="-122"/>
                <a:cs typeface="Quicksand" pitchFamily="34" charset="-120"/>
              </a:rPr>
              <a:t>EXAM PRACTICE</a:t>
            </a:r>
            <a:endParaRPr lang="en-US" sz="1100" dirty="0"/>
          </a:p>
        </p:txBody>
      </p:sp>
      <p:sp>
        <p:nvSpPr>
          <p:cNvPr id="3" name="Text 1"/>
          <p:cNvSpPr txBox="1"/>
          <p:nvPr/>
        </p:nvSpPr>
        <p:spPr>
          <a:xfrm>
            <a:off x="594360" y="822960"/>
            <a:ext cx="10972800" cy="640080"/>
          </a:xfrm>
          <a:prstGeom prst="rect">
            <a:avLst/>
          </a:prstGeom>
          <a:noFill/>
          <a:ln/>
        </p:spPr>
        <p:txBody>
          <a:bodyPr wrap="square" lIns="0" tIns="0" rIns="0" bIns="0" rtlCol="0" anchor="t"/>
          <a:lstStyle/>
          <a:p>
            <a:pPr indent="0" marL="0">
              <a:buNone/>
            </a:pPr>
            <a:r>
              <a:rPr lang="en-US" sz="3200" b="1" dirty="0">
                <a:solidFill>
                  <a:srgbClr val="252341"/>
                </a:solidFill>
                <a:latin typeface="Quicksand" pitchFamily="34" charset="0"/>
                <a:ea typeface="Quicksand" pitchFamily="34" charset="-122"/>
                <a:cs typeface="Quicksand" pitchFamily="34" charset="-120"/>
              </a:rPr>
              <a:t>Apply learning to a particular route</a:t>
            </a:r>
            <a:endParaRPr lang="en-US" sz="3200" dirty="0"/>
          </a:p>
        </p:txBody>
      </p:sp>
      <p:sp>
        <p:nvSpPr>
          <p:cNvPr id="4" name="Shape 2"/>
          <p:cNvSpPr/>
          <p:nvPr/>
        </p:nvSpPr>
        <p:spPr>
          <a:xfrm>
            <a:off x="594360" y="6355080"/>
            <a:ext cx="10972800" cy="0"/>
          </a:xfrm>
          <a:prstGeom prst="line">
            <a:avLst/>
          </a:prstGeom>
          <a:noFill/>
          <a:ln w="8890">
            <a:solidFill>
              <a:srgbClr val="DDDBE5"/>
            </a:solidFill>
            <a:prstDash val="solid"/>
          </a:ln>
        </p:spPr>
      </p:sp>
      <p:sp>
        <p:nvSpPr>
          <p:cNvPr id="5" name="Text 3"/>
          <p:cNvSpPr txBox="1"/>
          <p:nvPr/>
        </p:nvSpPr>
        <p:spPr>
          <a:xfrm>
            <a:off x="594360" y="6473952"/>
            <a:ext cx="5486400" cy="164592"/>
          </a:xfrm>
          <a:prstGeom prst="rect">
            <a:avLst/>
          </a:prstGeom>
          <a:noFill/>
          <a:ln/>
        </p:spPr>
        <p:txBody>
          <a:bodyPr wrap="square" lIns="0" tIns="0" rIns="0" bIns="0" rtlCol="0" anchor="t"/>
          <a:lstStyle/>
          <a:p>
            <a:pPr indent="0" marL="0">
              <a:buNone/>
            </a:pPr>
            <a:r>
              <a:rPr lang="en-US" sz="800" dirty="0">
                <a:solidFill>
                  <a:srgbClr val="777584"/>
                </a:solidFill>
                <a:latin typeface="Quicksand" pitchFamily="34" charset="0"/>
                <a:ea typeface="Quicksand" pitchFamily="34" charset="-122"/>
                <a:cs typeface="Quicksand" pitchFamily="34" charset="-120"/>
              </a:rPr>
              <a:t>IGCSE 0478  /  ARTIFICIAL INTELLIGENCE</a:t>
            </a:r>
            <a:endParaRPr lang="en-US" sz="800" dirty="0"/>
          </a:p>
        </p:txBody>
      </p:sp>
      <p:sp>
        <p:nvSpPr>
          <p:cNvPr id="6" name="Text 4"/>
          <p:cNvSpPr txBox="1"/>
          <p:nvPr/>
        </p:nvSpPr>
        <p:spPr>
          <a:xfrm>
            <a:off x="11018520" y="6419088"/>
            <a:ext cx="530352" cy="228600"/>
          </a:xfrm>
          <a:prstGeom prst="rect">
            <a:avLst/>
          </a:prstGeom>
          <a:noFill/>
          <a:ln/>
        </p:spPr>
        <p:txBody>
          <a:bodyPr wrap="square" lIns="0" tIns="0" rIns="0" bIns="0" rtlCol="0" anchor="t"/>
          <a:lstStyle/>
          <a:p>
            <a:pPr algn="r" indent="0" marL="0">
              <a:buNone/>
            </a:pPr>
            <a:r>
              <a:rPr lang="en-US" sz="1100" dirty="0">
                <a:solidFill>
                  <a:srgbClr val="777584"/>
                </a:solidFill>
                <a:latin typeface="Quicksand" pitchFamily="34" charset="0"/>
                <a:ea typeface="Quicksand" pitchFamily="34" charset="-122"/>
                <a:cs typeface="Quicksand" pitchFamily="34" charset="-120"/>
              </a:rPr>
              <a:t>27</a:t>
            </a:r>
            <a:endParaRPr lang="en-US" sz="1100" dirty="0"/>
          </a:p>
        </p:txBody>
      </p:sp>
      <p:sp>
        <p:nvSpPr>
          <p:cNvPr id="7" name="Text 5"/>
          <p:cNvSpPr txBox="1"/>
          <p:nvPr/>
        </p:nvSpPr>
        <p:spPr>
          <a:xfrm>
            <a:off x="594360" y="6144768"/>
            <a:ext cx="10607040" cy="164592"/>
          </a:xfrm>
          <a:prstGeom prst="rect">
            <a:avLst/>
          </a:prstGeom>
          <a:noFill/>
          <a:ln/>
        </p:spPr>
        <p:txBody>
          <a:bodyPr wrap="square" lIns="0" tIns="0" rIns="0" bIns="0" rtlCol="0" anchor="t"/>
          <a:lstStyle/>
          <a:p>
            <a:pPr indent="0" marL="0">
              <a:buNone/>
            </a:pPr>
            <a:r>
              <a:rPr lang="en-US" sz="900" dirty="0">
                <a:solidFill>
                  <a:srgbClr val="777584"/>
                </a:solidFill>
                <a:latin typeface="Quicksand" pitchFamily="34" charset="0"/>
                <a:ea typeface="Quicksand" pitchFamily="34" charset="-122"/>
                <a:cs typeface="Quicksand" pitchFamily="34" charset="-120"/>
              </a:rPr>
              <a:t>0478/12 Oct/Nov 2024 Q8(c) · 0478/12 Feb/Mar 2023 Q6(d)(ii)</a:t>
            </a:r>
            <a:endParaRPr lang="en-US" sz="900" dirty="0"/>
          </a:p>
        </p:txBody>
      </p:sp>
      <p:sp>
        <p:nvSpPr>
          <p:cNvPr id="9" name="Text 6"/>
          <p:cNvSpPr txBox="1"/>
          <p:nvPr/>
        </p:nvSpPr>
        <p:spPr>
          <a:xfrm>
            <a:off x="731520" y="1828800"/>
            <a:ext cx="10698480" cy="292608"/>
          </a:xfrm>
          <a:prstGeom prst="rect">
            <a:avLst/>
          </a:prstGeom>
          <a:noFill/>
          <a:ln/>
        </p:spPr>
        <p:txBody>
          <a:bodyPr wrap="square" lIns="0" tIns="0" rIns="0" bIns="0" rtlCol="0" anchor="t"/>
          <a:lstStyle/>
          <a:p>
            <a:pPr indent="0" marL="0">
              <a:buNone/>
            </a:pPr>
            <a:r>
              <a:rPr lang="en-US" sz="1200" b="1" dirty="0">
                <a:solidFill>
                  <a:srgbClr val="494985"/>
                </a:solidFill>
                <a:latin typeface="Quicksand" pitchFamily="34" charset="0"/>
                <a:ea typeface="Quicksand" pitchFamily="34" charset="-122"/>
                <a:cs typeface="Quicksand" pitchFamily="34" charset="-120"/>
              </a:rPr>
              <a:t>QUESTION 1  /  3 MARKS</a:t>
            </a:r>
            <a:endParaRPr lang="en-US" sz="1200" dirty="0"/>
          </a:p>
        </p:txBody>
      </p:sp>
      <p:sp>
        <p:nvSpPr>
          <p:cNvPr id="10" name="Text 7"/>
          <p:cNvSpPr txBox="1"/>
          <p:nvPr/>
        </p:nvSpPr>
        <p:spPr>
          <a:xfrm>
            <a:off x="731520" y="2267712"/>
            <a:ext cx="10698480" cy="914400"/>
          </a:xfrm>
          <a:prstGeom prst="rect">
            <a:avLst/>
          </a:prstGeom>
          <a:noFill/>
          <a:ln/>
        </p:spPr>
        <p:txBody>
          <a:bodyPr wrap="square" lIns="0" tIns="0" rIns="0" bIns="0" rtlCol="0" anchor="t"/>
          <a:lstStyle/>
          <a:p>
            <a:pPr indent="0" marL="0">
              <a:buNone/>
            </a:pPr>
            <a:r>
              <a:rPr lang="en-US" sz="2400" dirty="0">
                <a:solidFill>
                  <a:srgbClr val="252341"/>
                </a:solidFill>
                <a:latin typeface="Quicksand" pitchFamily="34" charset="0"/>
                <a:ea typeface="Quicksand" pitchFamily="34" charset="-122"/>
                <a:cs typeface="Quicksand" pitchFamily="34" charset="-120"/>
              </a:rPr>
              <a:t>Explain how a robot vacuum cleaner can use machine learning.</a:t>
            </a:r>
            <a:endParaRPr lang="en-US" sz="2400" dirty="0"/>
          </a:p>
        </p:txBody>
      </p:sp>
      <p:sp>
        <p:nvSpPr>
          <p:cNvPr id="11" name="Shape 8"/>
          <p:cNvSpPr/>
          <p:nvPr/>
        </p:nvSpPr>
        <p:spPr>
          <a:xfrm>
            <a:off x="731520" y="3200400"/>
            <a:ext cx="10698480" cy="0"/>
          </a:xfrm>
          <a:prstGeom prst="line">
            <a:avLst/>
          </a:prstGeom>
          <a:noFill/>
          <a:ln w="8890">
            <a:solidFill>
              <a:srgbClr val="DDDBE5"/>
            </a:solidFill>
            <a:prstDash val="solid"/>
          </a:ln>
        </p:spPr>
      </p:sp>
      <p:sp>
        <p:nvSpPr>
          <p:cNvPr id="12" name="Text 9"/>
          <p:cNvSpPr txBox="1"/>
          <p:nvPr/>
        </p:nvSpPr>
        <p:spPr>
          <a:xfrm>
            <a:off x="731520" y="3456432"/>
            <a:ext cx="10698480" cy="292608"/>
          </a:xfrm>
          <a:prstGeom prst="rect">
            <a:avLst/>
          </a:prstGeom>
          <a:noFill/>
          <a:ln/>
        </p:spPr>
        <p:txBody>
          <a:bodyPr wrap="square" lIns="0" tIns="0" rIns="0" bIns="0" rtlCol="0" anchor="t"/>
          <a:lstStyle/>
          <a:p>
            <a:pPr indent="0" marL="0">
              <a:buNone/>
            </a:pPr>
            <a:r>
              <a:rPr lang="en-US" sz="1200" b="1" dirty="0">
                <a:solidFill>
                  <a:srgbClr val="494985"/>
                </a:solidFill>
                <a:latin typeface="Quicksand" pitchFamily="34" charset="0"/>
                <a:ea typeface="Quicksand" pitchFamily="34" charset="-122"/>
                <a:cs typeface="Quicksand" pitchFamily="34" charset="-120"/>
              </a:rPr>
              <a:t>QUESTION 2  /  4 MARKS</a:t>
            </a:r>
            <a:endParaRPr lang="en-US" sz="1200" dirty="0"/>
          </a:p>
        </p:txBody>
      </p:sp>
      <p:sp>
        <p:nvSpPr>
          <p:cNvPr id="13" name="Text 10"/>
          <p:cNvSpPr txBox="1"/>
          <p:nvPr/>
        </p:nvSpPr>
        <p:spPr>
          <a:xfrm>
            <a:off x="731520" y="3895344"/>
            <a:ext cx="10698480" cy="914400"/>
          </a:xfrm>
          <a:prstGeom prst="rect">
            <a:avLst/>
          </a:prstGeom>
          <a:noFill/>
          <a:ln/>
        </p:spPr>
        <p:txBody>
          <a:bodyPr wrap="square" lIns="0" tIns="0" rIns="0" bIns="0" rtlCol="0" anchor="t"/>
          <a:lstStyle/>
          <a:p>
            <a:pPr indent="0" marL="0">
              <a:buNone/>
            </a:pPr>
            <a:r>
              <a:rPr lang="en-US" sz="2400" dirty="0">
                <a:solidFill>
                  <a:srgbClr val="252341"/>
                </a:solidFill>
                <a:latin typeface="Quicksand" pitchFamily="34" charset="0"/>
                <a:ea typeface="Quicksand" pitchFamily="34" charset="-122"/>
                <a:cs typeface="Quicksand" pitchFamily="34" charset="-120"/>
              </a:rPr>
              <a:t>A robot must navigate puzzles containing paths, obstacles and dead ends. Explain how its program can use AI.</a:t>
            </a:r>
            <a:endParaRPr lang="en-US" sz="2400" dirty="0"/>
          </a:p>
        </p:txBody>
      </p:sp>
      <p:sp>
        <p:nvSpPr>
          <p:cNvPr id="14" name="Text 11"/>
          <p:cNvSpPr txBox="1"/>
          <p:nvPr/>
        </p:nvSpPr>
        <p:spPr>
          <a:xfrm>
            <a:off x="594360" y="5650992"/>
            <a:ext cx="10972800" cy="384048"/>
          </a:xfrm>
          <a:prstGeom prst="rect">
            <a:avLst/>
          </a:prstGeom>
          <a:noFill/>
          <a:ln/>
        </p:spPr>
        <p:txBody>
          <a:bodyPr wrap="square" lIns="0" tIns="0" rIns="0" bIns="0" rtlCol="0" anchor="t"/>
          <a:lstStyle/>
          <a:p>
            <a:pPr indent="0" marL="0">
              <a:buNone/>
            </a:pPr>
            <a:r>
              <a:rPr lang="en-US" sz="1700" b="1" dirty="0">
                <a:solidFill>
                  <a:srgbClr val="494985"/>
                </a:solidFill>
                <a:latin typeface="Quicksand" pitchFamily="34" charset="0"/>
                <a:ea typeface="Quicksand" pitchFamily="34" charset="-122"/>
                <a:cs typeface="Quicksand" pitchFamily="34" charset="-120"/>
              </a:rPr>
              <a:t>Attempt independently. Discuss the reasoning before checking the model answer.</a:t>
            </a:r>
            <a:endParaRPr lang="en-US" sz="17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AF9F6"/>
        </a:solidFill>
      </p:bgPr>
    </p:bg>
    <p:spTree>
      <p:nvGrpSpPr>
        <p:cNvPr id="1" name=""/>
        <p:cNvGrpSpPr/>
        <p:nvPr/>
      </p:nvGrpSpPr>
      <p:grpSpPr>
        <a:xfrm>
          <a:off x="0" y="0"/>
          <a:ext cx="0" cy="0"/>
          <a:chOff x="0" y="0"/>
          <a:chExt cx="0" cy="0"/>
        </a:xfrm>
      </p:grpSpPr>
      <p:sp>
        <p:nvSpPr>
          <p:cNvPr id="2" name="Text 0"/>
          <p:cNvSpPr txBox="1"/>
          <p:nvPr/>
        </p:nvSpPr>
        <p:spPr>
          <a:xfrm>
            <a:off x="594360" y="301752"/>
            <a:ext cx="10424160" cy="274320"/>
          </a:xfrm>
          <a:prstGeom prst="rect">
            <a:avLst/>
          </a:prstGeom>
          <a:noFill/>
          <a:ln/>
        </p:spPr>
        <p:txBody>
          <a:bodyPr wrap="square" lIns="0" tIns="0" rIns="0" bIns="0" rtlCol="0" anchor="t"/>
          <a:lstStyle/>
          <a:p>
            <a:pPr indent="0" marL="0">
              <a:buNone/>
            </a:pPr>
            <a:r>
              <a:rPr lang="en-US" sz="1100" b="1" spc="200" kern="0" dirty="0">
                <a:solidFill>
                  <a:srgbClr val="494985"/>
                </a:solidFill>
                <a:latin typeface="Quicksand" pitchFamily="34" charset="0"/>
                <a:ea typeface="Quicksand" pitchFamily="34" charset="-122"/>
                <a:cs typeface="Quicksand" pitchFamily="34" charset="-120"/>
              </a:rPr>
              <a:t>FEEDBACK · AFTER PRACTICE</a:t>
            </a:r>
            <a:endParaRPr lang="en-US" sz="1100" dirty="0"/>
          </a:p>
        </p:txBody>
      </p:sp>
      <p:sp>
        <p:nvSpPr>
          <p:cNvPr id="3" name="Text 1"/>
          <p:cNvSpPr txBox="1"/>
          <p:nvPr/>
        </p:nvSpPr>
        <p:spPr>
          <a:xfrm>
            <a:off x="594360" y="822960"/>
            <a:ext cx="10972800" cy="640080"/>
          </a:xfrm>
          <a:prstGeom prst="rect">
            <a:avLst/>
          </a:prstGeom>
          <a:noFill/>
          <a:ln/>
        </p:spPr>
        <p:txBody>
          <a:bodyPr wrap="square" lIns="0" tIns="0" rIns="0" bIns="0" rtlCol="0" anchor="t"/>
          <a:lstStyle/>
          <a:p>
            <a:pPr indent="0" marL="0">
              <a:buNone/>
            </a:pPr>
            <a:r>
              <a:rPr lang="en-US" sz="3200" b="1" dirty="0">
                <a:solidFill>
                  <a:srgbClr val="252341"/>
                </a:solidFill>
                <a:latin typeface="Quicksand" pitchFamily="34" charset="0"/>
                <a:ea typeface="Quicksand" pitchFamily="34" charset="-122"/>
                <a:cs typeface="Quicksand" pitchFamily="34" charset="-120"/>
              </a:rPr>
              <a:t>A specific explanation of improvement</a:t>
            </a:r>
            <a:endParaRPr lang="en-US" sz="3200" dirty="0"/>
          </a:p>
        </p:txBody>
      </p:sp>
      <p:sp>
        <p:nvSpPr>
          <p:cNvPr id="4" name="Shape 2"/>
          <p:cNvSpPr/>
          <p:nvPr/>
        </p:nvSpPr>
        <p:spPr>
          <a:xfrm>
            <a:off x="594360" y="6355080"/>
            <a:ext cx="10972800" cy="0"/>
          </a:xfrm>
          <a:prstGeom prst="line">
            <a:avLst/>
          </a:prstGeom>
          <a:noFill/>
          <a:ln w="8890">
            <a:solidFill>
              <a:srgbClr val="DDDBE5"/>
            </a:solidFill>
            <a:prstDash val="solid"/>
          </a:ln>
        </p:spPr>
      </p:sp>
      <p:sp>
        <p:nvSpPr>
          <p:cNvPr id="5" name="Text 3"/>
          <p:cNvSpPr txBox="1"/>
          <p:nvPr/>
        </p:nvSpPr>
        <p:spPr>
          <a:xfrm>
            <a:off x="594360" y="6473952"/>
            <a:ext cx="5486400" cy="164592"/>
          </a:xfrm>
          <a:prstGeom prst="rect">
            <a:avLst/>
          </a:prstGeom>
          <a:noFill/>
          <a:ln/>
        </p:spPr>
        <p:txBody>
          <a:bodyPr wrap="square" lIns="0" tIns="0" rIns="0" bIns="0" rtlCol="0" anchor="t"/>
          <a:lstStyle/>
          <a:p>
            <a:pPr indent="0" marL="0">
              <a:buNone/>
            </a:pPr>
            <a:r>
              <a:rPr lang="en-US" sz="800" dirty="0">
                <a:solidFill>
                  <a:srgbClr val="777584"/>
                </a:solidFill>
                <a:latin typeface="Quicksand" pitchFamily="34" charset="0"/>
                <a:ea typeface="Quicksand" pitchFamily="34" charset="-122"/>
                <a:cs typeface="Quicksand" pitchFamily="34" charset="-120"/>
              </a:rPr>
              <a:t>IGCSE 0478  /  ARTIFICIAL INTELLIGENCE</a:t>
            </a:r>
            <a:endParaRPr lang="en-US" sz="800" dirty="0"/>
          </a:p>
        </p:txBody>
      </p:sp>
      <p:sp>
        <p:nvSpPr>
          <p:cNvPr id="6" name="Text 4"/>
          <p:cNvSpPr txBox="1"/>
          <p:nvPr/>
        </p:nvSpPr>
        <p:spPr>
          <a:xfrm>
            <a:off x="11018520" y="6419088"/>
            <a:ext cx="530352" cy="228600"/>
          </a:xfrm>
          <a:prstGeom prst="rect">
            <a:avLst/>
          </a:prstGeom>
          <a:noFill/>
          <a:ln/>
        </p:spPr>
        <p:txBody>
          <a:bodyPr wrap="square" lIns="0" tIns="0" rIns="0" bIns="0" rtlCol="0" anchor="t"/>
          <a:lstStyle/>
          <a:p>
            <a:pPr algn="r" indent="0" marL="0">
              <a:buNone/>
            </a:pPr>
            <a:r>
              <a:rPr lang="en-US" sz="1100" dirty="0">
                <a:solidFill>
                  <a:srgbClr val="777584"/>
                </a:solidFill>
                <a:latin typeface="Quicksand" pitchFamily="34" charset="0"/>
                <a:ea typeface="Quicksand" pitchFamily="34" charset="-122"/>
                <a:cs typeface="Quicksand" pitchFamily="34" charset="-120"/>
              </a:rPr>
              <a:t>28</a:t>
            </a:r>
            <a:endParaRPr lang="en-US" sz="1100" dirty="0"/>
          </a:p>
        </p:txBody>
      </p:sp>
      <p:sp>
        <p:nvSpPr>
          <p:cNvPr id="7" name="Text 5"/>
          <p:cNvSpPr txBox="1"/>
          <p:nvPr/>
        </p:nvSpPr>
        <p:spPr>
          <a:xfrm>
            <a:off x="594360" y="6144768"/>
            <a:ext cx="10607040" cy="164592"/>
          </a:xfrm>
          <a:prstGeom prst="rect">
            <a:avLst/>
          </a:prstGeom>
          <a:noFill/>
          <a:ln/>
        </p:spPr>
        <p:txBody>
          <a:bodyPr wrap="square" lIns="0" tIns="0" rIns="0" bIns="0" rtlCol="0" anchor="t"/>
          <a:lstStyle/>
          <a:p>
            <a:pPr indent="0" marL="0">
              <a:buNone/>
            </a:pPr>
            <a:r>
              <a:rPr lang="en-US" sz="900" dirty="0">
                <a:solidFill>
                  <a:srgbClr val="777584"/>
                </a:solidFill>
                <a:latin typeface="Quicksand" pitchFamily="34" charset="0"/>
                <a:ea typeface="Quicksand" pitchFamily="34" charset="-122"/>
                <a:cs typeface="Quicksand" pitchFamily="34" charset="-120"/>
              </a:rPr>
              <a:t>0478/12 Oct/Nov 2024 Q8(c)</a:t>
            </a:r>
            <a:endParaRPr lang="en-US" sz="900" dirty="0"/>
          </a:p>
        </p:txBody>
      </p:sp>
      <p:sp>
        <p:nvSpPr>
          <p:cNvPr id="9" name="Text 6"/>
          <p:cNvSpPr txBox="1"/>
          <p:nvPr/>
        </p:nvSpPr>
        <p:spPr>
          <a:xfrm>
            <a:off x="731520" y="1828800"/>
            <a:ext cx="457200" cy="365760"/>
          </a:xfrm>
          <a:prstGeom prst="rect">
            <a:avLst/>
          </a:prstGeom>
          <a:noFill/>
          <a:ln/>
        </p:spPr>
        <p:txBody>
          <a:bodyPr wrap="square" lIns="0" tIns="0" rIns="0" bIns="0" rtlCol="0" anchor="t"/>
          <a:lstStyle/>
          <a:p>
            <a:pPr indent="0" marL="0">
              <a:buNone/>
            </a:pPr>
            <a:r>
              <a:rPr lang="en-US" sz="1600" b="1" dirty="0">
                <a:solidFill>
                  <a:srgbClr val="494985"/>
                </a:solidFill>
                <a:latin typeface="Quicksand" pitchFamily="34" charset="0"/>
                <a:ea typeface="Quicksand" pitchFamily="34" charset="-122"/>
                <a:cs typeface="Quicksand" pitchFamily="34" charset="-120"/>
              </a:rPr>
              <a:t>01</a:t>
            </a:r>
            <a:endParaRPr lang="en-US" sz="1600" dirty="0"/>
          </a:p>
        </p:txBody>
      </p:sp>
      <p:sp>
        <p:nvSpPr>
          <p:cNvPr id="10" name="Text 7"/>
          <p:cNvSpPr txBox="1"/>
          <p:nvPr/>
        </p:nvSpPr>
        <p:spPr>
          <a:xfrm>
            <a:off x="1371600" y="1815084"/>
            <a:ext cx="10012680" cy="795528"/>
          </a:xfrm>
          <a:prstGeom prst="rect">
            <a:avLst/>
          </a:prstGeom>
          <a:noFill/>
          <a:ln/>
        </p:spPr>
        <p:txBody>
          <a:bodyPr wrap="square" lIns="0" tIns="0" rIns="0" bIns="0" rtlCol="0" anchor="t"/>
          <a:lstStyle/>
          <a:p>
            <a:pPr indent="0" marL="0">
              <a:buNone/>
            </a:pPr>
            <a:r>
              <a:rPr lang="en-US" sz="2200" dirty="0">
                <a:solidFill>
                  <a:srgbClr val="252341"/>
                </a:solidFill>
                <a:latin typeface="Quicksand" pitchFamily="34" charset="0"/>
                <a:ea typeface="Quicksand" pitchFamily="34" charset="-122"/>
                <a:cs typeface="Quicksand" pitchFamily="34" charset="-120"/>
              </a:rPr>
              <a:t>Collect obstacle-location data while cleaning.</a:t>
            </a:r>
            <a:endParaRPr lang="en-US" sz="2200" dirty="0"/>
          </a:p>
        </p:txBody>
      </p:sp>
      <p:sp>
        <p:nvSpPr>
          <p:cNvPr id="11" name="Shape 8"/>
          <p:cNvSpPr/>
          <p:nvPr/>
        </p:nvSpPr>
        <p:spPr>
          <a:xfrm>
            <a:off x="1371600" y="2578608"/>
            <a:ext cx="10012680" cy="0"/>
          </a:xfrm>
          <a:prstGeom prst="line">
            <a:avLst/>
          </a:prstGeom>
          <a:noFill/>
          <a:ln w="8890">
            <a:solidFill>
              <a:srgbClr val="DDDBE5"/>
            </a:solidFill>
            <a:prstDash val="solid"/>
          </a:ln>
        </p:spPr>
      </p:sp>
      <p:sp>
        <p:nvSpPr>
          <p:cNvPr id="12" name="Text 9"/>
          <p:cNvSpPr txBox="1"/>
          <p:nvPr/>
        </p:nvSpPr>
        <p:spPr>
          <a:xfrm>
            <a:off x="731520" y="2734056"/>
            <a:ext cx="457200" cy="365760"/>
          </a:xfrm>
          <a:prstGeom prst="rect">
            <a:avLst/>
          </a:prstGeom>
          <a:noFill/>
          <a:ln/>
        </p:spPr>
        <p:txBody>
          <a:bodyPr wrap="square" lIns="0" tIns="0" rIns="0" bIns="0" rtlCol="0" anchor="t"/>
          <a:lstStyle/>
          <a:p>
            <a:pPr indent="0" marL="0">
              <a:buNone/>
            </a:pPr>
            <a:r>
              <a:rPr lang="en-US" sz="1600" b="1" dirty="0">
                <a:solidFill>
                  <a:srgbClr val="494985"/>
                </a:solidFill>
                <a:latin typeface="Quicksand" pitchFamily="34" charset="0"/>
                <a:ea typeface="Quicksand" pitchFamily="34" charset="-122"/>
                <a:cs typeface="Quicksand" pitchFamily="34" charset="-120"/>
              </a:rPr>
              <a:t>02</a:t>
            </a:r>
            <a:endParaRPr lang="en-US" sz="1600" dirty="0"/>
          </a:p>
        </p:txBody>
      </p:sp>
      <p:sp>
        <p:nvSpPr>
          <p:cNvPr id="13" name="Text 10"/>
          <p:cNvSpPr txBox="1"/>
          <p:nvPr/>
        </p:nvSpPr>
        <p:spPr>
          <a:xfrm>
            <a:off x="1371600" y="2720340"/>
            <a:ext cx="10012680" cy="795528"/>
          </a:xfrm>
          <a:prstGeom prst="rect">
            <a:avLst/>
          </a:prstGeom>
          <a:noFill/>
          <a:ln/>
        </p:spPr>
        <p:txBody>
          <a:bodyPr wrap="square" lIns="0" tIns="0" rIns="0" bIns="0" rtlCol="0" anchor="t"/>
          <a:lstStyle/>
          <a:p>
            <a:pPr indent="0" marL="0">
              <a:buNone/>
            </a:pPr>
            <a:r>
              <a:rPr lang="en-US" sz="2200" dirty="0">
                <a:solidFill>
                  <a:srgbClr val="252341"/>
                </a:solidFill>
                <a:latin typeface="Quicksand" pitchFamily="34" charset="0"/>
                <a:ea typeface="Quicksand" pitchFamily="34" charset="-122"/>
                <a:cs typeface="Quicksand" pitchFamily="34" charset="-120"/>
              </a:rPr>
              <a:t>Use the data to adapt its route-planning process.</a:t>
            </a:r>
            <a:endParaRPr lang="en-US" sz="2200" dirty="0"/>
          </a:p>
        </p:txBody>
      </p:sp>
      <p:sp>
        <p:nvSpPr>
          <p:cNvPr id="14" name="Shape 11"/>
          <p:cNvSpPr/>
          <p:nvPr/>
        </p:nvSpPr>
        <p:spPr>
          <a:xfrm>
            <a:off x="1371600" y="3483864"/>
            <a:ext cx="10012680" cy="0"/>
          </a:xfrm>
          <a:prstGeom prst="line">
            <a:avLst/>
          </a:prstGeom>
          <a:noFill/>
          <a:ln w="8890">
            <a:solidFill>
              <a:srgbClr val="DDDBE5"/>
            </a:solidFill>
            <a:prstDash val="solid"/>
          </a:ln>
        </p:spPr>
      </p:sp>
      <p:sp>
        <p:nvSpPr>
          <p:cNvPr id="15" name="Text 12"/>
          <p:cNvSpPr txBox="1"/>
          <p:nvPr/>
        </p:nvSpPr>
        <p:spPr>
          <a:xfrm>
            <a:off x="731520" y="3639312"/>
            <a:ext cx="457200" cy="365760"/>
          </a:xfrm>
          <a:prstGeom prst="rect">
            <a:avLst/>
          </a:prstGeom>
          <a:noFill/>
          <a:ln/>
        </p:spPr>
        <p:txBody>
          <a:bodyPr wrap="square" lIns="0" tIns="0" rIns="0" bIns="0" rtlCol="0" anchor="t"/>
          <a:lstStyle/>
          <a:p>
            <a:pPr indent="0" marL="0">
              <a:buNone/>
            </a:pPr>
            <a:r>
              <a:rPr lang="en-US" sz="1600" b="1" dirty="0">
                <a:solidFill>
                  <a:srgbClr val="494985"/>
                </a:solidFill>
                <a:latin typeface="Quicksand" pitchFamily="34" charset="0"/>
                <a:ea typeface="Quicksand" pitchFamily="34" charset="-122"/>
                <a:cs typeface="Quicksand" pitchFamily="34" charset="-120"/>
              </a:rPr>
              <a:t>03</a:t>
            </a:r>
            <a:endParaRPr lang="en-US" sz="1600" dirty="0"/>
          </a:p>
        </p:txBody>
      </p:sp>
      <p:sp>
        <p:nvSpPr>
          <p:cNvPr id="16" name="Text 13"/>
          <p:cNvSpPr txBox="1"/>
          <p:nvPr/>
        </p:nvSpPr>
        <p:spPr>
          <a:xfrm>
            <a:off x="1371600" y="3625596"/>
            <a:ext cx="10012680" cy="795528"/>
          </a:xfrm>
          <a:prstGeom prst="rect">
            <a:avLst/>
          </a:prstGeom>
          <a:noFill/>
          <a:ln/>
        </p:spPr>
        <p:txBody>
          <a:bodyPr wrap="square" lIns="0" tIns="0" rIns="0" bIns="0" rtlCol="0" anchor="t"/>
          <a:lstStyle/>
          <a:p>
            <a:pPr indent="0" marL="0">
              <a:buNone/>
            </a:pPr>
            <a:r>
              <a:rPr lang="en-US" sz="2200" dirty="0">
                <a:solidFill>
                  <a:srgbClr val="252341"/>
                </a:solidFill>
                <a:latin typeface="Quicksand" pitchFamily="34" charset="0"/>
                <a:ea typeface="Quicksand" pitchFamily="34" charset="-122"/>
                <a:cs typeface="Quicksand" pitchFamily="34" charset="-120"/>
              </a:rPr>
              <a:t>Avoid known obstacles on later cleaning runs.</a:t>
            </a:r>
            <a:endParaRPr lang="en-US" sz="2200" dirty="0"/>
          </a:p>
        </p:txBody>
      </p:sp>
      <p:sp>
        <p:nvSpPr>
          <p:cNvPr id="17" name="Text 14"/>
          <p:cNvSpPr txBox="1"/>
          <p:nvPr/>
        </p:nvSpPr>
        <p:spPr>
          <a:xfrm>
            <a:off x="594360" y="5650992"/>
            <a:ext cx="10972800" cy="384048"/>
          </a:xfrm>
          <a:prstGeom prst="rect">
            <a:avLst/>
          </a:prstGeom>
          <a:noFill/>
          <a:ln/>
        </p:spPr>
        <p:txBody>
          <a:bodyPr wrap="square" lIns="0" tIns="0" rIns="0" bIns="0" rtlCol="0" anchor="t"/>
          <a:lstStyle/>
          <a:p>
            <a:pPr indent="0" marL="0">
              <a:buNone/>
            </a:pPr>
            <a:r>
              <a:rPr lang="en-US" sz="1700" b="1" dirty="0">
                <a:solidFill>
                  <a:srgbClr val="494985"/>
                </a:solidFill>
                <a:latin typeface="Quicksand" pitchFamily="34" charset="0"/>
                <a:ea typeface="Quicksand" pitchFamily="34" charset="-122"/>
                <a:cs typeface="Quicksand" pitchFamily="34" charset="-120"/>
              </a:rPr>
              <a:t>Name the relevant data and the changed future behaviour.</a:t>
            </a:r>
            <a:endParaRPr lang="en-US" sz="17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AF9F6"/>
        </a:solidFill>
      </p:bgPr>
    </p:bg>
    <p:spTree>
      <p:nvGrpSpPr>
        <p:cNvPr id="1" name=""/>
        <p:cNvGrpSpPr/>
        <p:nvPr/>
      </p:nvGrpSpPr>
      <p:grpSpPr>
        <a:xfrm>
          <a:off x="0" y="0"/>
          <a:ext cx="0" cy="0"/>
          <a:chOff x="0" y="0"/>
          <a:chExt cx="0" cy="0"/>
        </a:xfrm>
      </p:grpSpPr>
      <p:sp>
        <p:nvSpPr>
          <p:cNvPr id="2" name="Text 0"/>
          <p:cNvSpPr txBox="1"/>
          <p:nvPr/>
        </p:nvSpPr>
        <p:spPr>
          <a:xfrm>
            <a:off x="594360" y="301752"/>
            <a:ext cx="10424160" cy="274320"/>
          </a:xfrm>
          <a:prstGeom prst="rect">
            <a:avLst/>
          </a:prstGeom>
          <a:noFill/>
          <a:ln/>
        </p:spPr>
        <p:txBody>
          <a:bodyPr wrap="square" lIns="0" tIns="0" rIns="0" bIns="0" rtlCol="0" anchor="t"/>
          <a:lstStyle/>
          <a:p>
            <a:pPr indent="0" marL="0">
              <a:buNone/>
            </a:pPr>
            <a:r>
              <a:rPr lang="en-US" sz="1100" b="1" spc="200" kern="0" dirty="0">
                <a:solidFill>
                  <a:srgbClr val="494985"/>
                </a:solidFill>
                <a:latin typeface="Quicksand" pitchFamily="34" charset="0"/>
                <a:ea typeface="Quicksand" pitchFamily="34" charset="-122"/>
                <a:cs typeface="Quicksand" pitchFamily="34" charset="-120"/>
              </a:rPr>
              <a:t>EXAM PRACTICE · TASK 6</a:t>
            </a:r>
            <a:endParaRPr lang="en-US" sz="1100" dirty="0"/>
          </a:p>
        </p:txBody>
      </p:sp>
      <p:sp>
        <p:nvSpPr>
          <p:cNvPr id="3" name="Text 1"/>
          <p:cNvSpPr txBox="1"/>
          <p:nvPr/>
        </p:nvSpPr>
        <p:spPr>
          <a:xfrm>
            <a:off x="594360" y="822960"/>
            <a:ext cx="10972800" cy="640080"/>
          </a:xfrm>
          <a:prstGeom prst="rect">
            <a:avLst/>
          </a:prstGeom>
          <a:noFill/>
          <a:ln/>
        </p:spPr>
        <p:txBody>
          <a:bodyPr wrap="square" lIns="0" tIns="0" rIns="0" bIns="0" rtlCol="0" anchor="t"/>
          <a:lstStyle/>
          <a:p>
            <a:pPr indent="0" marL="0">
              <a:buNone/>
            </a:pPr>
            <a:r>
              <a:rPr lang="en-US" sz="3200" b="1" dirty="0">
                <a:solidFill>
                  <a:srgbClr val="252341"/>
                </a:solidFill>
                <a:latin typeface="Quicksand" pitchFamily="34" charset="0"/>
                <a:ea typeface="Quicksand" pitchFamily="34" charset="-122"/>
                <a:cs typeface="Quicksand" pitchFamily="34" charset="-120"/>
              </a:rPr>
              <a:t>Try the same ideas in unfamiliar contexts</a:t>
            </a:r>
            <a:endParaRPr lang="en-US" sz="3200" dirty="0"/>
          </a:p>
        </p:txBody>
      </p:sp>
      <p:sp>
        <p:nvSpPr>
          <p:cNvPr id="4" name="Shape 2"/>
          <p:cNvSpPr/>
          <p:nvPr/>
        </p:nvSpPr>
        <p:spPr>
          <a:xfrm>
            <a:off x="594360" y="6355080"/>
            <a:ext cx="10972800" cy="0"/>
          </a:xfrm>
          <a:prstGeom prst="line">
            <a:avLst/>
          </a:prstGeom>
          <a:noFill/>
          <a:ln w="8890">
            <a:solidFill>
              <a:srgbClr val="DDDBE5"/>
            </a:solidFill>
            <a:prstDash val="solid"/>
          </a:ln>
        </p:spPr>
      </p:sp>
      <p:sp>
        <p:nvSpPr>
          <p:cNvPr id="5" name="Text 3"/>
          <p:cNvSpPr txBox="1"/>
          <p:nvPr/>
        </p:nvSpPr>
        <p:spPr>
          <a:xfrm>
            <a:off x="594360" y="6473952"/>
            <a:ext cx="5486400" cy="164592"/>
          </a:xfrm>
          <a:prstGeom prst="rect">
            <a:avLst/>
          </a:prstGeom>
          <a:noFill/>
          <a:ln/>
        </p:spPr>
        <p:txBody>
          <a:bodyPr wrap="square" lIns="0" tIns="0" rIns="0" bIns="0" rtlCol="0" anchor="t"/>
          <a:lstStyle/>
          <a:p>
            <a:pPr indent="0" marL="0">
              <a:buNone/>
            </a:pPr>
            <a:r>
              <a:rPr lang="en-US" sz="800" dirty="0">
                <a:solidFill>
                  <a:srgbClr val="777584"/>
                </a:solidFill>
                <a:latin typeface="Quicksand" pitchFamily="34" charset="0"/>
                <a:ea typeface="Quicksand" pitchFamily="34" charset="-122"/>
                <a:cs typeface="Quicksand" pitchFamily="34" charset="-120"/>
              </a:rPr>
              <a:t>IGCSE 0478  /  ARTIFICIAL INTELLIGENCE</a:t>
            </a:r>
            <a:endParaRPr lang="en-US" sz="800" dirty="0"/>
          </a:p>
        </p:txBody>
      </p:sp>
      <p:sp>
        <p:nvSpPr>
          <p:cNvPr id="6" name="Text 4"/>
          <p:cNvSpPr txBox="1"/>
          <p:nvPr/>
        </p:nvSpPr>
        <p:spPr>
          <a:xfrm>
            <a:off x="11018520" y="6419088"/>
            <a:ext cx="530352" cy="228600"/>
          </a:xfrm>
          <a:prstGeom prst="rect">
            <a:avLst/>
          </a:prstGeom>
          <a:noFill/>
          <a:ln/>
        </p:spPr>
        <p:txBody>
          <a:bodyPr wrap="square" lIns="0" tIns="0" rIns="0" bIns="0" rtlCol="0" anchor="t"/>
          <a:lstStyle/>
          <a:p>
            <a:pPr algn="r" indent="0" marL="0">
              <a:buNone/>
            </a:pPr>
            <a:r>
              <a:rPr lang="en-US" sz="1100" dirty="0">
                <a:solidFill>
                  <a:srgbClr val="777584"/>
                </a:solidFill>
                <a:latin typeface="Quicksand" pitchFamily="34" charset="0"/>
                <a:ea typeface="Quicksand" pitchFamily="34" charset="-122"/>
                <a:cs typeface="Quicksand" pitchFamily="34" charset="-120"/>
              </a:rPr>
              <a:t>29</a:t>
            </a:r>
            <a:endParaRPr lang="en-US" sz="1100" dirty="0"/>
          </a:p>
        </p:txBody>
      </p:sp>
      <p:pic>
        <p:nvPicPr>
          <p:cNvPr id="8" name="Image 0" descr="Cumulus clouds in fair weather.jpeg">    </p:cNvPr>
          <p:cNvPicPr>
            <a:picLocks noChangeAspect="1"/>
          </p:cNvPicPr>
          <p:nvPr/>
        </p:nvPicPr>
        <p:blipFill>
          <a:blip r:embed="rId1"/>
          <a:srcRect l="0" r="0" t="0" b="19380"/>
          <a:stretch/>
        </p:blipFill>
        <p:spPr>
          <a:xfrm>
            <a:off x="594360" y="1783080"/>
            <a:ext cx="3931920" cy="2377440"/>
          </a:xfrm>
          <a:prstGeom prst="rect">
            <a:avLst/>
          </a:prstGeom>
        </p:spPr>
      </p:pic>
      <p:sp>
        <p:nvSpPr>
          <p:cNvPr id="9" name="Text 5"/>
          <p:cNvSpPr txBox="1"/>
          <p:nvPr/>
        </p:nvSpPr>
        <p:spPr>
          <a:xfrm>
            <a:off x="594360" y="4224528"/>
            <a:ext cx="3931920" cy="246888"/>
          </a:xfrm>
          <a:prstGeom prst="rect">
            <a:avLst/>
          </a:prstGeom>
          <a:noFill/>
          <a:ln/>
        </p:spPr>
        <p:txBody>
          <a:bodyPr wrap="square" lIns="0" tIns="0" rIns="0" bIns="0" rtlCol="0" anchor="t"/>
          <a:lstStyle/>
          <a:p>
            <a:pPr indent="0" marL="0">
              <a:buNone/>
            </a:pPr>
            <a:r>
              <a:rPr lang="en-US" sz="900" dirty="0">
                <a:solidFill>
                  <a:srgbClr val="777584"/>
                </a:solidFill>
                <a:latin typeface="Quicksand" pitchFamily="34" charset="0"/>
                <a:ea typeface="Quicksand" pitchFamily="34" charset="-122"/>
                <a:cs typeface="Quicksand" pitchFamily="34" charset="-120"/>
              </a:rPr>
              <a:t>Michael Jastremski · CC BY-SA 2.0</a:t>
            </a:r>
            <a:endParaRPr lang="en-US" sz="900" dirty="0"/>
          </a:p>
        </p:txBody>
      </p:sp>
      <p:pic>
        <p:nvPicPr>
          <p:cNvPr id="11" name="Image 1" descr="Google Home sitting on table.jpg">    </p:cNvPr>
          <p:cNvPicPr>
            <a:picLocks noChangeAspect="1"/>
          </p:cNvPicPr>
          <p:nvPr/>
        </p:nvPicPr>
        <p:blipFill>
          <a:blip r:embed="rId2"/>
          <a:stretch>
            <a:fillRect/>
          </a:stretch>
        </p:blipFill>
        <p:spPr>
          <a:xfrm>
            <a:off x="5109972" y="1783080"/>
            <a:ext cx="1941576" cy="2377440"/>
          </a:xfrm>
          <a:prstGeom prst="rect">
            <a:avLst/>
          </a:prstGeom>
        </p:spPr>
      </p:pic>
      <p:sp>
        <p:nvSpPr>
          <p:cNvPr id="12" name="Text 6"/>
          <p:cNvSpPr txBox="1"/>
          <p:nvPr/>
        </p:nvSpPr>
        <p:spPr>
          <a:xfrm>
            <a:off x="5109972" y="4224528"/>
            <a:ext cx="1941576" cy="246888"/>
          </a:xfrm>
          <a:prstGeom prst="rect">
            <a:avLst/>
          </a:prstGeom>
          <a:noFill/>
          <a:ln/>
        </p:spPr>
        <p:txBody>
          <a:bodyPr wrap="square" lIns="0" tIns="0" rIns="0" bIns="0" rtlCol="0" anchor="t"/>
          <a:lstStyle/>
          <a:p>
            <a:pPr indent="0" marL="0">
              <a:buNone/>
            </a:pPr>
            <a:r>
              <a:rPr lang="en-US" sz="900" dirty="0">
                <a:solidFill>
                  <a:srgbClr val="777584"/>
                </a:solidFill>
                <a:latin typeface="Quicksand" pitchFamily="34" charset="0"/>
                <a:ea typeface="Quicksand" pitchFamily="34" charset="-122"/>
                <a:cs typeface="Quicksand" pitchFamily="34" charset="-120"/>
              </a:rPr>
              <a:t>NDB Photos · CC BY-SA 2.0</a:t>
            </a:r>
            <a:endParaRPr lang="en-US" sz="900" dirty="0"/>
          </a:p>
        </p:txBody>
      </p:sp>
      <p:pic>
        <p:nvPicPr>
          <p:cNvPr id="14" name="Image 2" descr="Gaming Section 1 - Retrosystems 2010.jpg">    </p:cNvPr>
          <p:cNvPicPr>
            <a:picLocks noChangeAspect="1"/>
          </p:cNvPicPr>
          <p:nvPr/>
        </p:nvPicPr>
        <p:blipFill>
          <a:blip r:embed="rId3"/>
          <a:srcRect l="0" r="0" t="0" b="8961"/>
          <a:stretch/>
        </p:blipFill>
        <p:spPr>
          <a:xfrm>
            <a:off x="7635240" y="1783080"/>
            <a:ext cx="3931920" cy="2377440"/>
          </a:xfrm>
          <a:prstGeom prst="rect">
            <a:avLst/>
          </a:prstGeom>
        </p:spPr>
      </p:pic>
      <p:sp>
        <p:nvSpPr>
          <p:cNvPr id="15" name="Text 7"/>
          <p:cNvSpPr txBox="1"/>
          <p:nvPr/>
        </p:nvSpPr>
        <p:spPr>
          <a:xfrm>
            <a:off x="7635240" y="4224528"/>
            <a:ext cx="3931920" cy="246888"/>
          </a:xfrm>
          <a:prstGeom prst="rect">
            <a:avLst/>
          </a:prstGeom>
          <a:noFill/>
          <a:ln/>
        </p:spPr>
        <p:txBody>
          <a:bodyPr wrap="square" lIns="0" tIns="0" rIns="0" bIns="0" rtlCol="0" anchor="t"/>
          <a:lstStyle/>
          <a:p>
            <a:pPr indent="0" marL="0">
              <a:buNone/>
            </a:pPr>
            <a:r>
              <a:rPr lang="en-US" sz="900" dirty="0">
                <a:solidFill>
                  <a:srgbClr val="777584"/>
                </a:solidFill>
                <a:latin typeface="Quicksand" pitchFamily="34" charset="0"/>
                <a:ea typeface="Quicksand" pitchFamily="34" charset="-122"/>
                <a:cs typeface="Quicksand" pitchFamily="34" charset="-120"/>
              </a:rPr>
              <a:t>Soupmeister · CC BY-SA 2.0</a:t>
            </a:r>
            <a:endParaRPr lang="en-US" sz="900" dirty="0"/>
          </a:p>
        </p:txBody>
      </p:sp>
      <p:sp>
        <p:nvSpPr>
          <p:cNvPr id="17" name="Text 8"/>
          <p:cNvSpPr txBox="1"/>
          <p:nvPr/>
        </p:nvSpPr>
        <p:spPr>
          <a:xfrm>
            <a:off x="594360" y="4599432"/>
            <a:ext cx="3931920" cy="411480"/>
          </a:xfrm>
          <a:prstGeom prst="rect">
            <a:avLst/>
          </a:prstGeom>
          <a:noFill/>
          <a:ln/>
        </p:spPr>
        <p:txBody>
          <a:bodyPr wrap="square" lIns="0" tIns="0" rIns="0" bIns="0" rtlCol="0" anchor="t"/>
          <a:lstStyle/>
          <a:p>
            <a:pPr algn="ctr" indent="0" marL="0">
              <a:buNone/>
            </a:pPr>
            <a:r>
              <a:rPr lang="en-US" sz="2200" b="1" dirty="0">
                <a:solidFill>
                  <a:srgbClr val="252341"/>
                </a:solidFill>
                <a:latin typeface="Quicksand" pitchFamily="34" charset="0"/>
                <a:ea typeface="Quicksand" pitchFamily="34" charset="-122"/>
                <a:cs typeface="Quicksand" pitchFamily="34" charset="-120"/>
              </a:rPr>
              <a:t>Weather prediction</a:t>
            </a:r>
            <a:endParaRPr lang="en-US" sz="2200" dirty="0"/>
          </a:p>
        </p:txBody>
      </p:sp>
      <p:sp>
        <p:nvSpPr>
          <p:cNvPr id="18" name="Text 9"/>
          <p:cNvSpPr txBox="1"/>
          <p:nvPr/>
        </p:nvSpPr>
        <p:spPr>
          <a:xfrm>
            <a:off x="4800600" y="4599432"/>
            <a:ext cx="2560320" cy="640080"/>
          </a:xfrm>
          <a:prstGeom prst="rect">
            <a:avLst/>
          </a:prstGeom>
          <a:noFill/>
          <a:ln/>
        </p:spPr>
        <p:txBody>
          <a:bodyPr wrap="square" lIns="0" tIns="0" rIns="0" bIns="0" rtlCol="0" anchor="t"/>
          <a:lstStyle/>
          <a:p>
            <a:pPr algn="ctr" indent="0" marL="0">
              <a:buNone/>
            </a:pPr>
            <a:r>
              <a:rPr lang="en-US" sz="2000" b="1" dirty="0">
                <a:solidFill>
                  <a:srgbClr val="252341"/>
                </a:solidFill>
                <a:latin typeface="Quicksand" pitchFamily="34" charset="0"/>
                <a:ea typeface="Quicksand" pitchFamily="34" charset="-122"/>
                <a:cs typeface="Quicksand" pitchFamily="34" charset="-120"/>
              </a:rPr>
              <a:t>Voice recognition</a:t>
            </a:r>
            <a:endParaRPr lang="en-US" sz="2000" dirty="0"/>
          </a:p>
        </p:txBody>
      </p:sp>
      <p:sp>
        <p:nvSpPr>
          <p:cNvPr id="19" name="Text 10"/>
          <p:cNvSpPr txBox="1"/>
          <p:nvPr/>
        </p:nvSpPr>
        <p:spPr>
          <a:xfrm>
            <a:off x="7635240" y="4599432"/>
            <a:ext cx="3931920" cy="411480"/>
          </a:xfrm>
          <a:prstGeom prst="rect">
            <a:avLst/>
          </a:prstGeom>
          <a:noFill/>
          <a:ln/>
        </p:spPr>
        <p:txBody>
          <a:bodyPr wrap="square" lIns="0" tIns="0" rIns="0" bIns="0" rtlCol="0" anchor="t"/>
          <a:lstStyle/>
          <a:p>
            <a:pPr algn="ctr" indent="0" marL="0">
              <a:buNone/>
            </a:pPr>
            <a:r>
              <a:rPr lang="en-US" sz="2200" b="1" dirty="0">
                <a:solidFill>
                  <a:srgbClr val="252341"/>
                </a:solidFill>
                <a:latin typeface="Quicksand" pitchFamily="34" charset="0"/>
                <a:ea typeface="Quicksand" pitchFamily="34" charset="-122"/>
                <a:cs typeface="Quicksand" pitchFamily="34" charset="-120"/>
              </a:rPr>
              <a:t>Game behaviour</a:t>
            </a:r>
            <a:endParaRPr lang="en-US" sz="2200" dirty="0"/>
          </a:p>
        </p:txBody>
      </p:sp>
      <p:sp>
        <p:nvSpPr>
          <p:cNvPr id="20" name="Text 11"/>
          <p:cNvSpPr txBox="1"/>
          <p:nvPr/>
        </p:nvSpPr>
        <p:spPr>
          <a:xfrm>
            <a:off x="594360" y="5650992"/>
            <a:ext cx="10972800" cy="384048"/>
          </a:xfrm>
          <a:prstGeom prst="rect">
            <a:avLst/>
          </a:prstGeom>
          <a:noFill/>
          <a:ln/>
        </p:spPr>
        <p:txBody>
          <a:bodyPr wrap="square" lIns="0" tIns="0" rIns="0" bIns="0" rtlCol="0" anchor="t"/>
          <a:lstStyle/>
          <a:p>
            <a:pPr indent="0" marL="0">
              <a:buNone/>
            </a:pPr>
            <a:r>
              <a:rPr lang="en-US" sz="1700" b="1" dirty="0">
                <a:solidFill>
                  <a:srgbClr val="494985"/>
                </a:solidFill>
                <a:latin typeface="Quicksand" pitchFamily="34" charset="0"/>
                <a:ea typeface="Quicksand" pitchFamily="34" charset="-122"/>
                <a:cs typeface="Quicksand" pitchFamily="34" charset="-120"/>
              </a:rPr>
              <a:t>Use the scenario: data → patterns or feedback → changed prediction or action.</a:t>
            </a:r>
            <a:endParaRPr lang="en-US" sz="17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AF9F6"/>
        </a:solidFill>
      </p:bgPr>
    </p:bg>
    <p:spTree>
      <p:nvGrpSpPr>
        <p:cNvPr id="1" name=""/>
        <p:cNvGrpSpPr/>
        <p:nvPr/>
      </p:nvGrpSpPr>
      <p:grpSpPr>
        <a:xfrm>
          <a:off x="0" y="0"/>
          <a:ext cx="0" cy="0"/>
          <a:chOff x="0" y="0"/>
          <a:chExt cx="0" cy="0"/>
        </a:xfrm>
      </p:grpSpPr>
      <p:sp>
        <p:nvSpPr>
          <p:cNvPr id="2" name="Text 0"/>
          <p:cNvSpPr txBox="1"/>
          <p:nvPr/>
        </p:nvSpPr>
        <p:spPr>
          <a:xfrm>
            <a:off x="594360" y="301752"/>
            <a:ext cx="10424160" cy="274320"/>
          </a:xfrm>
          <a:prstGeom prst="rect">
            <a:avLst/>
          </a:prstGeom>
          <a:noFill/>
          <a:ln/>
        </p:spPr>
        <p:txBody>
          <a:bodyPr wrap="square" lIns="0" tIns="0" rIns="0" bIns="0" rtlCol="0" anchor="t"/>
          <a:lstStyle/>
          <a:p>
            <a:pPr indent="0" marL="0">
              <a:buNone/>
            </a:pPr>
            <a:r>
              <a:rPr lang="en-US" sz="1100" b="1" spc="200" kern="0" dirty="0">
                <a:solidFill>
                  <a:srgbClr val="494985"/>
                </a:solidFill>
                <a:latin typeface="Quicksand" pitchFamily="34" charset="0"/>
                <a:ea typeface="Quicksand" pitchFamily="34" charset="-122"/>
                <a:cs typeface="Quicksand" pitchFamily="34" charset="-120"/>
              </a:rPr>
              <a:t>EXAM PRACTICE</a:t>
            </a:r>
            <a:endParaRPr lang="en-US" sz="1100" dirty="0"/>
          </a:p>
        </p:txBody>
      </p:sp>
      <p:sp>
        <p:nvSpPr>
          <p:cNvPr id="3" name="Text 1"/>
          <p:cNvSpPr txBox="1"/>
          <p:nvPr/>
        </p:nvSpPr>
        <p:spPr>
          <a:xfrm>
            <a:off x="594360" y="822960"/>
            <a:ext cx="10972800" cy="640080"/>
          </a:xfrm>
          <a:prstGeom prst="rect">
            <a:avLst/>
          </a:prstGeom>
          <a:noFill/>
          <a:ln/>
        </p:spPr>
        <p:txBody>
          <a:bodyPr wrap="square" lIns="0" tIns="0" rIns="0" bIns="0" rtlCol="0" anchor="t"/>
          <a:lstStyle/>
          <a:p>
            <a:pPr indent="0" marL="0">
              <a:buNone/>
            </a:pPr>
            <a:r>
              <a:rPr lang="en-US" sz="3200" b="1" dirty="0">
                <a:solidFill>
                  <a:srgbClr val="252341"/>
                </a:solidFill>
                <a:latin typeface="Quicksand" pitchFamily="34" charset="0"/>
                <a:ea typeface="Quicksand" pitchFamily="34" charset="-122"/>
                <a:cs typeface="Quicksand" pitchFamily="34" charset="-120"/>
              </a:rPr>
              <a:t>Explain an improvement in voice input</a:t>
            </a:r>
            <a:endParaRPr lang="en-US" sz="3200" dirty="0"/>
          </a:p>
        </p:txBody>
      </p:sp>
      <p:sp>
        <p:nvSpPr>
          <p:cNvPr id="4" name="Shape 2"/>
          <p:cNvSpPr/>
          <p:nvPr/>
        </p:nvSpPr>
        <p:spPr>
          <a:xfrm>
            <a:off x="594360" y="6355080"/>
            <a:ext cx="10972800" cy="0"/>
          </a:xfrm>
          <a:prstGeom prst="line">
            <a:avLst/>
          </a:prstGeom>
          <a:noFill/>
          <a:ln w="8890">
            <a:solidFill>
              <a:srgbClr val="DDDBE5"/>
            </a:solidFill>
            <a:prstDash val="solid"/>
          </a:ln>
        </p:spPr>
      </p:sp>
      <p:sp>
        <p:nvSpPr>
          <p:cNvPr id="5" name="Text 3"/>
          <p:cNvSpPr txBox="1"/>
          <p:nvPr/>
        </p:nvSpPr>
        <p:spPr>
          <a:xfrm>
            <a:off x="594360" y="6473952"/>
            <a:ext cx="5486400" cy="164592"/>
          </a:xfrm>
          <a:prstGeom prst="rect">
            <a:avLst/>
          </a:prstGeom>
          <a:noFill/>
          <a:ln/>
        </p:spPr>
        <p:txBody>
          <a:bodyPr wrap="square" lIns="0" tIns="0" rIns="0" bIns="0" rtlCol="0" anchor="t"/>
          <a:lstStyle/>
          <a:p>
            <a:pPr indent="0" marL="0">
              <a:buNone/>
            </a:pPr>
            <a:r>
              <a:rPr lang="en-US" sz="800" dirty="0">
                <a:solidFill>
                  <a:srgbClr val="777584"/>
                </a:solidFill>
                <a:latin typeface="Quicksand" pitchFamily="34" charset="0"/>
                <a:ea typeface="Quicksand" pitchFamily="34" charset="-122"/>
                <a:cs typeface="Quicksand" pitchFamily="34" charset="-120"/>
              </a:rPr>
              <a:t>IGCSE 0478  /  ARTIFICIAL INTELLIGENCE</a:t>
            </a:r>
            <a:endParaRPr lang="en-US" sz="800" dirty="0"/>
          </a:p>
        </p:txBody>
      </p:sp>
      <p:sp>
        <p:nvSpPr>
          <p:cNvPr id="6" name="Text 4"/>
          <p:cNvSpPr txBox="1"/>
          <p:nvPr/>
        </p:nvSpPr>
        <p:spPr>
          <a:xfrm>
            <a:off x="11018520" y="6419088"/>
            <a:ext cx="530352" cy="228600"/>
          </a:xfrm>
          <a:prstGeom prst="rect">
            <a:avLst/>
          </a:prstGeom>
          <a:noFill/>
          <a:ln/>
        </p:spPr>
        <p:txBody>
          <a:bodyPr wrap="square" lIns="0" tIns="0" rIns="0" bIns="0" rtlCol="0" anchor="t"/>
          <a:lstStyle/>
          <a:p>
            <a:pPr algn="r" indent="0" marL="0">
              <a:buNone/>
            </a:pPr>
            <a:r>
              <a:rPr lang="en-US" sz="1100" dirty="0">
                <a:solidFill>
                  <a:srgbClr val="777584"/>
                </a:solidFill>
                <a:latin typeface="Quicksand" pitchFamily="34" charset="0"/>
                <a:ea typeface="Quicksand" pitchFamily="34" charset="-122"/>
                <a:cs typeface="Quicksand" pitchFamily="34" charset="-120"/>
              </a:rPr>
              <a:t>30</a:t>
            </a:r>
            <a:endParaRPr lang="en-US" sz="1100" dirty="0"/>
          </a:p>
        </p:txBody>
      </p:sp>
      <p:sp>
        <p:nvSpPr>
          <p:cNvPr id="7" name="Text 5"/>
          <p:cNvSpPr txBox="1"/>
          <p:nvPr/>
        </p:nvSpPr>
        <p:spPr>
          <a:xfrm>
            <a:off x="594360" y="6144768"/>
            <a:ext cx="10607040" cy="164592"/>
          </a:xfrm>
          <a:prstGeom prst="rect">
            <a:avLst/>
          </a:prstGeom>
          <a:noFill/>
          <a:ln/>
        </p:spPr>
        <p:txBody>
          <a:bodyPr wrap="square" lIns="0" tIns="0" rIns="0" bIns="0" rtlCol="0" anchor="t"/>
          <a:lstStyle/>
          <a:p>
            <a:pPr indent="0" marL="0">
              <a:buNone/>
            </a:pPr>
            <a:r>
              <a:rPr lang="en-US" sz="900" dirty="0">
                <a:solidFill>
                  <a:srgbClr val="777584"/>
                </a:solidFill>
                <a:latin typeface="Quicksand" pitchFamily="34" charset="0"/>
                <a:ea typeface="Quicksand" pitchFamily="34" charset="-122"/>
                <a:cs typeface="Quicksand" pitchFamily="34" charset="-120"/>
              </a:rPr>
              <a:t>0478/12 Oct/Nov 2025 Q7(c)</a:t>
            </a:r>
            <a:endParaRPr lang="en-US" sz="900" dirty="0"/>
          </a:p>
        </p:txBody>
      </p:sp>
      <p:sp>
        <p:nvSpPr>
          <p:cNvPr id="9" name="Text 6"/>
          <p:cNvSpPr txBox="1"/>
          <p:nvPr/>
        </p:nvSpPr>
        <p:spPr>
          <a:xfrm>
            <a:off x="731520" y="1828800"/>
            <a:ext cx="10698480" cy="292608"/>
          </a:xfrm>
          <a:prstGeom prst="rect">
            <a:avLst/>
          </a:prstGeom>
          <a:noFill/>
          <a:ln/>
        </p:spPr>
        <p:txBody>
          <a:bodyPr wrap="square" lIns="0" tIns="0" rIns="0" bIns="0" rtlCol="0" anchor="t"/>
          <a:lstStyle/>
          <a:p>
            <a:pPr indent="0" marL="0">
              <a:buNone/>
            </a:pPr>
            <a:r>
              <a:rPr lang="en-US" sz="1200" b="1" dirty="0">
                <a:solidFill>
                  <a:srgbClr val="494985"/>
                </a:solidFill>
                <a:latin typeface="Quicksand" pitchFamily="34" charset="0"/>
                <a:ea typeface="Quicksand" pitchFamily="34" charset="-122"/>
                <a:cs typeface="Quicksand" pitchFamily="34" charset="-120"/>
              </a:rPr>
              <a:t>QUESTION 1  /  4 MARKS</a:t>
            </a:r>
            <a:endParaRPr lang="en-US" sz="1200" dirty="0"/>
          </a:p>
        </p:txBody>
      </p:sp>
      <p:sp>
        <p:nvSpPr>
          <p:cNvPr id="10" name="Text 7"/>
          <p:cNvSpPr txBox="1"/>
          <p:nvPr/>
        </p:nvSpPr>
        <p:spPr>
          <a:xfrm>
            <a:off x="731520" y="2267712"/>
            <a:ext cx="10698480" cy="914400"/>
          </a:xfrm>
          <a:prstGeom prst="rect">
            <a:avLst/>
          </a:prstGeom>
          <a:noFill/>
          <a:ln/>
        </p:spPr>
        <p:txBody>
          <a:bodyPr wrap="square" lIns="0" tIns="0" rIns="0" bIns="0" rtlCol="0" anchor="t"/>
          <a:lstStyle/>
          <a:p>
            <a:pPr indent="0" marL="0">
              <a:buNone/>
            </a:pPr>
            <a:r>
              <a:rPr lang="en-US" sz="2400" dirty="0">
                <a:solidFill>
                  <a:srgbClr val="252341"/>
                </a:solidFill>
                <a:latin typeface="Quicksand" pitchFamily="34" charset="0"/>
                <a:ea typeface="Quicksand" pitchFamily="34" charset="-122"/>
                <a:cs typeface="Quicksand" pitchFamily="34" charset="-120"/>
              </a:rPr>
              <a:t>Explain how a smart speaker can use machine learning to improve voice-command input.</a:t>
            </a:r>
            <a:endParaRPr lang="en-US" sz="2400" dirty="0"/>
          </a:p>
        </p:txBody>
      </p:sp>
      <p:sp>
        <p:nvSpPr>
          <p:cNvPr id="11" name="Text 8"/>
          <p:cNvSpPr txBox="1"/>
          <p:nvPr/>
        </p:nvSpPr>
        <p:spPr>
          <a:xfrm>
            <a:off x="594360" y="5650992"/>
            <a:ext cx="10972800" cy="384048"/>
          </a:xfrm>
          <a:prstGeom prst="rect">
            <a:avLst/>
          </a:prstGeom>
          <a:noFill/>
          <a:ln/>
        </p:spPr>
        <p:txBody>
          <a:bodyPr wrap="square" lIns="0" tIns="0" rIns="0" bIns="0" rtlCol="0" anchor="t"/>
          <a:lstStyle/>
          <a:p>
            <a:pPr indent="0" marL="0">
              <a:buNone/>
            </a:pPr>
            <a:r>
              <a:rPr lang="en-US" sz="1700" b="1" dirty="0">
                <a:solidFill>
                  <a:srgbClr val="494985"/>
                </a:solidFill>
                <a:latin typeface="Quicksand" pitchFamily="34" charset="0"/>
                <a:ea typeface="Quicksand" pitchFamily="34" charset="-122"/>
                <a:cs typeface="Quicksand" pitchFamily="34" charset="-120"/>
              </a:rPr>
              <a:t>Attempt independently. Discuss the reasoning before checking the model answer.</a:t>
            </a:r>
            <a:endParaRPr lang="en-US" sz="17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AF9F6"/>
        </a:solidFill>
      </p:bgPr>
    </p:bg>
    <p:spTree>
      <p:nvGrpSpPr>
        <p:cNvPr id="1" name=""/>
        <p:cNvGrpSpPr/>
        <p:nvPr/>
      </p:nvGrpSpPr>
      <p:grpSpPr>
        <a:xfrm>
          <a:off x="0" y="0"/>
          <a:ext cx="0" cy="0"/>
          <a:chOff x="0" y="0"/>
          <a:chExt cx="0" cy="0"/>
        </a:xfrm>
      </p:grpSpPr>
      <p:sp>
        <p:nvSpPr>
          <p:cNvPr id="2" name="Text 0"/>
          <p:cNvSpPr txBox="1"/>
          <p:nvPr/>
        </p:nvSpPr>
        <p:spPr>
          <a:xfrm>
            <a:off x="594360" y="301752"/>
            <a:ext cx="10424160" cy="274320"/>
          </a:xfrm>
          <a:prstGeom prst="rect">
            <a:avLst/>
          </a:prstGeom>
          <a:noFill/>
          <a:ln/>
        </p:spPr>
        <p:txBody>
          <a:bodyPr wrap="square" lIns="0" tIns="0" rIns="0" bIns="0" rtlCol="0" anchor="t"/>
          <a:lstStyle/>
          <a:p>
            <a:pPr indent="0" marL="0">
              <a:buNone/>
            </a:pPr>
            <a:r>
              <a:rPr lang="en-US" sz="1100" b="1" spc="200" kern="0" dirty="0">
                <a:solidFill>
                  <a:srgbClr val="494985"/>
                </a:solidFill>
                <a:latin typeface="Quicksand" pitchFamily="34" charset="0"/>
                <a:ea typeface="Quicksand" pitchFamily="34" charset="-122"/>
                <a:cs typeface="Quicksand" pitchFamily="34" charset="-120"/>
              </a:rPr>
              <a:t>FEEDBACK · AFTER PRACTICE</a:t>
            </a:r>
            <a:endParaRPr lang="en-US" sz="1100" dirty="0"/>
          </a:p>
        </p:txBody>
      </p:sp>
      <p:sp>
        <p:nvSpPr>
          <p:cNvPr id="3" name="Text 1"/>
          <p:cNvSpPr txBox="1"/>
          <p:nvPr/>
        </p:nvSpPr>
        <p:spPr>
          <a:xfrm>
            <a:off x="594360" y="822960"/>
            <a:ext cx="10972800" cy="640080"/>
          </a:xfrm>
          <a:prstGeom prst="rect">
            <a:avLst/>
          </a:prstGeom>
          <a:noFill/>
          <a:ln/>
        </p:spPr>
        <p:txBody>
          <a:bodyPr wrap="square" lIns="0" tIns="0" rIns="0" bIns="0" rtlCol="0" anchor="t"/>
          <a:lstStyle/>
          <a:p>
            <a:pPr indent="0" marL="0">
              <a:buNone/>
            </a:pPr>
            <a:r>
              <a:rPr lang="en-US" sz="3200" b="1" dirty="0">
                <a:solidFill>
                  <a:srgbClr val="252341"/>
                </a:solidFill>
                <a:latin typeface="Quicksand" pitchFamily="34" charset="0"/>
                <a:ea typeface="Quicksand" pitchFamily="34" charset="-122"/>
                <a:cs typeface="Quicksand" pitchFamily="34" charset="-120"/>
              </a:rPr>
              <a:t>Search: feedback changes later results</a:t>
            </a:r>
            <a:endParaRPr lang="en-US" sz="3200" dirty="0"/>
          </a:p>
        </p:txBody>
      </p:sp>
      <p:sp>
        <p:nvSpPr>
          <p:cNvPr id="4" name="Shape 2"/>
          <p:cNvSpPr/>
          <p:nvPr/>
        </p:nvSpPr>
        <p:spPr>
          <a:xfrm>
            <a:off x="594360" y="6355080"/>
            <a:ext cx="10972800" cy="0"/>
          </a:xfrm>
          <a:prstGeom prst="line">
            <a:avLst/>
          </a:prstGeom>
          <a:noFill/>
          <a:ln w="8890">
            <a:solidFill>
              <a:srgbClr val="DDDBE5"/>
            </a:solidFill>
            <a:prstDash val="solid"/>
          </a:ln>
        </p:spPr>
      </p:sp>
      <p:sp>
        <p:nvSpPr>
          <p:cNvPr id="5" name="Text 3"/>
          <p:cNvSpPr txBox="1"/>
          <p:nvPr/>
        </p:nvSpPr>
        <p:spPr>
          <a:xfrm>
            <a:off x="594360" y="6473952"/>
            <a:ext cx="5486400" cy="164592"/>
          </a:xfrm>
          <a:prstGeom prst="rect">
            <a:avLst/>
          </a:prstGeom>
          <a:noFill/>
          <a:ln/>
        </p:spPr>
        <p:txBody>
          <a:bodyPr wrap="square" lIns="0" tIns="0" rIns="0" bIns="0" rtlCol="0" anchor="t"/>
          <a:lstStyle/>
          <a:p>
            <a:pPr indent="0" marL="0">
              <a:buNone/>
            </a:pPr>
            <a:r>
              <a:rPr lang="en-US" sz="800" dirty="0">
                <a:solidFill>
                  <a:srgbClr val="777584"/>
                </a:solidFill>
                <a:latin typeface="Quicksand" pitchFamily="34" charset="0"/>
                <a:ea typeface="Quicksand" pitchFamily="34" charset="-122"/>
                <a:cs typeface="Quicksand" pitchFamily="34" charset="-120"/>
              </a:rPr>
              <a:t>IGCSE 0478  /  ARTIFICIAL INTELLIGENCE</a:t>
            </a:r>
            <a:endParaRPr lang="en-US" sz="800" dirty="0"/>
          </a:p>
        </p:txBody>
      </p:sp>
      <p:sp>
        <p:nvSpPr>
          <p:cNvPr id="6" name="Text 4"/>
          <p:cNvSpPr txBox="1"/>
          <p:nvPr/>
        </p:nvSpPr>
        <p:spPr>
          <a:xfrm>
            <a:off x="11018520" y="6419088"/>
            <a:ext cx="530352" cy="228600"/>
          </a:xfrm>
          <a:prstGeom prst="rect">
            <a:avLst/>
          </a:prstGeom>
          <a:noFill/>
          <a:ln/>
        </p:spPr>
        <p:txBody>
          <a:bodyPr wrap="square" lIns="0" tIns="0" rIns="0" bIns="0" rtlCol="0" anchor="t"/>
          <a:lstStyle/>
          <a:p>
            <a:pPr algn="r" indent="0" marL="0">
              <a:buNone/>
            </a:pPr>
            <a:r>
              <a:rPr lang="en-US" sz="1100" dirty="0">
                <a:solidFill>
                  <a:srgbClr val="777584"/>
                </a:solidFill>
                <a:latin typeface="Quicksand" pitchFamily="34" charset="0"/>
                <a:ea typeface="Quicksand" pitchFamily="34" charset="-122"/>
                <a:cs typeface="Quicksand" pitchFamily="34" charset="-120"/>
              </a:rPr>
              <a:t>31</a:t>
            </a:r>
            <a:endParaRPr lang="en-US" sz="1100" dirty="0"/>
          </a:p>
        </p:txBody>
      </p:sp>
      <p:sp>
        <p:nvSpPr>
          <p:cNvPr id="7" name="Text 5"/>
          <p:cNvSpPr txBox="1"/>
          <p:nvPr/>
        </p:nvSpPr>
        <p:spPr>
          <a:xfrm>
            <a:off x="594360" y="6144768"/>
            <a:ext cx="10607040" cy="164592"/>
          </a:xfrm>
          <a:prstGeom prst="rect">
            <a:avLst/>
          </a:prstGeom>
          <a:noFill/>
          <a:ln/>
        </p:spPr>
        <p:txBody>
          <a:bodyPr wrap="square" lIns="0" tIns="0" rIns="0" bIns="0" rtlCol="0" anchor="t"/>
          <a:lstStyle/>
          <a:p>
            <a:pPr indent="0" marL="0">
              <a:buNone/>
            </a:pPr>
            <a:r>
              <a:rPr lang="en-US" sz="900" dirty="0">
                <a:solidFill>
                  <a:srgbClr val="777584"/>
                </a:solidFill>
                <a:latin typeface="Quicksand" pitchFamily="34" charset="0"/>
                <a:ea typeface="Quicksand" pitchFamily="34" charset="-122"/>
                <a:cs typeface="Quicksand" pitchFamily="34" charset="-120"/>
              </a:rPr>
              <a:t>0478/12 Feb/Mar 2025 Q6(b)</a:t>
            </a:r>
            <a:endParaRPr lang="en-US" sz="900" dirty="0"/>
          </a:p>
        </p:txBody>
      </p:sp>
      <p:sp>
        <p:nvSpPr>
          <p:cNvPr id="9" name="Text 6"/>
          <p:cNvSpPr txBox="1"/>
          <p:nvPr/>
        </p:nvSpPr>
        <p:spPr>
          <a:xfrm>
            <a:off x="731520" y="1828800"/>
            <a:ext cx="457200" cy="365760"/>
          </a:xfrm>
          <a:prstGeom prst="rect">
            <a:avLst/>
          </a:prstGeom>
          <a:noFill/>
          <a:ln/>
        </p:spPr>
        <p:txBody>
          <a:bodyPr wrap="square" lIns="0" tIns="0" rIns="0" bIns="0" rtlCol="0" anchor="t"/>
          <a:lstStyle/>
          <a:p>
            <a:pPr indent="0" marL="0">
              <a:buNone/>
            </a:pPr>
            <a:r>
              <a:rPr lang="en-US" sz="1600" b="1" dirty="0">
                <a:solidFill>
                  <a:srgbClr val="494985"/>
                </a:solidFill>
                <a:latin typeface="Quicksand" pitchFamily="34" charset="0"/>
                <a:ea typeface="Quicksand" pitchFamily="34" charset="-122"/>
                <a:cs typeface="Quicksand" pitchFamily="34" charset="-120"/>
              </a:rPr>
              <a:t>01</a:t>
            </a:r>
            <a:endParaRPr lang="en-US" sz="1600" dirty="0"/>
          </a:p>
        </p:txBody>
      </p:sp>
      <p:sp>
        <p:nvSpPr>
          <p:cNvPr id="10" name="Text 7"/>
          <p:cNvSpPr txBox="1"/>
          <p:nvPr/>
        </p:nvSpPr>
        <p:spPr>
          <a:xfrm>
            <a:off x="1371600" y="1815084"/>
            <a:ext cx="10012680" cy="795528"/>
          </a:xfrm>
          <a:prstGeom prst="rect">
            <a:avLst/>
          </a:prstGeom>
          <a:noFill/>
          <a:ln/>
        </p:spPr>
        <p:txBody>
          <a:bodyPr wrap="square" lIns="0" tIns="0" rIns="0" bIns="0" rtlCol="0" anchor="t"/>
          <a:lstStyle/>
          <a:p>
            <a:pPr indent="0" marL="0">
              <a:buNone/>
            </a:pPr>
            <a:r>
              <a:rPr lang="en-US" sz="2200" dirty="0">
                <a:solidFill>
                  <a:srgbClr val="252341"/>
                </a:solidFill>
                <a:latin typeface="Quicksand" pitchFamily="34" charset="0"/>
                <a:ea typeface="Quicksand" pitchFamily="34" charset="-122"/>
                <a:cs typeface="Quicksand" pitchFamily="34" charset="-120"/>
              </a:rPr>
              <a:t>Record that a result was unsuitable / unhelpful.</a:t>
            </a:r>
            <a:endParaRPr lang="en-US" sz="2200" dirty="0"/>
          </a:p>
        </p:txBody>
      </p:sp>
      <p:sp>
        <p:nvSpPr>
          <p:cNvPr id="11" name="Shape 8"/>
          <p:cNvSpPr/>
          <p:nvPr/>
        </p:nvSpPr>
        <p:spPr>
          <a:xfrm>
            <a:off x="1371600" y="2578608"/>
            <a:ext cx="10012680" cy="0"/>
          </a:xfrm>
          <a:prstGeom prst="line">
            <a:avLst/>
          </a:prstGeom>
          <a:noFill/>
          <a:ln w="8890">
            <a:solidFill>
              <a:srgbClr val="DDDBE5"/>
            </a:solidFill>
            <a:prstDash val="solid"/>
          </a:ln>
        </p:spPr>
      </p:sp>
      <p:sp>
        <p:nvSpPr>
          <p:cNvPr id="12" name="Text 9"/>
          <p:cNvSpPr txBox="1"/>
          <p:nvPr/>
        </p:nvSpPr>
        <p:spPr>
          <a:xfrm>
            <a:off x="731520" y="2734056"/>
            <a:ext cx="457200" cy="365760"/>
          </a:xfrm>
          <a:prstGeom prst="rect">
            <a:avLst/>
          </a:prstGeom>
          <a:noFill/>
          <a:ln/>
        </p:spPr>
        <p:txBody>
          <a:bodyPr wrap="square" lIns="0" tIns="0" rIns="0" bIns="0" rtlCol="0" anchor="t"/>
          <a:lstStyle/>
          <a:p>
            <a:pPr indent="0" marL="0">
              <a:buNone/>
            </a:pPr>
            <a:r>
              <a:rPr lang="en-US" sz="1600" b="1" dirty="0">
                <a:solidFill>
                  <a:srgbClr val="494985"/>
                </a:solidFill>
                <a:latin typeface="Quicksand" pitchFamily="34" charset="0"/>
                <a:ea typeface="Quicksand" pitchFamily="34" charset="-122"/>
                <a:cs typeface="Quicksand" pitchFamily="34" charset="-120"/>
              </a:rPr>
              <a:t>02</a:t>
            </a:r>
            <a:endParaRPr lang="en-US" sz="1600" dirty="0"/>
          </a:p>
        </p:txBody>
      </p:sp>
      <p:sp>
        <p:nvSpPr>
          <p:cNvPr id="13" name="Text 10"/>
          <p:cNvSpPr txBox="1"/>
          <p:nvPr/>
        </p:nvSpPr>
        <p:spPr>
          <a:xfrm>
            <a:off x="1371600" y="2720340"/>
            <a:ext cx="10012680" cy="795528"/>
          </a:xfrm>
          <a:prstGeom prst="rect">
            <a:avLst/>
          </a:prstGeom>
          <a:noFill/>
          <a:ln/>
        </p:spPr>
        <p:txBody>
          <a:bodyPr wrap="square" lIns="0" tIns="0" rIns="0" bIns="0" rtlCol="0" anchor="t"/>
          <a:lstStyle/>
          <a:p>
            <a:pPr indent="0" marL="0">
              <a:buNone/>
            </a:pPr>
            <a:r>
              <a:rPr lang="en-US" sz="2200" dirty="0">
                <a:solidFill>
                  <a:srgbClr val="252341"/>
                </a:solidFill>
                <a:latin typeface="Quicksand" pitchFamily="34" charset="0"/>
                <a:ea typeface="Quicksand" pitchFamily="34" charset="-122"/>
                <a:cs typeface="Quicksand" pitchFamily="34" charset="-120"/>
              </a:rPr>
              <a:t>Use feedback to change data or ranking rules.</a:t>
            </a:r>
            <a:endParaRPr lang="en-US" sz="2200" dirty="0"/>
          </a:p>
        </p:txBody>
      </p:sp>
      <p:sp>
        <p:nvSpPr>
          <p:cNvPr id="14" name="Shape 11"/>
          <p:cNvSpPr/>
          <p:nvPr/>
        </p:nvSpPr>
        <p:spPr>
          <a:xfrm>
            <a:off x="1371600" y="3483864"/>
            <a:ext cx="10012680" cy="0"/>
          </a:xfrm>
          <a:prstGeom prst="line">
            <a:avLst/>
          </a:prstGeom>
          <a:noFill/>
          <a:ln w="8890">
            <a:solidFill>
              <a:srgbClr val="DDDBE5"/>
            </a:solidFill>
            <a:prstDash val="solid"/>
          </a:ln>
        </p:spPr>
      </p:sp>
      <p:sp>
        <p:nvSpPr>
          <p:cNvPr id="15" name="Text 12"/>
          <p:cNvSpPr txBox="1"/>
          <p:nvPr/>
        </p:nvSpPr>
        <p:spPr>
          <a:xfrm>
            <a:off x="731520" y="3639312"/>
            <a:ext cx="457200" cy="365760"/>
          </a:xfrm>
          <a:prstGeom prst="rect">
            <a:avLst/>
          </a:prstGeom>
          <a:noFill/>
          <a:ln/>
        </p:spPr>
        <p:txBody>
          <a:bodyPr wrap="square" lIns="0" tIns="0" rIns="0" bIns="0" rtlCol="0" anchor="t"/>
          <a:lstStyle/>
          <a:p>
            <a:pPr indent="0" marL="0">
              <a:buNone/>
            </a:pPr>
            <a:r>
              <a:rPr lang="en-US" sz="1600" b="1" dirty="0">
                <a:solidFill>
                  <a:srgbClr val="494985"/>
                </a:solidFill>
                <a:latin typeface="Quicksand" pitchFamily="34" charset="0"/>
                <a:ea typeface="Quicksand" pitchFamily="34" charset="-122"/>
                <a:cs typeface="Quicksand" pitchFamily="34" charset="-120"/>
              </a:rPr>
              <a:t>03</a:t>
            </a:r>
            <a:endParaRPr lang="en-US" sz="1600" dirty="0"/>
          </a:p>
        </p:txBody>
      </p:sp>
      <p:sp>
        <p:nvSpPr>
          <p:cNvPr id="16" name="Text 13"/>
          <p:cNvSpPr txBox="1"/>
          <p:nvPr/>
        </p:nvSpPr>
        <p:spPr>
          <a:xfrm>
            <a:off x="1371600" y="3625596"/>
            <a:ext cx="10012680" cy="795528"/>
          </a:xfrm>
          <a:prstGeom prst="rect">
            <a:avLst/>
          </a:prstGeom>
          <a:noFill/>
          <a:ln/>
        </p:spPr>
        <p:txBody>
          <a:bodyPr wrap="square" lIns="0" tIns="0" rIns="0" bIns="0" rtlCol="0" anchor="t"/>
          <a:lstStyle/>
          <a:p>
            <a:pPr indent="0" marL="0">
              <a:buNone/>
            </a:pPr>
            <a:r>
              <a:rPr lang="en-US" sz="2200" dirty="0">
                <a:solidFill>
                  <a:srgbClr val="252341"/>
                </a:solidFill>
                <a:latin typeface="Quicksand" pitchFamily="34" charset="0"/>
                <a:ea typeface="Quicksand" pitchFamily="34" charset="-122"/>
                <a:cs typeface="Quicksand" pitchFamily="34" charset="-120"/>
              </a:rPr>
              <a:t>Return more relevant results in a later search.</a:t>
            </a:r>
            <a:endParaRPr lang="en-US" sz="2200" dirty="0"/>
          </a:p>
        </p:txBody>
      </p:sp>
      <p:sp>
        <p:nvSpPr>
          <p:cNvPr id="17" name="Text 14"/>
          <p:cNvSpPr txBox="1"/>
          <p:nvPr/>
        </p:nvSpPr>
        <p:spPr>
          <a:xfrm>
            <a:off x="594360" y="5650992"/>
            <a:ext cx="10972800" cy="384048"/>
          </a:xfrm>
          <a:prstGeom prst="rect">
            <a:avLst/>
          </a:prstGeom>
          <a:noFill/>
          <a:ln/>
        </p:spPr>
        <p:txBody>
          <a:bodyPr wrap="square" lIns="0" tIns="0" rIns="0" bIns="0" rtlCol="0" anchor="t"/>
          <a:lstStyle/>
          <a:p>
            <a:pPr indent="0" marL="0">
              <a:buNone/>
            </a:pPr>
            <a:r>
              <a:rPr lang="en-US" sz="1700" b="1" dirty="0">
                <a:solidFill>
                  <a:srgbClr val="494985"/>
                </a:solidFill>
                <a:latin typeface="Quicksand" pitchFamily="34" charset="0"/>
                <a:ea typeface="Quicksand" pitchFamily="34" charset="-122"/>
                <a:cs typeface="Quicksand" pitchFamily="34" charset="-120"/>
              </a:rPr>
              <a:t>Keyword matching alone does not explain machine learning.</a:t>
            </a:r>
            <a:endParaRPr lang="en-US" sz="17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AF9F6"/>
        </a:solidFill>
      </p:bgPr>
    </p:bg>
    <p:spTree>
      <p:nvGrpSpPr>
        <p:cNvPr id="1" name=""/>
        <p:cNvGrpSpPr/>
        <p:nvPr/>
      </p:nvGrpSpPr>
      <p:grpSpPr>
        <a:xfrm>
          <a:off x="0" y="0"/>
          <a:ext cx="0" cy="0"/>
          <a:chOff x="0" y="0"/>
          <a:chExt cx="0" cy="0"/>
        </a:xfrm>
      </p:grpSpPr>
      <p:sp>
        <p:nvSpPr>
          <p:cNvPr id="2" name="Text 0"/>
          <p:cNvSpPr txBox="1"/>
          <p:nvPr/>
        </p:nvSpPr>
        <p:spPr>
          <a:xfrm>
            <a:off x="594360" y="301752"/>
            <a:ext cx="10424160" cy="274320"/>
          </a:xfrm>
          <a:prstGeom prst="rect">
            <a:avLst/>
          </a:prstGeom>
          <a:noFill/>
          <a:ln/>
        </p:spPr>
        <p:txBody>
          <a:bodyPr wrap="square" lIns="0" tIns="0" rIns="0" bIns="0" rtlCol="0" anchor="t"/>
          <a:lstStyle/>
          <a:p>
            <a:pPr indent="0" marL="0">
              <a:buNone/>
            </a:pPr>
            <a:r>
              <a:rPr lang="en-US" sz="1100" b="1" spc="200" kern="0" dirty="0">
                <a:solidFill>
                  <a:srgbClr val="494985"/>
                </a:solidFill>
                <a:latin typeface="Quicksand" pitchFamily="34" charset="0"/>
                <a:ea typeface="Quicksand" pitchFamily="34" charset="-122"/>
                <a:cs typeface="Quicksand" pitchFamily="34" charset="-120"/>
              </a:rPr>
              <a:t>FEEDBACK · AFTER PRACTICE</a:t>
            </a:r>
            <a:endParaRPr lang="en-US" sz="1100" dirty="0"/>
          </a:p>
        </p:txBody>
      </p:sp>
      <p:sp>
        <p:nvSpPr>
          <p:cNvPr id="3" name="Text 1"/>
          <p:cNvSpPr txBox="1"/>
          <p:nvPr/>
        </p:nvSpPr>
        <p:spPr>
          <a:xfrm>
            <a:off x="594360" y="822960"/>
            <a:ext cx="10972800" cy="640080"/>
          </a:xfrm>
          <a:prstGeom prst="rect">
            <a:avLst/>
          </a:prstGeom>
          <a:noFill/>
          <a:ln/>
        </p:spPr>
        <p:txBody>
          <a:bodyPr wrap="square" lIns="0" tIns="0" rIns="0" bIns="0" rtlCol="0" anchor="t"/>
          <a:lstStyle/>
          <a:p>
            <a:pPr indent="0" marL="0">
              <a:buNone/>
            </a:pPr>
            <a:r>
              <a:rPr lang="en-US" sz="3200" b="1" dirty="0">
                <a:solidFill>
                  <a:srgbClr val="252341"/>
                </a:solidFill>
                <a:latin typeface="Quicksand" pitchFamily="34" charset="0"/>
                <a:ea typeface="Quicksand" pitchFamily="34" charset="-122"/>
                <a:cs typeface="Quicksand" pitchFamily="34" charset="-120"/>
              </a:rPr>
              <a:t>Weather: use the patterns to predict</a:t>
            </a:r>
            <a:endParaRPr lang="en-US" sz="3200" dirty="0"/>
          </a:p>
        </p:txBody>
      </p:sp>
      <p:sp>
        <p:nvSpPr>
          <p:cNvPr id="4" name="Shape 2"/>
          <p:cNvSpPr/>
          <p:nvPr/>
        </p:nvSpPr>
        <p:spPr>
          <a:xfrm>
            <a:off x="594360" y="6355080"/>
            <a:ext cx="10972800" cy="0"/>
          </a:xfrm>
          <a:prstGeom prst="line">
            <a:avLst/>
          </a:prstGeom>
          <a:noFill/>
          <a:ln w="8890">
            <a:solidFill>
              <a:srgbClr val="DDDBE5"/>
            </a:solidFill>
            <a:prstDash val="solid"/>
          </a:ln>
        </p:spPr>
      </p:sp>
      <p:sp>
        <p:nvSpPr>
          <p:cNvPr id="5" name="Text 3"/>
          <p:cNvSpPr txBox="1"/>
          <p:nvPr/>
        </p:nvSpPr>
        <p:spPr>
          <a:xfrm>
            <a:off x="594360" y="6473952"/>
            <a:ext cx="5486400" cy="164592"/>
          </a:xfrm>
          <a:prstGeom prst="rect">
            <a:avLst/>
          </a:prstGeom>
          <a:noFill/>
          <a:ln/>
        </p:spPr>
        <p:txBody>
          <a:bodyPr wrap="square" lIns="0" tIns="0" rIns="0" bIns="0" rtlCol="0" anchor="t"/>
          <a:lstStyle/>
          <a:p>
            <a:pPr indent="0" marL="0">
              <a:buNone/>
            </a:pPr>
            <a:r>
              <a:rPr lang="en-US" sz="800" dirty="0">
                <a:solidFill>
                  <a:srgbClr val="777584"/>
                </a:solidFill>
                <a:latin typeface="Quicksand" pitchFamily="34" charset="0"/>
                <a:ea typeface="Quicksand" pitchFamily="34" charset="-122"/>
                <a:cs typeface="Quicksand" pitchFamily="34" charset="-120"/>
              </a:rPr>
              <a:t>IGCSE 0478  /  ARTIFICIAL INTELLIGENCE</a:t>
            </a:r>
            <a:endParaRPr lang="en-US" sz="800" dirty="0"/>
          </a:p>
        </p:txBody>
      </p:sp>
      <p:sp>
        <p:nvSpPr>
          <p:cNvPr id="6" name="Text 4"/>
          <p:cNvSpPr txBox="1"/>
          <p:nvPr/>
        </p:nvSpPr>
        <p:spPr>
          <a:xfrm>
            <a:off x="11018520" y="6419088"/>
            <a:ext cx="530352" cy="228600"/>
          </a:xfrm>
          <a:prstGeom prst="rect">
            <a:avLst/>
          </a:prstGeom>
          <a:noFill/>
          <a:ln/>
        </p:spPr>
        <p:txBody>
          <a:bodyPr wrap="square" lIns="0" tIns="0" rIns="0" bIns="0" rtlCol="0" anchor="t"/>
          <a:lstStyle/>
          <a:p>
            <a:pPr algn="r" indent="0" marL="0">
              <a:buNone/>
            </a:pPr>
            <a:r>
              <a:rPr lang="en-US" sz="1100" dirty="0">
                <a:solidFill>
                  <a:srgbClr val="777584"/>
                </a:solidFill>
                <a:latin typeface="Quicksand" pitchFamily="34" charset="0"/>
                <a:ea typeface="Quicksand" pitchFamily="34" charset="-122"/>
                <a:cs typeface="Quicksand" pitchFamily="34" charset="-120"/>
              </a:rPr>
              <a:t>32</a:t>
            </a:r>
            <a:endParaRPr lang="en-US" sz="1100" dirty="0"/>
          </a:p>
        </p:txBody>
      </p:sp>
      <p:sp>
        <p:nvSpPr>
          <p:cNvPr id="7" name="Text 5"/>
          <p:cNvSpPr txBox="1"/>
          <p:nvPr/>
        </p:nvSpPr>
        <p:spPr>
          <a:xfrm>
            <a:off x="594360" y="6144768"/>
            <a:ext cx="10607040" cy="164592"/>
          </a:xfrm>
          <a:prstGeom prst="rect">
            <a:avLst/>
          </a:prstGeom>
          <a:noFill/>
          <a:ln/>
        </p:spPr>
        <p:txBody>
          <a:bodyPr wrap="square" lIns="0" tIns="0" rIns="0" bIns="0" rtlCol="0" anchor="t"/>
          <a:lstStyle/>
          <a:p>
            <a:pPr indent="0" marL="0">
              <a:buNone/>
            </a:pPr>
            <a:r>
              <a:rPr lang="en-US" sz="900" dirty="0">
                <a:solidFill>
                  <a:srgbClr val="777584"/>
                </a:solidFill>
                <a:latin typeface="Quicksand" pitchFamily="34" charset="0"/>
                <a:ea typeface="Quicksand" pitchFamily="34" charset="-122"/>
                <a:cs typeface="Quicksand" pitchFamily="34" charset="-120"/>
              </a:rPr>
              <a:t>0478/13 May/June 2025 Q6(f)(ii)</a:t>
            </a:r>
            <a:endParaRPr lang="en-US" sz="900" dirty="0"/>
          </a:p>
        </p:txBody>
      </p:sp>
      <p:sp>
        <p:nvSpPr>
          <p:cNvPr id="9" name="Text 6"/>
          <p:cNvSpPr txBox="1"/>
          <p:nvPr/>
        </p:nvSpPr>
        <p:spPr>
          <a:xfrm>
            <a:off x="731520" y="1828800"/>
            <a:ext cx="457200" cy="365760"/>
          </a:xfrm>
          <a:prstGeom prst="rect">
            <a:avLst/>
          </a:prstGeom>
          <a:noFill/>
          <a:ln/>
        </p:spPr>
        <p:txBody>
          <a:bodyPr wrap="square" lIns="0" tIns="0" rIns="0" bIns="0" rtlCol="0" anchor="t"/>
          <a:lstStyle/>
          <a:p>
            <a:pPr indent="0" marL="0">
              <a:buNone/>
            </a:pPr>
            <a:r>
              <a:rPr lang="en-US" sz="1600" b="1" dirty="0">
                <a:solidFill>
                  <a:srgbClr val="494985"/>
                </a:solidFill>
                <a:latin typeface="Quicksand" pitchFamily="34" charset="0"/>
                <a:ea typeface="Quicksand" pitchFamily="34" charset="-122"/>
                <a:cs typeface="Quicksand" pitchFamily="34" charset="-120"/>
              </a:rPr>
              <a:t>01</a:t>
            </a:r>
            <a:endParaRPr lang="en-US" sz="1600" dirty="0"/>
          </a:p>
        </p:txBody>
      </p:sp>
      <p:sp>
        <p:nvSpPr>
          <p:cNvPr id="10" name="Text 7"/>
          <p:cNvSpPr txBox="1"/>
          <p:nvPr/>
        </p:nvSpPr>
        <p:spPr>
          <a:xfrm>
            <a:off x="1371600" y="1815084"/>
            <a:ext cx="10012680" cy="795528"/>
          </a:xfrm>
          <a:prstGeom prst="rect">
            <a:avLst/>
          </a:prstGeom>
          <a:noFill/>
          <a:ln/>
        </p:spPr>
        <p:txBody>
          <a:bodyPr wrap="square" lIns="0" tIns="0" rIns="0" bIns="0" rtlCol="0" anchor="t"/>
          <a:lstStyle/>
          <a:p>
            <a:pPr indent="0" marL="0">
              <a:buNone/>
            </a:pPr>
            <a:r>
              <a:rPr lang="en-US" sz="2200" dirty="0">
                <a:solidFill>
                  <a:srgbClr val="252341"/>
                </a:solidFill>
                <a:latin typeface="Quicksand" pitchFamily="34" charset="0"/>
                <a:ea typeface="Quicksand" pitchFamily="34" charset="-122"/>
                <a:cs typeface="Quicksand" pitchFamily="34" charset="-120"/>
              </a:rPr>
              <a:t>Analyse historical weather data for patterns.</a:t>
            </a:r>
            <a:endParaRPr lang="en-US" sz="2200" dirty="0"/>
          </a:p>
        </p:txBody>
      </p:sp>
      <p:sp>
        <p:nvSpPr>
          <p:cNvPr id="11" name="Shape 8"/>
          <p:cNvSpPr/>
          <p:nvPr/>
        </p:nvSpPr>
        <p:spPr>
          <a:xfrm>
            <a:off x="1371600" y="2578608"/>
            <a:ext cx="10012680" cy="0"/>
          </a:xfrm>
          <a:prstGeom prst="line">
            <a:avLst/>
          </a:prstGeom>
          <a:noFill/>
          <a:ln w="8890">
            <a:solidFill>
              <a:srgbClr val="DDDBE5"/>
            </a:solidFill>
            <a:prstDash val="solid"/>
          </a:ln>
        </p:spPr>
      </p:sp>
      <p:sp>
        <p:nvSpPr>
          <p:cNvPr id="12" name="Text 9"/>
          <p:cNvSpPr txBox="1"/>
          <p:nvPr/>
        </p:nvSpPr>
        <p:spPr>
          <a:xfrm>
            <a:off x="731520" y="2734056"/>
            <a:ext cx="457200" cy="365760"/>
          </a:xfrm>
          <a:prstGeom prst="rect">
            <a:avLst/>
          </a:prstGeom>
          <a:noFill/>
          <a:ln/>
        </p:spPr>
        <p:txBody>
          <a:bodyPr wrap="square" lIns="0" tIns="0" rIns="0" bIns="0" rtlCol="0" anchor="t"/>
          <a:lstStyle/>
          <a:p>
            <a:pPr indent="0" marL="0">
              <a:buNone/>
            </a:pPr>
            <a:r>
              <a:rPr lang="en-US" sz="1600" b="1" dirty="0">
                <a:solidFill>
                  <a:srgbClr val="494985"/>
                </a:solidFill>
                <a:latin typeface="Quicksand" pitchFamily="34" charset="0"/>
                <a:ea typeface="Quicksand" pitchFamily="34" charset="-122"/>
                <a:cs typeface="Quicksand" pitchFamily="34" charset="-120"/>
              </a:rPr>
              <a:t>02</a:t>
            </a:r>
            <a:endParaRPr lang="en-US" sz="1600" dirty="0"/>
          </a:p>
        </p:txBody>
      </p:sp>
      <p:sp>
        <p:nvSpPr>
          <p:cNvPr id="13" name="Text 10"/>
          <p:cNvSpPr txBox="1"/>
          <p:nvPr/>
        </p:nvSpPr>
        <p:spPr>
          <a:xfrm>
            <a:off x="1371600" y="2720340"/>
            <a:ext cx="10012680" cy="795528"/>
          </a:xfrm>
          <a:prstGeom prst="rect">
            <a:avLst/>
          </a:prstGeom>
          <a:noFill/>
          <a:ln/>
        </p:spPr>
        <p:txBody>
          <a:bodyPr wrap="square" lIns="0" tIns="0" rIns="0" bIns="0" rtlCol="0" anchor="t"/>
          <a:lstStyle/>
          <a:p>
            <a:pPr indent="0" marL="0">
              <a:buNone/>
            </a:pPr>
            <a:r>
              <a:rPr lang="en-US" sz="2200" dirty="0">
                <a:solidFill>
                  <a:srgbClr val="252341"/>
                </a:solidFill>
                <a:latin typeface="Quicksand" pitchFamily="34" charset="0"/>
                <a:ea typeface="Quicksand" pitchFamily="34" charset="-122"/>
                <a:cs typeface="Quicksand" pitchFamily="34" charset="-120"/>
              </a:rPr>
              <a:t>Use those patterns to predict future weather.</a:t>
            </a:r>
            <a:endParaRPr lang="en-US" sz="2200" dirty="0"/>
          </a:p>
        </p:txBody>
      </p:sp>
      <p:sp>
        <p:nvSpPr>
          <p:cNvPr id="14" name="Shape 11"/>
          <p:cNvSpPr/>
          <p:nvPr/>
        </p:nvSpPr>
        <p:spPr>
          <a:xfrm>
            <a:off x="1371600" y="3483864"/>
            <a:ext cx="10012680" cy="0"/>
          </a:xfrm>
          <a:prstGeom prst="line">
            <a:avLst/>
          </a:prstGeom>
          <a:noFill/>
          <a:ln w="8890">
            <a:solidFill>
              <a:srgbClr val="DDDBE5"/>
            </a:solidFill>
            <a:prstDash val="solid"/>
          </a:ln>
        </p:spPr>
      </p:sp>
      <p:sp>
        <p:nvSpPr>
          <p:cNvPr id="15" name="Text 12"/>
          <p:cNvSpPr txBox="1"/>
          <p:nvPr/>
        </p:nvSpPr>
        <p:spPr>
          <a:xfrm>
            <a:off x="731520" y="3639312"/>
            <a:ext cx="457200" cy="365760"/>
          </a:xfrm>
          <a:prstGeom prst="rect">
            <a:avLst/>
          </a:prstGeom>
          <a:noFill/>
          <a:ln/>
        </p:spPr>
        <p:txBody>
          <a:bodyPr wrap="square" lIns="0" tIns="0" rIns="0" bIns="0" rtlCol="0" anchor="t"/>
          <a:lstStyle/>
          <a:p>
            <a:pPr indent="0" marL="0">
              <a:buNone/>
            </a:pPr>
            <a:r>
              <a:rPr lang="en-US" sz="1600" b="1" dirty="0">
                <a:solidFill>
                  <a:srgbClr val="494985"/>
                </a:solidFill>
                <a:latin typeface="Quicksand" pitchFamily="34" charset="0"/>
                <a:ea typeface="Quicksand" pitchFamily="34" charset="-122"/>
                <a:cs typeface="Quicksand" pitchFamily="34" charset="-120"/>
              </a:rPr>
              <a:t>03</a:t>
            </a:r>
            <a:endParaRPr lang="en-US" sz="1600" dirty="0"/>
          </a:p>
        </p:txBody>
      </p:sp>
      <p:sp>
        <p:nvSpPr>
          <p:cNvPr id="16" name="Text 13"/>
          <p:cNvSpPr txBox="1"/>
          <p:nvPr/>
        </p:nvSpPr>
        <p:spPr>
          <a:xfrm>
            <a:off x="1371600" y="3625596"/>
            <a:ext cx="10012680" cy="795528"/>
          </a:xfrm>
          <a:prstGeom prst="rect">
            <a:avLst/>
          </a:prstGeom>
          <a:noFill/>
          <a:ln/>
        </p:spPr>
        <p:txBody>
          <a:bodyPr wrap="square" lIns="0" tIns="0" rIns="0" bIns="0" rtlCol="0" anchor="t"/>
          <a:lstStyle/>
          <a:p>
            <a:pPr indent="0" marL="0">
              <a:buNone/>
            </a:pPr>
            <a:r>
              <a:rPr lang="en-US" sz="2200" dirty="0">
                <a:solidFill>
                  <a:srgbClr val="252341"/>
                </a:solidFill>
                <a:latin typeface="Quicksand" pitchFamily="34" charset="0"/>
                <a:ea typeface="Quicksand" pitchFamily="34" charset="-122"/>
                <a:cs typeface="Quicksand" pitchFamily="34" charset="-120"/>
              </a:rPr>
              <a:t>Use feedback to revise later predictions.</a:t>
            </a:r>
            <a:endParaRPr lang="en-US" sz="2200" dirty="0"/>
          </a:p>
        </p:txBody>
      </p:sp>
      <p:sp>
        <p:nvSpPr>
          <p:cNvPr id="17" name="Text 14"/>
          <p:cNvSpPr txBox="1"/>
          <p:nvPr/>
        </p:nvSpPr>
        <p:spPr>
          <a:xfrm>
            <a:off x="594360" y="5650992"/>
            <a:ext cx="10972800" cy="384048"/>
          </a:xfrm>
          <a:prstGeom prst="rect">
            <a:avLst/>
          </a:prstGeom>
          <a:noFill/>
          <a:ln/>
        </p:spPr>
        <p:txBody>
          <a:bodyPr wrap="square" lIns="0" tIns="0" rIns="0" bIns="0" rtlCol="0" anchor="t"/>
          <a:lstStyle/>
          <a:p>
            <a:pPr indent="0" marL="0">
              <a:buNone/>
            </a:pPr>
            <a:r>
              <a:rPr lang="en-US" sz="1700" b="1" dirty="0">
                <a:solidFill>
                  <a:srgbClr val="494985"/>
                </a:solidFill>
                <a:latin typeface="Quicksand" pitchFamily="34" charset="0"/>
                <a:ea typeface="Quicksand" pitchFamily="34" charset="-122"/>
                <a:cs typeface="Quicksand" pitchFamily="34" charset="-120"/>
              </a:rPr>
              <a:t>Collecting readings is only the starting point; explain their use.</a:t>
            </a:r>
            <a:endParaRPr lang="en-US" sz="17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AF9F6"/>
        </a:solidFill>
      </p:bgPr>
    </p:bg>
    <p:spTree>
      <p:nvGrpSpPr>
        <p:cNvPr id="1" name=""/>
        <p:cNvGrpSpPr/>
        <p:nvPr/>
      </p:nvGrpSpPr>
      <p:grpSpPr>
        <a:xfrm>
          <a:off x="0" y="0"/>
          <a:ext cx="0" cy="0"/>
          <a:chOff x="0" y="0"/>
          <a:chExt cx="0" cy="0"/>
        </a:xfrm>
      </p:grpSpPr>
      <p:sp>
        <p:nvSpPr>
          <p:cNvPr id="2" name="Text 0"/>
          <p:cNvSpPr txBox="1"/>
          <p:nvPr/>
        </p:nvSpPr>
        <p:spPr>
          <a:xfrm>
            <a:off x="594360" y="301752"/>
            <a:ext cx="10424160" cy="274320"/>
          </a:xfrm>
          <a:prstGeom prst="rect">
            <a:avLst/>
          </a:prstGeom>
          <a:noFill/>
          <a:ln/>
        </p:spPr>
        <p:txBody>
          <a:bodyPr wrap="square" lIns="0" tIns="0" rIns="0" bIns="0" rtlCol="0" anchor="t"/>
          <a:lstStyle/>
          <a:p>
            <a:pPr indent="0" marL="0">
              <a:buNone/>
            </a:pPr>
            <a:r>
              <a:rPr lang="en-US" sz="1100" b="1" spc="200" kern="0" dirty="0">
                <a:solidFill>
                  <a:srgbClr val="494985"/>
                </a:solidFill>
                <a:latin typeface="Quicksand" pitchFamily="34" charset="0"/>
                <a:ea typeface="Quicksand" pitchFamily="34" charset="-122"/>
                <a:cs typeface="Quicksand" pitchFamily="34" charset="-120"/>
              </a:rPr>
              <a:t>FEEDBACK · AFTER PRACTICE</a:t>
            </a:r>
            <a:endParaRPr lang="en-US" sz="1100" dirty="0"/>
          </a:p>
        </p:txBody>
      </p:sp>
      <p:sp>
        <p:nvSpPr>
          <p:cNvPr id="3" name="Text 1"/>
          <p:cNvSpPr txBox="1"/>
          <p:nvPr/>
        </p:nvSpPr>
        <p:spPr>
          <a:xfrm>
            <a:off x="594360" y="822960"/>
            <a:ext cx="10972800" cy="640080"/>
          </a:xfrm>
          <a:prstGeom prst="rect">
            <a:avLst/>
          </a:prstGeom>
          <a:noFill/>
          <a:ln/>
        </p:spPr>
        <p:txBody>
          <a:bodyPr wrap="square" lIns="0" tIns="0" rIns="0" bIns="0" rtlCol="0" anchor="t"/>
          <a:lstStyle/>
          <a:p>
            <a:pPr indent="0" marL="0">
              <a:buNone/>
            </a:pPr>
            <a:r>
              <a:rPr lang="en-US" sz="3200" b="1" dirty="0">
                <a:solidFill>
                  <a:srgbClr val="252341"/>
                </a:solidFill>
                <a:latin typeface="Quicksand" pitchFamily="34" charset="0"/>
                <a:ea typeface="Quicksand" pitchFamily="34" charset="-122"/>
                <a:cs typeface="Quicksand" pitchFamily="34" charset="-120"/>
              </a:rPr>
              <a:t>Voice: explain four useful learning ideas</a:t>
            </a:r>
            <a:endParaRPr lang="en-US" sz="3200" dirty="0"/>
          </a:p>
        </p:txBody>
      </p:sp>
      <p:sp>
        <p:nvSpPr>
          <p:cNvPr id="4" name="Shape 2"/>
          <p:cNvSpPr/>
          <p:nvPr/>
        </p:nvSpPr>
        <p:spPr>
          <a:xfrm>
            <a:off x="594360" y="6355080"/>
            <a:ext cx="10972800" cy="0"/>
          </a:xfrm>
          <a:prstGeom prst="line">
            <a:avLst/>
          </a:prstGeom>
          <a:noFill/>
          <a:ln w="8890">
            <a:solidFill>
              <a:srgbClr val="DDDBE5"/>
            </a:solidFill>
            <a:prstDash val="solid"/>
          </a:ln>
        </p:spPr>
      </p:sp>
      <p:sp>
        <p:nvSpPr>
          <p:cNvPr id="5" name="Text 3"/>
          <p:cNvSpPr txBox="1"/>
          <p:nvPr/>
        </p:nvSpPr>
        <p:spPr>
          <a:xfrm>
            <a:off x="594360" y="6473952"/>
            <a:ext cx="5486400" cy="164592"/>
          </a:xfrm>
          <a:prstGeom prst="rect">
            <a:avLst/>
          </a:prstGeom>
          <a:noFill/>
          <a:ln/>
        </p:spPr>
        <p:txBody>
          <a:bodyPr wrap="square" lIns="0" tIns="0" rIns="0" bIns="0" rtlCol="0" anchor="t"/>
          <a:lstStyle/>
          <a:p>
            <a:pPr indent="0" marL="0">
              <a:buNone/>
            </a:pPr>
            <a:r>
              <a:rPr lang="en-US" sz="800" dirty="0">
                <a:solidFill>
                  <a:srgbClr val="777584"/>
                </a:solidFill>
                <a:latin typeface="Quicksand" pitchFamily="34" charset="0"/>
                <a:ea typeface="Quicksand" pitchFamily="34" charset="-122"/>
                <a:cs typeface="Quicksand" pitchFamily="34" charset="-120"/>
              </a:rPr>
              <a:t>IGCSE 0478  /  ARTIFICIAL INTELLIGENCE</a:t>
            </a:r>
            <a:endParaRPr lang="en-US" sz="800" dirty="0"/>
          </a:p>
        </p:txBody>
      </p:sp>
      <p:sp>
        <p:nvSpPr>
          <p:cNvPr id="6" name="Text 4"/>
          <p:cNvSpPr txBox="1"/>
          <p:nvPr/>
        </p:nvSpPr>
        <p:spPr>
          <a:xfrm>
            <a:off x="11018520" y="6419088"/>
            <a:ext cx="530352" cy="228600"/>
          </a:xfrm>
          <a:prstGeom prst="rect">
            <a:avLst/>
          </a:prstGeom>
          <a:noFill/>
          <a:ln/>
        </p:spPr>
        <p:txBody>
          <a:bodyPr wrap="square" lIns="0" tIns="0" rIns="0" bIns="0" rtlCol="0" anchor="t"/>
          <a:lstStyle/>
          <a:p>
            <a:pPr algn="r" indent="0" marL="0">
              <a:buNone/>
            </a:pPr>
            <a:r>
              <a:rPr lang="en-US" sz="1100" dirty="0">
                <a:solidFill>
                  <a:srgbClr val="777584"/>
                </a:solidFill>
                <a:latin typeface="Quicksand" pitchFamily="34" charset="0"/>
                <a:ea typeface="Quicksand" pitchFamily="34" charset="-122"/>
                <a:cs typeface="Quicksand" pitchFamily="34" charset="-120"/>
              </a:rPr>
              <a:t>33</a:t>
            </a:r>
            <a:endParaRPr lang="en-US" sz="1100" dirty="0"/>
          </a:p>
        </p:txBody>
      </p:sp>
      <p:sp>
        <p:nvSpPr>
          <p:cNvPr id="7" name="Text 5"/>
          <p:cNvSpPr txBox="1"/>
          <p:nvPr/>
        </p:nvSpPr>
        <p:spPr>
          <a:xfrm>
            <a:off x="594360" y="6144768"/>
            <a:ext cx="10607040" cy="164592"/>
          </a:xfrm>
          <a:prstGeom prst="rect">
            <a:avLst/>
          </a:prstGeom>
          <a:noFill/>
          <a:ln/>
        </p:spPr>
        <p:txBody>
          <a:bodyPr wrap="square" lIns="0" tIns="0" rIns="0" bIns="0" rtlCol="0" anchor="t"/>
          <a:lstStyle/>
          <a:p>
            <a:pPr indent="0" marL="0">
              <a:buNone/>
            </a:pPr>
            <a:r>
              <a:rPr lang="en-US" sz="900" dirty="0">
                <a:solidFill>
                  <a:srgbClr val="777584"/>
                </a:solidFill>
                <a:latin typeface="Quicksand" pitchFamily="34" charset="0"/>
                <a:ea typeface="Quicksand" pitchFamily="34" charset="-122"/>
                <a:cs typeface="Quicksand" pitchFamily="34" charset="-120"/>
              </a:rPr>
              <a:t>0478/12 Oct/Nov 2025 Q7(c)</a:t>
            </a:r>
            <a:endParaRPr lang="en-US" sz="900" dirty="0"/>
          </a:p>
        </p:txBody>
      </p:sp>
      <p:sp>
        <p:nvSpPr>
          <p:cNvPr id="9" name="Text 6"/>
          <p:cNvSpPr txBox="1"/>
          <p:nvPr/>
        </p:nvSpPr>
        <p:spPr>
          <a:xfrm>
            <a:off x="731520" y="1828800"/>
            <a:ext cx="457200" cy="365760"/>
          </a:xfrm>
          <a:prstGeom prst="rect">
            <a:avLst/>
          </a:prstGeom>
          <a:noFill/>
          <a:ln/>
        </p:spPr>
        <p:txBody>
          <a:bodyPr wrap="square" lIns="0" tIns="0" rIns="0" bIns="0" rtlCol="0" anchor="t"/>
          <a:lstStyle/>
          <a:p>
            <a:pPr indent="0" marL="0">
              <a:buNone/>
            </a:pPr>
            <a:r>
              <a:rPr lang="en-US" sz="1600" b="1" dirty="0">
                <a:solidFill>
                  <a:srgbClr val="494985"/>
                </a:solidFill>
                <a:latin typeface="Quicksand" pitchFamily="34" charset="0"/>
                <a:ea typeface="Quicksand" pitchFamily="34" charset="-122"/>
                <a:cs typeface="Quicksand" pitchFamily="34" charset="-120"/>
              </a:rPr>
              <a:t>01</a:t>
            </a:r>
            <a:endParaRPr lang="en-US" sz="1600" dirty="0"/>
          </a:p>
        </p:txBody>
      </p:sp>
      <p:sp>
        <p:nvSpPr>
          <p:cNvPr id="10" name="Text 7"/>
          <p:cNvSpPr txBox="1"/>
          <p:nvPr/>
        </p:nvSpPr>
        <p:spPr>
          <a:xfrm>
            <a:off x="1371600" y="1815084"/>
            <a:ext cx="10012680" cy="795528"/>
          </a:xfrm>
          <a:prstGeom prst="rect">
            <a:avLst/>
          </a:prstGeom>
          <a:noFill/>
          <a:ln/>
        </p:spPr>
        <p:txBody>
          <a:bodyPr wrap="square" lIns="0" tIns="0" rIns="0" bIns="0" rtlCol="0" anchor="t"/>
          <a:lstStyle/>
          <a:p>
            <a:pPr indent="0" marL="0">
              <a:buNone/>
            </a:pPr>
            <a:r>
              <a:rPr lang="en-US" sz="2200" dirty="0">
                <a:solidFill>
                  <a:srgbClr val="252341"/>
                </a:solidFill>
                <a:latin typeface="Quicksand" pitchFamily="34" charset="0"/>
                <a:ea typeface="Quicksand" pitchFamily="34" charset="-122"/>
                <a:cs typeface="Quicksand" pitchFamily="34" charset="-120"/>
              </a:rPr>
              <a:t>Gather samples of the user’s voice.</a:t>
            </a:r>
            <a:endParaRPr lang="en-US" sz="2200" dirty="0"/>
          </a:p>
        </p:txBody>
      </p:sp>
      <p:sp>
        <p:nvSpPr>
          <p:cNvPr id="11" name="Shape 8"/>
          <p:cNvSpPr/>
          <p:nvPr/>
        </p:nvSpPr>
        <p:spPr>
          <a:xfrm>
            <a:off x="1371600" y="2578608"/>
            <a:ext cx="10012680" cy="0"/>
          </a:xfrm>
          <a:prstGeom prst="line">
            <a:avLst/>
          </a:prstGeom>
          <a:noFill/>
          <a:ln w="8890">
            <a:solidFill>
              <a:srgbClr val="DDDBE5"/>
            </a:solidFill>
            <a:prstDash val="solid"/>
          </a:ln>
        </p:spPr>
      </p:sp>
      <p:sp>
        <p:nvSpPr>
          <p:cNvPr id="12" name="Text 9"/>
          <p:cNvSpPr txBox="1"/>
          <p:nvPr/>
        </p:nvSpPr>
        <p:spPr>
          <a:xfrm>
            <a:off x="731520" y="2734056"/>
            <a:ext cx="457200" cy="365760"/>
          </a:xfrm>
          <a:prstGeom prst="rect">
            <a:avLst/>
          </a:prstGeom>
          <a:noFill/>
          <a:ln/>
        </p:spPr>
        <p:txBody>
          <a:bodyPr wrap="square" lIns="0" tIns="0" rIns="0" bIns="0" rtlCol="0" anchor="t"/>
          <a:lstStyle/>
          <a:p>
            <a:pPr indent="0" marL="0">
              <a:buNone/>
            </a:pPr>
            <a:r>
              <a:rPr lang="en-US" sz="1600" b="1" dirty="0">
                <a:solidFill>
                  <a:srgbClr val="494985"/>
                </a:solidFill>
                <a:latin typeface="Quicksand" pitchFamily="34" charset="0"/>
                <a:ea typeface="Quicksand" pitchFamily="34" charset="-122"/>
                <a:cs typeface="Quicksand" pitchFamily="34" charset="-120"/>
              </a:rPr>
              <a:t>02</a:t>
            </a:r>
            <a:endParaRPr lang="en-US" sz="1600" dirty="0"/>
          </a:p>
        </p:txBody>
      </p:sp>
      <p:sp>
        <p:nvSpPr>
          <p:cNvPr id="13" name="Text 10"/>
          <p:cNvSpPr txBox="1"/>
          <p:nvPr/>
        </p:nvSpPr>
        <p:spPr>
          <a:xfrm>
            <a:off x="1371600" y="2720340"/>
            <a:ext cx="10012680" cy="795528"/>
          </a:xfrm>
          <a:prstGeom prst="rect">
            <a:avLst/>
          </a:prstGeom>
          <a:noFill/>
          <a:ln/>
        </p:spPr>
        <p:txBody>
          <a:bodyPr wrap="square" lIns="0" tIns="0" rIns="0" bIns="0" rtlCol="0" anchor="t"/>
          <a:lstStyle/>
          <a:p>
            <a:pPr indent="0" marL="0">
              <a:buNone/>
            </a:pPr>
            <a:r>
              <a:rPr lang="en-US" sz="2200" dirty="0">
                <a:solidFill>
                  <a:srgbClr val="252341"/>
                </a:solidFill>
                <a:latin typeface="Quicksand" pitchFamily="34" charset="0"/>
                <a:ea typeface="Quicksand" pitchFamily="34" charset="-122"/>
                <a:cs typeface="Quicksand" pitchFamily="34" charset="-120"/>
              </a:rPr>
              <a:t>Identify pronunciation / accent patterns.</a:t>
            </a:r>
            <a:endParaRPr lang="en-US" sz="2200" dirty="0"/>
          </a:p>
        </p:txBody>
      </p:sp>
      <p:sp>
        <p:nvSpPr>
          <p:cNvPr id="14" name="Shape 11"/>
          <p:cNvSpPr/>
          <p:nvPr/>
        </p:nvSpPr>
        <p:spPr>
          <a:xfrm>
            <a:off x="1371600" y="3483864"/>
            <a:ext cx="10012680" cy="0"/>
          </a:xfrm>
          <a:prstGeom prst="line">
            <a:avLst/>
          </a:prstGeom>
          <a:noFill/>
          <a:ln w="8890">
            <a:solidFill>
              <a:srgbClr val="DDDBE5"/>
            </a:solidFill>
            <a:prstDash val="solid"/>
          </a:ln>
        </p:spPr>
      </p:sp>
      <p:sp>
        <p:nvSpPr>
          <p:cNvPr id="15" name="Text 12"/>
          <p:cNvSpPr txBox="1"/>
          <p:nvPr/>
        </p:nvSpPr>
        <p:spPr>
          <a:xfrm>
            <a:off x="731520" y="3639312"/>
            <a:ext cx="457200" cy="365760"/>
          </a:xfrm>
          <a:prstGeom prst="rect">
            <a:avLst/>
          </a:prstGeom>
          <a:noFill/>
          <a:ln/>
        </p:spPr>
        <p:txBody>
          <a:bodyPr wrap="square" lIns="0" tIns="0" rIns="0" bIns="0" rtlCol="0" anchor="t"/>
          <a:lstStyle/>
          <a:p>
            <a:pPr indent="0" marL="0">
              <a:buNone/>
            </a:pPr>
            <a:r>
              <a:rPr lang="en-US" sz="1600" b="1" dirty="0">
                <a:solidFill>
                  <a:srgbClr val="494985"/>
                </a:solidFill>
                <a:latin typeface="Quicksand" pitchFamily="34" charset="0"/>
                <a:ea typeface="Quicksand" pitchFamily="34" charset="-122"/>
                <a:cs typeface="Quicksand" pitchFamily="34" charset="-120"/>
              </a:rPr>
              <a:t>03</a:t>
            </a:r>
            <a:endParaRPr lang="en-US" sz="1600" dirty="0"/>
          </a:p>
        </p:txBody>
      </p:sp>
      <p:sp>
        <p:nvSpPr>
          <p:cNvPr id="16" name="Text 13"/>
          <p:cNvSpPr txBox="1"/>
          <p:nvPr/>
        </p:nvSpPr>
        <p:spPr>
          <a:xfrm>
            <a:off x="1371600" y="3625596"/>
            <a:ext cx="10012680" cy="795528"/>
          </a:xfrm>
          <a:prstGeom prst="rect">
            <a:avLst/>
          </a:prstGeom>
          <a:noFill/>
          <a:ln/>
        </p:spPr>
        <p:txBody>
          <a:bodyPr wrap="square" lIns="0" tIns="0" rIns="0" bIns="0" rtlCol="0" anchor="t"/>
          <a:lstStyle/>
          <a:p>
            <a:pPr indent="0" marL="0">
              <a:buNone/>
            </a:pPr>
            <a:r>
              <a:rPr lang="en-US" sz="2200" dirty="0">
                <a:solidFill>
                  <a:srgbClr val="252341"/>
                </a:solidFill>
                <a:latin typeface="Quicksand" pitchFamily="34" charset="0"/>
                <a:ea typeface="Quicksand" pitchFamily="34" charset="-122"/>
                <a:cs typeface="Quicksand" pitchFamily="34" charset="-120"/>
              </a:rPr>
              <a:t>Record successful and failed commands.</a:t>
            </a:r>
            <a:endParaRPr lang="en-US" sz="2200" dirty="0"/>
          </a:p>
        </p:txBody>
      </p:sp>
      <p:sp>
        <p:nvSpPr>
          <p:cNvPr id="17" name="Shape 14"/>
          <p:cNvSpPr/>
          <p:nvPr/>
        </p:nvSpPr>
        <p:spPr>
          <a:xfrm>
            <a:off x="1371600" y="4389120"/>
            <a:ext cx="10012680" cy="0"/>
          </a:xfrm>
          <a:prstGeom prst="line">
            <a:avLst/>
          </a:prstGeom>
          <a:noFill/>
          <a:ln w="8890">
            <a:solidFill>
              <a:srgbClr val="DDDBE5"/>
            </a:solidFill>
            <a:prstDash val="solid"/>
          </a:ln>
        </p:spPr>
      </p:sp>
      <p:sp>
        <p:nvSpPr>
          <p:cNvPr id="18" name="Text 15"/>
          <p:cNvSpPr txBox="1"/>
          <p:nvPr/>
        </p:nvSpPr>
        <p:spPr>
          <a:xfrm>
            <a:off x="731520" y="4544568"/>
            <a:ext cx="457200" cy="365760"/>
          </a:xfrm>
          <a:prstGeom prst="rect">
            <a:avLst/>
          </a:prstGeom>
          <a:noFill/>
          <a:ln/>
        </p:spPr>
        <p:txBody>
          <a:bodyPr wrap="square" lIns="0" tIns="0" rIns="0" bIns="0" rtlCol="0" anchor="t"/>
          <a:lstStyle/>
          <a:p>
            <a:pPr indent="0" marL="0">
              <a:buNone/>
            </a:pPr>
            <a:r>
              <a:rPr lang="en-US" sz="1600" b="1" dirty="0">
                <a:solidFill>
                  <a:srgbClr val="494985"/>
                </a:solidFill>
                <a:latin typeface="Quicksand" pitchFamily="34" charset="0"/>
                <a:ea typeface="Quicksand" pitchFamily="34" charset="-122"/>
                <a:cs typeface="Quicksand" pitchFamily="34" charset="-120"/>
              </a:rPr>
              <a:t>04</a:t>
            </a:r>
            <a:endParaRPr lang="en-US" sz="1600" dirty="0"/>
          </a:p>
        </p:txBody>
      </p:sp>
      <p:sp>
        <p:nvSpPr>
          <p:cNvPr id="19" name="Text 16"/>
          <p:cNvSpPr txBox="1"/>
          <p:nvPr/>
        </p:nvSpPr>
        <p:spPr>
          <a:xfrm>
            <a:off x="1371600" y="4530852"/>
            <a:ext cx="10012680" cy="795528"/>
          </a:xfrm>
          <a:prstGeom prst="rect">
            <a:avLst/>
          </a:prstGeom>
          <a:noFill/>
          <a:ln/>
        </p:spPr>
        <p:txBody>
          <a:bodyPr wrap="square" lIns="0" tIns="0" rIns="0" bIns="0" rtlCol="0" anchor="t"/>
          <a:lstStyle/>
          <a:p>
            <a:pPr indent="0" marL="0">
              <a:buNone/>
            </a:pPr>
            <a:r>
              <a:rPr lang="en-US" sz="2200" dirty="0">
                <a:solidFill>
                  <a:srgbClr val="252341"/>
                </a:solidFill>
                <a:latin typeface="Quicksand" pitchFamily="34" charset="0"/>
                <a:ea typeface="Quicksand" pitchFamily="34" charset="-122"/>
                <a:cs typeface="Quicksand" pitchFamily="34" charset="-120"/>
              </a:rPr>
              <a:t>Adapt processes to recognise later commands.</a:t>
            </a:r>
            <a:endParaRPr lang="en-US" sz="2200" dirty="0"/>
          </a:p>
        </p:txBody>
      </p:sp>
      <p:sp>
        <p:nvSpPr>
          <p:cNvPr id="20" name="Text 17"/>
          <p:cNvSpPr txBox="1"/>
          <p:nvPr/>
        </p:nvSpPr>
        <p:spPr>
          <a:xfrm>
            <a:off x="594360" y="5650992"/>
            <a:ext cx="10972800" cy="384048"/>
          </a:xfrm>
          <a:prstGeom prst="rect">
            <a:avLst/>
          </a:prstGeom>
          <a:noFill/>
          <a:ln/>
        </p:spPr>
        <p:txBody>
          <a:bodyPr wrap="square" lIns="0" tIns="0" rIns="0" bIns="0" rtlCol="0" anchor="t"/>
          <a:lstStyle/>
          <a:p>
            <a:pPr indent="0" marL="0">
              <a:buNone/>
            </a:pPr>
            <a:r>
              <a:rPr lang="en-US" sz="1700" b="1" dirty="0">
                <a:solidFill>
                  <a:srgbClr val="494985"/>
                </a:solidFill>
                <a:latin typeface="Quicksand" pitchFamily="34" charset="0"/>
                <a:ea typeface="Quicksand" pitchFamily="34" charset="-122"/>
                <a:cs typeface="Quicksand" pitchFamily="34" charset="-120"/>
              </a:rPr>
              <a:t>Accents, alternative phrasing and background noise can also be learned from.</a:t>
            </a:r>
            <a:endParaRPr lang="en-US" sz="17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AF9F6"/>
        </a:solidFill>
      </p:bgPr>
    </p:bg>
    <p:spTree>
      <p:nvGrpSpPr>
        <p:cNvPr id="1" name=""/>
        <p:cNvGrpSpPr/>
        <p:nvPr/>
      </p:nvGrpSpPr>
      <p:grpSpPr>
        <a:xfrm>
          <a:off x="0" y="0"/>
          <a:ext cx="0" cy="0"/>
          <a:chOff x="0" y="0"/>
          <a:chExt cx="0" cy="0"/>
        </a:xfrm>
      </p:grpSpPr>
      <p:sp>
        <p:nvSpPr>
          <p:cNvPr id="2" name="Text 0"/>
          <p:cNvSpPr txBox="1"/>
          <p:nvPr/>
        </p:nvSpPr>
        <p:spPr>
          <a:xfrm>
            <a:off x="594360" y="301752"/>
            <a:ext cx="10424160" cy="274320"/>
          </a:xfrm>
          <a:prstGeom prst="rect">
            <a:avLst/>
          </a:prstGeom>
          <a:noFill/>
          <a:ln/>
        </p:spPr>
        <p:txBody>
          <a:bodyPr wrap="square" lIns="0" tIns="0" rIns="0" bIns="0" rtlCol="0" anchor="t"/>
          <a:lstStyle/>
          <a:p>
            <a:pPr indent="0" marL="0">
              <a:buNone/>
            </a:pPr>
            <a:r>
              <a:rPr lang="en-US" sz="1100" b="1" spc="200" kern="0" dirty="0">
                <a:solidFill>
                  <a:srgbClr val="494985"/>
                </a:solidFill>
                <a:latin typeface="Quicksand" pitchFamily="34" charset="0"/>
                <a:ea typeface="Quicksand" pitchFamily="34" charset="-122"/>
                <a:cs typeface="Quicksand" pitchFamily="34" charset="-120"/>
              </a:rPr>
              <a:t>FEEDBACK · AFTER PRACTICE</a:t>
            </a:r>
            <a:endParaRPr lang="en-US" sz="1100" dirty="0"/>
          </a:p>
        </p:txBody>
      </p:sp>
      <p:sp>
        <p:nvSpPr>
          <p:cNvPr id="3" name="Text 1"/>
          <p:cNvSpPr txBox="1"/>
          <p:nvPr/>
        </p:nvSpPr>
        <p:spPr>
          <a:xfrm>
            <a:off x="594360" y="822960"/>
            <a:ext cx="10972800" cy="640080"/>
          </a:xfrm>
          <a:prstGeom prst="rect">
            <a:avLst/>
          </a:prstGeom>
          <a:noFill/>
          <a:ln/>
        </p:spPr>
        <p:txBody>
          <a:bodyPr wrap="square" lIns="0" tIns="0" rIns="0" bIns="0" rtlCol="0" anchor="t"/>
          <a:lstStyle/>
          <a:p>
            <a:pPr indent="0" marL="0">
              <a:buNone/>
            </a:pPr>
            <a:r>
              <a:rPr lang="en-US" sz="3200" b="1" dirty="0">
                <a:solidFill>
                  <a:srgbClr val="252341"/>
                </a:solidFill>
                <a:latin typeface="Quicksand" pitchFamily="34" charset="0"/>
                <a:ea typeface="Quicksand" pitchFamily="34" charset="-122"/>
                <a:cs typeface="Quicksand" pitchFamily="34" charset="-120"/>
              </a:rPr>
              <a:t>Games: respond to what the player does</a:t>
            </a:r>
            <a:endParaRPr lang="en-US" sz="3200" dirty="0"/>
          </a:p>
        </p:txBody>
      </p:sp>
      <p:sp>
        <p:nvSpPr>
          <p:cNvPr id="4" name="Shape 2"/>
          <p:cNvSpPr/>
          <p:nvPr/>
        </p:nvSpPr>
        <p:spPr>
          <a:xfrm>
            <a:off x="594360" y="6355080"/>
            <a:ext cx="10972800" cy="0"/>
          </a:xfrm>
          <a:prstGeom prst="line">
            <a:avLst/>
          </a:prstGeom>
          <a:noFill/>
          <a:ln w="8890">
            <a:solidFill>
              <a:srgbClr val="DDDBE5"/>
            </a:solidFill>
            <a:prstDash val="solid"/>
          </a:ln>
        </p:spPr>
      </p:sp>
      <p:sp>
        <p:nvSpPr>
          <p:cNvPr id="5" name="Text 3"/>
          <p:cNvSpPr txBox="1"/>
          <p:nvPr/>
        </p:nvSpPr>
        <p:spPr>
          <a:xfrm>
            <a:off x="594360" y="6473952"/>
            <a:ext cx="5486400" cy="164592"/>
          </a:xfrm>
          <a:prstGeom prst="rect">
            <a:avLst/>
          </a:prstGeom>
          <a:noFill/>
          <a:ln/>
        </p:spPr>
        <p:txBody>
          <a:bodyPr wrap="square" lIns="0" tIns="0" rIns="0" bIns="0" rtlCol="0" anchor="t"/>
          <a:lstStyle/>
          <a:p>
            <a:pPr indent="0" marL="0">
              <a:buNone/>
            </a:pPr>
            <a:r>
              <a:rPr lang="en-US" sz="800" dirty="0">
                <a:solidFill>
                  <a:srgbClr val="777584"/>
                </a:solidFill>
                <a:latin typeface="Quicksand" pitchFamily="34" charset="0"/>
                <a:ea typeface="Quicksand" pitchFamily="34" charset="-122"/>
                <a:cs typeface="Quicksand" pitchFamily="34" charset="-120"/>
              </a:rPr>
              <a:t>IGCSE 0478  /  ARTIFICIAL INTELLIGENCE</a:t>
            </a:r>
            <a:endParaRPr lang="en-US" sz="800" dirty="0"/>
          </a:p>
        </p:txBody>
      </p:sp>
      <p:sp>
        <p:nvSpPr>
          <p:cNvPr id="6" name="Text 4"/>
          <p:cNvSpPr txBox="1"/>
          <p:nvPr/>
        </p:nvSpPr>
        <p:spPr>
          <a:xfrm>
            <a:off x="11018520" y="6419088"/>
            <a:ext cx="530352" cy="228600"/>
          </a:xfrm>
          <a:prstGeom prst="rect">
            <a:avLst/>
          </a:prstGeom>
          <a:noFill/>
          <a:ln/>
        </p:spPr>
        <p:txBody>
          <a:bodyPr wrap="square" lIns="0" tIns="0" rIns="0" bIns="0" rtlCol="0" anchor="t"/>
          <a:lstStyle/>
          <a:p>
            <a:pPr algn="r" indent="0" marL="0">
              <a:buNone/>
            </a:pPr>
            <a:r>
              <a:rPr lang="en-US" sz="1100" dirty="0">
                <a:solidFill>
                  <a:srgbClr val="777584"/>
                </a:solidFill>
                <a:latin typeface="Quicksand" pitchFamily="34" charset="0"/>
                <a:ea typeface="Quicksand" pitchFamily="34" charset="-122"/>
                <a:cs typeface="Quicksand" pitchFamily="34" charset="-120"/>
              </a:rPr>
              <a:t>34</a:t>
            </a:r>
            <a:endParaRPr lang="en-US" sz="1100" dirty="0"/>
          </a:p>
        </p:txBody>
      </p:sp>
      <p:sp>
        <p:nvSpPr>
          <p:cNvPr id="7" name="Text 5"/>
          <p:cNvSpPr txBox="1"/>
          <p:nvPr/>
        </p:nvSpPr>
        <p:spPr>
          <a:xfrm>
            <a:off x="594360" y="6144768"/>
            <a:ext cx="10607040" cy="164592"/>
          </a:xfrm>
          <a:prstGeom prst="rect">
            <a:avLst/>
          </a:prstGeom>
          <a:noFill/>
          <a:ln/>
        </p:spPr>
        <p:txBody>
          <a:bodyPr wrap="square" lIns="0" tIns="0" rIns="0" bIns="0" rtlCol="0" anchor="t"/>
          <a:lstStyle/>
          <a:p>
            <a:pPr indent="0" marL="0">
              <a:buNone/>
            </a:pPr>
            <a:r>
              <a:rPr lang="en-US" sz="900" dirty="0">
                <a:solidFill>
                  <a:srgbClr val="777584"/>
                </a:solidFill>
                <a:latin typeface="Quicksand" pitchFamily="34" charset="0"/>
                <a:ea typeface="Quicksand" pitchFamily="34" charset="-122"/>
                <a:cs typeface="Quicksand" pitchFamily="34" charset="-120"/>
              </a:rPr>
              <a:t>0478/13 Oct/Nov 2025 Q6(b)</a:t>
            </a:r>
            <a:endParaRPr lang="en-US" sz="900" dirty="0"/>
          </a:p>
        </p:txBody>
      </p:sp>
      <p:sp>
        <p:nvSpPr>
          <p:cNvPr id="9" name="Text 6"/>
          <p:cNvSpPr txBox="1"/>
          <p:nvPr/>
        </p:nvSpPr>
        <p:spPr>
          <a:xfrm>
            <a:off x="731520" y="1828800"/>
            <a:ext cx="457200" cy="365760"/>
          </a:xfrm>
          <a:prstGeom prst="rect">
            <a:avLst/>
          </a:prstGeom>
          <a:noFill/>
          <a:ln/>
        </p:spPr>
        <p:txBody>
          <a:bodyPr wrap="square" lIns="0" tIns="0" rIns="0" bIns="0" rtlCol="0" anchor="t"/>
          <a:lstStyle/>
          <a:p>
            <a:pPr indent="0" marL="0">
              <a:buNone/>
            </a:pPr>
            <a:r>
              <a:rPr lang="en-US" sz="1600" b="1" dirty="0">
                <a:solidFill>
                  <a:srgbClr val="494985"/>
                </a:solidFill>
                <a:latin typeface="Quicksand" pitchFamily="34" charset="0"/>
                <a:ea typeface="Quicksand" pitchFamily="34" charset="-122"/>
                <a:cs typeface="Quicksand" pitchFamily="34" charset="-120"/>
              </a:rPr>
              <a:t>01</a:t>
            </a:r>
            <a:endParaRPr lang="en-US" sz="1600" dirty="0"/>
          </a:p>
        </p:txBody>
      </p:sp>
      <p:sp>
        <p:nvSpPr>
          <p:cNvPr id="10" name="Text 7"/>
          <p:cNvSpPr txBox="1"/>
          <p:nvPr/>
        </p:nvSpPr>
        <p:spPr>
          <a:xfrm>
            <a:off x="1371600" y="1815084"/>
            <a:ext cx="10012680" cy="795528"/>
          </a:xfrm>
          <a:prstGeom prst="rect">
            <a:avLst/>
          </a:prstGeom>
          <a:noFill/>
          <a:ln/>
        </p:spPr>
        <p:txBody>
          <a:bodyPr wrap="square" lIns="0" tIns="0" rIns="0" bIns="0" rtlCol="0" anchor="t"/>
          <a:lstStyle/>
          <a:p>
            <a:pPr indent="0" marL="0">
              <a:buNone/>
            </a:pPr>
            <a:r>
              <a:rPr lang="en-US" sz="2200" dirty="0">
                <a:solidFill>
                  <a:srgbClr val="252341"/>
                </a:solidFill>
                <a:latin typeface="Quicksand" pitchFamily="34" charset="0"/>
                <a:ea typeface="Quicksand" pitchFamily="34" charset="-122"/>
                <a:cs typeface="Quicksand" pitchFamily="34" charset="-120"/>
              </a:rPr>
              <a:t>Collect data about the player’s actions.</a:t>
            </a:r>
            <a:endParaRPr lang="en-US" sz="2200" dirty="0"/>
          </a:p>
        </p:txBody>
      </p:sp>
      <p:sp>
        <p:nvSpPr>
          <p:cNvPr id="11" name="Shape 8"/>
          <p:cNvSpPr/>
          <p:nvPr/>
        </p:nvSpPr>
        <p:spPr>
          <a:xfrm>
            <a:off x="1371600" y="2578608"/>
            <a:ext cx="10012680" cy="0"/>
          </a:xfrm>
          <a:prstGeom prst="line">
            <a:avLst/>
          </a:prstGeom>
          <a:noFill/>
          <a:ln w="8890">
            <a:solidFill>
              <a:srgbClr val="DDDBE5"/>
            </a:solidFill>
            <a:prstDash val="solid"/>
          </a:ln>
        </p:spPr>
      </p:sp>
      <p:sp>
        <p:nvSpPr>
          <p:cNvPr id="12" name="Text 9"/>
          <p:cNvSpPr txBox="1"/>
          <p:nvPr/>
        </p:nvSpPr>
        <p:spPr>
          <a:xfrm>
            <a:off x="731520" y="2734056"/>
            <a:ext cx="457200" cy="365760"/>
          </a:xfrm>
          <a:prstGeom prst="rect">
            <a:avLst/>
          </a:prstGeom>
          <a:noFill/>
          <a:ln/>
        </p:spPr>
        <p:txBody>
          <a:bodyPr wrap="square" lIns="0" tIns="0" rIns="0" bIns="0" rtlCol="0" anchor="t"/>
          <a:lstStyle/>
          <a:p>
            <a:pPr indent="0" marL="0">
              <a:buNone/>
            </a:pPr>
            <a:r>
              <a:rPr lang="en-US" sz="1600" b="1" dirty="0">
                <a:solidFill>
                  <a:srgbClr val="494985"/>
                </a:solidFill>
                <a:latin typeface="Quicksand" pitchFamily="34" charset="0"/>
                <a:ea typeface="Quicksand" pitchFamily="34" charset="-122"/>
                <a:cs typeface="Quicksand" pitchFamily="34" charset="-120"/>
              </a:rPr>
              <a:t>02</a:t>
            </a:r>
            <a:endParaRPr lang="en-US" sz="1600" dirty="0"/>
          </a:p>
        </p:txBody>
      </p:sp>
      <p:sp>
        <p:nvSpPr>
          <p:cNvPr id="13" name="Text 10"/>
          <p:cNvSpPr txBox="1"/>
          <p:nvPr/>
        </p:nvSpPr>
        <p:spPr>
          <a:xfrm>
            <a:off x="1371600" y="2720340"/>
            <a:ext cx="10012680" cy="795528"/>
          </a:xfrm>
          <a:prstGeom prst="rect">
            <a:avLst/>
          </a:prstGeom>
          <a:noFill/>
          <a:ln/>
        </p:spPr>
        <p:txBody>
          <a:bodyPr wrap="square" lIns="0" tIns="0" rIns="0" bIns="0" rtlCol="0" anchor="t"/>
          <a:lstStyle/>
          <a:p>
            <a:pPr indent="0" marL="0">
              <a:buNone/>
            </a:pPr>
            <a:r>
              <a:rPr lang="en-US" sz="2200" dirty="0">
                <a:solidFill>
                  <a:srgbClr val="252341"/>
                </a:solidFill>
                <a:latin typeface="Quicksand" pitchFamily="34" charset="0"/>
                <a:ea typeface="Quicksand" pitchFamily="34" charset="-122"/>
                <a:cs typeface="Quicksand" pitchFamily="34" charset="-120"/>
              </a:rPr>
              <a:t>Find patterns and predict the next movement.</a:t>
            </a:r>
            <a:endParaRPr lang="en-US" sz="2200" dirty="0"/>
          </a:p>
        </p:txBody>
      </p:sp>
      <p:sp>
        <p:nvSpPr>
          <p:cNvPr id="14" name="Shape 11"/>
          <p:cNvSpPr/>
          <p:nvPr/>
        </p:nvSpPr>
        <p:spPr>
          <a:xfrm>
            <a:off x="1371600" y="3483864"/>
            <a:ext cx="10012680" cy="0"/>
          </a:xfrm>
          <a:prstGeom prst="line">
            <a:avLst/>
          </a:prstGeom>
          <a:noFill/>
          <a:ln w="8890">
            <a:solidFill>
              <a:srgbClr val="DDDBE5"/>
            </a:solidFill>
            <a:prstDash val="solid"/>
          </a:ln>
        </p:spPr>
      </p:sp>
      <p:sp>
        <p:nvSpPr>
          <p:cNvPr id="15" name="Text 12"/>
          <p:cNvSpPr txBox="1"/>
          <p:nvPr/>
        </p:nvSpPr>
        <p:spPr>
          <a:xfrm>
            <a:off x="731520" y="3639312"/>
            <a:ext cx="457200" cy="365760"/>
          </a:xfrm>
          <a:prstGeom prst="rect">
            <a:avLst/>
          </a:prstGeom>
          <a:noFill/>
          <a:ln/>
        </p:spPr>
        <p:txBody>
          <a:bodyPr wrap="square" lIns="0" tIns="0" rIns="0" bIns="0" rtlCol="0" anchor="t"/>
          <a:lstStyle/>
          <a:p>
            <a:pPr indent="0" marL="0">
              <a:buNone/>
            </a:pPr>
            <a:r>
              <a:rPr lang="en-US" sz="1600" b="1" dirty="0">
                <a:solidFill>
                  <a:srgbClr val="494985"/>
                </a:solidFill>
                <a:latin typeface="Quicksand" pitchFamily="34" charset="0"/>
                <a:ea typeface="Quicksand" pitchFamily="34" charset="-122"/>
                <a:cs typeface="Quicksand" pitchFamily="34" charset="-120"/>
              </a:rPr>
              <a:t>03</a:t>
            </a:r>
            <a:endParaRPr lang="en-US" sz="1600" dirty="0"/>
          </a:p>
        </p:txBody>
      </p:sp>
      <p:sp>
        <p:nvSpPr>
          <p:cNvPr id="16" name="Text 13"/>
          <p:cNvSpPr txBox="1"/>
          <p:nvPr/>
        </p:nvSpPr>
        <p:spPr>
          <a:xfrm>
            <a:off x="1371600" y="3625596"/>
            <a:ext cx="10012680" cy="795528"/>
          </a:xfrm>
          <a:prstGeom prst="rect">
            <a:avLst/>
          </a:prstGeom>
          <a:noFill/>
          <a:ln/>
        </p:spPr>
        <p:txBody>
          <a:bodyPr wrap="square" lIns="0" tIns="0" rIns="0" bIns="0" rtlCol="0" anchor="t"/>
          <a:lstStyle/>
          <a:p>
            <a:pPr indent="0" marL="0">
              <a:buNone/>
            </a:pPr>
            <a:r>
              <a:rPr lang="en-US" sz="2200" dirty="0">
                <a:solidFill>
                  <a:srgbClr val="252341"/>
                </a:solidFill>
                <a:latin typeface="Quicksand" pitchFamily="34" charset="0"/>
                <a:ea typeface="Quicksand" pitchFamily="34" charset="-122"/>
                <a:cs typeface="Quicksand" pitchFamily="34" charset="-120"/>
              </a:rPr>
              <a:t>Adapt the character’s response using that prediction.</a:t>
            </a:r>
            <a:endParaRPr lang="en-US" sz="2200" dirty="0"/>
          </a:p>
        </p:txBody>
      </p:sp>
      <p:sp>
        <p:nvSpPr>
          <p:cNvPr id="17" name="Text 14"/>
          <p:cNvSpPr txBox="1"/>
          <p:nvPr/>
        </p:nvSpPr>
        <p:spPr>
          <a:xfrm>
            <a:off x="594360" y="5650992"/>
            <a:ext cx="10972800" cy="384048"/>
          </a:xfrm>
          <a:prstGeom prst="rect">
            <a:avLst/>
          </a:prstGeom>
          <a:noFill/>
          <a:ln/>
        </p:spPr>
        <p:txBody>
          <a:bodyPr wrap="square" lIns="0" tIns="0" rIns="0" bIns="0" rtlCol="0" anchor="t"/>
          <a:lstStyle/>
          <a:p>
            <a:pPr indent="0" marL="0">
              <a:buNone/>
            </a:pPr>
            <a:r>
              <a:rPr lang="en-US" sz="1700" b="1" dirty="0">
                <a:solidFill>
                  <a:srgbClr val="494985"/>
                </a:solidFill>
                <a:latin typeface="Quicksand" pitchFamily="34" charset="0"/>
                <a:ea typeface="Quicksand" pitchFamily="34" charset="-122"/>
                <a:cs typeface="Quicksand" pitchFamily="34" charset="-120"/>
              </a:rPr>
              <a:t>Graphics quality is separate from intelligent behaviour.</a:t>
            </a:r>
            <a:endParaRPr lang="en-US" sz="17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AF9F6"/>
        </a:solidFill>
      </p:bgPr>
    </p:bg>
    <p:spTree>
      <p:nvGrpSpPr>
        <p:cNvPr id="1" name=""/>
        <p:cNvGrpSpPr/>
        <p:nvPr/>
      </p:nvGrpSpPr>
      <p:grpSpPr>
        <a:xfrm>
          <a:off x="0" y="0"/>
          <a:ext cx="0" cy="0"/>
          <a:chOff x="0" y="0"/>
          <a:chExt cx="0" cy="0"/>
        </a:xfrm>
      </p:grpSpPr>
      <p:sp>
        <p:nvSpPr>
          <p:cNvPr id="2" name="Text 0"/>
          <p:cNvSpPr txBox="1"/>
          <p:nvPr/>
        </p:nvSpPr>
        <p:spPr>
          <a:xfrm>
            <a:off x="594360" y="301752"/>
            <a:ext cx="10424160" cy="274320"/>
          </a:xfrm>
          <a:prstGeom prst="rect">
            <a:avLst/>
          </a:prstGeom>
          <a:noFill/>
          <a:ln/>
        </p:spPr>
        <p:txBody>
          <a:bodyPr wrap="square" lIns="0" tIns="0" rIns="0" bIns="0" rtlCol="0" anchor="t"/>
          <a:lstStyle/>
          <a:p>
            <a:pPr indent="0" marL="0">
              <a:buNone/>
            </a:pPr>
            <a:r>
              <a:rPr lang="en-US" sz="1100" b="1" spc="200" kern="0" dirty="0">
                <a:solidFill>
                  <a:srgbClr val="494985"/>
                </a:solidFill>
                <a:latin typeface="Quicksand" pitchFamily="34" charset="0"/>
                <a:ea typeface="Quicksand" pitchFamily="34" charset="-122"/>
                <a:cs typeface="Quicksand" pitchFamily="34" charset="-120"/>
              </a:rPr>
              <a:t>FEEDBACK · AFTER PRACTICE</a:t>
            </a:r>
            <a:endParaRPr lang="en-US" sz="1100" dirty="0"/>
          </a:p>
        </p:txBody>
      </p:sp>
      <p:sp>
        <p:nvSpPr>
          <p:cNvPr id="3" name="Text 1"/>
          <p:cNvSpPr txBox="1"/>
          <p:nvPr/>
        </p:nvSpPr>
        <p:spPr>
          <a:xfrm>
            <a:off x="594360" y="822960"/>
            <a:ext cx="10972800" cy="640080"/>
          </a:xfrm>
          <a:prstGeom prst="rect">
            <a:avLst/>
          </a:prstGeom>
          <a:noFill/>
          <a:ln/>
        </p:spPr>
        <p:txBody>
          <a:bodyPr wrap="square" lIns="0" tIns="0" rIns="0" bIns="0" rtlCol="0" anchor="t"/>
          <a:lstStyle/>
          <a:p>
            <a:pPr indent="0" marL="0">
              <a:buNone/>
            </a:pPr>
            <a:r>
              <a:rPr lang="en-US" sz="3200" b="1" dirty="0">
                <a:solidFill>
                  <a:srgbClr val="252341"/>
                </a:solidFill>
                <a:latin typeface="Quicksand" pitchFamily="34" charset="0"/>
                <a:ea typeface="Quicksand" pitchFamily="34" charset="-122"/>
                <a:cs typeface="Quicksand" pitchFamily="34" charset="-120"/>
              </a:rPr>
              <a:t>Three ways means three different ideas</a:t>
            </a:r>
            <a:endParaRPr lang="en-US" sz="3200" dirty="0"/>
          </a:p>
        </p:txBody>
      </p:sp>
      <p:sp>
        <p:nvSpPr>
          <p:cNvPr id="4" name="Shape 2"/>
          <p:cNvSpPr/>
          <p:nvPr/>
        </p:nvSpPr>
        <p:spPr>
          <a:xfrm>
            <a:off x="594360" y="6355080"/>
            <a:ext cx="10972800" cy="0"/>
          </a:xfrm>
          <a:prstGeom prst="line">
            <a:avLst/>
          </a:prstGeom>
          <a:noFill/>
          <a:ln w="8890">
            <a:solidFill>
              <a:srgbClr val="DDDBE5"/>
            </a:solidFill>
            <a:prstDash val="solid"/>
          </a:ln>
        </p:spPr>
      </p:sp>
      <p:sp>
        <p:nvSpPr>
          <p:cNvPr id="5" name="Text 3"/>
          <p:cNvSpPr txBox="1"/>
          <p:nvPr/>
        </p:nvSpPr>
        <p:spPr>
          <a:xfrm>
            <a:off x="594360" y="6473952"/>
            <a:ext cx="5486400" cy="164592"/>
          </a:xfrm>
          <a:prstGeom prst="rect">
            <a:avLst/>
          </a:prstGeom>
          <a:noFill/>
          <a:ln/>
        </p:spPr>
        <p:txBody>
          <a:bodyPr wrap="square" lIns="0" tIns="0" rIns="0" bIns="0" rtlCol="0" anchor="t"/>
          <a:lstStyle/>
          <a:p>
            <a:pPr indent="0" marL="0">
              <a:buNone/>
            </a:pPr>
            <a:r>
              <a:rPr lang="en-US" sz="800" dirty="0">
                <a:solidFill>
                  <a:srgbClr val="777584"/>
                </a:solidFill>
                <a:latin typeface="Quicksand" pitchFamily="34" charset="0"/>
                <a:ea typeface="Quicksand" pitchFamily="34" charset="-122"/>
                <a:cs typeface="Quicksand" pitchFamily="34" charset="-120"/>
              </a:rPr>
              <a:t>IGCSE 0478  /  ARTIFICIAL INTELLIGENCE</a:t>
            </a:r>
            <a:endParaRPr lang="en-US" sz="800" dirty="0"/>
          </a:p>
        </p:txBody>
      </p:sp>
      <p:sp>
        <p:nvSpPr>
          <p:cNvPr id="6" name="Text 4"/>
          <p:cNvSpPr txBox="1"/>
          <p:nvPr/>
        </p:nvSpPr>
        <p:spPr>
          <a:xfrm>
            <a:off x="11018520" y="6419088"/>
            <a:ext cx="530352" cy="228600"/>
          </a:xfrm>
          <a:prstGeom prst="rect">
            <a:avLst/>
          </a:prstGeom>
          <a:noFill/>
          <a:ln/>
        </p:spPr>
        <p:txBody>
          <a:bodyPr wrap="square" lIns="0" tIns="0" rIns="0" bIns="0" rtlCol="0" anchor="t"/>
          <a:lstStyle/>
          <a:p>
            <a:pPr algn="r" indent="0" marL="0">
              <a:buNone/>
            </a:pPr>
            <a:r>
              <a:rPr lang="en-US" sz="1100" dirty="0">
                <a:solidFill>
                  <a:srgbClr val="777584"/>
                </a:solidFill>
                <a:latin typeface="Quicksand" pitchFamily="34" charset="0"/>
                <a:ea typeface="Quicksand" pitchFamily="34" charset="-122"/>
                <a:cs typeface="Quicksand" pitchFamily="34" charset="-120"/>
              </a:rPr>
              <a:t>35</a:t>
            </a:r>
            <a:endParaRPr lang="en-US" sz="1100" dirty="0"/>
          </a:p>
        </p:txBody>
      </p:sp>
      <p:sp>
        <p:nvSpPr>
          <p:cNvPr id="7" name="Text 5"/>
          <p:cNvSpPr txBox="1"/>
          <p:nvPr/>
        </p:nvSpPr>
        <p:spPr>
          <a:xfrm>
            <a:off x="594360" y="6144768"/>
            <a:ext cx="10607040" cy="164592"/>
          </a:xfrm>
          <a:prstGeom prst="rect">
            <a:avLst/>
          </a:prstGeom>
          <a:noFill/>
          <a:ln/>
        </p:spPr>
        <p:txBody>
          <a:bodyPr wrap="square" lIns="0" tIns="0" rIns="0" bIns="0" rtlCol="0" anchor="t"/>
          <a:lstStyle/>
          <a:p>
            <a:pPr indent="0" marL="0">
              <a:buNone/>
            </a:pPr>
            <a:r>
              <a:rPr lang="en-US" sz="900" dirty="0">
                <a:solidFill>
                  <a:srgbClr val="777584"/>
                </a:solidFill>
                <a:latin typeface="Quicksand" pitchFamily="34" charset="0"/>
                <a:ea typeface="Quicksand" pitchFamily="34" charset="-122"/>
                <a:cs typeface="Quicksand" pitchFamily="34" charset="-120"/>
              </a:rPr>
              <a:t>0478/11 Oct/Nov 2025 Q5(e)</a:t>
            </a:r>
            <a:endParaRPr lang="en-US" sz="900" dirty="0"/>
          </a:p>
        </p:txBody>
      </p:sp>
      <p:sp>
        <p:nvSpPr>
          <p:cNvPr id="9" name="Text 6"/>
          <p:cNvSpPr txBox="1"/>
          <p:nvPr/>
        </p:nvSpPr>
        <p:spPr>
          <a:xfrm>
            <a:off x="731520" y="1828800"/>
            <a:ext cx="457200" cy="365760"/>
          </a:xfrm>
          <a:prstGeom prst="rect">
            <a:avLst/>
          </a:prstGeom>
          <a:noFill/>
          <a:ln/>
        </p:spPr>
        <p:txBody>
          <a:bodyPr wrap="square" lIns="0" tIns="0" rIns="0" bIns="0" rtlCol="0" anchor="t"/>
          <a:lstStyle/>
          <a:p>
            <a:pPr indent="0" marL="0">
              <a:buNone/>
            </a:pPr>
            <a:r>
              <a:rPr lang="en-US" sz="1600" b="1" dirty="0">
                <a:solidFill>
                  <a:srgbClr val="494985"/>
                </a:solidFill>
                <a:latin typeface="Quicksand" pitchFamily="34" charset="0"/>
                <a:ea typeface="Quicksand" pitchFamily="34" charset="-122"/>
                <a:cs typeface="Quicksand" pitchFamily="34" charset="-120"/>
              </a:rPr>
              <a:t>01</a:t>
            </a:r>
            <a:endParaRPr lang="en-US" sz="1600" dirty="0"/>
          </a:p>
        </p:txBody>
      </p:sp>
      <p:sp>
        <p:nvSpPr>
          <p:cNvPr id="10" name="Text 7"/>
          <p:cNvSpPr txBox="1"/>
          <p:nvPr/>
        </p:nvSpPr>
        <p:spPr>
          <a:xfrm>
            <a:off x="1371600" y="1815084"/>
            <a:ext cx="10012680" cy="795528"/>
          </a:xfrm>
          <a:prstGeom prst="rect">
            <a:avLst/>
          </a:prstGeom>
          <a:noFill/>
          <a:ln/>
        </p:spPr>
        <p:txBody>
          <a:bodyPr wrap="square" lIns="0" tIns="0" rIns="0" bIns="0" rtlCol="0" anchor="t"/>
          <a:lstStyle/>
          <a:p>
            <a:pPr indent="0" marL="0">
              <a:buNone/>
            </a:pPr>
            <a:r>
              <a:rPr lang="en-US" sz="2200" dirty="0">
                <a:solidFill>
                  <a:srgbClr val="252341"/>
                </a:solidFill>
                <a:latin typeface="Quicksand" pitchFamily="34" charset="0"/>
                <a:ea typeface="Quicksand" pitchFamily="34" charset="-122"/>
                <a:cs typeface="Quicksand" pitchFamily="34" charset="-120"/>
              </a:rPr>
              <a:t>Learn a route to a customer’s house.</a:t>
            </a:r>
            <a:endParaRPr lang="en-US" sz="2200" dirty="0"/>
          </a:p>
        </p:txBody>
      </p:sp>
      <p:sp>
        <p:nvSpPr>
          <p:cNvPr id="11" name="Shape 8"/>
          <p:cNvSpPr/>
          <p:nvPr/>
        </p:nvSpPr>
        <p:spPr>
          <a:xfrm>
            <a:off x="1371600" y="2578608"/>
            <a:ext cx="10012680" cy="0"/>
          </a:xfrm>
          <a:prstGeom prst="line">
            <a:avLst/>
          </a:prstGeom>
          <a:noFill/>
          <a:ln w="8890">
            <a:solidFill>
              <a:srgbClr val="DDDBE5"/>
            </a:solidFill>
            <a:prstDash val="solid"/>
          </a:ln>
        </p:spPr>
      </p:sp>
      <p:sp>
        <p:nvSpPr>
          <p:cNvPr id="12" name="Text 9"/>
          <p:cNvSpPr txBox="1"/>
          <p:nvPr/>
        </p:nvSpPr>
        <p:spPr>
          <a:xfrm>
            <a:off x="731520" y="2734056"/>
            <a:ext cx="457200" cy="365760"/>
          </a:xfrm>
          <a:prstGeom prst="rect">
            <a:avLst/>
          </a:prstGeom>
          <a:noFill/>
          <a:ln/>
        </p:spPr>
        <p:txBody>
          <a:bodyPr wrap="square" lIns="0" tIns="0" rIns="0" bIns="0" rtlCol="0" anchor="t"/>
          <a:lstStyle/>
          <a:p>
            <a:pPr indent="0" marL="0">
              <a:buNone/>
            </a:pPr>
            <a:r>
              <a:rPr lang="en-US" sz="1600" b="1" dirty="0">
                <a:solidFill>
                  <a:srgbClr val="494985"/>
                </a:solidFill>
                <a:latin typeface="Quicksand" pitchFamily="34" charset="0"/>
                <a:ea typeface="Quicksand" pitchFamily="34" charset="-122"/>
                <a:cs typeface="Quicksand" pitchFamily="34" charset="-120"/>
              </a:rPr>
              <a:t>02</a:t>
            </a:r>
            <a:endParaRPr lang="en-US" sz="1600" dirty="0"/>
          </a:p>
        </p:txBody>
      </p:sp>
      <p:sp>
        <p:nvSpPr>
          <p:cNvPr id="13" name="Text 10"/>
          <p:cNvSpPr txBox="1"/>
          <p:nvPr/>
        </p:nvSpPr>
        <p:spPr>
          <a:xfrm>
            <a:off x="1371600" y="2720340"/>
            <a:ext cx="10012680" cy="795528"/>
          </a:xfrm>
          <a:prstGeom prst="rect">
            <a:avLst/>
          </a:prstGeom>
          <a:noFill/>
          <a:ln/>
        </p:spPr>
        <p:txBody>
          <a:bodyPr wrap="square" lIns="0" tIns="0" rIns="0" bIns="0" rtlCol="0" anchor="t"/>
          <a:lstStyle/>
          <a:p>
            <a:pPr indent="0" marL="0">
              <a:buNone/>
            </a:pPr>
            <a:r>
              <a:rPr lang="en-US" sz="2200" dirty="0">
                <a:solidFill>
                  <a:srgbClr val="252341"/>
                </a:solidFill>
                <a:latin typeface="Quicksand" pitchFamily="34" charset="0"/>
                <a:ea typeface="Quicksand" pitchFamily="34" charset="-122"/>
                <a:cs typeface="Quicksand" pitchFamily="34" charset="-120"/>
              </a:rPr>
              <a:t>Learn where obstacles occur on that route.</a:t>
            </a:r>
            <a:endParaRPr lang="en-US" sz="2200" dirty="0"/>
          </a:p>
        </p:txBody>
      </p:sp>
      <p:sp>
        <p:nvSpPr>
          <p:cNvPr id="14" name="Shape 11"/>
          <p:cNvSpPr/>
          <p:nvPr/>
        </p:nvSpPr>
        <p:spPr>
          <a:xfrm>
            <a:off x="1371600" y="3483864"/>
            <a:ext cx="10012680" cy="0"/>
          </a:xfrm>
          <a:prstGeom prst="line">
            <a:avLst/>
          </a:prstGeom>
          <a:noFill/>
          <a:ln w="8890">
            <a:solidFill>
              <a:srgbClr val="DDDBE5"/>
            </a:solidFill>
            <a:prstDash val="solid"/>
          </a:ln>
        </p:spPr>
      </p:sp>
      <p:sp>
        <p:nvSpPr>
          <p:cNvPr id="15" name="Text 12"/>
          <p:cNvSpPr txBox="1"/>
          <p:nvPr/>
        </p:nvSpPr>
        <p:spPr>
          <a:xfrm>
            <a:off x="731520" y="3639312"/>
            <a:ext cx="457200" cy="365760"/>
          </a:xfrm>
          <a:prstGeom prst="rect">
            <a:avLst/>
          </a:prstGeom>
          <a:noFill/>
          <a:ln/>
        </p:spPr>
        <p:txBody>
          <a:bodyPr wrap="square" lIns="0" tIns="0" rIns="0" bIns="0" rtlCol="0" anchor="t"/>
          <a:lstStyle/>
          <a:p>
            <a:pPr indent="0" marL="0">
              <a:buNone/>
            </a:pPr>
            <a:r>
              <a:rPr lang="en-US" sz="1600" b="1" dirty="0">
                <a:solidFill>
                  <a:srgbClr val="494985"/>
                </a:solidFill>
                <a:latin typeface="Quicksand" pitchFamily="34" charset="0"/>
                <a:ea typeface="Quicksand" pitchFamily="34" charset="-122"/>
                <a:cs typeface="Quicksand" pitchFamily="34" charset="-120"/>
              </a:rPr>
              <a:t>03</a:t>
            </a:r>
            <a:endParaRPr lang="en-US" sz="1600" dirty="0"/>
          </a:p>
        </p:txBody>
      </p:sp>
      <p:sp>
        <p:nvSpPr>
          <p:cNvPr id="16" name="Text 13"/>
          <p:cNvSpPr txBox="1"/>
          <p:nvPr/>
        </p:nvSpPr>
        <p:spPr>
          <a:xfrm>
            <a:off x="1371600" y="3625596"/>
            <a:ext cx="10012680" cy="795528"/>
          </a:xfrm>
          <a:prstGeom prst="rect">
            <a:avLst/>
          </a:prstGeom>
          <a:noFill/>
          <a:ln/>
        </p:spPr>
        <p:txBody>
          <a:bodyPr wrap="square" lIns="0" tIns="0" rIns="0" bIns="0" rtlCol="0" anchor="t"/>
          <a:lstStyle/>
          <a:p>
            <a:pPr indent="0" marL="0">
              <a:buNone/>
            </a:pPr>
            <a:r>
              <a:rPr lang="en-US" sz="2200" dirty="0">
                <a:solidFill>
                  <a:srgbClr val="252341"/>
                </a:solidFill>
                <a:latin typeface="Quicksand" pitchFamily="34" charset="0"/>
                <a:ea typeface="Quicksand" pitchFamily="34" charset="-122"/>
                <a:cs typeface="Quicksand" pitchFamily="34" charset="-120"/>
              </a:rPr>
              <a:t>Reason which areas are paths rather than roads.</a:t>
            </a:r>
            <a:endParaRPr lang="en-US" sz="2200" dirty="0"/>
          </a:p>
        </p:txBody>
      </p:sp>
      <p:sp>
        <p:nvSpPr>
          <p:cNvPr id="17" name="Text 14"/>
          <p:cNvSpPr txBox="1"/>
          <p:nvPr/>
        </p:nvSpPr>
        <p:spPr>
          <a:xfrm>
            <a:off x="594360" y="5650992"/>
            <a:ext cx="10972800" cy="384048"/>
          </a:xfrm>
          <a:prstGeom prst="rect">
            <a:avLst/>
          </a:prstGeom>
          <a:noFill/>
          <a:ln/>
        </p:spPr>
        <p:txBody>
          <a:bodyPr wrap="square" lIns="0" tIns="0" rIns="0" bIns="0" rtlCol="0" anchor="t"/>
          <a:lstStyle/>
          <a:p>
            <a:pPr indent="0" marL="0">
              <a:buNone/>
            </a:pPr>
            <a:r>
              <a:rPr lang="en-US" sz="1700" b="1" dirty="0">
                <a:solidFill>
                  <a:srgbClr val="494985"/>
                </a:solidFill>
                <a:latin typeface="Quicksand" pitchFamily="34" charset="0"/>
                <a:ea typeface="Quicksand" pitchFamily="34" charset="-122"/>
                <a:cs typeface="Quicksand" pitchFamily="34" charset="-120"/>
              </a:rPr>
              <a:t>Repeating “learn the route” does not supply three different ways.</a:t>
            </a:r>
            <a:endParaRPr lang="en-US" sz="17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AF9F6"/>
        </a:solidFill>
      </p:bgPr>
    </p:bg>
    <p:spTree>
      <p:nvGrpSpPr>
        <p:cNvPr id="1" name=""/>
        <p:cNvGrpSpPr/>
        <p:nvPr/>
      </p:nvGrpSpPr>
      <p:grpSpPr>
        <a:xfrm>
          <a:off x="0" y="0"/>
          <a:ext cx="0" cy="0"/>
          <a:chOff x="0" y="0"/>
          <a:chExt cx="0" cy="0"/>
        </a:xfrm>
      </p:grpSpPr>
      <p:sp>
        <p:nvSpPr>
          <p:cNvPr id="2" name="Text 0"/>
          <p:cNvSpPr txBox="1"/>
          <p:nvPr/>
        </p:nvSpPr>
        <p:spPr>
          <a:xfrm>
            <a:off x="594360" y="301752"/>
            <a:ext cx="10424160" cy="274320"/>
          </a:xfrm>
          <a:prstGeom prst="rect">
            <a:avLst/>
          </a:prstGeom>
          <a:noFill/>
          <a:ln/>
        </p:spPr>
        <p:txBody>
          <a:bodyPr wrap="square" lIns="0" tIns="0" rIns="0" bIns="0" rtlCol="0" anchor="t"/>
          <a:lstStyle/>
          <a:p>
            <a:pPr indent="0" marL="0">
              <a:buNone/>
            </a:pPr>
            <a:r>
              <a:rPr lang="en-US" sz="1100" b="1" spc="200" kern="0" dirty="0">
                <a:solidFill>
                  <a:srgbClr val="494985"/>
                </a:solidFill>
                <a:latin typeface="Quicksand" pitchFamily="34" charset="0"/>
                <a:ea typeface="Quicksand" pitchFamily="34" charset="-122"/>
                <a:cs typeface="Quicksand" pitchFamily="34" charset="-120"/>
              </a:rPr>
              <a:t>REVIEW · AFTER PRACTICE</a:t>
            </a:r>
            <a:endParaRPr lang="en-US" sz="1100" dirty="0"/>
          </a:p>
        </p:txBody>
      </p:sp>
      <p:sp>
        <p:nvSpPr>
          <p:cNvPr id="3" name="Text 1"/>
          <p:cNvSpPr txBox="1"/>
          <p:nvPr/>
        </p:nvSpPr>
        <p:spPr>
          <a:xfrm>
            <a:off x="594360" y="822960"/>
            <a:ext cx="10972800" cy="640080"/>
          </a:xfrm>
          <a:prstGeom prst="rect">
            <a:avLst/>
          </a:prstGeom>
          <a:noFill/>
          <a:ln/>
        </p:spPr>
        <p:txBody>
          <a:bodyPr wrap="square" lIns="0" tIns="0" rIns="0" bIns="0" rtlCol="0" anchor="t"/>
          <a:lstStyle/>
          <a:p>
            <a:pPr indent="0" marL="0">
              <a:buNone/>
            </a:pPr>
            <a:r>
              <a:rPr lang="en-US" sz="3200" b="1" dirty="0">
                <a:solidFill>
                  <a:srgbClr val="252341"/>
                </a:solidFill>
                <a:latin typeface="Quicksand" pitchFamily="34" charset="0"/>
                <a:ea typeface="Quicksand" pitchFamily="34" charset="-122"/>
                <a:cs typeface="Quicksand" pitchFamily="34" charset="-120"/>
              </a:rPr>
              <a:t>Make the explanation precise</a:t>
            </a:r>
            <a:endParaRPr lang="en-US" sz="3200" dirty="0"/>
          </a:p>
        </p:txBody>
      </p:sp>
      <p:sp>
        <p:nvSpPr>
          <p:cNvPr id="4" name="Shape 2"/>
          <p:cNvSpPr/>
          <p:nvPr/>
        </p:nvSpPr>
        <p:spPr>
          <a:xfrm>
            <a:off x="594360" y="6355080"/>
            <a:ext cx="10972800" cy="0"/>
          </a:xfrm>
          <a:prstGeom prst="line">
            <a:avLst/>
          </a:prstGeom>
          <a:noFill/>
          <a:ln w="8890">
            <a:solidFill>
              <a:srgbClr val="DDDBE5"/>
            </a:solidFill>
            <a:prstDash val="solid"/>
          </a:ln>
        </p:spPr>
      </p:sp>
      <p:sp>
        <p:nvSpPr>
          <p:cNvPr id="5" name="Text 3"/>
          <p:cNvSpPr txBox="1"/>
          <p:nvPr/>
        </p:nvSpPr>
        <p:spPr>
          <a:xfrm>
            <a:off x="594360" y="6473952"/>
            <a:ext cx="5486400" cy="164592"/>
          </a:xfrm>
          <a:prstGeom prst="rect">
            <a:avLst/>
          </a:prstGeom>
          <a:noFill/>
          <a:ln/>
        </p:spPr>
        <p:txBody>
          <a:bodyPr wrap="square" lIns="0" tIns="0" rIns="0" bIns="0" rtlCol="0" anchor="t"/>
          <a:lstStyle/>
          <a:p>
            <a:pPr indent="0" marL="0">
              <a:buNone/>
            </a:pPr>
            <a:r>
              <a:rPr lang="en-US" sz="800" dirty="0">
                <a:solidFill>
                  <a:srgbClr val="777584"/>
                </a:solidFill>
                <a:latin typeface="Quicksand" pitchFamily="34" charset="0"/>
                <a:ea typeface="Quicksand" pitchFamily="34" charset="-122"/>
                <a:cs typeface="Quicksand" pitchFamily="34" charset="-120"/>
              </a:rPr>
              <a:t>IGCSE 0478  /  ARTIFICIAL INTELLIGENCE</a:t>
            </a:r>
            <a:endParaRPr lang="en-US" sz="800" dirty="0"/>
          </a:p>
        </p:txBody>
      </p:sp>
      <p:sp>
        <p:nvSpPr>
          <p:cNvPr id="6" name="Text 4"/>
          <p:cNvSpPr txBox="1"/>
          <p:nvPr/>
        </p:nvSpPr>
        <p:spPr>
          <a:xfrm>
            <a:off x="11018520" y="6419088"/>
            <a:ext cx="530352" cy="228600"/>
          </a:xfrm>
          <a:prstGeom prst="rect">
            <a:avLst/>
          </a:prstGeom>
          <a:noFill/>
          <a:ln/>
        </p:spPr>
        <p:txBody>
          <a:bodyPr wrap="square" lIns="0" tIns="0" rIns="0" bIns="0" rtlCol="0" anchor="t"/>
          <a:lstStyle/>
          <a:p>
            <a:pPr algn="r" indent="0" marL="0">
              <a:buNone/>
            </a:pPr>
            <a:r>
              <a:rPr lang="en-US" sz="1100" dirty="0">
                <a:solidFill>
                  <a:srgbClr val="777584"/>
                </a:solidFill>
                <a:latin typeface="Quicksand" pitchFamily="34" charset="0"/>
                <a:ea typeface="Quicksand" pitchFamily="34" charset="-122"/>
                <a:cs typeface="Quicksand" pitchFamily="34" charset="-120"/>
              </a:rPr>
              <a:t>36</a:t>
            </a:r>
            <a:endParaRPr lang="en-US" sz="1100" dirty="0"/>
          </a:p>
        </p:txBody>
      </p:sp>
      <p:graphicFrame>
        <p:nvGraphicFramePr>
          <p:cNvPr id="37" name="Table 0"/>
          <p:cNvGraphicFramePr>
            <a:graphicFrameLocks noGrp="1"/>
          </p:cNvGraphicFramePr>
          <p:nvPr>
            <p:extLst>
              <p:ext uri="{D42A27DB-BD31-4B8C-83A1-F6EECF244321}">
                <p14:modId xmlns:p14="http://schemas.microsoft.com/office/powerpoint/2010/main" val="1579011935"/>
              </p:ext>
            </p:extLst>
          </p:nvPr>
        </p:nvGraphicFramePr>
        <p:xfrm>
          <a:off x="594360" y="1783080"/>
          <a:ext cx="10972800" cy="914400"/>
        </p:xfrm>
        <a:graphic>
          <a:graphicData uri="http://schemas.openxmlformats.org/drawingml/2006/table">
            <a:tbl>
              <a:tblPr/>
              <a:tblGrid>
                <a:gridCol w="4114800"/>
                <a:gridCol w="6858000"/>
              </a:tblGrid>
              <a:tr h="603504">
                <a:tc>
                  <a:txBody>
                    <a:bodyPr/>
                    <a:lstStyle/>
                    <a:p>
                      <a:pPr indent="0" marL="0">
                        <a:buNone/>
                      </a:pPr>
                      <a:r>
                        <a:rPr lang="en-US" sz="1950" b="1" dirty="0">
                          <a:solidFill>
                            <a:srgbClr val="FFFFFF"/>
                          </a:solidFill>
                          <a:latin typeface="Quicksand" pitchFamily="34" charset="0"/>
                          <a:ea typeface="Quicksand" pitchFamily="34" charset="-122"/>
                          <a:cs typeface="Quicksand" pitchFamily="34" charset="-120"/>
                        </a:rPr>
                        <a:t>Weak answer</a:t>
                      </a:r>
                      <a:endParaRPr lang="en-US" sz="1950" dirty="0">
                        <a:latin typeface="Quicksand" charset="0"/>
                        <a:ea typeface="Quicksand" charset="0"/>
                        <a:cs typeface="Quicksand" charset="0"/>
                      </a:endParaRPr>
                    </a:p>
                  </a:txBody>
                  <a:tcPr marL="91440" marR="91440"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494985"/>
                    </a:solidFill>
                  </a:tcPr>
                </a:tc>
                <a:tc>
                  <a:txBody>
                    <a:bodyPr/>
                    <a:lstStyle/>
                    <a:p>
                      <a:pPr indent="0" marL="0">
                        <a:buNone/>
                      </a:pPr>
                      <a:r>
                        <a:rPr lang="en-US" sz="1950" b="1" dirty="0">
                          <a:solidFill>
                            <a:srgbClr val="FFFFFF"/>
                          </a:solidFill>
                          <a:latin typeface="Quicksand" pitchFamily="34" charset="0"/>
                          <a:ea typeface="Quicksand" pitchFamily="34" charset="-122"/>
                          <a:cs typeface="Quicksand" pitchFamily="34" charset="-120"/>
                        </a:rPr>
                        <a:t>What to add</a:t>
                      </a:r>
                      <a:endParaRPr lang="en-US" sz="1950" dirty="0">
                        <a:latin typeface="Quicksand" charset="0"/>
                        <a:ea typeface="Quicksand" charset="0"/>
                        <a:cs typeface="Quicksand" charset="0"/>
                      </a:endParaRPr>
                    </a:p>
                  </a:txBody>
                  <a:tcPr marL="91440" marR="91440"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494985"/>
                    </a:solidFill>
                  </a:tcPr>
                </a:tc>
              </a:tr>
              <a:tr h="603504">
                <a:tc>
                  <a:txBody>
                    <a:bodyPr/>
                    <a:lstStyle/>
                    <a:p>
                      <a:pPr indent="0" marL="0">
                        <a:buNone/>
                      </a:pPr>
                      <a:r>
                        <a:rPr lang="en-US" sz="1900" dirty="0">
                          <a:solidFill>
                            <a:srgbClr val="202124"/>
                          </a:solidFill>
                          <a:latin typeface="Quicksand" pitchFamily="34" charset="0"/>
                          <a:ea typeface="Quicksand" pitchFamily="34" charset="-122"/>
                          <a:cs typeface="Quicksand" pitchFamily="34" charset="-120"/>
                        </a:rPr>
                        <a:t>“AI is smart.”</a:t>
                      </a:r>
                      <a:endParaRPr lang="en-US" sz="1900" dirty="0">
                        <a:latin typeface="Quicksand" charset="0"/>
                        <a:ea typeface="Quicksand" charset="0"/>
                        <a:cs typeface="Quicksand" charset="0"/>
                      </a:endParaRPr>
                    </a:p>
                  </a:txBody>
                  <a:tcPr marL="91440" marR="91440"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6F5FC"/>
                    </a:solidFill>
                  </a:tcPr>
                </a:tc>
                <a:tc>
                  <a:txBody>
                    <a:bodyPr/>
                    <a:lstStyle/>
                    <a:p>
                      <a:pPr indent="0" marL="0">
                        <a:buNone/>
                      </a:pPr>
                      <a:r>
                        <a:rPr lang="en-US" sz="1900" dirty="0">
                          <a:solidFill>
                            <a:srgbClr val="202124"/>
                          </a:solidFill>
                          <a:latin typeface="Quicksand" pitchFamily="34" charset="0"/>
                          <a:ea typeface="Quicksand" pitchFamily="34" charset="-122"/>
                          <a:cs typeface="Quicksand" pitchFamily="34" charset="-120"/>
                        </a:rPr>
                        <a:t>A recognised feature with a clear meaning.</a:t>
                      </a:r>
                      <a:endParaRPr lang="en-US" sz="1900" dirty="0">
                        <a:latin typeface="Quicksand" charset="0"/>
                        <a:ea typeface="Quicksand" charset="0"/>
                        <a:cs typeface="Quicksand" charset="0"/>
                      </a:endParaRPr>
                    </a:p>
                  </a:txBody>
                  <a:tcPr marL="91440" marR="91440"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6F5FC"/>
                    </a:solidFill>
                  </a:tcPr>
                </a:tc>
              </a:tr>
              <a:tr h="603504">
                <a:tc>
                  <a:txBody>
                    <a:bodyPr/>
                    <a:lstStyle/>
                    <a:p>
                      <a:pPr indent="0" marL="0">
                        <a:buNone/>
                      </a:pPr>
                      <a:r>
                        <a:rPr lang="en-US" sz="1900" dirty="0">
                          <a:solidFill>
                            <a:srgbClr val="202124"/>
                          </a:solidFill>
                          <a:latin typeface="Quicksand" pitchFamily="34" charset="0"/>
                          <a:ea typeface="Quicksand" pitchFamily="34" charset="-122"/>
                          <a:cs typeface="Quicksand" pitchFamily="34" charset="-120"/>
                        </a:rPr>
                        <a:t>“The database diagnoses it.”</a:t>
                      </a:r>
                      <a:endParaRPr lang="en-US" sz="1900" dirty="0">
                        <a:latin typeface="Quicksand" charset="0"/>
                        <a:ea typeface="Quicksand" charset="0"/>
                        <a:cs typeface="Quicksand" charset="0"/>
                      </a:endParaRPr>
                    </a:p>
                  </a:txBody>
                  <a:tcPr marL="91440" marR="91440"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indent="0" marL="0">
                        <a:buNone/>
                      </a:pPr>
                      <a:r>
                        <a:rPr lang="en-US" sz="1900" dirty="0">
                          <a:solidFill>
                            <a:srgbClr val="202124"/>
                          </a:solidFill>
                          <a:latin typeface="Quicksand" pitchFamily="34" charset="0"/>
                          <a:ea typeface="Quicksand" pitchFamily="34" charset="-122"/>
                          <a:cs typeface="Quicksand" pitchFamily="34" charset="-120"/>
                        </a:rPr>
                        <a:t>Engine + applying rules to expert facts.</a:t>
                      </a:r>
                      <a:endParaRPr lang="en-US" sz="1900" dirty="0">
                        <a:latin typeface="Quicksand" charset="0"/>
                        <a:ea typeface="Quicksand" charset="0"/>
                        <a:cs typeface="Quicksand" charset="0"/>
                      </a:endParaRPr>
                    </a:p>
                  </a:txBody>
                  <a:tcPr marL="91440" marR="91440"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603504">
                <a:tc>
                  <a:txBody>
                    <a:bodyPr/>
                    <a:lstStyle/>
                    <a:p>
                      <a:pPr indent="0" marL="0">
                        <a:buNone/>
                      </a:pPr>
                      <a:r>
                        <a:rPr lang="en-US" sz="1900" dirty="0">
                          <a:solidFill>
                            <a:srgbClr val="202124"/>
                          </a:solidFill>
                          <a:latin typeface="Quicksand" pitchFamily="34" charset="0"/>
                          <a:ea typeface="Quicksand" pitchFamily="34" charset="-122"/>
                          <a:cs typeface="Quicksand" pitchFamily="34" charset="-120"/>
                        </a:rPr>
                        <a:t>“The robot uses sensors.”</a:t>
                      </a:r>
                      <a:endParaRPr lang="en-US" sz="1900" dirty="0">
                        <a:latin typeface="Quicksand" charset="0"/>
                        <a:ea typeface="Quicksand" charset="0"/>
                        <a:cs typeface="Quicksand" charset="0"/>
                      </a:endParaRPr>
                    </a:p>
                  </a:txBody>
                  <a:tcPr marL="91440" marR="91440"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6F5FC"/>
                    </a:solidFill>
                  </a:tcPr>
                </a:tc>
                <a:tc>
                  <a:txBody>
                    <a:bodyPr/>
                    <a:lstStyle/>
                    <a:p>
                      <a:pPr indent="0" marL="0">
                        <a:buNone/>
                      </a:pPr>
                      <a:r>
                        <a:rPr lang="en-US" sz="1900" dirty="0">
                          <a:solidFill>
                            <a:srgbClr val="202124"/>
                          </a:solidFill>
                          <a:latin typeface="Quicksand" pitchFamily="34" charset="0"/>
                          <a:ea typeface="Quicksand" pitchFamily="34" charset="-122"/>
                          <a:cs typeface="Quicksand" pitchFamily="34" charset="-120"/>
                        </a:rPr>
                        <a:t>Recorded experience + changed future actions.</a:t>
                      </a:r>
                      <a:endParaRPr lang="en-US" sz="1900" dirty="0">
                        <a:latin typeface="Quicksand" charset="0"/>
                        <a:ea typeface="Quicksand" charset="0"/>
                        <a:cs typeface="Quicksand" charset="0"/>
                      </a:endParaRPr>
                    </a:p>
                  </a:txBody>
                  <a:tcPr marL="91440" marR="91440"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6F5FC"/>
                    </a:solidFill>
                  </a:tcPr>
                </a:tc>
              </a:tr>
              <a:tr h="603504">
                <a:tc>
                  <a:txBody>
                    <a:bodyPr/>
                    <a:lstStyle/>
                    <a:p>
                      <a:pPr indent="0" marL="0">
                        <a:buNone/>
                      </a:pPr>
                      <a:r>
                        <a:rPr lang="en-US" sz="1900" dirty="0">
                          <a:solidFill>
                            <a:srgbClr val="202124"/>
                          </a:solidFill>
                          <a:latin typeface="Quicksand" pitchFamily="34" charset="0"/>
                          <a:ea typeface="Quicksand" pitchFamily="34" charset="-122"/>
                          <a:cs typeface="Quicksand" pitchFamily="34" charset="-120"/>
                        </a:rPr>
                        <a:t>“It learns and gets better.”</a:t>
                      </a:r>
                      <a:endParaRPr lang="en-US" sz="1900" dirty="0">
                        <a:latin typeface="Quicksand" charset="0"/>
                        <a:ea typeface="Quicksand" charset="0"/>
                        <a:cs typeface="Quicksand" charset="0"/>
                      </a:endParaRPr>
                    </a:p>
                  </a:txBody>
                  <a:tcPr marL="91440" marR="91440"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indent="0" marL="0">
                        <a:buNone/>
                      </a:pPr>
                      <a:r>
                        <a:rPr lang="en-US" sz="1900" dirty="0">
                          <a:solidFill>
                            <a:srgbClr val="202124"/>
                          </a:solidFill>
                          <a:latin typeface="Quicksand" pitchFamily="34" charset="0"/>
                          <a:ea typeface="Quicksand" pitchFamily="34" charset="-122"/>
                          <a:cs typeface="Quicksand" pitchFamily="34" charset="-120"/>
                        </a:rPr>
                        <a:t>Relevant data + patterns/feedback + improvement.</a:t>
                      </a:r>
                      <a:endParaRPr lang="en-US" sz="1900" dirty="0">
                        <a:latin typeface="Quicksand" charset="0"/>
                        <a:ea typeface="Quicksand" charset="0"/>
                        <a:cs typeface="Quicksand" charset="0"/>
                      </a:endParaRPr>
                    </a:p>
                  </a:txBody>
                  <a:tcPr marL="91440" marR="91440"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603504">
                <a:tc>
                  <a:txBody>
                    <a:bodyPr/>
                    <a:lstStyle/>
                    <a:p>
                      <a:pPr indent="0" marL="0">
                        <a:buNone/>
                      </a:pPr>
                      <a:r>
                        <a:rPr lang="en-US" sz="1900" dirty="0">
                          <a:solidFill>
                            <a:srgbClr val="202124"/>
                          </a:solidFill>
                          <a:latin typeface="Quicksand" pitchFamily="34" charset="0"/>
                          <a:ea typeface="Quicksand" pitchFamily="34" charset="-122"/>
                          <a:cs typeface="Quicksand" pitchFamily="34" charset="-120"/>
                        </a:rPr>
                        <a:t>“Every expert system must learn.”</a:t>
                      </a:r>
                      <a:endParaRPr lang="en-US" sz="1900" dirty="0">
                        <a:latin typeface="Quicksand" charset="0"/>
                        <a:ea typeface="Quicksand" charset="0"/>
                        <a:cs typeface="Quicksand" charset="0"/>
                      </a:endParaRPr>
                    </a:p>
                  </a:txBody>
                  <a:tcPr marL="91440" marR="91440"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6F5FC"/>
                    </a:solidFill>
                  </a:tcPr>
                </a:tc>
                <a:tc>
                  <a:txBody>
                    <a:bodyPr/>
                    <a:lstStyle/>
                    <a:p>
                      <a:pPr indent="0" marL="0">
                        <a:buNone/>
                      </a:pPr>
                      <a:r>
                        <a:rPr lang="en-US" sz="1900" dirty="0">
                          <a:solidFill>
                            <a:srgbClr val="202124"/>
                          </a:solidFill>
                          <a:latin typeface="Quicksand" pitchFamily="34" charset="0"/>
                          <a:ea typeface="Quicksand" pitchFamily="34" charset="-122"/>
                          <a:cs typeface="Quicksand" pitchFamily="34" charset="-120"/>
                        </a:rPr>
                        <a:t>Fixed rules can work; learning can be added.</a:t>
                      </a:r>
                      <a:endParaRPr lang="en-US" sz="1900" dirty="0">
                        <a:latin typeface="Quicksand" charset="0"/>
                        <a:ea typeface="Quicksand" charset="0"/>
                        <a:cs typeface="Quicksand" charset="0"/>
                      </a:endParaRPr>
                    </a:p>
                  </a:txBody>
                  <a:tcPr marL="91440" marR="91440"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6F5FC"/>
                    </a:solidFill>
                  </a:tcPr>
                </a:tc>
              </a:tr>
            </a:tbl>
          </a:graphicData>
        </a:graphic>
      </p:graphicFrame>
      <p:sp>
        <p:nvSpPr>
          <p:cNvPr id="9" name="Text 5"/>
          <p:cNvSpPr txBox="1"/>
          <p:nvPr/>
        </p:nvSpPr>
        <p:spPr>
          <a:xfrm>
            <a:off x="594360" y="5650992"/>
            <a:ext cx="10972800" cy="384048"/>
          </a:xfrm>
          <a:prstGeom prst="rect">
            <a:avLst/>
          </a:prstGeom>
          <a:noFill/>
          <a:ln/>
        </p:spPr>
        <p:txBody>
          <a:bodyPr wrap="square" lIns="0" tIns="0" rIns="0" bIns="0" rtlCol="0" anchor="t"/>
          <a:lstStyle/>
          <a:p>
            <a:pPr indent="0" marL="0">
              <a:buNone/>
            </a:pPr>
            <a:r>
              <a:rPr lang="en-US" sz="1700" b="1" dirty="0">
                <a:solidFill>
                  <a:srgbClr val="494985"/>
                </a:solidFill>
                <a:latin typeface="Quicksand" pitchFamily="34" charset="0"/>
                <a:ea typeface="Quicksand" pitchFamily="34" charset="-122"/>
                <a:cs typeface="Quicksand" pitchFamily="34" charset="-120"/>
              </a:rPr>
              <a:t>Underline distinct ideas. Circle the details that belong to this particular scenario.</a:t>
            </a:r>
            <a:endParaRPr lang="en-US" sz="17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AF9F6"/>
        </a:solidFill>
      </p:bgPr>
    </p:bg>
    <p:spTree>
      <p:nvGrpSpPr>
        <p:cNvPr id="1" name=""/>
        <p:cNvGrpSpPr/>
        <p:nvPr/>
      </p:nvGrpSpPr>
      <p:grpSpPr>
        <a:xfrm>
          <a:off x="0" y="0"/>
          <a:ext cx="0" cy="0"/>
          <a:chOff x="0" y="0"/>
          <a:chExt cx="0" cy="0"/>
        </a:xfrm>
      </p:grpSpPr>
      <p:sp>
        <p:nvSpPr>
          <p:cNvPr id="2" name="Text 0"/>
          <p:cNvSpPr txBox="1"/>
          <p:nvPr/>
        </p:nvSpPr>
        <p:spPr>
          <a:xfrm>
            <a:off x="594360" y="301752"/>
            <a:ext cx="10424160" cy="274320"/>
          </a:xfrm>
          <a:prstGeom prst="rect">
            <a:avLst/>
          </a:prstGeom>
          <a:noFill/>
          <a:ln/>
        </p:spPr>
        <p:txBody>
          <a:bodyPr wrap="square" lIns="0" tIns="0" rIns="0" bIns="0" rtlCol="0" anchor="t"/>
          <a:lstStyle/>
          <a:p>
            <a:pPr indent="0" marL="0">
              <a:buNone/>
            </a:pPr>
            <a:r>
              <a:rPr lang="en-US" sz="1100" b="1" spc="200" kern="0" dirty="0">
                <a:solidFill>
                  <a:srgbClr val="494985"/>
                </a:solidFill>
                <a:latin typeface="Quicksand" pitchFamily="34" charset="0"/>
                <a:ea typeface="Quicksand" pitchFamily="34" charset="-122"/>
                <a:cs typeface="Quicksand" pitchFamily="34" charset="-120"/>
              </a:rPr>
              <a:t>PLENARY</a:t>
            </a:r>
            <a:endParaRPr lang="en-US" sz="1100" dirty="0"/>
          </a:p>
        </p:txBody>
      </p:sp>
      <p:sp>
        <p:nvSpPr>
          <p:cNvPr id="3" name="Text 1"/>
          <p:cNvSpPr txBox="1"/>
          <p:nvPr/>
        </p:nvSpPr>
        <p:spPr>
          <a:xfrm>
            <a:off x="594360" y="822960"/>
            <a:ext cx="10972800" cy="640080"/>
          </a:xfrm>
          <a:prstGeom prst="rect">
            <a:avLst/>
          </a:prstGeom>
          <a:noFill/>
          <a:ln/>
        </p:spPr>
        <p:txBody>
          <a:bodyPr wrap="square" lIns="0" tIns="0" rIns="0" bIns="0" rtlCol="0" anchor="t"/>
          <a:lstStyle/>
          <a:p>
            <a:pPr indent="0" marL="0">
              <a:buNone/>
            </a:pPr>
            <a:r>
              <a:rPr lang="en-US" sz="3200" b="1" dirty="0">
                <a:solidFill>
                  <a:srgbClr val="252341"/>
                </a:solidFill>
                <a:latin typeface="Quicksand" pitchFamily="34" charset="0"/>
                <a:ea typeface="Quicksand" pitchFamily="34" charset="-122"/>
                <a:cs typeface="Quicksand" pitchFamily="34" charset="-120"/>
              </a:rPr>
              <a:t>Finish with an explanation of your own</a:t>
            </a:r>
            <a:endParaRPr lang="en-US" sz="3200" dirty="0"/>
          </a:p>
        </p:txBody>
      </p:sp>
      <p:sp>
        <p:nvSpPr>
          <p:cNvPr id="4" name="Shape 2"/>
          <p:cNvSpPr/>
          <p:nvPr/>
        </p:nvSpPr>
        <p:spPr>
          <a:xfrm>
            <a:off x="594360" y="6355080"/>
            <a:ext cx="10972800" cy="0"/>
          </a:xfrm>
          <a:prstGeom prst="line">
            <a:avLst/>
          </a:prstGeom>
          <a:noFill/>
          <a:ln w="8890">
            <a:solidFill>
              <a:srgbClr val="DDDBE5"/>
            </a:solidFill>
            <a:prstDash val="solid"/>
          </a:ln>
        </p:spPr>
      </p:sp>
      <p:sp>
        <p:nvSpPr>
          <p:cNvPr id="5" name="Text 3"/>
          <p:cNvSpPr txBox="1"/>
          <p:nvPr/>
        </p:nvSpPr>
        <p:spPr>
          <a:xfrm>
            <a:off x="594360" y="6473952"/>
            <a:ext cx="5486400" cy="164592"/>
          </a:xfrm>
          <a:prstGeom prst="rect">
            <a:avLst/>
          </a:prstGeom>
          <a:noFill/>
          <a:ln/>
        </p:spPr>
        <p:txBody>
          <a:bodyPr wrap="square" lIns="0" tIns="0" rIns="0" bIns="0" rtlCol="0" anchor="t"/>
          <a:lstStyle/>
          <a:p>
            <a:pPr indent="0" marL="0">
              <a:buNone/>
            </a:pPr>
            <a:r>
              <a:rPr lang="en-US" sz="800" dirty="0">
                <a:solidFill>
                  <a:srgbClr val="777584"/>
                </a:solidFill>
                <a:latin typeface="Quicksand" pitchFamily="34" charset="0"/>
                <a:ea typeface="Quicksand" pitchFamily="34" charset="-122"/>
                <a:cs typeface="Quicksand" pitchFamily="34" charset="-120"/>
              </a:rPr>
              <a:t>IGCSE 0478  /  ARTIFICIAL INTELLIGENCE</a:t>
            </a:r>
            <a:endParaRPr lang="en-US" sz="800" dirty="0"/>
          </a:p>
        </p:txBody>
      </p:sp>
      <p:sp>
        <p:nvSpPr>
          <p:cNvPr id="6" name="Text 4"/>
          <p:cNvSpPr txBox="1"/>
          <p:nvPr/>
        </p:nvSpPr>
        <p:spPr>
          <a:xfrm>
            <a:off x="11018520" y="6419088"/>
            <a:ext cx="530352" cy="228600"/>
          </a:xfrm>
          <a:prstGeom prst="rect">
            <a:avLst/>
          </a:prstGeom>
          <a:noFill/>
          <a:ln/>
        </p:spPr>
        <p:txBody>
          <a:bodyPr wrap="square" lIns="0" tIns="0" rIns="0" bIns="0" rtlCol="0" anchor="t"/>
          <a:lstStyle/>
          <a:p>
            <a:pPr algn="r" indent="0" marL="0">
              <a:buNone/>
            </a:pPr>
            <a:r>
              <a:rPr lang="en-US" sz="1100" dirty="0">
                <a:solidFill>
                  <a:srgbClr val="777584"/>
                </a:solidFill>
                <a:latin typeface="Quicksand" pitchFamily="34" charset="0"/>
                <a:ea typeface="Quicksand" pitchFamily="34" charset="-122"/>
                <a:cs typeface="Quicksand" pitchFamily="34" charset="-120"/>
              </a:rPr>
              <a:t>37</a:t>
            </a:r>
            <a:endParaRPr lang="en-US" sz="1100" dirty="0"/>
          </a:p>
        </p:txBody>
      </p:sp>
      <p:sp>
        <p:nvSpPr>
          <p:cNvPr id="8" name="Text 5"/>
          <p:cNvSpPr txBox="1"/>
          <p:nvPr/>
        </p:nvSpPr>
        <p:spPr>
          <a:xfrm>
            <a:off x="731520" y="1920240"/>
            <a:ext cx="457200" cy="365760"/>
          </a:xfrm>
          <a:prstGeom prst="rect">
            <a:avLst/>
          </a:prstGeom>
          <a:noFill/>
          <a:ln/>
        </p:spPr>
        <p:txBody>
          <a:bodyPr wrap="square" lIns="0" tIns="0" rIns="0" bIns="0" rtlCol="0" anchor="t"/>
          <a:lstStyle/>
          <a:p>
            <a:pPr indent="0" marL="0">
              <a:buNone/>
            </a:pPr>
            <a:r>
              <a:rPr lang="en-US" sz="1600" b="1" dirty="0">
                <a:solidFill>
                  <a:srgbClr val="494985"/>
                </a:solidFill>
                <a:latin typeface="Quicksand" pitchFamily="34" charset="0"/>
                <a:ea typeface="Quicksand" pitchFamily="34" charset="-122"/>
                <a:cs typeface="Quicksand" pitchFamily="34" charset="-120"/>
              </a:rPr>
              <a:t>01</a:t>
            </a:r>
            <a:endParaRPr lang="en-US" sz="1600" dirty="0"/>
          </a:p>
        </p:txBody>
      </p:sp>
      <p:sp>
        <p:nvSpPr>
          <p:cNvPr id="9" name="Text 6"/>
          <p:cNvSpPr txBox="1"/>
          <p:nvPr/>
        </p:nvSpPr>
        <p:spPr>
          <a:xfrm>
            <a:off x="1371600" y="1906524"/>
            <a:ext cx="10012680" cy="914400"/>
          </a:xfrm>
          <a:prstGeom prst="rect">
            <a:avLst/>
          </a:prstGeom>
          <a:noFill/>
          <a:ln/>
        </p:spPr>
        <p:txBody>
          <a:bodyPr wrap="square" lIns="0" tIns="0" rIns="0" bIns="0" rtlCol="0" anchor="t"/>
          <a:lstStyle/>
          <a:p>
            <a:pPr indent="0" marL="0">
              <a:buNone/>
            </a:pPr>
            <a:r>
              <a:rPr lang="en-US" sz="2500" dirty="0">
                <a:solidFill>
                  <a:srgbClr val="252341"/>
                </a:solidFill>
                <a:latin typeface="Quicksand" pitchFamily="34" charset="0"/>
                <a:ea typeface="Quicksand" pitchFamily="34" charset="-122"/>
                <a:cs typeface="Quicksand" pitchFamily="34" charset="-120"/>
              </a:rPr>
              <a:t>Explain one difference between facts and rules.</a:t>
            </a:r>
            <a:endParaRPr lang="en-US" sz="2500" dirty="0"/>
          </a:p>
        </p:txBody>
      </p:sp>
      <p:sp>
        <p:nvSpPr>
          <p:cNvPr id="10" name="Shape 7"/>
          <p:cNvSpPr/>
          <p:nvPr/>
        </p:nvSpPr>
        <p:spPr>
          <a:xfrm>
            <a:off x="1371600" y="2788920"/>
            <a:ext cx="10012680" cy="0"/>
          </a:xfrm>
          <a:prstGeom prst="line">
            <a:avLst/>
          </a:prstGeom>
          <a:noFill/>
          <a:ln w="8890">
            <a:solidFill>
              <a:srgbClr val="DDDBE5"/>
            </a:solidFill>
            <a:prstDash val="solid"/>
          </a:ln>
        </p:spPr>
      </p:sp>
      <p:sp>
        <p:nvSpPr>
          <p:cNvPr id="11" name="Text 8"/>
          <p:cNvSpPr txBox="1"/>
          <p:nvPr/>
        </p:nvSpPr>
        <p:spPr>
          <a:xfrm>
            <a:off x="731520" y="2944368"/>
            <a:ext cx="457200" cy="365760"/>
          </a:xfrm>
          <a:prstGeom prst="rect">
            <a:avLst/>
          </a:prstGeom>
          <a:noFill/>
          <a:ln/>
        </p:spPr>
        <p:txBody>
          <a:bodyPr wrap="square" lIns="0" tIns="0" rIns="0" bIns="0" rtlCol="0" anchor="t"/>
          <a:lstStyle/>
          <a:p>
            <a:pPr indent="0" marL="0">
              <a:buNone/>
            </a:pPr>
            <a:r>
              <a:rPr lang="en-US" sz="1600" b="1" dirty="0">
                <a:solidFill>
                  <a:srgbClr val="494985"/>
                </a:solidFill>
                <a:latin typeface="Quicksand" pitchFamily="34" charset="0"/>
                <a:ea typeface="Quicksand" pitchFamily="34" charset="-122"/>
                <a:cs typeface="Quicksand" pitchFamily="34" charset="-120"/>
              </a:rPr>
              <a:t>02</a:t>
            </a:r>
            <a:endParaRPr lang="en-US" sz="1600" dirty="0"/>
          </a:p>
        </p:txBody>
      </p:sp>
      <p:sp>
        <p:nvSpPr>
          <p:cNvPr id="12" name="Text 9"/>
          <p:cNvSpPr txBox="1"/>
          <p:nvPr/>
        </p:nvSpPr>
        <p:spPr>
          <a:xfrm>
            <a:off x="1371600" y="2930652"/>
            <a:ext cx="10012680" cy="914400"/>
          </a:xfrm>
          <a:prstGeom prst="rect">
            <a:avLst/>
          </a:prstGeom>
          <a:noFill/>
          <a:ln/>
        </p:spPr>
        <p:txBody>
          <a:bodyPr wrap="square" lIns="0" tIns="0" rIns="0" bIns="0" rtlCol="0" anchor="t"/>
          <a:lstStyle/>
          <a:p>
            <a:pPr indent="0" marL="0">
              <a:buNone/>
            </a:pPr>
            <a:r>
              <a:rPr lang="en-US" sz="2500" dirty="0">
                <a:solidFill>
                  <a:srgbClr val="252341"/>
                </a:solidFill>
                <a:latin typeface="Quicksand" pitchFamily="34" charset="0"/>
                <a:ea typeface="Quicksand" pitchFamily="34" charset="-122"/>
                <a:cs typeface="Quicksand" pitchFamily="34" charset="-120"/>
              </a:rPr>
              <a:t>What does an inference engine do with them?</a:t>
            </a:r>
            <a:endParaRPr lang="en-US" sz="2500" dirty="0"/>
          </a:p>
        </p:txBody>
      </p:sp>
      <p:sp>
        <p:nvSpPr>
          <p:cNvPr id="13" name="Shape 10"/>
          <p:cNvSpPr/>
          <p:nvPr/>
        </p:nvSpPr>
        <p:spPr>
          <a:xfrm>
            <a:off x="1371600" y="3813048"/>
            <a:ext cx="10012680" cy="0"/>
          </a:xfrm>
          <a:prstGeom prst="line">
            <a:avLst/>
          </a:prstGeom>
          <a:noFill/>
          <a:ln w="8890">
            <a:solidFill>
              <a:srgbClr val="DDDBE5"/>
            </a:solidFill>
            <a:prstDash val="solid"/>
          </a:ln>
        </p:spPr>
      </p:sp>
      <p:sp>
        <p:nvSpPr>
          <p:cNvPr id="14" name="Text 11"/>
          <p:cNvSpPr txBox="1"/>
          <p:nvPr/>
        </p:nvSpPr>
        <p:spPr>
          <a:xfrm>
            <a:off x="731520" y="3968496"/>
            <a:ext cx="457200" cy="365760"/>
          </a:xfrm>
          <a:prstGeom prst="rect">
            <a:avLst/>
          </a:prstGeom>
          <a:noFill/>
          <a:ln/>
        </p:spPr>
        <p:txBody>
          <a:bodyPr wrap="square" lIns="0" tIns="0" rIns="0" bIns="0" rtlCol="0" anchor="t"/>
          <a:lstStyle/>
          <a:p>
            <a:pPr indent="0" marL="0">
              <a:buNone/>
            </a:pPr>
            <a:r>
              <a:rPr lang="en-US" sz="1600" b="1" dirty="0">
                <a:solidFill>
                  <a:srgbClr val="494985"/>
                </a:solidFill>
                <a:latin typeface="Quicksand" pitchFamily="34" charset="0"/>
                <a:ea typeface="Quicksand" pitchFamily="34" charset="-122"/>
                <a:cs typeface="Quicksand" pitchFamily="34" charset="-120"/>
              </a:rPr>
              <a:t>03</a:t>
            </a:r>
            <a:endParaRPr lang="en-US" sz="1600" dirty="0"/>
          </a:p>
        </p:txBody>
      </p:sp>
      <p:sp>
        <p:nvSpPr>
          <p:cNvPr id="15" name="Text 12"/>
          <p:cNvSpPr txBox="1"/>
          <p:nvPr/>
        </p:nvSpPr>
        <p:spPr>
          <a:xfrm>
            <a:off x="1371600" y="3954780"/>
            <a:ext cx="10012680" cy="914400"/>
          </a:xfrm>
          <a:prstGeom prst="rect">
            <a:avLst/>
          </a:prstGeom>
          <a:noFill/>
          <a:ln/>
        </p:spPr>
        <p:txBody>
          <a:bodyPr wrap="square" lIns="0" tIns="0" rIns="0" bIns="0" rtlCol="0" anchor="t"/>
          <a:lstStyle/>
          <a:p>
            <a:pPr indent="0" marL="0">
              <a:buNone/>
            </a:pPr>
            <a:r>
              <a:rPr lang="en-US" sz="2500" dirty="0">
                <a:solidFill>
                  <a:srgbClr val="252341"/>
                </a:solidFill>
                <a:latin typeface="Quicksand" pitchFamily="34" charset="0"/>
                <a:ea typeface="Quicksand" pitchFamily="34" charset="-122"/>
                <a:cs typeface="Quicksand" pitchFamily="34" charset="-120"/>
              </a:rPr>
              <a:t>Explain how a recycling camera could improve later classifications.</a:t>
            </a:r>
            <a:endParaRPr lang="en-US" sz="2500" dirty="0"/>
          </a:p>
        </p:txBody>
      </p:sp>
      <p:sp>
        <p:nvSpPr>
          <p:cNvPr id="16" name="Text 13"/>
          <p:cNvSpPr txBox="1"/>
          <p:nvPr/>
        </p:nvSpPr>
        <p:spPr>
          <a:xfrm>
            <a:off x="594360" y="5650992"/>
            <a:ext cx="10972800" cy="384048"/>
          </a:xfrm>
          <a:prstGeom prst="rect">
            <a:avLst/>
          </a:prstGeom>
          <a:noFill/>
          <a:ln/>
        </p:spPr>
        <p:txBody>
          <a:bodyPr wrap="square" lIns="0" tIns="0" rIns="0" bIns="0" rtlCol="0" anchor="t"/>
          <a:lstStyle/>
          <a:p>
            <a:pPr indent="0" marL="0">
              <a:buNone/>
            </a:pPr>
            <a:r>
              <a:rPr lang="en-US" sz="1700" b="1" dirty="0">
                <a:solidFill>
                  <a:srgbClr val="494985"/>
                </a:solidFill>
                <a:latin typeface="Quicksand" pitchFamily="34" charset="0"/>
                <a:ea typeface="Quicksand" pitchFamily="34" charset="-122"/>
                <a:cs typeface="Quicksand" pitchFamily="34" charset="-120"/>
              </a:rPr>
              <a:t>Use a relevant mechanism, rather than the phrase “it is intelligent”.</a:t>
            </a:r>
            <a:endParaRPr lang="en-US" sz="17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AF9F6"/>
        </a:solidFill>
      </p:bgPr>
    </p:bg>
    <p:spTree>
      <p:nvGrpSpPr>
        <p:cNvPr id="1" name=""/>
        <p:cNvGrpSpPr/>
        <p:nvPr/>
      </p:nvGrpSpPr>
      <p:grpSpPr>
        <a:xfrm>
          <a:off x="0" y="0"/>
          <a:ext cx="0" cy="0"/>
          <a:chOff x="0" y="0"/>
          <a:chExt cx="0" cy="0"/>
        </a:xfrm>
      </p:grpSpPr>
      <p:sp>
        <p:nvSpPr>
          <p:cNvPr id="2" name="Text 0"/>
          <p:cNvSpPr txBox="1"/>
          <p:nvPr/>
        </p:nvSpPr>
        <p:spPr>
          <a:xfrm>
            <a:off x="594360" y="301752"/>
            <a:ext cx="10424160" cy="274320"/>
          </a:xfrm>
          <a:prstGeom prst="rect">
            <a:avLst/>
          </a:prstGeom>
          <a:noFill/>
          <a:ln/>
        </p:spPr>
        <p:txBody>
          <a:bodyPr wrap="square" lIns="0" tIns="0" rIns="0" bIns="0" rtlCol="0" anchor="t"/>
          <a:lstStyle/>
          <a:p>
            <a:pPr indent="0" marL="0">
              <a:buNone/>
            </a:pPr>
            <a:r>
              <a:rPr lang="en-US" sz="1100" b="1" spc="200" kern="0" dirty="0">
                <a:solidFill>
                  <a:srgbClr val="494985"/>
                </a:solidFill>
                <a:latin typeface="Quicksand" pitchFamily="34" charset="0"/>
                <a:ea typeface="Quicksand" pitchFamily="34" charset="-122"/>
                <a:cs typeface="Quicksand" pitchFamily="34" charset="-120"/>
              </a:rPr>
              <a:t>REFERENCES</a:t>
            </a:r>
            <a:endParaRPr lang="en-US" sz="1100" dirty="0"/>
          </a:p>
        </p:txBody>
      </p:sp>
      <p:sp>
        <p:nvSpPr>
          <p:cNvPr id="3" name="Text 1"/>
          <p:cNvSpPr txBox="1"/>
          <p:nvPr/>
        </p:nvSpPr>
        <p:spPr>
          <a:xfrm>
            <a:off x="594360" y="822960"/>
            <a:ext cx="10972800" cy="640080"/>
          </a:xfrm>
          <a:prstGeom prst="rect">
            <a:avLst/>
          </a:prstGeom>
          <a:noFill/>
          <a:ln/>
        </p:spPr>
        <p:txBody>
          <a:bodyPr wrap="square" lIns="0" tIns="0" rIns="0" bIns="0" rtlCol="0" anchor="t"/>
          <a:lstStyle/>
          <a:p>
            <a:pPr indent="0" marL="0">
              <a:buNone/>
            </a:pPr>
            <a:r>
              <a:rPr lang="en-US" sz="3200" b="1" dirty="0">
                <a:solidFill>
                  <a:srgbClr val="252341"/>
                </a:solidFill>
                <a:latin typeface="Quicksand" pitchFamily="34" charset="0"/>
                <a:ea typeface="Quicksand" pitchFamily="34" charset="-122"/>
                <a:cs typeface="Quicksand" pitchFamily="34" charset="-120"/>
              </a:rPr>
              <a:t>Photographs: sources and licences</a:t>
            </a:r>
            <a:endParaRPr lang="en-US" sz="3200" dirty="0"/>
          </a:p>
        </p:txBody>
      </p:sp>
      <p:sp>
        <p:nvSpPr>
          <p:cNvPr id="4" name="Shape 2"/>
          <p:cNvSpPr/>
          <p:nvPr/>
        </p:nvSpPr>
        <p:spPr>
          <a:xfrm>
            <a:off x="594360" y="6355080"/>
            <a:ext cx="10972800" cy="0"/>
          </a:xfrm>
          <a:prstGeom prst="line">
            <a:avLst/>
          </a:prstGeom>
          <a:noFill/>
          <a:ln w="8890">
            <a:solidFill>
              <a:srgbClr val="DDDBE5"/>
            </a:solidFill>
            <a:prstDash val="solid"/>
          </a:ln>
        </p:spPr>
      </p:sp>
      <p:sp>
        <p:nvSpPr>
          <p:cNvPr id="5" name="Text 3"/>
          <p:cNvSpPr txBox="1"/>
          <p:nvPr/>
        </p:nvSpPr>
        <p:spPr>
          <a:xfrm>
            <a:off x="594360" y="6473952"/>
            <a:ext cx="5486400" cy="164592"/>
          </a:xfrm>
          <a:prstGeom prst="rect">
            <a:avLst/>
          </a:prstGeom>
          <a:noFill/>
          <a:ln/>
        </p:spPr>
        <p:txBody>
          <a:bodyPr wrap="square" lIns="0" tIns="0" rIns="0" bIns="0" rtlCol="0" anchor="t"/>
          <a:lstStyle/>
          <a:p>
            <a:pPr indent="0" marL="0">
              <a:buNone/>
            </a:pPr>
            <a:r>
              <a:rPr lang="en-US" sz="800" dirty="0">
                <a:solidFill>
                  <a:srgbClr val="777584"/>
                </a:solidFill>
                <a:latin typeface="Quicksand" pitchFamily="34" charset="0"/>
                <a:ea typeface="Quicksand" pitchFamily="34" charset="-122"/>
                <a:cs typeface="Quicksand" pitchFamily="34" charset="-120"/>
              </a:rPr>
              <a:t>IGCSE 0478  /  ARTIFICIAL INTELLIGENCE</a:t>
            </a:r>
            <a:endParaRPr lang="en-US" sz="800" dirty="0"/>
          </a:p>
        </p:txBody>
      </p:sp>
      <p:sp>
        <p:nvSpPr>
          <p:cNvPr id="6" name="Text 4"/>
          <p:cNvSpPr txBox="1"/>
          <p:nvPr/>
        </p:nvSpPr>
        <p:spPr>
          <a:xfrm>
            <a:off x="11018520" y="6419088"/>
            <a:ext cx="530352" cy="228600"/>
          </a:xfrm>
          <a:prstGeom prst="rect">
            <a:avLst/>
          </a:prstGeom>
          <a:noFill/>
          <a:ln/>
        </p:spPr>
        <p:txBody>
          <a:bodyPr wrap="square" lIns="0" tIns="0" rIns="0" bIns="0" rtlCol="0" anchor="t"/>
          <a:lstStyle/>
          <a:p>
            <a:pPr algn="r" indent="0" marL="0">
              <a:buNone/>
            </a:pPr>
            <a:r>
              <a:rPr lang="en-US" sz="1100" dirty="0">
                <a:solidFill>
                  <a:srgbClr val="777584"/>
                </a:solidFill>
                <a:latin typeface="Quicksand" pitchFamily="34" charset="0"/>
                <a:ea typeface="Quicksand" pitchFamily="34" charset="-122"/>
                <a:cs typeface="Quicksand" pitchFamily="34" charset="-120"/>
              </a:rPr>
              <a:t>38</a:t>
            </a:r>
            <a:endParaRPr lang="en-US" sz="1100" dirty="0"/>
          </a:p>
        </p:txBody>
      </p:sp>
      <p:sp>
        <p:nvSpPr>
          <p:cNvPr id="8" name="Text 5"/>
          <p:cNvSpPr txBox="1"/>
          <p:nvPr/>
        </p:nvSpPr>
        <p:spPr>
          <a:xfrm>
            <a:off x="594360" y="1691640"/>
            <a:ext cx="10972800" cy="256032"/>
          </a:xfrm>
          <a:prstGeom prst="rect">
            <a:avLst/>
          </a:prstGeom>
          <a:noFill/>
          <a:ln/>
        </p:spPr>
        <p:txBody>
          <a:bodyPr wrap="square" lIns="0" tIns="0" rIns="0" bIns="0" rtlCol="0" anchor="t"/>
          <a:lstStyle/>
          <a:p>
            <a:pPr indent="0" marL="0">
              <a:buNone/>
            </a:pPr>
            <a:r>
              <a:rPr lang="en-US" sz="1300" b="1" dirty="0">
                <a:solidFill>
                  <a:srgbClr val="494985"/>
                </a:solidFill>
                <a:latin typeface="Quicksand" pitchFamily="34" charset="0"/>
                <a:ea typeface="Quicksand" pitchFamily="34" charset="-122"/>
                <a:cs typeface="Quicksand" pitchFamily="34" charset="-120"/>
              </a:rPr>
              <a:t>DELIVERY · Q0ywo · CC BY-SA 4.0</a:t>
            </a:r>
            <a:endParaRPr lang="en-US" sz="1300" dirty="0"/>
          </a:p>
        </p:txBody>
      </p:sp>
      <p:sp>
        <p:nvSpPr>
          <p:cNvPr id="9" name="Text 6">
            <a:hlinkClick r:id="rId1" tooltip=""/>
          </p:cNvPr>
          <p:cNvSpPr txBox="1"/>
          <p:nvPr/>
        </p:nvSpPr>
        <p:spPr>
          <a:xfrm>
            <a:off x="594360" y="1965960"/>
            <a:ext cx="10972800" cy="192024"/>
          </a:xfrm>
          <a:prstGeom prst="rect">
            <a:avLst/>
          </a:prstGeom>
          <a:noFill/>
          <a:ln/>
        </p:spPr>
        <p:txBody>
          <a:bodyPr wrap="square" lIns="0" tIns="0" rIns="0" bIns="0" rtlCol="0" anchor="t"/>
          <a:lstStyle/>
          <a:p>
            <a:pPr indent="0" marL="0">
              <a:buNone/>
            </a:pPr>
            <a:r>
              <a:rPr lang="en-US" sz="800" u="sng" dirty="0">
                <a:solidFill>
                  <a:srgbClr val="777584"/>
                </a:solidFill>
                <a:latin typeface="Quicksand" pitchFamily="34" charset="0"/>
                <a:ea typeface="Quicksand" pitchFamily="34" charset="-122"/>
                <a:cs typeface="Quicksand" pitchFamily="34" charset="-120"/>
                <a:hlinkClick r:id="rId1" invalidUrl="" action="" tgtFrame="" tooltip="" history="1" highlightClick="0" endSnd="0">
                  <a:extLst>
                    <a:ext uri="{A12FA001-AC4F-418D-AE19-62706E023703}">
                      <ahyp:hlinkClr xmlns:ahyp="http://schemas.microsoft.com/office/drawing/2018/hyperlinkcolor" val="tx"/>
                    </a:ext>
                  </a:extLst>
                </a:hlinkClick>
              </a:rPr>
              <a:t>https://commons.wikimedia.org/wiki/File:Alepa_delivery_robot.jpg</a:t>
            </a:r>
            <a:endParaRPr lang="en-US" sz="800" dirty="0"/>
          </a:p>
        </p:txBody>
      </p:sp>
      <p:sp>
        <p:nvSpPr>
          <p:cNvPr id="10" name="Text 7">
            <a:hlinkClick r:id="rId2" tooltip=""/>
          </p:cNvPr>
          <p:cNvSpPr txBox="1"/>
          <p:nvPr/>
        </p:nvSpPr>
        <p:spPr>
          <a:xfrm>
            <a:off x="594360" y="2167128"/>
            <a:ext cx="10972800" cy="173736"/>
          </a:xfrm>
          <a:prstGeom prst="rect">
            <a:avLst/>
          </a:prstGeom>
          <a:noFill/>
          <a:ln/>
        </p:spPr>
        <p:txBody>
          <a:bodyPr wrap="square" lIns="0" tIns="0" rIns="0" bIns="0" rtlCol="0" anchor="t"/>
          <a:lstStyle/>
          <a:p>
            <a:pPr indent="0" marL="0">
              <a:buNone/>
            </a:pPr>
            <a:r>
              <a:rPr lang="en-US" sz="800" u="sng" dirty="0">
                <a:solidFill>
                  <a:srgbClr val="777584"/>
                </a:solidFill>
                <a:latin typeface="Quicksand" pitchFamily="34" charset="0"/>
                <a:ea typeface="Quicksand" pitchFamily="34" charset="-122"/>
                <a:cs typeface="Quicksand"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https://creativecommons.org/licenses/by-sa/4.0/</a:t>
            </a:r>
            <a:endParaRPr lang="en-US" sz="800" dirty="0"/>
          </a:p>
        </p:txBody>
      </p:sp>
      <p:sp>
        <p:nvSpPr>
          <p:cNvPr id="11" name="Text 8"/>
          <p:cNvSpPr txBox="1"/>
          <p:nvPr/>
        </p:nvSpPr>
        <p:spPr>
          <a:xfrm>
            <a:off x="594360" y="2404872"/>
            <a:ext cx="10972800" cy="256032"/>
          </a:xfrm>
          <a:prstGeom prst="rect">
            <a:avLst/>
          </a:prstGeom>
          <a:noFill/>
          <a:ln/>
        </p:spPr>
        <p:txBody>
          <a:bodyPr wrap="square" lIns="0" tIns="0" rIns="0" bIns="0" rtlCol="0" anchor="t"/>
          <a:lstStyle/>
          <a:p>
            <a:pPr indent="0" marL="0">
              <a:buNone/>
            </a:pPr>
            <a:r>
              <a:rPr lang="en-US" sz="1300" b="1" dirty="0">
                <a:solidFill>
                  <a:srgbClr val="494985"/>
                </a:solidFill>
                <a:latin typeface="Quicksand" pitchFamily="34" charset="0"/>
                <a:ea typeface="Quicksand" pitchFamily="34" charset="-122"/>
                <a:cs typeface="Quicksand" pitchFamily="34" charset="-120"/>
              </a:rPr>
              <a:t>FACTORY · Mixabest · CC BY-SA 3.0</a:t>
            </a:r>
            <a:endParaRPr lang="en-US" sz="1300" dirty="0"/>
          </a:p>
        </p:txBody>
      </p:sp>
      <p:sp>
        <p:nvSpPr>
          <p:cNvPr id="12" name="Text 9">
            <a:hlinkClick r:id="rId3" tooltip=""/>
          </p:cNvPr>
          <p:cNvSpPr txBox="1"/>
          <p:nvPr/>
        </p:nvSpPr>
        <p:spPr>
          <a:xfrm>
            <a:off x="594360" y="2679192"/>
            <a:ext cx="10972800" cy="192024"/>
          </a:xfrm>
          <a:prstGeom prst="rect">
            <a:avLst/>
          </a:prstGeom>
          <a:noFill/>
          <a:ln/>
        </p:spPr>
        <p:txBody>
          <a:bodyPr wrap="square" lIns="0" tIns="0" rIns="0" bIns="0" rtlCol="0" anchor="t"/>
          <a:lstStyle/>
          <a:p>
            <a:pPr indent="0" marL="0">
              <a:buNone/>
            </a:pPr>
            <a:r>
              <a:rPr lang="en-US" sz="800" u="sng" dirty="0">
                <a:solidFill>
                  <a:srgbClr val="777584"/>
                </a:solidFill>
                <a:latin typeface="Quicksand" pitchFamily="34" charset="0"/>
                <a:ea typeface="Quicksand" pitchFamily="34" charset="-122"/>
                <a:cs typeface="Quicksand"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https://commons.wikimedia.org/wiki/File:KUKA_Industrial_Robots_IR.jpg</a:t>
            </a:r>
            <a:endParaRPr lang="en-US" sz="800" dirty="0"/>
          </a:p>
        </p:txBody>
      </p:sp>
      <p:sp>
        <p:nvSpPr>
          <p:cNvPr id="13" name="Text 10">
            <a:hlinkClick r:id="rId4" tooltip=""/>
          </p:cNvPr>
          <p:cNvSpPr txBox="1"/>
          <p:nvPr/>
        </p:nvSpPr>
        <p:spPr>
          <a:xfrm>
            <a:off x="594360" y="2880360"/>
            <a:ext cx="10972800" cy="173736"/>
          </a:xfrm>
          <a:prstGeom prst="rect">
            <a:avLst/>
          </a:prstGeom>
          <a:noFill/>
          <a:ln/>
        </p:spPr>
        <p:txBody>
          <a:bodyPr wrap="square" lIns="0" tIns="0" rIns="0" bIns="0" rtlCol="0" anchor="t"/>
          <a:lstStyle/>
          <a:p>
            <a:pPr indent="0" marL="0">
              <a:buNone/>
            </a:pPr>
            <a:r>
              <a:rPr lang="en-US" sz="800" u="sng" dirty="0">
                <a:solidFill>
                  <a:srgbClr val="777584"/>
                </a:solidFill>
                <a:latin typeface="Quicksand" pitchFamily="34" charset="0"/>
                <a:ea typeface="Quicksand" pitchFamily="34" charset="-122"/>
                <a:cs typeface="Quicksand"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https://creativecommons.org/licenses/by-sa/3.0/</a:t>
            </a:r>
            <a:endParaRPr lang="en-US" sz="800" dirty="0"/>
          </a:p>
        </p:txBody>
      </p:sp>
      <p:sp>
        <p:nvSpPr>
          <p:cNvPr id="14" name="Text 11"/>
          <p:cNvSpPr txBox="1"/>
          <p:nvPr/>
        </p:nvSpPr>
        <p:spPr>
          <a:xfrm>
            <a:off x="594360" y="3118104"/>
            <a:ext cx="10972800" cy="256032"/>
          </a:xfrm>
          <a:prstGeom prst="rect">
            <a:avLst/>
          </a:prstGeom>
          <a:noFill/>
          <a:ln/>
        </p:spPr>
        <p:txBody>
          <a:bodyPr wrap="square" lIns="0" tIns="0" rIns="0" bIns="0" rtlCol="0" anchor="t"/>
          <a:lstStyle/>
          <a:p>
            <a:pPr indent="0" marL="0">
              <a:buNone/>
            </a:pPr>
            <a:r>
              <a:rPr lang="en-US" sz="1300" b="1" dirty="0">
                <a:solidFill>
                  <a:srgbClr val="494985"/>
                </a:solidFill>
                <a:latin typeface="Quicksand" pitchFamily="34" charset="0"/>
                <a:ea typeface="Quicksand" pitchFamily="34" charset="-122"/>
                <a:cs typeface="Quicksand" pitchFamily="34" charset="-120"/>
              </a:rPr>
              <a:t>WASHING · zzpza · CC BY 2.0</a:t>
            </a:r>
            <a:endParaRPr lang="en-US" sz="1300" dirty="0"/>
          </a:p>
        </p:txBody>
      </p:sp>
      <p:sp>
        <p:nvSpPr>
          <p:cNvPr id="15" name="Text 12">
            <a:hlinkClick r:id="rId5" tooltip=""/>
          </p:cNvPr>
          <p:cNvSpPr txBox="1"/>
          <p:nvPr/>
        </p:nvSpPr>
        <p:spPr>
          <a:xfrm>
            <a:off x="594360" y="3392424"/>
            <a:ext cx="10972800" cy="192024"/>
          </a:xfrm>
          <a:prstGeom prst="rect">
            <a:avLst/>
          </a:prstGeom>
          <a:noFill/>
          <a:ln/>
        </p:spPr>
        <p:txBody>
          <a:bodyPr wrap="square" lIns="0" tIns="0" rIns="0" bIns="0" rtlCol="0" anchor="t"/>
          <a:lstStyle/>
          <a:p>
            <a:pPr indent="0" marL="0">
              <a:buNone/>
            </a:pPr>
            <a:r>
              <a:rPr lang="en-US" sz="800" u="sng" dirty="0">
                <a:solidFill>
                  <a:srgbClr val="777584"/>
                </a:solidFill>
                <a:latin typeface="Quicksand" pitchFamily="34" charset="0"/>
                <a:ea typeface="Quicksand" pitchFamily="34" charset="-122"/>
                <a:cs typeface="Quicksand"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https://commons.wikimedia.org/wiki/File:Washing_Machine_Beko.jpg</a:t>
            </a:r>
            <a:endParaRPr lang="en-US" sz="800" dirty="0"/>
          </a:p>
        </p:txBody>
      </p:sp>
      <p:sp>
        <p:nvSpPr>
          <p:cNvPr id="16" name="Text 13">
            <a:hlinkClick r:id="rId6" tooltip=""/>
          </p:cNvPr>
          <p:cNvSpPr txBox="1"/>
          <p:nvPr/>
        </p:nvSpPr>
        <p:spPr>
          <a:xfrm>
            <a:off x="594360" y="3593592"/>
            <a:ext cx="10972800" cy="173736"/>
          </a:xfrm>
          <a:prstGeom prst="rect">
            <a:avLst/>
          </a:prstGeom>
          <a:noFill/>
          <a:ln/>
        </p:spPr>
        <p:txBody>
          <a:bodyPr wrap="square" lIns="0" tIns="0" rIns="0" bIns="0" rtlCol="0" anchor="t"/>
          <a:lstStyle/>
          <a:p>
            <a:pPr indent="0" marL="0">
              <a:buNone/>
            </a:pPr>
            <a:r>
              <a:rPr lang="en-US" sz="800" u="sng" dirty="0">
                <a:solidFill>
                  <a:srgbClr val="777584"/>
                </a:solidFill>
                <a:latin typeface="Quicksand" pitchFamily="34" charset="0"/>
                <a:ea typeface="Quicksand" pitchFamily="34" charset="-122"/>
                <a:cs typeface="Quicksand"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https://creativecommons.org/licenses/by/2.0/</a:t>
            </a:r>
            <a:endParaRPr lang="en-US" sz="800" dirty="0"/>
          </a:p>
        </p:txBody>
      </p:sp>
      <p:sp>
        <p:nvSpPr>
          <p:cNvPr id="17" name="Text 14"/>
          <p:cNvSpPr txBox="1"/>
          <p:nvPr/>
        </p:nvSpPr>
        <p:spPr>
          <a:xfrm>
            <a:off x="594360" y="3831336"/>
            <a:ext cx="10972800" cy="256032"/>
          </a:xfrm>
          <a:prstGeom prst="rect">
            <a:avLst/>
          </a:prstGeom>
          <a:noFill/>
          <a:ln/>
        </p:spPr>
        <p:txBody>
          <a:bodyPr wrap="square" lIns="0" tIns="0" rIns="0" bIns="0" rtlCol="0" anchor="t"/>
          <a:lstStyle/>
          <a:p>
            <a:pPr indent="0" marL="0">
              <a:buNone/>
            </a:pPr>
            <a:r>
              <a:rPr lang="en-US" sz="1300" b="1" dirty="0">
                <a:solidFill>
                  <a:srgbClr val="494985"/>
                </a:solidFill>
                <a:latin typeface="Quicksand" pitchFamily="34" charset="0"/>
                <a:ea typeface="Quicksand" pitchFamily="34" charset="-122"/>
                <a:cs typeface="Quicksand" pitchFamily="34" charset="-120"/>
              </a:rPr>
              <a:t>CAR · Grendelkhan · CC BY-SA 4.0</a:t>
            </a:r>
            <a:endParaRPr lang="en-US" sz="1300" dirty="0"/>
          </a:p>
        </p:txBody>
      </p:sp>
      <p:sp>
        <p:nvSpPr>
          <p:cNvPr id="18" name="Text 15">
            <a:hlinkClick r:id="rId7" tooltip=""/>
          </p:cNvPr>
          <p:cNvSpPr txBox="1"/>
          <p:nvPr/>
        </p:nvSpPr>
        <p:spPr>
          <a:xfrm>
            <a:off x="594360" y="4105656"/>
            <a:ext cx="10972800" cy="192024"/>
          </a:xfrm>
          <a:prstGeom prst="rect">
            <a:avLst/>
          </a:prstGeom>
          <a:noFill/>
          <a:ln/>
        </p:spPr>
        <p:txBody>
          <a:bodyPr wrap="square" lIns="0" tIns="0" rIns="0" bIns="0" rtlCol="0" anchor="t"/>
          <a:lstStyle/>
          <a:p>
            <a:pPr indent="0" marL="0">
              <a:buNone/>
            </a:pPr>
            <a:r>
              <a:rPr lang="en-US" sz="800" u="sng" dirty="0">
                <a:solidFill>
                  <a:srgbClr val="777584"/>
                </a:solidFill>
                <a:latin typeface="Quicksand" pitchFamily="34" charset="0"/>
                <a:ea typeface="Quicksand" pitchFamily="34" charset="-122"/>
                <a:cs typeface="Quicksand"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https://commons.wikimedia.org/wiki/File:Waymo_self-driving_car_front_view.gk.jpg</a:t>
            </a:r>
            <a:endParaRPr lang="en-US" sz="800" dirty="0"/>
          </a:p>
        </p:txBody>
      </p:sp>
      <p:sp>
        <p:nvSpPr>
          <p:cNvPr id="19" name="Text 16">
            <a:hlinkClick r:id="rId8" tooltip=""/>
          </p:cNvPr>
          <p:cNvSpPr txBox="1"/>
          <p:nvPr/>
        </p:nvSpPr>
        <p:spPr>
          <a:xfrm>
            <a:off x="594360" y="4306824"/>
            <a:ext cx="10972800" cy="173736"/>
          </a:xfrm>
          <a:prstGeom prst="rect">
            <a:avLst/>
          </a:prstGeom>
          <a:noFill/>
          <a:ln/>
        </p:spPr>
        <p:txBody>
          <a:bodyPr wrap="square" lIns="0" tIns="0" rIns="0" bIns="0" rtlCol="0" anchor="t"/>
          <a:lstStyle/>
          <a:p>
            <a:pPr indent="0" marL="0">
              <a:buNone/>
            </a:pPr>
            <a:r>
              <a:rPr lang="en-US" sz="800" u="sng" dirty="0">
                <a:solidFill>
                  <a:srgbClr val="777584"/>
                </a:solidFill>
                <a:latin typeface="Quicksand" pitchFamily="34" charset="0"/>
                <a:ea typeface="Quicksand" pitchFamily="34" charset="-122"/>
                <a:cs typeface="Quicksand"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https://creativecommons.org/licenses/by-sa/4.0/</a:t>
            </a:r>
            <a:endParaRPr lang="en-US" sz="800" dirty="0"/>
          </a:p>
        </p:txBody>
      </p:sp>
      <p:sp>
        <p:nvSpPr>
          <p:cNvPr id="20" name="Text 17"/>
          <p:cNvSpPr txBox="1"/>
          <p:nvPr/>
        </p:nvSpPr>
        <p:spPr>
          <a:xfrm>
            <a:off x="594360" y="4544568"/>
            <a:ext cx="10972800" cy="256032"/>
          </a:xfrm>
          <a:prstGeom prst="rect">
            <a:avLst/>
          </a:prstGeom>
          <a:noFill/>
          <a:ln/>
        </p:spPr>
        <p:txBody>
          <a:bodyPr wrap="square" lIns="0" tIns="0" rIns="0" bIns="0" rtlCol="0" anchor="t"/>
          <a:lstStyle/>
          <a:p>
            <a:pPr indent="0" marL="0">
              <a:buNone/>
            </a:pPr>
            <a:r>
              <a:rPr lang="en-US" sz="1300" b="1" dirty="0">
                <a:solidFill>
                  <a:srgbClr val="494985"/>
                </a:solidFill>
                <a:latin typeface="Quicksand" pitchFamily="34" charset="0"/>
                <a:ea typeface="Quicksand" pitchFamily="34" charset="-122"/>
                <a:cs typeface="Quicksand" pitchFamily="34" charset="-120"/>
              </a:rPr>
              <a:t>CHESS · Jorge Royan · CC BY-SA 3.0</a:t>
            </a:r>
            <a:endParaRPr lang="en-US" sz="1300" dirty="0"/>
          </a:p>
        </p:txBody>
      </p:sp>
      <p:sp>
        <p:nvSpPr>
          <p:cNvPr id="21" name="Text 18">
            <a:hlinkClick r:id="rId9" tooltip=""/>
          </p:cNvPr>
          <p:cNvSpPr txBox="1"/>
          <p:nvPr/>
        </p:nvSpPr>
        <p:spPr>
          <a:xfrm>
            <a:off x="594360" y="4818888"/>
            <a:ext cx="10972800" cy="192024"/>
          </a:xfrm>
          <a:prstGeom prst="rect">
            <a:avLst/>
          </a:prstGeom>
          <a:noFill/>
          <a:ln/>
        </p:spPr>
        <p:txBody>
          <a:bodyPr wrap="square" lIns="0" tIns="0" rIns="0" bIns="0" rtlCol="0" anchor="t"/>
          <a:lstStyle/>
          <a:p>
            <a:pPr indent="0" marL="0">
              <a:buNone/>
            </a:pPr>
            <a:r>
              <a:rPr lang="en-US" sz="800" u="sng" dirty="0">
                <a:solidFill>
                  <a:srgbClr val="777584"/>
                </a:solidFill>
                <a:latin typeface="Quicksand" pitchFamily="34" charset="0"/>
                <a:ea typeface="Quicksand" pitchFamily="34" charset="-122"/>
                <a:cs typeface="Quicksand"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https://commons.wikimedia.org/wiki/File:Paris_-_Playing_chess_at_the_Jardins_du_Luxembourg_-_2955.jpg</a:t>
            </a:r>
            <a:endParaRPr lang="en-US" sz="800" dirty="0"/>
          </a:p>
        </p:txBody>
      </p:sp>
      <p:sp>
        <p:nvSpPr>
          <p:cNvPr id="22" name="Text 19">
            <a:hlinkClick r:id="rId10" tooltip=""/>
          </p:cNvPr>
          <p:cNvSpPr txBox="1"/>
          <p:nvPr/>
        </p:nvSpPr>
        <p:spPr>
          <a:xfrm>
            <a:off x="594360" y="5020056"/>
            <a:ext cx="10972800" cy="173736"/>
          </a:xfrm>
          <a:prstGeom prst="rect">
            <a:avLst/>
          </a:prstGeom>
          <a:noFill/>
          <a:ln/>
        </p:spPr>
        <p:txBody>
          <a:bodyPr wrap="square" lIns="0" tIns="0" rIns="0" bIns="0" rtlCol="0" anchor="t"/>
          <a:lstStyle/>
          <a:p>
            <a:pPr indent="0" marL="0">
              <a:buNone/>
            </a:pPr>
            <a:r>
              <a:rPr lang="en-US" sz="800" u="sng" dirty="0">
                <a:solidFill>
                  <a:srgbClr val="777584"/>
                </a:solidFill>
                <a:latin typeface="Quicksand" pitchFamily="34" charset="0"/>
                <a:ea typeface="Quicksand" pitchFamily="34" charset="-122"/>
                <a:cs typeface="Quicksand"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https://creativecommons.org/licenses/by-sa/3.0/</a:t>
            </a:r>
            <a:endParaRPr lang="en-US" sz="800" dirty="0"/>
          </a:p>
        </p:txBody>
      </p:sp>
      <p:sp>
        <p:nvSpPr>
          <p:cNvPr id="23" name="Text 20"/>
          <p:cNvSpPr txBox="1"/>
          <p:nvPr/>
        </p:nvSpPr>
        <p:spPr>
          <a:xfrm>
            <a:off x="594360" y="5257800"/>
            <a:ext cx="10972800" cy="256032"/>
          </a:xfrm>
          <a:prstGeom prst="rect">
            <a:avLst/>
          </a:prstGeom>
          <a:noFill/>
          <a:ln/>
        </p:spPr>
        <p:txBody>
          <a:bodyPr wrap="square" lIns="0" tIns="0" rIns="0" bIns="0" rtlCol="0" anchor="t"/>
          <a:lstStyle/>
          <a:p>
            <a:pPr indent="0" marL="0">
              <a:buNone/>
            </a:pPr>
            <a:r>
              <a:rPr lang="en-US" sz="1300" b="1" dirty="0">
                <a:solidFill>
                  <a:srgbClr val="494985"/>
                </a:solidFill>
                <a:latin typeface="Quicksand" pitchFamily="34" charset="0"/>
                <a:ea typeface="Quicksand" pitchFamily="34" charset="-122"/>
                <a:cs typeface="Quicksand" pitchFamily="34" charset="-120"/>
              </a:rPr>
              <a:t>GARAGE · ANT Berezhnyi · CC BY 3.0</a:t>
            </a:r>
            <a:endParaRPr lang="en-US" sz="1300" dirty="0"/>
          </a:p>
        </p:txBody>
      </p:sp>
      <p:sp>
        <p:nvSpPr>
          <p:cNvPr id="24" name="Text 21">
            <a:hlinkClick r:id="rId11" tooltip=""/>
          </p:cNvPr>
          <p:cNvSpPr txBox="1"/>
          <p:nvPr/>
        </p:nvSpPr>
        <p:spPr>
          <a:xfrm>
            <a:off x="594360" y="5532120"/>
            <a:ext cx="10972800" cy="192024"/>
          </a:xfrm>
          <a:prstGeom prst="rect">
            <a:avLst/>
          </a:prstGeom>
          <a:noFill/>
          <a:ln/>
        </p:spPr>
        <p:txBody>
          <a:bodyPr wrap="square" lIns="0" tIns="0" rIns="0" bIns="0" rtlCol="0" anchor="t"/>
          <a:lstStyle/>
          <a:p>
            <a:pPr indent="0" marL="0">
              <a:buNone/>
            </a:pPr>
            <a:r>
              <a:rPr lang="en-US" sz="800" u="sng" dirty="0">
                <a:solidFill>
                  <a:srgbClr val="777584"/>
                </a:solidFill>
                <a:latin typeface="Quicksand" pitchFamily="34" charset="0"/>
                <a:ea typeface="Quicksand" pitchFamily="34" charset="-122"/>
                <a:cs typeface="Quicksand"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https://commons.wikimedia.org/wiki/File:Chery_A1_-_service_shop_in_Ukraine_%287%29.jpg</a:t>
            </a:r>
            <a:endParaRPr lang="en-US" sz="800" dirty="0"/>
          </a:p>
        </p:txBody>
      </p:sp>
      <p:sp>
        <p:nvSpPr>
          <p:cNvPr id="25" name="Text 22">
            <a:hlinkClick r:id="rId12" tooltip=""/>
          </p:cNvPr>
          <p:cNvSpPr txBox="1"/>
          <p:nvPr/>
        </p:nvSpPr>
        <p:spPr>
          <a:xfrm>
            <a:off x="594360" y="5733288"/>
            <a:ext cx="10972800" cy="173736"/>
          </a:xfrm>
          <a:prstGeom prst="rect">
            <a:avLst/>
          </a:prstGeom>
          <a:noFill/>
          <a:ln/>
        </p:spPr>
        <p:txBody>
          <a:bodyPr wrap="square" lIns="0" tIns="0" rIns="0" bIns="0" rtlCol="0" anchor="t"/>
          <a:lstStyle/>
          <a:p>
            <a:pPr indent="0" marL="0">
              <a:buNone/>
            </a:pPr>
            <a:r>
              <a:rPr lang="en-US" sz="800" u="sng" dirty="0">
                <a:solidFill>
                  <a:srgbClr val="777584"/>
                </a:solidFill>
                <a:latin typeface="Quicksand" pitchFamily="34" charset="0"/>
                <a:ea typeface="Quicksand" pitchFamily="34" charset="-122"/>
                <a:cs typeface="Quicksand"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https://creativecommons.org/licenses/by/3.0/</a:t>
            </a:r>
            <a:endParaRPr lang="en-US" sz="8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AF9F6"/>
        </a:solidFill>
      </p:bgPr>
    </p:bg>
    <p:spTree>
      <p:nvGrpSpPr>
        <p:cNvPr id="1" name=""/>
        <p:cNvGrpSpPr/>
        <p:nvPr/>
      </p:nvGrpSpPr>
      <p:grpSpPr>
        <a:xfrm>
          <a:off x="0" y="0"/>
          <a:ext cx="0" cy="0"/>
          <a:chOff x="0" y="0"/>
          <a:chExt cx="0" cy="0"/>
        </a:xfrm>
      </p:grpSpPr>
      <p:sp>
        <p:nvSpPr>
          <p:cNvPr id="2" name="Text 0"/>
          <p:cNvSpPr txBox="1"/>
          <p:nvPr/>
        </p:nvSpPr>
        <p:spPr>
          <a:xfrm>
            <a:off x="594360" y="301752"/>
            <a:ext cx="10424160" cy="274320"/>
          </a:xfrm>
          <a:prstGeom prst="rect">
            <a:avLst/>
          </a:prstGeom>
          <a:noFill/>
          <a:ln/>
        </p:spPr>
        <p:txBody>
          <a:bodyPr wrap="square" lIns="0" tIns="0" rIns="0" bIns="0" rtlCol="0" anchor="t"/>
          <a:lstStyle/>
          <a:p>
            <a:pPr indent="0" marL="0">
              <a:buNone/>
            </a:pPr>
            <a:r>
              <a:rPr lang="en-US" sz="1100" b="1" spc="200" kern="0" dirty="0">
                <a:solidFill>
                  <a:srgbClr val="494985"/>
                </a:solidFill>
                <a:latin typeface="Quicksand" pitchFamily="34" charset="0"/>
                <a:ea typeface="Quicksand" pitchFamily="34" charset="-122"/>
                <a:cs typeface="Quicksand" pitchFamily="34" charset="-120"/>
              </a:rPr>
              <a:t>REFERENCES</a:t>
            </a:r>
            <a:endParaRPr lang="en-US" sz="1100" dirty="0"/>
          </a:p>
        </p:txBody>
      </p:sp>
      <p:sp>
        <p:nvSpPr>
          <p:cNvPr id="3" name="Text 1"/>
          <p:cNvSpPr txBox="1"/>
          <p:nvPr/>
        </p:nvSpPr>
        <p:spPr>
          <a:xfrm>
            <a:off x="594360" y="822960"/>
            <a:ext cx="10972800" cy="640080"/>
          </a:xfrm>
          <a:prstGeom prst="rect">
            <a:avLst/>
          </a:prstGeom>
          <a:noFill/>
          <a:ln/>
        </p:spPr>
        <p:txBody>
          <a:bodyPr wrap="square" lIns="0" tIns="0" rIns="0" bIns="0" rtlCol="0" anchor="t"/>
          <a:lstStyle/>
          <a:p>
            <a:pPr indent="0" marL="0">
              <a:buNone/>
            </a:pPr>
            <a:r>
              <a:rPr lang="en-US" sz="3200" b="1" dirty="0">
                <a:solidFill>
                  <a:srgbClr val="252341"/>
                </a:solidFill>
                <a:latin typeface="Quicksand" pitchFamily="34" charset="0"/>
                <a:ea typeface="Quicksand" pitchFamily="34" charset="-122"/>
                <a:cs typeface="Quicksand" pitchFamily="34" charset="-120"/>
              </a:rPr>
              <a:t>Photographs: sources and licences</a:t>
            </a:r>
            <a:endParaRPr lang="en-US" sz="3200" dirty="0"/>
          </a:p>
        </p:txBody>
      </p:sp>
      <p:sp>
        <p:nvSpPr>
          <p:cNvPr id="4" name="Shape 2"/>
          <p:cNvSpPr/>
          <p:nvPr/>
        </p:nvSpPr>
        <p:spPr>
          <a:xfrm>
            <a:off x="594360" y="6355080"/>
            <a:ext cx="10972800" cy="0"/>
          </a:xfrm>
          <a:prstGeom prst="line">
            <a:avLst/>
          </a:prstGeom>
          <a:noFill/>
          <a:ln w="8890">
            <a:solidFill>
              <a:srgbClr val="DDDBE5"/>
            </a:solidFill>
            <a:prstDash val="solid"/>
          </a:ln>
        </p:spPr>
      </p:sp>
      <p:sp>
        <p:nvSpPr>
          <p:cNvPr id="5" name="Text 3"/>
          <p:cNvSpPr txBox="1"/>
          <p:nvPr/>
        </p:nvSpPr>
        <p:spPr>
          <a:xfrm>
            <a:off x="594360" y="6473952"/>
            <a:ext cx="5486400" cy="164592"/>
          </a:xfrm>
          <a:prstGeom prst="rect">
            <a:avLst/>
          </a:prstGeom>
          <a:noFill/>
          <a:ln/>
        </p:spPr>
        <p:txBody>
          <a:bodyPr wrap="square" lIns="0" tIns="0" rIns="0" bIns="0" rtlCol="0" anchor="t"/>
          <a:lstStyle/>
          <a:p>
            <a:pPr indent="0" marL="0">
              <a:buNone/>
            </a:pPr>
            <a:r>
              <a:rPr lang="en-US" sz="800" dirty="0">
                <a:solidFill>
                  <a:srgbClr val="777584"/>
                </a:solidFill>
                <a:latin typeface="Quicksand" pitchFamily="34" charset="0"/>
                <a:ea typeface="Quicksand" pitchFamily="34" charset="-122"/>
                <a:cs typeface="Quicksand" pitchFamily="34" charset="-120"/>
              </a:rPr>
              <a:t>IGCSE 0478  /  ARTIFICIAL INTELLIGENCE</a:t>
            </a:r>
            <a:endParaRPr lang="en-US" sz="800" dirty="0"/>
          </a:p>
        </p:txBody>
      </p:sp>
      <p:sp>
        <p:nvSpPr>
          <p:cNvPr id="6" name="Text 4"/>
          <p:cNvSpPr txBox="1"/>
          <p:nvPr/>
        </p:nvSpPr>
        <p:spPr>
          <a:xfrm>
            <a:off x="11018520" y="6419088"/>
            <a:ext cx="530352" cy="228600"/>
          </a:xfrm>
          <a:prstGeom prst="rect">
            <a:avLst/>
          </a:prstGeom>
          <a:noFill/>
          <a:ln/>
        </p:spPr>
        <p:txBody>
          <a:bodyPr wrap="square" lIns="0" tIns="0" rIns="0" bIns="0" rtlCol="0" anchor="t"/>
          <a:lstStyle/>
          <a:p>
            <a:pPr algn="r" indent="0" marL="0">
              <a:buNone/>
            </a:pPr>
            <a:r>
              <a:rPr lang="en-US" sz="1100" dirty="0">
                <a:solidFill>
                  <a:srgbClr val="777584"/>
                </a:solidFill>
                <a:latin typeface="Quicksand" pitchFamily="34" charset="0"/>
                <a:ea typeface="Quicksand" pitchFamily="34" charset="-122"/>
                <a:cs typeface="Quicksand" pitchFamily="34" charset="-120"/>
              </a:rPr>
              <a:t>39</a:t>
            </a:r>
            <a:endParaRPr lang="en-US" sz="1100" dirty="0"/>
          </a:p>
        </p:txBody>
      </p:sp>
      <p:sp>
        <p:nvSpPr>
          <p:cNvPr id="8" name="Text 5"/>
          <p:cNvSpPr txBox="1"/>
          <p:nvPr/>
        </p:nvSpPr>
        <p:spPr>
          <a:xfrm>
            <a:off x="594360" y="1691640"/>
            <a:ext cx="10972800" cy="256032"/>
          </a:xfrm>
          <a:prstGeom prst="rect">
            <a:avLst/>
          </a:prstGeom>
          <a:noFill/>
          <a:ln/>
        </p:spPr>
        <p:txBody>
          <a:bodyPr wrap="square" lIns="0" tIns="0" rIns="0" bIns="0" rtlCol="0" anchor="t"/>
          <a:lstStyle/>
          <a:p>
            <a:pPr indent="0" marL="0">
              <a:buNone/>
            </a:pPr>
            <a:r>
              <a:rPr lang="en-US" sz="1300" b="1" dirty="0">
                <a:solidFill>
                  <a:srgbClr val="494985"/>
                </a:solidFill>
                <a:latin typeface="Quicksand" pitchFamily="34" charset="0"/>
                <a:ea typeface="Quicksand" pitchFamily="34" charset="-122"/>
                <a:cs typeface="Quicksand" pitchFamily="34" charset="-120"/>
              </a:rPr>
              <a:t>PRINTER · Kskhh · CC BY-SA 4.0</a:t>
            </a:r>
            <a:endParaRPr lang="en-US" sz="1300" dirty="0"/>
          </a:p>
        </p:txBody>
      </p:sp>
      <p:sp>
        <p:nvSpPr>
          <p:cNvPr id="9" name="Text 6">
            <a:hlinkClick r:id="rId1" tooltip=""/>
          </p:cNvPr>
          <p:cNvSpPr txBox="1"/>
          <p:nvPr/>
        </p:nvSpPr>
        <p:spPr>
          <a:xfrm>
            <a:off x="594360" y="1965960"/>
            <a:ext cx="10972800" cy="192024"/>
          </a:xfrm>
          <a:prstGeom prst="rect">
            <a:avLst/>
          </a:prstGeom>
          <a:noFill/>
          <a:ln/>
        </p:spPr>
        <p:txBody>
          <a:bodyPr wrap="square" lIns="0" tIns="0" rIns="0" bIns="0" rtlCol="0" anchor="t"/>
          <a:lstStyle/>
          <a:p>
            <a:pPr indent="0" marL="0">
              <a:buNone/>
            </a:pPr>
            <a:r>
              <a:rPr lang="en-US" sz="800" u="sng" dirty="0">
                <a:solidFill>
                  <a:srgbClr val="777584"/>
                </a:solidFill>
                <a:latin typeface="Quicksand" pitchFamily="34" charset="0"/>
                <a:ea typeface="Quicksand" pitchFamily="34" charset="-122"/>
                <a:cs typeface="Quicksand" pitchFamily="34" charset="-120"/>
                <a:hlinkClick r:id="rId1" invalidUrl="" action="" tgtFrame="" tooltip="" history="1" highlightClick="0" endSnd="0">
                  <a:extLst>
                    <a:ext uri="{A12FA001-AC4F-418D-AE19-62706E023703}">
                      <ahyp:hlinkClr xmlns:ahyp="http://schemas.microsoft.com/office/drawing/2018/hyperlinkcolor" val="tx"/>
                    </a:ext>
                  </a:extLst>
                </a:hlinkClick>
              </a:rPr>
              <a:t>https://commons.wikimedia.org/wiki/File:HP_DeskJet_2630_All-in-One_Printer.jpg</a:t>
            </a:r>
            <a:endParaRPr lang="en-US" sz="800" dirty="0"/>
          </a:p>
        </p:txBody>
      </p:sp>
      <p:sp>
        <p:nvSpPr>
          <p:cNvPr id="10" name="Text 7">
            <a:hlinkClick r:id="rId2" tooltip=""/>
          </p:cNvPr>
          <p:cNvSpPr txBox="1"/>
          <p:nvPr/>
        </p:nvSpPr>
        <p:spPr>
          <a:xfrm>
            <a:off x="594360" y="2167128"/>
            <a:ext cx="10972800" cy="173736"/>
          </a:xfrm>
          <a:prstGeom prst="rect">
            <a:avLst/>
          </a:prstGeom>
          <a:noFill/>
          <a:ln/>
        </p:spPr>
        <p:txBody>
          <a:bodyPr wrap="square" lIns="0" tIns="0" rIns="0" bIns="0" rtlCol="0" anchor="t"/>
          <a:lstStyle/>
          <a:p>
            <a:pPr indent="0" marL="0">
              <a:buNone/>
            </a:pPr>
            <a:r>
              <a:rPr lang="en-US" sz="800" u="sng" dirty="0">
                <a:solidFill>
                  <a:srgbClr val="777584"/>
                </a:solidFill>
                <a:latin typeface="Quicksand" pitchFamily="34" charset="0"/>
                <a:ea typeface="Quicksand" pitchFamily="34" charset="-122"/>
                <a:cs typeface="Quicksand"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https://creativecommons.org/licenses/by-sa/4.0/</a:t>
            </a:r>
            <a:endParaRPr lang="en-US" sz="800" dirty="0"/>
          </a:p>
        </p:txBody>
      </p:sp>
      <p:sp>
        <p:nvSpPr>
          <p:cNvPr id="11" name="Text 8"/>
          <p:cNvSpPr txBox="1"/>
          <p:nvPr/>
        </p:nvSpPr>
        <p:spPr>
          <a:xfrm>
            <a:off x="594360" y="2404872"/>
            <a:ext cx="10972800" cy="256032"/>
          </a:xfrm>
          <a:prstGeom prst="rect">
            <a:avLst/>
          </a:prstGeom>
          <a:noFill/>
          <a:ln/>
        </p:spPr>
        <p:txBody>
          <a:bodyPr wrap="square" lIns="0" tIns="0" rIns="0" bIns="0" rtlCol="0" anchor="t"/>
          <a:lstStyle/>
          <a:p>
            <a:pPr indent="0" marL="0">
              <a:buNone/>
            </a:pPr>
            <a:r>
              <a:rPr lang="en-US" sz="1300" b="1" dirty="0">
                <a:solidFill>
                  <a:srgbClr val="494985"/>
                </a:solidFill>
                <a:latin typeface="Quicksand" pitchFamily="34" charset="0"/>
                <a:ea typeface="Quicksand" pitchFamily="34" charset="-122"/>
                <a:cs typeface="Quicksand" pitchFamily="34" charset="-120"/>
              </a:rPr>
              <a:t>DOCTOR · University of Michigan Medical School Information Services · CC BY 2.0</a:t>
            </a:r>
            <a:endParaRPr lang="en-US" sz="1300" dirty="0"/>
          </a:p>
        </p:txBody>
      </p:sp>
      <p:sp>
        <p:nvSpPr>
          <p:cNvPr id="12" name="Text 9">
            <a:hlinkClick r:id="rId3" tooltip=""/>
          </p:cNvPr>
          <p:cNvSpPr txBox="1"/>
          <p:nvPr/>
        </p:nvSpPr>
        <p:spPr>
          <a:xfrm>
            <a:off x="594360" y="2679192"/>
            <a:ext cx="10972800" cy="192024"/>
          </a:xfrm>
          <a:prstGeom prst="rect">
            <a:avLst/>
          </a:prstGeom>
          <a:noFill/>
          <a:ln/>
        </p:spPr>
        <p:txBody>
          <a:bodyPr wrap="square" lIns="0" tIns="0" rIns="0" bIns="0" rtlCol="0" anchor="t"/>
          <a:lstStyle/>
          <a:p>
            <a:pPr indent="0" marL="0">
              <a:buNone/>
            </a:pPr>
            <a:r>
              <a:rPr lang="en-US" sz="800" u="sng" dirty="0">
                <a:solidFill>
                  <a:srgbClr val="777584"/>
                </a:solidFill>
                <a:latin typeface="Quicksand" pitchFamily="34" charset="0"/>
                <a:ea typeface="Quicksand" pitchFamily="34" charset="-122"/>
                <a:cs typeface="Quicksand"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https://commons.wikimedia.org/wiki/File:Standardized-Patient-Program-examining-t_he-abdomen.jpg</a:t>
            </a:r>
            <a:endParaRPr lang="en-US" sz="800" dirty="0"/>
          </a:p>
        </p:txBody>
      </p:sp>
      <p:sp>
        <p:nvSpPr>
          <p:cNvPr id="13" name="Text 10">
            <a:hlinkClick r:id="rId4" tooltip=""/>
          </p:cNvPr>
          <p:cNvSpPr txBox="1"/>
          <p:nvPr/>
        </p:nvSpPr>
        <p:spPr>
          <a:xfrm>
            <a:off x="594360" y="2880360"/>
            <a:ext cx="10972800" cy="173736"/>
          </a:xfrm>
          <a:prstGeom prst="rect">
            <a:avLst/>
          </a:prstGeom>
          <a:noFill/>
          <a:ln/>
        </p:spPr>
        <p:txBody>
          <a:bodyPr wrap="square" lIns="0" tIns="0" rIns="0" bIns="0" rtlCol="0" anchor="t"/>
          <a:lstStyle/>
          <a:p>
            <a:pPr indent="0" marL="0">
              <a:buNone/>
            </a:pPr>
            <a:r>
              <a:rPr lang="en-US" sz="800" u="sng" dirty="0">
                <a:solidFill>
                  <a:srgbClr val="777584"/>
                </a:solidFill>
                <a:latin typeface="Quicksand" pitchFamily="34" charset="0"/>
                <a:ea typeface="Quicksand" pitchFamily="34" charset="-122"/>
                <a:cs typeface="Quicksand"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https://creativecommons.org/licenses/by/2.0/</a:t>
            </a:r>
            <a:endParaRPr lang="en-US" sz="800" dirty="0"/>
          </a:p>
        </p:txBody>
      </p:sp>
      <p:sp>
        <p:nvSpPr>
          <p:cNvPr id="14" name="Text 11"/>
          <p:cNvSpPr txBox="1"/>
          <p:nvPr/>
        </p:nvSpPr>
        <p:spPr>
          <a:xfrm>
            <a:off x="594360" y="3118104"/>
            <a:ext cx="10972800" cy="256032"/>
          </a:xfrm>
          <a:prstGeom prst="rect">
            <a:avLst/>
          </a:prstGeom>
          <a:noFill/>
          <a:ln/>
        </p:spPr>
        <p:txBody>
          <a:bodyPr wrap="square" lIns="0" tIns="0" rIns="0" bIns="0" rtlCol="0" anchor="t"/>
          <a:lstStyle/>
          <a:p>
            <a:pPr indent="0" marL="0">
              <a:buNone/>
            </a:pPr>
            <a:r>
              <a:rPr lang="en-US" sz="1300" b="1" dirty="0">
                <a:solidFill>
                  <a:srgbClr val="494985"/>
                </a:solidFill>
                <a:latin typeface="Quicksand" pitchFamily="34" charset="0"/>
                <a:ea typeface="Quicksand" pitchFamily="34" charset="-122"/>
                <a:cs typeface="Quicksand" pitchFamily="34" charset="-120"/>
              </a:rPr>
              <a:t>CAT · Alvesgaspar · CC BY-SA 3.0</a:t>
            </a:r>
            <a:endParaRPr lang="en-US" sz="1300" dirty="0"/>
          </a:p>
        </p:txBody>
      </p:sp>
      <p:sp>
        <p:nvSpPr>
          <p:cNvPr id="15" name="Text 12">
            <a:hlinkClick r:id="rId5" tooltip=""/>
          </p:cNvPr>
          <p:cNvSpPr txBox="1"/>
          <p:nvPr/>
        </p:nvSpPr>
        <p:spPr>
          <a:xfrm>
            <a:off x="594360" y="3392424"/>
            <a:ext cx="10972800" cy="192024"/>
          </a:xfrm>
          <a:prstGeom prst="rect">
            <a:avLst/>
          </a:prstGeom>
          <a:noFill/>
          <a:ln/>
        </p:spPr>
        <p:txBody>
          <a:bodyPr wrap="square" lIns="0" tIns="0" rIns="0" bIns="0" rtlCol="0" anchor="t"/>
          <a:lstStyle/>
          <a:p>
            <a:pPr indent="0" marL="0">
              <a:buNone/>
            </a:pPr>
            <a:r>
              <a:rPr lang="en-US" sz="800" u="sng" dirty="0">
                <a:solidFill>
                  <a:srgbClr val="777584"/>
                </a:solidFill>
                <a:latin typeface="Quicksand" pitchFamily="34" charset="0"/>
                <a:ea typeface="Quicksand" pitchFamily="34" charset="-122"/>
                <a:cs typeface="Quicksand"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https://commons.wikimedia.org/wiki/File:Cat_August_2010-4.jpg</a:t>
            </a:r>
            <a:endParaRPr lang="en-US" sz="800" dirty="0"/>
          </a:p>
        </p:txBody>
      </p:sp>
      <p:sp>
        <p:nvSpPr>
          <p:cNvPr id="16" name="Text 13">
            <a:hlinkClick r:id="rId6" tooltip=""/>
          </p:cNvPr>
          <p:cNvSpPr txBox="1"/>
          <p:nvPr/>
        </p:nvSpPr>
        <p:spPr>
          <a:xfrm>
            <a:off x="594360" y="3593592"/>
            <a:ext cx="10972800" cy="173736"/>
          </a:xfrm>
          <a:prstGeom prst="rect">
            <a:avLst/>
          </a:prstGeom>
          <a:noFill/>
          <a:ln/>
        </p:spPr>
        <p:txBody>
          <a:bodyPr wrap="square" lIns="0" tIns="0" rIns="0" bIns="0" rtlCol="0" anchor="t"/>
          <a:lstStyle/>
          <a:p>
            <a:pPr indent="0" marL="0">
              <a:buNone/>
            </a:pPr>
            <a:r>
              <a:rPr lang="en-US" sz="800" u="sng" dirty="0">
                <a:solidFill>
                  <a:srgbClr val="777584"/>
                </a:solidFill>
                <a:latin typeface="Quicksand" pitchFamily="34" charset="0"/>
                <a:ea typeface="Quicksand" pitchFamily="34" charset="-122"/>
                <a:cs typeface="Quicksand"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https://creativecommons.org/licenses/by-sa/3.0/</a:t>
            </a:r>
            <a:endParaRPr lang="en-US" sz="800" dirty="0"/>
          </a:p>
        </p:txBody>
      </p:sp>
      <p:sp>
        <p:nvSpPr>
          <p:cNvPr id="17" name="Text 14"/>
          <p:cNvSpPr txBox="1"/>
          <p:nvPr/>
        </p:nvSpPr>
        <p:spPr>
          <a:xfrm>
            <a:off x="594360" y="3831336"/>
            <a:ext cx="10972800" cy="256032"/>
          </a:xfrm>
          <a:prstGeom prst="rect">
            <a:avLst/>
          </a:prstGeom>
          <a:noFill/>
          <a:ln/>
        </p:spPr>
        <p:txBody>
          <a:bodyPr wrap="square" lIns="0" tIns="0" rIns="0" bIns="0" rtlCol="0" anchor="t"/>
          <a:lstStyle/>
          <a:p>
            <a:pPr indent="0" marL="0">
              <a:buNone/>
            </a:pPr>
            <a:r>
              <a:rPr lang="en-US" sz="1300" b="1" dirty="0">
                <a:solidFill>
                  <a:srgbClr val="494985"/>
                </a:solidFill>
                <a:latin typeface="Quicksand" pitchFamily="34" charset="0"/>
                <a:ea typeface="Quicksand" pitchFamily="34" charset="-122"/>
                <a:cs typeface="Quicksand" pitchFamily="34" charset="-120"/>
              </a:rPr>
              <a:t>DOG · Losch · CC BY-SA 3.0</a:t>
            </a:r>
            <a:endParaRPr lang="en-US" sz="1300" dirty="0"/>
          </a:p>
        </p:txBody>
      </p:sp>
      <p:sp>
        <p:nvSpPr>
          <p:cNvPr id="18" name="Text 15">
            <a:hlinkClick r:id="rId7" tooltip=""/>
          </p:cNvPr>
          <p:cNvSpPr txBox="1"/>
          <p:nvPr/>
        </p:nvSpPr>
        <p:spPr>
          <a:xfrm>
            <a:off x="594360" y="4105656"/>
            <a:ext cx="10972800" cy="192024"/>
          </a:xfrm>
          <a:prstGeom prst="rect">
            <a:avLst/>
          </a:prstGeom>
          <a:noFill/>
          <a:ln/>
        </p:spPr>
        <p:txBody>
          <a:bodyPr wrap="square" lIns="0" tIns="0" rIns="0" bIns="0" rtlCol="0" anchor="t"/>
          <a:lstStyle/>
          <a:p>
            <a:pPr indent="0" marL="0">
              <a:buNone/>
            </a:pPr>
            <a:r>
              <a:rPr lang="en-US" sz="800" u="sng" dirty="0">
                <a:solidFill>
                  <a:srgbClr val="777584"/>
                </a:solidFill>
                <a:latin typeface="Quicksand" pitchFamily="34" charset="0"/>
                <a:ea typeface="Quicksand" pitchFamily="34" charset="-122"/>
                <a:cs typeface="Quicksand"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https://commons.wikimedia.org/wiki/File:Black_Labrador_Retriever_-_Male_IMG_3323_%28cropped%29.jpg</a:t>
            </a:r>
            <a:endParaRPr lang="en-US" sz="800" dirty="0"/>
          </a:p>
        </p:txBody>
      </p:sp>
      <p:sp>
        <p:nvSpPr>
          <p:cNvPr id="19" name="Text 16">
            <a:hlinkClick r:id="rId8" tooltip=""/>
          </p:cNvPr>
          <p:cNvSpPr txBox="1"/>
          <p:nvPr/>
        </p:nvSpPr>
        <p:spPr>
          <a:xfrm>
            <a:off x="594360" y="4306824"/>
            <a:ext cx="10972800" cy="173736"/>
          </a:xfrm>
          <a:prstGeom prst="rect">
            <a:avLst/>
          </a:prstGeom>
          <a:noFill/>
          <a:ln/>
        </p:spPr>
        <p:txBody>
          <a:bodyPr wrap="square" lIns="0" tIns="0" rIns="0" bIns="0" rtlCol="0" anchor="t"/>
          <a:lstStyle/>
          <a:p>
            <a:pPr indent="0" marL="0">
              <a:buNone/>
            </a:pPr>
            <a:r>
              <a:rPr lang="en-US" sz="800" u="sng" dirty="0">
                <a:solidFill>
                  <a:srgbClr val="777584"/>
                </a:solidFill>
                <a:latin typeface="Quicksand" pitchFamily="34" charset="0"/>
                <a:ea typeface="Quicksand" pitchFamily="34" charset="-122"/>
                <a:cs typeface="Quicksand"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https://creativecommons.org/licenses/by-sa/3.0/</a:t>
            </a:r>
            <a:endParaRPr lang="en-US" sz="800" dirty="0"/>
          </a:p>
        </p:txBody>
      </p:sp>
      <p:sp>
        <p:nvSpPr>
          <p:cNvPr id="20" name="Text 17"/>
          <p:cNvSpPr txBox="1"/>
          <p:nvPr/>
        </p:nvSpPr>
        <p:spPr>
          <a:xfrm>
            <a:off x="594360" y="4544568"/>
            <a:ext cx="10972800" cy="256032"/>
          </a:xfrm>
          <a:prstGeom prst="rect">
            <a:avLst/>
          </a:prstGeom>
          <a:noFill/>
          <a:ln/>
        </p:spPr>
        <p:txBody>
          <a:bodyPr wrap="square" lIns="0" tIns="0" rIns="0" bIns="0" rtlCol="0" anchor="t"/>
          <a:lstStyle/>
          <a:p>
            <a:pPr indent="0" marL="0">
              <a:buNone/>
            </a:pPr>
            <a:r>
              <a:rPr lang="en-US" sz="1300" b="1" dirty="0">
                <a:solidFill>
                  <a:srgbClr val="494985"/>
                </a:solidFill>
                <a:latin typeface="Quicksand" pitchFamily="34" charset="0"/>
                <a:ea typeface="Quicksand" pitchFamily="34" charset="-122"/>
                <a:cs typeface="Quicksand" pitchFamily="34" charset="-120"/>
              </a:rPr>
              <a:t>ASSISTANT · Maurizio Pesce from Milan, Italia · CC BY-SA 4.0</a:t>
            </a:r>
            <a:endParaRPr lang="en-US" sz="1300" dirty="0"/>
          </a:p>
        </p:txBody>
      </p:sp>
      <p:sp>
        <p:nvSpPr>
          <p:cNvPr id="21" name="Text 18">
            <a:hlinkClick r:id="rId9" tooltip=""/>
          </p:cNvPr>
          <p:cNvSpPr txBox="1"/>
          <p:nvPr/>
        </p:nvSpPr>
        <p:spPr>
          <a:xfrm>
            <a:off x="594360" y="4818888"/>
            <a:ext cx="10972800" cy="192024"/>
          </a:xfrm>
          <a:prstGeom prst="rect">
            <a:avLst/>
          </a:prstGeom>
          <a:noFill/>
          <a:ln/>
        </p:spPr>
        <p:txBody>
          <a:bodyPr wrap="square" lIns="0" tIns="0" rIns="0" bIns="0" rtlCol="0" anchor="t"/>
          <a:lstStyle/>
          <a:p>
            <a:pPr indent="0" marL="0">
              <a:buNone/>
            </a:pPr>
            <a:r>
              <a:rPr lang="en-US" sz="800" u="sng" dirty="0">
                <a:solidFill>
                  <a:srgbClr val="777584"/>
                </a:solidFill>
                <a:latin typeface="Quicksand" pitchFamily="34" charset="0"/>
                <a:ea typeface="Quicksand" pitchFamily="34" charset="-122"/>
                <a:cs typeface="Quicksand"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https://commons.wikimedia.org/wiki/File:Android_Assistant_on_the_Google_Pixel_XL_smartphone_%2829526761674%29.jpg</a:t>
            </a:r>
            <a:endParaRPr lang="en-US" sz="800" dirty="0"/>
          </a:p>
        </p:txBody>
      </p:sp>
      <p:sp>
        <p:nvSpPr>
          <p:cNvPr id="22" name="Text 19">
            <a:hlinkClick r:id="rId10" tooltip=""/>
          </p:cNvPr>
          <p:cNvSpPr txBox="1"/>
          <p:nvPr/>
        </p:nvSpPr>
        <p:spPr>
          <a:xfrm>
            <a:off x="594360" y="5020056"/>
            <a:ext cx="10972800" cy="173736"/>
          </a:xfrm>
          <a:prstGeom prst="rect">
            <a:avLst/>
          </a:prstGeom>
          <a:noFill/>
          <a:ln/>
        </p:spPr>
        <p:txBody>
          <a:bodyPr wrap="square" lIns="0" tIns="0" rIns="0" bIns="0" rtlCol="0" anchor="t"/>
          <a:lstStyle/>
          <a:p>
            <a:pPr indent="0" marL="0">
              <a:buNone/>
            </a:pPr>
            <a:r>
              <a:rPr lang="en-US" sz="800" u="sng" dirty="0">
                <a:solidFill>
                  <a:srgbClr val="777584"/>
                </a:solidFill>
                <a:latin typeface="Quicksand" pitchFamily="34" charset="0"/>
                <a:ea typeface="Quicksand" pitchFamily="34" charset="-122"/>
                <a:cs typeface="Quicksand"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https://creativecommons.org/licenses/by-sa/4.0/</a:t>
            </a:r>
            <a:endParaRPr lang="en-US" sz="800" dirty="0"/>
          </a:p>
        </p:txBody>
      </p:sp>
      <p:sp>
        <p:nvSpPr>
          <p:cNvPr id="23" name="Text 20"/>
          <p:cNvSpPr txBox="1"/>
          <p:nvPr/>
        </p:nvSpPr>
        <p:spPr>
          <a:xfrm>
            <a:off x="594360" y="5257800"/>
            <a:ext cx="10972800" cy="256032"/>
          </a:xfrm>
          <a:prstGeom prst="rect">
            <a:avLst/>
          </a:prstGeom>
          <a:noFill/>
          <a:ln/>
        </p:spPr>
        <p:txBody>
          <a:bodyPr wrap="square" lIns="0" tIns="0" rIns="0" bIns="0" rtlCol="0" anchor="t"/>
          <a:lstStyle/>
          <a:p>
            <a:pPr indent="0" marL="0">
              <a:buNone/>
            </a:pPr>
            <a:r>
              <a:rPr lang="en-US" sz="1300" b="1" dirty="0">
                <a:solidFill>
                  <a:srgbClr val="494985"/>
                </a:solidFill>
                <a:latin typeface="Quicksand" pitchFamily="34" charset="0"/>
                <a:ea typeface="Quicksand" pitchFamily="34" charset="-122"/>
                <a:cs typeface="Quicksand" pitchFamily="34" charset="-120"/>
              </a:rPr>
              <a:t>VACUUM · Autopilot · CC BY-SA 3.0</a:t>
            </a:r>
            <a:endParaRPr lang="en-US" sz="1300" dirty="0"/>
          </a:p>
        </p:txBody>
      </p:sp>
      <p:sp>
        <p:nvSpPr>
          <p:cNvPr id="24" name="Text 21">
            <a:hlinkClick r:id="rId11" tooltip=""/>
          </p:cNvPr>
          <p:cNvSpPr txBox="1"/>
          <p:nvPr/>
        </p:nvSpPr>
        <p:spPr>
          <a:xfrm>
            <a:off x="594360" y="5532120"/>
            <a:ext cx="10972800" cy="192024"/>
          </a:xfrm>
          <a:prstGeom prst="rect">
            <a:avLst/>
          </a:prstGeom>
          <a:noFill/>
          <a:ln/>
        </p:spPr>
        <p:txBody>
          <a:bodyPr wrap="square" lIns="0" tIns="0" rIns="0" bIns="0" rtlCol="0" anchor="t"/>
          <a:lstStyle/>
          <a:p>
            <a:pPr indent="0" marL="0">
              <a:buNone/>
            </a:pPr>
            <a:r>
              <a:rPr lang="en-US" sz="800" u="sng" dirty="0">
                <a:solidFill>
                  <a:srgbClr val="777584"/>
                </a:solidFill>
                <a:latin typeface="Quicksand" pitchFamily="34" charset="0"/>
                <a:ea typeface="Quicksand" pitchFamily="34" charset="-122"/>
                <a:cs typeface="Quicksand"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https://commons.wikimedia.org/wiki/File:Neato_XV-11.jpg</a:t>
            </a:r>
            <a:endParaRPr lang="en-US" sz="800" dirty="0"/>
          </a:p>
        </p:txBody>
      </p:sp>
      <p:sp>
        <p:nvSpPr>
          <p:cNvPr id="25" name="Text 22">
            <a:hlinkClick r:id="rId12" tooltip=""/>
          </p:cNvPr>
          <p:cNvSpPr txBox="1"/>
          <p:nvPr/>
        </p:nvSpPr>
        <p:spPr>
          <a:xfrm>
            <a:off x="594360" y="5733288"/>
            <a:ext cx="10972800" cy="173736"/>
          </a:xfrm>
          <a:prstGeom prst="rect">
            <a:avLst/>
          </a:prstGeom>
          <a:noFill/>
          <a:ln/>
        </p:spPr>
        <p:txBody>
          <a:bodyPr wrap="square" lIns="0" tIns="0" rIns="0" bIns="0" rtlCol="0" anchor="t"/>
          <a:lstStyle/>
          <a:p>
            <a:pPr indent="0" marL="0">
              <a:buNone/>
            </a:pPr>
            <a:r>
              <a:rPr lang="en-US" sz="800" u="sng" dirty="0">
                <a:solidFill>
                  <a:srgbClr val="777584"/>
                </a:solidFill>
                <a:latin typeface="Quicksand" pitchFamily="34" charset="0"/>
                <a:ea typeface="Quicksand" pitchFamily="34" charset="-122"/>
                <a:cs typeface="Quicksand"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https://creativecommons.org/licenses/by-sa/3.0/</a:t>
            </a:r>
            <a:endParaRPr lang="en-US" sz="8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AF9F6"/>
        </a:solidFill>
      </p:bgPr>
    </p:bg>
    <p:spTree>
      <p:nvGrpSpPr>
        <p:cNvPr id="1" name=""/>
        <p:cNvGrpSpPr/>
        <p:nvPr/>
      </p:nvGrpSpPr>
      <p:grpSpPr>
        <a:xfrm>
          <a:off x="0" y="0"/>
          <a:ext cx="0" cy="0"/>
          <a:chOff x="0" y="0"/>
          <a:chExt cx="0" cy="0"/>
        </a:xfrm>
      </p:grpSpPr>
      <p:sp>
        <p:nvSpPr>
          <p:cNvPr id="2" name="Text 0"/>
          <p:cNvSpPr txBox="1"/>
          <p:nvPr/>
        </p:nvSpPr>
        <p:spPr>
          <a:xfrm>
            <a:off x="594360" y="301752"/>
            <a:ext cx="10424160" cy="274320"/>
          </a:xfrm>
          <a:prstGeom prst="rect">
            <a:avLst/>
          </a:prstGeom>
          <a:noFill/>
          <a:ln/>
        </p:spPr>
        <p:txBody>
          <a:bodyPr wrap="square" lIns="0" tIns="0" rIns="0" bIns="0" rtlCol="0" anchor="t"/>
          <a:lstStyle/>
          <a:p>
            <a:pPr indent="0" marL="0">
              <a:buNone/>
            </a:pPr>
            <a:r>
              <a:rPr lang="en-US" sz="1100" b="1" spc="200" kern="0" dirty="0">
                <a:solidFill>
                  <a:srgbClr val="494985"/>
                </a:solidFill>
                <a:latin typeface="Quicksand" pitchFamily="34" charset="0"/>
                <a:ea typeface="Quicksand" pitchFamily="34" charset="-122"/>
                <a:cs typeface="Quicksand" pitchFamily="34" charset="-120"/>
              </a:rPr>
              <a:t>REFERENCES</a:t>
            </a:r>
            <a:endParaRPr lang="en-US" sz="1100" dirty="0"/>
          </a:p>
        </p:txBody>
      </p:sp>
      <p:sp>
        <p:nvSpPr>
          <p:cNvPr id="3" name="Text 1"/>
          <p:cNvSpPr txBox="1"/>
          <p:nvPr/>
        </p:nvSpPr>
        <p:spPr>
          <a:xfrm>
            <a:off x="594360" y="822960"/>
            <a:ext cx="10972800" cy="640080"/>
          </a:xfrm>
          <a:prstGeom prst="rect">
            <a:avLst/>
          </a:prstGeom>
          <a:noFill/>
          <a:ln/>
        </p:spPr>
        <p:txBody>
          <a:bodyPr wrap="square" lIns="0" tIns="0" rIns="0" bIns="0" rtlCol="0" anchor="t"/>
          <a:lstStyle/>
          <a:p>
            <a:pPr indent="0" marL="0">
              <a:buNone/>
            </a:pPr>
            <a:r>
              <a:rPr lang="en-US" sz="3200" b="1" dirty="0">
                <a:solidFill>
                  <a:srgbClr val="252341"/>
                </a:solidFill>
                <a:latin typeface="Quicksand" pitchFamily="34" charset="0"/>
                <a:ea typeface="Quicksand" pitchFamily="34" charset="-122"/>
                <a:cs typeface="Quicksand" pitchFamily="34" charset="-120"/>
              </a:rPr>
              <a:t>Photographs: sources and licences</a:t>
            </a:r>
            <a:endParaRPr lang="en-US" sz="3200" dirty="0"/>
          </a:p>
        </p:txBody>
      </p:sp>
      <p:sp>
        <p:nvSpPr>
          <p:cNvPr id="4" name="Shape 2"/>
          <p:cNvSpPr/>
          <p:nvPr/>
        </p:nvSpPr>
        <p:spPr>
          <a:xfrm>
            <a:off x="594360" y="6355080"/>
            <a:ext cx="10972800" cy="0"/>
          </a:xfrm>
          <a:prstGeom prst="line">
            <a:avLst/>
          </a:prstGeom>
          <a:noFill/>
          <a:ln w="8890">
            <a:solidFill>
              <a:srgbClr val="DDDBE5"/>
            </a:solidFill>
            <a:prstDash val="solid"/>
          </a:ln>
        </p:spPr>
      </p:sp>
      <p:sp>
        <p:nvSpPr>
          <p:cNvPr id="5" name="Text 3"/>
          <p:cNvSpPr txBox="1"/>
          <p:nvPr/>
        </p:nvSpPr>
        <p:spPr>
          <a:xfrm>
            <a:off x="594360" y="6473952"/>
            <a:ext cx="5486400" cy="164592"/>
          </a:xfrm>
          <a:prstGeom prst="rect">
            <a:avLst/>
          </a:prstGeom>
          <a:noFill/>
          <a:ln/>
        </p:spPr>
        <p:txBody>
          <a:bodyPr wrap="square" lIns="0" tIns="0" rIns="0" bIns="0" rtlCol="0" anchor="t"/>
          <a:lstStyle/>
          <a:p>
            <a:pPr indent="0" marL="0">
              <a:buNone/>
            </a:pPr>
            <a:r>
              <a:rPr lang="en-US" sz="800" dirty="0">
                <a:solidFill>
                  <a:srgbClr val="777584"/>
                </a:solidFill>
                <a:latin typeface="Quicksand" pitchFamily="34" charset="0"/>
                <a:ea typeface="Quicksand" pitchFamily="34" charset="-122"/>
                <a:cs typeface="Quicksand" pitchFamily="34" charset="-120"/>
              </a:rPr>
              <a:t>IGCSE 0478  /  ARTIFICIAL INTELLIGENCE</a:t>
            </a:r>
            <a:endParaRPr lang="en-US" sz="800" dirty="0"/>
          </a:p>
        </p:txBody>
      </p:sp>
      <p:sp>
        <p:nvSpPr>
          <p:cNvPr id="6" name="Text 4"/>
          <p:cNvSpPr txBox="1"/>
          <p:nvPr/>
        </p:nvSpPr>
        <p:spPr>
          <a:xfrm>
            <a:off x="11018520" y="6419088"/>
            <a:ext cx="530352" cy="228600"/>
          </a:xfrm>
          <a:prstGeom prst="rect">
            <a:avLst/>
          </a:prstGeom>
          <a:noFill/>
          <a:ln/>
        </p:spPr>
        <p:txBody>
          <a:bodyPr wrap="square" lIns="0" tIns="0" rIns="0" bIns="0" rtlCol="0" anchor="t"/>
          <a:lstStyle/>
          <a:p>
            <a:pPr algn="r" indent="0" marL="0">
              <a:buNone/>
            </a:pPr>
            <a:r>
              <a:rPr lang="en-US" sz="1100" dirty="0">
                <a:solidFill>
                  <a:srgbClr val="777584"/>
                </a:solidFill>
                <a:latin typeface="Quicksand" pitchFamily="34" charset="0"/>
                <a:ea typeface="Quicksand" pitchFamily="34" charset="-122"/>
                <a:cs typeface="Quicksand" pitchFamily="34" charset="-120"/>
              </a:rPr>
              <a:t>40</a:t>
            </a:r>
            <a:endParaRPr lang="en-US" sz="1100" dirty="0"/>
          </a:p>
        </p:txBody>
      </p:sp>
      <p:sp>
        <p:nvSpPr>
          <p:cNvPr id="8" name="Text 5"/>
          <p:cNvSpPr txBox="1"/>
          <p:nvPr/>
        </p:nvSpPr>
        <p:spPr>
          <a:xfrm>
            <a:off x="594360" y="1691640"/>
            <a:ext cx="10972800" cy="256032"/>
          </a:xfrm>
          <a:prstGeom prst="rect">
            <a:avLst/>
          </a:prstGeom>
          <a:noFill/>
          <a:ln/>
        </p:spPr>
        <p:txBody>
          <a:bodyPr wrap="square" lIns="0" tIns="0" rIns="0" bIns="0" rtlCol="0" anchor="t"/>
          <a:lstStyle/>
          <a:p>
            <a:pPr indent="0" marL="0">
              <a:buNone/>
            </a:pPr>
            <a:r>
              <a:rPr lang="en-US" sz="1300" b="1" dirty="0">
                <a:solidFill>
                  <a:srgbClr val="494985"/>
                </a:solidFill>
                <a:latin typeface="Quicksand" pitchFamily="34" charset="0"/>
                <a:ea typeface="Quicksand" pitchFamily="34" charset="-122"/>
                <a:cs typeface="Quicksand" pitchFamily="34" charset="-120"/>
              </a:rPr>
              <a:t>TRAFFIC · Unisouth · CC BY 3.0</a:t>
            </a:r>
            <a:endParaRPr lang="en-US" sz="1300" dirty="0"/>
          </a:p>
        </p:txBody>
      </p:sp>
      <p:sp>
        <p:nvSpPr>
          <p:cNvPr id="9" name="Text 6">
            <a:hlinkClick r:id="rId1" tooltip=""/>
          </p:cNvPr>
          <p:cNvSpPr txBox="1"/>
          <p:nvPr/>
        </p:nvSpPr>
        <p:spPr>
          <a:xfrm>
            <a:off x="594360" y="1965960"/>
            <a:ext cx="10972800" cy="192024"/>
          </a:xfrm>
          <a:prstGeom prst="rect">
            <a:avLst/>
          </a:prstGeom>
          <a:noFill/>
          <a:ln/>
        </p:spPr>
        <p:txBody>
          <a:bodyPr wrap="square" lIns="0" tIns="0" rIns="0" bIns="0" rtlCol="0" anchor="t"/>
          <a:lstStyle/>
          <a:p>
            <a:pPr indent="0" marL="0">
              <a:buNone/>
            </a:pPr>
            <a:r>
              <a:rPr lang="en-US" sz="800" u="sng" dirty="0">
                <a:solidFill>
                  <a:srgbClr val="777584"/>
                </a:solidFill>
                <a:latin typeface="Quicksand" pitchFamily="34" charset="0"/>
                <a:ea typeface="Quicksand" pitchFamily="34" charset="-122"/>
                <a:cs typeface="Quicksand" pitchFamily="34" charset="-120"/>
                <a:hlinkClick r:id="rId1" invalidUrl="" action="" tgtFrame="" tooltip="" history="1" highlightClick="0" endSnd="0">
                  <a:extLst>
                    <a:ext uri="{A12FA001-AC4F-418D-AE19-62706E023703}">
                      <ahyp:hlinkClr xmlns:ahyp="http://schemas.microsoft.com/office/drawing/2018/hyperlinkcolor" val="tx"/>
                    </a:ext>
                  </a:extLst>
                </a:hlinkClick>
              </a:rPr>
              <a:t>https://commons.wikimedia.org/wiki/File:Modern_British_LED_Traffic_Light.jpg</a:t>
            </a:r>
            <a:endParaRPr lang="en-US" sz="800" dirty="0"/>
          </a:p>
        </p:txBody>
      </p:sp>
      <p:sp>
        <p:nvSpPr>
          <p:cNvPr id="10" name="Text 7">
            <a:hlinkClick r:id="rId2" tooltip=""/>
          </p:cNvPr>
          <p:cNvSpPr txBox="1"/>
          <p:nvPr/>
        </p:nvSpPr>
        <p:spPr>
          <a:xfrm>
            <a:off x="594360" y="2167128"/>
            <a:ext cx="10972800" cy="173736"/>
          </a:xfrm>
          <a:prstGeom prst="rect">
            <a:avLst/>
          </a:prstGeom>
          <a:noFill/>
          <a:ln/>
        </p:spPr>
        <p:txBody>
          <a:bodyPr wrap="square" lIns="0" tIns="0" rIns="0" bIns="0" rtlCol="0" anchor="t"/>
          <a:lstStyle/>
          <a:p>
            <a:pPr indent="0" marL="0">
              <a:buNone/>
            </a:pPr>
            <a:r>
              <a:rPr lang="en-US" sz="800" u="sng" dirty="0">
                <a:solidFill>
                  <a:srgbClr val="777584"/>
                </a:solidFill>
                <a:latin typeface="Quicksand" pitchFamily="34" charset="0"/>
                <a:ea typeface="Quicksand" pitchFamily="34" charset="-122"/>
                <a:cs typeface="Quicksand"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https://creativecommons.org/licenses/by/3.0/</a:t>
            </a:r>
            <a:endParaRPr lang="en-US" sz="800" dirty="0"/>
          </a:p>
        </p:txBody>
      </p:sp>
      <p:sp>
        <p:nvSpPr>
          <p:cNvPr id="11" name="Text 8"/>
          <p:cNvSpPr txBox="1"/>
          <p:nvPr/>
        </p:nvSpPr>
        <p:spPr>
          <a:xfrm>
            <a:off x="594360" y="2404872"/>
            <a:ext cx="10972800" cy="256032"/>
          </a:xfrm>
          <a:prstGeom prst="rect">
            <a:avLst/>
          </a:prstGeom>
          <a:noFill/>
          <a:ln/>
        </p:spPr>
        <p:txBody>
          <a:bodyPr wrap="square" lIns="0" tIns="0" rIns="0" bIns="0" rtlCol="0" anchor="t"/>
          <a:lstStyle/>
          <a:p>
            <a:pPr indent="0" marL="0">
              <a:buNone/>
            </a:pPr>
            <a:r>
              <a:rPr lang="en-US" sz="1300" b="1" dirty="0">
                <a:solidFill>
                  <a:srgbClr val="494985"/>
                </a:solidFill>
                <a:latin typeface="Quicksand" pitchFamily="34" charset="0"/>
                <a:ea typeface="Quicksand" pitchFamily="34" charset="-122"/>
                <a:cs typeface="Quicksand" pitchFamily="34" charset="-120"/>
              </a:rPr>
              <a:t>WEATHER · NOAA / US government (photographer uncredited) · Public domain</a:t>
            </a:r>
            <a:endParaRPr lang="en-US" sz="1300" dirty="0"/>
          </a:p>
        </p:txBody>
      </p:sp>
      <p:sp>
        <p:nvSpPr>
          <p:cNvPr id="12" name="Text 9">
            <a:hlinkClick r:id="rId3" tooltip=""/>
          </p:cNvPr>
          <p:cNvSpPr txBox="1"/>
          <p:nvPr/>
        </p:nvSpPr>
        <p:spPr>
          <a:xfrm>
            <a:off x="594360" y="2679192"/>
            <a:ext cx="10972800" cy="192024"/>
          </a:xfrm>
          <a:prstGeom prst="rect">
            <a:avLst/>
          </a:prstGeom>
          <a:noFill/>
          <a:ln/>
        </p:spPr>
        <p:txBody>
          <a:bodyPr wrap="square" lIns="0" tIns="0" rIns="0" bIns="0" rtlCol="0" anchor="t"/>
          <a:lstStyle/>
          <a:p>
            <a:pPr indent="0" marL="0">
              <a:buNone/>
            </a:pPr>
            <a:r>
              <a:rPr lang="en-US" sz="800" u="sng" dirty="0">
                <a:solidFill>
                  <a:srgbClr val="777584"/>
                </a:solidFill>
                <a:latin typeface="Quicksand" pitchFamily="34" charset="0"/>
                <a:ea typeface="Quicksand" pitchFamily="34" charset="-122"/>
                <a:cs typeface="Quicksand"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https://commons.wikimedia.org/wiki/File:NOAA_weather_station_at_Wake_Island_harbor.jpg</a:t>
            </a:r>
            <a:endParaRPr lang="en-US" sz="800" dirty="0"/>
          </a:p>
        </p:txBody>
      </p:sp>
      <p:sp>
        <p:nvSpPr>
          <p:cNvPr id="13" name="Text 10">
            <a:hlinkClick r:id="rId4" tooltip=""/>
          </p:cNvPr>
          <p:cNvSpPr txBox="1"/>
          <p:nvPr/>
        </p:nvSpPr>
        <p:spPr>
          <a:xfrm>
            <a:off x="594360" y="2880360"/>
            <a:ext cx="10972800" cy="173736"/>
          </a:xfrm>
          <a:prstGeom prst="rect">
            <a:avLst/>
          </a:prstGeom>
          <a:noFill/>
          <a:ln/>
        </p:spPr>
        <p:txBody>
          <a:bodyPr wrap="square" lIns="0" tIns="0" rIns="0" bIns="0" rtlCol="0" anchor="t"/>
          <a:lstStyle/>
          <a:p>
            <a:pPr indent="0" marL="0">
              <a:buNone/>
            </a:pPr>
            <a:r>
              <a:rPr lang="en-US" sz="800" u="sng" dirty="0">
                <a:solidFill>
                  <a:srgbClr val="777584"/>
                </a:solidFill>
                <a:latin typeface="Quicksand" pitchFamily="34" charset="0"/>
                <a:ea typeface="Quicksand" pitchFamily="34" charset="-122"/>
                <a:cs typeface="Quicksand"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https://commons.wikimedia.org/wiki/Commons:Copyright_rules_by_territory/United_States#Federal_works</a:t>
            </a:r>
            <a:endParaRPr lang="en-US" sz="800" dirty="0"/>
          </a:p>
        </p:txBody>
      </p:sp>
      <p:sp>
        <p:nvSpPr>
          <p:cNvPr id="14" name="Text 11"/>
          <p:cNvSpPr txBox="1"/>
          <p:nvPr/>
        </p:nvSpPr>
        <p:spPr>
          <a:xfrm>
            <a:off x="594360" y="3118104"/>
            <a:ext cx="10972800" cy="256032"/>
          </a:xfrm>
          <a:prstGeom prst="rect">
            <a:avLst/>
          </a:prstGeom>
          <a:noFill/>
          <a:ln/>
        </p:spPr>
        <p:txBody>
          <a:bodyPr wrap="square" lIns="0" tIns="0" rIns="0" bIns="0" rtlCol="0" anchor="t"/>
          <a:lstStyle/>
          <a:p>
            <a:pPr indent="0" marL="0">
              <a:buNone/>
            </a:pPr>
            <a:r>
              <a:rPr lang="en-US" sz="1300" b="1" dirty="0">
                <a:solidFill>
                  <a:srgbClr val="494985"/>
                </a:solidFill>
                <a:latin typeface="Quicksand" pitchFamily="34" charset="0"/>
                <a:ea typeface="Quicksand" pitchFamily="34" charset="-122"/>
                <a:cs typeface="Quicksand" pitchFamily="34" charset="-120"/>
              </a:rPr>
              <a:t>CLOUDS · Michael Jastremski · CC BY-SA 2.0</a:t>
            </a:r>
            <a:endParaRPr lang="en-US" sz="1300" dirty="0"/>
          </a:p>
        </p:txBody>
      </p:sp>
      <p:sp>
        <p:nvSpPr>
          <p:cNvPr id="15" name="Text 12">
            <a:hlinkClick r:id="rId5" tooltip=""/>
          </p:cNvPr>
          <p:cNvSpPr txBox="1"/>
          <p:nvPr/>
        </p:nvSpPr>
        <p:spPr>
          <a:xfrm>
            <a:off x="594360" y="3392424"/>
            <a:ext cx="10972800" cy="192024"/>
          </a:xfrm>
          <a:prstGeom prst="rect">
            <a:avLst/>
          </a:prstGeom>
          <a:noFill/>
          <a:ln/>
        </p:spPr>
        <p:txBody>
          <a:bodyPr wrap="square" lIns="0" tIns="0" rIns="0" bIns="0" rtlCol="0" anchor="t"/>
          <a:lstStyle/>
          <a:p>
            <a:pPr indent="0" marL="0">
              <a:buNone/>
            </a:pPr>
            <a:r>
              <a:rPr lang="en-US" sz="800" u="sng" dirty="0">
                <a:solidFill>
                  <a:srgbClr val="777584"/>
                </a:solidFill>
                <a:latin typeface="Quicksand" pitchFamily="34" charset="0"/>
                <a:ea typeface="Quicksand" pitchFamily="34" charset="-122"/>
                <a:cs typeface="Quicksand"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https://commons.wikimedia.org/wiki/File:Cumulus_clouds_in_fair_weather.jpeg</a:t>
            </a:r>
            <a:endParaRPr lang="en-US" sz="800" dirty="0"/>
          </a:p>
        </p:txBody>
      </p:sp>
      <p:sp>
        <p:nvSpPr>
          <p:cNvPr id="16" name="Text 13">
            <a:hlinkClick r:id="rId6" tooltip=""/>
          </p:cNvPr>
          <p:cNvSpPr txBox="1"/>
          <p:nvPr/>
        </p:nvSpPr>
        <p:spPr>
          <a:xfrm>
            <a:off x="594360" y="3593592"/>
            <a:ext cx="10972800" cy="173736"/>
          </a:xfrm>
          <a:prstGeom prst="rect">
            <a:avLst/>
          </a:prstGeom>
          <a:noFill/>
          <a:ln/>
        </p:spPr>
        <p:txBody>
          <a:bodyPr wrap="square" lIns="0" tIns="0" rIns="0" bIns="0" rtlCol="0" anchor="t"/>
          <a:lstStyle/>
          <a:p>
            <a:pPr indent="0" marL="0">
              <a:buNone/>
            </a:pPr>
            <a:r>
              <a:rPr lang="en-US" sz="800" u="sng" dirty="0">
                <a:solidFill>
                  <a:srgbClr val="777584"/>
                </a:solidFill>
                <a:latin typeface="Quicksand" pitchFamily="34" charset="0"/>
                <a:ea typeface="Quicksand" pitchFamily="34" charset="-122"/>
                <a:cs typeface="Quicksand"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https://creativecommons.org/licenses/by-sa/2.0/</a:t>
            </a:r>
            <a:endParaRPr lang="en-US" sz="800" dirty="0"/>
          </a:p>
        </p:txBody>
      </p:sp>
      <p:sp>
        <p:nvSpPr>
          <p:cNvPr id="17" name="Text 14"/>
          <p:cNvSpPr txBox="1"/>
          <p:nvPr/>
        </p:nvSpPr>
        <p:spPr>
          <a:xfrm>
            <a:off x="594360" y="3831336"/>
            <a:ext cx="10972800" cy="256032"/>
          </a:xfrm>
          <a:prstGeom prst="rect">
            <a:avLst/>
          </a:prstGeom>
          <a:noFill/>
          <a:ln/>
        </p:spPr>
        <p:txBody>
          <a:bodyPr wrap="square" lIns="0" tIns="0" rIns="0" bIns="0" rtlCol="0" anchor="t"/>
          <a:lstStyle/>
          <a:p>
            <a:pPr indent="0" marL="0">
              <a:buNone/>
            </a:pPr>
            <a:r>
              <a:rPr lang="en-US" sz="1300" b="1" dirty="0">
                <a:solidFill>
                  <a:srgbClr val="494985"/>
                </a:solidFill>
                <a:latin typeface="Quicksand" pitchFamily="34" charset="0"/>
                <a:ea typeface="Quicksand" pitchFamily="34" charset="-122"/>
                <a:cs typeface="Quicksand" pitchFamily="34" charset="-120"/>
              </a:rPr>
              <a:t>SPEAKER · NDB Photos · CC BY-SA 2.0</a:t>
            </a:r>
            <a:endParaRPr lang="en-US" sz="1300" dirty="0"/>
          </a:p>
        </p:txBody>
      </p:sp>
      <p:sp>
        <p:nvSpPr>
          <p:cNvPr id="18" name="Text 15">
            <a:hlinkClick r:id="rId7" tooltip=""/>
          </p:cNvPr>
          <p:cNvSpPr txBox="1"/>
          <p:nvPr/>
        </p:nvSpPr>
        <p:spPr>
          <a:xfrm>
            <a:off x="594360" y="4105656"/>
            <a:ext cx="10972800" cy="192024"/>
          </a:xfrm>
          <a:prstGeom prst="rect">
            <a:avLst/>
          </a:prstGeom>
          <a:noFill/>
          <a:ln/>
        </p:spPr>
        <p:txBody>
          <a:bodyPr wrap="square" lIns="0" tIns="0" rIns="0" bIns="0" rtlCol="0" anchor="t"/>
          <a:lstStyle/>
          <a:p>
            <a:pPr indent="0" marL="0">
              <a:buNone/>
            </a:pPr>
            <a:r>
              <a:rPr lang="en-US" sz="800" u="sng" dirty="0">
                <a:solidFill>
                  <a:srgbClr val="777584"/>
                </a:solidFill>
                <a:latin typeface="Quicksand" pitchFamily="34" charset="0"/>
                <a:ea typeface="Quicksand" pitchFamily="34" charset="-122"/>
                <a:cs typeface="Quicksand"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https://commons.wikimedia.org/wiki/File:Google_Home_sitting_on_table.jpg</a:t>
            </a:r>
            <a:endParaRPr lang="en-US" sz="800" dirty="0"/>
          </a:p>
        </p:txBody>
      </p:sp>
      <p:sp>
        <p:nvSpPr>
          <p:cNvPr id="19" name="Text 16">
            <a:hlinkClick r:id="rId8" tooltip=""/>
          </p:cNvPr>
          <p:cNvSpPr txBox="1"/>
          <p:nvPr/>
        </p:nvSpPr>
        <p:spPr>
          <a:xfrm>
            <a:off x="594360" y="4306824"/>
            <a:ext cx="10972800" cy="173736"/>
          </a:xfrm>
          <a:prstGeom prst="rect">
            <a:avLst/>
          </a:prstGeom>
          <a:noFill/>
          <a:ln/>
        </p:spPr>
        <p:txBody>
          <a:bodyPr wrap="square" lIns="0" tIns="0" rIns="0" bIns="0" rtlCol="0" anchor="t"/>
          <a:lstStyle/>
          <a:p>
            <a:pPr indent="0" marL="0">
              <a:buNone/>
            </a:pPr>
            <a:r>
              <a:rPr lang="en-US" sz="800" u="sng" dirty="0">
                <a:solidFill>
                  <a:srgbClr val="777584"/>
                </a:solidFill>
                <a:latin typeface="Quicksand" pitchFamily="34" charset="0"/>
                <a:ea typeface="Quicksand" pitchFamily="34" charset="-122"/>
                <a:cs typeface="Quicksand"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https://creativecommons.org/licenses/by-sa/2.0/</a:t>
            </a:r>
            <a:endParaRPr lang="en-US" sz="800" dirty="0"/>
          </a:p>
        </p:txBody>
      </p:sp>
      <p:sp>
        <p:nvSpPr>
          <p:cNvPr id="20" name="Text 17"/>
          <p:cNvSpPr txBox="1"/>
          <p:nvPr/>
        </p:nvSpPr>
        <p:spPr>
          <a:xfrm>
            <a:off x="594360" y="4544568"/>
            <a:ext cx="10972800" cy="256032"/>
          </a:xfrm>
          <a:prstGeom prst="rect">
            <a:avLst/>
          </a:prstGeom>
          <a:noFill/>
          <a:ln/>
        </p:spPr>
        <p:txBody>
          <a:bodyPr wrap="square" lIns="0" tIns="0" rIns="0" bIns="0" rtlCol="0" anchor="t"/>
          <a:lstStyle/>
          <a:p>
            <a:pPr indent="0" marL="0">
              <a:buNone/>
            </a:pPr>
            <a:r>
              <a:rPr lang="en-US" sz="1300" b="1" dirty="0">
                <a:solidFill>
                  <a:srgbClr val="494985"/>
                </a:solidFill>
                <a:latin typeface="Quicksand" pitchFamily="34" charset="0"/>
                <a:ea typeface="Quicksand" pitchFamily="34" charset="-122"/>
                <a:cs typeface="Quicksand" pitchFamily="34" charset="-120"/>
              </a:rPr>
              <a:t>GAMES · Soupmeister · CC BY-SA 2.0</a:t>
            </a:r>
            <a:endParaRPr lang="en-US" sz="1300" dirty="0"/>
          </a:p>
        </p:txBody>
      </p:sp>
      <p:sp>
        <p:nvSpPr>
          <p:cNvPr id="21" name="Text 18">
            <a:hlinkClick r:id="rId9" tooltip=""/>
          </p:cNvPr>
          <p:cNvSpPr txBox="1"/>
          <p:nvPr/>
        </p:nvSpPr>
        <p:spPr>
          <a:xfrm>
            <a:off x="594360" y="4818888"/>
            <a:ext cx="10972800" cy="192024"/>
          </a:xfrm>
          <a:prstGeom prst="rect">
            <a:avLst/>
          </a:prstGeom>
          <a:noFill/>
          <a:ln/>
        </p:spPr>
        <p:txBody>
          <a:bodyPr wrap="square" lIns="0" tIns="0" rIns="0" bIns="0" rtlCol="0" anchor="t"/>
          <a:lstStyle/>
          <a:p>
            <a:pPr indent="0" marL="0">
              <a:buNone/>
            </a:pPr>
            <a:r>
              <a:rPr lang="en-US" sz="800" u="sng" dirty="0">
                <a:solidFill>
                  <a:srgbClr val="777584"/>
                </a:solidFill>
                <a:latin typeface="Quicksand" pitchFamily="34" charset="0"/>
                <a:ea typeface="Quicksand" pitchFamily="34" charset="-122"/>
                <a:cs typeface="Quicksand"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https://commons.wikimedia.org/wiki/File:Gaming_Section_1_-_Retrosystems_2010.jpg</a:t>
            </a:r>
            <a:endParaRPr lang="en-US" sz="800" dirty="0"/>
          </a:p>
        </p:txBody>
      </p:sp>
      <p:sp>
        <p:nvSpPr>
          <p:cNvPr id="22" name="Text 19">
            <a:hlinkClick r:id="rId10" tooltip=""/>
          </p:cNvPr>
          <p:cNvSpPr txBox="1"/>
          <p:nvPr/>
        </p:nvSpPr>
        <p:spPr>
          <a:xfrm>
            <a:off x="594360" y="5020056"/>
            <a:ext cx="10972800" cy="173736"/>
          </a:xfrm>
          <a:prstGeom prst="rect">
            <a:avLst/>
          </a:prstGeom>
          <a:noFill/>
          <a:ln/>
        </p:spPr>
        <p:txBody>
          <a:bodyPr wrap="square" lIns="0" tIns="0" rIns="0" bIns="0" rtlCol="0" anchor="t"/>
          <a:lstStyle/>
          <a:p>
            <a:pPr indent="0" marL="0">
              <a:buNone/>
            </a:pPr>
            <a:r>
              <a:rPr lang="en-US" sz="800" u="sng" dirty="0">
                <a:solidFill>
                  <a:srgbClr val="777584"/>
                </a:solidFill>
                <a:latin typeface="Quicksand" pitchFamily="34" charset="0"/>
                <a:ea typeface="Quicksand" pitchFamily="34" charset="-122"/>
                <a:cs typeface="Quicksand"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https://creativecommons.org/licenses/by-sa/2.0/</a:t>
            </a:r>
            <a:endParaRPr lang="en-US" sz="8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AF9F6"/>
        </a:solidFill>
      </p:bgPr>
    </p:bg>
    <p:spTree>
      <p:nvGrpSpPr>
        <p:cNvPr id="1" name=""/>
        <p:cNvGrpSpPr/>
        <p:nvPr/>
      </p:nvGrpSpPr>
      <p:grpSpPr>
        <a:xfrm>
          <a:off x="0" y="0"/>
          <a:ext cx="0" cy="0"/>
          <a:chOff x="0" y="0"/>
          <a:chExt cx="0" cy="0"/>
        </a:xfrm>
      </p:grpSpPr>
      <p:sp>
        <p:nvSpPr>
          <p:cNvPr id="2" name="Text 0"/>
          <p:cNvSpPr txBox="1"/>
          <p:nvPr/>
        </p:nvSpPr>
        <p:spPr>
          <a:xfrm>
            <a:off x="594360" y="301752"/>
            <a:ext cx="10424160" cy="274320"/>
          </a:xfrm>
          <a:prstGeom prst="rect">
            <a:avLst/>
          </a:prstGeom>
          <a:noFill/>
          <a:ln/>
        </p:spPr>
        <p:txBody>
          <a:bodyPr wrap="square" lIns="0" tIns="0" rIns="0" bIns="0" rtlCol="0" anchor="t"/>
          <a:lstStyle/>
          <a:p>
            <a:pPr indent="0" marL="0">
              <a:buNone/>
            </a:pPr>
            <a:r>
              <a:rPr lang="en-US" sz="1100" b="1" spc="200" kern="0" dirty="0">
                <a:solidFill>
                  <a:srgbClr val="494985"/>
                </a:solidFill>
                <a:latin typeface="Quicksand" pitchFamily="34" charset="0"/>
                <a:ea typeface="Quicksand" pitchFamily="34" charset="-122"/>
                <a:cs typeface="Quicksand" pitchFamily="34" charset="-120"/>
              </a:rPr>
              <a:t>REFERENCES</a:t>
            </a:r>
            <a:endParaRPr lang="en-US" sz="1100" dirty="0"/>
          </a:p>
        </p:txBody>
      </p:sp>
      <p:sp>
        <p:nvSpPr>
          <p:cNvPr id="3" name="Text 1"/>
          <p:cNvSpPr txBox="1"/>
          <p:nvPr/>
        </p:nvSpPr>
        <p:spPr>
          <a:xfrm>
            <a:off x="594360" y="822960"/>
            <a:ext cx="10972800" cy="640080"/>
          </a:xfrm>
          <a:prstGeom prst="rect">
            <a:avLst/>
          </a:prstGeom>
          <a:noFill/>
          <a:ln/>
        </p:spPr>
        <p:txBody>
          <a:bodyPr wrap="square" lIns="0" tIns="0" rIns="0" bIns="0" rtlCol="0" anchor="t"/>
          <a:lstStyle/>
          <a:p>
            <a:pPr indent="0" marL="0">
              <a:buNone/>
            </a:pPr>
            <a:r>
              <a:rPr lang="en-US" sz="3200" b="1" dirty="0">
                <a:solidFill>
                  <a:srgbClr val="252341"/>
                </a:solidFill>
                <a:latin typeface="Quicksand" pitchFamily="34" charset="0"/>
                <a:ea typeface="Quicksand" pitchFamily="34" charset="-122"/>
                <a:cs typeface="Quicksand" pitchFamily="34" charset="-120"/>
              </a:rPr>
              <a:t>Teaching sources and exam coverage</a:t>
            </a:r>
            <a:endParaRPr lang="en-US" sz="3200" dirty="0"/>
          </a:p>
        </p:txBody>
      </p:sp>
      <p:sp>
        <p:nvSpPr>
          <p:cNvPr id="4" name="Shape 2"/>
          <p:cNvSpPr/>
          <p:nvPr/>
        </p:nvSpPr>
        <p:spPr>
          <a:xfrm>
            <a:off x="594360" y="6355080"/>
            <a:ext cx="10972800" cy="0"/>
          </a:xfrm>
          <a:prstGeom prst="line">
            <a:avLst/>
          </a:prstGeom>
          <a:noFill/>
          <a:ln w="8890">
            <a:solidFill>
              <a:srgbClr val="DDDBE5"/>
            </a:solidFill>
            <a:prstDash val="solid"/>
          </a:ln>
        </p:spPr>
      </p:sp>
      <p:sp>
        <p:nvSpPr>
          <p:cNvPr id="5" name="Text 3"/>
          <p:cNvSpPr txBox="1"/>
          <p:nvPr/>
        </p:nvSpPr>
        <p:spPr>
          <a:xfrm>
            <a:off x="594360" y="6473952"/>
            <a:ext cx="5486400" cy="164592"/>
          </a:xfrm>
          <a:prstGeom prst="rect">
            <a:avLst/>
          </a:prstGeom>
          <a:noFill/>
          <a:ln/>
        </p:spPr>
        <p:txBody>
          <a:bodyPr wrap="square" lIns="0" tIns="0" rIns="0" bIns="0" rtlCol="0" anchor="t"/>
          <a:lstStyle/>
          <a:p>
            <a:pPr indent="0" marL="0">
              <a:buNone/>
            </a:pPr>
            <a:r>
              <a:rPr lang="en-US" sz="800" dirty="0">
                <a:solidFill>
                  <a:srgbClr val="777584"/>
                </a:solidFill>
                <a:latin typeface="Quicksand" pitchFamily="34" charset="0"/>
                <a:ea typeface="Quicksand" pitchFamily="34" charset="-122"/>
                <a:cs typeface="Quicksand" pitchFamily="34" charset="-120"/>
              </a:rPr>
              <a:t>IGCSE 0478  /  ARTIFICIAL INTELLIGENCE</a:t>
            </a:r>
            <a:endParaRPr lang="en-US" sz="800" dirty="0"/>
          </a:p>
        </p:txBody>
      </p:sp>
      <p:sp>
        <p:nvSpPr>
          <p:cNvPr id="6" name="Text 4"/>
          <p:cNvSpPr txBox="1"/>
          <p:nvPr/>
        </p:nvSpPr>
        <p:spPr>
          <a:xfrm>
            <a:off x="11018520" y="6419088"/>
            <a:ext cx="530352" cy="228600"/>
          </a:xfrm>
          <a:prstGeom prst="rect">
            <a:avLst/>
          </a:prstGeom>
          <a:noFill/>
          <a:ln/>
        </p:spPr>
        <p:txBody>
          <a:bodyPr wrap="square" lIns="0" tIns="0" rIns="0" bIns="0" rtlCol="0" anchor="t"/>
          <a:lstStyle/>
          <a:p>
            <a:pPr algn="r" indent="0" marL="0">
              <a:buNone/>
            </a:pPr>
            <a:r>
              <a:rPr lang="en-US" sz="1100" dirty="0">
                <a:solidFill>
                  <a:srgbClr val="777584"/>
                </a:solidFill>
                <a:latin typeface="Quicksand" pitchFamily="34" charset="0"/>
                <a:ea typeface="Quicksand" pitchFamily="34" charset="-122"/>
                <a:cs typeface="Quicksand" pitchFamily="34" charset="-120"/>
              </a:rPr>
              <a:t>41</a:t>
            </a:r>
            <a:endParaRPr lang="en-US" sz="1100" dirty="0"/>
          </a:p>
        </p:txBody>
      </p:sp>
      <p:graphicFrame>
        <p:nvGraphicFramePr>
          <p:cNvPr id="42" name="Table 0"/>
          <p:cNvGraphicFramePr>
            <a:graphicFrameLocks noGrp="1"/>
          </p:cNvGraphicFramePr>
          <p:nvPr>
            <p:extLst>
              <p:ext uri="{D42A27DB-BD31-4B8C-83A1-F6EECF244321}">
                <p14:modId xmlns:p14="http://schemas.microsoft.com/office/powerpoint/2010/main" val="1579011935"/>
              </p:ext>
            </p:extLst>
          </p:nvPr>
        </p:nvGraphicFramePr>
        <p:xfrm>
          <a:off x="594360" y="1783080"/>
          <a:ext cx="10972800" cy="914400"/>
        </p:xfrm>
        <a:graphic>
          <a:graphicData uri="http://schemas.openxmlformats.org/drawingml/2006/table">
            <a:tbl>
              <a:tblPr/>
              <a:tblGrid>
                <a:gridCol w="3931920"/>
                <a:gridCol w="7040880"/>
              </a:tblGrid>
              <a:tr h="777240">
                <a:tc>
                  <a:txBody>
                    <a:bodyPr/>
                    <a:lstStyle/>
                    <a:p>
                      <a:pPr indent="0" marL="0">
                        <a:buNone/>
                      </a:pPr>
                      <a:r>
                        <a:rPr lang="en-US" sz="2050" b="1" dirty="0">
                          <a:solidFill>
                            <a:srgbClr val="FFFFFF"/>
                          </a:solidFill>
                          <a:latin typeface="Quicksand" pitchFamily="34" charset="0"/>
                          <a:ea typeface="Quicksand" pitchFamily="34" charset="-122"/>
                          <a:cs typeface="Quicksand" pitchFamily="34" charset="-120"/>
                        </a:rPr>
                        <a:t>Source</a:t>
                      </a:r>
                      <a:endParaRPr lang="en-US" sz="2050" dirty="0">
                        <a:latin typeface="Quicksand" charset="0"/>
                        <a:ea typeface="Quicksand" charset="0"/>
                        <a:cs typeface="Quicksand" charset="0"/>
                      </a:endParaRPr>
                    </a:p>
                  </a:txBody>
                  <a:tcPr marL="91440" marR="91440"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494985"/>
                    </a:solidFill>
                  </a:tcPr>
                </a:tc>
                <a:tc>
                  <a:txBody>
                    <a:bodyPr/>
                    <a:lstStyle/>
                    <a:p>
                      <a:pPr indent="0" marL="0">
                        <a:buNone/>
                      </a:pPr>
                      <a:r>
                        <a:rPr lang="en-US" sz="2050" b="1" dirty="0">
                          <a:solidFill>
                            <a:srgbClr val="FFFFFF"/>
                          </a:solidFill>
                          <a:latin typeface="Quicksand" pitchFamily="34" charset="0"/>
                          <a:ea typeface="Quicksand" pitchFamily="34" charset="-122"/>
                          <a:cs typeface="Quicksand" pitchFamily="34" charset="-120"/>
                        </a:rPr>
                        <a:t>Role in this lesson</a:t>
                      </a:r>
                      <a:endParaRPr lang="en-US" sz="2050" dirty="0">
                        <a:latin typeface="Quicksand" charset="0"/>
                        <a:ea typeface="Quicksand" charset="0"/>
                        <a:cs typeface="Quicksand" charset="0"/>
                      </a:endParaRPr>
                    </a:p>
                  </a:txBody>
                  <a:tcPr marL="91440" marR="91440"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494985"/>
                    </a:solidFill>
                  </a:tcPr>
                </a:tc>
              </a:tr>
              <a:tr h="777240">
                <a:tc>
                  <a:txBody>
                    <a:bodyPr/>
                    <a:lstStyle/>
                    <a:p>
                      <a:pPr indent="0" marL="0">
                        <a:buNone/>
                      </a:pPr>
                      <a:r>
                        <a:rPr lang="en-US" sz="2000" dirty="0">
                          <a:solidFill>
                            <a:srgbClr val="202124"/>
                          </a:solidFill>
                          <a:latin typeface="Quicksand" pitchFamily="34" charset="0"/>
                          <a:ea typeface="Quicksand" pitchFamily="34" charset="-122"/>
                          <a:cs typeface="Quicksand" pitchFamily="34" charset="-120"/>
                        </a:rPr>
                        <a:t>Teacher-supplied Hodder extract</a:t>
                      </a:r>
                      <a:endParaRPr lang="en-US" sz="2000" dirty="0">
                        <a:latin typeface="Quicksand" charset="0"/>
                        <a:ea typeface="Quicksand" charset="0"/>
                        <a:cs typeface="Quicksand" charset="0"/>
                      </a:endParaRPr>
                    </a:p>
                  </a:txBody>
                  <a:tcPr marL="91440" marR="91440"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6F5FC"/>
                    </a:solidFill>
                  </a:tcPr>
                </a:tc>
                <a:tc>
                  <a:txBody>
                    <a:bodyPr/>
                    <a:lstStyle/>
                    <a:p>
                      <a:pPr indent="0" marL="0">
                        <a:buNone/>
                      </a:pPr>
                      <a:r>
                        <a:rPr lang="en-US" sz="2000" dirty="0">
                          <a:solidFill>
                            <a:srgbClr val="202124"/>
                          </a:solidFill>
                          <a:latin typeface="Quicksand" pitchFamily="34" charset="0"/>
                          <a:ea typeface="Quicksand" pitchFamily="34" charset="-122"/>
                          <a:cs typeface="Quicksand" pitchFamily="34" charset="-120"/>
                        </a:rPr>
                        <a:t>Core AI, expert-system and machine-learning concepts.</a:t>
                      </a:r>
                      <a:endParaRPr lang="en-US" sz="2000" dirty="0">
                        <a:latin typeface="Quicksand" charset="0"/>
                        <a:ea typeface="Quicksand" charset="0"/>
                        <a:cs typeface="Quicksand" charset="0"/>
                      </a:endParaRPr>
                    </a:p>
                  </a:txBody>
                  <a:tcPr marL="91440" marR="91440"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6F5FC"/>
                    </a:solidFill>
                  </a:tcPr>
                </a:tc>
              </a:tr>
              <a:tr h="777240">
                <a:tc>
                  <a:txBody>
                    <a:bodyPr/>
                    <a:lstStyle/>
                    <a:p>
                      <a:pPr indent="0" marL="0">
                        <a:buNone/>
                      </a:pPr>
                      <a:r>
                        <a:rPr lang="en-US" sz="2000" dirty="0">
                          <a:solidFill>
                            <a:srgbClr val="202124"/>
                          </a:solidFill>
                          <a:latin typeface="Quicksand" pitchFamily="34" charset="0"/>
                          <a:ea typeface="Quicksand" pitchFamily="34" charset="-122"/>
                          <a:cs typeface="Quicksand" pitchFamily="34" charset="-120"/>
                        </a:rPr>
                        <a:t>2023–2025: all 21 Paper 1 papers</a:t>
                      </a:r>
                      <a:endParaRPr lang="en-US" sz="2000" dirty="0">
                        <a:latin typeface="Quicksand" charset="0"/>
                        <a:ea typeface="Quicksand" charset="0"/>
                        <a:cs typeface="Quicksand" charset="0"/>
                      </a:endParaRPr>
                    </a:p>
                  </a:txBody>
                  <a:tcPr marL="91440" marR="91440"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indent="0" marL="0">
                        <a:buNone/>
                      </a:pPr>
                      <a:r>
                        <a:rPr lang="en-US" sz="2000" dirty="0">
                          <a:solidFill>
                            <a:srgbClr val="202124"/>
                          </a:solidFill>
                          <a:latin typeface="Quicksand" pitchFamily="34" charset="0"/>
                          <a:ea typeface="Quicksand" pitchFamily="34" charset="-122"/>
                          <a:cs typeface="Quicksand" pitchFamily="34" charset="-120"/>
                        </a:rPr>
                        <a:t>Coverage audit: 29 AI parts, with 20 adapted for practice.</a:t>
                      </a:r>
                      <a:endParaRPr lang="en-US" sz="2000" dirty="0">
                        <a:latin typeface="Quicksand" charset="0"/>
                        <a:ea typeface="Quicksand" charset="0"/>
                        <a:cs typeface="Quicksand" charset="0"/>
                      </a:endParaRPr>
                    </a:p>
                  </a:txBody>
                  <a:tcPr marL="91440" marR="91440"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777240">
                <a:tc>
                  <a:txBody>
                    <a:bodyPr/>
                    <a:lstStyle/>
                    <a:p>
                      <a:pPr indent="0" marL="0">
                        <a:buNone/>
                      </a:pPr>
                      <a:r>
                        <a:rPr lang="en-US" sz="2000" dirty="0">
                          <a:solidFill>
                            <a:srgbClr val="202124"/>
                          </a:solidFill>
                          <a:latin typeface="Quicksand" pitchFamily="34" charset="0"/>
                          <a:ea typeface="Quicksand" pitchFamily="34" charset="-122"/>
                          <a:cs typeface="Quicksand" pitchFamily="34" charset="-120"/>
                        </a:rPr>
                        <a:t>Cambridge published mark schemes</a:t>
                      </a:r>
                      <a:endParaRPr lang="en-US" sz="2000" dirty="0">
                        <a:latin typeface="Quicksand" charset="0"/>
                        <a:ea typeface="Quicksand" charset="0"/>
                        <a:cs typeface="Quicksand" charset="0"/>
                      </a:endParaRPr>
                    </a:p>
                  </a:txBody>
                  <a:tcPr marL="91440" marR="91440"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6F5FC"/>
                    </a:solidFill>
                  </a:tcPr>
                </a:tc>
                <a:tc>
                  <a:txBody>
                    <a:bodyPr/>
                    <a:lstStyle/>
                    <a:p>
                      <a:pPr indent="0" marL="0">
                        <a:buNone/>
                      </a:pPr>
                      <a:r>
                        <a:rPr lang="en-US" sz="2000" dirty="0">
                          <a:solidFill>
                            <a:srgbClr val="202124"/>
                          </a:solidFill>
                          <a:latin typeface="Quicksand" pitchFamily="34" charset="0"/>
                          <a:ea typeface="Quicksand" pitchFamily="34" charset="-122"/>
                          <a:cs typeface="Quicksand" pitchFamily="34" charset="-120"/>
                        </a:rPr>
                        <a:t>Verified allocations, alternatives and mark ceilings.</a:t>
                      </a:r>
                      <a:endParaRPr lang="en-US" sz="2000" dirty="0">
                        <a:latin typeface="Quicksand" charset="0"/>
                        <a:ea typeface="Quicksand" charset="0"/>
                        <a:cs typeface="Quicksand" charset="0"/>
                      </a:endParaRPr>
                    </a:p>
                  </a:txBody>
                  <a:tcPr marL="91440" marR="91440"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6F5FC"/>
                    </a:solidFill>
                  </a:tcPr>
                </a:tc>
              </a:tr>
              <a:tr h="777240">
                <a:tc>
                  <a:txBody>
                    <a:bodyPr/>
                    <a:lstStyle/>
                    <a:p>
                      <a:pPr indent="0" marL="0">
                        <a:buNone/>
                      </a:pPr>
                      <a:r>
                        <a:rPr lang="en-US" sz="2000" dirty="0">
                          <a:solidFill>
                            <a:srgbClr val="202124"/>
                          </a:solidFill>
                          <a:latin typeface="Quicksand" pitchFamily="34" charset="0"/>
                          <a:ea typeface="Quicksand" pitchFamily="34" charset="-122"/>
                          <a:cs typeface="Quicksand" pitchFamily="34" charset="-120"/>
                        </a:rPr>
                        <a:t>Delivery</a:t>
                      </a:r>
                      <a:endParaRPr lang="en-US" sz="2000" dirty="0">
                        <a:latin typeface="Quicksand" charset="0"/>
                        <a:ea typeface="Quicksand" charset="0"/>
                        <a:cs typeface="Quicksand" charset="0"/>
                      </a:endParaRPr>
                    </a:p>
                  </a:txBody>
                  <a:tcPr marL="91440" marR="91440"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indent="0" marL="0">
                        <a:buNone/>
                      </a:pPr>
                      <a:r>
                        <a:rPr lang="en-US" sz="2000" dirty="0">
                          <a:solidFill>
                            <a:srgbClr val="202124"/>
                          </a:solidFill>
                          <a:latin typeface="Quicksand" pitchFamily="34" charset="0"/>
                          <a:ea typeface="Quicksand" pitchFamily="34" charset="-122"/>
                          <a:cs typeface="Quicksand" pitchFamily="34" charset="-120"/>
                        </a:rPr>
                        <a:t>Teach concepts first; selected practice; follow-up bank.</a:t>
                      </a:r>
                      <a:endParaRPr lang="en-US" sz="2000" dirty="0">
                        <a:latin typeface="Quicksand" charset="0"/>
                        <a:ea typeface="Quicksand" charset="0"/>
                        <a:cs typeface="Quicksand" charset="0"/>
                      </a:endParaRPr>
                    </a:p>
                  </a:txBody>
                  <a:tcPr marL="91440" marR="91440"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bl>
          </a:graphicData>
        </a:graphic>
      </p:graphicFrame>
      <p:sp>
        <p:nvSpPr>
          <p:cNvPr id="9" name="Text 5"/>
          <p:cNvSpPr txBox="1"/>
          <p:nvPr/>
        </p:nvSpPr>
        <p:spPr>
          <a:xfrm>
            <a:off x="594360" y="5650992"/>
            <a:ext cx="10972800" cy="384048"/>
          </a:xfrm>
          <a:prstGeom prst="rect">
            <a:avLst/>
          </a:prstGeom>
          <a:noFill/>
          <a:ln/>
        </p:spPr>
        <p:txBody>
          <a:bodyPr wrap="square" lIns="0" tIns="0" rIns="0" bIns="0" rtlCol="0" anchor="t"/>
          <a:lstStyle/>
          <a:p>
            <a:pPr indent="0" marL="0">
              <a:buNone/>
            </a:pPr>
            <a:r>
              <a:rPr lang="en-US" sz="1700" b="1" dirty="0">
                <a:solidFill>
                  <a:srgbClr val="494985"/>
                </a:solidFill>
                <a:latin typeface="Quicksand" pitchFamily="34" charset="0"/>
                <a:ea typeface="Quicksand" pitchFamily="34" charset="-122"/>
                <a:cs typeface="Quicksand" pitchFamily="34" charset="-120"/>
              </a:rPr>
              <a:t>Complete question-by-question sources: AI_Exam_Coverage.md.</a:t>
            </a:r>
            <a:endParaRPr lang="en-US" sz="17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41</Slides>
  <Notes>41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41</vt:i4>
      </vt:variant>
    </vt:vector>
  </HeadingPairs>
  <TitlesOfParts>
    <vt:vector size="4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Artificial intelligence — understand, apply, answer</dc:title>
  <dc:subject>PptxGenJS Presentation</dc:subject>
  <dc:creator>PptxGenJS</dc:creator>
  <cp:lastModifiedBy>PptxGenJS</cp:lastModifiedBy>
  <cp:revision>1</cp:revision>
  <dcterms:created xsi:type="dcterms:W3CDTF">2026-10-12T04:09:10Z</dcterms:created>
  <dcterms:modified xsi:type="dcterms:W3CDTF">2026-10-12T04:09:10Z</dcterms:modified>
</cp:coreProperties>
</file>