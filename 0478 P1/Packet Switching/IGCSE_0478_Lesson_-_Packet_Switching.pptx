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syllabus 2.1 1(a) data is broken into packets, (b) structure of a packet, (c) the process of packet switching. Starter T/F statements are revisited in the plenary.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Prior-knowledge check - do not give answers yet; students revisit Task 1 at the end. Answers: 1 False (it is broken into packets). 2 True. 3 False (packets can take different routes). 4 True. 5 False (routers decide the route; the sender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posting a 300-page book as 300 numbered postcards. Each postcard can travel separately, a lost one can be re-sent on its own, and the numbers let the reader put them back in order. Syllabus 1(a) only requires "understand that data is broken down into packets", but the reasons help students describe packet switching.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Syllabus 1(b): a packet contains a packet header, payload and trailer. Use the envelope analogy: the header is the address written on the envelope, the payload is the letter inside, and the trailer is like a seal that shows where it ends and whether it has been tampered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items are exactly what the syllabus lists, so they are the safest answers in an exam. Use "originator's address" or "sender's address" - both are clear. Real headers hold more (e.g. packet size, hop count) but students only need these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payload holds 3 characters here (real payloads are much bigger - often around 1500 bytes). Point out the space character counts as data. Task 3 asks students to do the same with a different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Packets 1, 2 and 3 leave the sender in order but take different routes through the routers. Ask: which packet do you think arrives first? (Fewest hops is not always fastest - it depends on how busy each router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steps are the syllabus bullet points for 1(c), so they map directly onto marking points. Students should be able to write all five in order for a "describe the process"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receiving computer waits until the last packet has arrived, then uses the packet numbers in the headers to reassemble the message. If a packet is missing, it can request it again using the originator's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Syllabus: "a router controls the route a packet takes". Hop numbers are not in the 0478 syllabus wording but appear in the textbook - an extension point: a hop count stops a lost packet bouncing between routers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listed in the 0478 syllabus notes, but they help students explain why packet switching is used and appear in the textbook. Keep it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answers: packet 1 took a longer or busier route (more routers, or congested routers), so packet 3 overtook it. The receiver is not confused because it uses the packet numbers in the headers to reorder them once the last packet has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AFTER students attempt worksheet Task 4(c). These are suggested marking points built from the syllabus wording (the syllabus notes are what the mark scheme credits). One mark per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minutes. Task 5 is an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return to the starter (Task 1) and correct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header, payload, trailer. 2 destination address, packet number, originator's address. 3 the packet number - the receiver uses it to reorder the packets once the last one has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560320"/>
            <a:ext cx="7004304" cy="914400"/>
          </a:xfrm>
          <a:prstGeom prst="rect">
            <a:avLst/>
          </a:prstGeom>
          <a:noFill/>
          <a:ln/>
        </p:spPr>
        <p:txBody>
          <a:bodyPr wrap="square" lIns="0" tIns="0" rIns="0" bIns="0" rtlCol="0" anchor="b"/>
          <a:lstStyle/>
          <a:p>
            <a:pPr indent="0" marL="0">
              <a:buNone/>
            </a:pPr>
            <a:r>
              <a:rPr lang="en-US" sz="5400" b="1" dirty="0">
                <a:solidFill>
                  <a:srgbClr val="202124"/>
                </a:solidFill>
                <a:latin typeface="Quicksand" pitchFamily="34" charset="0"/>
                <a:ea typeface="Quicksand" pitchFamily="34" charset="-122"/>
                <a:cs typeface="Quicksand" pitchFamily="34" charset="-120"/>
              </a:rPr>
              <a:t>Packet switching</a:t>
            </a:r>
            <a:endParaRPr lang="en-US" sz="5400" dirty="0"/>
          </a:p>
        </p:txBody>
      </p:sp>
      <p:sp>
        <p:nvSpPr>
          <p:cNvPr id="4" name="Text 2"/>
          <p:cNvSpPr txBox="1"/>
          <p:nvPr/>
        </p:nvSpPr>
        <p:spPr>
          <a:xfrm>
            <a:off x="667512" y="3547872"/>
            <a:ext cx="7004304" cy="411480"/>
          </a:xfrm>
          <a:prstGeom prst="rect">
            <a:avLst/>
          </a:prstGeom>
          <a:noFill/>
          <a:ln/>
        </p:spPr>
        <p:txBody>
          <a:bodyPr wrap="square" lIns="0" tIns="0" rIns="0" bIns="0" rtlCol="0" anchor="ctr"/>
          <a:lstStyle/>
          <a:p>
            <a:pPr indent="0" marL="0">
              <a:buNone/>
            </a:pPr>
            <a:r>
              <a:rPr lang="en-US" sz="2000" dirty="0">
                <a:solidFill>
                  <a:srgbClr val="666666"/>
                </a:solidFill>
                <a:latin typeface="Quicksand" pitchFamily="34" charset="0"/>
                <a:ea typeface="Quicksand" pitchFamily="34" charset="-122"/>
                <a:cs typeface="Quicksand" pitchFamily="34" charset="-120"/>
              </a:rPr>
              <a:t>IGCSE Computer Science 0478  |  2.1</a:t>
            </a:r>
            <a:endParaRPr lang="en-US" sz="2000" dirty="0"/>
          </a:p>
        </p:txBody>
      </p:sp>
      <p:sp>
        <p:nvSpPr>
          <p:cNvPr id="5" name="Shape 3"/>
          <p:cNvSpPr/>
          <p:nvPr/>
        </p:nvSpPr>
        <p:spPr>
          <a:xfrm>
            <a:off x="667512" y="4050792"/>
            <a:ext cx="1719072" cy="54864"/>
          </a:xfrm>
          <a:prstGeom prst="rect">
            <a:avLst/>
          </a:prstGeom>
          <a:solidFill>
            <a:srgbClr val="494985"/>
          </a:solidFill>
          <a:ln w="12700">
            <a:solidFill>
              <a:srgbClr val="494985"/>
            </a:solidFill>
            <a:prstDash val="solid"/>
          </a:ln>
        </p:spPr>
      </p:sp>
      <p:sp>
        <p:nvSpPr>
          <p:cNvPr id="6" name="Text 4"/>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True or False?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activity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sp>
        <p:nvSpPr>
          <p:cNvPr id="7" name="Text 4"/>
          <p:cNvSpPr txBox="1"/>
          <p:nvPr/>
        </p:nvSpPr>
        <p:spPr>
          <a:xfrm>
            <a:off x="841248" y="1188720"/>
            <a:ext cx="10058400" cy="3657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What do you already know? Decide True or False - we will come back to these at the end.</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950976" y="1691640"/>
          <a:ext cx="10287000" cy="914400"/>
        </p:xfrm>
        <a:graphic>
          <a:graphicData uri="http://schemas.openxmlformats.org/drawingml/2006/table">
            <a:tbl>
              <a:tblPr/>
              <a:tblGrid>
                <a:gridCol w="8092440"/>
                <a:gridCol w="1097280"/>
                <a:gridCol w="1097280"/>
              </a:tblGrid>
              <a:tr h="566928">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Statement</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True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False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 large file is sent across the internet in one piece.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Each packet contains the address of the computer it is going to.</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All the packets in a message must travel along the same route.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Packets can arrive at the destination in a different order from the order they were sent 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sending computer decides the route that every packet takes.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6" name="Text 4"/>
          <p:cNvSpPr txBox="1"/>
          <p:nvPr/>
        </p:nvSpPr>
        <p:spPr>
          <a:xfrm>
            <a:off x="841248" y="1463040"/>
            <a:ext cx="10241280" cy="3840480"/>
          </a:xfrm>
          <a:prstGeom prst="rect">
            <a:avLst/>
          </a:prstGeom>
          <a:noFill/>
          <a:ln/>
        </p:spPr>
        <p:txBody>
          <a:bodyPr wrap="square" lIns="0" tIns="0" rIns="0" bIns="0" rtlCol="0" anchor="t"/>
          <a:lstStyle/>
          <a:p>
            <a:pPr marL="228600" indent="-228600">
              <a:spcAft>
                <a:spcPts val="1600"/>
              </a:spcAft>
              <a:buSzPct val="100000"/>
              <a:buChar char="•"/>
            </a:pPr>
            <a:r>
              <a:rPr lang="en-US" sz="1900" dirty="0">
                <a:solidFill>
                  <a:srgbClr val="202124"/>
                </a:solidFill>
                <a:latin typeface="Quicksand" pitchFamily="34" charset="0"/>
                <a:ea typeface="Quicksand" pitchFamily="34" charset="-122"/>
                <a:cs typeface="Quicksand" pitchFamily="34" charset="-120"/>
              </a:rPr>
              <a:t>Explain why data is broken down into packets before it is transmitted</a:t>
            </a:r>
            <a:endParaRPr lang="en-US" sz="1900" dirty="0"/>
          </a:p>
          <a:p>
            <a:pPr marL="228600" indent="-228600">
              <a:spcAft>
                <a:spcPts val="1600"/>
              </a:spcAft>
              <a:buSzPct val="100000"/>
              <a:buChar char="•"/>
            </a:pPr>
            <a:r>
              <a:rPr lang="en-US" sz="1900" dirty="0">
                <a:solidFill>
                  <a:srgbClr val="202124"/>
                </a:solidFill>
                <a:latin typeface="Quicksand" pitchFamily="34" charset="0"/>
                <a:ea typeface="Quicksand" pitchFamily="34" charset="-122"/>
                <a:cs typeface="Quicksand" pitchFamily="34" charset="-120"/>
              </a:rPr>
              <a:t>Describe the structure of a packet: header, payload and trailer</a:t>
            </a:r>
            <a:endParaRPr lang="en-US" sz="1900" dirty="0"/>
          </a:p>
          <a:p>
            <a:pPr marL="228600" indent="-228600">
              <a:spcAft>
                <a:spcPts val="1600"/>
              </a:spcAft>
              <a:buSzPct val="100000"/>
              <a:buChar char="•"/>
            </a:pPr>
            <a:r>
              <a:rPr lang="en-US" sz="1900" dirty="0">
                <a:solidFill>
                  <a:srgbClr val="202124"/>
                </a:solidFill>
                <a:latin typeface="Quicksand" pitchFamily="34" charset="0"/>
                <a:ea typeface="Quicksand" pitchFamily="34" charset="-122"/>
                <a:cs typeface="Quicksand" pitchFamily="34" charset="-120"/>
              </a:rPr>
              <a:t>State what the packet header contains: destination address, packet number and originator's address</a:t>
            </a:r>
            <a:endParaRPr lang="en-US" sz="1900" dirty="0"/>
          </a:p>
          <a:p>
            <a:pPr marL="228600" indent="-228600">
              <a:spcAft>
                <a:spcPts val="1600"/>
              </a:spcAft>
              <a:buSzPct val="100000"/>
              <a:buChar char="•"/>
            </a:pPr>
            <a:r>
              <a:rPr lang="en-US" sz="1900" dirty="0">
                <a:solidFill>
                  <a:srgbClr val="202124"/>
                </a:solidFill>
                <a:latin typeface="Quicksand" pitchFamily="34" charset="0"/>
                <a:ea typeface="Quicksand" pitchFamily="34" charset="-122"/>
                <a:cs typeface="Quicksand" pitchFamily="34" charset="-120"/>
              </a:rPr>
              <a:t>Describe the process of packet switching, including the role of the router</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Why break data into packets?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sp>
        <p:nvSpPr>
          <p:cNvPr id="7" name="Text 4"/>
          <p:cNvSpPr txBox="1"/>
          <p:nvPr/>
        </p:nvSpPr>
        <p:spPr>
          <a:xfrm>
            <a:off x="877824" y="1234440"/>
            <a:ext cx="10332720" cy="502920"/>
          </a:xfrm>
          <a:prstGeom prst="rect">
            <a:avLst/>
          </a:prstGeom>
          <a:noFill/>
          <a:ln/>
        </p:spPr>
        <p:txBody>
          <a:bodyPr wrap="square" lIns="0" tIns="0" rIns="0" bIns="0" rtlCol="0" anchor="t"/>
          <a:lstStyle/>
          <a:p>
            <a:pPr indent="0" marL="0">
              <a:buNone/>
            </a:pPr>
            <a:r>
              <a:rPr lang="en-US" sz="1700" b="1" dirty="0">
                <a:solidFill>
                  <a:srgbClr val="202124"/>
                </a:solidFill>
                <a:latin typeface="Quicksand" pitchFamily="34" charset="0"/>
                <a:ea typeface="Quicksand" pitchFamily="34" charset="-122"/>
                <a:cs typeface="Quicksand" pitchFamily="34" charset="-120"/>
              </a:rPr>
              <a:t>Before data is sent across a network, it is broken down into small, equal-sized units called packets.</a:t>
            </a:r>
            <a:endParaRPr lang="en-US" sz="1700" dirty="0"/>
          </a:p>
        </p:txBody>
      </p:sp>
      <p:sp>
        <p:nvSpPr>
          <p:cNvPr id="8" name="Text 5"/>
          <p:cNvSpPr/>
          <p:nvPr/>
        </p:nvSpPr>
        <p:spPr>
          <a:xfrm>
            <a:off x="877824" y="2148840"/>
            <a:ext cx="2011680" cy="1371600"/>
          </a:xfrm>
          <a:prstGeom prst="rect">
            <a:avLst>
              <a:gd name="adj" fmla="val 5333"/>
            </a:avLst>
          </a:prstGeom>
          <a:solidFill>
            <a:srgbClr val="E9E8F5"/>
          </a:solidFill>
          <a:ln w="12700">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video.mp4</a:t>
            </a:r>
            <a:endParaRPr lang="en-US" sz="1400" dirty="0"/>
          </a:p>
          <a:p>
            <a:pPr algn="ctr" indent="0" marL="0">
              <a:buNone/>
            </a:pPr>
            <a:r>
              <a:rPr lang="en-US" sz="1400" b="1" dirty="0">
                <a:solidFill>
                  <a:srgbClr val="202124"/>
                </a:solidFill>
                <a:latin typeface="Quicksand" pitchFamily="34" charset="0"/>
                <a:ea typeface="Quicksand" pitchFamily="34" charset="-122"/>
                <a:cs typeface="Quicksand" pitchFamily="34" charset="-120"/>
              </a:rPr>
              <a:t>(one large file)</a:t>
            </a:r>
            <a:endParaRPr lang="en-US" sz="1400" dirty="0"/>
          </a:p>
        </p:txBody>
      </p:sp>
      <p:sp>
        <p:nvSpPr>
          <p:cNvPr id="9" name="Shape 6"/>
          <p:cNvSpPr/>
          <p:nvPr/>
        </p:nvSpPr>
        <p:spPr>
          <a:xfrm>
            <a:off x="3063240" y="2834640"/>
            <a:ext cx="914400" cy="914"/>
          </a:xfrm>
          <a:prstGeom prst="line">
            <a:avLst/>
          </a:prstGeom>
          <a:noFill/>
          <a:ln w="31750">
            <a:solidFill>
              <a:srgbClr val="494985"/>
            </a:solidFill>
            <a:prstDash val="solid"/>
            <a:tailEnd type="triangle"/>
          </a:ln>
        </p:spPr>
      </p:sp>
      <p:sp>
        <p:nvSpPr>
          <p:cNvPr id="10" name="Text 7"/>
          <p:cNvSpPr/>
          <p:nvPr/>
        </p:nvSpPr>
        <p:spPr>
          <a:xfrm>
            <a:off x="4160520" y="2148840"/>
            <a:ext cx="566928" cy="566928"/>
          </a:xfrm>
          <a:prstGeom prst="rect">
            <a:avLst>
              <a:gd name="adj" fmla="val 12903"/>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1</a:t>
            </a:r>
            <a:endParaRPr lang="en-US" sz="1300" dirty="0"/>
          </a:p>
        </p:txBody>
      </p:sp>
      <p:sp>
        <p:nvSpPr>
          <p:cNvPr id="11" name="Text 8"/>
          <p:cNvSpPr/>
          <p:nvPr/>
        </p:nvSpPr>
        <p:spPr>
          <a:xfrm>
            <a:off x="4846320" y="2148840"/>
            <a:ext cx="566928" cy="566928"/>
          </a:xfrm>
          <a:prstGeom prst="rect">
            <a:avLst>
              <a:gd name="adj" fmla="val 12903"/>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2</a:t>
            </a:r>
            <a:endParaRPr lang="en-US" sz="1300" dirty="0"/>
          </a:p>
        </p:txBody>
      </p:sp>
      <p:sp>
        <p:nvSpPr>
          <p:cNvPr id="12" name="Text 9"/>
          <p:cNvSpPr/>
          <p:nvPr/>
        </p:nvSpPr>
        <p:spPr>
          <a:xfrm>
            <a:off x="5532120" y="2148840"/>
            <a:ext cx="566928" cy="566928"/>
          </a:xfrm>
          <a:prstGeom prst="rect">
            <a:avLst>
              <a:gd name="adj" fmla="val 12903"/>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3</a:t>
            </a:r>
            <a:endParaRPr lang="en-US" sz="1300" dirty="0"/>
          </a:p>
        </p:txBody>
      </p:sp>
      <p:sp>
        <p:nvSpPr>
          <p:cNvPr id="13" name="Text 10"/>
          <p:cNvSpPr/>
          <p:nvPr/>
        </p:nvSpPr>
        <p:spPr>
          <a:xfrm>
            <a:off x="6217920" y="2148840"/>
            <a:ext cx="566928" cy="566928"/>
          </a:xfrm>
          <a:prstGeom prst="rect">
            <a:avLst>
              <a:gd name="adj" fmla="val 12903"/>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4</a:t>
            </a:r>
            <a:endParaRPr lang="en-US" sz="1300" dirty="0"/>
          </a:p>
        </p:txBody>
      </p:sp>
      <p:sp>
        <p:nvSpPr>
          <p:cNvPr id="14" name="Text 11"/>
          <p:cNvSpPr/>
          <p:nvPr/>
        </p:nvSpPr>
        <p:spPr>
          <a:xfrm>
            <a:off x="4160520" y="2880360"/>
            <a:ext cx="566928" cy="566928"/>
          </a:xfrm>
          <a:prstGeom prst="rect">
            <a:avLst>
              <a:gd name="adj" fmla="val 12903"/>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5</a:t>
            </a:r>
            <a:endParaRPr lang="en-US" sz="1300" dirty="0"/>
          </a:p>
        </p:txBody>
      </p:sp>
      <p:sp>
        <p:nvSpPr>
          <p:cNvPr id="15" name="Text 12"/>
          <p:cNvSpPr/>
          <p:nvPr/>
        </p:nvSpPr>
        <p:spPr>
          <a:xfrm>
            <a:off x="4846320" y="2880360"/>
            <a:ext cx="566928" cy="566928"/>
          </a:xfrm>
          <a:prstGeom prst="rect">
            <a:avLst>
              <a:gd name="adj" fmla="val 12903"/>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6</a:t>
            </a:r>
            <a:endParaRPr lang="en-US" sz="1300" dirty="0"/>
          </a:p>
        </p:txBody>
      </p:sp>
      <p:sp>
        <p:nvSpPr>
          <p:cNvPr id="16" name="Text 13"/>
          <p:cNvSpPr/>
          <p:nvPr/>
        </p:nvSpPr>
        <p:spPr>
          <a:xfrm>
            <a:off x="5532120" y="2880360"/>
            <a:ext cx="566928" cy="566928"/>
          </a:xfrm>
          <a:prstGeom prst="rect">
            <a:avLst>
              <a:gd name="adj" fmla="val 12903"/>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7</a:t>
            </a:r>
            <a:endParaRPr lang="en-US" sz="1300" dirty="0"/>
          </a:p>
        </p:txBody>
      </p:sp>
      <p:sp>
        <p:nvSpPr>
          <p:cNvPr id="17" name="Text 14"/>
          <p:cNvSpPr/>
          <p:nvPr/>
        </p:nvSpPr>
        <p:spPr>
          <a:xfrm>
            <a:off x="6217920" y="2880360"/>
            <a:ext cx="566928" cy="566928"/>
          </a:xfrm>
          <a:prstGeom prst="rect">
            <a:avLst>
              <a:gd name="adj" fmla="val 12903"/>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8</a:t>
            </a:r>
            <a:endParaRPr lang="en-US" sz="1300" dirty="0"/>
          </a:p>
        </p:txBody>
      </p:sp>
      <p:sp>
        <p:nvSpPr>
          <p:cNvPr id="18" name="Text 15"/>
          <p:cNvSpPr txBox="1"/>
          <p:nvPr/>
        </p:nvSpPr>
        <p:spPr>
          <a:xfrm>
            <a:off x="4160520" y="3611880"/>
            <a:ext cx="265176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numbered packets</a:t>
            </a:r>
            <a:endParaRPr lang="en-US" sz="1100" dirty="0"/>
          </a:p>
        </p:txBody>
      </p:sp>
      <p:sp>
        <p:nvSpPr>
          <p:cNvPr id="19" name="Shape 16"/>
          <p:cNvSpPr/>
          <p:nvPr/>
        </p:nvSpPr>
        <p:spPr>
          <a:xfrm>
            <a:off x="7223760" y="2011680"/>
            <a:ext cx="4297680" cy="1051560"/>
          </a:xfrm>
          <a:prstGeom prst="rect">
            <a:avLst/>
          </a:prstGeom>
          <a:solidFill>
            <a:srgbClr val="F6F5FC"/>
          </a:solidFill>
          <a:ln w="12700">
            <a:solidFill>
              <a:srgbClr val="F6F5FC"/>
            </a:solidFill>
            <a:prstDash val="solid"/>
          </a:ln>
        </p:spPr>
      </p:sp>
      <p:sp>
        <p:nvSpPr>
          <p:cNvPr id="20" name="Text 17"/>
          <p:cNvSpPr/>
          <p:nvPr/>
        </p:nvSpPr>
        <p:spPr>
          <a:xfrm>
            <a:off x="7360920" y="21488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21" name="Text 18"/>
          <p:cNvSpPr txBox="1"/>
          <p:nvPr/>
        </p:nvSpPr>
        <p:spPr>
          <a:xfrm>
            <a:off x="7882128" y="2121408"/>
            <a:ext cx="35204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Share the network</a:t>
            </a:r>
            <a:endParaRPr lang="en-US" sz="1500" dirty="0"/>
          </a:p>
        </p:txBody>
      </p:sp>
      <p:sp>
        <p:nvSpPr>
          <p:cNvPr id="22" name="Text 19"/>
          <p:cNvSpPr txBox="1"/>
          <p:nvPr/>
        </p:nvSpPr>
        <p:spPr>
          <a:xfrm>
            <a:off x="7882128" y="2514600"/>
            <a:ext cx="3520440" cy="4846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Small packets from many users can share the same cables and routers.</a:t>
            </a:r>
            <a:endParaRPr lang="en-US" sz="1250" dirty="0"/>
          </a:p>
        </p:txBody>
      </p:sp>
      <p:sp>
        <p:nvSpPr>
          <p:cNvPr id="23" name="Shape 20"/>
          <p:cNvSpPr/>
          <p:nvPr/>
        </p:nvSpPr>
        <p:spPr>
          <a:xfrm>
            <a:off x="7223760" y="3200400"/>
            <a:ext cx="4297680" cy="1051560"/>
          </a:xfrm>
          <a:prstGeom prst="rect">
            <a:avLst/>
          </a:prstGeom>
          <a:solidFill>
            <a:srgbClr val="F6F5FC"/>
          </a:solidFill>
          <a:ln w="12700">
            <a:solidFill>
              <a:srgbClr val="F6F5FC"/>
            </a:solidFill>
            <a:prstDash val="solid"/>
          </a:ln>
        </p:spPr>
      </p:sp>
      <p:sp>
        <p:nvSpPr>
          <p:cNvPr id="24" name="Text 21"/>
          <p:cNvSpPr/>
          <p:nvPr/>
        </p:nvSpPr>
        <p:spPr>
          <a:xfrm>
            <a:off x="7360920" y="33375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25" name="Text 22"/>
          <p:cNvSpPr txBox="1"/>
          <p:nvPr/>
        </p:nvSpPr>
        <p:spPr>
          <a:xfrm>
            <a:off x="7882128" y="3310128"/>
            <a:ext cx="35204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Avoid busy or broken links</a:t>
            </a:r>
            <a:endParaRPr lang="en-US" sz="1500" dirty="0"/>
          </a:p>
        </p:txBody>
      </p:sp>
      <p:sp>
        <p:nvSpPr>
          <p:cNvPr id="26" name="Text 23"/>
          <p:cNvSpPr txBox="1"/>
          <p:nvPr/>
        </p:nvSpPr>
        <p:spPr>
          <a:xfrm>
            <a:off x="7882128" y="3703320"/>
            <a:ext cx="3520440" cy="4846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Each packet can take whichever route is free.</a:t>
            </a:r>
            <a:endParaRPr lang="en-US" sz="1250" dirty="0"/>
          </a:p>
        </p:txBody>
      </p:sp>
      <p:sp>
        <p:nvSpPr>
          <p:cNvPr id="27" name="Shape 24"/>
          <p:cNvSpPr/>
          <p:nvPr/>
        </p:nvSpPr>
        <p:spPr>
          <a:xfrm>
            <a:off x="7223760" y="4389120"/>
            <a:ext cx="4297680" cy="1051560"/>
          </a:xfrm>
          <a:prstGeom prst="rect">
            <a:avLst/>
          </a:prstGeom>
          <a:solidFill>
            <a:srgbClr val="F6F5FC"/>
          </a:solidFill>
          <a:ln w="12700">
            <a:solidFill>
              <a:srgbClr val="F6F5FC"/>
            </a:solidFill>
            <a:prstDash val="solid"/>
          </a:ln>
        </p:spPr>
      </p:sp>
      <p:sp>
        <p:nvSpPr>
          <p:cNvPr id="28" name="Text 25"/>
          <p:cNvSpPr/>
          <p:nvPr/>
        </p:nvSpPr>
        <p:spPr>
          <a:xfrm>
            <a:off x="7360920" y="45262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9" name="Text 26"/>
          <p:cNvSpPr txBox="1"/>
          <p:nvPr/>
        </p:nvSpPr>
        <p:spPr>
          <a:xfrm>
            <a:off x="7882128" y="4498848"/>
            <a:ext cx="35204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Re-send less</a:t>
            </a:r>
            <a:endParaRPr lang="en-US" sz="1500" dirty="0"/>
          </a:p>
        </p:txBody>
      </p:sp>
      <p:sp>
        <p:nvSpPr>
          <p:cNvPr id="30" name="Text 27"/>
          <p:cNvSpPr txBox="1"/>
          <p:nvPr/>
        </p:nvSpPr>
        <p:spPr>
          <a:xfrm>
            <a:off x="7882128" y="4892040"/>
            <a:ext cx="3520440" cy="4846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If one packet is lost or corrupted, only that packet is sent again.</a:t>
            </a:r>
            <a:endParaRPr lang="en-US" sz="1250" dirty="0"/>
          </a:p>
        </p:txBody>
      </p:sp>
      <p:sp>
        <p:nvSpPr>
          <p:cNvPr id="31" name="Text 28"/>
          <p:cNvSpPr txBox="1"/>
          <p:nvPr/>
        </p:nvSpPr>
        <p:spPr>
          <a:xfrm>
            <a:off x="877824" y="4206240"/>
            <a:ext cx="6035040" cy="73152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Think of posting a book as numbered postcards rather than one heavy parcel.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The structure of a packet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sp>
        <p:nvSpPr>
          <p:cNvPr id="7" name="Text 4"/>
          <p:cNvSpPr txBox="1"/>
          <p:nvPr/>
        </p:nvSpPr>
        <p:spPr>
          <a:xfrm>
            <a:off x="877824" y="1234440"/>
            <a:ext cx="10332720" cy="411480"/>
          </a:xfrm>
          <a:prstGeom prst="rect">
            <a:avLst/>
          </a:prstGeom>
          <a:noFill/>
          <a:ln/>
        </p:spPr>
        <p:txBody>
          <a:bodyPr wrap="square" lIns="0" tIns="0" rIns="0" bIns="0" rtlCol="0" anchor="t"/>
          <a:lstStyle/>
          <a:p>
            <a:pPr indent="0" marL="0">
              <a:buNone/>
            </a:pPr>
            <a:r>
              <a:rPr lang="en-US" sz="1700" b="1" dirty="0">
                <a:solidFill>
                  <a:srgbClr val="202124"/>
                </a:solidFill>
                <a:latin typeface="Quicksand" pitchFamily="34" charset="0"/>
                <a:ea typeface="Quicksand" pitchFamily="34" charset="-122"/>
                <a:cs typeface="Quicksand" pitchFamily="34" charset="-120"/>
              </a:rPr>
              <a:t>Every packet has three parts.</a:t>
            </a:r>
            <a:endParaRPr lang="en-US" sz="1700" dirty="0"/>
          </a:p>
        </p:txBody>
      </p:sp>
      <p:sp>
        <p:nvSpPr>
          <p:cNvPr id="8" name="Text 5"/>
          <p:cNvSpPr/>
          <p:nvPr/>
        </p:nvSpPr>
        <p:spPr>
          <a:xfrm>
            <a:off x="877824" y="1828800"/>
            <a:ext cx="4339742" cy="822960"/>
          </a:xfrm>
          <a:prstGeom prst="rect">
            <a:avLst>
              <a:gd name="adj" fmla="val 8889"/>
            </a:avLst>
          </a:prstGeom>
          <a:solidFill>
            <a:srgbClr val="494985"/>
          </a:solidFill>
          <a:ln w="12700">
            <a:solidFill>
              <a:srgbClr val="494985"/>
            </a:solidFill>
          </a:ln>
        </p:spPr>
        <p:txBody>
          <a:bodyPr wrap="square" lIns="0" tIns="0" rIns="0" bIns="0" rtlCol="0" anchor="ctr"/>
          <a:lstStyle/>
          <a:p>
            <a:pPr algn="ctr" indent="0" marL="0">
              <a:buNone/>
            </a:pPr>
            <a:r>
              <a:rPr lang="en-US" sz="1800" b="1" dirty="0">
                <a:solidFill>
                  <a:srgbClr val="FFFFFF"/>
                </a:solidFill>
                <a:latin typeface="Quicksand" pitchFamily="34" charset="0"/>
                <a:ea typeface="Quicksand" pitchFamily="34" charset="-122"/>
                <a:cs typeface="Quicksand" pitchFamily="34" charset="-120"/>
              </a:rPr>
              <a:t>HEADER</a:t>
            </a:r>
            <a:endParaRPr lang="en-US" sz="1800" dirty="0"/>
          </a:p>
        </p:txBody>
      </p:sp>
      <p:sp>
        <p:nvSpPr>
          <p:cNvPr id="9" name="Text 6"/>
          <p:cNvSpPr/>
          <p:nvPr/>
        </p:nvSpPr>
        <p:spPr>
          <a:xfrm>
            <a:off x="5217566" y="1828800"/>
            <a:ext cx="3926434" cy="822960"/>
          </a:xfrm>
          <a:prstGeom prst="rect">
            <a:avLst>
              <a:gd name="adj" fmla="val 8889"/>
            </a:avLst>
          </a:prstGeom>
          <a:solidFill>
            <a:srgbClr val="FFD84D"/>
          </a:solidFill>
          <a:ln w="12700">
            <a:solidFill>
              <a:srgbClr val="494985"/>
            </a:solidFill>
          </a:ln>
        </p:spPr>
        <p:txBody>
          <a:bodyPr wrap="square" lIns="0" tIns="0" rIns="0" bIns="0" rtlCol="0" anchor="ctr"/>
          <a:lstStyle/>
          <a:p>
            <a:pPr algn="ctr" indent="0" marL="0">
              <a:buNone/>
            </a:pPr>
            <a:r>
              <a:rPr lang="en-US" sz="1800" b="1" dirty="0">
                <a:solidFill>
                  <a:srgbClr val="202124"/>
                </a:solidFill>
                <a:latin typeface="Quicksand" pitchFamily="34" charset="0"/>
                <a:ea typeface="Quicksand" pitchFamily="34" charset="-122"/>
                <a:cs typeface="Quicksand" pitchFamily="34" charset="-120"/>
              </a:rPr>
              <a:t>PAYLOAD</a:t>
            </a:r>
            <a:endParaRPr lang="en-US" sz="1800" dirty="0"/>
          </a:p>
        </p:txBody>
      </p:sp>
      <p:sp>
        <p:nvSpPr>
          <p:cNvPr id="10" name="Text 7"/>
          <p:cNvSpPr/>
          <p:nvPr/>
        </p:nvSpPr>
        <p:spPr>
          <a:xfrm>
            <a:off x="9144000" y="1828800"/>
            <a:ext cx="2066544" cy="822960"/>
          </a:xfrm>
          <a:prstGeom prst="rect">
            <a:avLst>
              <a:gd name="adj" fmla="val 8889"/>
            </a:avLst>
          </a:prstGeom>
          <a:solidFill>
            <a:srgbClr val="E6E6EE"/>
          </a:solidFill>
          <a:ln w="12700">
            <a:solidFill>
              <a:srgbClr val="494985"/>
            </a:solidFill>
          </a:ln>
        </p:spPr>
        <p:txBody>
          <a:bodyPr wrap="square" lIns="0" tIns="0" rIns="0" bIns="0" rtlCol="0" anchor="ctr"/>
          <a:lstStyle/>
          <a:p>
            <a:pPr algn="ctr" indent="0" marL="0">
              <a:buNone/>
            </a:pPr>
            <a:r>
              <a:rPr lang="en-US" sz="1800" b="1" dirty="0">
                <a:solidFill>
                  <a:srgbClr val="202124"/>
                </a:solidFill>
                <a:latin typeface="Quicksand" pitchFamily="34" charset="0"/>
                <a:ea typeface="Quicksand" pitchFamily="34" charset="-122"/>
                <a:cs typeface="Quicksand" pitchFamily="34" charset="-120"/>
              </a:rPr>
              <a:t>TRAILER</a:t>
            </a:r>
            <a:endParaRPr lang="en-US" sz="1800" dirty="0"/>
          </a:p>
        </p:txBody>
      </p:sp>
      <p:sp>
        <p:nvSpPr>
          <p:cNvPr id="11" name="Shape 8"/>
          <p:cNvSpPr/>
          <p:nvPr/>
        </p:nvSpPr>
        <p:spPr>
          <a:xfrm>
            <a:off x="877824" y="2971800"/>
            <a:ext cx="4206240" cy="1600200"/>
          </a:xfrm>
          <a:prstGeom prst="rect">
            <a:avLst/>
          </a:prstGeom>
          <a:solidFill>
            <a:srgbClr val="F6F5FC"/>
          </a:solidFill>
          <a:ln w="12700">
            <a:solidFill>
              <a:srgbClr val="F6F5FC"/>
            </a:solidFill>
            <a:prstDash val="solid"/>
          </a:ln>
        </p:spPr>
      </p:sp>
      <p:sp>
        <p:nvSpPr>
          <p:cNvPr id="12" name="Text 9"/>
          <p:cNvSpPr/>
          <p:nvPr/>
        </p:nvSpPr>
        <p:spPr>
          <a:xfrm>
            <a:off x="1014984" y="31089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3" name="Text 10"/>
          <p:cNvSpPr txBox="1"/>
          <p:nvPr/>
        </p:nvSpPr>
        <p:spPr>
          <a:xfrm>
            <a:off x="1536192" y="3081528"/>
            <a:ext cx="34290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Packet header</a:t>
            </a:r>
            <a:endParaRPr lang="en-US" sz="1500" dirty="0"/>
          </a:p>
        </p:txBody>
      </p:sp>
      <p:sp>
        <p:nvSpPr>
          <p:cNvPr id="14" name="Text 11"/>
          <p:cNvSpPr txBox="1"/>
          <p:nvPr/>
        </p:nvSpPr>
        <p:spPr>
          <a:xfrm>
            <a:off x="1536192" y="3474720"/>
            <a:ext cx="3429000" cy="10332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Control information that tells the network where the packet is going, where it came from and which packet it is.</a:t>
            </a:r>
            <a:endParaRPr lang="en-US" sz="1250" dirty="0"/>
          </a:p>
        </p:txBody>
      </p:sp>
      <p:sp>
        <p:nvSpPr>
          <p:cNvPr id="15" name="Shape 12"/>
          <p:cNvSpPr/>
          <p:nvPr/>
        </p:nvSpPr>
        <p:spPr>
          <a:xfrm>
            <a:off x="5230368" y="2971800"/>
            <a:ext cx="3108960" cy="1600200"/>
          </a:xfrm>
          <a:prstGeom prst="rect">
            <a:avLst/>
          </a:prstGeom>
          <a:solidFill>
            <a:srgbClr val="F6F5FC"/>
          </a:solidFill>
          <a:ln w="12700">
            <a:solidFill>
              <a:srgbClr val="F6F5FC"/>
            </a:solidFill>
            <a:prstDash val="solid"/>
          </a:ln>
        </p:spPr>
      </p:sp>
      <p:sp>
        <p:nvSpPr>
          <p:cNvPr id="16" name="Text 13"/>
          <p:cNvSpPr/>
          <p:nvPr/>
        </p:nvSpPr>
        <p:spPr>
          <a:xfrm>
            <a:off x="5367528" y="31089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7" name="Text 14"/>
          <p:cNvSpPr txBox="1"/>
          <p:nvPr/>
        </p:nvSpPr>
        <p:spPr>
          <a:xfrm>
            <a:off x="5888736" y="3081528"/>
            <a:ext cx="23317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Payload</a:t>
            </a:r>
            <a:endParaRPr lang="en-US" sz="1500" dirty="0"/>
          </a:p>
        </p:txBody>
      </p:sp>
      <p:sp>
        <p:nvSpPr>
          <p:cNvPr id="18" name="Text 15"/>
          <p:cNvSpPr txBox="1"/>
          <p:nvPr/>
        </p:nvSpPr>
        <p:spPr>
          <a:xfrm>
            <a:off x="5888736" y="3474720"/>
            <a:ext cx="2331720" cy="10332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The actual data being sent - one piece of the original file or message.</a:t>
            </a:r>
            <a:endParaRPr lang="en-US" sz="1250" dirty="0"/>
          </a:p>
        </p:txBody>
      </p:sp>
      <p:sp>
        <p:nvSpPr>
          <p:cNvPr id="19" name="Shape 16"/>
          <p:cNvSpPr/>
          <p:nvPr/>
        </p:nvSpPr>
        <p:spPr>
          <a:xfrm>
            <a:off x="8485632" y="2971800"/>
            <a:ext cx="2724912" cy="1600200"/>
          </a:xfrm>
          <a:prstGeom prst="rect">
            <a:avLst/>
          </a:prstGeom>
          <a:solidFill>
            <a:srgbClr val="F6F5FC"/>
          </a:solidFill>
          <a:ln w="12700">
            <a:solidFill>
              <a:srgbClr val="F6F5FC"/>
            </a:solidFill>
            <a:prstDash val="solid"/>
          </a:ln>
        </p:spPr>
      </p:sp>
      <p:sp>
        <p:nvSpPr>
          <p:cNvPr id="20" name="Text 17"/>
          <p:cNvSpPr/>
          <p:nvPr/>
        </p:nvSpPr>
        <p:spPr>
          <a:xfrm>
            <a:off x="8622792" y="31089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1" name="Text 18"/>
          <p:cNvSpPr txBox="1"/>
          <p:nvPr/>
        </p:nvSpPr>
        <p:spPr>
          <a:xfrm>
            <a:off x="9144000" y="3081528"/>
            <a:ext cx="1947672"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Trailer</a:t>
            </a:r>
            <a:endParaRPr lang="en-US" sz="1500" dirty="0"/>
          </a:p>
        </p:txBody>
      </p:sp>
      <p:sp>
        <p:nvSpPr>
          <p:cNvPr id="22" name="Text 19"/>
          <p:cNvSpPr txBox="1"/>
          <p:nvPr/>
        </p:nvSpPr>
        <p:spPr>
          <a:xfrm>
            <a:off x="9144000" y="3474720"/>
            <a:ext cx="1947672" cy="10332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Marks the end of the packet, and holds a value used to check for errors.</a:t>
            </a:r>
            <a:endParaRPr lang="en-US" sz="1250" dirty="0"/>
          </a:p>
        </p:txBody>
      </p:sp>
      <p:sp>
        <p:nvSpPr>
          <p:cNvPr id="23" name="Text 20"/>
          <p:cNvSpPr txBox="1"/>
          <p:nvPr/>
        </p:nvSpPr>
        <p:spPr>
          <a:xfrm>
            <a:off x="877824" y="4892040"/>
            <a:ext cx="10332720" cy="6400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Envelope analogy: header = address on the envelope; payload = the letter inside; trailer = the seal at the end.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What is in the packet header?</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sp>
        <p:nvSpPr>
          <p:cNvPr id="7" name="Text 4"/>
          <p:cNvSpPr/>
          <p:nvPr/>
        </p:nvSpPr>
        <p:spPr>
          <a:xfrm>
            <a:off x="877824" y="1280160"/>
            <a:ext cx="4339742" cy="640080"/>
          </a:xfrm>
          <a:prstGeom prst="rect">
            <a:avLst>
              <a:gd name="adj" fmla="val 11429"/>
            </a:avLst>
          </a:prstGeom>
          <a:solidFill>
            <a:srgbClr val="494985"/>
          </a:solidFill>
          <a:ln w="12700">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HEADER  (zoomed in below)</a:t>
            </a:r>
            <a:endParaRPr lang="en-US" sz="1400" dirty="0"/>
          </a:p>
        </p:txBody>
      </p:sp>
      <p:sp>
        <p:nvSpPr>
          <p:cNvPr id="8" name="Text 5"/>
          <p:cNvSpPr/>
          <p:nvPr/>
        </p:nvSpPr>
        <p:spPr>
          <a:xfrm>
            <a:off x="5217566" y="1280160"/>
            <a:ext cx="3926434" cy="640080"/>
          </a:xfrm>
          <a:prstGeom prst="rect">
            <a:avLst>
              <a:gd name="adj" fmla="val 11429"/>
            </a:avLst>
          </a:prstGeom>
          <a:solidFill>
            <a:srgbClr val="FFD84D"/>
          </a:solidFill>
          <a:ln w="12700">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PAYLOAD</a:t>
            </a:r>
            <a:endParaRPr lang="en-US" sz="1400" dirty="0"/>
          </a:p>
        </p:txBody>
      </p:sp>
      <p:sp>
        <p:nvSpPr>
          <p:cNvPr id="9" name="Text 6"/>
          <p:cNvSpPr/>
          <p:nvPr/>
        </p:nvSpPr>
        <p:spPr>
          <a:xfrm>
            <a:off x="9144000" y="1280160"/>
            <a:ext cx="2066544" cy="640080"/>
          </a:xfrm>
          <a:prstGeom prst="rect">
            <a:avLst>
              <a:gd name="adj" fmla="val 11429"/>
            </a:avLst>
          </a:prstGeom>
          <a:solidFill>
            <a:srgbClr val="E6E6EE"/>
          </a:solidFill>
          <a:ln w="12700">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TRAILER</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77824" y="2240280"/>
          <a:ext cx="10332720" cy="914400"/>
        </p:xfrm>
        <a:graphic>
          <a:graphicData uri="http://schemas.openxmlformats.org/drawingml/2006/table">
            <a:tbl>
              <a:tblPr/>
              <a:tblGrid>
                <a:gridCol w="2377440"/>
                <a:gridCol w="3657600"/>
                <a:gridCol w="4297680"/>
              </a:tblGrid>
              <a:tr h="73152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Header item</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What it is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Why it is needed</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7315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Destination address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IP address of the device the packet is going to</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So each router knows where to send the packet next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315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Packet number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position of this packet in the message, e.g. 3 of 8</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So the receiver can put the packets back in the correct order, and spot any that are missing</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315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Originator's address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IP address of the device that sent the packet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So the receiver knows who sent it, and can ask for a missing packet to be re-sent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11" name="Text 7"/>
          <p:cNvSpPr txBox="1"/>
          <p:nvPr/>
        </p:nvSpPr>
        <p:spPr>
          <a:xfrm>
            <a:off x="877824" y="5349240"/>
            <a:ext cx="1033272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Learn all three: destination address, packet number, originator's address.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Worked example: HELLO WORLD</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sp>
        <p:nvSpPr>
          <p:cNvPr id="7" name="Text 4"/>
          <p:cNvSpPr txBox="1"/>
          <p:nvPr/>
        </p:nvSpPr>
        <p:spPr>
          <a:xfrm>
            <a:off x="877824" y="1234440"/>
            <a:ext cx="10332720" cy="45720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The message HELLO WORLD is sent from 82.10.4.2 to 192.168.0.7. Each payload holds 3 characters.</a:t>
            </a:r>
            <a:endParaRPr lang="en-US" sz="1600" dirty="0"/>
          </a:p>
        </p:txBody>
      </p:sp>
      <p:sp>
        <p:nvSpPr>
          <p:cNvPr id="8" name="Text 5"/>
          <p:cNvSpPr txBox="1"/>
          <p:nvPr/>
        </p:nvSpPr>
        <p:spPr>
          <a:xfrm>
            <a:off x="877824" y="1874520"/>
            <a:ext cx="1188720" cy="685800"/>
          </a:xfrm>
          <a:prstGeom prst="rect">
            <a:avLst/>
          </a:prstGeom>
          <a:noFill/>
          <a:ln/>
        </p:spPr>
        <p:txBody>
          <a:bodyPr wrap="square" lIns="0" tIns="0" rIns="0" bIns="0" rtlCol="0" anchor="ctr"/>
          <a:lstStyle/>
          <a:p>
            <a:pPr indent="0" marL="0">
              <a:buNone/>
            </a:pPr>
            <a:r>
              <a:rPr lang="en-US" sz="1300" b="1" dirty="0">
                <a:solidFill>
                  <a:srgbClr val="494985"/>
                </a:solidFill>
                <a:latin typeface="Quicksand" pitchFamily="34" charset="0"/>
                <a:ea typeface="Quicksand" pitchFamily="34" charset="-122"/>
                <a:cs typeface="Quicksand" pitchFamily="34" charset="-120"/>
              </a:rPr>
              <a:t>Packet 1</a:t>
            </a:r>
            <a:endParaRPr lang="en-US" sz="1300" dirty="0"/>
          </a:p>
        </p:txBody>
      </p:sp>
      <p:sp>
        <p:nvSpPr>
          <p:cNvPr id="9" name="Text 6"/>
          <p:cNvSpPr/>
          <p:nvPr/>
        </p:nvSpPr>
        <p:spPr>
          <a:xfrm>
            <a:off x="2103120" y="1874520"/>
            <a:ext cx="3802075" cy="685800"/>
          </a:xfrm>
          <a:prstGeom prst="rect">
            <a:avLst>
              <a:gd name="adj" fmla="val 10667"/>
            </a:avLst>
          </a:prstGeom>
          <a:solidFill>
            <a:srgbClr val="494985"/>
          </a:solidFill>
          <a:ln w="12700">
            <a:solidFill>
              <a:srgbClr val="494985"/>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To: 192.168.0.7   From: 82.10.4.2   No: 1 of 4</a:t>
            </a:r>
            <a:endParaRPr lang="en-US" sz="1100" dirty="0"/>
          </a:p>
        </p:txBody>
      </p:sp>
      <p:sp>
        <p:nvSpPr>
          <p:cNvPr id="10" name="Text 7"/>
          <p:cNvSpPr/>
          <p:nvPr/>
        </p:nvSpPr>
        <p:spPr>
          <a:xfrm>
            <a:off x="5905195" y="1874520"/>
            <a:ext cx="3439973" cy="685800"/>
          </a:xfrm>
          <a:prstGeom prst="rect">
            <a:avLst>
              <a:gd name="adj" fmla="val 10667"/>
            </a:avLst>
          </a:prstGeom>
          <a:solidFill>
            <a:srgbClr val="FFD84D"/>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"HEL"</a:t>
            </a:r>
            <a:endParaRPr lang="en-US" sz="1100" dirty="0"/>
          </a:p>
        </p:txBody>
      </p:sp>
      <p:sp>
        <p:nvSpPr>
          <p:cNvPr id="11" name="Text 8"/>
          <p:cNvSpPr/>
          <p:nvPr/>
        </p:nvSpPr>
        <p:spPr>
          <a:xfrm>
            <a:off x="9345168" y="1874520"/>
            <a:ext cx="1810512" cy="685800"/>
          </a:xfrm>
          <a:prstGeom prst="rect">
            <a:avLst>
              <a:gd name="adj" fmla="val 10667"/>
            </a:avLst>
          </a:prstGeom>
          <a:solidFill>
            <a:srgbClr val="E6E6EE"/>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end + check</a:t>
            </a:r>
            <a:endParaRPr lang="en-US" sz="1100" dirty="0"/>
          </a:p>
        </p:txBody>
      </p:sp>
      <p:sp>
        <p:nvSpPr>
          <p:cNvPr id="12" name="Text 9"/>
          <p:cNvSpPr txBox="1"/>
          <p:nvPr/>
        </p:nvSpPr>
        <p:spPr>
          <a:xfrm>
            <a:off x="877824" y="2743200"/>
            <a:ext cx="1188720" cy="685800"/>
          </a:xfrm>
          <a:prstGeom prst="rect">
            <a:avLst/>
          </a:prstGeom>
          <a:noFill/>
          <a:ln/>
        </p:spPr>
        <p:txBody>
          <a:bodyPr wrap="square" lIns="0" tIns="0" rIns="0" bIns="0" rtlCol="0" anchor="ctr"/>
          <a:lstStyle/>
          <a:p>
            <a:pPr indent="0" marL="0">
              <a:buNone/>
            </a:pPr>
            <a:r>
              <a:rPr lang="en-US" sz="1300" b="1" dirty="0">
                <a:solidFill>
                  <a:srgbClr val="494985"/>
                </a:solidFill>
                <a:latin typeface="Quicksand" pitchFamily="34" charset="0"/>
                <a:ea typeface="Quicksand" pitchFamily="34" charset="-122"/>
                <a:cs typeface="Quicksand" pitchFamily="34" charset="-120"/>
              </a:rPr>
              <a:t>Packet 2</a:t>
            </a:r>
            <a:endParaRPr lang="en-US" sz="1300" dirty="0"/>
          </a:p>
        </p:txBody>
      </p:sp>
      <p:sp>
        <p:nvSpPr>
          <p:cNvPr id="13" name="Text 10"/>
          <p:cNvSpPr/>
          <p:nvPr/>
        </p:nvSpPr>
        <p:spPr>
          <a:xfrm>
            <a:off x="2103120" y="2743200"/>
            <a:ext cx="3802075" cy="685800"/>
          </a:xfrm>
          <a:prstGeom prst="rect">
            <a:avLst>
              <a:gd name="adj" fmla="val 10667"/>
            </a:avLst>
          </a:prstGeom>
          <a:solidFill>
            <a:srgbClr val="494985"/>
          </a:solidFill>
          <a:ln w="12700">
            <a:solidFill>
              <a:srgbClr val="494985"/>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To: 192.168.0.7   From: 82.10.4.2   No: 2 of 4</a:t>
            </a:r>
            <a:endParaRPr lang="en-US" sz="1100" dirty="0"/>
          </a:p>
        </p:txBody>
      </p:sp>
      <p:sp>
        <p:nvSpPr>
          <p:cNvPr id="14" name="Text 11"/>
          <p:cNvSpPr/>
          <p:nvPr/>
        </p:nvSpPr>
        <p:spPr>
          <a:xfrm>
            <a:off x="5905195" y="2743200"/>
            <a:ext cx="3439973" cy="685800"/>
          </a:xfrm>
          <a:prstGeom prst="rect">
            <a:avLst>
              <a:gd name="adj" fmla="val 10667"/>
            </a:avLst>
          </a:prstGeom>
          <a:solidFill>
            <a:srgbClr val="FFD84D"/>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"LO "</a:t>
            </a:r>
            <a:endParaRPr lang="en-US" sz="1100" dirty="0"/>
          </a:p>
        </p:txBody>
      </p:sp>
      <p:sp>
        <p:nvSpPr>
          <p:cNvPr id="15" name="Text 12"/>
          <p:cNvSpPr/>
          <p:nvPr/>
        </p:nvSpPr>
        <p:spPr>
          <a:xfrm>
            <a:off x="9345168" y="2743200"/>
            <a:ext cx="1810512" cy="685800"/>
          </a:xfrm>
          <a:prstGeom prst="rect">
            <a:avLst>
              <a:gd name="adj" fmla="val 10667"/>
            </a:avLst>
          </a:prstGeom>
          <a:solidFill>
            <a:srgbClr val="E6E6EE"/>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end + check</a:t>
            </a:r>
            <a:endParaRPr lang="en-US" sz="1100" dirty="0"/>
          </a:p>
        </p:txBody>
      </p:sp>
      <p:sp>
        <p:nvSpPr>
          <p:cNvPr id="16" name="Text 13"/>
          <p:cNvSpPr txBox="1"/>
          <p:nvPr/>
        </p:nvSpPr>
        <p:spPr>
          <a:xfrm>
            <a:off x="877824" y="3611880"/>
            <a:ext cx="1188720" cy="685800"/>
          </a:xfrm>
          <a:prstGeom prst="rect">
            <a:avLst/>
          </a:prstGeom>
          <a:noFill/>
          <a:ln/>
        </p:spPr>
        <p:txBody>
          <a:bodyPr wrap="square" lIns="0" tIns="0" rIns="0" bIns="0" rtlCol="0" anchor="ctr"/>
          <a:lstStyle/>
          <a:p>
            <a:pPr indent="0" marL="0">
              <a:buNone/>
            </a:pPr>
            <a:r>
              <a:rPr lang="en-US" sz="1300" b="1" dirty="0">
                <a:solidFill>
                  <a:srgbClr val="494985"/>
                </a:solidFill>
                <a:latin typeface="Quicksand" pitchFamily="34" charset="0"/>
                <a:ea typeface="Quicksand" pitchFamily="34" charset="-122"/>
                <a:cs typeface="Quicksand" pitchFamily="34" charset="-120"/>
              </a:rPr>
              <a:t>Packet 3</a:t>
            </a:r>
            <a:endParaRPr lang="en-US" sz="1300" dirty="0"/>
          </a:p>
        </p:txBody>
      </p:sp>
      <p:sp>
        <p:nvSpPr>
          <p:cNvPr id="17" name="Text 14"/>
          <p:cNvSpPr/>
          <p:nvPr/>
        </p:nvSpPr>
        <p:spPr>
          <a:xfrm>
            <a:off x="2103120" y="3611880"/>
            <a:ext cx="3802075" cy="685800"/>
          </a:xfrm>
          <a:prstGeom prst="rect">
            <a:avLst>
              <a:gd name="adj" fmla="val 10667"/>
            </a:avLst>
          </a:prstGeom>
          <a:solidFill>
            <a:srgbClr val="494985"/>
          </a:solidFill>
          <a:ln w="12700">
            <a:solidFill>
              <a:srgbClr val="494985"/>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To: 192.168.0.7   From: 82.10.4.2   No: 3 of 4</a:t>
            </a:r>
            <a:endParaRPr lang="en-US" sz="1100" dirty="0"/>
          </a:p>
        </p:txBody>
      </p:sp>
      <p:sp>
        <p:nvSpPr>
          <p:cNvPr id="18" name="Text 15"/>
          <p:cNvSpPr/>
          <p:nvPr/>
        </p:nvSpPr>
        <p:spPr>
          <a:xfrm>
            <a:off x="5905195" y="3611880"/>
            <a:ext cx="3439973" cy="685800"/>
          </a:xfrm>
          <a:prstGeom prst="rect">
            <a:avLst>
              <a:gd name="adj" fmla="val 10667"/>
            </a:avLst>
          </a:prstGeom>
          <a:solidFill>
            <a:srgbClr val="FFD84D"/>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"WOR"</a:t>
            </a:r>
            <a:endParaRPr lang="en-US" sz="1100" dirty="0"/>
          </a:p>
        </p:txBody>
      </p:sp>
      <p:sp>
        <p:nvSpPr>
          <p:cNvPr id="19" name="Text 16"/>
          <p:cNvSpPr/>
          <p:nvPr/>
        </p:nvSpPr>
        <p:spPr>
          <a:xfrm>
            <a:off x="9345168" y="3611880"/>
            <a:ext cx="1810512" cy="685800"/>
          </a:xfrm>
          <a:prstGeom prst="rect">
            <a:avLst>
              <a:gd name="adj" fmla="val 10667"/>
            </a:avLst>
          </a:prstGeom>
          <a:solidFill>
            <a:srgbClr val="E6E6EE"/>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end + check</a:t>
            </a:r>
            <a:endParaRPr lang="en-US" sz="1100" dirty="0"/>
          </a:p>
        </p:txBody>
      </p:sp>
      <p:sp>
        <p:nvSpPr>
          <p:cNvPr id="20" name="Text 17"/>
          <p:cNvSpPr txBox="1"/>
          <p:nvPr/>
        </p:nvSpPr>
        <p:spPr>
          <a:xfrm>
            <a:off x="877824" y="4480560"/>
            <a:ext cx="1188720" cy="685800"/>
          </a:xfrm>
          <a:prstGeom prst="rect">
            <a:avLst/>
          </a:prstGeom>
          <a:noFill/>
          <a:ln/>
        </p:spPr>
        <p:txBody>
          <a:bodyPr wrap="square" lIns="0" tIns="0" rIns="0" bIns="0" rtlCol="0" anchor="ctr"/>
          <a:lstStyle/>
          <a:p>
            <a:pPr indent="0" marL="0">
              <a:buNone/>
            </a:pPr>
            <a:r>
              <a:rPr lang="en-US" sz="1300" b="1" dirty="0">
                <a:solidFill>
                  <a:srgbClr val="494985"/>
                </a:solidFill>
                <a:latin typeface="Quicksand" pitchFamily="34" charset="0"/>
                <a:ea typeface="Quicksand" pitchFamily="34" charset="-122"/>
                <a:cs typeface="Quicksand" pitchFamily="34" charset="-120"/>
              </a:rPr>
              <a:t>Packet 4</a:t>
            </a:r>
            <a:endParaRPr lang="en-US" sz="1300" dirty="0"/>
          </a:p>
        </p:txBody>
      </p:sp>
      <p:sp>
        <p:nvSpPr>
          <p:cNvPr id="21" name="Text 18"/>
          <p:cNvSpPr/>
          <p:nvPr/>
        </p:nvSpPr>
        <p:spPr>
          <a:xfrm>
            <a:off x="2103120" y="4480560"/>
            <a:ext cx="3802075" cy="685800"/>
          </a:xfrm>
          <a:prstGeom prst="rect">
            <a:avLst>
              <a:gd name="adj" fmla="val 10667"/>
            </a:avLst>
          </a:prstGeom>
          <a:solidFill>
            <a:srgbClr val="494985"/>
          </a:solidFill>
          <a:ln w="12700">
            <a:solidFill>
              <a:srgbClr val="494985"/>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To: 192.168.0.7   From: 82.10.4.2   No: 4 of 4</a:t>
            </a:r>
            <a:endParaRPr lang="en-US" sz="1100" dirty="0"/>
          </a:p>
        </p:txBody>
      </p:sp>
      <p:sp>
        <p:nvSpPr>
          <p:cNvPr id="22" name="Text 19"/>
          <p:cNvSpPr/>
          <p:nvPr/>
        </p:nvSpPr>
        <p:spPr>
          <a:xfrm>
            <a:off x="5905195" y="4480560"/>
            <a:ext cx="3439973" cy="685800"/>
          </a:xfrm>
          <a:prstGeom prst="rect">
            <a:avLst>
              <a:gd name="adj" fmla="val 10667"/>
            </a:avLst>
          </a:prstGeom>
          <a:solidFill>
            <a:srgbClr val="FFD84D"/>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"LD"</a:t>
            </a:r>
            <a:endParaRPr lang="en-US" sz="1100" dirty="0"/>
          </a:p>
        </p:txBody>
      </p:sp>
      <p:sp>
        <p:nvSpPr>
          <p:cNvPr id="23" name="Text 20"/>
          <p:cNvSpPr/>
          <p:nvPr/>
        </p:nvSpPr>
        <p:spPr>
          <a:xfrm>
            <a:off x="9345168" y="4480560"/>
            <a:ext cx="1810512" cy="685800"/>
          </a:xfrm>
          <a:prstGeom prst="rect">
            <a:avLst>
              <a:gd name="adj" fmla="val 10667"/>
            </a:avLst>
          </a:prstGeom>
          <a:solidFill>
            <a:srgbClr val="E6E6EE"/>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end + check</a:t>
            </a:r>
            <a:endParaRPr lang="en-US" sz="1100" dirty="0"/>
          </a:p>
        </p:txBody>
      </p:sp>
      <p:sp>
        <p:nvSpPr>
          <p:cNvPr id="24" name="Text 21"/>
          <p:cNvSpPr txBox="1"/>
          <p:nvPr/>
        </p:nvSpPr>
        <p:spPr>
          <a:xfrm>
            <a:off x="877824" y="5440680"/>
            <a:ext cx="1033272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Every packet carries the same addresses, but its own packet number and its own part of the data.</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Packet switching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sp>
        <p:nvSpPr>
          <p:cNvPr id="7" name="Text 4"/>
          <p:cNvSpPr txBox="1"/>
          <p:nvPr/>
        </p:nvSpPr>
        <p:spPr>
          <a:xfrm>
            <a:off x="877824" y="1234440"/>
            <a:ext cx="10332720" cy="457200"/>
          </a:xfrm>
          <a:prstGeom prst="rect">
            <a:avLst/>
          </a:prstGeom>
          <a:noFill/>
          <a:ln/>
        </p:spPr>
        <p:txBody>
          <a:bodyPr wrap="square" lIns="0" tIns="0" rIns="0" bIns="0" rtlCol="0" anchor="t"/>
          <a:lstStyle/>
          <a:p>
            <a:pPr indent="0" marL="0">
              <a:buNone/>
            </a:pPr>
            <a:r>
              <a:rPr lang="en-US" sz="1700" b="1" dirty="0">
                <a:solidFill>
                  <a:srgbClr val="202124"/>
                </a:solidFill>
                <a:latin typeface="Quicksand" pitchFamily="34" charset="0"/>
                <a:ea typeface="Quicksand" pitchFamily="34" charset="-122"/>
                <a:cs typeface="Quicksand" pitchFamily="34" charset="-120"/>
              </a:rPr>
              <a:t>Each packet can take a different route across the network. Routers decide the route.</a:t>
            </a:r>
            <a:endParaRPr lang="en-US" sz="1700" dirty="0"/>
          </a:p>
        </p:txBody>
      </p:sp>
      <p:sp>
        <p:nvSpPr>
          <p:cNvPr id="8" name="Shape 5"/>
          <p:cNvSpPr/>
          <p:nvPr/>
        </p:nvSpPr>
        <p:spPr>
          <a:xfrm>
            <a:off x="1097280" y="3657600"/>
            <a:ext cx="1371600" cy="914"/>
          </a:xfrm>
          <a:prstGeom prst="line">
            <a:avLst/>
          </a:prstGeom>
          <a:noFill/>
          <a:ln w="19050">
            <a:solidFill>
              <a:srgbClr val="B8B8C8"/>
            </a:solidFill>
            <a:prstDash val="solid"/>
          </a:ln>
        </p:spPr>
      </p:sp>
      <p:sp>
        <p:nvSpPr>
          <p:cNvPr id="9" name="Shape 6"/>
          <p:cNvSpPr/>
          <p:nvPr/>
        </p:nvSpPr>
        <p:spPr>
          <a:xfrm flipV="1">
            <a:off x="2468880" y="2560320"/>
            <a:ext cx="1463040" cy="1097280"/>
          </a:xfrm>
          <a:prstGeom prst="line">
            <a:avLst/>
          </a:prstGeom>
          <a:noFill/>
          <a:ln w="50800">
            <a:solidFill>
              <a:srgbClr val="494985"/>
            </a:solidFill>
            <a:prstDash val="solid"/>
          </a:ln>
        </p:spPr>
      </p:sp>
      <p:sp>
        <p:nvSpPr>
          <p:cNvPr id="10" name="Shape 7"/>
          <p:cNvSpPr/>
          <p:nvPr/>
        </p:nvSpPr>
        <p:spPr>
          <a:xfrm>
            <a:off x="2468880" y="3657600"/>
            <a:ext cx="1463040" cy="914"/>
          </a:xfrm>
          <a:prstGeom prst="line">
            <a:avLst/>
          </a:prstGeom>
          <a:noFill/>
          <a:ln w="50800">
            <a:solidFill>
              <a:srgbClr val="E0A800"/>
            </a:solidFill>
            <a:prstDash val="solid"/>
          </a:ln>
        </p:spPr>
      </p:sp>
      <p:sp>
        <p:nvSpPr>
          <p:cNvPr id="11" name="Shape 8"/>
          <p:cNvSpPr/>
          <p:nvPr/>
        </p:nvSpPr>
        <p:spPr>
          <a:xfrm>
            <a:off x="2468880" y="3657600"/>
            <a:ext cx="1463040" cy="1097280"/>
          </a:xfrm>
          <a:prstGeom prst="line">
            <a:avLst/>
          </a:prstGeom>
          <a:noFill/>
          <a:ln w="50800">
            <a:solidFill>
              <a:srgbClr val="C0392B"/>
            </a:solidFill>
            <a:prstDash val="solid"/>
          </a:ln>
        </p:spPr>
      </p:sp>
      <p:sp>
        <p:nvSpPr>
          <p:cNvPr id="12" name="Shape 9"/>
          <p:cNvSpPr/>
          <p:nvPr/>
        </p:nvSpPr>
        <p:spPr>
          <a:xfrm>
            <a:off x="3931920" y="2560320"/>
            <a:ext cx="1463040" cy="914"/>
          </a:xfrm>
          <a:prstGeom prst="line">
            <a:avLst/>
          </a:prstGeom>
          <a:noFill/>
          <a:ln w="50800">
            <a:solidFill>
              <a:srgbClr val="494985"/>
            </a:solidFill>
            <a:prstDash val="solid"/>
          </a:ln>
        </p:spPr>
      </p:sp>
      <p:sp>
        <p:nvSpPr>
          <p:cNvPr id="13" name="Shape 10"/>
          <p:cNvSpPr/>
          <p:nvPr/>
        </p:nvSpPr>
        <p:spPr>
          <a:xfrm>
            <a:off x="3931920" y="3657600"/>
            <a:ext cx="1463040" cy="914"/>
          </a:xfrm>
          <a:prstGeom prst="line">
            <a:avLst/>
          </a:prstGeom>
          <a:noFill/>
          <a:ln w="50800">
            <a:solidFill>
              <a:srgbClr val="E0A800"/>
            </a:solidFill>
            <a:prstDash val="solid"/>
          </a:ln>
        </p:spPr>
      </p:sp>
      <p:sp>
        <p:nvSpPr>
          <p:cNvPr id="14" name="Shape 11"/>
          <p:cNvSpPr/>
          <p:nvPr/>
        </p:nvSpPr>
        <p:spPr>
          <a:xfrm>
            <a:off x="3931920" y="4754880"/>
            <a:ext cx="1463040" cy="914"/>
          </a:xfrm>
          <a:prstGeom prst="line">
            <a:avLst/>
          </a:prstGeom>
          <a:noFill/>
          <a:ln w="50800">
            <a:solidFill>
              <a:srgbClr val="C0392B"/>
            </a:solidFill>
            <a:prstDash val="solid"/>
          </a:ln>
        </p:spPr>
      </p:sp>
      <p:sp>
        <p:nvSpPr>
          <p:cNvPr id="15" name="Shape 12"/>
          <p:cNvSpPr/>
          <p:nvPr/>
        </p:nvSpPr>
        <p:spPr>
          <a:xfrm>
            <a:off x="5394960" y="2560320"/>
            <a:ext cx="1371600" cy="1097280"/>
          </a:xfrm>
          <a:prstGeom prst="line">
            <a:avLst/>
          </a:prstGeom>
          <a:noFill/>
          <a:ln w="50800">
            <a:solidFill>
              <a:srgbClr val="494985"/>
            </a:solidFill>
            <a:prstDash val="solid"/>
          </a:ln>
        </p:spPr>
      </p:sp>
      <p:sp>
        <p:nvSpPr>
          <p:cNvPr id="16" name="Shape 13"/>
          <p:cNvSpPr/>
          <p:nvPr/>
        </p:nvSpPr>
        <p:spPr>
          <a:xfrm>
            <a:off x="5394960" y="3657600"/>
            <a:ext cx="1371600" cy="914"/>
          </a:xfrm>
          <a:prstGeom prst="line">
            <a:avLst/>
          </a:prstGeom>
          <a:noFill/>
          <a:ln w="50800">
            <a:solidFill>
              <a:srgbClr val="E0A800"/>
            </a:solidFill>
            <a:prstDash val="solid"/>
          </a:ln>
        </p:spPr>
      </p:sp>
      <p:sp>
        <p:nvSpPr>
          <p:cNvPr id="17" name="Shape 14"/>
          <p:cNvSpPr/>
          <p:nvPr/>
        </p:nvSpPr>
        <p:spPr>
          <a:xfrm flipV="1">
            <a:off x="5394960" y="3657600"/>
            <a:ext cx="1371600" cy="1097280"/>
          </a:xfrm>
          <a:prstGeom prst="line">
            <a:avLst/>
          </a:prstGeom>
          <a:noFill/>
          <a:ln w="50800">
            <a:solidFill>
              <a:srgbClr val="C0392B"/>
            </a:solidFill>
            <a:prstDash val="solid"/>
          </a:ln>
        </p:spPr>
      </p:sp>
      <p:sp>
        <p:nvSpPr>
          <p:cNvPr id="18" name="Shape 15"/>
          <p:cNvSpPr/>
          <p:nvPr/>
        </p:nvSpPr>
        <p:spPr>
          <a:xfrm>
            <a:off x="3931920" y="2560320"/>
            <a:ext cx="1463040" cy="1097280"/>
          </a:xfrm>
          <a:prstGeom prst="line">
            <a:avLst/>
          </a:prstGeom>
          <a:noFill/>
          <a:ln w="19050">
            <a:solidFill>
              <a:srgbClr val="B8B8C8"/>
            </a:solidFill>
            <a:prstDash val="solid"/>
          </a:ln>
        </p:spPr>
      </p:sp>
      <p:sp>
        <p:nvSpPr>
          <p:cNvPr id="19" name="Shape 16"/>
          <p:cNvSpPr/>
          <p:nvPr/>
        </p:nvSpPr>
        <p:spPr>
          <a:xfrm>
            <a:off x="3931920" y="3657600"/>
            <a:ext cx="1463040" cy="1097280"/>
          </a:xfrm>
          <a:prstGeom prst="line">
            <a:avLst/>
          </a:prstGeom>
          <a:noFill/>
          <a:ln w="19050">
            <a:solidFill>
              <a:srgbClr val="B8B8C8"/>
            </a:solidFill>
            <a:prstDash val="solid"/>
          </a:ln>
        </p:spPr>
      </p:sp>
      <p:sp>
        <p:nvSpPr>
          <p:cNvPr id="20" name="Shape 17"/>
          <p:cNvSpPr/>
          <p:nvPr/>
        </p:nvSpPr>
        <p:spPr>
          <a:xfrm>
            <a:off x="6766560" y="3657600"/>
            <a:ext cx="1371600" cy="914"/>
          </a:xfrm>
          <a:prstGeom prst="line">
            <a:avLst/>
          </a:prstGeom>
          <a:noFill/>
          <a:ln w="19050">
            <a:solidFill>
              <a:srgbClr val="B8B8C8"/>
            </a:solidFill>
            <a:prstDash val="solid"/>
          </a:ln>
        </p:spPr>
      </p:sp>
      <p:sp>
        <p:nvSpPr>
          <p:cNvPr id="21" name="Text 18"/>
          <p:cNvSpPr/>
          <p:nvPr/>
        </p:nvSpPr>
        <p:spPr>
          <a:xfrm>
            <a:off x="713232" y="3456432"/>
            <a:ext cx="768096" cy="402336"/>
          </a:xfrm>
          <a:prstGeom prst="rect">
            <a:avLst>
              <a:gd name="adj" fmla="val 18182"/>
            </a:avLst>
          </a:prstGeom>
          <a:solidFill>
            <a:srgbClr val="E9E8F5"/>
          </a:solidFill>
          <a:ln w="12700">
            <a:solidFill>
              <a:srgbClr val="494985"/>
            </a:solidFill>
          </a:ln>
        </p:spPr>
        <p:txBody>
          <a:bodyPr wrap="square" lIns="0" tIns="0" rIns="0" bIns="0" rtlCol="0" anchor="ctr"/>
          <a:lstStyle/>
          <a:p>
            <a:pPr algn="ctr" indent="0" marL="0">
              <a:buNone/>
            </a:pPr>
            <a:r>
              <a:rPr lang="en-US" sz="1000" b="1" dirty="0">
                <a:solidFill>
                  <a:srgbClr val="202124"/>
                </a:solidFill>
                <a:latin typeface="Quicksand" pitchFamily="34" charset="0"/>
                <a:ea typeface="Quicksand" pitchFamily="34" charset="-122"/>
                <a:cs typeface="Quicksand" pitchFamily="34" charset="-120"/>
              </a:rPr>
              <a:t>Sender</a:t>
            </a:r>
            <a:endParaRPr lang="en-US" sz="1000" dirty="0"/>
          </a:p>
        </p:txBody>
      </p:sp>
      <p:sp>
        <p:nvSpPr>
          <p:cNvPr id="22" name="Text 19"/>
          <p:cNvSpPr/>
          <p:nvPr/>
        </p:nvSpPr>
        <p:spPr>
          <a:xfrm>
            <a:off x="2194560" y="3456432"/>
            <a:ext cx="548640" cy="402336"/>
          </a:xfrm>
          <a:prstGeom prst="roundRect">
            <a:avLst>
              <a:gd name="adj" fmla="val 18182"/>
            </a:avLst>
          </a:prstGeom>
          <a:solidFill>
            <a:srgbClr val="FFFFFF"/>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R1</a:t>
            </a:r>
            <a:endParaRPr lang="en-US" sz="1100" dirty="0"/>
          </a:p>
        </p:txBody>
      </p:sp>
      <p:sp>
        <p:nvSpPr>
          <p:cNvPr id="23" name="Text 20"/>
          <p:cNvSpPr/>
          <p:nvPr/>
        </p:nvSpPr>
        <p:spPr>
          <a:xfrm>
            <a:off x="3657600" y="2359152"/>
            <a:ext cx="548640" cy="402336"/>
          </a:xfrm>
          <a:prstGeom prst="roundRect">
            <a:avLst>
              <a:gd name="adj" fmla="val 18182"/>
            </a:avLst>
          </a:prstGeom>
          <a:solidFill>
            <a:srgbClr val="FFFFFF"/>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R2</a:t>
            </a:r>
            <a:endParaRPr lang="en-US" sz="1100" dirty="0"/>
          </a:p>
        </p:txBody>
      </p:sp>
      <p:sp>
        <p:nvSpPr>
          <p:cNvPr id="24" name="Text 21"/>
          <p:cNvSpPr/>
          <p:nvPr/>
        </p:nvSpPr>
        <p:spPr>
          <a:xfrm>
            <a:off x="5120640" y="2359152"/>
            <a:ext cx="548640" cy="402336"/>
          </a:xfrm>
          <a:prstGeom prst="roundRect">
            <a:avLst>
              <a:gd name="adj" fmla="val 18182"/>
            </a:avLst>
          </a:prstGeom>
          <a:solidFill>
            <a:srgbClr val="FFFFFF"/>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R3</a:t>
            </a:r>
            <a:endParaRPr lang="en-US" sz="1100" dirty="0"/>
          </a:p>
        </p:txBody>
      </p:sp>
      <p:sp>
        <p:nvSpPr>
          <p:cNvPr id="25" name="Text 22"/>
          <p:cNvSpPr/>
          <p:nvPr/>
        </p:nvSpPr>
        <p:spPr>
          <a:xfrm>
            <a:off x="3657600" y="3456432"/>
            <a:ext cx="548640" cy="402336"/>
          </a:xfrm>
          <a:prstGeom prst="roundRect">
            <a:avLst>
              <a:gd name="adj" fmla="val 18182"/>
            </a:avLst>
          </a:prstGeom>
          <a:solidFill>
            <a:srgbClr val="FFFFFF"/>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R4</a:t>
            </a:r>
            <a:endParaRPr lang="en-US" sz="1100" dirty="0"/>
          </a:p>
        </p:txBody>
      </p:sp>
      <p:sp>
        <p:nvSpPr>
          <p:cNvPr id="26" name="Text 23"/>
          <p:cNvSpPr/>
          <p:nvPr/>
        </p:nvSpPr>
        <p:spPr>
          <a:xfrm>
            <a:off x="5120640" y="3456432"/>
            <a:ext cx="548640" cy="402336"/>
          </a:xfrm>
          <a:prstGeom prst="roundRect">
            <a:avLst>
              <a:gd name="adj" fmla="val 18182"/>
            </a:avLst>
          </a:prstGeom>
          <a:solidFill>
            <a:srgbClr val="FFFFFF"/>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R5</a:t>
            </a:r>
            <a:endParaRPr lang="en-US" sz="1100" dirty="0"/>
          </a:p>
        </p:txBody>
      </p:sp>
      <p:sp>
        <p:nvSpPr>
          <p:cNvPr id="27" name="Text 24"/>
          <p:cNvSpPr/>
          <p:nvPr/>
        </p:nvSpPr>
        <p:spPr>
          <a:xfrm>
            <a:off x="3657600" y="4553712"/>
            <a:ext cx="548640" cy="402336"/>
          </a:xfrm>
          <a:prstGeom prst="roundRect">
            <a:avLst>
              <a:gd name="adj" fmla="val 18182"/>
            </a:avLst>
          </a:prstGeom>
          <a:solidFill>
            <a:srgbClr val="FFFFFF"/>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R6</a:t>
            </a:r>
            <a:endParaRPr lang="en-US" sz="1100" dirty="0"/>
          </a:p>
        </p:txBody>
      </p:sp>
      <p:sp>
        <p:nvSpPr>
          <p:cNvPr id="28" name="Text 25"/>
          <p:cNvSpPr/>
          <p:nvPr/>
        </p:nvSpPr>
        <p:spPr>
          <a:xfrm>
            <a:off x="5120640" y="4553712"/>
            <a:ext cx="548640" cy="402336"/>
          </a:xfrm>
          <a:prstGeom prst="roundRect">
            <a:avLst>
              <a:gd name="adj" fmla="val 18182"/>
            </a:avLst>
          </a:prstGeom>
          <a:solidFill>
            <a:srgbClr val="FFFFFF"/>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R7</a:t>
            </a:r>
            <a:endParaRPr lang="en-US" sz="1100" dirty="0"/>
          </a:p>
        </p:txBody>
      </p:sp>
      <p:sp>
        <p:nvSpPr>
          <p:cNvPr id="29" name="Text 26"/>
          <p:cNvSpPr/>
          <p:nvPr/>
        </p:nvSpPr>
        <p:spPr>
          <a:xfrm>
            <a:off x="6492240" y="3456432"/>
            <a:ext cx="548640" cy="402336"/>
          </a:xfrm>
          <a:prstGeom prst="roundRect">
            <a:avLst>
              <a:gd name="adj" fmla="val 18182"/>
            </a:avLst>
          </a:prstGeom>
          <a:solidFill>
            <a:srgbClr val="FFFFFF"/>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R8</a:t>
            </a:r>
            <a:endParaRPr lang="en-US" sz="1100" dirty="0"/>
          </a:p>
        </p:txBody>
      </p:sp>
      <p:sp>
        <p:nvSpPr>
          <p:cNvPr id="30" name="Text 27"/>
          <p:cNvSpPr/>
          <p:nvPr/>
        </p:nvSpPr>
        <p:spPr>
          <a:xfrm>
            <a:off x="7754112" y="3456432"/>
            <a:ext cx="768096" cy="402336"/>
          </a:xfrm>
          <a:prstGeom prst="rect">
            <a:avLst>
              <a:gd name="adj" fmla="val 18182"/>
            </a:avLst>
          </a:prstGeom>
          <a:solidFill>
            <a:srgbClr val="E9E8F5"/>
          </a:solidFill>
          <a:ln w="12700">
            <a:solidFill>
              <a:srgbClr val="494985"/>
            </a:solidFill>
          </a:ln>
        </p:spPr>
        <p:txBody>
          <a:bodyPr wrap="square" lIns="0" tIns="0" rIns="0" bIns="0" rtlCol="0" anchor="ctr"/>
          <a:lstStyle/>
          <a:p>
            <a:pPr algn="ctr" indent="0" marL="0">
              <a:buNone/>
            </a:pPr>
            <a:r>
              <a:rPr lang="en-US" sz="1000" b="1" dirty="0">
                <a:solidFill>
                  <a:srgbClr val="202124"/>
                </a:solidFill>
                <a:latin typeface="Quicksand" pitchFamily="34" charset="0"/>
                <a:ea typeface="Quicksand" pitchFamily="34" charset="-122"/>
                <a:cs typeface="Quicksand" pitchFamily="34" charset="-120"/>
              </a:rPr>
              <a:t>Receiver</a:t>
            </a:r>
            <a:endParaRPr lang="en-US" sz="1000" dirty="0"/>
          </a:p>
        </p:txBody>
      </p:sp>
      <p:sp>
        <p:nvSpPr>
          <p:cNvPr id="31" name="Text 28"/>
          <p:cNvSpPr/>
          <p:nvPr/>
        </p:nvSpPr>
        <p:spPr>
          <a:xfrm>
            <a:off x="4663440" y="2048256"/>
            <a:ext cx="365760" cy="365760"/>
          </a:xfrm>
          <a:prstGeom prst="rect">
            <a:avLst>
              <a:gd name="adj" fmla="val 20000"/>
            </a:avLst>
          </a:prstGeom>
          <a:solidFill>
            <a:srgbClr val="494985"/>
          </a:solidFill>
          <a:ln w="12700">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1</a:t>
            </a:r>
            <a:endParaRPr lang="en-US" sz="1200" dirty="0"/>
          </a:p>
        </p:txBody>
      </p:sp>
      <p:sp>
        <p:nvSpPr>
          <p:cNvPr id="32" name="Text 29"/>
          <p:cNvSpPr/>
          <p:nvPr/>
        </p:nvSpPr>
        <p:spPr>
          <a:xfrm>
            <a:off x="4663440" y="3145536"/>
            <a:ext cx="365760" cy="365760"/>
          </a:xfrm>
          <a:prstGeom prst="rect">
            <a:avLst>
              <a:gd name="adj" fmla="val 20000"/>
            </a:avLst>
          </a:prstGeom>
          <a:solidFill>
            <a:srgbClr val="E0A800"/>
          </a:solidFill>
          <a:ln w="12700">
            <a:solidFill>
              <a:srgbClr val="E0A800"/>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2</a:t>
            </a:r>
            <a:endParaRPr lang="en-US" sz="1200" dirty="0"/>
          </a:p>
        </p:txBody>
      </p:sp>
      <p:sp>
        <p:nvSpPr>
          <p:cNvPr id="33" name="Text 30"/>
          <p:cNvSpPr/>
          <p:nvPr/>
        </p:nvSpPr>
        <p:spPr>
          <a:xfrm>
            <a:off x="4663440" y="4242816"/>
            <a:ext cx="365760" cy="365760"/>
          </a:xfrm>
          <a:prstGeom prst="rect">
            <a:avLst>
              <a:gd name="adj" fmla="val 20000"/>
            </a:avLst>
          </a:prstGeom>
          <a:solidFill>
            <a:srgbClr val="C0392B"/>
          </a:solidFill>
          <a:ln w="12700">
            <a:solidFill>
              <a:srgbClr val="C0392B"/>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3</a:t>
            </a:r>
            <a:endParaRPr lang="en-US" sz="1200" dirty="0"/>
          </a:p>
        </p:txBody>
      </p:sp>
      <p:sp>
        <p:nvSpPr>
          <p:cNvPr id="34" name="Shape 31"/>
          <p:cNvSpPr/>
          <p:nvPr/>
        </p:nvSpPr>
        <p:spPr>
          <a:xfrm>
            <a:off x="8915400" y="2011680"/>
            <a:ext cx="2606040" cy="914400"/>
          </a:xfrm>
          <a:prstGeom prst="rect">
            <a:avLst/>
          </a:prstGeom>
          <a:solidFill>
            <a:srgbClr val="F6F5FC"/>
          </a:solidFill>
          <a:ln w="12700">
            <a:solidFill>
              <a:srgbClr val="F6F5FC"/>
            </a:solidFill>
            <a:prstDash val="solid"/>
          </a:ln>
        </p:spPr>
      </p:sp>
      <p:sp>
        <p:nvSpPr>
          <p:cNvPr id="35" name="Text 32"/>
          <p:cNvSpPr/>
          <p:nvPr/>
        </p:nvSpPr>
        <p:spPr>
          <a:xfrm>
            <a:off x="9052560" y="21488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36" name="Text 33"/>
          <p:cNvSpPr txBox="1"/>
          <p:nvPr/>
        </p:nvSpPr>
        <p:spPr>
          <a:xfrm>
            <a:off x="9573768" y="2121408"/>
            <a:ext cx="18288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Packet 1</a:t>
            </a:r>
            <a:endParaRPr lang="en-US" sz="1500" dirty="0"/>
          </a:p>
        </p:txBody>
      </p:sp>
      <p:sp>
        <p:nvSpPr>
          <p:cNvPr id="37" name="Text 34"/>
          <p:cNvSpPr txBox="1"/>
          <p:nvPr/>
        </p:nvSpPr>
        <p:spPr>
          <a:xfrm>
            <a:off x="9573768" y="2514600"/>
            <a:ext cx="1828800" cy="34747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R1 &gt; R2 &gt; R3 &gt; R8</a:t>
            </a:r>
            <a:endParaRPr lang="en-US" sz="1200" dirty="0"/>
          </a:p>
        </p:txBody>
      </p:sp>
      <p:sp>
        <p:nvSpPr>
          <p:cNvPr id="38" name="Shape 35"/>
          <p:cNvSpPr/>
          <p:nvPr/>
        </p:nvSpPr>
        <p:spPr>
          <a:xfrm>
            <a:off x="8915400" y="3063240"/>
            <a:ext cx="2606040" cy="914400"/>
          </a:xfrm>
          <a:prstGeom prst="rect">
            <a:avLst/>
          </a:prstGeom>
          <a:solidFill>
            <a:srgbClr val="F6F5FC"/>
          </a:solidFill>
          <a:ln w="12700">
            <a:solidFill>
              <a:srgbClr val="F6F5FC"/>
            </a:solidFill>
            <a:prstDash val="solid"/>
          </a:ln>
        </p:spPr>
      </p:sp>
      <p:sp>
        <p:nvSpPr>
          <p:cNvPr id="39" name="Text 36"/>
          <p:cNvSpPr/>
          <p:nvPr/>
        </p:nvSpPr>
        <p:spPr>
          <a:xfrm>
            <a:off x="9052560" y="32004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40" name="Text 37"/>
          <p:cNvSpPr txBox="1"/>
          <p:nvPr/>
        </p:nvSpPr>
        <p:spPr>
          <a:xfrm>
            <a:off x="9573768" y="3172968"/>
            <a:ext cx="18288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Packet 2</a:t>
            </a:r>
            <a:endParaRPr lang="en-US" sz="1500" dirty="0"/>
          </a:p>
        </p:txBody>
      </p:sp>
      <p:sp>
        <p:nvSpPr>
          <p:cNvPr id="41" name="Text 38"/>
          <p:cNvSpPr txBox="1"/>
          <p:nvPr/>
        </p:nvSpPr>
        <p:spPr>
          <a:xfrm>
            <a:off x="9573768" y="3566160"/>
            <a:ext cx="1828800" cy="34747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R1 &gt; R4 &gt; R5 &gt; R8</a:t>
            </a:r>
            <a:endParaRPr lang="en-US" sz="1200" dirty="0"/>
          </a:p>
        </p:txBody>
      </p:sp>
      <p:sp>
        <p:nvSpPr>
          <p:cNvPr id="42" name="Shape 39"/>
          <p:cNvSpPr/>
          <p:nvPr/>
        </p:nvSpPr>
        <p:spPr>
          <a:xfrm>
            <a:off x="8915400" y="4114800"/>
            <a:ext cx="2606040" cy="914400"/>
          </a:xfrm>
          <a:prstGeom prst="rect">
            <a:avLst/>
          </a:prstGeom>
          <a:solidFill>
            <a:srgbClr val="F6F5FC"/>
          </a:solidFill>
          <a:ln w="12700">
            <a:solidFill>
              <a:srgbClr val="F6F5FC"/>
            </a:solidFill>
            <a:prstDash val="solid"/>
          </a:ln>
        </p:spPr>
      </p:sp>
      <p:sp>
        <p:nvSpPr>
          <p:cNvPr id="43" name="Text 40"/>
          <p:cNvSpPr/>
          <p:nvPr/>
        </p:nvSpPr>
        <p:spPr>
          <a:xfrm>
            <a:off x="9052560" y="42519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44" name="Text 41"/>
          <p:cNvSpPr txBox="1"/>
          <p:nvPr/>
        </p:nvSpPr>
        <p:spPr>
          <a:xfrm>
            <a:off x="9573768" y="4224528"/>
            <a:ext cx="18288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Packet 3</a:t>
            </a:r>
            <a:endParaRPr lang="en-US" sz="1500" dirty="0"/>
          </a:p>
        </p:txBody>
      </p:sp>
      <p:sp>
        <p:nvSpPr>
          <p:cNvPr id="45" name="Text 42"/>
          <p:cNvSpPr txBox="1"/>
          <p:nvPr/>
        </p:nvSpPr>
        <p:spPr>
          <a:xfrm>
            <a:off x="9573768" y="4617720"/>
            <a:ext cx="1828800" cy="34747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R1 &gt; R6 &gt; R7 &gt; R8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The process of packet switching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sp>
        <p:nvSpPr>
          <p:cNvPr id="7" name="Shape 4"/>
          <p:cNvSpPr/>
          <p:nvPr/>
        </p:nvSpPr>
        <p:spPr>
          <a:xfrm>
            <a:off x="877824" y="1234440"/>
            <a:ext cx="10332720" cy="822960"/>
          </a:xfrm>
          <a:prstGeom prst="rect">
            <a:avLst/>
          </a:prstGeom>
          <a:solidFill>
            <a:srgbClr val="F6F5FC"/>
          </a:solidFill>
          <a:ln w="12700">
            <a:solidFill>
              <a:srgbClr val="F6F5FC"/>
            </a:solidFill>
            <a:prstDash val="solid"/>
          </a:ln>
        </p:spPr>
      </p:sp>
      <p:sp>
        <p:nvSpPr>
          <p:cNvPr id="8" name="Text 5"/>
          <p:cNvSpPr/>
          <p:nvPr/>
        </p:nvSpPr>
        <p:spPr>
          <a:xfrm>
            <a:off x="1014984" y="13716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536192" y="1344168"/>
            <a:ext cx="9555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Data is broken down into packets</a:t>
            </a:r>
            <a:endParaRPr lang="en-US" sz="1500" dirty="0"/>
          </a:p>
        </p:txBody>
      </p:sp>
      <p:sp>
        <p:nvSpPr>
          <p:cNvPr id="10" name="Text 7"/>
          <p:cNvSpPr txBox="1"/>
          <p:nvPr/>
        </p:nvSpPr>
        <p:spPr>
          <a:xfrm>
            <a:off x="1536192" y="1737360"/>
            <a:ext cx="9555480" cy="2560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Each packet gets a header (with a packet number) and a trailer.</a:t>
            </a:r>
            <a:endParaRPr lang="en-US" sz="1250" dirty="0"/>
          </a:p>
        </p:txBody>
      </p:sp>
      <p:sp>
        <p:nvSpPr>
          <p:cNvPr id="11" name="Shape 8"/>
          <p:cNvSpPr/>
          <p:nvPr/>
        </p:nvSpPr>
        <p:spPr>
          <a:xfrm>
            <a:off x="877824" y="2148840"/>
            <a:ext cx="10332720" cy="822960"/>
          </a:xfrm>
          <a:prstGeom prst="rect">
            <a:avLst/>
          </a:prstGeom>
          <a:solidFill>
            <a:srgbClr val="F6F5FC"/>
          </a:solidFill>
          <a:ln w="12700">
            <a:solidFill>
              <a:srgbClr val="F6F5FC"/>
            </a:solidFill>
            <a:prstDash val="solid"/>
          </a:ln>
        </p:spPr>
      </p:sp>
      <p:sp>
        <p:nvSpPr>
          <p:cNvPr id="12" name="Text 9"/>
          <p:cNvSpPr/>
          <p:nvPr/>
        </p:nvSpPr>
        <p:spPr>
          <a:xfrm>
            <a:off x="1014984" y="22860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3" name="Text 10"/>
          <p:cNvSpPr txBox="1"/>
          <p:nvPr/>
        </p:nvSpPr>
        <p:spPr>
          <a:xfrm>
            <a:off x="1536192" y="2258568"/>
            <a:ext cx="9555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Each packet could take a different route</a:t>
            </a:r>
            <a:endParaRPr lang="en-US" sz="1500" dirty="0"/>
          </a:p>
        </p:txBody>
      </p:sp>
      <p:sp>
        <p:nvSpPr>
          <p:cNvPr id="14" name="Text 11"/>
          <p:cNvSpPr txBox="1"/>
          <p:nvPr/>
        </p:nvSpPr>
        <p:spPr>
          <a:xfrm>
            <a:off x="1536192" y="2651760"/>
            <a:ext cx="9555480" cy="2560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Packets are sent separately across the network.</a:t>
            </a:r>
            <a:endParaRPr lang="en-US" sz="1250" dirty="0"/>
          </a:p>
        </p:txBody>
      </p:sp>
      <p:sp>
        <p:nvSpPr>
          <p:cNvPr id="15" name="Shape 12"/>
          <p:cNvSpPr/>
          <p:nvPr/>
        </p:nvSpPr>
        <p:spPr>
          <a:xfrm>
            <a:off x="877824" y="3063240"/>
            <a:ext cx="10332720" cy="822960"/>
          </a:xfrm>
          <a:prstGeom prst="rect">
            <a:avLst/>
          </a:prstGeom>
          <a:solidFill>
            <a:srgbClr val="F6F5FC"/>
          </a:solidFill>
          <a:ln w="12700">
            <a:solidFill>
              <a:srgbClr val="F6F5FC"/>
            </a:solidFill>
            <a:prstDash val="solid"/>
          </a:ln>
        </p:spPr>
      </p:sp>
      <p:sp>
        <p:nvSpPr>
          <p:cNvPr id="16" name="Text 13"/>
          <p:cNvSpPr/>
          <p:nvPr/>
        </p:nvSpPr>
        <p:spPr>
          <a:xfrm>
            <a:off x="1014984" y="32004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7" name="Text 14"/>
          <p:cNvSpPr txBox="1"/>
          <p:nvPr/>
        </p:nvSpPr>
        <p:spPr>
          <a:xfrm>
            <a:off x="1536192" y="3172968"/>
            <a:ext cx="9555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A router controls the route a packet takes</a:t>
            </a:r>
            <a:endParaRPr lang="en-US" sz="1500" dirty="0"/>
          </a:p>
        </p:txBody>
      </p:sp>
      <p:sp>
        <p:nvSpPr>
          <p:cNvPr id="18" name="Text 15"/>
          <p:cNvSpPr txBox="1"/>
          <p:nvPr/>
        </p:nvSpPr>
        <p:spPr>
          <a:xfrm>
            <a:off x="1536192" y="3566160"/>
            <a:ext cx="9555480" cy="2560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Each router reads the destination address and sends the packet on to the next router.</a:t>
            </a:r>
            <a:endParaRPr lang="en-US" sz="1250" dirty="0"/>
          </a:p>
        </p:txBody>
      </p:sp>
      <p:sp>
        <p:nvSpPr>
          <p:cNvPr id="19" name="Shape 16"/>
          <p:cNvSpPr/>
          <p:nvPr/>
        </p:nvSpPr>
        <p:spPr>
          <a:xfrm>
            <a:off x="877824" y="3977640"/>
            <a:ext cx="10332720" cy="822960"/>
          </a:xfrm>
          <a:prstGeom prst="rect">
            <a:avLst/>
          </a:prstGeom>
          <a:solidFill>
            <a:srgbClr val="F6F5FC"/>
          </a:solidFill>
          <a:ln w="12700">
            <a:solidFill>
              <a:srgbClr val="F6F5FC"/>
            </a:solidFill>
            <a:prstDash val="solid"/>
          </a:ln>
        </p:spPr>
      </p:sp>
      <p:sp>
        <p:nvSpPr>
          <p:cNvPr id="20" name="Text 17"/>
          <p:cNvSpPr/>
          <p:nvPr/>
        </p:nvSpPr>
        <p:spPr>
          <a:xfrm>
            <a:off x="1014984" y="41148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1" name="Text 18"/>
          <p:cNvSpPr txBox="1"/>
          <p:nvPr/>
        </p:nvSpPr>
        <p:spPr>
          <a:xfrm>
            <a:off x="1536192" y="4087368"/>
            <a:ext cx="9555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Packets may arrive out of order</a:t>
            </a:r>
            <a:endParaRPr lang="en-US" sz="1500" dirty="0"/>
          </a:p>
        </p:txBody>
      </p:sp>
      <p:sp>
        <p:nvSpPr>
          <p:cNvPr id="22" name="Text 19"/>
          <p:cNvSpPr txBox="1"/>
          <p:nvPr/>
        </p:nvSpPr>
        <p:spPr>
          <a:xfrm>
            <a:off x="1536192" y="4480560"/>
            <a:ext cx="9555480" cy="2560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Different routes can be busier or longer than others.</a:t>
            </a:r>
            <a:endParaRPr lang="en-US" sz="1250" dirty="0"/>
          </a:p>
        </p:txBody>
      </p:sp>
      <p:sp>
        <p:nvSpPr>
          <p:cNvPr id="23" name="Shape 20"/>
          <p:cNvSpPr/>
          <p:nvPr/>
        </p:nvSpPr>
        <p:spPr>
          <a:xfrm>
            <a:off x="877824" y="4892040"/>
            <a:ext cx="10332720" cy="822960"/>
          </a:xfrm>
          <a:prstGeom prst="rect">
            <a:avLst/>
          </a:prstGeom>
          <a:solidFill>
            <a:srgbClr val="F6F5FC"/>
          </a:solidFill>
          <a:ln w="12700">
            <a:solidFill>
              <a:srgbClr val="F6F5FC"/>
            </a:solidFill>
            <a:prstDash val="solid"/>
          </a:ln>
        </p:spPr>
      </p:sp>
      <p:sp>
        <p:nvSpPr>
          <p:cNvPr id="24" name="Text 21"/>
          <p:cNvSpPr/>
          <p:nvPr/>
        </p:nvSpPr>
        <p:spPr>
          <a:xfrm>
            <a:off x="1014984" y="50292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5</a:t>
            </a:r>
            <a:endParaRPr lang="en-US" sz="1400" dirty="0"/>
          </a:p>
        </p:txBody>
      </p:sp>
      <p:sp>
        <p:nvSpPr>
          <p:cNvPr id="25" name="Text 22"/>
          <p:cNvSpPr txBox="1"/>
          <p:nvPr/>
        </p:nvSpPr>
        <p:spPr>
          <a:xfrm>
            <a:off x="1536192" y="5001768"/>
            <a:ext cx="9555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Once the last packet has arrived, the packets are reordered</a:t>
            </a:r>
            <a:endParaRPr lang="en-US" sz="1500" dirty="0"/>
          </a:p>
        </p:txBody>
      </p:sp>
      <p:sp>
        <p:nvSpPr>
          <p:cNvPr id="26" name="Text 23"/>
          <p:cNvSpPr txBox="1"/>
          <p:nvPr/>
        </p:nvSpPr>
        <p:spPr>
          <a:xfrm>
            <a:off x="1536192" y="5394960"/>
            <a:ext cx="9555480" cy="2560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The receiver uses the packet numbers to put the data back together.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Reordering the packets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sp>
        <p:nvSpPr>
          <p:cNvPr id="7" name="Text 4"/>
          <p:cNvSpPr txBox="1"/>
          <p:nvPr/>
        </p:nvSpPr>
        <p:spPr>
          <a:xfrm>
            <a:off x="877824" y="1280160"/>
            <a:ext cx="4572000" cy="365760"/>
          </a:xfrm>
          <a:prstGeom prst="rect">
            <a:avLst/>
          </a:prstGeom>
          <a:noFill/>
          <a:ln/>
        </p:spPr>
        <p:txBody>
          <a:bodyPr wrap="square" lIns="0" tIns="0" rIns="0" bIns="0" rtlCol="0" anchor="t"/>
          <a:lstStyle/>
          <a:p>
            <a:pPr indent="0" marL="0">
              <a:spcAft>
                <a:spcPts val="600"/>
              </a:spcAft>
              <a:buNone/>
            </a:pPr>
            <a:r>
              <a:rPr lang="en-US" sz="1600" b="1" dirty="0">
                <a:solidFill>
                  <a:srgbClr val="202124"/>
                </a:solidFill>
                <a:latin typeface="Quicksand" pitchFamily="34" charset="0"/>
                <a:ea typeface="Quicksand" pitchFamily="34" charset="-122"/>
                <a:cs typeface="Quicksand" pitchFamily="34" charset="-120"/>
              </a:rPr>
              <a:t>Order the packets arrived in:</a:t>
            </a:r>
            <a:endParaRPr lang="en-US" sz="1600" dirty="0"/>
          </a:p>
        </p:txBody>
      </p:sp>
      <p:sp>
        <p:nvSpPr>
          <p:cNvPr id="8" name="Text 5"/>
          <p:cNvSpPr/>
          <p:nvPr/>
        </p:nvSpPr>
        <p:spPr>
          <a:xfrm>
            <a:off x="877824" y="1783080"/>
            <a:ext cx="502920" cy="594360"/>
          </a:xfrm>
          <a:prstGeom prst="rect">
            <a:avLst>
              <a:gd name="adj" fmla="val 14545"/>
            </a:avLst>
          </a:prstGeom>
          <a:solidFill>
            <a:srgbClr val="494985"/>
          </a:solidFill>
          <a:ln w="12700">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9" name="Text 6"/>
          <p:cNvSpPr/>
          <p:nvPr/>
        </p:nvSpPr>
        <p:spPr>
          <a:xfrm>
            <a:off x="1380744" y="1783080"/>
            <a:ext cx="1097280" cy="594360"/>
          </a:xfrm>
          <a:prstGeom prst="rect">
            <a:avLst>
              <a:gd name="adj" fmla="val 12308"/>
            </a:avLst>
          </a:prstGeom>
          <a:solidFill>
            <a:srgbClr val="FFD84D"/>
          </a:solidFill>
          <a:ln w="12700">
            <a:solidFill>
              <a:srgbClr val="494985"/>
            </a:solidFill>
          </a:ln>
        </p:spPr>
        <p:txBody>
          <a:bodyPr wrap="square" lIns="0" tIns="0" rIns="0" bIns="0" rtlCol="0" anchor="ctr"/>
          <a:lstStyle/>
          <a:p>
            <a:pPr algn="ctr" indent="0" marL="0">
              <a:buNone/>
            </a:pPr>
            <a:r>
              <a:rPr lang="en-US" sz="1400" b="1" dirty="0">
                <a:solidFill>
                  <a:srgbClr val="202124"/>
                </a:solidFill>
                <a:latin typeface="Roboto Mono" pitchFamily="34" charset="0"/>
                <a:ea typeface="Roboto Mono" pitchFamily="34" charset="-122"/>
                <a:cs typeface="Roboto Mono" pitchFamily="34" charset="-120"/>
              </a:rPr>
              <a:t>WOR</a:t>
            </a:r>
            <a:endParaRPr lang="en-US" sz="1400" dirty="0"/>
          </a:p>
        </p:txBody>
      </p:sp>
      <p:sp>
        <p:nvSpPr>
          <p:cNvPr id="10" name="Text 7"/>
          <p:cNvSpPr/>
          <p:nvPr/>
        </p:nvSpPr>
        <p:spPr>
          <a:xfrm>
            <a:off x="2706624" y="1783080"/>
            <a:ext cx="502920" cy="594360"/>
          </a:xfrm>
          <a:prstGeom prst="rect">
            <a:avLst>
              <a:gd name="adj" fmla="val 14545"/>
            </a:avLst>
          </a:prstGeom>
          <a:solidFill>
            <a:srgbClr val="494985"/>
          </a:solidFill>
          <a:ln w="12700">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8"/>
          <p:cNvSpPr/>
          <p:nvPr/>
        </p:nvSpPr>
        <p:spPr>
          <a:xfrm>
            <a:off x="3209544" y="1783080"/>
            <a:ext cx="1097280" cy="594360"/>
          </a:xfrm>
          <a:prstGeom prst="rect">
            <a:avLst>
              <a:gd name="adj" fmla="val 12308"/>
            </a:avLst>
          </a:prstGeom>
          <a:solidFill>
            <a:srgbClr val="FFD84D"/>
          </a:solidFill>
          <a:ln w="12700">
            <a:solidFill>
              <a:srgbClr val="494985"/>
            </a:solidFill>
          </a:ln>
        </p:spPr>
        <p:txBody>
          <a:bodyPr wrap="square" lIns="0" tIns="0" rIns="0" bIns="0" rtlCol="0" anchor="ctr"/>
          <a:lstStyle/>
          <a:p>
            <a:pPr algn="ctr" indent="0" marL="0">
              <a:buNone/>
            </a:pPr>
            <a:r>
              <a:rPr lang="en-US" sz="1400" b="1" dirty="0">
                <a:solidFill>
                  <a:srgbClr val="202124"/>
                </a:solidFill>
                <a:latin typeface="Roboto Mono" pitchFamily="34" charset="0"/>
                <a:ea typeface="Roboto Mono" pitchFamily="34" charset="-122"/>
                <a:cs typeface="Roboto Mono" pitchFamily="34" charset="-120"/>
              </a:rPr>
              <a:t>HEL</a:t>
            </a:r>
            <a:endParaRPr lang="en-US" sz="1400" dirty="0"/>
          </a:p>
        </p:txBody>
      </p:sp>
      <p:sp>
        <p:nvSpPr>
          <p:cNvPr id="12" name="Text 9"/>
          <p:cNvSpPr/>
          <p:nvPr/>
        </p:nvSpPr>
        <p:spPr>
          <a:xfrm>
            <a:off x="4535424" y="1783080"/>
            <a:ext cx="502920" cy="594360"/>
          </a:xfrm>
          <a:prstGeom prst="rect">
            <a:avLst>
              <a:gd name="adj" fmla="val 14545"/>
            </a:avLst>
          </a:prstGeom>
          <a:solidFill>
            <a:srgbClr val="494985"/>
          </a:solidFill>
          <a:ln w="12700">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13" name="Text 10"/>
          <p:cNvSpPr/>
          <p:nvPr/>
        </p:nvSpPr>
        <p:spPr>
          <a:xfrm>
            <a:off x="5038344" y="1783080"/>
            <a:ext cx="1097280" cy="594360"/>
          </a:xfrm>
          <a:prstGeom prst="rect">
            <a:avLst>
              <a:gd name="adj" fmla="val 12308"/>
            </a:avLst>
          </a:prstGeom>
          <a:solidFill>
            <a:srgbClr val="FFD84D"/>
          </a:solidFill>
          <a:ln w="12700">
            <a:solidFill>
              <a:srgbClr val="494985"/>
            </a:solidFill>
          </a:ln>
        </p:spPr>
        <p:txBody>
          <a:bodyPr wrap="square" lIns="0" tIns="0" rIns="0" bIns="0" rtlCol="0" anchor="ctr"/>
          <a:lstStyle/>
          <a:p>
            <a:pPr algn="ctr" indent="0" marL="0">
              <a:buNone/>
            </a:pPr>
            <a:r>
              <a:rPr lang="en-US" sz="1400" b="1" dirty="0">
                <a:solidFill>
                  <a:srgbClr val="202124"/>
                </a:solidFill>
                <a:latin typeface="Roboto Mono" pitchFamily="34" charset="0"/>
                <a:ea typeface="Roboto Mono" pitchFamily="34" charset="-122"/>
                <a:cs typeface="Roboto Mono" pitchFamily="34" charset="-120"/>
              </a:rPr>
              <a:t>LD</a:t>
            </a:r>
            <a:endParaRPr lang="en-US" sz="1400" dirty="0"/>
          </a:p>
        </p:txBody>
      </p:sp>
      <p:sp>
        <p:nvSpPr>
          <p:cNvPr id="14" name="Text 11"/>
          <p:cNvSpPr/>
          <p:nvPr/>
        </p:nvSpPr>
        <p:spPr>
          <a:xfrm>
            <a:off x="6364224" y="1783080"/>
            <a:ext cx="502920" cy="594360"/>
          </a:xfrm>
          <a:prstGeom prst="rect">
            <a:avLst>
              <a:gd name="adj" fmla="val 14545"/>
            </a:avLst>
          </a:prstGeom>
          <a:solidFill>
            <a:srgbClr val="494985"/>
          </a:solidFill>
          <a:ln w="12700">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2"/>
          <p:cNvSpPr/>
          <p:nvPr/>
        </p:nvSpPr>
        <p:spPr>
          <a:xfrm>
            <a:off x="6867144" y="1783080"/>
            <a:ext cx="1097280" cy="594360"/>
          </a:xfrm>
          <a:prstGeom prst="rect">
            <a:avLst>
              <a:gd name="adj" fmla="val 12308"/>
            </a:avLst>
          </a:prstGeom>
          <a:solidFill>
            <a:srgbClr val="FFD84D"/>
          </a:solidFill>
          <a:ln w="12700">
            <a:solidFill>
              <a:srgbClr val="494985"/>
            </a:solidFill>
          </a:ln>
        </p:spPr>
        <p:txBody>
          <a:bodyPr wrap="square" lIns="0" tIns="0" rIns="0" bIns="0" rtlCol="0" anchor="ctr"/>
          <a:lstStyle/>
          <a:p>
            <a:pPr algn="ctr" indent="0" marL="0">
              <a:buNone/>
            </a:pPr>
            <a:r>
              <a:rPr lang="en-US" sz="1400" b="1" dirty="0">
                <a:solidFill>
                  <a:srgbClr val="202124"/>
                </a:solidFill>
                <a:latin typeface="Roboto Mono" pitchFamily="34" charset="0"/>
                <a:ea typeface="Roboto Mono" pitchFamily="34" charset="-122"/>
                <a:cs typeface="Roboto Mono" pitchFamily="34" charset="-120"/>
              </a:rPr>
              <a:t>LO </a:t>
            </a:r>
            <a:endParaRPr lang="en-US" sz="1400" dirty="0"/>
          </a:p>
        </p:txBody>
      </p:sp>
      <p:sp>
        <p:nvSpPr>
          <p:cNvPr id="16" name="Shape 13"/>
          <p:cNvSpPr/>
          <p:nvPr/>
        </p:nvSpPr>
        <p:spPr>
          <a:xfrm>
            <a:off x="4206240" y="2606040"/>
            <a:ext cx="914" cy="640080"/>
          </a:xfrm>
          <a:prstGeom prst="line">
            <a:avLst/>
          </a:prstGeom>
          <a:noFill/>
          <a:ln w="31750">
            <a:solidFill>
              <a:srgbClr val="494985"/>
            </a:solidFill>
            <a:prstDash val="solid"/>
            <a:tailEnd type="triangle"/>
          </a:ln>
        </p:spPr>
      </p:sp>
      <p:sp>
        <p:nvSpPr>
          <p:cNvPr id="17" name="Text 14"/>
          <p:cNvSpPr txBox="1"/>
          <p:nvPr/>
        </p:nvSpPr>
        <p:spPr>
          <a:xfrm>
            <a:off x="4389120" y="2697480"/>
            <a:ext cx="2743200" cy="365760"/>
          </a:xfrm>
          <a:prstGeom prst="rect">
            <a:avLst/>
          </a:prstGeom>
          <a:noFill/>
          <a:ln/>
        </p:spPr>
        <p:txBody>
          <a:bodyPr wrap="square" lIns="0" tIns="0" rIns="0" bIns="0" rtlCol="0" anchor="ctr"/>
          <a:lstStyle/>
          <a:p>
            <a:pPr indent="0" marL="0">
              <a:buNone/>
            </a:pPr>
            <a:r>
              <a:rPr lang="en-US" sz="1200" i="1" dirty="0">
                <a:solidFill>
                  <a:srgbClr val="666666"/>
                </a:solidFill>
                <a:latin typeface="Quicksand" pitchFamily="34" charset="0"/>
                <a:ea typeface="Quicksand" pitchFamily="34" charset="-122"/>
                <a:cs typeface="Quicksand" pitchFamily="34" charset="-120"/>
              </a:rPr>
              <a:t>sort by packet number</a:t>
            </a:r>
            <a:endParaRPr lang="en-US" sz="1200" dirty="0"/>
          </a:p>
        </p:txBody>
      </p:sp>
      <p:sp>
        <p:nvSpPr>
          <p:cNvPr id="18" name="Text 15"/>
          <p:cNvSpPr txBox="1"/>
          <p:nvPr/>
        </p:nvSpPr>
        <p:spPr>
          <a:xfrm>
            <a:off x="877824" y="3337560"/>
            <a:ext cx="4572000" cy="365760"/>
          </a:xfrm>
          <a:prstGeom prst="rect">
            <a:avLst/>
          </a:prstGeom>
          <a:noFill/>
          <a:ln/>
        </p:spPr>
        <p:txBody>
          <a:bodyPr wrap="square" lIns="0" tIns="0" rIns="0" bIns="0" rtlCol="0" anchor="t"/>
          <a:lstStyle/>
          <a:p>
            <a:pPr indent="0" marL="0">
              <a:spcAft>
                <a:spcPts val="600"/>
              </a:spcAft>
              <a:buNone/>
            </a:pPr>
            <a:r>
              <a:rPr lang="en-US" sz="1600" b="1" dirty="0">
                <a:solidFill>
                  <a:srgbClr val="202124"/>
                </a:solidFill>
                <a:latin typeface="Quicksand" pitchFamily="34" charset="0"/>
                <a:ea typeface="Quicksand" pitchFamily="34" charset="-122"/>
                <a:cs typeface="Quicksand" pitchFamily="34" charset="-120"/>
              </a:rPr>
              <a:t>After reordering:</a:t>
            </a:r>
            <a:endParaRPr lang="en-US" sz="1600" dirty="0"/>
          </a:p>
        </p:txBody>
      </p:sp>
      <p:sp>
        <p:nvSpPr>
          <p:cNvPr id="19" name="Text 16"/>
          <p:cNvSpPr/>
          <p:nvPr/>
        </p:nvSpPr>
        <p:spPr>
          <a:xfrm>
            <a:off x="877824" y="3840480"/>
            <a:ext cx="502920" cy="594360"/>
          </a:xfrm>
          <a:prstGeom prst="rect">
            <a:avLst>
              <a:gd name="adj" fmla="val 14545"/>
            </a:avLst>
          </a:prstGeom>
          <a:solidFill>
            <a:srgbClr val="494985"/>
          </a:solidFill>
          <a:ln w="12700">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20" name="Text 17"/>
          <p:cNvSpPr/>
          <p:nvPr/>
        </p:nvSpPr>
        <p:spPr>
          <a:xfrm>
            <a:off x="1380744" y="3840480"/>
            <a:ext cx="1097280" cy="594360"/>
          </a:xfrm>
          <a:prstGeom prst="rect">
            <a:avLst>
              <a:gd name="adj" fmla="val 12308"/>
            </a:avLst>
          </a:prstGeom>
          <a:solidFill>
            <a:srgbClr val="FFD84D"/>
          </a:solidFill>
          <a:ln w="12700">
            <a:solidFill>
              <a:srgbClr val="494985"/>
            </a:solidFill>
          </a:ln>
        </p:spPr>
        <p:txBody>
          <a:bodyPr wrap="square" lIns="0" tIns="0" rIns="0" bIns="0" rtlCol="0" anchor="ctr"/>
          <a:lstStyle/>
          <a:p>
            <a:pPr algn="ctr" indent="0" marL="0">
              <a:buNone/>
            </a:pPr>
            <a:r>
              <a:rPr lang="en-US" sz="1400" b="1" dirty="0">
                <a:solidFill>
                  <a:srgbClr val="202124"/>
                </a:solidFill>
                <a:latin typeface="Roboto Mono" pitchFamily="34" charset="0"/>
                <a:ea typeface="Roboto Mono" pitchFamily="34" charset="-122"/>
                <a:cs typeface="Roboto Mono" pitchFamily="34" charset="-120"/>
              </a:rPr>
              <a:t>HEL</a:t>
            </a:r>
            <a:endParaRPr lang="en-US" sz="1400" dirty="0"/>
          </a:p>
        </p:txBody>
      </p:sp>
      <p:sp>
        <p:nvSpPr>
          <p:cNvPr id="21" name="Text 18"/>
          <p:cNvSpPr/>
          <p:nvPr/>
        </p:nvSpPr>
        <p:spPr>
          <a:xfrm>
            <a:off x="2706624" y="3840480"/>
            <a:ext cx="502920" cy="594360"/>
          </a:xfrm>
          <a:prstGeom prst="rect">
            <a:avLst>
              <a:gd name="adj" fmla="val 14545"/>
            </a:avLst>
          </a:prstGeom>
          <a:solidFill>
            <a:srgbClr val="494985"/>
          </a:solidFill>
          <a:ln w="12700">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22" name="Text 19"/>
          <p:cNvSpPr/>
          <p:nvPr/>
        </p:nvSpPr>
        <p:spPr>
          <a:xfrm>
            <a:off x="3209544" y="3840480"/>
            <a:ext cx="1097280" cy="594360"/>
          </a:xfrm>
          <a:prstGeom prst="rect">
            <a:avLst>
              <a:gd name="adj" fmla="val 12308"/>
            </a:avLst>
          </a:prstGeom>
          <a:solidFill>
            <a:srgbClr val="FFD84D"/>
          </a:solidFill>
          <a:ln w="12700">
            <a:solidFill>
              <a:srgbClr val="494985"/>
            </a:solidFill>
          </a:ln>
        </p:spPr>
        <p:txBody>
          <a:bodyPr wrap="square" lIns="0" tIns="0" rIns="0" bIns="0" rtlCol="0" anchor="ctr"/>
          <a:lstStyle/>
          <a:p>
            <a:pPr algn="ctr" indent="0" marL="0">
              <a:buNone/>
            </a:pPr>
            <a:r>
              <a:rPr lang="en-US" sz="1400" b="1" dirty="0">
                <a:solidFill>
                  <a:srgbClr val="202124"/>
                </a:solidFill>
                <a:latin typeface="Roboto Mono" pitchFamily="34" charset="0"/>
                <a:ea typeface="Roboto Mono" pitchFamily="34" charset="-122"/>
                <a:cs typeface="Roboto Mono" pitchFamily="34" charset="-120"/>
              </a:rPr>
              <a:t>LO </a:t>
            </a:r>
            <a:endParaRPr lang="en-US" sz="1400" dirty="0"/>
          </a:p>
        </p:txBody>
      </p:sp>
      <p:sp>
        <p:nvSpPr>
          <p:cNvPr id="23" name="Text 20"/>
          <p:cNvSpPr/>
          <p:nvPr/>
        </p:nvSpPr>
        <p:spPr>
          <a:xfrm>
            <a:off x="4535424" y="3840480"/>
            <a:ext cx="502920" cy="594360"/>
          </a:xfrm>
          <a:prstGeom prst="rect">
            <a:avLst>
              <a:gd name="adj" fmla="val 14545"/>
            </a:avLst>
          </a:prstGeom>
          <a:solidFill>
            <a:srgbClr val="494985"/>
          </a:solidFill>
          <a:ln w="12700">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4" name="Text 21"/>
          <p:cNvSpPr/>
          <p:nvPr/>
        </p:nvSpPr>
        <p:spPr>
          <a:xfrm>
            <a:off x="5038344" y="3840480"/>
            <a:ext cx="1097280" cy="594360"/>
          </a:xfrm>
          <a:prstGeom prst="rect">
            <a:avLst>
              <a:gd name="adj" fmla="val 12308"/>
            </a:avLst>
          </a:prstGeom>
          <a:solidFill>
            <a:srgbClr val="FFD84D"/>
          </a:solidFill>
          <a:ln w="12700">
            <a:solidFill>
              <a:srgbClr val="494985"/>
            </a:solidFill>
          </a:ln>
        </p:spPr>
        <p:txBody>
          <a:bodyPr wrap="square" lIns="0" tIns="0" rIns="0" bIns="0" rtlCol="0" anchor="ctr"/>
          <a:lstStyle/>
          <a:p>
            <a:pPr algn="ctr" indent="0" marL="0">
              <a:buNone/>
            </a:pPr>
            <a:r>
              <a:rPr lang="en-US" sz="1400" b="1" dirty="0">
                <a:solidFill>
                  <a:srgbClr val="202124"/>
                </a:solidFill>
                <a:latin typeface="Roboto Mono" pitchFamily="34" charset="0"/>
                <a:ea typeface="Roboto Mono" pitchFamily="34" charset="-122"/>
                <a:cs typeface="Roboto Mono" pitchFamily="34" charset="-120"/>
              </a:rPr>
              <a:t>WOR</a:t>
            </a:r>
            <a:endParaRPr lang="en-US" sz="1400" dirty="0"/>
          </a:p>
        </p:txBody>
      </p:sp>
      <p:sp>
        <p:nvSpPr>
          <p:cNvPr id="25" name="Text 22"/>
          <p:cNvSpPr/>
          <p:nvPr/>
        </p:nvSpPr>
        <p:spPr>
          <a:xfrm>
            <a:off x="6364224" y="3840480"/>
            <a:ext cx="502920" cy="594360"/>
          </a:xfrm>
          <a:prstGeom prst="rect">
            <a:avLst>
              <a:gd name="adj" fmla="val 14545"/>
            </a:avLst>
          </a:prstGeom>
          <a:solidFill>
            <a:srgbClr val="494985"/>
          </a:solidFill>
          <a:ln w="12700">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6" name="Text 23"/>
          <p:cNvSpPr/>
          <p:nvPr/>
        </p:nvSpPr>
        <p:spPr>
          <a:xfrm>
            <a:off x="6867144" y="3840480"/>
            <a:ext cx="1097280" cy="594360"/>
          </a:xfrm>
          <a:prstGeom prst="rect">
            <a:avLst>
              <a:gd name="adj" fmla="val 12308"/>
            </a:avLst>
          </a:prstGeom>
          <a:solidFill>
            <a:srgbClr val="FFD84D"/>
          </a:solidFill>
          <a:ln w="12700">
            <a:solidFill>
              <a:srgbClr val="494985"/>
            </a:solidFill>
          </a:ln>
        </p:spPr>
        <p:txBody>
          <a:bodyPr wrap="square" lIns="0" tIns="0" rIns="0" bIns="0" rtlCol="0" anchor="ctr"/>
          <a:lstStyle/>
          <a:p>
            <a:pPr algn="ctr" indent="0" marL="0">
              <a:buNone/>
            </a:pPr>
            <a:r>
              <a:rPr lang="en-US" sz="1400" b="1" dirty="0">
                <a:solidFill>
                  <a:srgbClr val="202124"/>
                </a:solidFill>
                <a:latin typeface="Roboto Mono" pitchFamily="34" charset="0"/>
                <a:ea typeface="Roboto Mono" pitchFamily="34" charset="-122"/>
                <a:cs typeface="Roboto Mono" pitchFamily="34" charset="-120"/>
              </a:rPr>
              <a:t>LD</a:t>
            </a:r>
            <a:endParaRPr lang="en-US" sz="1400" dirty="0"/>
          </a:p>
        </p:txBody>
      </p:sp>
      <p:sp>
        <p:nvSpPr>
          <p:cNvPr id="27" name="Text 24"/>
          <p:cNvSpPr txBox="1"/>
          <p:nvPr/>
        </p:nvSpPr>
        <p:spPr>
          <a:xfrm>
            <a:off x="877824" y="4663440"/>
            <a:ext cx="6858000" cy="457200"/>
          </a:xfrm>
          <a:prstGeom prst="rect">
            <a:avLst/>
          </a:prstGeom>
          <a:noFill/>
          <a:ln/>
        </p:spPr>
        <p:txBody>
          <a:bodyPr wrap="square" lIns="0" tIns="0" rIns="0" bIns="0" rtlCol="0" anchor="t"/>
          <a:lstStyle/>
          <a:p>
            <a:pPr indent="0" marL="0">
              <a:buNone/>
            </a:pPr>
            <a:r>
              <a:rPr lang="en-US" sz="1800" b="1" dirty="0">
                <a:solidFill>
                  <a:srgbClr val="494985"/>
                </a:solidFill>
                <a:latin typeface="Quicksand" pitchFamily="34" charset="0"/>
                <a:ea typeface="Quicksand" pitchFamily="34" charset="-122"/>
                <a:cs typeface="Quicksand" pitchFamily="34" charset="-120"/>
              </a:rPr>
              <a:t>Message: HELLO WORLD</a:t>
            </a:r>
            <a:endParaRPr lang="en-US" sz="1800" dirty="0"/>
          </a:p>
        </p:txBody>
      </p:sp>
      <p:sp>
        <p:nvSpPr>
          <p:cNvPr id="28" name="Shape 25"/>
          <p:cNvSpPr/>
          <p:nvPr/>
        </p:nvSpPr>
        <p:spPr>
          <a:xfrm>
            <a:off x="8321040" y="1783080"/>
            <a:ext cx="3200400" cy="1325880"/>
          </a:xfrm>
          <a:prstGeom prst="rect">
            <a:avLst/>
          </a:prstGeom>
          <a:solidFill>
            <a:srgbClr val="F6F5FC"/>
          </a:solidFill>
          <a:ln w="12700">
            <a:solidFill>
              <a:srgbClr val="F6F5FC"/>
            </a:solidFill>
            <a:prstDash val="solid"/>
          </a:ln>
        </p:spPr>
      </p:sp>
      <p:sp>
        <p:nvSpPr>
          <p:cNvPr id="29" name="Text 26"/>
          <p:cNvSpPr/>
          <p:nvPr/>
        </p:nvSpPr>
        <p:spPr>
          <a:xfrm>
            <a:off x="8458200" y="19202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30" name="Text 27"/>
          <p:cNvSpPr txBox="1"/>
          <p:nvPr/>
        </p:nvSpPr>
        <p:spPr>
          <a:xfrm>
            <a:off x="8979408" y="1892808"/>
            <a:ext cx="24231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Wait for all packets</a:t>
            </a:r>
            <a:endParaRPr lang="en-US" sz="1500" dirty="0"/>
          </a:p>
        </p:txBody>
      </p:sp>
      <p:sp>
        <p:nvSpPr>
          <p:cNvPr id="31" name="Text 28"/>
          <p:cNvSpPr txBox="1"/>
          <p:nvPr/>
        </p:nvSpPr>
        <p:spPr>
          <a:xfrm>
            <a:off x="8979408" y="2286000"/>
            <a:ext cx="2423160" cy="75895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The packet number shows how many packets to expect.</a:t>
            </a:r>
            <a:endParaRPr lang="en-US" sz="1200" dirty="0"/>
          </a:p>
        </p:txBody>
      </p:sp>
      <p:sp>
        <p:nvSpPr>
          <p:cNvPr id="32" name="Shape 29"/>
          <p:cNvSpPr/>
          <p:nvPr/>
        </p:nvSpPr>
        <p:spPr>
          <a:xfrm>
            <a:off x="8321040" y="3291840"/>
            <a:ext cx="3200400" cy="1325880"/>
          </a:xfrm>
          <a:prstGeom prst="rect">
            <a:avLst/>
          </a:prstGeom>
          <a:solidFill>
            <a:srgbClr val="F6F5FC"/>
          </a:solidFill>
          <a:ln w="12700">
            <a:solidFill>
              <a:srgbClr val="F6F5FC"/>
            </a:solidFill>
            <a:prstDash val="solid"/>
          </a:ln>
        </p:spPr>
      </p:sp>
      <p:sp>
        <p:nvSpPr>
          <p:cNvPr id="33" name="Text 30"/>
          <p:cNvSpPr/>
          <p:nvPr/>
        </p:nvSpPr>
        <p:spPr>
          <a:xfrm>
            <a:off x="8458200" y="34290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34" name="Text 31"/>
          <p:cNvSpPr txBox="1"/>
          <p:nvPr/>
        </p:nvSpPr>
        <p:spPr>
          <a:xfrm>
            <a:off x="8979408" y="3401568"/>
            <a:ext cx="24231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Missing packet?</a:t>
            </a:r>
            <a:endParaRPr lang="en-US" sz="1500" dirty="0"/>
          </a:p>
        </p:txBody>
      </p:sp>
      <p:sp>
        <p:nvSpPr>
          <p:cNvPr id="35" name="Text 32"/>
          <p:cNvSpPr txBox="1"/>
          <p:nvPr/>
        </p:nvSpPr>
        <p:spPr>
          <a:xfrm>
            <a:off x="8979408" y="3794760"/>
            <a:ext cx="2423160" cy="75895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The receiver can ask the originator to re-send just that packet.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The role of the router</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sp>
        <p:nvSpPr>
          <p:cNvPr id="7" name="Text 4"/>
          <p:cNvSpPr txBox="1"/>
          <p:nvPr/>
        </p:nvSpPr>
        <p:spPr>
          <a:xfrm>
            <a:off x="877824" y="1234440"/>
            <a:ext cx="10332720" cy="457200"/>
          </a:xfrm>
          <a:prstGeom prst="rect">
            <a:avLst/>
          </a:prstGeom>
          <a:noFill/>
          <a:ln/>
        </p:spPr>
        <p:txBody>
          <a:bodyPr wrap="square" lIns="0" tIns="0" rIns="0" bIns="0" rtlCol="0" anchor="t"/>
          <a:lstStyle/>
          <a:p>
            <a:pPr indent="0" marL="0">
              <a:buNone/>
            </a:pPr>
            <a:r>
              <a:rPr lang="en-US" sz="1700" b="1" dirty="0">
                <a:solidFill>
                  <a:srgbClr val="202124"/>
                </a:solidFill>
                <a:latin typeface="Quicksand" pitchFamily="34" charset="0"/>
                <a:ea typeface="Quicksand" pitchFamily="34" charset="-122"/>
                <a:cs typeface="Quicksand" pitchFamily="34" charset="-120"/>
              </a:rPr>
              <a:t>A router controls the route a packet takes.</a:t>
            </a:r>
            <a:endParaRPr lang="en-US" sz="1700" dirty="0"/>
          </a:p>
        </p:txBody>
      </p:sp>
      <p:sp>
        <p:nvSpPr>
          <p:cNvPr id="8" name="Text 5"/>
          <p:cNvSpPr/>
          <p:nvPr/>
        </p:nvSpPr>
        <p:spPr>
          <a:xfrm>
            <a:off x="877824" y="1920240"/>
            <a:ext cx="1997050" cy="640080"/>
          </a:xfrm>
          <a:prstGeom prst="rect">
            <a:avLst>
              <a:gd name="adj" fmla="val 11429"/>
            </a:avLst>
          </a:prstGeom>
          <a:solidFill>
            <a:srgbClr val="494985"/>
          </a:solidFill>
          <a:ln w="12700">
            <a:solidFill>
              <a:srgbClr val="494985"/>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to 192.168.0.7 ...</a:t>
            </a:r>
            <a:endParaRPr lang="en-US" sz="1100" dirty="0"/>
          </a:p>
        </p:txBody>
      </p:sp>
      <p:sp>
        <p:nvSpPr>
          <p:cNvPr id="9" name="Text 6"/>
          <p:cNvSpPr/>
          <p:nvPr/>
        </p:nvSpPr>
        <p:spPr>
          <a:xfrm>
            <a:off x="2874874" y="1920240"/>
            <a:ext cx="1806854" cy="640080"/>
          </a:xfrm>
          <a:prstGeom prst="rect">
            <a:avLst>
              <a:gd name="adj" fmla="val 11429"/>
            </a:avLst>
          </a:prstGeom>
          <a:solidFill>
            <a:srgbClr val="FFD84D"/>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data</a:t>
            </a:r>
            <a:endParaRPr lang="en-US" sz="1100" dirty="0"/>
          </a:p>
        </p:txBody>
      </p:sp>
      <p:sp>
        <p:nvSpPr>
          <p:cNvPr id="10" name="Text 7"/>
          <p:cNvSpPr/>
          <p:nvPr/>
        </p:nvSpPr>
        <p:spPr>
          <a:xfrm>
            <a:off x="4681728" y="1920240"/>
            <a:ext cx="950976" cy="640080"/>
          </a:xfrm>
          <a:prstGeom prst="rect">
            <a:avLst>
              <a:gd name="adj" fmla="val 11429"/>
            </a:avLst>
          </a:prstGeom>
          <a:solidFill>
            <a:srgbClr val="E6E6EE"/>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end</a:t>
            </a:r>
            <a:endParaRPr lang="en-US" sz="1100" dirty="0"/>
          </a:p>
        </p:txBody>
      </p:sp>
      <p:sp>
        <p:nvSpPr>
          <p:cNvPr id="11" name="Shape 8"/>
          <p:cNvSpPr/>
          <p:nvPr/>
        </p:nvSpPr>
        <p:spPr>
          <a:xfrm>
            <a:off x="5806440" y="2240280"/>
            <a:ext cx="777240" cy="914"/>
          </a:xfrm>
          <a:prstGeom prst="line">
            <a:avLst/>
          </a:prstGeom>
          <a:noFill/>
          <a:ln w="31750">
            <a:solidFill>
              <a:srgbClr val="494985"/>
            </a:solidFill>
            <a:prstDash val="solid"/>
            <a:tailEnd type="triangle"/>
          </a:ln>
        </p:spPr>
      </p:sp>
      <p:sp>
        <p:nvSpPr>
          <p:cNvPr id="12" name="Text 9"/>
          <p:cNvSpPr/>
          <p:nvPr/>
        </p:nvSpPr>
        <p:spPr>
          <a:xfrm>
            <a:off x="6720840" y="1965960"/>
            <a:ext cx="1097280" cy="548640"/>
          </a:xfrm>
          <a:prstGeom prst="roundRect">
            <a:avLst>
              <a:gd name="adj" fmla="val 13333"/>
            </a:avLst>
          </a:prstGeom>
          <a:solidFill>
            <a:srgbClr val="FFD84D"/>
          </a:solidFill>
          <a:ln w="12700">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Router</a:t>
            </a:r>
            <a:endParaRPr lang="en-US" sz="1300" dirty="0"/>
          </a:p>
        </p:txBody>
      </p:sp>
      <p:sp>
        <p:nvSpPr>
          <p:cNvPr id="13" name="Shape 10"/>
          <p:cNvSpPr/>
          <p:nvPr/>
        </p:nvSpPr>
        <p:spPr>
          <a:xfrm flipV="1">
            <a:off x="7955280" y="1691640"/>
            <a:ext cx="1005840" cy="411480"/>
          </a:xfrm>
          <a:prstGeom prst="line">
            <a:avLst/>
          </a:prstGeom>
          <a:noFill/>
          <a:ln w="25400">
            <a:solidFill>
              <a:srgbClr val="494985"/>
            </a:solidFill>
            <a:prstDash val="solid"/>
            <a:tailEnd type="triangle"/>
          </a:ln>
        </p:spPr>
      </p:sp>
      <p:sp>
        <p:nvSpPr>
          <p:cNvPr id="14" name="Shape 11"/>
          <p:cNvSpPr/>
          <p:nvPr/>
        </p:nvSpPr>
        <p:spPr>
          <a:xfrm>
            <a:off x="7955280" y="2377440"/>
            <a:ext cx="1005840" cy="411480"/>
          </a:xfrm>
          <a:prstGeom prst="line">
            <a:avLst/>
          </a:prstGeom>
          <a:noFill/>
          <a:ln w="25400">
            <a:solidFill>
              <a:srgbClr val="B8B8C8"/>
            </a:solidFill>
            <a:prstDash val="solid"/>
            <a:tailEnd type="triangle"/>
          </a:ln>
        </p:spPr>
      </p:sp>
      <p:sp>
        <p:nvSpPr>
          <p:cNvPr id="15" name="Text 12"/>
          <p:cNvSpPr txBox="1"/>
          <p:nvPr/>
        </p:nvSpPr>
        <p:spPr>
          <a:xfrm>
            <a:off x="9052560" y="1463040"/>
            <a:ext cx="2468880" cy="365760"/>
          </a:xfrm>
          <a:prstGeom prst="rect">
            <a:avLst/>
          </a:prstGeom>
          <a:noFill/>
          <a:ln/>
        </p:spPr>
        <p:txBody>
          <a:bodyPr wrap="square" lIns="0" tIns="0" rIns="0" bIns="0" rtlCol="0" anchor="ctr"/>
          <a:lstStyle/>
          <a:p>
            <a:pPr indent="0" marL="0">
              <a:buNone/>
            </a:pPr>
            <a:r>
              <a:rPr lang="en-US" sz="1100" dirty="0">
                <a:solidFill>
                  <a:srgbClr val="494985"/>
                </a:solidFill>
                <a:latin typeface="Quicksand" pitchFamily="34" charset="0"/>
                <a:ea typeface="Quicksand" pitchFamily="34" charset="-122"/>
                <a:cs typeface="Quicksand" pitchFamily="34" charset="-120"/>
              </a:rPr>
              <a:t>free route - send this way</a:t>
            </a:r>
            <a:endParaRPr lang="en-US" sz="1100" dirty="0"/>
          </a:p>
        </p:txBody>
      </p:sp>
      <p:sp>
        <p:nvSpPr>
          <p:cNvPr id="16" name="Text 13"/>
          <p:cNvSpPr txBox="1"/>
          <p:nvPr/>
        </p:nvSpPr>
        <p:spPr>
          <a:xfrm>
            <a:off x="9052560" y="2606040"/>
            <a:ext cx="2468880" cy="365760"/>
          </a:xfrm>
          <a:prstGeom prst="rect">
            <a:avLst/>
          </a:prstGeom>
          <a:noFill/>
          <a:ln/>
        </p:spPr>
        <p:txBody>
          <a:bodyPr wrap="square" lIns="0" tIns="0" rIns="0" bIns="0" rtlCol="0" anchor="ctr"/>
          <a:lstStyle/>
          <a:p>
            <a:pPr indent="0" marL="0">
              <a:buNone/>
            </a:pPr>
            <a:r>
              <a:rPr lang="en-US" sz="1100" dirty="0">
                <a:solidFill>
                  <a:srgbClr val="666666"/>
                </a:solidFill>
                <a:latin typeface="Quicksand" pitchFamily="34" charset="0"/>
                <a:ea typeface="Quicksand" pitchFamily="34" charset="-122"/>
                <a:cs typeface="Quicksand" pitchFamily="34" charset="-120"/>
              </a:rPr>
              <a:t>busy route</a:t>
            </a:r>
            <a:endParaRPr lang="en-US" sz="1100" dirty="0"/>
          </a:p>
        </p:txBody>
      </p:sp>
      <p:sp>
        <p:nvSpPr>
          <p:cNvPr id="17" name="Shape 14"/>
          <p:cNvSpPr/>
          <p:nvPr/>
        </p:nvSpPr>
        <p:spPr>
          <a:xfrm>
            <a:off x="877824" y="3246120"/>
            <a:ext cx="3337560" cy="1371600"/>
          </a:xfrm>
          <a:prstGeom prst="rect">
            <a:avLst/>
          </a:prstGeom>
          <a:solidFill>
            <a:srgbClr val="F6F5FC"/>
          </a:solidFill>
          <a:ln w="12700">
            <a:solidFill>
              <a:srgbClr val="F6F5FC"/>
            </a:solidFill>
            <a:prstDash val="solid"/>
          </a:ln>
        </p:spPr>
      </p:sp>
      <p:sp>
        <p:nvSpPr>
          <p:cNvPr id="18" name="Text 15"/>
          <p:cNvSpPr/>
          <p:nvPr/>
        </p:nvSpPr>
        <p:spPr>
          <a:xfrm>
            <a:off x="1014984" y="33832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9" name="Text 16"/>
          <p:cNvSpPr txBox="1"/>
          <p:nvPr/>
        </p:nvSpPr>
        <p:spPr>
          <a:xfrm>
            <a:off x="1536192" y="3355848"/>
            <a:ext cx="25603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Reads the header</a:t>
            </a:r>
            <a:endParaRPr lang="en-US" sz="1500" dirty="0"/>
          </a:p>
        </p:txBody>
      </p:sp>
      <p:sp>
        <p:nvSpPr>
          <p:cNvPr id="20" name="Text 17"/>
          <p:cNvSpPr txBox="1"/>
          <p:nvPr/>
        </p:nvSpPr>
        <p:spPr>
          <a:xfrm>
            <a:off x="1536192" y="3749040"/>
            <a:ext cx="256032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Looks at the destination address of each packet it receives.</a:t>
            </a:r>
            <a:endParaRPr lang="en-US" sz="1250" dirty="0"/>
          </a:p>
        </p:txBody>
      </p:sp>
      <p:sp>
        <p:nvSpPr>
          <p:cNvPr id="21" name="Shape 18"/>
          <p:cNvSpPr/>
          <p:nvPr/>
        </p:nvSpPr>
        <p:spPr>
          <a:xfrm>
            <a:off x="4370832" y="3246120"/>
            <a:ext cx="3337560" cy="1371600"/>
          </a:xfrm>
          <a:prstGeom prst="rect">
            <a:avLst/>
          </a:prstGeom>
          <a:solidFill>
            <a:srgbClr val="F6F5FC"/>
          </a:solidFill>
          <a:ln w="12700">
            <a:solidFill>
              <a:srgbClr val="F6F5FC"/>
            </a:solidFill>
            <a:prstDash val="solid"/>
          </a:ln>
        </p:spPr>
      </p:sp>
      <p:sp>
        <p:nvSpPr>
          <p:cNvPr id="22" name="Text 19"/>
          <p:cNvSpPr/>
          <p:nvPr/>
        </p:nvSpPr>
        <p:spPr>
          <a:xfrm>
            <a:off x="4507992" y="33832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23" name="Text 20"/>
          <p:cNvSpPr txBox="1"/>
          <p:nvPr/>
        </p:nvSpPr>
        <p:spPr>
          <a:xfrm>
            <a:off x="5029200" y="3355848"/>
            <a:ext cx="25603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Chooses the next step</a:t>
            </a:r>
            <a:endParaRPr lang="en-US" sz="1500" dirty="0"/>
          </a:p>
        </p:txBody>
      </p:sp>
      <p:sp>
        <p:nvSpPr>
          <p:cNvPr id="24" name="Text 21"/>
          <p:cNvSpPr txBox="1"/>
          <p:nvPr/>
        </p:nvSpPr>
        <p:spPr>
          <a:xfrm>
            <a:off x="5029200" y="3749040"/>
            <a:ext cx="256032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Decides which router to send it to next, e.g. avoiding busy or broken links.</a:t>
            </a:r>
            <a:endParaRPr lang="en-US" sz="1250" dirty="0"/>
          </a:p>
        </p:txBody>
      </p:sp>
      <p:sp>
        <p:nvSpPr>
          <p:cNvPr id="25" name="Shape 22"/>
          <p:cNvSpPr/>
          <p:nvPr/>
        </p:nvSpPr>
        <p:spPr>
          <a:xfrm>
            <a:off x="7863840" y="3246120"/>
            <a:ext cx="3337560" cy="1371600"/>
          </a:xfrm>
          <a:prstGeom prst="rect">
            <a:avLst/>
          </a:prstGeom>
          <a:solidFill>
            <a:srgbClr val="F6F5FC"/>
          </a:solidFill>
          <a:ln w="12700">
            <a:solidFill>
              <a:srgbClr val="F6F5FC"/>
            </a:solidFill>
            <a:prstDash val="solid"/>
          </a:ln>
        </p:spPr>
      </p:sp>
      <p:sp>
        <p:nvSpPr>
          <p:cNvPr id="26" name="Text 23"/>
          <p:cNvSpPr/>
          <p:nvPr/>
        </p:nvSpPr>
        <p:spPr>
          <a:xfrm>
            <a:off x="8001000" y="33832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7" name="Text 24"/>
          <p:cNvSpPr txBox="1"/>
          <p:nvPr/>
        </p:nvSpPr>
        <p:spPr>
          <a:xfrm>
            <a:off x="8522208" y="3355848"/>
            <a:ext cx="25603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Forwards it</a:t>
            </a:r>
            <a:endParaRPr lang="en-US" sz="1500" dirty="0"/>
          </a:p>
        </p:txBody>
      </p:sp>
      <p:sp>
        <p:nvSpPr>
          <p:cNvPr id="28" name="Text 25"/>
          <p:cNvSpPr txBox="1"/>
          <p:nvPr/>
        </p:nvSpPr>
        <p:spPr>
          <a:xfrm>
            <a:off x="8522208" y="3749040"/>
            <a:ext cx="256032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Sends it on - this repeats at every router until the packet reaches its destination.</a:t>
            </a:r>
            <a:endParaRPr lang="en-US" sz="1250" dirty="0"/>
          </a:p>
        </p:txBody>
      </p:sp>
      <p:sp>
        <p:nvSpPr>
          <p:cNvPr id="29" name="Text 26"/>
          <p:cNvSpPr txBox="1"/>
          <p:nvPr/>
        </p:nvSpPr>
        <p:spPr>
          <a:xfrm>
            <a:off x="877824" y="4937760"/>
            <a:ext cx="10332720" cy="640080"/>
          </a:xfrm>
          <a:prstGeom prst="rect">
            <a:avLst/>
          </a:prstGeom>
          <a:noFill/>
          <a:ln/>
        </p:spPr>
        <p:txBody>
          <a:bodyPr wrap="square" lIns="0" tIns="0" rIns="0" bIns="0" rtlCol="0" anchor="t"/>
          <a:lstStyle/>
          <a:p>
            <a:pPr indent="0" marL="0">
              <a:buNone/>
            </a:pPr>
            <a:r>
              <a:rPr lang="en-US" sz="1500" b="1" dirty="0">
                <a:solidFill>
                  <a:srgbClr val="666666"/>
                </a:solidFill>
                <a:latin typeface="Quicksand" pitchFamily="34" charset="0"/>
                <a:ea typeface="Quicksand" pitchFamily="34" charset="-122"/>
                <a:cs typeface="Quicksand" pitchFamily="34" charset="-120"/>
              </a:rPr>
              <a:t>Extension: a hop number in the header goes down by 1 at each router, so a lost packet cannot bounce around forever.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Benefits and drawbacks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77824" y="1280160"/>
          <a:ext cx="10332720" cy="914400"/>
        </p:xfrm>
        <a:graphic>
          <a:graphicData uri="http://schemas.openxmlformats.org/drawingml/2006/table">
            <a:tbl>
              <a:tblPr/>
              <a:tblGrid>
                <a:gridCol w="5166360"/>
                <a:gridCol w="5166360"/>
              </a:tblGrid>
              <a:tr h="68580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Benefits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Drawbacks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858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No single dedicated line is needed - the network is shared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Packets can arrive out of order, so they must be reordered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858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Packets can be re-routed around busy or broken links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Delays while waiting for the last packet - can affect live video calls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If a packet is lost or corrupted, only that packet is re-sent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Packets can be lost and need to be re-sent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858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Harder to intercept a whole message, as packets travel separately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Extra data in every header and trailer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Think, pair, share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13</a:t>
            </a:r>
            <a:endParaRPr lang="en-US" sz="1350" dirty="0"/>
          </a:p>
        </p:txBody>
      </p:sp>
      <p:sp>
        <p:nvSpPr>
          <p:cNvPr id="7" name="Text 4"/>
          <p:cNvSpPr txBox="1"/>
          <p:nvPr/>
        </p:nvSpPr>
        <p:spPr>
          <a:xfrm>
            <a:off x="877824" y="1371600"/>
            <a:ext cx="10058400" cy="548640"/>
          </a:xfrm>
          <a:prstGeom prst="rect">
            <a:avLst/>
          </a:prstGeom>
          <a:noFill/>
          <a:ln/>
        </p:spPr>
        <p:txBody>
          <a:bodyPr wrap="square" lIns="0" tIns="0" rIns="0" bIns="0" rtlCol="0" anchor="t"/>
          <a:lstStyle/>
          <a:p>
            <a:pPr indent="0" marL="0">
              <a:spcAft>
                <a:spcPts val="600"/>
              </a:spcAft>
              <a:buNone/>
            </a:pPr>
            <a:r>
              <a:rPr lang="en-US" sz="2000" b="1" dirty="0">
                <a:solidFill>
                  <a:srgbClr val="202124"/>
                </a:solidFill>
                <a:latin typeface="Quicksand" pitchFamily="34" charset="0"/>
                <a:ea typeface="Quicksand" pitchFamily="34" charset="-122"/>
                <a:cs typeface="Quicksand" pitchFamily="34" charset="-120"/>
              </a:rPr>
              <a:t>Packet 3 of a message arrives before packet 1.</a:t>
            </a:r>
            <a:endParaRPr lang="en-US" sz="2000" dirty="0"/>
          </a:p>
        </p:txBody>
      </p:sp>
      <p:sp>
        <p:nvSpPr>
          <p:cNvPr id="8" name="Shape 5"/>
          <p:cNvSpPr/>
          <p:nvPr/>
        </p:nvSpPr>
        <p:spPr>
          <a:xfrm>
            <a:off x="877824" y="2194560"/>
            <a:ext cx="10332720" cy="731520"/>
          </a:xfrm>
          <a:prstGeom prst="rect">
            <a:avLst/>
          </a:prstGeom>
          <a:solidFill>
            <a:srgbClr val="F6F5FC"/>
          </a:solidFill>
          <a:ln w="12700">
            <a:solidFill>
              <a:srgbClr val="F6F5FC"/>
            </a:solidFill>
            <a:prstDash val="solid"/>
          </a:ln>
        </p:spPr>
      </p:sp>
      <p:sp>
        <p:nvSpPr>
          <p:cNvPr id="9" name="Text 6"/>
          <p:cNvSpPr/>
          <p:nvPr/>
        </p:nvSpPr>
        <p:spPr>
          <a:xfrm>
            <a:off x="1014984" y="23317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0" name="Text 7"/>
          <p:cNvSpPr txBox="1"/>
          <p:nvPr/>
        </p:nvSpPr>
        <p:spPr>
          <a:xfrm>
            <a:off x="1536192" y="2304288"/>
            <a:ext cx="955548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How could this happen?</a:t>
            </a:r>
            <a:endParaRPr lang="en-US" sz="1700" dirty="0"/>
          </a:p>
        </p:txBody>
      </p:sp>
      <p:sp>
        <p:nvSpPr>
          <p:cNvPr id="11" name="Shape 8"/>
          <p:cNvSpPr/>
          <p:nvPr/>
        </p:nvSpPr>
        <p:spPr>
          <a:xfrm>
            <a:off x="877824" y="3063240"/>
            <a:ext cx="10332720" cy="731520"/>
          </a:xfrm>
          <a:prstGeom prst="rect">
            <a:avLst/>
          </a:prstGeom>
          <a:solidFill>
            <a:srgbClr val="F6F5FC"/>
          </a:solidFill>
          <a:ln w="12700">
            <a:solidFill>
              <a:srgbClr val="F6F5FC"/>
            </a:solidFill>
            <a:prstDash val="solid"/>
          </a:ln>
        </p:spPr>
      </p:sp>
      <p:sp>
        <p:nvSpPr>
          <p:cNvPr id="12" name="Text 9"/>
          <p:cNvSpPr/>
          <p:nvPr/>
        </p:nvSpPr>
        <p:spPr>
          <a:xfrm>
            <a:off x="1014984" y="32004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3" name="Text 10"/>
          <p:cNvSpPr txBox="1"/>
          <p:nvPr/>
        </p:nvSpPr>
        <p:spPr>
          <a:xfrm>
            <a:off x="1536192" y="3172968"/>
            <a:ext cx="955548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How does the receiving computer still get the message right?</a:t>
            </a:r>
            <a:endParaRPr lang="en-US" sz="1700" dirty="0"/>
          </a:p>
        </p:txBody>
      </p:sp>
      <p:sp>
        <p:nvSpPr>
          <p:cNvPr id="14" name="Text 11"/>
          <p:cNvSpPr txBox="1"/>
          <p:nvPr/>
        </p:nvSpPr>
        <p:spPr>
          <a:xfrm>
            <a:off x="877824" y="4114800"/>
            <a:ext cx="1033272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Use the words: route, router, packet number, reorder.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focus: describe packet switching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14</a:t>
            </a:r>
            <a:endParaRPr lang="en-US" sz="1350" dirty="0"/>
          </a:p>
        </p:txBody>
      </p:sp>
      <p:sp>
        <p:nvSpPr>
          <p:cNvPr id="7" name="Text 4"/>
          <p:cNvSpPr txBox="1"/>
          <p:nvPr/>
        </p:nvSpPr>
        <p:spPr>
          <a:xfrm>
            <a:off x="877824" y="1188720"/>
            <a:ext cx="10332720" cy="411480"/>
          </a:xfrm>
          <a:prstGeom prst="rect">
            <a:avLst/>
          </a:prstGeom>
          <a:noFill/>
          <a:ln/>
        </p:spPr>
        <p:txBody>
          <a:bodyPr wrap="square" lIns="0" tIns="0" rIns="0" bIns="0" rtlCol="0" anchor="t"/>
          <a:lstStyle/>
          <a:p>
            <a:pPr indent="0" marL="0">
              <a:spcAft>
                <a:spcPts val="600"/>
              </a:spcAft>
              <a:buNone/>
            </a:pPr>
            <a:r>
              <a:rPr lang="en-US" sz="1600" b="1" dirty="0">
                <a:solidFill>
                  <a:srgbClr val="202124"/>
                </a:solidFill>
                <a:latin typeface="Quicksand" pitchFamily="34" charset="0"/>
                <a:ea typeface="Quicksand" pitchFamily="34" charset="-122"/>
                <a:cs typeface="Quicksand" pitchFamily="34" charset="-120"/>
              </a:rPr>
              <a:t>Describe the process of packet switching. [5]</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77824" y="1691640"/>
          <a:ext cx="10332720" cy="914400"/>
        </p:xfrm>
        <a:graphic>
          <a:graphicData uri="http://schemas.openxmlformats.org/drawingml/2006/table">
            <a:tbl>
              <a:tblPr/>
              <a:tblGrid>
                <a:gridCol w="914400"/>
                <a:gridCol w="9418320"/>
              </a:tblGrid>
              <a:tr h="512064">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Mark</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Marking point (one mark each)</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data is broken down into packets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Each packet could take a different route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 router controls the route each packet takes // routers read the destination address and forward the packet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Packets may arrive out of order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Once the last packet has arrived, the packets are reordered (using the packet numbers)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9" name="Text 5"/>
          <p:cNvSpPr txBox="1"/>
          <p:nvPr/>
        </p:nvSpPr>
        <p:spPr>
          <a:xfrm>
            <a:off x="877824" y="4983480"/>
            <a:ext cx="10332720" cy="6400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Weak: "the packets go to the other computer". Strong: name the router, the different routes, the packet numbers and the reordering.</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Guided practice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15</a:t>
            </a:r>
            <a:endParaRPr lang="en-US" sz="1350" dirty="0"/>
          </a:p>
        </p:txBody>
      </p:sp>
      <p:sp>
        <p:nvSpPr>
          <p:cNvPr id="7" name="Text 4"/>
          <p:cNvSpPr txBox="1"/>
          <p:nvPr/>
        </p:nvSpPr>
        <p:spPr>
          <a:xfrm>
            <a:off x="877824" y="1298448"/>
            <a:ext cx="10296144" cy="438912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Task 2: label the parts of a packet and name what is in the header</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Task 3: split a message into packets, then reorder packets that arrive out of order</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Task 4: exam-style questions on packets and packet switching</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Task 5 (extension): packet switching and live video calls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Check your work against the answer key when your teacher shares it</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Common misconceptions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16</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04088" y="1280160"/>
          <a:ext cx="10789920" cy="914400"/>
        </p:xfrm>
        <a:graphic>
          <a:graphicData uri="http://schemas.openxmlformats.org/drawingml/2006/table">
            <a:tbl>
              <a:tblPr/>
              <a:tblGrid>
                <a:gridCol w="4206240"/>
                <a:gridCol w="6583680"/>
              </a:tblGrid>
              <a:tr h="658368">
                <a:tc>
                  <a:txBody>
                    <a:bodyPr/>
                    <a:lstStyle/>
                    <a:p>
                      <a:pPr indent="0" marL="0">
                        <a:buNone/>
                      </a:pPr>
                      <a:r>
                        <a:rPr lang="en-US" sz="1500" b="1" dirty="0">
                          <a:solidFill>
                            <a:srgbClr val="FFFFFF"/>
                          </a:solidFill>
                          <a:latin typeface="Quicksand" pitchFamily="34" charset="0"/>
                          <a:ea typeface="Quicksand" pitchFamily="34" charset="-122"/>
                          <a:cs typeface="Quicksand" pitchFamily="34" charset="-120"/>
                        </a:rPr>
                        <a:t>Misconception</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500" b="1" dirty="0">
                          <a:solidFill>
                            <a:srgbClr val="FFFFFF"/>
                          </a:solidFill>
                          <a:latin typeface="Quicksand" pitchFamily="34" charset="0"/>
                          <a:ea typeface="Quicksand" pitchFamily="34" charset="-122"/>
                          <a:cs typeface="Quicksand" pitchFamily="34" charset="-120"/>
                        </a:rPr>
                        <a:t>Why it is wrong</a:t>
                      </a:r>
                      <a:endParaRPr lang="en-US" sz="1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58368">
                <a:tc>
                  <a:txBody>
                    <a:bodyPr/>
                    <a:lstStyle/>
                    <a:p>
                      <a:pPr indent="0" marL="0">
                        <a:buNone/>
                      </a:pPr>
                      <a:r>
                        <a:rPr lang="en-US" sz="1450" dirty="0">
                          <a:solidFill>
                            <a:srgbClr val="202124"/>
                          </a:solidFill>
                          <a:latin typeface="Quicksand" pitchFamily="34" charset="0"/>
                          <a:ea typeface="Quicksand" pitchFamily="34" charset="-122"/>
                          <a:cs typeface="Quicksand" pitchFamily="34" charset="-120"/>
                        </a:rPr>
                        <a:t>"All packets follow the same route."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50" dirty="0">
                          <a:solidFill>
                            <a:srgbClr val="202124"/>
                          </a:solidFill>
                          <a:latin typeface="Quicksand" pitchFamily="34" charset="0"/>
                          <a:ea typeface="Quicksand" pitchFamily="34" charset="-122"/>
                          <a:cs typeface="Quicksand" pitchFamily="34" charset="-120"/>
                        </a:rPr>
                        <a:t>Each packet could take a different route - routers decide for each one.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58368">
                <a:tc>
                  <a:txBody>
                    <a:bodyPr/>
                    <a:lstStyle/>
                    <a:p>
                      <a:pPr indent="0" marL="0">
                        <a:buNone/>
                      </a:pPr>
                      <a:r>
                        <a:rPr lang="en-US" sz="1450" dirty="0">
                          <a:solidFill>
                            <a:srgbClr val="202124"/>
                          </a:solidFill>
                          <a:latin typeface="Quicksand" pitchFamily="34" charset="0"/>
                          <a:ea typeface="Quicksand" pitchFamily="34" charset="-122"/>
                          <a:cs typeface="Quicksand" pitchFamily="34" charset="-120"/>
                        </a:rPr>
                        <a:t>"The sender chooses the route."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dirty="0">
                          <a:solidFill>
                            <a:srgbClr val="202124"/>
                          </a:solidFill>
                          <a:latin typeface="Quicksand" pitchFamily="34" charset="0"/>
                          <a:ea typeface="Quicksand" pitchFamily="34" charset="-122"/>
                          <a:cs typeface="Quicksand" pitchFamily="34" charset="-120"/>
                        </a:rPr>
                        <a:t>Routers control the route, using the destination address in the header.</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58368">
                <a:tc>
                  <a:txBody>
                    <a:bodyPr/>
                    <a:lstStyle/>
                    <a:p>
                      <a:pPr indent="0" marL="0">
                        <a:buNone/>
                      </a:pPr>
                      <a:r>
                        <a:rPr lang="en-US" sz="1450" dirty="0">
                          <a:solidFill>
                            <a:srgbClr val="202124"/>
                          </a:solidFill>
                          <a:latin typeface="Quicksand" pitchFamily="34" charset="0"/>
                          <a:ea typeface="Quicksand" pitchFamily="34" charset="-122"/>
                          <a:cs typeface="Quicksand" pitchFamily="34" charset="-120"/>
                        </a:rPr>
                        <a:t>"The payload holds the addresses."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50" dirty="0">
                          <a:solidFill>
                            <a:srgbClr val="202124"/>
                          </a:solidFill>
                          <a:latin typeface="Quicksand" pitchFamily="34" charset="0"/>
                          <a:ea typeface="Quicksand" pitchFamily="34" charset="-122"/>
                          <a:cs typeface="Quicksand" pitchFamily="34" charset="-120"/>
                        </a:rPr>
                        <a:t>Addresses are in the header. The payload is only the actual data.</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58368">
                <a:tc>
                  <a:txBody>
                    <a:bodyPr/>
                    <a:lstStyle/>
                    <a:p>
                      <a:pPr indent="0" marL="0">
                        <a:buNone/>
                      </a:pPr>
                      <a:r>
                        <a:rPr lang="en-US" sz="1450" dirty="0">
                          <a:solidFill>
                            <a:srgbClr val="202124"/>
                          </a:solidFill>
                          <a:latin typeface="Quicksand" pitchFamily="34" charset="0"/>
                          <a:ea typeface="Quicksand" pitchFamily="34" charset="-122"/>
                          <a:cs typeface="Quicksand" pitchFamily="34" charset="-120"/>
                        </a:rPr>
                        <a:t>"Packets are reordered as each one arrives."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dirty="0">
                          <a:solidFill>
                            <a:srgbClr val="202124"/>
                          </a:solidFill>
                          <a:latin typeface="Quicksand" pitchFamily="34" charset="0"/>
                          <a:ea typeface="Quicksand" pitchFamily="34" charset="-122"/>
                          <a:cs typeface="Quicksand" pitchFamily="34" charset="-120"/>
                        </a:rPr>
                        <a:t>They are reordered once the last packet has arrived, using the packet numbers.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704088" y="4846320"/>
            <a:ext cx="1078992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Now go back to your starter answers (Task 1). Were you right?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Exit question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17</a:t>
            </a:r>
            <a:endParaRPr lang="en-US" sz="1350" dirty="0"/>
          </a:p>
        </p:txBody>
      </p:sp>
      <p:sp>
        <p:nvSpPr>
          <p:cNvPr id="7" name="Text 4"/>
          <p:cNvSpPr txBox="1"/>
          <p:nvPr/>
        </p:nvSpPr>
        <p:spPr>
          <a:xfrm>
            <a:off x="877824" y="1463040"/>
            <a:ext cx="10332720" cy="548640"/>
          </a:xfrm>
          <a:prstGeom prst="rect">
            <a:avLst/>
          </a:prstGeom>
          <a:noFill/>
          <a:ln/>
        </p:spPr>
        <p:txBody>
          <a:bodyPr wrap="square" lIns="0" tIns="0" rIns="0" bIns="0" rtlCol="0" anchor="t"/>
          <a:lstStyle/>
          <a:p>
            <a:pPr indent="0" marL="0">
              <a:buNone/>
            </a:pPr>
            <a:r>
              <a:rPr lang="en-US" sz="1900" b="1" dirty="0">
                <a:solidFill>
                  <a:srgbClr val="202124"/>
                </a:solidFill>
                <a:latin typeface="Quicksand" pitchFamily="34" charset="0"/>
                <a:ea typeface="Quicksand" pitchFamily="34" charset="-122"/>
                <a:cs typeface="Quicksand" pitchFamily="34" charset="-120"/>
              </a:rPr>
              <a:t>1. Name the three parts of a packet.</a:t>
            </a:r>
            <a:endParaRPr lang="en-US" sz="1900" dirty="0"/>
          </a:p>
        </p:txBody>
      </p:sp>
      <p:sp>
        <p:nvSpPr>
          <p:cNvPr id="8" name="Text 5"/>
          <p:cNvSpPr txBox="1"/>
          <p:nvPr/>
        </p:nvSpPr>
        <p:spPr>
          <a:xfrm>
            <a:off x="877824" y="2194560"/>
            <a:ext cx="10332720" cy="548640"/>
          </a:xfrm>
          <a:prstGeom prst="rect">
            <a:avLst/>
          </a:prstGeom>
          <a:noFill/>
          <a:ln/>
        </p:spPr>
        <p:txBody>
          <a:bodyPr wrap="square" lIns="0" tIns="0" rIns="0" bIns="0" rtlCol="0" anchor="t"/>
          <a:lstStyle/>
          <a:p>
            <a:pPr indent="0" marL="0">
              <a:buNone/>
            </a:pPr>
            <a:r>
              <a:rPr lang="en-US" sz="1900" b="1" dirty="0">
                <a:solidFill>
                  <a:srgbClr val="202124"/>
                </a:solidFill>
                <a:latin typeface="Quicksand" pitchFamily="34" charset="0"/>
                <a:ea typeface="Quicksand" pitchFamily="34" charset="-122"/>
                <a:cs typeface="Quicksand" pitchFamily="34" charset="-120"/>
              </a:rPr>
              <a:t>2. Name the three items in a packet header.</a:t>
            </a:r>
            <a:endParaRPr lang="en-US" sz="1900" dirty="0"/>
          </a:p>
        </p:txBody>
      </p:sp>
      <p:sp>
        <p:nvSpPr>
          <p:cNvPr id="9" name="Text 6"/>
          <p:cNvSpPr txBox="1"/>
          <p:nvPr/>
        </p:nvSpPr>
        <p:spPr>
          <a:xfrm>
            <a:off x="877824" y="2926080"/>
            <a:ext cx="10332720" cy="731520"/>
          </a:xfrm>
          <a:prstGeom prst="rect">
            <a:avLst/>
          </a:prstGeom>
          <a:noFill/>
          <a:ln/>
        </p:spPr>
        <p:txBody>
          <a:bodyPr wrap="square" lIns="0" tIns="0" rIns="0" bIns="0" rtlCol="0" anchor="t"/>
          <a:lstStyle/>
          <a:p>
            <a:pPr indent="0" marL="0">
              <a:buNone/>
            </a:pPr>
            <a:r>
              <a:rPr lang="en-US" sz="1900" b="1" dirty="0">
                <a:solidFill>
                  <a:srgbClr val="202124"/>
                </a:solidFill>
                <a:latin typeface="Quicksand" pitchFamily="34" charset="0"/>
                <a:ea typeface="Quicksand" pitchFamily="34" charset="-122"/>
                <a:cs typeface="Quicksand" pitchFamily="34" charset="-120"/>
              </a:rPr>
              <a:t>3. Which header item is used to put the message back together, and when?</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Summary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18</a:t>
            </a:r>
            <a:endParaRPr lang="en-US" sz="1350" dirty="0"/>
          </a:p>
        </p:txBody>
      </p:sp>
      <p:sp>
        <p:nvSpPr>
          <p:cNvPr id="6" name="Text 4"/>
          <p:cNvSpPr txBox="1"/>
          <p:nvPr/>
        </p:nvSpPr>
        <p:spPr>
          <a:xfrm>
            <a:off x="877824" y="1417320"/>
            <a:ext cx="10296144" cy="3474720"/>
          </a:xfrm>
          <a:prstGeom prst="rect">
            <a:avLst/>
          </a:prstGeom>
          <a:noFill/>
          <a:ln/>
        </p:spPr>
        <p:txBody>
          <a:bodyPr wrap="square" lIns="0" tIns="0" rIns="0" bIns="0" rtlCol="0" anchor="t"/>
          <a:lstStyle/>
          <a:p>
            <a:pPr marL="228600" indent="-228600">
              <a:spcAft>
                <a:spcPts val="1600"/>
              </a:spcAft>
              <a:buSzPct val="100000"/>
              <a:buChar char="•"/>
            </a:pPr>
            <a:r>
              <a:rPr lang="en-US" sz="1900" dirty="0">
                <a:solidFill>
                  <a:srgbClr val="202124"/>
                </a:solidFill>
                <a:latin typeface="Quicksand" pitchFamily="34" charset="0"/>
                <a:ea typeface="Quicksand" pitchFamily="34" charset="-122"/>
                <a:cs typeface="Quicksand" pitchFamily="34" charset="-120"/>
              </a:rPr>
              <a:t>Learnt that data is broken down into packets before it is transmitted</a:t>
            </a:r>
            <a:endParaRPr lang="en-US" sz="1900" dirty="0"/>
          </a:p>
          <a:p>
            <a:pPr marL="228600" indent="-228600">
              <a:spcAft>
                <a:spcPts val="1600"/>
              </a:spcAft>
              <a:buSzPct val="100000"/>
              <a:buChar char="•"/>
            </a:pPr>
            <a:r>
              <a:rPr lang="en-US" sz="1900" dirty="0">
                <a:solidFill>
                  <a:srgbClr val="202124"/>
                </a:solidFill>
                <a:latin typeface="Quicksand" pitchFamily="34" charset="0"/>
                <a:ea typeface="Quicksand" pitchFamily="34" charset="-122"/>
                <a:cs typeface="Quicksand" pitchFamily="34" charset="-120"/>
              </a:rPr>
              <a:t>Described the structure of a packet: header, payload and trailer</a:t>
            </a:r>
            <a:endParaRPr lang="en-US" sz="1900" dirty="0"/>
          </a:p>
          <a:p>
            <a:pPr marL="228600" indent="-228600">
              <a:spcAft>
                <a:spcPts val="1600"/>
              </a:spcAft>
              <a:buSzPct val="100000"/>
              <a:buChar char="•"/>
            </a:pPr>
            <a:r>
              <a:rPr lang="en-US" sz="1900" dirty="0">
                <a:solidFill>
                  <a:srgbClr val="202124"/>
                </a:solidFill>
                <a:latin typeface="Quicksand" pitchFamily="34" charset="0"/>
                <a:ea typeface="Quicksand" pitchFamily="34" charset="-122"/>
                <a:cs typeface="Quicksand" pitchFamily="34" charset="-120"/>
              </a:rPr>
              <a:t>Named the header contents: destination address, packet number, originator's address</a:t>
            </a:r>
            <a:endParaRPr lang="en-US" sz="1900" dirty="0"/>
          </a:p>
          <a:p>
            <a:pPr marL="228600" indent="-228600">
              <a:spcAft>
                <a:spcPts val="1600"/>
              </a:spcAft>
              <a:buSzPct val="100000"/>
              <a:buChar char="•"/>
            </a:pPr>
            <a:r>
              <a:rPr lang="en-US" sz="1900" dirty="0">
                <a:solidFill>
                  <a:srgbClr val="202124"/>
                </a:solidFill>
                <a:latin typeface="Quicksand" pitchFamily="34" charset="0"/>
                <a:ea typeface="Quicksand" pitchFamily="34" charset="-122"/>
                <a:cs typeface="Quicksand" pitchFamily="34" charset="-120"/>
              </a:rPr>
              <a:t>Described packet switching: different routes, routers, out-of-order arrival and reordering</a:t>
            </a:r>
            <a:endParaRPr lang="en-US" sz="1900" dirty="0"/>
          </a:p>
        </p:txBody>
      </p:sp>
      <p:sp>
        <p:nvSpPr>
          <p:cNvPr id="7" name="Text 5"/>
          <p:cNvSpPr txBox="1"/>
          <p:nvPr/>
        </p:nvSpPr>
        <p:spPr>
          <a:xfrm>
            <a:off x="877824" y="4937760"/>
            <a:ext cx="10296144"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Next lesson: 2.1 methods of data transmission - serial and parallel, simplex, half-duplex and full-duplex.</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Packet switching</dc:title>
  <dc:subject>PptxGenJS Presentation</dc:subject>
  <dc:creator>PptxGenJS</dc:creator>
  <cp:lastModifiedBy>PptxGenJS</cp:lastModifiedBy>
  <cp:revision>1</cp:revision>
  <dcterms:created xsi:type="dcterms:W3CDTF">2026-10-05T02:10:26Z</dcterms:created>
  <dcterms:modified xsi:type="dcterms:W3CDTF">2026-10-05T02:10:26Z</dcterms:modified>
</cp:coreProperties>
</file>